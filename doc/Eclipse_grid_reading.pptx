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1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2"/>
    <p:restoredTop sz="94651"/>
  </p:normalViewPr>
  <p:slideViewPr>
    <p:cSldViewPr snapToGrid="0" snapToObjects="1">
      <p:cViewPr varScale="1">
        <p:scale>
          <a:sx n="133" d="100"/>
          <a:sy n="133" d="100"/>
        </p:scale>
        <p:origin x="880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B1F1A-9EA3-E14C-B52B-8DBD463E7C44}" type="datetimeFigureOut">
              <a:rPr lang="en-US" smtClean="0"/>
              <a:t>8/13/18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B9A6E-7901-6D4E-A2E9-1FBB17C9A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067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B1F1A-9EA3-E14C-B52B-8DBD463E7C44}" type="datetimeFigureOut">
              <a:rPr lang="en-US" smtClean="0"/>
              <a:t>8/13/18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B9A6E-7901-6D4E-A2E9-1FBB17C9A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973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B1F1A-9EA3-E14C-B52B-8DBD463E7C44}" type="datetimeFigureOut">
              <a:rPr lang="en-US" smtClean="0"/>
              <a:t>8/13/18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B9A6E-7901-6D4E-A2E9-1FBB17C9A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743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B1F1A-9EA3-E14C-B52B-8DBD463E7C44}" type="datetimeFigureOut">
              <a:rPr lang="en-US" smtClean="0"/>
              <a:t>8/13/18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B9A6E-7901-6D4E-A2E9-1FBB17C9A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276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B1F1A-9EA3-E14C-B52B-8DBD463E7C44}" type="datetimeFigureOut">
              <a:rPr lang="en-US" smtClean="0"/>
              <a:t>8/13/18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B9A6E-7901-6D4E-A2E9-1FBB17C9A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66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B1F1A-9EA3-E14C-B52B-8DBD463E7C44}" type="datetimeFigureOut">
              <a:rPr lang="en-US" smtClean="0"/>
              <a:t>8/13/18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B9A6E-7901-6D4E-A2E9-1FBB17C9A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64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B1F1A-9EA3-E14C-B52B-8DBD463E7C44}" type="datetimeFigureOut">
              <a:rPr lang="en-US" smtClean="0"/>
              <a:t>8/13/18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B9A6E-7901-6D4E-A2E9-1FBB17C9A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750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B1F1A-9EA3-E14C-B52B-8DBD463E7C44}" type="datetimeFigureOut">
              <a:rPr lang="en-US" smtClean="0"/>
              <a:t>8/13/18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B9A6E-7901-6D4E-A2E9-1FBB17C9A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438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B1F1A-9EA3-E14C-B52B-8DBD463E7C44}" type="datetimeFigureOut">
              <a:rPr lang="en-US" smtClean="0"/>
              <a:t>8/13/18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B9A6E-7901-6D4E-A2E9-1FBB17C9A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309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B1F1A-9EA3-E14C-B52B-8DBD463E7C44}" type="datetimeFigureOut">
              <a:rPr lang="en-US" smtClean="0"/>
              <a:t>8/13/18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B9A6E-7901-6D4E-A2E9-1FBB17C9A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507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B1F1A-9EA3-E14C-B52B-8DBD463E7C44}" type="datetimeFigureOut">
              <a:rPr lang="en-US" smtClean="0"/>
              <a:t>8/13/18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B9A6E-7901-6D4E-A2E9-1FBB17C9A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444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fld id="{9D6B1F1A-9EA3-E14C-B52B-8DBD463E7C44}" type="datetimeFigureOut">
              <a:rPr lang="en-US" smtClean="0"/>
              <a:pPr/>
              <a:t>8/13/18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fld id="{8ADB9A6E-7901-6D4E-A2E9-1FBB17C9AE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528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24654" y="4142596"/>
            <a:ext cx="697727" cy="369332"/>
          </a:xfrm>
          <a:prstGeom prst="rect">
            <a:avLst/>
          </a:prstGeom>
          <a:solidFill>
            <a:srgbClr val="FFFFFF"/>
          </a:solidFill>
          <a:ln w="19050" cmpd="sng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Pillar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31631" y="3045072"/>
            <a:ext cx="1852453" cy="369332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>
                <a:latin typeface="Arial"/>
                <a:cs typeface="Arial"/>
              </a:rPr>
              <a:t>CornerPointGrid</a:t>
            </a:r>
            <a:endParaRPr lang="en-US" dirty="0">
              <a:latin typeface="Arial"/>
              <a:cs typeface="Arial"/>
            </a:endParaRPr>
          </a:p>
        </p:txBody>
      </p:sp>
      <p:grpSp>
        <p:nvGrpSpPr>
          <p:cNvPr id="44" name="Group 43"/>
          <p:cNvGrpSpPr/>
          <p:nvPr/>
        </p:nvGrpSpPr>
        <p:grpSpPr>
          <a:xfrm>
            <a:off x="3019903" y="4650011"/>
            <a:ext cx="1814018" cy="1048626"/>
            <a:chOff x="3017907" y="4206342"/>
            <a:chExt cx="1814018" cy="1048626"/>
          </a:xfrm>
        </p:grpSpPr>
        <p:sp>
          <p:nvSpPr>
            <p:cNvPr id="5" name="TextBox 4"/>
            <p:cNvSpPr txBox="1"/>
            <p:nvPr/>
          </p:nvSpPr>
          <p:spPr>
            <a:xfrm>
              <a:off x="3254671" y="4885636"/>
              <a:ext cx="1416486" cy="369332"/>
            </a:xfrm>
            <a:prstGeom prst="rect">
              <a:avLst/>
            </a:prstGeom>
            <a:solidFill>
              <a:schemeClr val="bg1"/>
            </a:solidFill>
            <a:ln w="19050" cmpd="sng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/>
                  <a:cs typeface="Arial"/>
                </a:rPr>
                <a:t>PolygonCell</a:t>
              </a:r>
              <a:endParaRPr lang="en-US" dirty="0">
                <a:latin typeface="Arial"/>
                <a:cs typeface="Arial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017907" y="4206342"/>
              <a:ext cx="1814018" cy="369332"/>
            </a:xfrm>
            <a:prstGeom prst="rect">
              <a:avLst/>
            </a:prstGeom>
            <a:solidFill>
              <a:schemeClr val="bg1"/>
            </a:solidFill>
            <a:ln w="19050" cmpd="sng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/>
                  <a:cs typeface="Arial"/>
                </a:rPr>
                <a:t>CornerPointCell</a:t>
              </a:r>
              <a:endParaRPr lang="en-US" dirty="0">
                <a:latin typeface="Arial"/>
                <a:cs typeface="Arial"/>
              </a:endParaRPr>
            </a:p>
          </p:txBody>
        </p:sp>
        <p:cxnSp>
          <p:nvCxnSpPr>
            <p:cNvPr id="10" name="Straight Arrow Connector 9"/>
            <p:cNvCxnSpPr>
              <a:stCxn id="7" idx="2"/>
            </p:cNvCxnSpPr>
            <p:nvPr/>
          </p:nvCxnSpPr>
          <p:spPr>
            <a:xfrm flipH="1">
              <a:off x="3916912" y="4575674"/>
              <a:ext cx="8004" cy="284533"/>
            </a:xfrm>
            <a:prstGeom prst="straightConnector1">
              <a:avLst/>
            </a:prstGeom>
            <a:ln>
              <a:solidFill>
                <a:srgbClr val="000000"/>
              </a:solidFill>
              <a:headEnd type="none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/>
          <p:cNvSpPr txBox="1"/>
          <p:nvPr/>
        </p:nvSpPr>
        <p:spPr>
          <a:xfrm>
            <a:off x="2105486" y="3434710"/>
            <a:ext cx="377719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Arial"/>
                <a:cs typeface="Arial"/>
              </a:rPr>
              <a:t>CreateModel</a:t>
            </a:r>
            <a:r>
              <a:rPr lang="en-US" sz="1600" dirty="0">
                <a:latin typeface="Arial"/>
                <a:cs typeface="Arial"/>
              </a:rPr>
              <a:t>(</a:t>
            </a:r>
            <a:r>
              <a:rPr lang="en-US" sz="1600" dirty="0" err="1">
                <a:latin typeface="Arial"/>
                <a:cs typeface="Arial"/>
              </a:rPr>
              <a:t>Vset,Topology</a:t>
            </a:r>
            <a:r>
              <a:rPr lang="en-US" sz="1600" dirty="0">
                <a:latin typeface="Arial"/>
                <a:cs typeface="Arial"/>
              </a:rPr>
              <a:t>);</a:t>
            </a:r>
          </a:p>
          <a:p>
            <a:r>
              <a:rPr lang="en-US" sz="1600" dirty="0" err="1">
                <a:latin typeface="Arial"/>
                <a:cs typeface="Arial"/>
              </a:rPr>
              <a:t>AddWellPath</a:t>
            </a:r>
            <a:r>
              <a:rPr lang="en-US" sz="1600" dirty="0">
                <a:latin typeface="Arial"/>
                <a:cs typeface="Arial"/>
              </a:rPr>
              <a:t>(); face &amp; edge</a:t>
            </a:r>
          </a:p>
          <a:p>
            <a:r>
              <a:rPr lang="en-US" sz="1600" dirty="0">
                <a:latin typeface="Arial"/>
                <a:cs typeface="Arial"/>
              </a:rPr>
              <a:t>                  cell status</a:t>
            </a:r>
          </a:p>
          <a:p>
            <a:r>
              <a:rPr lang="en-US" sz="1600" dirty="0">
                <a:latin typeface="Arial"/>
                <a:cs typeface="Arial"/>
              </a:rPr>
              <a:t>                  tetrahedral mesh generation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5661074" y="3714542"/>
            <a:ext cx="2142483" cy="2152662"/>
            <a:chOff x="5337164" y="3714542"/>
            <a:chExt cx="2142483" cy="2152662"/>
          </a:xfrm>
        </p:grpSpPr>
        <p:sp>
          <p:nvSpPr>
            <p:cNvPr id="6" name="TextBox 5"/>
            <p:cNvSpPr txBox="1"/>
            <p:nvPr/>
          </p:nvSpPr>
          <p:spPr>
            <a:xfrm>
              <a:off x="5337164" y="3714542"/>
              <a:ext cx="1454921" cy="369332"/>
            </a:xfrm>
            <a:prstGeom prst="rect">
              <a:avLst/>
            </a:prstGeom>
            <a:solidFill>
              <a:schemeClr val="bg1"/>
            </a:solidFill>
            <a:ln w="19050" cmpd="sng"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chemeClr val="bg1">
                      <a:lumMod val="50000"/>
                    </a:schemeClr>
                  </a:solidFill>
                  <a:latin typeface="Arial"/>
                  <a:cs typeface="Arial"/>
                </a:rPr>
                <a:t>PolygonGrid</a:t>
              </a:r>
              <a:endParaRPr lang="en-US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012103" y="4282988"/>
              <a:ext cx="1172579" cy="369332"/>
            </a:xfrm>
            <a:prstGeom prst="rect">
              <a:avLst/>
            </a:prstGeom>
            <a:solidFill>
              <a:schemeClr val="bg1"/>
            </a:solidFill>
            <a:ln w="19050" cmpd="sng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/>
                  <a:cs typeface="Arial"/>
                </a:rPr>
                <a:t>GridNode</a:t>
              </a:r>
              <a:endParaRPr lang="en-US" dirty="0">
                <a:latin typeface="Arial"/>
                <a:cs typeface="Arial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012103" y="4885636"/>
              <a:ext cx="1133919" cy="369332"/>
            </a:xfrm>
            <a:prstGeom prst="rect">
              <a:avLst/>
            </a:prstGeom>
            <a:solidFill>
              <a:schemeClr val="bg1"/>
            </a:solidFill>
            <a:ln w="19050" cmpd="sng"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chemeClr val="bg1">
                      <a:lumMod val="50000"/>
                    </a:schemeClr>
                  </a:solidFill>
                  <a:latin typeface="Arial"/>
                  <a:cs typeface="Arial"/>
                </a:rPr>
                <a:t>GridFace</a:t>
              </a:r>
              <a:endParaRPr lang="en-US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012103" y="5416592"/>
              <a:ext cx="1467544" cy="369332"/>
            </a:xfrm>
            <a:prstGeom prst="rect">
              <a:avLst/>
            </a:prstGeom>
            <a:solidFill>
              <a:schemeClr val="bg1"/>
            </a:solidFill>
            <a:ln w="19050" cmpd="sng"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chemeClr val="bg1">
                      <a:lumMod val="50000"/>
                    </a:schemeClr>
                  </a:solidFill>
                  <a:latin typeface="Arial"/>
                  <a:cs typeface="Arial"/>
                </a:rPr>
                <a:t>GridElement</a:t>
              </a:r>
              <a:endParaRPr lang="en-US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905143" y="4365063"/>
              <a:ext cx="1172579" cy="369332"/>
            </a:xfrm>
            <a:prstGeom prst="rect">
              <a:avLst/>
            </a:prstGeom>
            <a:solidFill>
              <a:schemeClr val="bg1"/>
            </a:solidFill>
            <a:ln w="19050" cmpd="sng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/>
                  <a:cs typeface="Arial"/>
                </a:rPr>
                <a:t>GridNode</a:t>
              </a:r>
              <a:endParaRPr lang="en-US" dirty="0">
                <a:latin typeface="Arial"/>
                <a:cs typeface="Arial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923613" y="4965592"/>
              <a:ext cx="1133919" cy="369332"/>
            </a:xfrm>
            <a:prstGeom prst="rect">
              <a:avLst/>
            </a:prstGeom>
            <a:solidFill>
              <a:schemeClr val="bg1"/>
            </a:solidFill>
            <a:ln w="19050" cmpd="sng"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chemeClr val="bg1">
                      <a:lumMod val="50000"/>
                    </a:schemeClr>
                  </a:solidFill>
                  <a:latin typeface="Arial"/>
                  <a:cs typeface="Arial"/>
                </a:rPr>
                <a:t>GridFace</a:t>
              </a:r>
              <a:endParaRPr lang="en-US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915303" y="5497872"/>
              <a:ext cx="1467544" cy="369332"/>
            </a:xfrm>
            <a:prstGeom prst="rect">
              <a:avLst/>
            </a:prstGeom>
            <a:solidFill>
              <a:schemeClr val="bg1"/>
            </a:solidFill>
            <a:ln w="19050" cmpd="sng"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chemeClr val="bg1">
                      <a:lumMod val="50000"/>
                    </a:schemeClr>
                  </a:solidFill>
                  <a:latin typeface="Arial"/>
                  <a:cs typeface="Arial"/>
                </a:rPr>
                <a:t>GridElement</a:t>
              </a:r>
              <a:endParaRPr lang="en-US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endParaRPr>
            </a:p>
          </p:txBody>
        </p:sp>
        <p:cxnSp>
          <p:nvCxnSpPr>
            <p:cNvPr id="19" name="Elbow Connector 18"/>
            <p:cNvCxnSpPr>
              <a:stCxn id="15" idx="1"/>
            </p:cNvCxnSpPr>
            <p:nvPr/>
          </p:nvCxnSpPr>
          <p:spPr>
            <a:xfrm rot="10800000">
              <a:off x="5770881" y="4083875"/>
              <a:ext cx="134263" cy="465855"/>
            </a:xfrm>
            <a:prstGeom prst="bentConnector2">
              <a:avLst/>
            </a:prstGeom>
            <a:ln>
              <a:solidFill>
                <a:srgbClr val="00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Elbow Connector 19"/>
            <p:cNvCxnSpPr>
              <a:stCxn id="16" idx="1"/>
            </p:cNvCxnSpPr>
            <p:nvPr/>
          </p:nvCxnSpPr>
          <p:spPr>
            <a:xfrm rot="10800000">
              <a:off x="5770883" y="4549732"/>
              <a:ext cx="152731" cy="600526"/>
            </a:xfrm>
            <a:prstGeom prst="bentConnector2">
              <a:avLst/>
            </a:prstGeom>
            <a:ln>
              <a:solidFill>
                <a:schemeClr val="bg1">
                  <a:lumMod val="50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Elbow Connector 21"/>
            <p:cNvCxnSpPr/>
            <p:nvPr/>
          </p:nvCxnSpPr>
          <p:spPr>
            <a:xfrm rot="16200000" flipV="1">
              <a:off x="5555640" y="5357190"/>
              <a:ext cx="566596" cy="152733"/>
            </a:xfrm>
            <a:prstGeom prst="bentConnector3">
              <a:avLst>
                <a:gd name="adj1" fmla="val 6964"/>
              </a:avLst>
            </a:prstGeom>
            <a:ln>
              <a:solidFill>
                <a:schemeClr val="bg1">
                  <a:lumMod val="50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/>
          <p:cNvSpPr txBox="1"/>
          <p:nvPr/>
        </p:nvSpPr>
        <p:spPr>
          <a:xfrm>
            <a:off x="2341631" y="2204053"/>
            <a:ext cx="2365965" cy="369332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>
                <a:latin typeface="Arial"/>
                <a:cs typeface="Arial"/>
              </a:rPr>
              <a:t>PolygonGridManager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231631" y="2580266"/>
            <a:ext cx="27087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>
                <a:latin typeface="Arial"/>
                <a:cs typeface="Arial"/>
              </a:rPr>
              <a:t>does not use </a:t>
            </a:r>
            <a:r>
              <a:rPr lang="en-US" sz="1600" i="1" dirty="0" err="1">
                <a:latin typeface="Arial"/>
                <a:cs typeface="Arial"/>
              </a:rPr>
              <a:t>PolygonGrid</a:t>
            </a:r>
            <a:r>
              <a:rPr lang="en-US" sz="1600" i="1" dirty="0">
                <a:latin typeface="Arial"/>
                <a:cs typeface="Arial"/>
              </a:rPr>
              <a:t> !</a:t>
            </a:r>
          </a:p>
        </p:txBody>
      </p:sp>
      <p:cxnSp>
        <p:nvCxnSpPr>
          <p:cNvPr id="29" name="Curved Connector 28"/>
          <p:cNvCxnSpPr>
            <a:stCxn id="8" idx="1"/>
            <a:endCxn id="26" idx="1"/>
          </p:cNvCxnSpPr>
          <p:nvPr/>
        </p:nvCxnSpPr>
        <p:spPr>
          <a:xfrm rot="10800000" flipH="1">
            <a:off x="2231631" y="2388720"/>
            <a:ext cx="110000" cy="841019"/>
          </a:xfrm>
          <a:prstGeom prst="curvedConnector3">
            <a:avLst>
              <a:gd name="adj1" fmla="val -207818"/>
            </a:avLst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65112" y="1373704"/>
            <a:ext cx="54439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latin typeface="Arial"/>
                <a:cs typeface="Arial"/>
              </a:rPr>
              <a:t>collection of functions (processing of element types etc.)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0196" y="981294"/>
            <a:ext cx="5224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Arial"/>
                <a:cs typeface="Arial"/>
              </a:rPr>
              <a:t>EclipseInterface</a:t>
            </a:r>
            <a:r>
              <a:rPr lang="en-US" b="1" dirty="0">
                <a:latin typeface="Arial"/>
                <a:cs typeface="Arial"/>
              </a:rPr>
              <a:t> &amp; </a:t>
            </a:r>
            <a:r>
              <a:rPr lang="en-US" b="1" dirty="0" err="1">
                <a:latin typeface="Arial"/>
                <a:cs typeface="Arial"/>
              </a:rPr>
              <a:t>meshingTools</a:t>
            </a:r>
            <a:endParaRPr lang="en-US" b="1" dirty="0">
              <a:latin typeface="Arial"/>
              <a:cs typeface="Arial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137054" y="4215714"/>
            <a:ext cx="697727" cy="369332"/>
          </a:xfrm>
          <a:prstGeom prst="rect">
            <a:avLst/>
          </a:prstGeom>
          <a:solidFill>
            <a:srgbClr val="FFFFFF"/>
          </a:solidFill>
          <a:ln w="19050" cmpd="sng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Pillar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13020" y="3502202"/>
            <a:ext cx="9810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Arial"/>
                <a:cs typeface="Arial"/>
              </a:rPr>
              <a:t>isolated class that is rarely used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63557" y="4279225"/>
            <a:ext cx="710802" cy="369332"/>
          </a:xfrm>
          <a:prstGeom prst="rect">
            <a:avLst/>
          </a:prstGeom>
          <a:solidFill>
            <a:srgbClr val="FFFFFF"/>
          </a:solidFill>
          <a:ln w="19050" cmpd="sng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Point</a:t>
            </a:r>
          </a:p>
        </p:txBody>
      </p:sp>
      <p:cxnSp>
        <p:nvCxnSpPr>
          <p:cNvPr id="47" name="Straight Arrow Connector 46"/>
          <p:cNvCxnSpPr>
            <a:stCxn id="45" idx="1"/>
            <a:endCxn id="12" idx="3"/>
          </p:cNvCxnSpPr>
          <p:nvPr/>
        </p:nvCxnSpPr>
        <p:spPr>
          <a:xfrm flipH="1">
            <a:off x="7508592" y="4463891"/>
            <a:ext cx="354965" cy="3763"/>
          </a:xfrm>
          <a:prstGeom prst="straightConnector1">
            <a:avLst/>
          </a:prstGeom>
          <a:ln>
            <a:solidFill>
              <a:schemeClr val="tx1"/>
            </a:solidFill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urved Connector 48"/>
          <p:cNvCxnSpPr>
            <a:endCxn id="12" idx="0"/>
          </p:cNvCxnSpPr>
          <p:nvPr/>
        </p:nvCxnSpPr>
        <p:spPr>
          <a:xfrm rot="16200000" flipH="1">
            <a:off x="4710856" y="2071541"/>
            <a:ext cx="2570730" cy="1852164"/>
          </a:xfrm>
          <a:prstGeom prst="curvedConnector3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urved Connector 50"/>
          <p:cNvCxnSpPr>
            <a:endCxn id="26" idx="1"/>
          </p:cNvCxnSpPr>
          <p:nvPr/>
        </p:nvCxnSpPr>
        <p:spPr>
          <a:xfrm>
            <a:off x="1620044" y="1712258"/>
            <a:ext cx="721587" cy="676461"/>
          </a:xfrm>
          <a:prstGeom prst="curvedConnector3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352485" y="1152228"/>
            <a:ext cx="2391550" cy="369332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>
                <a:latin typeface="Arial"/>
                <a:cs typeface="Arial"/>
              </a:rPr>
              <a:t>EclipseModelSettings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434463" y="1521560"/>
            <a:ext cx="207093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/>
                <a:cs typeface="Arial"/>
              </a:rPr>
              <a:t>all keywords +</a:t>
            </a:r>
          </a:p>
          <a:p>
            <a:r>
              <a:rPr lang="en-US" sz="1400" dirty="0">
                <a:latin typeface="Arial"/>
                <a:cs typeface="Arial"/>
              </a:rPr>
              <a:t>stored properties</a:t>
            </a:r>
          </a:p>
          <a:p>
            <a:r>
              <a:rPr lang="en-US" sz="1400" dirty="0" err="1">
                <a:latin typeface="Arial"/>
                <a:cs typeface="Arial"/>
              </a:rPr>
              <a:t>create_boundaries</a:t>
            </a:r>
            <a:r>
              <a:rPr lang="en-US" sz="1400" dirty="0">
                <a:latin typeface="Arial"/>
                <a:cs typeface="Arial"/>
              </a:rPr>
              <a:t>_</a:t>
            </a:r>
          </a:p>
          <a:p>
            <a:r>
              <a:rPr lang="en-US" sz="1400" dirty="0">
                <a:latin typeface="Arial"/>
                <a:cs typeface="Arial"/>
              </a:rPr>
              <a:t>regions_</a:t>
            </a:r>
          </a:p>
          <a:p>
            <a:r>
              <a:rPr lang="en-US" sz="1400" dirty="0" err="1">
                <a:latin typeface="Arial"/>
                <a:cs typeface="Arial"/>
              </a:rPr>
              <a:t>tetra_mesh</a:t>
            </a:r>
            <a:r>
              <a:rPr lang="en-US" sz="1400" dirty="0">
                <a:latin typeface="Arial"/>
                <a:cs typeface="Arial"/>
              </a:rPr>
              <a:t>_</a:t>
            </a:r>
          </a:p>
          <a:p>
            <a:r>
              <a:rPr lang="en-US" sz="1400" dirty="0" err="1">
                <a:latin typeface="Arial"/>
                <a:cs typeface="Arial"/>
              </a:rPr>
              <a:t>exclude_inactive_cells</a:t>
            </a:r>
            <a:r>
              <a:rPr lang="en-US" sz="1400" dirty="0">
                <a:latin typeface="Arial"/>
                <a:cs typeface="Arial"/>
              </a:rPr>
              <a:t>_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31953" y="764362"/>
            <a:ext cx="17812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/>
                <a:cs typeface="Arial"/>
              </a:rPr>
              <a:t>grid dimensions etc.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554462" y="395030"/>
            <a:ext cx="1826980" cy="369332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>
                <a:latin typeface="Arial"/>
                <a:cs typeface="Arial"/>
              </a:rPr>
              <a:t>EclipseInterface</a:t>
            </a:r>
            <a:endParaRPr lang="en-US" dirty="0">
              <a:latin typeface="Arial"/>
              <a:cs typeface="Arial"/>
            </a:endParaRPr>
          </a:p>
        </p:txBody>
      </p:sp>
      <p:cxnSp>
        <p:nvCxnSpPr>
          <p:cNvPr id="57" name="Elbow Connector 56"/>
          <p:cNvCxnSpPr>
            <a:stCxn id="55" idx="1"/>
            <a:endCxn id="52" idx="1"/>
          </p:cNvCxnSpPr>
          <p:nvPr/>
        </p:nvCxnSpPr>
        <p:spPr>
          <a:xfrm rot="10800000" flipH="1" flipV="1">
            <a:off x="5554461" y="579696"/>
            <a:ext cx="798023" cy="757198"/>
          </a:xfrm>
          <a:prstGeom prst="bentConnector3">
            <a:avLst>
              <a:gd name="adj1" fmla="val -28646"/>
            </a:avLst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9217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638"/>
            <a:ext cx="8229600" cy="539529"/>
          </a:xfrm>
        </p:spPr>
        <p:txBody>
          <a:bodyPr>
            <a:normAutofit/>
          </a:bodyPr>
          <a:lstStyle/>
          <a:p>
            <a:r>
              <a:rPr lang="en-US" sz="2800" dirty="0"/>
              <a:t>Execution sequence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700" y="560167"/>
            <a:ext cx="8801100" cy="5565997"/>
          </a:xfrm>
        </p:spPr>
        <p:txBody>
          <a:bodyPr>
            <a:normAutofit/>
          </a:bodyPr>
          <a:lstStyle/>
          <a:p>
            <a:r>
              <a:rPr lang="en-US" sz="1800" dirty="0" err="1"/>
              <a:t>EclipseModel</a:t>
            </a:r>
            <a:r>
              <a:rPr lang="en-US" sz="1800" dirty="0"/>
              <a:t>::</a:t>
            </a:r>
            <a:r>
              <a:rPr lang="en-US" sz="1800" dirty="0" err="1"/>
              <a:t>BuildModel</a:t>
            </a:r>
            <a:r>
              <a:rPr lang="en-US" sz="1800" dirty="0"/>
              <a:t>()</a:t>
            </a:r>
          </a:p>
          <a:p>
            <a:pPr lvl="1"/>
            <a:r>
              <a:rPr lang="en-US" sz="1800" dirty="0" err="1"/>
              <a:t>EclipseInterface</a:t>
            </a:r>
            <a:r>
              <a:rPr lang="en-US" sz="1800" dirty="0"/>
              <a:t>::</a:t>
            </a:r>
            <a:r>
              <a:rPr lang="en-US" sz="1800" dirty="0" err="1"/>
              <a:t>ReadFile</a:t>
            </a:r>
            <a:r>
              <a:rPr lang="en-US" sz="1800" dirty="0"/>
              <a:t>()</a:t>
            </a:r>
          </a:p>
          <a:p>
            <a:pPr lvl="1"/>
            <a:r>
              <a:rPr lang="en-US" sz="1800" dirty="0" err="1"/>
              <a:t>EclipseInterface</a:t>
            </a:r>
            <a:r>
              <a:rPr lang="en-US" sz="1800" dirty="0"/>
              <a:t>::</a:t>
            </a:r>
            <a:r>
              <a:rPr lang="en-US" sz="1800" dirty="0" err="1"/>
              <a:t>ReadGridSpecs</a:t>
            </a:r>
            <a:r>
              <a:rPr lang="en-US" sz="1800" dirty="0"/>
              <a:t>()</a:t>
            </a:r>
          </a:p>
          <a:p>
            <a:pPr lvl="1"/>
            <a:r>
              <a:rPr lang="en-US" sz="1800" dirty="0" err="1"/>
              <a:t>EclipseInterface</a:t>
            </a:r>
            <a:r>
              <a:rPr lang="en-US" sz="1800" dirty="0"/>
              <a:t>::</a:t>
            </a:r>
            <a:r>
              <a:rPr lang="en-US" sz="1800" dirty="0" err="1"/>
              <a:t>ReadPillarCoordinates</a:t>
            </a:r>
            <a:r>
              <a:rPr lang="en-US" sz="1800" dirty="0"/>
              <a:t>()</a:t>
            </a:r>
          </a:p>
          <a:p>
            <a:pPr lvl="2"/>
            <a:r>
              <a:rPr lang="en-US" sz="1800" dirty="0"/>
              <a:t>fills pillars grid[][] object with </a:t>
            </a:r>
            <a:r>
              <a:rPr lang="en-US" sz="1800" dirty="0" err="1"/>
              <a:t>i</a:t>
            </a:r>
            <a:r>
              <a:rPr lang="en-US" sz="1800" dirty="0"/>
              <a:t> and j.</a:t>
            </a:r>
          </a:p>
          <a:p>
            <a:pPr lvl="1"/>
            <a:r>
              <a:rPr lang="en-US" sz="1800" dirty="0" err="1"/>
              <a:t>EclipseInterface</a:t>
            </a:r>
            <a:r>
              <a:rPr lang="en-US" sz="1800" dirty="0"/>
              <a:t>::</a:t>
            </a:r>
            <a:r>
              <a:rPr lang="en-US" sz="1800" dirty="0" err="1"/>
              <a:t>ReadCornerDepths</a:t>
            </a:r>
            <a:r>
              <a:rPr lang="en-US" sz="1800" dirty="0"/>
              <a:t>()</a:t>
            </a:r>
          </a:p>
          <a:p>
            <a:pPr lvl="2"/>
            <a:r>
              <a:rPr lang="en-US" sz="1800" dirty="0"/>
              <a:t>adds depth coordinates to the pillars</a:t>
            </a:r>
          </a:p>
          <a:p>
            <a:pPr lvl="1"/>
            <a:r>
              <a:rPr lang="en-US" sz="1800" dirty="0" err="1"/>
              <a:t>CornerPointGrid</a:t>
            </a:r>
            <a:r>
              <a:rPr lang="en-US" sz="1800" dirty="0"/>
              <a:t>::</a:t>
            </a:r>
            <a:r>
              <a:rPr lang="en-US" sz="1800" dirty="0" err="1"/>
              <a:t>CreateModel</a:t>
            </a:r>
            <a:r>
              <a:rPr lang="en-US" sz="1800" dirty="0"/>
              <a:t>() – should be constructor</a:t>
            </a:r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r>
              <a:rPr lang="en-US" sz="1800" b="1" dirty="0"/>
              <a:t>Review of steps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Reading: </a:t>
            </a:r>
            <a:r>
              <a:rPr lang="en-US" sz="1800" dirty="0" err="1"/>
              <a:t>EclipseModelSettings</a:t>
            </a:r>
            <a:r>
              <a:rPr lang="en-US" sz="1800" dirty="0"/>
              <a:t> &amp; pillars(</a:t>
            </a:r>
            <a:r>
              <a:rPr lang="en-US" sz="1800" dirty="0" err="1"/>
              <a:t>EclipseInterface</a:t>
            </a:r>
            <a:r>
              <a:rPr lang="en-US" sz="1800" dirty="0"/>
              <a:t>) are </a:t>
            </a:r>
            <a:r>
              <a:rPr lang="en-US" sz="1800" dirty="0" err="1"/>
              <a:t>initialised</a:t>
            </a:r>
            <a:r>
              <a:rPr lang="en-US" sz="1800" dirty="0"/>
              <a:t> from file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Creation of cells: intact/degenerate that are stored in </a:t>
            </a:r>
            <a:r>
              <a:rPr lang="en-US" sz="1800" dirty="0" err="1"/>
              <a:t>VSet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53301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46100"/>
          </a:xfrm>
        </p:spPr>
        <p:txBody>
          <a:bodyPr>
            <a:noAutofit/>
          </a:bodyPr>
          <a:lstStyle/>
          <a:p>
            <a:r>
              <a:rPr lang="en-US" sz="3200" dirty="0"/>
              <a:t>Reading COORD keyword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3300"/>
            <a:ext cx="8229600" cy="5122863"/>
          </a:xfrm>
        </p:spPr>
        <p:txBody>
          <a:bodyPr>
            <a:normAutofit lnSpcReduction="10000"/>
          </a:bodyPr>
          <a:lstStyle/>
          <a:p>
            <a:pPr>
              <a:buFont typeface="+mj-lt"/>
              <a:buAutoNum type="arabicPeriod"/>
            </a:pPr>
            <a:r>
              <a:rPr lang="en-US" sz="1800" dirty="0"/>
              <a:t>COORD section of the grid file is identified by the keyword “COORD” and ends with a “ / ”</a:t>
            </a:r>
          </a:p>
          <a:p>
            <a:pPr marL="0" indent="0">
              <a:buNone/>
              <a:tabLst>
                <a:tab pos="355600" algn="l"/>
              </a:tabLst>
            </a:pPr>
            <a:r>
              <a:rPr lang="en-US" sz="1800" dirty="0"/>
              <a:t>	Total number of entries of the COORD section = 6 x (NX +1) x (NY +1) </a:t>
            </a:r>
          </a:p>
          <a:p>
            <a:pPr>
              <a:buFont typeface="+mj-lt"/>
              <a:buAutoNum type="arabicPeriod" startAt="2"/>
              <a:tabLst>
                <a:tab pos="355600" algn="l"/>
              </a:tabLst>
            </a:pPr>
            <a:r>
              <a:rPr lang="en-US" sz="1800" dirty="0"/>
              <a:t>Reading the file by “row” of Pillars = by “J” index (J index from 0 to NY): </a:t>
            </a:r>
          </a:p>
          <a:p>
            <a:pPr lvl="1">
              <a:buFont typeface="+mj-lt"/>
              <a:buAutoNum type="arabicPeriod"/>
              <a:tabLst>
                <a:tab pos="355600" algn="l"/>
              </a:tabLst>
            </a:pPr>
            <a:r>
              <a:rPr lang="en-US" sz="1400" dirty="0"/>
              <a:t>total number of entries to read per “row”: 6 x (NX + 1)</a:t>
            </a:r>
          </a:p>
          <a:p>
            <a:pPr lvl="1">
              <a:buFont typeface="+mj-lt"/>
              <a:buAutoNum type="arabicPeriod"/>
              <a:tabLst>
                <a:tab pos="355600" algn="l"/>
              </a:tabLst>
            </a:pPr>
            <a:r>
              <a:rPr lang="en-US" sz="1400" dirty="0"/>
              <a:t>number of entries to read per individual pillar = per “I” index (I index from 0 to NX): 6</a:t>
            </a:r>
          </a:p>
          <a:p>
            <a:pPr lvl="1">
              <a:buFont typeface="+mj-lt"/>
              <a:buAutoNum type="arabicPeriod"/>
              <a:tabLst>
                <a:tab pos="355600" algn="l"/>
              </a:tabLst>
            </a:pPr>
            <a:r>
              <a:rPr lang="en-US" sz="1400" dirty="0" err="1"/>
              <a:t>pillar_coord</a:t>
            </a:r>
            <a:r>
              <a:rPr lang="en-US" sz="1400" dirty="0"/>
              <a:t> contains 2 elements:  the (</a:t>
            </a:r>
            <a:r>
              <a:rPr lang="en-US" sz="1400" dirty="0" err="1"/>
              <a:t>x,y,z</a:t>
            </a:r>
            <a:r>
              <a:rPr lang="en-US" sz="1400" dirty="0"/>
              <a:t>) top and (</a:t>
            </a:r>
            <a:r>
              <a:rPr lang="en-US" sz="1400" dirty="0" err="1"/>
              <a:t>x,y,z</a:t>
            </a:r>
            <a:r>
              <a:rPr lang="en-US" sz="1400" dirty="0"/>
              <a:t>) bottom of the pillar</a:t>
            </a:r>
          </a:p>
          <a:p>
            <a:pPr marL="914400" lvl="2" indent="0">
              <a:buNone/>
              <a:tabLst>
                <a:tab pos="355600" algn="l"/>
              </a:tabLst>
            </a:pPr>
            <a:r>
              <a:rPr lang="en-US" sz="1000" dirty="0" err="1"/>
              <a:t>pillar_coord</a:t>
            </a:r>
            <a:r>
              <a:rPr lang="en-US" sz="1000" dirty="0"/>
              <a:t> [0] = </a:t>
            </a:r>
            <a:r>
              <a:rPr lang="en-US" sz="1000" dirty="0" err="1"/>
              <a:t>xtop</a:t>
            </a:r>
            <a:r>
              <a:rPr lang="en-US" sz="1000" dirty="0"/>
              <a:t>, </a:t>
            </a:r>
            <a:r>
              <a:rPr lang="en-US" sz="1000" dirty="0" err="1"/>
              <a:t>ytop</a:t>
            </a:r>
            <a:r>
              <a:rPr lang="en-US" sz="1000" dirty="0"/>
              <a:t>, </a:t>
            </a:r>
            <a:r>
              <a:rPr lang="en-US" sz="1000" dirty="0" err="1"/>
              <a:t>ztop</a:t>
            </a:r>
            <a:endParaRPr lang="en-US" sz="1000" dirty="0"/>
          </a:p>
          <a:p>
            <a:pPr marL="914400" lvl="2" indent="0">
              <a:buNone/>
              <a:tabLst>
                <a:tab pos="355600" algn="l"/>
              </a:tabLst>
            </a:pPr>
            <a:r>
              <a:rPr lang="en-US" sz="1000" dirty="0" err="1"/>
              <a:t>pillar_coord</a:t>
            </a:r>
            <a:r>
              <a:rPr lang="en-US" sz="1000" dirty="0"/>
              <a:t>[ 1] = </a:t>
            </a:r>
            <a:r>
              <a:rPr lang="en-US" sz="1000" dirty="0" err="1"/>
              <a:t>xbot</a:t>
            </a:r>
            <a:r>
              <a:rPr lang="en-US" sz="1000" dirty="0"/>
              <a:t>, </a:t>
            </a:r>
            <a:r>
              <a:rPr lang="en-US" sz="1000" dirty="0" err="1"/>
              <a:t>ybot</a:t>
            </a:r>
            <a:r>
              <a:rPr lang="en-US" sz="1000" dirty="0"/>
              <a:t>, </a:t>
            </a:r>
            <a:r>
              <a:rPr lang="en-US" sz="1000" dirty="0" err="1"/>
              <a:t>zbot</a:t>
            </a:r>
            <a:endParaRPr lang="en-US" sz="1000" dirty="0"/>
          </a:p>
          <a:p>
            <a:pPr lvl="1">
              <a:buFont typeface="+mj-lt"/>
              <a:buAutoNum type="arabicPeriod"/>
              <a:tabLst>
                <a:tab pos="355600" algn="l"/>
              </a:tabLst>
            </a:pPr>
            <a:r>
              <a:rPr lang="en-US" sz="1400" dirty="0">
                <a:solidFill>
                  <a:prstClr val="black"/>
                </a:solidFill>
              </a:rPr>
              <a:t>the pillar “a” (origin) and “b” (direction) values are filled using </a:t>
            </a:r>
            <a:r>
              <a:rPr lang="en-US" sz="1400" b="1" dirty="0"/>
              <a:t>Pillar::</a:t>
            </a:r>
            <a:r>
              <a:rPr lang="en-US" sz="1400" b="1" dirty="0" err="1"/>
              <a:t>AssignEnds</a:t>
            </a:r>
            <a:r>
              <a:rPr lang="en-US" sz="1400" b="1" dirty="0"/>
              <a:t> </a:t>
            </a:r>
            <a:r>
              <a:rPr lang="en-US" sz="1400" dirty="0"/>
              <a:t>and stored in “pillar”</a:t>
            </a:r>
          </a:p>
          <a:p>
            <a:pPr marL="914400" lvl="2" indent="0">
              <a:buNone/>
              <a:tabLst>
                <a:tab pos="355600" algn="l"/>
              </a:tabLst>
            </a:pPr>
            <a:r>
              <a:rPr lang="en-US" sz="1000" dirty="0"/>
              <a:t>pillar [a] = </a:t>
            </a:r>
            <a:r>
              <a:rPr lang="en-US" sz="1000" dirty="0" err="1"/>
              <a:t>xtop</a:t>
            </a:r>
            <a:r>
              <a:rPr lang="en-US" sz="1000" dirty="0"/>
              <a:t>, </a:t>
            </a:r>
            <a:r>
              <a:rPr lang="en-US" sz="1000" dirty="0" err="1"/>
              <a:t>ytop</a:t>
            </a:r>
            <a:r>
              <a:rPr lang="en-US" sz="1000" dirty="0"/>
              <a:t>, </a:t>
            </a:r>
            <a:r>
              <a:rPr lang="en-US" sz="1000" dirty="0" err="1"/>
              <a:t>ztop</a:t>
            </a:r>
            <a:endParaRPr lang="en-US" sz="1000" dirty="0"/>
          </a:p>
          <a:p>
            <a:pPr marL="914400" lvl="2" indent="0">
              <a:buNone/>
              <a:tabLst>
                <a:tab pos="355600" algn="l"/>
              </a:tabLst>
            </a:pPr>
            <a:r>
              <a:rPr lang="en-US" sz="1000" dirty="0"/>
              <a:t>pillar [b] = (</a:t>
            </a:r>
            <a:r>
              <a:rPr lang="en-US" sz="1000" dirty="0" err="1"/>
              <a:t>xbot-xtop</a:t>
            </a:r>
            <a:r>
              <a:rPr lang="en-US" sz="1000" dirty="0"/>
              <a:t>), (</a:t>
            </a:r>
            <a:r>
              <a:rPr lang="en-US" sz="1000" dirty="0" err="1"/>
              <a:t>ybot-ytop</a:t>
            </a:r>
            <a:r>
              <a:rPr lang="en-US" sz="1000" dirty="0"/>
              <a:t>), (</a:t>
            </a:r>
            <a:r>
              <a:rPr lang="en-US" sz="1000" dirty="0" err="1"/>
              <a:t>zbot-ztop</a:t>
            </a:r>
            <a:r>
              <a:rPr lang="en-US" sz="1000" dirty="0"/>
              <a:t>)</a:t>
            </a:r>
          </a:p>
          <a:p>
            <a:pPr lvl="1">
              <a:buFont typeface="+mj-lt"/>
              <a:buAutoNum type="arabicPeriod"/>
              <a:tabLst>
                <a:tab pos="355600" algn="l"/>
              </a:tabLst>
            </a:pPr>
            <a:r>
              <a:rPr lang="en-US" sz="1400" dirty="0">
                <a:solidFill>
                  <a:prstClr val="black"/>
                </a:solidFill>
              </a:rPr>
              <a:t>the vector of vectors “pillar</a:t>
            </a:r>
            <a:r>
              <a:rPr lang="en-US" sz="1400" b="1" dirty="0">
                <a:solidFill>
                  <a:prstClr val="black"/>
                </a:solidFill>
              </a:rPr>
              <a:t>s</a:t>
            </a:r>
            <a:r>
              <a:rPr lang="en-US" sz="1400" dirty="0">
                <a:solidFill>
                  <a:prstClr val="black"/>
                </a:solidFill>
              </a:rPr>
              <a:t>” is filled at the location: pillars [J index] [I index]</a:t>
            </a:r>
          </a:p>
          <a:p>
            <a:pPr marL="914400" lvl="2" indent="0">
              <a:buNone/>
              <a:tabLst>
                <a:tab pos="355600" algn="l"/>
              </a:tabLst>
            </a:pPr>
            <a:r>
              <a:rPr lang="en-US" sz="1000" dirty="0">
                <a:solidFill>
                  <a:prstClr val="black"/>
                </a:solidFill>
              </a:rPr>
              <a:t>pillars [</a:t>
            </a:r>
            <a:r>
              <a:rPr lang="en-US" sz="1000" dirty="0" err="1">
                <a:solidFill>
                  <a:prstClr val="black"/>
                </a:solidFill>
              </a:rPr>
              <a:t>J_index</a:t>
            </a:r>
            <a:r>
              <a:rPr lang="en-US" sz="1000" dirty="0">
                <a:solidFill>
                  <a:prstClr val="black"/>
                </a:solidFill>
              </a:rPr>
              <a:t>] = [0], [1], [2], </a:t>
            </a:r>
            <a:r>
              <a:rPr lang="is-IS" sz="1000" dirty="0">
                <a:solidFill>
                  <a:prstClr val="black"/>
                </a:solidFill>
              </a:rPr>
              <a:t>…...[NX]</a:t>
            </a:r>
          </a:p>
          <a:p>
            <a:pPr marL="914400" lvl="2" indent="0">
              <a:buNone/>
              <a:tabLst>
                <a:tab pos="355600" algn="l"/>
              </a:tabLst>
            </a:pPr>
            <a:r>
              <a:rPr lang="en-US" sz="1000" dirty="0">
                <a:solidFill>
                  <a:prstClr val="black"/>
                </a:solidFill>
              </a:rPr>
              <a:t>                            with pillars [J index , 0] = pillar [a], pillar [b]</a:t>
            </a:r>
          </a:p>
          <a:p>
            <a:pPr lvl="1">
              <a:buFont typeface="+mj-lt"/>
              <a:buAutoNum type="arabicPeriod"/>
              <a:tabLst>
                <a:tab pos="355600" algn="l"/>
              </a:tabLst>
            </a:pPr>
            <a:r>
              <a:rPr lang="en-US" sz="1400" dirty="0">
                <a:solidFill>
                  <a:prstClr val="black"/>
                </a:solidFill>
              </a:rPr>
              <a:t>go to next “line” = increment I index and repeat steps 2.2 to 2.5 until all pillars are identified for the given “row” = J index</a:t>
            </a:r>
          </a:p>
          <a:p>
            <a:pPr>
              <a:buFont typeface="+mj-lt"/>
              <a:buAutoNum type="arabicPeriod" startAt="2"/>
              <a:tabLst>
                <a:tab pos="355600" algn="l"/>
              </a:tabLst>
            </a:pPr>
            <a:r>
              <a:rPr lang="en-US" sz="1800" dirty="0">
                <a:solidFill>
                  <a:prstClr val="black"/>
                </a:solidFill>
              </a:rPr>
              <a:t>Go to next “row” = increment J index and repeat all steps in 2. until all pillars are identified</a:t>
            </a:r>
          </a:p>
          <a:p>
            <a:pPr>
              <a:buFont typeface="+mj-lt"/>
              <a:buAutoNum type="arabicPeriod" startAt="2"/>
              <a:tabLst>
                <a:tab pos="355600" algn="l"/>
              </a:tabLst>
            </a:pPr>
            <a:r>
              <a:rPr lang="en-US" sz="1800" dirty="0">
                <a:solidFill>
                  <a:prstClr val="black"/>
                </a:solidFill>
              </a:rPr>
              <a:t>Output of COORD reading: the object “pillars” contains the origin and direction of all pillars</a:t>
            </a:r>
          </a:p>
          <a:p>
            <a:pPr marL="914400" lvl="2" indent="0">
              <a:buNone/>
              <a:tabLst>
                <a:tab pos="355600" algn="l"/>
              </a:tabLst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14901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46100"/>
          </a:xfrm>
        </p:spPr>
        <p:txBody>
          <a:bodyPr>
            <a:noAutofit/>
          </a:bodyPr>
          <a:lstStyle/>
          <a:p>
            <a:r>
              <a:rPr lang="en-US" sz="3200" dirty="0"/>
              <a:t>Reading ZCORN keyword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3300"/>
            <a:ext cx="8229600" cy="5122863"/>
          </a:xfrm>
        </p:spPr>
        <p:txBody>
          <a:bodyPr>
            <a:normAutofit fontScale="92500" lnSpcReduction="20000"/>
          </a:bodyPr>
          <a:lstStyle/>
          <a:p>
            <a:pPr>
              <a:buFont typeface="+mj-lt"/>
              <a:buAutoNum type="arabicPeriod"/>
            </a:pPr>
            <a:r>
              <a:rPr lang="en-US" sz="1800" dirty="0"/>
              <a:t>ZCORN section of the grid file is identified by the keyword “ZCORN” and ends with a “ / ”</a:t>
            </a:r>
          </a:p>
          <a:p>
            <a:pPr marL="0" indent="0">
              <a:buNone/>
              <a:tabLst>
                <a:tab pos="355600" algn="l"/>
              </a:tabLst>
            </a:pPr>
            <a:r>
              <a:rPr lang="en-US" sz="1800" dirty="0"/>
              <a:t>	Total number of entries of the ZCORN section = 8 x (NX) x (NY) x (NZ) </a:t>
            </a:r>
          </a:p>
          <a:p>
            <a:pPr>
              <a:buFont typeface="+mj-lt"/>
              <a:buAutoNum type="arabicPeriod" startAt="2"/>
              <a:tabLst>
                <a:tab pos="355600" algn="l"/>
              </a:tabLst>
            </a:pPr>
            <a:r>
              <a:rPr lang="en-US" sz="1800" dirty="0"/>
              <a:t>Reading the file by “row” of Pillars = by “J” index (J index from 0 to NY): </a:t>
            </a:r>
          </a:p>
          <a:p>
            <a:pPr lvl="1">
              <a:buFont typeface="+mj-lt"/>
              <a:buAutoNum type="arabicPeriod"/>
              <a:tabLst>
                <a:tab pos="355600" algn="l"/>
              </a:tabLst>
            </a:pPr>
            <a:r>
              <a:rPr lang="en-US" sz="1400" dirty="0"/>
              <a:t>total number of entries to read per “row”: 2 x (NX)</a:t>
            </a:r>
          </a:p>
          <a:p>
            <a:pPr lvl="1">
              <a:buFont typeface="+mj-lt"/>
              <a:buAutoNum type="arabicPeriod"/>
              <a:tabLst>
                <a:tab pos="355600" algn="l"/>
              </a:tabLst>
            </a:pPr>
            <a:r>
              <a:rPr lang="en-US" sz="1400" dirty="0"/>
              <a:t>number of entries to read per individual pillar = per “I” index (I index from 0 to NX): 1 if at a border and 2 </a:t>
            </a:r>
            <a:r>
              <a:rPr lang="en-US" sz="1400"/>
              <a:t>if inside</a:t>
            </a:r>
          </a:p>
          <a:p>
            <a:pPr lvl="1">
              <a:buFont typeface="+mj-lt"/>
              <a:buAutoNum type="arabicPeriod"/>
              <a:tabLst>
                <a:tab pos="355600" algn="l"/>
              </a:tabLst>
            </a:pPr>
            <a:endParaRPr lang="en-US" sz="1400" dirty="0"/>
          </a:p>
          <a:p>
            <a:pPr lvl="1">
              <a:buFont typeface="+mj-lt"/>
              <a:buAutoNum type="arabicPeriod"/>
              <a:tabLst>
                <a:tab pos="355600" algn="l"/>
              </a:tabLst>
            </a:pPr>
            <a:r>
              <a:rPr lang="en-US" sz="1400" dirty="0" err="1"/>
              <a:t>pillar_coord</a:t>
            </a:r>
            <a:r>
              <a:rPr lang="en-US" sz="1400" dirty="0"/>
              <a:t> contains 2 elements:  the (</a:t>
            </a:r>
            <a:r>
              <a:rPr lang="en-US" sz="1400" dirty="0" err="1"/>
              <a:t>x,y,z</a:t>
            </a:r>
            <a:r>
              <a:rPr lang="en-US" sz="1400" dirty="0"/>
              <a:t>) top and (</a:t>
            </a:r>
            <a:r>
              <a:rPr lang="en-US" sz="1400" dirty="0" err="1"/>
              <a:t>x,y,z</a:t>
            </a:r>
            <a:r>
              <a:rPr lang="en-US" sz="1400" dirty="0"/>
              <a:t>) bottom of the pillar</a:t>
            </a:r>
          </a:p>
          <a:p>
            <a:pPr marL="914400" lvl="2" indent="0">
              <a:buNone/>
              <a:tabLst>
                <a:tab pos="355600" algn="l"/>
              </a:tabLst>
            </a:pPr>
            <a:r>
              <a:rPr lang="en-US" sz="1000" dirty="0" err="1"/>
              <a:t>pillar_coord</a:t>
            </a:r>
            <a:r>
              <a:rPr lang="en-US" sz="1000" dirty="0"/>
              <a:t> [0] = </a:t>
            </a:r>
            <a:r>
              <a:rPr lang="en-US" sz="1000" dirty="0" err="1"/>
              <a:t>xtop</a:t>
            </a:r>
            <a:r>
              <a:rPr lang="en-US" sz="1000" dirty="0"/>
              <a:t>, </a:t>
            </a:r>
            <a:r>
              <a:rPr lang="en-US" sz="1000" dirty="0" err="1"/>
              <a:t>ytop</a:t>
            </a:r>
            <a:r>
              <a:rPr lang="en-US" sz="1000" dirty="0"/>
              <a:t>, </a:t>
            </a:r>
            <a:r>
              <a:rPr lang="en-US" sz="1000" dirty="0" err="1"/>
              <a:t>ztop</a:t>
            </a:r>
            <a:endParaRPr lang="en-US" sz="1000" dirty="0"/>
          </a:p>
          <a:p>
            <a:pPr marL="914400" lvl="2" indent="0">
              <a:buNone/>
              <a:tabLst>
                <a:tab pos="355600" algn="l"/>
              </a:tabLst>
            </a:pPr>
            <a:r>
              <a:rPr lang="en-US" sz="1000" dirty="0" err="1"/>
              <a:t>pillar_coord</a:t>
            </a:r>
            <a:r>
              <a:rPr lang="en-US" sz="1000" dirty="0"/>
              <a:t>[ 1] = </a:t>
            </a:r>
            <a:r>
              <a:rPr lang="en-US" sz="1000" dirty="0" err="1"/>
              <a:t>xbot</a:t>
            </a:r>
            <a:r>
              <a:rPr lang="en-US" sz="1000" dirty="0"/>
              <a:t>, </a:t>
            </a:r>
            <a:r>
              <a:rPr lang="en-US" sz="1000" dirty="0" err="1"/>
              <a:t>ybot</a:t>
            </a:r>
            <a:r>
              <a:rPr lang="en-US" sz="1000" dirty="0"/>
              <a:t>, </a:t>
            </a:r>
            <a:r>
              <a:rPr lang="en-US" sz="1000" dirty="0" err="1"/>
              <a:t>zbot</a:t>
            </a:r>
            <a:endParaRPr lang="en-US" sz="1000" dirty="0"/>
          </a:p>
          <a:p>
            <a:pPr lvl="1">
              <a:buFont typeface="+mj-lt"/>
              <a:buAutoNum type="arabicPeriod"/>
              <a:tabLst>
                <a:tab pos="355600" algn="l"/>
              </a:tabLst>
            </a:pPr>
            <a:r>
              <a:rPr lang="en-US" sz="1400" dirty="0">
                <a:solidFill>
                  <a:prstClr val="black"/>
                </a:solidFill>
              </a:rPr>
              <a:t>the pillar “a” (origin) and “b” (direction) values are filled using </a:t>
            </a:r>
            <a:r>
              <a:rPr lang="en-US" sz="1400" b="1" dirty="0"/>
              <a:t>Pillar::</a:t>
            </a:r>
            <a:r>
              <a:rPr lang="en-US" sz="1400" b="1" dirty="0" err="1"/>
              <a:t>AssignEnds</a:t>
            </a:r>
            <a:r>
              <a:rPr lang="en-US" sz="1400" b="1" dirty="0"/>
              <a:t> </a:t>
            </a:r>
            <a:r>
              <a:rPr lang="en-US" sz="1400" dirty="0"/>
              <a:t>and stored in “pillar”</a:t>
            </a:r>
          </a:p>
          <a:p>
            <a:pPr marL="914400" lvl="2" indent="0">
              <a:buNone/>
              <a:tabLst>
                <a:tab pos="355600" algn="l"/>
              </a:tabLst>
            </a:pPr>
            <a:r>
              <a:rPr lang="en-US" sz="1000" dirty="0"/>
              <a:t>pillar [a] = </a:t>
            </a:r>
            <a:r>
              <a:rPr lang="en-US" sz="1000" dirty="0" err="1"/>
              <a:t>xtop</a:t>
            </a:r>
            <a:r>
              <a:rPr lang="en-US" sz="1000" dirty="0"/>
              <a:t>, </a:t>
            </a:r>
            <a:r>
              <a:rPr lang="en-US" sz="1000" dirty="0" err="1"/>
              <a:t>ytop</a:t>
            </a:r>
            <a:r>
              <a:rPr lang="en-US" sz="1000" dirty="0"/>
              <a:t>, </a:t>
            </a:r>
            <a:r>
              <a:rPr lang="en-US" sz="1000" dirty="0" err="1"/>
              <a:t>ztop</a:t>
            </a:r>
            <a:endParaRPr lang="en-US" sz="1000" dirty="0"/>
          </a:p>
          <a:p>
            <a:pPr marL="914400" lvl="2" indent="0">
              <a:buNone/>
              <a:tabLst>
                <a:tab pos="355600" algn="l"/>
              </a:tabLst>
            </a:pPr>
            <a:r>
              <a:rPr lang="en-US" sz="1000" dirty="0"/>
              <a:t>pillar [b] = (</a:t>
            </a:r>
            <a:r>
              <a:rPr lang="en-US" sz="1000" dirty="0" err="1"/>
              <a:t>xbot-xtop</a:t>
            </a:r>
            <a:r>
              <a:rPr lang="en-US" sz="1000" dirty="0"/>
              <a:t>), (</a:t>
            </a:r>
            <a:r>
              <a:rPr lang="en-US" sz="1000" dirty="0" err="1"/>
              <a:t>ybot-ytop</a:t>
            </a:r>
            <a:r>
              <a:rPr lang="en-US" sz="1000" dirty="0"/>
              <a:t>), (</a:t>
            </a:r>
            <a:r>
              <a:rPr lang="en-US" sz="1000" dirty="0" err="1"/>
              <a:t>zbot-ztop</a:t>
            </a:r>
            <a:r>
              <a:rPr lang="en-US" sz="1000" dirty="0"/>
              <a:t>)</a:t>
            </a:r>
          </a:p>
          <a:p>
            <a:pPr lvl="1">
              <a:buFont typeface="+mj-lt"/>
              <a:buAutoNum type="arabicPeriod"/>
              <a:tabLst>
                <a:tab pos="355600" algn="l"/>
              </a:tabLst>
            </a:pPr>
            <a:r>
              <a:rPr lang="en-US" sz="1400" dirty="0">
                <a:solidFill>
                  <a:prstClr val="black"/>
                </a:solidFill>
              </a:rPr>
              <a:t>the vector of vectors “pillar</a:t>
            </a:r>
            <a:r>
              <a:rPr lang="en-US" sz="1400" b="1" dirty="0">
                <a:solidFill>
                  <a:prstClr val="black"/>
                </a:solidFill>
              </a:rPr>
              <a:t>s</a:t>
            </a:r>
            <a:r>
              <a:rPr lang="en-US" sz="1400" dirty="0">
                <a:solidFill>
                  <a:prstClr val="black"/>
                </a:solidFill>
              </a:rPr>
              <a:t>” is filled at the location: pillars [J index] [I index]</a:t>
            </a:r>
          </a:p>
          <a:p>
            <a:pPr marL="914400" lvl="2" indent="0">
              <a:buNone/>
              <a:tabLst>
                <a:tab pos="355600" algn="l"/>
              </a:tabLst>
            </a:pPr>
            <a:r>
              <a:rPr lang="en-US" sz="1000" dirty="0">
                <a:solidFill>
                  <a:prstClr val="black"/>
                </a:solidFill>
              </a:rPr>
              <a:t>pillars [</a:t>
            </a:r>
            <a:r>
              <a:rPr lang="en-US" sz="1000" dirty="0" err="1">
                <a:solidFill>
                  <a:prstClr val="black"/>
                </a:solidFill>
              </a:rPr>
              <a:t>J_index</a:t>
            </a:r>
            <a:r>
              <a:rPr lang="en-US" sz="1000" dirty="0">
                <a:solidFill>
                  <a:prstClr val="black"/>
                </a:solidFill>
              </a:rPr>
              <a:t>] = [0], [1], [2], </a:t>
            </a:r>
            <a:r>
              <a:rPr lang="is-IS" sz="1000" dirty="0">
                <a:solidFill>
                  <a:prstClr val="black"/>
                </a:solidFill>
              </a:rPr>
              <a:t>…...[NX]</a:t>
            </a:r>
          </a:p>
          <a:p>
            <a:pPr marL="914400" lvl="2" indent="0">
              <a:buNone/>
              <a:tabLst>
                <a:tab pos="355600" algn="l"/>
              </a:tabLst>
            </a:pPr>
            <a:r>
              <a:rPr lang="en-US" sz="1000" dirty="0">
                <a:solidFill>
                  <a:prstClr val="black"/>
                </a:solidFill>
              </a:rPr>
              <a:t>                            with pillars [J index , 0] = pillar [a], pillar [b]</a:t>
            </a:r>
          </a:p>
          <a:p>
            <a:pPr lvl="1">
              <a:buFont typeface="+mj-lt"/>
              <a:buAutoNum type="arabicPeriod"/>
              <a:tabLst>
                <a:tab pos="355600" algn="l"/>
              </a:tabLst>
            </a:pPr>
            <a:r>
              <a:rPr lang="en-US" sz="1400" dirty="0">
                <a:solidFill>
                  <a:prstClr val="black"/>
                </a:solidFill>
              </a:rPr>
              <a:t>go to next “line” = increment I index and repeat steps 2.2 to 2.5 until all pillars are identified for the given “row” = J index</a:t>
            </a:r>
          </a:p>
          <a:p>
            <a:pPr>
              <a:buFont typeface="+mj-lt"/>
              <a:buAutoNum type="arabicPeriod" startAt="2"/>
              <a:tabLst>
                <a:tab pos="355600" algn="l"/>
              </a:tabLst>
            </a:pPr>
            <a:r>
              <a:rPr lang="en-US" sz="1800" dirty="0">
                <a:solidFill>
                  <a:prstClr val="black"/>
                </a:solidFill>
              </a:rPr>
              <a:t>Go to next “row” = increment J index and repeat all steps in 2. until all pillars are identified</a:t>
            </a:r>
          </a:p>
          <a:p>
            <a:pPr>
              <a:buFont typeface="+mj-lt"/>
              <a:buAutoNum type="arabicPeriod" startAt="2"/>
              <a:tabLst>
                <a:tab pos="355600" algn="l"/>
              </a:tabLst>
            </a:pPr>
            <a:r>
              <a:rPr lang="en-US" sz="1800" dirty="0">
                <a:solidFill>
                  <a:prstClr val="black"/>
                </a:solidFill>
              </a:rPr>
              <a:t>Output of COORD reading: the object “pillars” contains the origin and direction of all pillars</a:t>
            </a:r>
          </a:p>
          <a:p>
            <a:pPr marL="914400" lvl="2" indent="0">
              <a:buNone/>
              <a:tabLst>
                <a:tab pos="355600" algn="l"/>
              </a:tabLst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0573876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8286</TotalTime>
  <Words>204</Words>
  <Application>Microsoft Macintosh PowerPoint</Application>
  <PresentationFormat>On-screen Show (4:3)</PresentationFormat>
  <Paragraphs>81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PowerPoint Presentation</vt:lpstr>
      <vt:lpstr>Execution sequence</vt:lpstr>
      <vt:lpstr>Reading COORD keyword</vt:lpstr>
      <vt:lpstr>Reading ZCORN keyword</vt:lpstr>
    </vt:vector>
  </TitlesOfParts>
  <Company/>
  <LinksUpToDate>false</LinksUpToDate>
  <SharedDoc>false</SharedDoc>
  <HyperlinksChanged>false</HyperlinksChanged>
  <AppVersion>16.0015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Stephan Matthaei</dc:creator>
  <cp:lastModifiedBy>Stephan Matthai</cp:lastModifiedBy>
  <cp:revision>44</cp:revision>
  <cp:lastPrinted>2016-01-10T23:44:30Z</cp:lastPrinted>
  <dcterms:created xsi:type="dcterms:W3CDTF">2016-01-07T11:04:56Z</dcterms:created>
  <dcterms:modified xsi:type="dcterms:W3CDTF">2018-08-13T00:12:53Z</dcterms:modified>
</cp:coreProperties>
</file>