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6"/>
  </p:notesMasterIdLst>
  <p:handoutMasterIdLst>
    <p:handoutMasterId r:id="rId97"/>
  </p:handoutMasterIdLst>
  <p:sldIdLst>
    <p:sldId id="256" r:id="rId2"/>
    <p:sldId id="640" r:id="rId3"/>
    <p:sldId id="655" r:id="rId4"/>
    <p:sldId id="659" r:id="rId5"/>
    <p:sldId id="658" r:id="rId6"/>
    <p:sldId id="660" r:id="rId7"/>
    <p:sldId id="261" r:id="rId8"/>
    <p:sldId id="263" r:id="rId9"/>
    <p:sldId id="262" r:id="rId10"/>
    <p:sldId id="666" r:id="rId11"/>
    <p:sldId id="661" r:id="rId12"/>
    <p:sldId id="605" r:id="rId13"/>
    <p:sldId id="606" r:id="rId14"/>
    <p:sldId id="664" r:id="rId15"/>
    <p:sldId id="665" r:id="rId16"/>
    <p:sldId id="663" r:id="rId17"/>
    <p:sldId id="662" r:id="rId18"/>
    <p:sldId id="607" r:id="rId19"/>
    <p:sldId id="634" r:id="rId20"/>
    <p:sldId id="635" r:id="rId21"/>
    <p:sldId id="637" r:id="rId22"/>
    <p:sldId id="611" r:id="rId23"/>
    <p:sldId id="612" r:id="rId24"/>
    <p:sldId id="613" r:id="rId25"/>
    <p:sldId id="614" r:id="rId26"/>
    <p:sldId id="615" r:id="rId27"/>
    <p:sldId id="616" r:id="rId28"/>
    <p:sldId id="641" r:id="rId29"/>
    <p:sldId id="617" r:id="rId30"/>
    <p:sldId id="618" r:id="rId31"/>
    <p:sldId id="619" r:id="rId32"/>
    <p:sldId id="620" r:id="rId33"/>
    <p:sldId id="642" r:id="rId34"/>
    <p:sldId id="643" r:id="rId35"/>
    <p:sldId id="644" r:id="rId36"/>
    <p:sldId id="621" r:id="rId37"/>
    <p:sldId id="622" r:id="rId38"/>
    <p:sldId id="636" r:id="rId39"/>
    <p:sldId id="645" r:id="rId40"/>
    <p:sldId id="624" r:id="rId41"/>
    <p:sldId id="623" r:id="rId42"/>
    <p:sldId id="625" r:id="rId43"/>
    <p:sldId id="626" r:id="rId44"/>
    <p:sldId id="653" r:id="rId45"/>
    <p:sldId id="648" r:id="rId46"/>
    <p:sldId id="649" r:id="rId47"/>
    <p:sldId id="646" r:id="rId48"/>
    <p:sldId id="630" r:id="rId49"/>
    <p:sldId id="647" r:id="rId50"/>
    <p:sldId id="627" r:id="rId51"/>
    <p:sldId id="651" r:id="rId52"/>
    <p:sldId id="628" r:id="rId53"/>
    <p:sldId id="629" r:id="rId54"/>
    <p:sldId id="631" r:id="rId55"/>
    <p:sldId id="632" r:id="rId56"/>
    <p:sldId id="650" r:id="rId57"/>
    <p:sldId id="652" r:id="rId58"/>
    <p:sldId id="654" r:id="rId59"/>
    <p:sldId id="604" r:id="rId60"/>
    <p:sldId id="639" r:id="rId61"/>
    <p:sldId id="609" r:id="rId62"/>
    <p:sldId id="608" r:id="rId63"/>
    <p:sldId id="638" r:id="rId64"/>
    <p:sldId id="633" r:id="rId65"/>
    <p:sldId id="580" r:id="rId66"/>
    <p:sldId id="588" r:id="rId67"/>
    <p:sldId id="589" r:id="rId68"/>
    <p:sldId id="590" r:id="rId69"/>
    <p:sldId id="591" r:id="rId70"/>
    <p:sldId id="592" r:id="rId71"/>
    <p:sldId id="593" r:id="rId72"/>
    <p:sldId id="594" r:id="rId73"/>
    <p:sldId id="595" r:id="rId74"/>
    <p:sldId id="596" r:id="rId75"/>
    <p:sldId id="597" r:id="rId76"/>
    <p:sldId id="598" r:id="rId77"/>
    <p:sldId id="538" r:id="rId78"/>
    <p:sldId id="599" r:id="rId79"/>
    <p:sldId id="579" r:id="rId80"/>
    <p:sldId id="581" r:id="rId81"/>
    <p:sldId id="582" r:id="rId82"/>
    <p:sldId id="583" r:id="rId83"/>
    <p:sldId id="585" r:id="rId84"/>
    <p:sldId id="586" r:id="rId85"/>
    <p:sldId id="587" r:id="rId86"/>
    <p:sldId id="600" r:id="rId87"/>
    <p:sldId id="601" r:id="rId88"/>
    <p:sldId id="602" r:id="rId89"/>
    <p:sldId id="603" r:id="rId90"/>
    <p:sldId id="560" r:id="rId91"/>
    <p:sldId id="561" r:id="rId92"/>
    <p:sldId id="523" r:id="rId93"/>
    <p:sldId id="539" r:id="rId94"/>
    <p:sldId id="540" r:id="rId9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90884" autoAdjust="0"/>
  </p:normalViewPr>
  <p:slideViewPr>
    <p:cSldViewPr snapToObjects="1">
      <p:cViewPr varScale="1">
        <p:scale>
          <a:sx n="111" d="100"/>
          <a:sy n="111" d="100"/>
        </p:scale>
        <p:origin x="2232" y="208"/>
      </p:cViewPr>
      <p:guideLst>
        <p:guide orient="horz" pos="2160"/>
        <p:guide pos="2880"/>
      </p:guideLst>
    </p:cSldViewPr>
  </p:slideViewPr>
  <p:notesTextViewPr>
    <p:cViewPr>
      <p:scale>
        <a:sx n="100" d="100"/>
        <a:sy n="100" d="100"/>
      </p:scale>
      <p:origin x="0" y="0"/>
    </p:cViewPr>
  </p:notesTextViewPr>
  <p:sorterViewPr>
    <p:cViewPr>
      <p:scale>
        <a:sx n="130" d="100"/>
        <a:sy n="130" d="100"/>
      </p:scale>
      <p:origin x="0" y="108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emf"/><Relationship Id="rId1" Type="http://schemas.openxmlformats.org/officeDocument/2006/relationships/image" Target="../media/image2.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emf"/><Relationship Id="rId1" Type="http://schemas.openxmlformats.org/officeDocument/2006/relationships/image" Target="../media/image2.emf"/><Relationship Id="rId4" Type="http://schemas.openxmlformats.org/officeDocument/2006/relationships/image" Target="../media/image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 Id="rId4"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AEA79E-3780-954A-9514-1C100FD8E738}" type="datetimeFigureOut">
              <a:rPr lang="en-US" smtClean="0"/>
              <a:pPr/>
              <a:t>3/17/19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EE66AB-E1EB-4E41-868C-4CF35CC2DAE5}" type="slidenum">
              <a:rPr lang="en-US" smtClean="0"/>
              <a:pPr/>
              <a:t>‹#›</a:t>
            </a:fld>
            <a:endParaRPr lang="en-US"/>
          </a:p>
        </p:txBody>
      </p:sp>
    </p:spTree>
    <p:extLst>
      <p:ext uri="{BB962C8B-B14F-4D97-AF65-F5344CB8AC3E}">
        <p14:creationId xmlns:p14="http://schemas.microsoft.com/office/powerpoint/2010/main" val="23176377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1E92DA7-79C0-5A46-A8B5-90ACC4B4893F}" type="datetimeFigureOut">
              <a:rPr lang="en-US" smtClean="0"/>
              <a:pPr/>
              <a:t>3/17/19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1A5846-1793-6F4A-93C8-9FD4F1C1591E}" type="slidenum">
              <a:rPr lang="en-US" smtClean="0"/>
              <a:pPr/>
              <a:t>‹#›</a:t>
            </a:fld>
            <a:endParaRPr lang="en-US"/>
          </a:p>
        </p:txBody>
      </p:sp>
    </p:spTree>
    <p:extLst>
      <p:ext uri="{BB962C8B-B14F-4D97-AF65-F5344CB8AC3E}">
        <p14:creationId xmlns:p14="http://schemas.microsoft.com/office/powerpoint/2010/main" val="416299003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D5CE549C-285A-8E45-B232-E108071EA2A2}" type="slidenum">
              <a:rPr lang="en-GB" sz="1200"/>
              <a:pPr/>
              <a:t>3</a:t>
            </a:fld>
            <a:endParaRPr lang="en-GB" sz="12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accompanying derivation is in Maple worksheet Helmig-p107-vs-CSP.mws</a:t>
            </a:r>
          </a:p>
          <a:p>
            <a:r>
              <a:rPr lang="en-US"/>
              <a:t>rho_n und rho_avg refer to the reduced density</a:t>
            </a:r>
          </a:p>
          <a:p>
            <a:r>
              <a:rPr lang="en-US"/>
              <a:t>NB: It is a problem that advection etc multpliers depend in their form on the way the equations are being solved -&gt; remove?</a:t>
            </a:r>
          </a:p>
          <a:p>
            <a:r>
              <a:rPr lang="en-US"/>
              <a:t>Notice also that if the permeability is a tensor, only the vertical component will have to be considered in the calculation of the gravitational spreading</a:t>
            </a:r>
            <a:endParaRPr lang="en-GB"/>
          </a:p>
        </p:txBody>
      </p:sp>
    </p:spTree>
    <p:extLst>
      <p:ext uri="{BB962C8B-B14F-4D97-AF65-F5344CB8AC3E}">
        <p14:creationId xmlns:p14="http://schemas.microsoft.com/office/powerpoint/2010/main" val="96921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7E9553-F0EC-8340-8D37-11806C77852F}"/>
              </a:ext>
            </a:extLst>
          </p:cNvPr>
          <p:cNvSpPr>
            <a:spLocks noGrp="1" noChangeArrowheads="1"/>
          </p:cNvSpPr>
          <p:nvPr>
            <p:ph type="sldNum" sz="quarter" idx="5"/>
          </p:nvPr>
        </p:nvSpPr>
        <p:spPr>
          <a:ln/>
        </p:spPr>
        <p:txBody>
          <a:bodyPr/>
          <a:lstStyle/>
          <a:p>
            <a:fld id="{DFAD5865-2F63-E546-A532-22A6F3B2FA7B}" type="slidenum">
              <a:rPr lang="en-US" altLang="en-US"/>
              <a:pPr/>
              <a:t>7</a:t>
            </a:fld>
            <a:endParaRPr lang="en-US" altLang="en-US"/>
          </a:p>
        </p:txBody>
      </p:sp>
      <p:sp>
        <p:nvSpPr>
          <p:cNvPr id="28674" name="Rectangle 2">
            <a:extLst>
              <a:ext uri="{FF2B5EF4-FFF2-40B4-BE49-F238E27FC236}">
                <a16:creationId xmlns:a16="http://schemas.microsoft.com/office/drawing/2014/main" id="{46623933-F624-F64C-8B8A-903AE3F27A8F}"/>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CA4D3599-4856-A44D-A85B-83AD1F48C147}"/>
              </a:ext>
            </a:extLst>
          </p:cNvPr>
          <p:cNvSpPr>
            <a:spLocks noGrp="1" noChangeArrowheads="1"/>
          </p:cNvSpPr>
          <p:nvPr>
            <p:ph type="body" idx="1"/>
          </p:nvPr>
        </p:nvSpPr>
        <p:spPr/>
        <p:txBody>
          <a:bodyPr/>
          <a:lstStyle/>
          <a:p>
            <a:r>
              <a:rPr lang="en-GB" altLang="en-US" dirty="0"/>
              <a:t>Stress that experimental </a:t>
            </a:r>
            <a:r>
              <a:rPr lang="en-GB" altLang="en-US" dirty="0" err="1"/>
              <a:t>relperm</a:t>
            </a:r>
            <a:r>
              <a:rPr lang="en-GB" altLang="en-US" dirty="0"/>
              <a:t> models can be used</a:t>
            </a:r>
            <a:endParaRPr lang="en-US" altLang="en-US" dirty="0"/>
          </a:p>
        </p:txBody>
      </p:sp>
    </p:spTree>
    <p:extLst>
      <p:ext uri="{BB962C8B-B14F-4D97-AF65-F5344CB8AC3E}">
        <p14:creationId xmlns:p14="http://schemas.microsoft.com/office/powerpoint/2010/main" val="1684997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37697B9D-347E-5644-B490-C43AC6FEB2B3}" type="slidenum">
              <a:rPr lang="en-US">
                <a:solidFill>
                  <a:prstClr val="black"/>
                </a:solidFill>
                <a:latin typeface="Calibri"/>
              </a:rPr>
              <a:pPr/>
              <a:t>18</a:t>
            </a:fld>
            <a:endParaRPr lang="en-US">
              <a:solidFill>
                <a:prstClr val="black"/>
              </a:solidFill>
              <a:latin typeface="Calibri"/>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concentrations</a:t>
            </a:r>
            <a:r>
              <a:rPr lang="en-US" baseline="0" dirty="0"/>
              <a:t> may be possible in some mathematical models</a:t>
            </a:r>
          </a:p>
          <a:p>
            <a:endParaRPr lang="en-US" baseline="0" dirty="0"/>
          </a:p>
          <a:p>
            <a:r>
              <a:rPr lang="en-US" baseline="0" dirty="0"/>
              <a:t>What should be part of the transport scheme as opposed to some auxiliary functionality.</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20</a:t>
            </a:fld>
            <a:endParaRPr lang="en-US"/>
          </a:p>
        </p:txBody>
      </p:sp>
    </p:spTree>
    <p:extLst>
      <p:ext uri="{BB962C8B-B14F-4D97-AF65-F5344CB8AC3E}">
        <p14:creationId xmlns:p14="http://schemas.microsoft.com/office/powerpoint/2010/main" val="3241220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 Meeting Notes (10/3/12 18:44) -----</a:t>
            </a:r>
          </a:p>
          <a:p>
            <a:r>
              <a:rPr lang="en-US"/>
              <a:t>Flux boundary conditions for compressible flow?</a:t>
            </a:r>
          </a:p>
          <a:p>
            <a:r>
              <a:rPr lang="en-US"/>
              <a:t>Dealing with inflow changing to outflow</a:t>
            </a:r>
          </a:p>
          <a:p>
            <a:r>
              <a:rPr lang="en-US"/>
              <a:t>Should all elements that have a node on a boundary of a region be boundary elements? </a:t>
            </a:r>
          </a:p>
        </p:txBody>
      </p:sp>
      <p:sp>
        <p:nvSpPr>
          <p:cNvPr id="4" name="Slide Number Placeholder 3"/>
          <p:cNvSpPr>
            <a:spLocks noGrp="1"/>
          </p:cNvSpPr>
          <p:nvPr>
            <p:ph type="sldNum" sz="quarter" idx="10"/>
          </p:nvPr>
        </p:nvSpPr>
        <p:spPr/>
        <p:txBody>
          <a:bodyPr/>
          <a:lstStyle/>
          <a:p>
            <a:fld id="{D485DD8A-6A8A-ED46-83D9-CB8C804C53A9}" type="slidenum">
              <a:rPr lang="en-US" smtClean="0"/>
              <a:pPr/>
              <a:t>22</a:t>
            </a:fld>
            <a:endParaRPr lang="en-US"/>
          </a:p>
        </p:txBody>
      </p:sp>
    </p:spTree>
    <p:extLst>
      <p:ext uri="{BB962C8B-B14F-4D97-AF65-F5344CB8AC3E}">
        <p14:creationId xmlns:p14="http://schemas.microsoft.com/office/powerpoint/2010/main" val="1373270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E31339D-3957-0A4C-B460-33C1FAC07BC6}" type="slidenum">
              <a:rPr lang="en-US">
                <a:solidFill>
                  <a:prstClr val="black"/>
                </a:solidFill>
                <a:latin typeface="Calibri"/>
              </a:rPr>
              <a:pPr/>
              <a:t>23</a:t>
            </a:fld>
            <a:endParaRPr lang="en-US">
              <a:solidFill>
                <a:prstClr val="black"/>
              </a:solidFill>
              <a:latin typeface="Calibri"/>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en-US"/>
          </a:p>
          <a:p>
            <a:pPr eaLnBrk="1" hangingPunct="1"/>
            <a:r>
              <a:rPr lang="en-US"/>
              <a:t>----- Meeting Notes (10/3/12 18:44) -----</a:t>
            </a:r>
          </a:p>
          <a:p>
            <a:pPr eaLnBrk="1" hangingPunct="1"/>
            <a:r>
              <a:rPr lang="en-US"/>
              <a:t>Way forward via Thomas suggestion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interface needs to be cleaned up – I</a:t>
            </a:r>
            <a:r>
              <a:rPr lang="en-US" baseline="0" dirty="0"/>
              <a:t> do not know who introduced all this duplicate functions!</a:t>
            </a:r>
          </a:p>
          <a:p>
            <a:r>
              <a:rPr lang="en-US" baseline="0" dirty="0"/>
              <a:t>----- Meeting Notes (10/3/12 18:44) -----</a:t>
            </a:r>
          </a:p>
          <a:p>
            <a:r>
              <a:rPr lang="en-US" baseline="0" dirty="0"/>
              <a:t>Action is needed!</a:t>
            </a:r>
          </a:p>
          <a:p>
            <a:r>
              <a:rPr lang="en-US" baseline="0" dirty="0"/>
              <a:t>- rename into SaturationFunctions </a:t>
            </a:r>
          </a:p>
          <a:p>
            <a:r>
              <a:rPr lang="en-US" baseline="0" dirty="0"/>
              <a:t>2-phase model does things it should not do:</a:t>
            </a:r>
          </a:p>
          <a:p>
            <a:r>
              <a:rPr lang="en-US" baseline="0" dirty="0"/>
              <a:t>- calculate concentrations in phases</a:t>
            </a:r>
          </a:p>
          <a:p>
            <a:r>
              <a:rPr lang="en-US" baseline="0" dirty="0"/>
              <a:t>It should do:</a:t>
            </a:r>
          </a:p>
          <a:p>
            <a:r>
              <a:rPr lang="en-US" baseline="0" dirty="0"/>
              <a:t>- relative permeabilities, capillary pressure, fractional flows etc.</a:t>
            </a:r>
          </a:p>
          <a:p>
            <a:r>
              <a:rPr lang="en-US" baseline="0" dirty="0"/>
              <a:t>- talk to EOS, fluid properties,  and other things</a:t>
            </a:r>
          </a:p>
          <a:p>
            <a:r>
              <a:rPr lang="en-US" baseline="0" dirty="0"/>
              <a:t>- feedback with transport scheme in terms of where variables are sampled</a:t>
            </a:r>
          </a:p>
          <a:p>
            <a:endParaRPr lang="en-US" dirty="0"/>
          </a:p>
        </p:txBody>
      </p:sp>
      <p:sp>
        <p:nvSpPr>
          <p:cNvPr id="4" name="Slide Number Placeholder 3"/>
          <p:cNvSpPr>
            <a:spLocks noGrp="1"/>
          </p:cNvSpPr>
          <p:nvPr>
            <p:ph type="sldNum" sz="quarter" idx="10"/>
          </p:nvPr>
        </p:nvSpPr>
        <p:spPr/>
        <p:txBody>
          <a:bodyPr/>
          <a:lstStyle/>
          <a:p>
            <a:fld id="{D485DD8A-6A8A-ED46-83D9-CB8C804C53A9}" type="slidenum">
              <a:rPr lang="en-US" smtClean="0"/>
              <a:pPr/>
              <a:t>24</a:t>
            </a:fld>
            <a:endParaRPr lang="en-US"/>
          </a:p>
        </p:txBody>
      </p:sp>
    </p:spTree>
    <p:extLst>
      <p:ext uri="{BB962C8B-B14F-4D97-AF65-F5344CB8AC3E}">
        <p14:creationId xmlns:p14="http://schemas.microsoft.com/office/powerpoint/2010/main" val="22358916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 Meeting Notes (10/3/12 18:44) -----</a:t>
            </a:r>
          </a:p>
          <a:p>
            <a:r>
              <a:rPr lang="en-US"/>
              <a:t>We go with Element-based formulation</a:t>
            </a:r>
          </a:p>
        </p:txBody>
      </p:sp>
      <p:sp>
        <p:nvSpPr>
          <p:cNvPr id="4" name="Slide Number Placeholder 3"/>
          <p:cNvSpPr>
            <a:spLocks noGrp="1"/>
          </p:cNvSpPr>
          <p:nvPr>
            <p:ph type="sldNum" sz="quarter" idx="10"/>
          </p:nvPr>
        </p:nvSpPr>
        <p:spPr/>
        <p:txBody>
          <a:bodyPr/>
          <a:lstStyle/>
          <a:p>
            <a:fld id="{D485DD8A-6A8A-ED46-83D9-CB8C804C53A9}" type="slidenum">
              <a:rPr lang="en-US" smtClean="0"/>
              <a:pPr/>
              <a:t>26</a:t>
            </a:fld>
            <a:endParaRPr lang="en-US"/>
          </a:p>
        </p:txBody>
      </p:sp>
    </p:spTree>
    <p:extLst>
      <p:ext uri="{BB962C8B-B14F-4D97-AF65-F5344CB8AC3E}">
        <p14:creationId xmlns:p14="http://schemas.microsoft.com/office/powerpoint/2010/main" val="1675881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Meeting Notes (10/3/12 18:44) -----</a:t>
            </a:r>
          </a:p>
          <a:p>
            <a:r>
              <a:rPr lang="en-US" dirty="0"/>
              <a:t>- no saturation array: mass fractions vs. property gradients</a:t>
            </a:r>
          </a:p>
          <a:p>
            <a:endParaRPr lang="en-US" dirty="0"/>
          </a:p>
          <a:p>
            <a:r>
              <a:rPr lang="en-US" dirty="0" err="1"/>
              <a:t>GenericPropertyGradient</a:t>
            </a:r>
            <a:r>
              <a:rPr lang="en-US" dirty="0"/>
              <a:t>      </a:t>
            </a:r>
            <a:r>
              <a:rPr lang="en-US" dirty="0" err="1"/>
              <a:t>GenericPropertyLimiter</a:t>
            </a:r>
            <a:r>
              <a:rPr lang="en-US" dirty="0"/>
              <a:t>      - compare these to the ones CSMP can calculate by</a:t>
            </a:r>
            <a:r>
              <a:rPr lang="en-US" baseline="0" dirty="0"/>
              <a:t> extrapolation to nodes</a:t>
            </a:r>
            <a:endParaRPr lang="en-US" dirty="0"/>
          </a:p>
          <a:p>
            <a:endParaRPr lang="en-US" dirty="0"/>
          </a:p>
          <a:p>
            <a:r>
              <a:rPr lang="en-US" dirty="0"/>
              <a:t>- Divergence of total velocity is only for the slightly compressible flow formulation</a:t>
            </a:r>
          </a:p>
          <a:p>
            <a:endParaRPr lang="en-US" dirty="0"/>
          </a:p>
          <a:p>
            <a:r>
              <a:rPr lang="en-US" dirty="0"/>
              <a:t>- mass flux = flux, no phase velocities</a:t>
            </a:r>
          </a:p>
        </p:txBody>
      </p:sp>
      <p:sp>
        <p:nvSpPr>
          <p:cNvPr id="4" name="Slide Number Placeholder 3"/>
          <p:cNvSpPr>
            <a:spLocks noGrp="1"/>
          </p:cNvSpPr>
          <p:nvPr>
            <p:ph type="sldNum" sz="quarter" idx="10"/>
          </p:nvPr>
        </p:nvSpPr>
        <p:spPr/>
        <p:txBody>
          <a:bodyPr/>
          <a:lstStyle/>
          <a:p>
            <a:fld id="{D485DD8A-6A8A-ED46-83D9-CB8C804C53A9}" type="slidenum">
              <a:rPr lang="en-US" smtClean="0"/>
              <a:pPr/>
              <a:t>27</a:t>
            </a:fld>
            <a:endParaRPr lang="en-US"/>
          </a:p>
        </p:txBody>
      </p:sp>
    </p:spTree>
    <p:extLst>
      <p:ext uri="{BB962C8B-B14F-4D97-AF65-F5344CB8AC3E}">
        <p14:creationId xmlns:p14="http://schemas.microsoft.com/office/powerpoint/2010/main" val="209405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 Meeting Notes (10/3/12 18:44) -----</a:t>
            </a:r>
          </a:p>
          <a:p>
            <a:r>
              <a:rPr lang="en-US"/>
              <a:t>- Feedbacks into the pressure equation can change nature of equation</a:t>
            </a:r>
          </a:p>
          <a:p>
            <a:r>
              <a:rPr lang="en-US"/>
              <a:t>- Computation of compressibilities needs to be more sophisticated than weighted average</a:t>
            </a:r>
          </a:p>
        </p:txBody>
      </p:sp>
      <p:sp>
        <p:nvSpPr>
          <p:cNvPr id="4" name="Slide Number Placeholder 3"/>
          <p:cNvSpPr>
            <a:spLocks noGrp="1"/>
          </p:cNvSpPr>
          <p:nvPr>
            <p:ph type="sldNum" sz="quarter" idx="10"/>
          </p:nvPr>
        </p:nvSpPr>
        <p:spPr/>
        <p:txBody>
          <a:bodyPr/>
          <a:lstStyle/>
          <a:p>
            <a:fld id="{D485DD8A-6A8A-ED46-83D9-CB8C804C53A9}" type="slidenum">
              <a:rPr lang="en-US" smtClean="0"/>
              <a:pPr/>
              <a:t>29</a:t>
            </a:fld>
            <a:endParaRPr lang="en-US"/>
          </a:p>
        </p:txBody>
      </p:sp>
    </p:spTree>
    <p:extLst>
      <p:ext uri="{BB962C8B-B14F-4D97-AF65-F5344CB8AC3E}">
        <p14:creationId xmlns:p14="http://schemas.microsoft.com/office/powerpoint/2010/main" val="2749770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 Meeting Notes (10/3/12 18:44) -----</a:t>
            </a:r>
          </a:p>
          <a:p>
            <a:r>
              <a:rPr lang="en-US" dirty="0" err="1"/>
              <a:t>FiniteVolumeManager</a:t>
            </a:r>
            <a:endParaRPr lang="en-US" dirty="0"/>
          </a:p>
          <a:p>
            <a:r>
              <a:rPr lang="en-US" dirty="0"/>
              <a:t>- Policy-based design for the two-phase model</a:t>
            </a:r>
          </a:p>
          <a:p>
            <a:r>
              <a:rPr lang="en-US" dirty="0"/>
              <a:t>- Static polymorphism</a:t>
            </a:r>
          </a:p>
          <a:p>
            <a:r>
              <a:rPr lang="en-US" dirty="0"/>
              <a:t>- no more virtual functions, but all functions are </a:t>
            </a:r>
            <a:r>
              <a:rPr lang="en-US" dirty="0" err="1"/>
              <a:t>inlined</a:t>
            </a:r>
            <a:endParaRPr lang="en-US" dirty="0"/>
          </a:p>
          <a:p>
            <a:endParaRPr lang="en-US" dirty="0"/>
          </a:p>
          <a:p>
            <a:r>
              <a:rPr lang="en-US" dirty="0"/>
              <a:t>- identify the common building blocks of the scheme and their dependencies</a:t>
            </a:r>
          </a:p>
          <a:p>
            <a:pPr marL="168758" indent="-168758">
              <a:buFontTx/>
              <a:buChar char="-"/>
            </a:pPr>
            <a:r>
              <a:rPr lang="en-US" dirty="0"/>
              <a:t>restrict dependencies to the things that are stored on model</a:t>
            </a:r>
          </a:p>
          <a:p>
            <a:pPr marL="168758" indent="-168758">
              <a:buFontTx/>
              <a:buChar char="-"/>
            </a:pPr>
            <a:endParaRPr lang="en-US" dirty="0"/>
          </a:p>
          <a:p>
            <a:pPr marL="168758" indent="-168758">
              <a:buFontTx/>
              <a:buChar char="-"/>
            </a:pPr>
            <a:r>
              <a:rPr lang="en-US" dirty="0"/>
              <a:t>Components</a:t>
            </a:r>
            <a:r>
              <a:rPr lang="en-US" baseline="0" dirty="0"/>
              <a:t> are stored as array variables,   use Factory method to associate array indices with enumerations for this composite variable</a:t>
            </a:r>
            <a:endParaRPr lang="en-US" dirty="0"/>
          </a:p>
        </p:txBody>
      </p:sp>
      <p:sp>
        <p:nvSpPr>
          <p:cNvPr id="4" name="Slide Number Placeholder 3"/>
          <p:cNvSpPr>
            <a:spLocks noGrp="1"/>
          </p:cNvSpPr>
          <p:nvPr>
            <p:ph type="sldNum" sz="quarter" idx="10"/>
          </p:nvPr>
        </p:nvSpPr>
        <p:spPr/>
        <p:txBody>
          <a:bodyPr/>
          <a:lstStyle/>
          <a:p>
            <a:fld id="{D485DD8A-6A8A-ED46-83D9-CB8C804C53A9}" type="slidenum">
              <a:rPr lang="en-US" smtClean="0"/>
              <a:pPr/>
              <a:t>36</a:t>
            </a:fld>
            <a:endParaRPr lang="en-US"/>
          </a:p>
        </p:txBody>
      </p:sp>
    </p:spTree>
    <p:extLst>
      <p:ext uri="{BB962C8B-B14F-4D97-AF65-F5344CB8AC3E}">
        <p14:creationId xmlns:p14="http://schemas.microsoft.com/office/powerpoint/2010/main" val="544304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up- stream direction for the other phase can be found by substituting the mobility of the known phase that we found by using the flowchart and the average mobility for unknown phase in the following formula, and calculating the pressure gradient for the unknown phase. </a:t>
            </a:r>
            <a:endParaRPr lang="en-US" dirty="0"/>
          </a:p>
          <a:p>
            <a:r>
              <a:rPr lang="en-US" sz="1200" kern="1200" dirty="0">
                <a:solidFill>
                  <a:schemeClr val="tx1"/>
                </a:solidFill>
                <a:effectLst/>
                <a:latin typeface="+mn-lt"/>
                <a:ea typeface="+mn-ea"/>
                <a:cs typeface="+mn-cs"/>
              </a:rPr>
              <a:t>Having the pressure gradient of the other phase, we can find the upstream and upstream mobility. </a:t>
            </a:r>
            <a:endParaRPr lang="en-US" dirty="0"/>
          </a:p>
          <a:p>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43</a:t>
            </a:fld>
            <a:endParaRPr lang="en-US"/>
          </a:p>
        </p:txBody>
      </p:sp>
    </p:spTree>
    <p:extLst>
      <p:ext uri="{BB962C8B-B14F-4D97-AF65-F5344CB8AC3E}">
        <p14:creationId xmlns:p14="http://schemas.microsoft.com/office/powerpoint/2010/main" val="1618124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After calculating the total facet</a:t>
            </a:r>
            <a:r>
              <a:rPr lang="en-US" sz="1200" kern="1200" baseline="0" dirty="0">
                <a:solidFill>
                  <a:schemeClr val="tx1"/>
                </a:solidFill>
                <a:effectLst/>
                <a:latin typeface="+mn-lt"/>
                <a:ea typeface="+mn-ea"/>
                <a:cs typeface="+mn-cs"/>
              </a:rPr>
              <a:t>-normal</a:t>
            </a:r>
            <a:r>
              <a:rPr lang="en-US" sz="1200" kern="1200" dirty="0">
                <a:solidFill>
                  <a:schemeClr val="tx1"/>
                </a:solidFill>
                <a:effectLst/>
                <a:latin typeface="+mn-lt"/>
                <a:ea typeface="+mn-ea"/>
                <a:cs typeface="+mn-cs"/>
              </a:rPr>
              <a:t> flux one</a:t>
            </a:r>
            <a:r>
              <a:rPr lang="en-US" sz="1200" kern="1200" baseline="0" dirty="0">
                <a:solidFill>
                  <a:schemeClr val="tx1"/>
                </a:solidFill>
                <a:effectLst/>
                <a:latin typeface="+mn-lt"/>
                <a:ea typeface="+mn-ea"/>
                <a:cs typeface="+mn-cs"/>
              </a:rPr>
              <a:t> needs to find the </a:t>
            </a:r>
            <a:r>
              <a:rPr lang="en-US" sz="1200" kern="1200" dirty="0">
                <a:solidFill>
                  <a:schemeClr val="tx1"/>
                </a:solidFill>
                <a:effectLst/>
                <a:latin typeface="+mn-lt"/>
                <a:ea typeface="+mn-ea"/>
                <a:cs typeface="+mn-cs"/>
              </a:rPr>
              <a:t>upstream direction for each phase in order to use upstream </a:t>
            </a:r>
            <a:r>
              <a:rPr lang="en-US" sz="1200" kern="1200" dirty="0" err="1">
                <a:solidFill>
                  <a:schemeClr val="tx1"/>
                </a:solidFill>
                <a:effectLst/>
                <a:latin typeface="+mn-lt"/>
                <a:ea typeface="+mn-ea"/>
                <a:cs typeface="+mn-cs"/>
              </a:rPr>
              <a:t>mobilities</a:t>
            </a:r>
            <a:r>
              <a:rPr lang="en-US" sz="1200" kern="1200" dirty="0">
                <a:solidFill>
                  <a:schemeClr val="tx1"/>
                </a:solidFill>
                <a:effectLst/>
                <a:latin typeface="+mn-lt"/>
                <a:ea typeface="+mn-ea"/>
                <a:cs typeface="+mn-cs"/>
              </a:rPr>
              <a:t> to perform saturation transport. If only viscous force is present then finding the upstream is trivial and for both phases is the same as upstream for total velocity. If we have capillary and gravitational forces, flowchart 5 illustrates how to find the upstream direction for one of the phases. Superscripts e and n stands for element and neighbor element, respectively. </a:t>
            </a:r>
            <a:r>
              <a:rPr lang="en-US" sz="1200" b="1" i="1" kern="1200" dirty="0" err="1">
                <a:solidFill>
                  <a:schemeClr val="tx1"/>
                </a:solidFill>
                <a:effectLst/>
                <a:latin typeface="+mn-lt"/>
                <a:ea typeface="+mn-ea"/>
                <a:cs typeface="+mn-cs"/>
              </a:rPr>
              <a:t>uz</a:t>
            </a:r>
            <a:r>
              <a:rPr lang="en-US" sz="1200" b="1"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is the vertical unit vector.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upstream direction for the other phase can be found by substituting the mobility of the known phase that we found by using the flowchart and the average mobility for unknown phase in the following formula, and calculating the pressure gradient for the unknown phase. </a:t>
            </a:r>
            <a:endParaRPr lang="en-US" dirty="0"/>
          </a:p>
          <a:p>
            <a:r>
              <a:rPr lang="en-US" sz="1200" kern="1200" dirty="0">
                <a:solidFill>
                  <a:schemeClr val="tx1"/>
                </a:solidFill>
                <a:effectLst/>
                <a:latin typeface="+mn-lt"/>
                <a:ea typeface="+mn-ea"/>
                <a:cs typeface="+mn-cs"/>
              </a:rPr>
              <a:t>Having the pressure gradient of the other phase, we can find the upstream and upstream mobility. </a:t>
            </a:r>
            <a:endParaRPr lang="en-US" dirty="0"/>
          </a:p>
          <a:p>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45</a:t>
            </a:fld>
            <a:endParaRPr lang="en-US"/>
          </a:p>
        </p:txBody>
      </p:sp>
    </p:spTree>
    <p:extLst>
      <p:ext uri="{BB962C8B-B14F-4D97-AF65-F5344CB8AC3E}">
        <p14:creationId xmlns:p14="http://schemas.microsoft.com/office/powerpoint/2010/main" val="1169516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class</a:t>
            </a:r>
            <a:r>
              <a:rPr lang="en-US" baseline="0" dirty="0"/>
              <a:t> actually needed?  - watch out for  complementary tasks taking into account Accumulator</a:t>
            </a:r>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50</a:t>
            </a:fld>
            <a:endParaRPr lang="en-US"/>
          </a:p>
        </p:txBody>
      </p:sp>
    </p:spTree>
    <p:extLst>
      <p:ext uri="{BB962C8B-B14F-4D97-AF65-F5344CB8AC3E}">
        <p14:creationId xmlns:p14="http://schemas.microsoft.com/office/powerpoint/2010/main" val="2906474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C8DB835F-CD70-8B43-A07B-C0B1F5E26D37}" type="slidenum">
              <a:rPr lang="en-GB" sz="1200"/>
              <a:pPr/>
              <a:t>51</a:t>
            </a:fld>
            <a:endParaRPr lang="en-GB" sz="12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The second divergence term is computed by summing dpc/dsn grad sn over the finite volume facets. If the sum is non-zero its value should be multiplied with the averaged k lamda overbar value for that FV to strictly adhere to the form above. However, the material parameters vary from sector to sector within the finite volume. This is taken care of by evaluating the k lamda_overbar at each finite volume facet.</a:t>
            </a:r>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A1A5846-1793-6F4A-93C8-9FD4F1C1591E}" type="slidenum">
              <a:rPr lang="en-US" smtClean="0"/>
              <a:pPr/>
              <a:t>52</a:t>
            </a:fld>
            <a:endParaRPr lang="en-US"/>
          </a:p>
        </p:txBody>
      </p:sp>
    </p:spTree>
    <p:extLst>
      <p:ext uri="{BB962C8B-B14F-4D97-AF65-F5344CB8AC3E}">
        <p14:creationId xmlns:p14="http://schemas.microsoft.com/office/powerpoint/2010/main" val="94469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D5CE549C-285A-8E45-B232-E108071EA2A2}" type="slidenum">
              <a:rPr lang="en-GB" sz="1200"/>
              <a:pPr/>
              <a:t>57</a:t>
            </a:fld>
            <a:endParaRPr lang="en-GB" sz="12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accompanying derivation is in Maple worksheet Helmig-p107-vs-CSP.mws</a:t>
            </a:r>
          </a:p>
          <a:p>
            <a:r>
              <a:rPr lang="en-US"/>
              <a:t>rho_n und rho_avg refer to the reduced density</a:t>
            </a:r>
          </a:p>
          <a:p>
            <a:r>
              <a:rPr lang="en-US"/>
              <a:t>NB: It is a problem that advection etc multpliers depend in their form on the way the equations are being solved -&gt; remove?</a:t>
            </a:r>
          </a:p>
          <a:p>
            <a:r>
              <a:rPr lang="en-US"/>
              <a:t>Notice also that if the permeability is a tensor, only the vertical component will have to be considered in the calculation of the gravitational spreading</a:t>
            </a:r>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D5CE549C-285A-8E45-B232-E108071EA2A2}" type="slidenum">
              <a:rPr lang="en-GB" sz="1200"/>
              <a:pPr/>
              <a:t>58</a:t>
            </a:fld>
            <a:endParaRPr lang="en-GB" sz="120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t>accompanying derivation is in Maple worksheet Helmig-p107-vs-CSP.mws</a:t>
            </a:r>
          </a:p>
          <a:p>
            <a:r>
              <a:rPr lang="en-US"/>
              <a:t>rho_n und rho_avg refer to the reduced density</a:t>
            </a:r>
          </a:p>
          <a:p>
            <a:r>
              <a:rPr lang="en-US"/>
              <a:t>NB: It is a problem that advection etc multpliers depend in their form on the way the equations are being solved -&gt; remove?</a:t>
            </a:r>
          </a:p>
          <a:p>
            <a:r>
              <a:rPr lang="en-US"/>
              <a:t>Notice also that if the permeability is a tensor, only the vertical component will have to be considered in the calculation of the gravitational spreading</a:t>
            </a:r>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 Meeting Notes (10/3/12 18:44) -----</a:t>
            </a:r>
          </a:p>
          <a:p>
            <a:r>
              <a:rPr lang="en-US"/>
              <a:t>- NCFVT refactoring is agreed</a:t>
            </a:r>
          </a:p>
        </p:txBody>
      </p:sp>
      <p:sp>
        <p:nvSpPr>
          <p:cNvPr id="4" name="Slide Number Placeholder 3"/>
          <p:cNvSpPr>
            <a:spLocks noGrp="1"/>
          </p:cNvSpPr>
          <p:nvPr>
            <p:ph type="sldNum" sz="quarter" idx="10"/>
          </p:nvPr>
        </p:nvSpPr>
        <p:spPr/>
        <p:txBody>
          <a:bodyPr/>
          <a:lstStyle/>
          <a:p>
            <a:fld id="{D485DD8A-6A8A-ED46-83D9-CB8C804C53A9}" type="slidenum">
              <a:rPr lang="en-US" smtClean="0"/>
              <a:pPr/>
              <a:t>61</a:t>
            </a:fld>
            <a:endParaRPr lang="en-US"/>
          </a:p>
        </p:txBody>
      </p:sp>
    </p:spTree>
    <p:extLst>
      <p:ext uri="{BB962C8B-B14F-4D97-AF65-F5344CB8AC3E}">
        <p14:creationId xmlns:p14="http://schemas.microsoft.com/office/powerpoint/2010/main" val="2802925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 Meeting Notes (10/3/12 18:44) -----</a:t>
            </a:r>
          </a:p>
          <a:p>
            <a:r>
              <a:rPr lang="en-US"/>
              <a:t>- agreed to remove PYRAMID_WITH_TRIANGULAR_FACETS</a:t>
            </a:r>
          </a:p>
          <a:p>
            <a:r>
              <a:rPr lang="en-US"/>
              <a:t>- SPE10 2D case orthogonal quadrilaterals gives you divergence in flow field (3-4 O(M) greater than numerical </a:t>
            </a:r>
          </a:p>
          <a:p>
            <a:r>
              <a:rPr lang="en-US"/>
              <a:t>zero; always errors does not matter how integration is done - happens only if the viscosities are different)</a:t>
            </a:r>
          </a:p>
        </p:txBody>
      </p:sp>
      <p:sp>
        <p:nvSpPr>
          <p:cNvPr id="4" name="Slide Number Placeholder 3"/>
          <p:cNvSpPr>
            <a:spLocks noGrp="1"/>
          </p:cNvSpPr>
          <p:nvPr>
            <p:ph type="sldNum" sz="quarter" idx="10"/>
          </p:nvPr>
        </p:nvSpPr>
        <p:spPr/>
        <p:txBody>
          <a:bodyPr/>
          <a:lstStyle/>
          <a:p>
            <a:fld id="{D485DD8A-6A8A-ED46-83D9-CB8C804C53A9}" type="slidenum">
              <a:rPr lang="en-US" smtClean="0"/>
              <a:pPr/>
              <a:t>62</a:t>
            </a:fld>
            <a:endParaRPr lang="en-US"/>
          </a:p>
        </p:txBody>
      </p:sp>
    </p:spTree>
    <p:extLst>
      <p:ext uri="{BB962C8B-B14F-4D97-AF65-F5344CB8AC3E}">
        <p14:creationId xmlns:p14="http://schemas.microsoft.com/office/powerpoint/2010/main" val="733675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76354EB-93D9-1341-9432-F2D0E987B0A2}" type="slidenum">
              <a:rPr lang="en-GB" sz="1200"/>
              <a:pPr eaLnBrk="1" hangingPunct="1"/>
              <a:t>65</a:t>
            </a:fld>
            <a:endParaRPr lang="en-GB" sz="12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ea typeface="ＭＳ Ｐゴシック" charset="0"/>
                <a:cs typeface="ＭＳ Ｐゴシック" charset="0"/>
              </a:rPr>
              <a:t>Integration of properties is required</a:t>
            </a:r>
            <a:endParaRPr lang="en-GB">
              <a:ea typeface="ＭＳ Ｐゴシック" charset="0"/>
              <a:cs typeface="ＭＳ Ｐゴシック"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26958EAA-0947-A54D-BD0F-156040AFEE20}" type="slidenum">
              <a:rPr lang="en-US" sz="1200"/>
              <a:pPr eaLnBrk="1" hangingPunct="1"/>
              <a:t>66</a:t>
            </a:fld>
            <a:endParaRPr lang="en-US"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t>p. 257 Stokes, Gauss, Green &amp; divergence theorem</a:t>
            </a:r>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A3A12130-C48B-2C4B-88A4-2ED1AFBA28AA}" type="slidenum">
              <a:rPr lang="en-US" sz="1200"/>
              <a:pPr eaLnBrk="1" hangingPunct="1"/>
              <a:t>67</a:t>
            </a:fld>
            <a:endParaRPr lang="en-US" sz="120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CB9C0E5-98B1-714D-A774-D938EE7E4040}" type="slidenum">
              <a:rPr lang="en-US" sz="1200"/>
              <a:pPr eaLnBrk="1" hangingPunct="1"/>
              <a:t>68</a:t>
            </a:fld>
            <a:endParaRPr lang="en-US"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AD23029F-CAC7-BE4A-835C-945069671B6D}" type="slidenum">
              <a:rPr lang="en-US" sz="1200"/>
              <a:pPr eaLnBrk="1" hangingPunct="1"/>
              <a:t>69</a:t>
            </a:fld>
            <a:endParaRPr lang="en-US"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467A251-E57D-2B4C-B596-280670C3CFC9}" type="slidenum">
              <a:rPr lang="en-US" sz="1200"/>
              <a:pPr eaLnBrk="1" hangingPunct="1"/>
              <a:t>70</a:t>
            </a:fld>
            <a:endParaRPr 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t>Since the lefthandside already contains the first-order solution, it will cancel out upon progressive iteration</a:t>
            </a:r>
          </a:p>
          <a:p>
            <a:pPr eaLnBrk="1" hangingPunct="1"/>
            <a:r>
              <a:rPr lang="en-US"/>
              <a:t>And the higher-order solution will be left</a:t>
            </a:r>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21E1FF75-4701-0C48-A03B-6FE1757659A7}" type="slidenum">
              <a:rPr lang="en-US" sz="1200"/>
              <a:pPr eaLnBrk="1" hangingPunct="1"/>
              <a:t>71</a:t>
            </a:fld>
            <a:endParaRPr lang="en-US" sz="1200"/>
          </a:p>
        </p:txBody>
      </p:sp>
      <p:sp>
        <p:nvSpPr>
          <p:cNvPr id="61443" name="Rectangle 1026"/>
          <p:cNvSpPr>
            <a:spLocks noGrp="1" noRot="1" noChangeAspect="1" noChangeArrowheads="1" noTextEdit="1"/>
          </p:cNvSpPr>
          <p:nvPr>
            <p:ph type="sldImg"/>
          </p:nvPr>
        </p:nvSpPr>
        <p:spPr>
          <a:solidFill>
            <a:srgbClr val="FFFFFF"/>
          </a:solidFill>
          <a:ln/>
        </p:spPr>
      </p:sp>
      <p:sp>
        <p:nvSpPr>
          <p:cNvPr id="61444" name="Rectangle 1027"/>
          <p:cNvSpPr>
            <a:spLocks noGrp="1" noChangeArrowheads="1"/>
          </p:cNvSpPr>
          <p:nvPr>
            <p:ph type="body" idx="1"/>
          </p:nvPr>
        </p:nvSpPr>
        <p:spPr>
          <a:solidFill>
            <a:srgbClr val="FFFFFF"/>
          </a:solidFill>
          <a:ln>
            <a:solidFill>
              <a:srgbClr val="000000"/>
            </a:solidFill>
          </a:ln>
        </p:spPr>
        <p:txBody>
          <a:bodyPr/>
          <a:lstStyle/>
          <a:p>
            <a:pPr eaLnBrk="1" hangingPunct="1"/>
            <a:r>
              <a:rPr lang="en-US"/>
              <a:t>Since the lefthandside already contains the first-order solution, it will cancel out upon progressive iteration</a:t>
            </a:r>
          </a:p>
          <a:p>
            <a:pPr eaLnBrk="1" hangingPunct="1"/>
            <a:r>
              <a:rPr lang="en-US"/>
              <a:t>And the higher-order solution will be left</a:t>
            </a:r>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7A7FA0F2-1AB8-9440-A6B3-C30FD0DFD5CF}" type="slidenum">
              <a:rPr lang="en-US" sz="1200"/>
              <a:pPr eaLnBrk="1" hangingPunct="1"/>
              <a:t>72</a:t>
            </a:fld>
            <a:endParaRPr lang="en-US" sz="1200"/>
          </a:p>
        </p:txBody>
      </p:sp>
      <p:sp>
        <p:nvSpPr>
          <p:cNvPr id="63491" name="Rectangle 2"/>
          <p:cNvSpPr>
            <a:spLocks noGrp="1" noRot="1" noChangeAspect="1" noChangeArrowheads="1" noTextEdit="1"/>
          </p:cNvSpPr>
          <p:nvPr>
            <p:ph type="sldImg"/>
          </p:nvPr>
        </p:nvSpPr>
        <p:spPr>
          <a:solidFill>
            <a:srgbClr val="FFFFFF"/>
          </a:solidFill>
          <a:ln/>
        </p:spPr>
      </p:sp>
      <p:sp>
        <p:nvSpPr>
          <p:cNvPr id="6349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t>Since the lefthandside already contains the first-order solution, it will cancel out upon progressive iteration</a:t>
            </a:r>
          </a:p>
          <a:p>
            <a:pPr eaLnBrk="1" hangingPunct="1"/>
            <a:r>
              <a:rPr lang="en-US"/>
              <a:t>And the higher-order solution will be left</a:t>
            </a:r>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F263585-3A53-814D-B9B6-EBE30C2556DB}" type="slidenum">
              <a:rPr lang="en-US" sz="1200"/>
              <a:pPr eaLnBrk="1" hangingPunct="1"/>
              <a:t>73</a:t>
            </a:fld>
            <a:endParaRPr 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2B35233-050D-6D4D-B56F-56B149ABA6CE}" type="slidenum">
              <a:rPr lang="en-US" sz="1200"/>
              <a:pPr eaLnBrk="1" hangingPunct="1"/>
              <a:t>74</a:t>
            </a:fld>
            <a:endParaRPr lang="en-US" sz="120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D3B4B3FB-C8EB-1348-B455-A26AA2CB40A1}" type="slidenum">
              <a:rPr lang="en-US" sz="1200"/>
              <a:pPr eaLnBrk="1" hangingPunct="1"/>
              <a:t>75</a:t>
            </a:fld>
            <a:endParaRPr lang="en-US" sz="1200"/>
          </a:p>
        </p:txBody>
      </p:sp>
      <p:sp>
        <p:nvSpPr>
          <p:cNvPr id="69635" name="Rectangle 2"/>
          <p:cNvSpPr>
            <a:spLocks noGrp="1" noRot="1" noChangeAspect="1" noChangeArrowheads="1" noTextEdit="1"/>
          </p:cNvSpPr>
          <p:nvPr>
            <p:ph type="sldImg"/>
          </p:nvPr>
        </p:nvSpPr>
        <p:spPr>
          <a:solidFill>
            <a:srgbClr val="FFFFFF"/>
          </a:solidFill>
          <a:ln/>
        </p:spPr>
      </p:sp>
      <p:sp>
        <p:nvSpPr>
          <p:cNvPr id="6963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t>This term also needs to be added to the RHS: (1 – omega) psi( surface integral!)</a:t>
            </a:r>
          </a:p>
          <a:p>
            <a:pPr eaLnBrk="1" hangingPunct="1"/>
            <a:r>
              <a:rPr lang="en-US"/>
              <a:t>Similar approach for sources and sinks</a:t>
            </a:r>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92262AA0-23CE-B443-8185-FD6645442EA2}" type="slidenum">
              <a:rPr lang="en-US" sz="1200"/>
              <a:pPr eaLnBrk="1" hangingPunct="1"/>
              <a:t>76</a:t>
            </a:fld>
            <a:endParaRPr 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F352EAC1-7C22-0045-B483-17A973085A08}" type="slidenum">
              <a:rPr lang="en-GB"/>
              <a:pPr/>
              <a:t>77</a:t>
            </a:fld>
            <a:endParaRPr lang="en-GB"/>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xfrm>
            <a:off x="916478" y="4343400"/>
            <a:ext cx="5025044" cy="4114800"/>
          </a:xfrm>
          <a:noFill/>
          <a:ln/>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FBEB67-826D-A847-95F6-983960470AB2}" type="slidenum">
              <a:rPr lang="en-GB"/>
              <a:pPr/>
              <a:t>79</a:t>
            </a:fld>
            <a:endParaRPr lang="en-GB"/>
          </a:p>
        </p:txBody>
      </p:sp>
      <p:sp>
        <p:nvSpPr>
          <p:cNvPr id="135680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135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B32117C7-677F-ED4E-A368-A6201A1788C3}" type="slidenum">
              <a:rPr lang="en-US" sz="1200"/>
              <a:pPr eaLnBrk="1" hangingPunct="1"/>
              <a:t>80</a:t>
            </a:fld>
            <a:endParaRPr lang="en-US" sz="12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37336197" indent="-36886175" defTabSz="914108"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0022" eaLnBrk="0" fontAlgn="base" hangingPunct="0">
              <a:spcBef>
                <a:spcPct val="0"/>
              </a:spcBef>
              <a:spcAft>
                <a:spcPct val="0"/>
              </a:spcAft>
              <a:defRPr sz="2400">
                <a:solidFill>
                  <a:schemeClr val="tx1"/>
                </a:solidFill>
                <a:latin typeface="Verdana" charset="0"/>
                <a:ea typeface="ＭＳ Ｐゴシック" charset="0"/>
              </a:defRPr>
            </a:lvl6pPr>
            <a:lvl7pPr marL="900044" eaLnBrk="0" fontAlgn="base" hangingPunct="0">
              <a:spcBef>
                <a:spcPct val="0"/>
              </a:spcBef>
              <a:spcAft>
                <a:spcPct val="0"/>
              </a:spcAft>
              <a:defRPr sz="2400">
                <a:solidFill>
                  <a:schemeClr val="tx1"/>
                </a:solidFill>
                <a:latin typeface="Verdana" charset="0"/>
                <a:ea typeface="ＭＳ Ｐゴシック" charset="0"/>
              </a:defRPr>
            </a:lvl7pPr>
            <a:lvl8pPr marL="1350066" eaLnBrk="0" fontAlgn="base" hangingPunct="0">
              <a:spcBef>
                <a:spcPct val="0"/>
              </a:spcBef>
              <a:spcAft>
                <a:spcPct val="0"/>
              </a:spcAft>
              <a:defRPr sz="2400">
                <a:solidFill>
                  <a:schemeClr val="tx1"/>
                </a:solidFill>
                <a:latin typeface="Verdana" charset="0"/>
                <a:ea typeface="ＭＳ Ｐゴシック" charset="0"/>
              </a:defRPr>
            </a:lvl8pPr>
            <a:lvl9pPr marL="180008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6C3A456C-3B7F-C34E-9315-C9B92A617917}" type="slidenum">
              <a:rPr lang="en-GB" sz="1200"/>
              <a:pPr eaLnBrk="1" hangingPunct="1"/>
              <a:t>81</a:t>
            </a:fld>
            <a:endParaRPr lang="en-GB" sz="120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37697B9D-347E-5644-B490-C43AC6FEB2B3}" type="slidenum">
              <a:rPr lang="en-US">
                <a:solidFill>
                  <a:prstClr val="black"/>
                </a:solidFill>
                <a:latin typeface="Calibri"/>
              </a:rPr>
              <a:pPr/>
              <a:t>82</a:t>
            </a:fld>
            <a:endParaRPr lang="en-US">
              <a:solidFill>
                <a:prstClr val="black"/>
              </a:solidFill>
              <a:latin typeface="Calibri"/>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69CF149C-0C6B-0D4E-8BDF-05185F2416B1}" type="slidenum">
              <a:rPr lang="en-US">
                <a:solidFill>
                  <a:prstClr val="black"/>
                </a:solidFill>
                <a:latin typeface="Calibri"/>
              </a:rPr>
              <a:pPr/>
              <a:t>84</a:t>
            </a:fld>
            <a:endParaRPr lang="en-US">
              <a:solidFill>
                <a:prstClr val="black"/>
              </a:solidFill>
              <a:latin typeface="Calibri"/>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fld id="{4E31339D-3957-0A4C-B460-33C1FAC07BC6}" type="slidenum">
              <a:rPr lang="en-US">
                <a:solidFill>
                  <a:prstClr val="black"/>
                </a:solidFill>
                <a:latin typeface="Calibri"/>
              </a:rPr>
              <a:pPr/>
              <a:t>85</a:t>
            </a:fld>
            <a:endParaRPr lang="en-US">
              <a:solidFill>
                <a:prstClr val="black"/>
              </a:solidFill>
              <a:latin typeface="Calibri"/>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61C88375-F662-E24F-AB5A-B435E9370645}" type="slidenum">
              <a:rPr lang="en-US" sz="1200"/>
              <a:pPr eaLnBrk="1" hangingPunct="1"/>
              <a:t>86</a:t>
            </a:fld>
            <a:endParaRPr lang="en-US" sz="1200"/>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GB">
              <a:ea typeface="ＭＳ Ｐゴシック" charset="0"/>
              <a:cs typeface="ＭＳ Ｐゴシック"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83A82C72-1189-9F41-AE83-305460A4A92B}" type="slidenum">
              <a:rPr lang="en-US" sz="1200"/>
              <a:pPr eaLnBrk="1" hangingPunct="1"/>
              <a:t>87</a:t>
            </a:fld>
            <a:endParaRPr lang="en-US" sz="1200"/>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GB">
              <a:ea typeface="ＭＳ Ｐゴシック" charset="0"/>
              <a:cs typeface="ＭＳ Ｐゴシック"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108" eaLnBrk="0" hangingPunct="0">
              <a:defRPr sz="2400">
                <a:solidFill>
                  <a:schemeClr val="tx1"/>
                </a:solidFill>
                <a:latin typeface="Verdana" charset="0"/>
                <a:ea typeface="ＭＳ Ｐゴシック" charset="0"/>
                <a:cs typeface="ＭＳ Ｐゴシック" charset="0"/>
              </a:defRPr>
            </a:lvl1pPr>
            <a:lvl2pPr marL="731286" indent="-281264" defTabSz="914108" eaLnBrk="0" hangingPunct="0">
              <a:defRPr sz="2400">
                <a:solidFill>
                  <a:schemeClr val="tx1"/>
                </a:solidFill>
                <a:latin typeface="Verdana" charset="0"/>
                <a:ea typeface="ＭＳ Ｐゴシック" charset="0"/>
              </a:defRPr>
            </a:lvl2pPr>
            <a:lvl3pPr marL="1125055" indent="-225011" defTabSz="914108" eaLnBrk="0" hangingPunct="0">
              <a:defRPr sz="2400">
                <a:solidFill>
                  <a:schemeClr val="tx1"/>
                </a:solidFill>
                <a:latin typeface="Verdana" charset="0"/>
                <a:ea typeface="ＭＳ Ｐゴシック" charset="0"/>
              </a:defRPr>
            </a:lvl3pPr>
            <a:lvl4pPr marL="1575077" indent="-225011" defTabSz="914108" eaLnBrk="0" hangingPunct="0">
              <a:defRPr sz="2400">
                <a:solidFill>
                  <a:schemeClr val="tx1"/>
                </a:solidFill>
                <a:latin typeface="Verdana" charset="0"/>
                <a:ea typeface="ＭＳ Ｐゴシック" charset="0"/>
              </a:defRPr>
            </a:lvl4pPr>
            <a:lvl5pPr marL="2025099" indent="-225011" defTabSz="914108" eaLnBrk="0" hangingPunct="0">
              <a:defRPr sz="2400">
                <a:solidFill>
                  <a:schemeClr val="tx1"/>
                </a:solidFill>
                <a:latin typeface="Verdana" charset="0"/>
                <a:ea typeface="ＭＳ Ｐゴシック" charset="0"/>
              </a:defRPr>
            </a:lvl5pPr>
            <a:lvl6pPr marL="2475121" indent="-225011" defTabSz="914108" eaLnBrk="0" fontAlgn="base" hangingPunct="0">
              <a:spcBef>
                <a:spcPct val="0"/>
              </a:spcBef>
              <a:spcAft>
                <a:spcPct val="0"/>
              </a:spcAft>
              <a:defRPr sz="2400">
                <a:solidFill>
                  <a:schemeClr val="tx1"/>
                </a:solidFill>
                <a:latin typeface="Verdana" charset="0"/>
                <a:ea typeface="ＭＳ Ｐゴシック" charset="0"/>
              </a:defRPr>
            </a:lvl6pPr>
            <a:lvl7pPr marL="2925143" indent="-225011" defTabSz="914108" eaLnBrk="0" fontAlgn="base" hangingPunct="0">
              <a:spcBef>
                <a:spcPct val="0"/>
              </a:spcBef>
              <a:spcAft>
                <a:spcPct val="0"/>
              </a:spcAft>
              <a:defRPr sz="2400">
                <a:solidFill>
                  <a:schemeClr val="tx1"/>
                </a:solidFill>
                <a:latin typeface="Verdana" charset="0"/>
                <a:ea typeface="ＭＳ Ｐゴシック" charset="0"/>
              </a:defRPr>
            </a:lvl7pPr>
            <a:lvl8pPr marL="3375165" indent="-225011" defTabSz="914108" eaLnBrk="0" fontAlgn="base" hangingPunct="0">
              <a:spcBef>
                <a:spcPct val="0"/>
              </a:spcBef>
              <a:spcAft>
                <a:spcPct val="0"/>
              </a:spcAft>
              <a:defRPr sz="2400">
                <a:solidFill>
                  <a:schemeClr val="tx1"/>
                </a:solidFill>
                <a:latin typeface="Verdana" charset="0"/>
                <a:ea typeface="ＭＳ Ｐゴシック" charset="0"/>
              </a:defRPr>
            </a:lvl8pPr>
            <a:lvl9pPr marL="3825187" indent="-225011" defTabSz="914108"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48735947-94C8-4C4C-957D-2808FDE92DFD}" type="slidenum">
              <a:rPr lang="en-US" sz="1200"/>
              <a:pPr eaLnBrk="1" hangingPunct="1"/>
              <a:t>88</a:t>
            </a:fld>
            <a:endParaRPr lang="en-US" sz="1200"/>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GB">
              <a:ea typeface="ＭＳ Ｐゴシック" charset="0"/>
              <a:cs typeface="ＭＳ Ｐゴシック"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37697B9D-347E-5644-B490-C43AC6FEB2B3}" type="slidenum">
              <a:rPr lang="en-US"/>
              <a:pPr/>
              <a:t>90</a:t>
            </a:fld>
            <a:endParaRPr 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0E416AEF-C55E-6142-A363-82809E83ED3C}" type="slidenum">
              <a:rPr lang="da-DK"/>
              <a:pPr/>
              <a:t>93</a:t>
            </a:fld>
            <a:endParaRPr lang="da-DK"/>
          </a:p>
        </p:txBody>
      </p:sp>
      <p:sp>
        <p:nvSpPr>
          <p:cNvPr id="404482" name="Rectangle 2"/>
          <p:cNvSpPr>
            <a:spLocks noGrp="1" noRot="1" noChangeAspect="1" noChangeArrowheads="1" noTextEdit="1"/>
          </p:cNvSpPr>
          <p:nvPr>
            <p:ph type="sldImg"/>
          </p:nvPr>
        </p:nvSpPr>
        <p:spPr>
          <a:ln/>
        </p:spPr>
      </p:sp>
      <p:sp>
        <p:nvSpPr>
          <p:cNvPr id="404483" name="Rectangle 3"/>
          <p:cNvSpPr>
            <a:spLocks noGrp="1" noChangeArrowheads="1"/>
          </p:cNvSpPr>
          <p:nvPr>
            <p:ph type="body" idx="1"/>
          </p:nvPr>
        </p:nvSpPr>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F4CE236-F476-7D45-A04C-BCA8DF3CE6EA}"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5F3FFD-9B2C-A54A-9AAE-847814E2D763}"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3091C7-3FB2-4A45-A50D-CFD735226A6E}" type="datetime1">
              <a:rPr lang="en-US" smtClean="0"/>
              <a:pPr/>
              <a:t>3/17/19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470369-F10D-D240-AC49-5A4BBB2B8696}" type="datetime1">
              <a:rPr lang="en-US" smtClean="0"/>
              <a:pPr/>
              <a:t>3/17/19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1762EE7-3E26-8344-9AFB-A62088F617B5}" type="datetime1">
              <a:rPr lang="en-US" smtClean="0"/>
              <a:pPr/>
              <a:t>3/17/19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2121E2-B05F-B94B-BD08-7791A84524CA}" type="datetime1">
              <a:rPr lang="en-US" smtClean="0"/>
              <a:pPr/>
              <a:t>3/17/19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837DA5-A14A-E946-B9A8-A3DDDB028895}" type="datetime1">
              <a:rPr lang="en-US" smtClean="0"/>
              <a:pPr/>
              <a:t>3/17/19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BE7938-D108-814E-BC30-791B297BDDCF}" type="datetime1">
              <a:rPr lang="en-US" smtClean="0"/>
              <a:pPr/>
              <a:t>3/17/19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FA85F-2E60-0949-952F-74F57104584F}"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685D27-41E8-0044-B40C-AFB14955B22D}"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404813" y="300038"/>
            <a:ext cx="8162925" cy="579437"/>
          </a:xfrm>
        </p:spPr>
        <p:txBody>
          <a:bodyPr/>
          <a:lstStyle/>
          <a:p>
            <a:r>
              <a:rPr lang="en-US"/>
              <a:t>Click to edit Master title style</a:t>
            </a:r>
          </a:p>
        </p:txBody>
      </p:sp>
      <p:sp>
        <p:nvSpPr>
          <p:cNvPr id="3" name="Text Placeholder 2"/>
          <p:cNvSpPr>
            <a:spLocks noGrp="1"/>
          </p:cNvSpPr>
          <p:nvPr>
            <p:ph type="body" sz="half" idx="1"/>
          </p:nvPr>
        </p:nvSpPr>
        <p:spPr>
          <a:xfrm>
            <a:off x="441325" y="1085850"/>
            <a:ext cx="4078288" cy="4995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672013" y="1085850"/>
            <a:ext cx="4078287" cy="4995863"/>
          </a:xfrm>
        </p:spPr>
        <p:txBody>
          <a:bodyPr/>
          <a:lstStyle/>
          <a:p>
            <a:endParaRPr lang="en-US"/>
          </a:p>
        </p:txBody>
      </p:sp>
      <p:sp>
        <p:nvSpPr>
          <p:cNvPr id="5" name="Date Placeholder 4"/>
          <p:cNvSpPr>
            <a:spLocks noGrp="1"/>
          </p:cNvSpPr>
          <p:nvPr>
            <p:ph type="dt" sz="half" idx="10"/>
          </p:nvPr>
        </p:nvSpPr>
        <p:spPr>
          <a:xfrm>
            <a:off x="176213" y="6286500"/>
            <a:ext cx="2881312" cy="457200"/>
          </a:xfrm>
        </p:spPr>
        <p:txBody>
          <a:bodyPr/>
          <a:lstStyle>
            <a:lvl1pPr algn="l">
              <a:defRPr smtClean="0"/>
            </a:lvl1pPr>
          </a:lstStyle>
          <a:p>
            <a:fld id="{8D11BE96-3744-5646-BAC8-E5987086E798}" type="datetime1">
              <a:rPr lang="en-US" smtClean="0"/>
              <a:pPr/>
              <a:t>3/17/19</a:t>
            </a:fld>
            <a:endParaRPr lang="en-US"/>
          </a:p>
        </p:txBody>
      </p:sp>
      <p:sp>
        <p:nvSpPr>
          <p:cNvPr id="6" name="Footer Placeholder 5"/>
          <p:cNvSpPr>
            <a:spLocks noGrp="1"/>
          </p:cNvSpPr>
          <p:nvPr>
            <p:ph type="ftr" sz="quarter" idx="11"/>
          </p:nvPr>
        </p:nvSpPr>
        <p:spPr>
          <a:xfrm>
            <a:off x="3590925" y="6286500"/>
            <a:ext cx="28956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7019925" y="6286500"/>
            <a:ext cx="1905000" cy="457200"/>
          </a:xfrm>
        </p:spPr>
        <p:txBody>
          <a:bodyPr/>
          <a:lstStyle>
            <a:lvl1pPr>
              <a:defRPr smtClean="0"/>
            </a:lvl1pPr>
          </a:lstStyle>
          <a:p>
            <a:fld id="{D85D7429-E0B0-F747-9618-8B51FA155C3D}" type="slidenum">
              <a:rPr lang="en-US"/>
              <a:pPr/>
              <a:t>‹#›</a:t>
            </a:fld>
            <a:endParaRPr lang="en-US"/>
          </a:p>
        </p:txBody>
      </p:sp>
    </p:spTree>
    <p:extLst>
      <p:ext uri="{BB962C8B-B14F-4D97-AF65-F5344CB8AC3E}">
        <p14:creationId xmlns:p14="http://schemas.microsoft.com/office/powerpoint/2010/main" val="455879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04813" y="300038"/>
            <a:ext cx="8162925" cy="579437"/>
          </a:xfrm>
        </p:spPr>
        <p:txBody>
          <a:bodyPr/>
          <a:lstStyle/>
          <a:p>
            <a:r>
              <a:rPr lang="en-US"/>
              <a:t>Click to edit Master title style</a:t>
            </a:r>
          </a:p>
        </p:txBody>
      </p:sp>
      <p:sp>
        <p:nvSpPr>
          <p:cNvPr id="3" name="SmartArt Placeholder 2"/>
          <p:cNvSpPr>
            <a:spLocks noGrp="1"/>
          </p:cNvSpPr>
          <p:nvPr>
            <p:ph type="dgm" idx="1"/>
          </p:nvPr>
        </p:nvSpPr>
        <p:spPr>
          <a:xfrm>
            <a:off x="441325" y="1085850"/>
            <a:ext cx="8308975" cy="4995863"/>
          </a:xfrm>
        </p:spPr>
        <p:txBody>
          <a:bodyPr/>
          <a:lstStyle/>
          <a:p>
            <a:pPr lvl="0"/>
            <a:endParaRPr lang="en-US" noProof="0"/>
          </a:p>
        </p:txBody>
      </p:sp>
      <p:sp>
        <p:nvSpPr>
          <p:cNvPr id="4" name="Date Placeholder 3"/>
          <p:cNvSpPr>
            <a:spLocks noGrp="1"/>
          </p:cNvSpPr>
          <p:nvPr>
            <p:ph type="dt" sz="half" idx="10"/>
          </p:nvPr>
        </p:nvSpPr>
        <p:spPr/>
        <p:txBody>
          <a:bodyPr/>
          <a:lstStyle>
            <a:lvl1pPr algn="l">
              <a:defRPr/>
            </a:lvl1pPr>
          </a:lstStyle>
          <a:p>
            <a:pPr>
              <a:defRPr/>
            </a:pPr>
            <a:endParaRPr lang="en-US"/>
          </a:p>
          <a:p>
            <a:pPr>
              <a:defRPr/>
            </a:pPr>
            <a:r>
              <a:rPr lang="en-US"/>
              <a:t>S.K. Matthai &amp; A. Burri 6/04</a:t>
            </a:r>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9CCE042-F42E-624C-B7FB-6F04E028C1D8}" type="slidenum">
              <a:rPr lang="en-US"/>
              <a:pPr>
                <a:defRPr/>
              </a:pPr>
              <a:t>‹#›</a:t>
            </a:fld>
            <a:endParaRPr lang="en-US"/>
          </a:p>
        </p:txBody>
      </p:sp>
    </p:spTree>
    <p:extLst>
      <p:ext uri="{BB962C8B-B14F-4D97-AF65-F5344CB8AC3E}">
        <p14:creationId xmlns:p14="http://schemas.microsoft.com/office/powerpoint/2010/main" val="178632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914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914400"/>
            <a:ext cx="8229600" cy="5211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fld id="{57951F7C-CFBF-8144-A102-5B4CA8E4DF9C}" type="datetime1">
              <a:rPr lang="en-US" smtClean="0"/>
              <a:pPr/>
              <a:t>3/17/19</a:t>
            </a:fld>
            <a:endParaRPr lang="en-US" dirty="0"/>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endParaRPr lang="en-US" dirty="0"/>
          </a:p>
        </p:txBody>
      </p:sp>
      <p:sp>
        <p:nvSpPr>
          <p:cNvPr id="6" name="Slide Number Placeholder 5"/>
          <p:cNvSpPr>
            <a:spLocks noGrp="1"/>
          </p:cNvSpPr>
          <p:nvPr>
            <p:ph type="sldNum" sz="quarter" idx="4"/>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r>
              <a:rPr lang="en-US" dirty="0"/>
              <a:t>  </a:t>
            </a:r>
            <a:fld id="{223FD816-CC6A-BF43-8241-637E3E7EAA5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457200" rtl="0" eaLnBrk="1" latinLnBrk="0" hangingPunct="1">
        <a:spcBef>
          <a:spcPct val="0"/>
        </a:spcBef>
        <a:buNone/>
        <a:defRPr sz="3200" kern="1200">
          <a:solidFill>
            <a:srgbClr val="FF0066"/>
          </a:solidFill>
          <a:latin typeface="Arial"/>
          <a:ea typeface="+mj-ea"/>
          <a:cs typeface="Arial"/>
        </a:defRPr>
      </a:lvl1pPr>
    </p:titleStyle>
    <p:bodyStyle>
      <a:lvl1pPr marL="342900" indent="-3429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3pPr>
      <a:lvl4pPr marL="16002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xml"/><Relationship Id="rId7" Type="http://schemas.openxmlformats.org/officeDocument/2006/relationships/image" Target="../media/image3.e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wmf"/></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5.bin"/><Relationship Id="rId7" Type="http://schemas.openxmlformats.org/officeDocument/2006/relationships/image" Target="../media/image8.png"/><Relationship Id="rId2" Type="http://schemas.openxmlformats.org/officeDocument/2006/relationships/slideLayout" Target="../slideLayouts/slideLayout13.xml"/><Relationship Id="rId1" Type="http://schemas.openxmlformats.org/officeDocument/2006/relationships/vmlDrawing" Target="../drawings/vmlDrawing2.vml"/><Relationship Id="rId6" Type="http://schemas.openxmlformats.org/officeDocument/2006/relationships/image" Target="../media/image7.emf"/><Relationship Id="rId5" Type="http://schemas.openxmlformats.org/officeDocument/2006/relationships/oleObject" Target="../embeddings/oleObject6.bin"/><Relationship Id="rId10" Type="http://schemas.openxmlformats.org/officeDocument/2006/relationships/image" Target="../media/image11.png"/><Relationship Id="rId4" Type="http://schemas.openxmlformats.org/officeDocument/2006/relationships/image" Target="../media/image6.wmf"/><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oleObject" Target="../embeddings/oleObject7.bin"/><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3.xml"/><Relationship Id="rId7" Type="http://schemas.openxmlformats.org/officeDocument/2006/relationships/image" Target="../media/image24.png"/><Relationship Id="rId12"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3.png"/><Relationship Id="rId11" Type="http://schemas.openxmlformats.org/officeDocument/2006/relationships/image" Target="../media/image9.emf"/><Relationship Id="rId5" Type="http://schemas.openxmlformats.org/officeDocument/2006/relationships/image" Target="../media/image22.png"/><Relationship Id="rId10" Type="http://schemas.openxmlformats.org/officeDocument/2006/relationships/oleObject" Target="../embeddings/oleObject8.bin"/><Relationship Id="rId4" Type="http://schemas.openxmlformats.org/officeDocument/2006/relationships/image" Target="../media/image21.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38.emf"/><Relationship Id="rId5" Type="http://schemas.openxmlformats.org/officeDocument/2006/relationships/oleObject" Target="../embeddings/oleObject10.bin"/><Relationship Id="rId4" Type="http://schemas.openxmlformats.org/officeDocument/2006/relationships/image" Target="../media/image37.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40.emf"/><Relationship Id="rId5" Type="http://schemas.openxmlformats.org/officeDocument/2006/relationships/oleObject" Target="../embeddings/oleObject12.bin"/><Relationship Id="rId4" Type="http://schemas.openxmlformats.org/officeDocument/2006/relationships/image" Target="../media/image39.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image" Target="../media/image43.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55.wmf"/><Relationship Id="rId4" Type="http://schemas.openxmlformats.org/officeDocument/2006/relationships/oleObject" Target="../embeddings/oleObject13.bin"/></Relationships>
</file>

<file path=ppt/slides/_rels/slide52.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notesSlide" Target="../notesSlides/notesSlide18.xml"/><Relationship Id="rId7" Type="http://schemas.openxmlformats.org/officeDocument/2006/relationships/image" Target="../media/image3.e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5.bin"/><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4.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vmlDrawing" Target="../drawings/vmlDrawing9.vml"/><Relationship Id="rId5" Type="http://schemas.openxmlformats.org/officeDocument/2006/relationships/image" Target="../media/image58.wmf"/><Relationship Id="rId4" Type="http://schemas.openxmlformats.org/officeDocument/2006/relationships/oleObject" Target="../embeddings/oleObject18.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vmlDrawing" Target="../drawings/vmlDrawing10.vml"/><Relationship Id="rId5" Type="http://schemas.openxmlformats.org/officeDocument/2006/relationships/image" Target="../media/image59.wmf"/><Relationship Id="rId4" Type="http://schemas.openxmlformats.org/officeDocument/2006/relationships/oleObject" Target="../embeddings/oleObject19.bin"/></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61.wmf"/><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oleObject" Target="../embeddings/oleObject21.bin"/><Relationship Id="rId5" Type="http://schemas.openxmlformats.org/officeDocument/2006/relationships/image" Target="../media/image60.wmf"/><Relationship Id="rId4" Type="http://schemas.openxmlformats.org/officeDocument/2006/relationships/oleObject" Target="../embeddings/oleObject20.bin"/></Relationships>
</file>

<file path=ppt/slides/_rels/slide68.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25.xml"/><Relationship Id="rId7" Type="http://schemas.openxmlformats.org/officeDocument/2006/relationships/image" Target="../media/image63.emf"/><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23.bin"/><Relationship Id="rId11" Type="http://schemas.openxmlformats.org/officeDocument/2006/relationships/image" Target="../media/image65.wmf"/><Relationship Id="rId5" Type="http://schemas.openxmlformats.org/officeDocument/2006/relationships/image" Target="../media/image62.e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64.emf"/></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vmlDrawing" Target="../drawings/vmlDrawing13.vml"/><Relationship Id="rId5" Type="http://schemas.openxmlformats.org/officeDocument/2006/relationships/image" Target="../media/image66.wmf"/><Relationship Id="rId4" Type="http://schemas.openxmlformats.org/officeDocument/2006/relationships/oleObject" Target="../embeddings/oleObject26.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67.wmf"/><Relationship Id="rId4" Type="http://schemas.openxmlformats.org/officeDocument/2006/relationships/oleObject" Target="../embeddings/oleObject27.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image" Target="../media/image68.wmf"/><Relationship Id="rId4" Type="http://schemas.openxmlformats.org/officeDocument/2006/relationships/oleObject" Target="../embeddings/oleObject28.bin"/></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16.vml"/><Relationship Id="rId5" Type="http://schemas.openxmlformats.org/officeDocument/2006/relationships/image" Target="../media/image69.wmf"/><Relationship Id="rId4" Type="http://schemas.openxmlformats.org/officeDocument/2006/relationships/oleObject" Target="../embeddings/oleObject29.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notesSlide" Target="../notesSlides/notesSlide30.xml"/><Relationship Id="rId7" Type="http://schemas.openxmlformats.org/officeDocument/2006/relationships/image" Target="../media/image71.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31.bin"/><Relationship Id="rId5" Type="http://schemas.openxmlformats.org/officeDocument/2006/relationships/image" Target="../media/image70.wmf"/><Relationship Id="rId10" Type="http://schemas.openxmlformats.org/officeDocument/2006/relationships/image" Target="../media/image73.emf"/><Relationship Id="rId4" Type="http://schemas.openxmlformats.org/officeDocument/2006/relationships/oleObject" Target="../embeddings/oleObject30.bin"/><Relationship Id="rId9" Type="http://schemas.openxmlformats.org/officeDocument/2006/relationships/image" Target="../media/image72.wmf"/></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75.wmf"/><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34.bin"/><Relationship Id="rId5" Type="http://schemas.openxmlformats.org/officeDocument/2006/relationships/image" Target="../media/image74.wmf"/><Relationship Id="rId4" Type="http://schemas.openxmlformats.org/officeDocument/2006/relationships/oleObject" Target="../embeddings/oleObject33.bin"/></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image" Target="../media/image77.jpeg"/><Relationship Id="rId5" Type="http://schemas.openxmlformats.org/officeDocument/2006/relationships/image" Target="../media/image76.wmf"/><Relationship Id="rId4" Type="http://schemas.openxmlformats.org/officeDocument/2006/relationships/oleObject" Target="../embeddings/oleObject35.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33.xml"/><Relationship Id="rId7" Type="http://schemas.openxmlformats.org/officeDocument/2006/relationships/image" Target="../media/image79.wmf"/><Relationship Id="rId2" Type="http://schemas.openxmlformats.org/officeDocument/2006/relationships/slideLayout" Target="../slideLayouts/slideLayout6.xml"/><Relationship Id="rId1" Type="http://schemas.openxmlformats.org/officeDocument/2006/relationships/vmlDrawing" Target="../drawings/vmlDrawing20.vml"/><Relationship Id="rId6" Type="http://schemas.openxmlformats.org/officeDocument/2006/relationships/oleObject" Target="../embeddings/oleObject37.bin"/><Relationship Id="rId5" Type="http://schemas.openxmlformats.org/officeDocument/2006/relationships/image" Target="../media/image78.wmf"/><Relationship Id="rId4" Type="http://schemas.openxmlformats.org/officeDocument/2006/relationships/oleObject" Target="../embeddings/oleObject36.bin"/><Relationship Id="rId9" Type="http://schemas.openxmlformats.org/officeDocument/2006/relationships/image" Target="../media/image80.wmf"/></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6.xml"/><Relationship Id="rId1" Type="http://schemas.openxmlformats.org/officeDocument/2006/relationships/vmlDrawing" Target="../drawings/vmlDrawing21.vml"/><Relationship Id="rId5" Type="http://schemas.openxmlformats.org/officeDocument/2006/relationships/image" Target="../media/image81.wmf"/><Relationship Id="rId4" Type="http://schemas.openxmlformats.org/officeDocument/2006/relationships/oleObject" Target="../embeddings/oleObject39.bin"/></Relationships>
</file>

<file path=ppt/slides/_rels/slide8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37.xml"/><Relationship Id="rId1" Type="http://schemas.openxmlformats.org/officeDocument/2006/relationships/slideLayout" Target="../slideLayouts/slideLayout6.xml"/><Relationship Id="rId5" Type="http://schemas.openxmlformats.org/officeDocument/2006/relationships/image" Target="../media/image85.png"/><Relationship Id="rId4" Type="http://schemas.openxmlformats.org/officeDocument/2006/relationships/image" Target="../media/image84.jpe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87.wmf"/><Relationship Id="rId4" Type="http://schemas.openxmlformats.org/officeDocument/2006/relationships/oleObject" Target="../embeddings/oleObject40.bin"/></Relationships>
</file>

<file path=ppt/slides/_rels/slide9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png"/></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9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0" y="0"/>
            <a:ext cx="9144000" cy="6858000"/>
          </a:xfrm>
          <a:prstGeom prst="rect">
            <a:avLst/>
          </a:prstGeom>
        </p:spPr>
      </p:pic>
      <p:sp>
        <p:nvSpPr>
          <p:cNvPr id="2" name="Title 1"/>
          <p:cNvSpPr>
            <a:spLocks noGrp="1"/>
          </p:cNvSpPr>
          <p:nvPr>
            <p:ph type="ctrTitle"/>
          </p:nvPr>
        </p:nvSpPr>
        <p:spPr>
          <a:xfrm>
            <a:off x="823664" y="20960"/>
            <a:ext cx="7924800" cy="2255912"/>
          </a:xfrm>
        </p:spPr>
        <p:txBody>
          <a:bodyPr>
            <a:noAutofit/>
          </a:bodyPr>
          <a:lstStyle/>
          <a:p>
            <a:pPr algn="ctr"/>
            <a:r>
              <a:rPr lang="en-US" sz="4400" dirty="0"/>
              <a:t>The Complex Systems </a:t>
            </a:r>
            <a:r>
              <a:rPr lang="en-US" sz="4400" dirty="0" err="1"/>
              <a:t>Modelling</a:t>
            </a:r>
            <a:r>
              <a:rPr lang="en-US" sz="4400" dirty="0"/>
              <a:t> Platform </a:t>
            </a:r>
            <a:br>
              <a:rPr lang="en-US" sz="4400" dirty="0"/>
            </a:br>
            <a:r>
              <a:rPr lang="en-US" sz="4400" dirty="0"/>
              <a:t>(CSMP++ )</a:t>
            </a:r>
          </a:p>
        </p:txBody>
      </p:sp>
      <p:sp>
        <p:nvSpPr>
          <p:cNvPr id="3" name="Subtitle 2"/>
          <p:cNvSpPr>
            <a:spLocks noGrp="1"/>
          </p:cNvSpPr>
          <p:nvPr>
            <p:ph type="subTitle" idx="1"/>
          </p:nvPr>
        </p:nvSpPr>
        <p:spPr>
          <a:xfrm>
            <a:off x="1371600" y="4437112"/>
            <a:ext cx="6400800" cy="2016224"/>
          </a:xfrm>
        </p:spPr>
        <p:txBody>
          <a:bodyPr>
            <a:normAutofit/>
          </a:bodyPr>
          <a:lstStyle/>
          <a:p>
            <a:r>
              <a:rPr lang="en-US" sz="4400" dirty="0">
                <a:solidFill>
                  <a:schemeClr val="bg1">
                    <a:lumMod val="95000"/>
                  </a:schemeClr>
                </a:solidFill>
              </a:rPr>
              <a:t>Melbourne Transport Scheme</a:t>
            </a:r>
          </a:p>
        </p:txBody>
      </p:sp>
      <p:sp>
        <p:nvSpPr>
          <p:cNvPr id="8" name="Slide Number Placeholder 7"/>
          <p:cNvSpPr>
            <a:spLocks noGrp="1"/>
          </p:cNvSpPr>
          <p:nvPr>
            <p:ph type="sldNum" sz="quarter" idx="12"/>
          </p:nvPr>
        </p:nvSpPr>
        <p:spPr/>
        <p:txBody>
          <a:bodyPr/>
          <a:lstStyle/>
          <a:p>
            <a:fld id="{223FD816-CC6A-BF43-8241-637E3E7EAA5A}" type="slidenum">
              <a:rPr lang="en-US" smtClean="0"/>
              <a:pPr/>
              <a:t>1</a:t>
            </a:fld>
            <a:endParaRPr lang="en-US" dirty="0"/>
          </a:p>
        </p:txBody>
      </p:sp>
      <p:sp>
        <p:nvSpPr>
          <p:cNvPr id="6" name="Date Placeholder 5"/>
          <p:cNvSpPr>
            <a:spLocks noGrp="1"/>
          </p:cNvSpPr>
          <p:nvPr>
            <p:ph type="dt" sz="half" idx="10"/>
          </p:nvPr>
        </p:nvSpPr>
        <p:spPr/>
        <p:txBody>
          <a:bodyPr/>
          <a:lstStyle/>
          <a:p>
            <a:fld id="{8D154537-941D-2348-A481-A34A2C8533FE}" type="datetime1">
              <a:rPr lang="en-US" smtClean="0"/>
              <a:pPr/>
              <a:t>3/17/19</a:t>
            </a:fld>
            <a:endParaRPr lang="en-US"/>
          </a:p>
        </p:txBody>
      </p:sp>
      <p:sp>
        <p:nvSpPr>
          <p:cNvPr id="4" name="TextBox 3"/>
          <p:cNvSpPr txBox="1"/>
          <p:nvPr/>
        </p:nvSpPr>
        <p:spPr>
          <a:xfrm>
            <a:off x="3231884" y="6021288"/>
            <a:ext cx="2708268" cy="400110"/>
          </a:xfrm>
          <a:prstGeom prst="rect">
            <a:avLst/>
          </a:prstGeom>
          <a:noFill/>
        </p:spPr>
        <p:txBody>
          <a:bodyPr wrap="none" rtlCol="0">
            <a:spAutoFit/>
          </a:bodyPr>
          <a:lstStyle/>
          <a:p>
            <a:r>
              <a:rPr lang="en-US" sz="2000" dirty="0">
                <a:solidFill>
                  <a:schemeClr val="bg1"/>
                </a:solidFill>
                <a:latin typeface="Arial"/>
                <a:cs typeface="Arial"/>
              </a:rPr>
              <a:t>by Stephan K. Matthai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514350" indent="-514350">
              <a:spcBef>
                <a:spcPts val="800"/>
              </a:spcBef>
              <a:spcAft>
                <a:spcPts val="1800"/>
              </a:spcAft>
              <a:buFont typeface="+mj-lt"/>
              <a:buAutoNum type="arabicPeriod"/>
            </a:pPr>
            <a:r>
              <a:rPr lang="en-US" sz="2400" dirty="0"/>
              <a:t>Governing Equations</a:t>
            </a:r>
          </a:p>
          <a:p>
            <a:pPr marL="514350" indent="-514350">
              <a:spcBef>
                <a:spcPts val="800"/>
              </a:spcBef>
              <a:spcAft>
                <a:spcPts val="1800"/>
              </a:spcAft>
              <a:buFont typeface="+mj-lt"/>
              <a:buAutoNum type="arabicPeriod"/>
            </a:pPr>
            <a:r>
              <a:rPr lang="en-US" sz="2400" dirty="0" err="1"/>
              <a:t>Discretisation</a:t>
            </a:r>
            <a:endParaRPr lang="en-US" sz="2400" dirty="0"/>
          </a:p>
          <a:p>
            <a:pPr marL="514350" indent="-514350">
              <a:spcBef>
                <a:spcPts val="800"/>
              </a:spcBef>
              <a:spcAft>
                <a:spcPts val="1800"/>
              </a:spcAft>
              <a:buFont typeface="+mj-lt"/>
              <a:buAutoNum type="arabicPeriod"/>
            </a:pPr>
            <a:r>
              <a:rPr lang="en-US" sz="2400" dirty="0"/>
              <a:t>Design specifications and considerations</a:t>
            </a:r>
          </a:p>
          <a:p>
            <a:pPr marL="514350" indent="-514350">
              <a:spcBef>
                <a:spcPts val="800"/>
              </a:spcBef>
              <a:spcAft>
                <a:spcPts val="1800"/>
              </a:spcAft>
              <a:buFont typeface="+mj-lt"/>
              <a:buAutoNum type="arabicPeriod"/>
            </a:pPr>
            <a:r>
              <a:rPr lang="en-US" sz="2400" dirty="0"/>
              <a:t>Phase by phase transport</a:t>
            </a:r>
          </a:p>
          <a:p>
            <a:pPr marL="514350" indent="-514350">
              <a:spcBef>
                <a:spcPts val="800"/>
              </a:spcBef>
              <a:spcAft>
                <a:spcPts val="1800"/>
              </a:spcAft>
              <a:buFont typeface="+mj-lt"/>
              <a:buAutoNum type="arabicPeriod"/>
            </a:pPr>
            <a:r>
              <a:rPr lang="en-US" sz="2400" dirty="0"/>
              <a:t>Design prototype: classes and use-case</a:t>
            </a:r>
          </a:p>
        </p:txBody>
      </p:sp>
      <p:sp>
        <p:nvSpPr>
          <p:cNvPr id="4" name="Date Placeholder 3"/>
          <p:cNvSpPr>
            <a:spLocks noGrp="1"/>
          </p:cNvSpPr>
          <p:nvPr>
            <p:ph type="dt" sz="half" idx="10"/>
          </p:nvPr>
        </p:nvSpPr>
        <p:spPr>
          <a:xfrm>
            <a:off x="35496" y="6492875"/>
            <a:ext cx="3087544" cy="365125"/>
          </a:xfrm>
        </p:spPr>
        <p:txBody>
          <a:bodyPr/>
          <a:lstStyle/>
          <a:p>
            <a:pPr>
              <a:defRPr/>
            </a:pPr>
            <a:r>
              <a:rPr lang="en-US" dirty="0"/>
              <a:t>CSMP Generic Transport Scheme: Agenda</a:t>
            </a:r>
          </a:p>
        </p:txBody>
      </p:sp>
      <p:sp>
        <p:nvSpPr>
          <p:cNvPr id="5" name="Slide Number Placeholder 4"/>
          <p:cNvSpPr>
            <a:spLocks noGrp="1"/>
          </p:cNvSpPr>
          <p:nvPr>
            <p:ph type="sldNum" sz="quarter" idx="12"/>
          </p:nvPr>
        </p:nvSpPr>
        <p:spPr/>
        <p:txBody>
          <a:bodyPr/>
          <a:lstStyle/>
          <a:p>
            <a:fld id="{321305FD-7CE1-C64B-B0A3-F76AC6FEC4D2}" type="slidenum">
              <a:rPr lang="en-US" smtClean="0"/>
              <a:pPr/>
              <a:t>2</a:t>
            </a:fld>
            <a:endParaRPr lang="en-US"/>
          </a:p>
        </p:txBody>
      </p:sp>
    </p:spTree>
    <p:extLst>
      <p:ext uri="{BB962C8B-B14F-4D97-AF65-F5344CB8AC3E}">
        <p14:creationId xmlns:p14="http://schemas.microsoft.com/office/powerpoint/2010/main" val="1970155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
          <p:cNvSpPr>
            <a:spLocks noGrp="1"/>
          </p:cNvSpPr>
          <p:nvPr>
            <p:ph type="sldNum" sz="quarter" idx="10"/>
          </p:nvPr>
        </p:nvSpPr>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FF9E1D0A-B9C5-E943-81F2-F4F7983AD6F1}" type="slidenum">
              <a:rPr lang="en-US" sz="1400">
                <a:solidFill>
                  <a:schemeClr val="bg1"/>
                </a:solidFill>
                <a:latin typeface="Arial" charset="0"/>
              </a:rPr>
              <a:pPr/>
              <a:t>3</a:t>
            </a:fld>
            <a:endParaRPr lang="en-US" sz="1400">
              <a:solidFill>
                <a:schemeClr val="bg1"/>
              </a:solidFill>
              <a:latin typeface="Arial" charset="0"/>
            </a:endParaRPr>
          </a:p>
        </p:txBody>
      </p:sp>
      <p:sp>
        <p:nvSpPr>
          <p:cNvPr id="27655" name="Rectangle 2"/>
          <p:cNvSpPr>
            <a:spLocks noChangeArrowheads="1"/>
          </p:cNvSpPr>
          <p:nvPr/>
        </p:nvSpPr>
        <p:spPr bwMode="auto">
          <a:xfrm>
            <a:off x="395288" y="159048"/>
            <a:ext cx="8162925"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spAutoFit/>
          </a:bodyPr>
          <a:lstStyle/>
          <a:p>
            <a:pPr algn="l" eaLnBrk="1" hangingPunct="1"/>
            <a:r>
              <a:rPr lang="en-GB" sz="2400" b="1" dirty="0">
                <a:solidFill>
                  <a:schemeClr val="tx2"/>
                </a:solidFill>
                <a:latin typeface="Arial" charset="0"/>
              </a:rPr>
              <a:t>Old scheme: 2-phase flow, slightly compressible</a:t>
            </a:r>
          </a:p>
        </p:txBody>
      </p:sp>
      <p:graphicFrame>
        <p:nvGraphicFramePr>
          <p:cNvPr id="27650" name="Object 2"/>
          <p:cNvGraphicFramePr>
            <a:graphicFrameLocks noChangeAspect="1"/>
          </p:cNvGraphicFramePr>
          <p:nvPr>
            <p:extLst/>
          </p:nvPr>
        </p:nvGraphicFramePr>
        <p:xfrm>
          <a:off x="739775" y="3717925"/>
          <a:ext cx="7040563" cy="915988"/>
        </p:xfrm>
        <a:graphic>
          <a:graphicData uri="http://schemas.openxmlformats.org/presentationml/2006/ole">
            <mc:AlternateContent xmlns:mc="http://schemas.openxmlformats.org/markup-compatibility/2006">
              <mc:Choice xmlns:v="urn:schemas-microsoft-com:vml" Requires="v">
                <p:oleObj spid="_x0000_s49531" name="Equation" r:id="rId4" imgW="4292600" imgH="558800" progId="Equation.DSMT4">
                  <p:embed/>
                </p:oleObj>
              </mc:Choice>
              <mc:Fallback>
                <p:oleObj name="Equation" r:id="rId4" imgW="4292600" imgH="558800" progId="Equation.DSMT4">
                  <p:embed/>
                  <p:pic>
                    <p:nvPicPr>
                      <p:cNvPr id="27650" name="Object 2"/>
                      <p:cNvPicPr>
                        <a:picLocks noChangeAspect="1" noChangeArrowheads="1"/>
                      </p:cNvPicPr>
                      <p:nvPr/>
                    </p:nvPicPr>
                    <p:blipFill>
                      <a:blip r:embed="rId5"/>
                      <a:srcRect/>
                      <a:stretch>
                        <a:fillRect/>
                      </a:stretch>
                    </p:blipFill>
                    <p:spPr bwMode="auto">
                      <a:xfrm>
                        <a:off x="739775" y="3717925"/>
                        <a:ext cx="7040563" cy="9159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6" name="Text Box 4"/>
          <p:cNvSpPr txBox="1">
            <a:spLocks noChangeArrowheads="1"/>
          </p:cNvSpPr>
          <p:nvPr/>
        </p:nvSpPr>
        <p:spPr bwMode="auto">
          <a:xfrm>
            <a:off x="442913" y="3421063"/>
            <a:ext cx="460216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dirty="0">
                <a:solidFill>
                  <a:srgbClr val="0E207F"/>
                </a:solidFill>
                <a:latin typeface="Arial" charset="0"/>
              </a:rPr>
              <a:t>Transport equation</a:t>
            </a:r>
            <a:endParaRPr lang="en-GB" sz="1800" dirty="0">
              <a:solidFill>
                <a:srgbClr val="0E207F"/>
              </a:solidFill>
              <a:latin typeface="Arial" charset="0"/>
            </a:endParaRPr>
          </a:p>
        </p:txBody>
      </p:sp>
      <p:sp>
        <p:nvSpPr>
          <p:cNvPr id="27657" name="Text Box 5"/>
          <p:cNvSpPr txBox="1">
            <a:spLocks noChangeArrowheads="1"/>
          </p:cNvSpPr>
          <p:nvPr/>
        </p:nvSpPr>
        <p:spPr bwMode="auto">
          <a:xfrm>
            <a:off x="442913" y="723900"/>
            <a:ext cx="814228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0E207F"/>
                </a:solidFill>
                <a:latin typeface="Arial" charset="0"/>
              </a:rPr>
              <a:t>Pressure equation including reduced gravity effects but </a:t>
            </a:r>
            <a:r>
              <a:rPr lang="en-US" sz="1800" u="sng">
                <a:solidFill>
                  <a:srgbClr val="0E207F"/>
                </a:solidFill>
                <a:latin typeface="Arial" charset="0"/>
              </a:rPr>
              <a:t>not</a:t>
            </a:r>
            <a:r>
              <a:rPr lang="en-US" sz="1800">
                <a:solidFill>
                  <a:srgbClr val="0E207F"/>
                </a:solidFill>
                <a:latin typeface="Arial" charset="0"/>
              </a:rPr>
              <a:t> capillary pressure</a:t>
            </a:r>
            <a:endParaRPr lang="en-GB" sz="1800">
              <a:solidFill>
                <a:srgbClr val="0E207F"/>
              </a:solidFill>
              <a:latin typeface="Arial" charset="0"/>
            </a:endParaRPr>
          </a:p>
        </p:txBody>
      </p:sp>
      <p:graphicFrame>
        <p:nvGraphicFramePr>
          <p:cNvPr id="27651" name="Object 3"/>
          <p:cNvGraphicFramePr>
            <a:graphicFrameLocks noChangeAspect="1"/>
          </p:cNvGraphicFramePr>
          <p:nvPr>
            <p:extLst/>
          </p:nvPr>
        </p:nvGraphicFramePr>
        <p:xfrm>
          <a:off x="361950" y="1157288"/>
          <a:ext cx="8445500" cy="690562"/>
        </p:xfrm>
        <a:graphic>
          <a:graphicData uri="http://schemas.openxmlformats.org/presentationml/2006/ole">
            <mc:AlternateContent xmlns:mc="http://schemas.openxmlformats.org/markup-compatibility/2006">
              <mc:Choice xmlns:v="urn:schemas-microsoft-com:vml" Requires="v">
                <p:oleObj spid="_x0000_s49532" name="Equation" r:id="rId6" imgW="5283200" imgH="431800" progId="Equation.DSMT4">
                  <p:embed/>
                </p:oleObj>
              </mc:Choice>
              <mc:Fallback>
                <p:oleObj name="Equation" r:id="rId6" imgW="5283200" imgH="431800" progId="Equation.DSMT4">
                  <p:embed/>
                  <p:pic>
                    <p:nvPicPr>
                      <p:cNvPr id="27651" name="Object 3"/>
                      <p:cNvPicPr>
                        <a:picLocks noChangeAspect="1" noChangeArrowheads="1"/>
                      </p:cNvPicPr>
                      <p:nvPr/>
                    </p:nvPicPr>
                    <p:blipFill>
                      <a:blip r:embed="rId7"/>
                      <a:srcRect/>
                      <a:stretch>
                        <a:fillRect/>
                      </a:stretch>
                    </p:blipFill>
                    <p:spPr bwMode="auto">
                      <a:xfrm>
                        <a:off x="361950" y="1157288"/>
                        <a:ext cx="8445500" cy="6905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8" name="Text Box 7"/>
          <p:cNvSpPr txBox="1">
            <a:spLocks noChangeArrowheads="1"/>
          </p:cNvSpPr>
          <p:nvPr/>
        </p:nvSpPr>
        <p:spPr bwMode="auto">
          <a:xfrm>
            <a:off x="441325" y="1922463"/>
            <a:ext cx="72834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0E207F"/>
                </a:solidFill>
                <a:latin typeface="Arial" charset="0"/>
              </a:rPr>
              <a:t>Total velocity (including buoyancy-driven flow of the fluid mixture)</a:t>
            </a:r>
            <a:endParaRPr lang="en-GB" sz="1800">
              <a:solidFill>
                <a:srgbClr val="0E207F"/>
              </a:solidFill>
              <a:latin typeface="Arial" charset="0"/>
            </a:endParaRPr>
          </a:p>
        </p:txBody>
      </p:sp>
      <p:graphicFrame>
        <p:nvGraphicFramePr>
          <p:cNvPr id="27652" name="Object 4"/>
          <p:cNvGraphicFramePr>
            <a:graphicFrameLocks noChangeAspect="1"/>
          </p:cNvGraphicFramePr>
          <p:nvPr/>
        </p:nvGraphicFramePr>
        <p:xfrm>
          <a:off x="742950" y="2339975"/>
          <a:ext cx="7215188" cy="990600"/>
        </p:xfrm>
        <a:graphic>
          <a:graphicData uri="http://schemas.openxmlformats.org/presentationml/2006/ole">
            <mc:AlternateContent xmlns:mc="http://schemas.openxmlformats.org/markup-compatibility/2006">
              <mc:Choice xmlns:v="urn:schemas-microsoft-com:vml" Requires="v">
                <p:oleObj spid="_x0000_s49533" name="Equation" r:id="rId8" imgW="5194080" imgH="711000" progId="Equation.3">
                  <p:embed/>
                </p:oleObj>
              </mc:Choice>
              <mc:Fallback>
                <p:oleObj name="Equation" r:id="rId8" imgW="5194080" imgH="711000" progId="Equation.3">
                  <p:embed/>
                  <p:pic>
                    <p:nvPicPr>
                      <p:cNvPr id="27652"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950" y="2339975"/>
                        <a:ext cx="7215188" cy="9906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9" name="Text Box 9"/>
          <p:cNvSpPr txBox="1">
            <a:spLocks noChangeArrowheads="1"/>
          </p:cNvSpPr>
          <p:nvPr/>
        </p:nvSpPr>
        <p:spPr bwMode="auto">
          <a:xfrm>
            <a:off x="1722438" y="5705475"/>
            <a:ext cx="2209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FF0000"/>
                </a:solidFill>
                <a:latin typeface="Arial" charset="0"/>
              </a:rPr>
              <a:t>advection</a:t>
            </a:r>
            <a:endParaRPr lang="en-GB" sz="1800">
              <a:solidFill>
                <a:srgbClr val="FF0000"/>
              </a:solidFill>
              <a:latin typeface="Arial" charset="0"/>
            </a:endParaRPr>
          </a:p>
        </p:txBody>
      </p:sp>
      <p:sp>
        <p:nvSpPr>
          <p:cNvPr id="27660" name="Text Box 10"/>
          <p:cNvSpPr txBox="1">
            <a:spLocks noChangeArrowheads="1"/>
          </p:cNvSpPr>
          <p:nvPr/>
        </p:nvSpPr>
        <p:spPr bwMode="auto">
          <a:xfrm>
            <a:off x="3141663" y="5718175"/>
            <a:ext cx="5637212"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FF0000"/>
                </a:solidFill>
                <a:latin typeface="Arial" charset="0"/>
              </a:rPr>
              <a:t>gravitational segregation (=volume conservative spreading)</a:t>
            </a:r>
            <a:endParaRPr lang="en-GB" sz="1800">
              <a:solidFill>
                <a:srgbClr val="FF0000"/>
              </a:solidFill>
              <a:latin typeface="Arial" charset="0"/>
            </a:endParaRPr>
          </a:p>
        </p:txBody>
      </p:sp>
      <p:graphicFrame>
        <p:nvGraphicFramePr>
          <p:cNvPr id="27653" name="Object 5"/>
          <p:cNvGraphicFramePr>
            <a:graphicFrameLocks noChangeAspect="1"/>
          </p:cNvGraphicFramePr>
          <p:nvPr>
            <p:extLst/>
          </p:nvPr>
        </p:nvGraphicFramePr>
        <p:xfrm>
          <a:off x="890588" y="4473575"/>
          <a:ext cx="4986337" cy="2087563"/>
        </p:xfrm>
        <a:graphic>
          <a:graphicData uri="http://schemas.openxmlformats.org/presentationml/2006/ole">
            <mc:AlternateContent xmlns:mc="http://schemas.openxmlformats.org/markup-compatibility/2006">
              <mc:Choice xmlns:v="urn:schemas-microsoft-com:vml" Requires="v">
                <p:oleObj spid="_x0000_s49534" name="Equation" r:id="rId10" imgW="3124200" imgH="1308100" progId="Equation.DSMT4">
                  <p:embed/>
                </p:oleObj>
              </mc:Choice>
              <mc:Fallback>
                <p:oleObj name="Equation" r:id="rId10" imgW="3124200" imgH="1308100" progId="Equation.DSMT4">
                  <p:embed/>
                  <p:pic>
                    <p:nvPicPr>
                      <p:cNvPr id="27653" name="Object 5"/>
                      <p:cNvPicPr>
                        <a:picLocks noChangeAspect="1" noChangeArrowheads="1"/>
                      </p:cNvPicPr>
                      <p:nvPr/>
                    </p:nvPicPr>
                    <p:blipFill>
                      <a:blip r:embed="rId11"/>
                      <a:srcRect/>
                      <a:stretch>
                        <a:fillRect/>
                      </a:stretch>
                    </p:blipFill>
                    <p:spPr bwMode="auto">
                      <a:xfrm>
                        <a:off x="890588" y="4473575"/>
                        <a:ext cx="4986337" cy="20875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61" name="Oval 14"/>
          <p:cNvSpPr>
            <a:spLocks noChangeArrowheads="1"/>
          </p:cNvSpPr>
          <p:nvPr/>
        </p:nvSpPr>
        <p:spPr bwMode="auto">
          <a:xfrm>
            <a:off x="1504950" y="5200650"/>
            <a:ext cx="563563" cy="403225"/>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7662" name="Oval 15"/>
          <p:cNvSpPr>
            <a:spLocks noChangeArrowheads="1"/>
          </p:cNvSpPr>
          <p:nvPr/>
        </p:nvSpPr>
        <p:spPr bwMode="auto">
          <a:xfrm>
            <a:off x="5338763" y="5189538"/>
            <a:ext cx="563562" cy="403225"/>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7663" name="Text Box 17"/>
          <p:cNvSpPr txBox="1">
            <a:spLocks noChangeArrowheads="1"/>
          </p:cNvSpPr>
          <p:nvPr/>
        </p:nvSpPr>
        <p:spPr bwMode="auto">
          <a:xfrm>
            <a:off x="5165725" y="4932363"/>
            <a:ext cx="88423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r>
              <a:rPr lang="en-US" sz="1400">
                <a:solidFill>
                  <a:srgbClr val="B2B2B2"/>
                </a:solidFill>
                <a:latin typeface="Arial" charset="0"/>
              </a:rPr>
              <a:t>soln.vec.</a:t>
            </a:r>
          </a:p>
        </p:txBody>
      </p:sp>
      <p:sp>
        <p:nvSpPr>
          <p:cNvPr id="27664" name="Text Box 18"/>
          <p:cNvSpPr txBox="1">
            <a:spLocks noChangeArrowheads="1"/>
          </p:cNvSpPr>
          <p:nvPr/>
        </p:nvSpPr>
        <p:spPr bwMode="auto">
          <a:xfrm>
            <a:off x="1382713" y="4940300"/>
            <a:ext cx="88423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r>
              <a:rPr lang="en-US" sz="1400">
                <a:solidFill>
                  <a:srgbClr val="B2B2B2"/>
                </a:solidFill>
                <a:latin typeface="Arial" charset="0"/>
              </a:rPr>
              <a:t>soln.vec.</a:t>
            </a:r>
          </a:p>
        </p:txBody>
      </p:sp>
    </p:spTree>
    <p:extLst>
      <p:ext uri="{BB962C8B-B14F-4D97-AF65-F5344CB8AC3E}">
        <p14:creationId xmlns:p14="http://schemas.microsoft.com/office/powerpoint/2010/main" val="1328243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9E634-546F-5940-A601-83EBB68B57A3}"/>
              </a:ext>
            </a:extLst>
          </p:cNvPr>
          <p:cNvSpPr>
            <a:spLocks noGrp="1"/>
          </p:cNvSpPr>
          <p:nvPr>
            <p:ph type="title"/>
          </p:nvPr>
        </p:nvSpPr>
        <p:spPr/>
        <p:txBody>
          <a:bodyPr/>
          <a:lstStyle/>
          <a:p>
            <a:r>
              <a:rPr lang="en-US" dirty="0"/>
              <a:t>Back to the basics of compressible flow</a:t>
            </a:r>
          </a:p>
        </p:txBody>
      </p:sp>
      <p:sp>
        <p:nvSpPr>
          <p:cNvPr id="5" name="Footer Placeholder 4">
            <a:extLst>
              <a:ext uri="{FF2B5EF4-FFF2-40B4-BE49-F238E27FC236}">
                <a16:creationId xmlns:a16="http://schemas.microsoft.com/office/drawing/2014/main" id="{1381A1F4-C23D-A542-8760-8613DEFCF608}"/>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C77F9CC4-4BA3-364E-A5E5-50E554B6B1D9}"/>
              </a:ext>
            </a:extLst>
          </p:cNvPr>
          <p:cNvSpPr>
            <a:spLocks noGrp="1"/>
          </p:cNvSpPr>
          <p:nvPr>
            <p:ph type="sldNum" sz="quarter" idx="12"/>
          </p:nvPr>
        </p:nvSpPr>
        <p:spPr/>
        <p:txBody>
          <a:bodyPr/>
          <a:lstStyle/>
          <a:p>
            <a:pPr>
              <a:defRPr/>
            </a:pPr>
            <a:fld id="{79CCE042-F42E-624C-B7FB-6F04E028C1D8}" type="slidenum">
              <a:rPr lang="en-US" smtClean="0"/>
              <a:pPr>
                <a:defRPr/>
              </a:pPr>
              <a:t>4</a:t>
            </a:fld>
            <a:endParaRPr lang="en-US"/>
          </a:p>
        </p:txBody>
      </p:sp>
      <p:graphicFrame>
        <p:nvGraphicFramePr>
          <p:cNvPr id="7" name="Object 2">
            <a:extLst>
              <a:ext uri="{FF2B5EF4-FFF2-40B4-BE49-F238E27FC236}">
                <a16:creationId xmlns:a16="http://schemas.microsoft.com/office/drawing/2014/main" id="{26475C9D-F938-CD4B-B489-E90BA6EBA188}"/>
              </a:ext>
            </a:extLst>
          </p:cNvPr>
          <p:cNvGraphicFramePr>
            <a:graphicFrameLocks noChangeAspect="1"/>
          </p:cNvGraphicFramePr>
          <p:nvPr>
            <p:extLst>
              <p:ext uri="{D42A27DB-BD31-4B8C-83A1-F6EECF244321}">
                <p14:modId xmlns:p14="http://schemas.microsoft.com/office/powerpoint/2010/main" val="462612344"/>
              </p:ext>
            </p:extLst>
          </p:nvPr>
        </p:nvGraphicFramePr>
        <p:xfrm>
          <a:off x="7417089" y="1251870"/>
          <a:ext cx="1150649" cy="361395"/>
        </p:xfrm>
        <a:graphic>
          <a:graphicData uri="http://schemas.openxmlformats.org/presentationml/2006/ole">
            <mc:AlternateContent xmlns:mc="http://schemas.openxmlformats.org/markup-compatibility/2006">
              <mc:Choice xmlns:v="urn:schemas-microsoft-com:vml" Requires="v">
                <p:oleObj spid="_x0000_s56502" name="Equation" r:id="rId3" imgW="647419" imgH="203112" progId="Equation.3">
                  <p:embed/>
                </p:oleObj>
              </mc:Choice>
              <mc:Fallback>
                <p:oleObj name="Equation" r:id="rId3" imgW="647419" imgH="203112" progId="Equation.3">
                  <p:embed/>
                  <p:pic>
                    <p:nvPicPr>
                      <p:cNvPr id="74854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7089" y="1251870"/>
                        <a:ext cx="1150649" cy="36139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 name="TextBox 7">
            <a:extLst>
              <a:ext uri="{FF2B5EF4-FFF2-40B4-BE49-F238E27FC236}">
                <a16:creationId xmlns:a16="http://schemas.microsoft.com/office/drawing/2014/main" id="{A804D684-F6ED-E542-8A45-74E733CD3648}"/>
              </a:ext>
            </a:extLst>
          </p:cNvPr>
          <p:cNvSpPr txBox="1">
            <a:spLocks noChangeArrowheads="1"/>
          </p:cNvSpPr>
          <p:nvPr/>
        </p:nvSpPr>
        <p:spPr bwMode="auto">
          <a:xfrm>
            <a:off x="1524722" y="1219694"/>
            <a:ext cx="598112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US" sz="1800" dirty="0">
                <a:solidFill>
                  <a:srgbClr val="0000FF"/>
                </a:solidFill>
              </a:rPr>
              <a:t>Conservation of volume becomes conservation of  mass:</a:t>
            </a:r>
          </a:p>
        </p:txBody>
      </p:sp>
      <p:graphicFrame>
        <p:nvGraphicFramePr>
          <p:cNvPr id="10" name="Object 4">
            <a:extLst>
              <a:ext uri="{FF2B5EF4-FFF2-40B4-BE49-F238E27FC236}">
                <a16:creationId xmlns:a16="http://schemas.microsoft.com/office/drawing/2014/main" id="{4B40EADF-4C92-DE43-9A13-EDA9BCBDB89B}"/>
              </a:ext>
            </a:extLst>
          </p:cNvPr>
          <p:cNvGraphicFramePr>
            <a:graphicFrameLocks noChangeAspect="1"/>
          </p:cNvGraphicFramePr>
          <p:nvPr>
            <p:extLst>
              <p:ext uri="{D42A27DB-BD31-4B8C-83A1-F6EECF244321}">
                <p14:modId xmlns:p14="http://schemas.microsoft.com/office/powerpoint/2010/main" val="4266185686"/>
              </p:ext>
            </p:extLst>
          </p:nvPr>
        </p:nvGraphicFramePr>
        <p:xfrm>
          <a:off x="575048" y="1291164"/>
          <a:ext cx="947103" cy="226391"/>
        </p:xfrm>
        <a:graphic>
          <a:graphicData uri="http://schemas.openxmlformats.org/presentationml/2006/ole">
            <mc:AlternateContent xmlns:mc="http://schemas.openxmlformats.org/markup-compatibility/2006">
              <mc:Choice xmlns:v="urn:schemas-microsoft-com:vml" Requires="v">
                <p:oleObj spid="_x0000_s56503" name="Equation" r:id="rId5" imgW="533400" imgH="127000" progId="Equation.3">
                  <p:embed/>
                </p:oleObj>
              </mc:Choice>
              <mc:Fallback>
                <p:oleObj name="Equation" r:id="rId5" imgW="533400" imgH="127000" progId="Equation.3">
                  <p:embed/>
                  <p:pic>
                    <p:nvPicPr>
                      <p:cNvPr id="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048" y="1291164"/>
                        <a:ext cx="947103" cy="22639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11" name="TextBox 9">
            <a:extLst>
              <a:ext uri="{FF2B5EF4-FFF2-40B4-BE49-F238E27FC236}">
                <a16:creationId xmlns:a16="http://schemas.microsoft.com/office/drawing/2014/main" id="{5C19C5C5-1921-E94E-98D7-FF5EDB4028D7}"/>
              </a:ext>
            </a:extLst>
          </p:cNvPr>
          <p:cNvSpPr txBox="1">
            <a:spLocks noChangeArrowheads="1"/>
          </p:cNvSpPr>
          <p:nvPr/>
        </p:nvSpPr>
        <p:spPr bwMode="auto">
          <a:xfrm>
            <a:off x="539552" y="1793874"/>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US" sz="1800" dirty="0">
                <a:solidFill>
                  <a:srgbClr val="0000FF"/>
                </a:solidFill>
              </a:rPr>
              <a:t>Substitution of volumetric flow rate </a:t>
            </a:r>
            <a:r>
              <a:rPr lang="en-US" sz="1800" b="1" u="sng" dirty="0">
                <a:solidFill>
                  <a:srgbClr val="0000FF"/>
                </a:solidFill>
              </a:rPr>
              <a:t>u</a:t>
            </a:r>
            <a:r>
              <a:rPr lang="en-US" sz="1800" dirty="0">
                <a:solidFill>
                  <a:srgbClr val="0000FF"/>
                </a:solidFill>
              </a:rPr>
              <a:t> by Darcy</a:t>
            </a:r>
            <a:r>
              <a:rPr lang="en-AU" sz="1800" dirty="0">
                <a:solidFill>
                  <a:srgbClr val="0000FF"/>
                </a:solidFill>
              </a:rPr>
              <a:t>’</a:t>
            </a:r>
            <a:r>
              <a:rPr lang="en-US" altLang="ja-JP" sz="1800" dirty="0">
                <a:solidFill>
                  <a:srgbClr val="0000FF"/>
                </a:solidFill>
              </a:rPr>
              <a:t>s law gives pressure equation</a:t>
            </a:r>
            <a:endParaRPr lang="en-US" sz="1800" dirty="0">
              <a:solidFill>
                <a:srgbClr val="0000FF"/>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564D7C1-CB5D-8248-8525-14059AAE1C2E}"/>
                  </a:ext>
                </a:extLst>
              </p:cNvPr>
              <p:cNvSpPr txBox="1"/>
              <p:nvPr/>
            </p:nvSpPr>
            <p:spPr>
              <a:xfrm>
                <a:off x="2051720" y="2432548"/>
                <a:ext cx="5184576" cy="56951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 ∙</m:t>
                      </m:r>
                      <m:r>
                        <a:rPr lang="en-AU" b="0" i="1" smtClean="0">
                          <a:latin typeface="Cambria Math" panose="02040503050406030204" pitchFamily="18" charset="0"/>
                          <a:ea typeface="Cambria Math" panose="02040503050406030204" pitchFamily="18" charset="0"/>
                        </a:rPr>
                        <m:t>𝜌</m:t>
                      </m:r>
                      <m:d>
                        <m:dPr>
                          <m:begChr m:val="["/>
                          <m:endChr m:val="]"/>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𝐴</m:t>
                              </m:r>
                              <m:r>
                                <a:rPr lang="en-AU" b="1" i="1" smtClean="0">
                                  <a:latin typeface="Cambria Math" panose="02040503050406030204" pitchFamily="18" charset="0"/>
                                  <a:ea typeface="Cambria Math" panose="02040503050406030204" pitchFamily="18" charset="0"/>
                                </a:rPr>
                                <m:t>𝒌</m:t>
                              </m:r>
                            </m:num>
                            <m:den>
                              <m:r>
                                <a:rPr lang="en-AU" b="0" i="1" smtClean="0">
                                  <a:latin typeface="Cambria Math" panose="02040503050406030204" pitchFamily="18" charset="0"/>
                                  <a:ea typeface="Cambria Math" panose="02040503050406030204" pitchFamily="18" charset="0"/>
                                </a:rPr>
                                <m:t>𝜇</m:t>
                              </m:r>
                            </m:den>
                          </m:f>
                          <m:d>
                            <m:dPr>
                              <m:ctrlPr>
                                <a:rPr lang="en-AU" b="0" i="1" smtClean="0">
                                  <a:latin typeface="Cambria Math" panose="02040503050406030204" pitchFamily="18" charset="0"/>
                                  <a:ea typeface="Cambria Math" panose="02040503050406030204" pitchFamily="18" charset="0"/>
                                </a:rPr>
                              </m:ctrlPr>
                            </m:dPr>
                            <m:e>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𝑝</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𝜌</m:t>
                              </m:r>
                              <m:r>
                                <a:rPr lang="en-AU" b="0" i="1" smtClean="0">
                                  <a:latin typeface="Cambria Math" panose="02040503050406030204" pitchFamily="18" charset="0"/>
                                  <a:ea typeface="Cambria Math" panose="02040503050406030204" pitchFamily="18" charset="0"/>
                                </a:rPr>
                                <m:t>𝑔</m:t>
                              </m:r>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𝑧</m:t>
                              </m:r>
                            </m:e>
                          </m:d>
                        </m:e>
                      </m:d>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𝑄</m:t>
                      </m:r>
                    </m:oMath>
                  </m:oMathPara>
                </a14:m>
                <a:endParaRPr lang="en-US" dirty="0"/>
              </a:p>
            </p:txBody>
          </p:sp>
        </mc:Choice>
        <mc:Fallback xmlns="">
          <p:sp>
            <p:nvSpPr>
              <p:cNvPr id="17" name="TextBox 16">
                <a:extLst>
                  <a:ext uri="{FF2B5EF4-FFF2-40B4-BE49-F238E27FC236}">
                    <a16:creationId xmlns:a16="http://schemas.microsoft.com/office/drawing/2014/main" id="{8564D7C1-CB5D-8248-8525-14059AAE1C2E}"/>
                  </a:ext>
                </a:extLst>
              </p:cNvPr>
              <p:cNvSpPr txBox="1">
                <a:spLocks noRot="1" noChangeAspect="1" noMove="1" noResize="1" noEditPoints="1" noAdjustHandles="1" noChangeArrowheads="1" noChangeShapeType="1" noTextEdit="1"/>
              </p:cNvSpPr>
              <p:nvPr/>
            </p:nvSpPr>
            <p:spPr>
              <a:xfrm>
                <a:off x="2051720" y="2432548"/>
                <a:ext cx="5184576" cy="569515"/>
              </a:xfrm>
              <a:prstGeom prst="rect">
                <a:avLst/>
              </a:prstGeom>
              <a:blipFill>
                <a:blip r:embed="rId7"/>
                <a:stretch>
                  <a:fillRect t="-4545" b="-11364"/>
                </a:stretch>
              </a:blipFill>
            </p:spPr>
            <p:txBody>
              <a:bodyPr/>
              <a:lstStyle/>
              <a:p>
                <a:r>
                  <a:rPr lang="en-US">
                    <a:noFill/>
                  </a:rPr>
                  <a:t> </a:t>
                </a:r>
              </a:p>
            </p:txBody>
          </p:sp>
        </mc:Fallback>
      </mc:AlternateContent>
      <p:sp>
        <p:nvSpPr>
          <p:cNvPr id="19" name="TextBox 9">
            <a:extLst>
              <a:ext uri="{FF2B5EF4-FFF2-40B4-BE49-F238E27FC236}">
                <a16:creationId xmlns:a16="http://schemas.microsoft.com/office/drawing/2014/main" id="{685C0DFF-0C86-B548-B226-383F8C75FC69}"/>
              </a:ext>
            </a:extLst>
          </p:cNvPr>
          <p:cNvSpPr txBox="1">
            <a:spLocks noChangeArrowheads="1"/>
          </p:cNvSpPr>
          <p:nvPr/>
        </p:nvSpPr>
        <p:spPr bwMode="auto">
          <a:xfrm>
            <a:off x="590866" y="3209897"/>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Introducing time (continuity equation) / total systems compressibility, </a:t>
            </a:r>
            <a:r>
              <a:rPr lang="en-AU" sz="1800" i="1" dirty="0" err="1">
                <a:solidFill>
                  <a:srgbClr val="0000FF"/>
                </a:solidFill>
              </a:rPr>
              <a:t>c</a:t>
            </a:r>
            <a:r>
              <a:rPr lang="en-AU" sz="1800" i="1" baseline="-25000" dirty="0" err="1">
                <a:solidFill>
                  <a:srgbClr val="0000FF"/>
                </a:solidFill>
              </a:rPr>
              <a:t>t</a:t>
            </a:r>
            <a:endParaRPr lang="en-US" sz="1800" i="1" baseline="-25000" dirty="0">
              <a:solidFill>
                <a:srgbClr val="0000FF"/>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74790AB-5FDF-B847-925A-A093CB518285}"/>
                  </a:ext>
                </a:extLst>
              </p:cNvPr>
              <p:cNvSpPr txBox="1"/>
              <p:nvPr/>
            </p:nvSpPr>
            <p:spPr>
              <a:xfrm>
                <a:off x="2007761" y="3746027"/>
                <a:ext cx="5184576" cy="5876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𝜙𝜌</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𝑐</m:t>
                          </m:r>
                        </m:e>
                        <m:sub>
                          <m:r>
                            <a:rPr lang="en-AU" b="0" i="1" smtClean="0">
                              <a:latin typeface="Cambria Math" panose="02040503050406030204" pitchFamily="18" charset="0"/>
                              <a:ea typeface="Cambria Math" panose="02040503050406030204" pitchFamily="18" charset="0"/>
                            </a:rPr>
                            <m:t>𝑡</m:t>
                          </m:r>
                        </m:sub>
                      </m:sSub>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𝑝</m:t>
                          </m:r>
                        </m:num>
                        <m:den>
                          <m: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den>
                      </m:f>
                      <m:r>
                        <a:rPr lang="en-AU" b="0" i="1" smtClean="0">
                          <a:latin typeface="Cambria Math" panose="02040503050406030204" pitchFamily="18" charset="0"/>
                          <a:ea typeface="Cambria Math" panose="02040503050406030204" pitchFamily="18" charset="0"/>
                        </a:rPr>
                        <m:t>−</m:t>
                      </m:r>
                      <m:r>
                        <m:rPr>
                          <m:sty m:val="p"/>
                        </m:rP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 ∙</m:t>
                      </m:r>
                      <m:r>
                        <a:rPr lang="en-AU" b="0" i="1" smtClean="0">
                          <a:latin typeface="Cambria Math" panose="02040503050406030204" pitchFamily="18" charset="0"/>
                          <a:ea typeface="Cambria Math" panose="02040503050406030204" pitchFamily="18" charset="0"/>
                        </a:rPr>
                        <m:t>𝜌</m:t>
                      </m:r>
                      <m:d>
                        <m:dPr>
                          <m:begChr m:val="["/>
                          <m:endChr m:val="]"/>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𝐴</m:t>
                              </m:r>
                              <m:r>
                                <a:rPr lang="en-AU" b="1" i="1" smtClean="0">
                                  <a:latin typeface="Cambria Math" panose="02040503050406030204" pitchFamily="18" charset="0"/>
                                  <a:ea typeface="Cambria Math" panose="02040503050406030204" pitchFamily="18" charset="0"/>
                                </a:rPr>
                                <m:t>𝒌</m:t>
                              </m:r>
                            </m:num>
                            <m:den>
                              <m:r>
                                <a:rPr lang="en-AU" b="0" i="1" smtClean="0">
                                  <a:latin typeface="Cambria Math" panose="02040503050406030204" pitchFamily="18" charset="0"/>
                                  <a:ea typeface="Cambria Math" panose="02040503050406030204" pitchFamily="18" charset="0"/>
                                </a:rPr>
                                <m:t>𝜇</m:t>
                              </m:r>
                            </m:den>
                          </m:f>
                          <m:d>
                            <m:dPr>
                              <m:ctrlPr>
                                <a:rPr lang="en-AU" b="0" i="1" smtClean="0">
                                  <a:latin typeface="Cambria Math" panose="02040503050406030204" pitchFamily="18" charset="0"/>
                                  <a:ea typeface="Cambria Math" panose="02040503050406030204" pitchFamily="18" charset="0"/>
                                </a:rPr>
                              </m:ctrlPr>
                            </m:dPr>
                            <m:e>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𝑝</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𝜌</m:t>
                              </m:r>
                              <m:r>
                                <a:rPr lang="en-AU" b="0" i="1" smtClean="0">
                                  <a:latin typeface="Cambria Math" panose="02040503050406030204" pitchFamily="18" charset="0"/>
                                  <a:ea typeface="Cambria Math" panose="02040503050406030204" pitchFamily="18" charset="0"/>
                                </a:rPr>
                                <m:t>𝑔</m:t>
                              </m:r>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𝑧</m:t>
                              </m:r>
                            </m:e>
                          </m:d>
                        </m:e>
                      </m:d>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𝑄</m:t>
                      </m:r>
                    </m:oMath>
                  </m:oMathPara>
                </a14:m>
                <a:endParaRPr lang="en-US" dirty="0"/>
              </a:p>
            </p:txBody>
          </p:sp>
        </mc:Choice>
        <mc:Fallback xmlns="">
          <p:sp>
            <p:nvSpPr>
              <p:cNvPr id="20" name="TextBox 19">
                <a:extLst>
                  <a:ext uri="{FF2B5EF4-FFF2-40B4-BE49-F238E27FC236}">
                    <a16:creationId xmlns:a16="http://schemas.microsoft.com/office/drawing/2014/main" id="{374790AB-5FDF-B847-925A-A093CB518285}"/>
                  </a:ext>
                </a:extLst>
              </p:cNvPr>
              <p:cNvSpPr txBox="1">
                <a:spLocks noRot="1" noChangeAspect="1" noMove="1" noResize="1" noEditPoints="1" noAdjustHandles="1" noChangeArrowheads="1" noChangeShapeType="1" noTextEdit="1"/>
              </p:cNvSpPr>
              <p:nvPr/>
            </p:nvSpPr>
            <p:spPr>
              <a:xfrm>
                <a:off x="2007761" y="3746027"/>
                <a:ext cx="5184576" cy="587661"/>
              </a:xfrm>
              <a:prstGeom prst="rect">
                <a:avLst/>
              </a:prstGeom>
              <a:blipFill>
                <a:blip r:embed="rId8"/>
                <a:stretch>
                  <a:fillRect t="-2128" b="-6383"/>
                </a:stretch>
              </a:blipFill>
            </p:spPr>
            <p:txBody>
              <a:bodyPr/>
              <a:lstStyle/>
              <a:p>
                <a:r>
                  <a:rPr lang="en-US">
                    <a:noFill/>
                  </a:rPr>
                  <a:t> </a:t>
                </a:r>
              </a:p>
            </p:txBody>
          </p:sp>
        </mc:Fallback>
      </mc:AlternateContent>
      <p:sp>
        <p:nvSpPr>
          <p:cNvPr id="22" name="TextBox 9">
            <a:extLst>
              <a:ext uri="{FF2B5EF4-FFF2-40B4-BE49-F238E27FC236}">
                <a16:creationId xmlns:a16="http://schemas.microsoft.com/office/drawing/2014/main" id="{A8D0106B-3892-A946-8F79-9EEE05DEF133}"/>
              </a:ext>
            </a:extLst>
          </p:cNvPr>
          <p:cNvSpPr txBox="1">
            <a:spLocks noChangeArrowheads="1"/>
          </p:cNvSpPr>
          <p:nvPr/>
        </p:nvSpPr>
        <p:spPr bwMode="auto">
          <a:xfrm>
            <a:off x="585412" y="4724042"/>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Backward-Euler FD time discretisation</a:t>
            </a:r>
            <a:endParaRPr lang="en-US" sz="1800" dirty="0">
              <a:solidFill>
                <a:srgbClr val="0000FF"/>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07522FA-43C9-6A42-B61F-BF406F7415AE}"/>
                  </a:ext>
                </a:extLst>
              </p:cNvPr>
              <p:cNvSpPr txBox="1"/>
              <p:nvPr/>
            </p:nvSpPr>
            <p:spPr>
              <a:xfrm>
                <a:off x="606564" y="5320339"/>
                <a:ext cx="8124853" cy="616387"/>
              </a:xfrm>
              <a:prstGeom prst="rect">
                <a:avLst/>
              </a:prstGeom>
              <a:noFill/>
            </p:spPr>
            <p:txBody>
              <a:bodyPr wrap="none" lIns="0" tIns="0" rIns="0" bIns="0" rtlCol="0">
                <a:spAutoFit/>
              </a:bodyPr>
              <a:lstStyle/>
              <a:p>
                <a14:m>
                  <m:oMath xmlns:m="http://schemas.openxmlformats.org/officeDocument/2006/math">
                    <m:d>
                      <m:dPr>
                        <m:begChr m:val="["/>
                        <m:endChr m:val="]"/>
                        <m:ctrlPr>
                          <a:rPr lang="en-US" i="1" smtClean="0">
                            <a:latin typeface="Cambria Math" panose="02040503050406030204" pitchFamily="18" charset="0"/>
                          </a:rPr>
                        </m:ctrlPr>
                      </m:dPr>
                      <m:e>
                        <m:r>
                          <a:rPr lang="en-AU" b="0" i="1" smtClean="0">
                            <a:latin typeface="Cambria Math" panose="02040503050406030204" pitchFamily="18" charset="0"/>
                          </a:rPr>
                          <m:t>𝑁𝑁</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𝜙𝜌</m:t>
                                </m:r>
                                <m:sSub>
                                  <m:sSubPr>
                                    <m:ctrlPr>
                                      <a:rPr lang="en-US"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𝑐</m:t>
                                    </m:r>
                                  </m:e>
                                  <m:sub>
                                    <m:r>
                                      <a:rPr lang="en-AU" i="1">
                                        <a:latin typeface="Cambria Math" panose="02040503050406030204" pitchFamily="18" charset="0"/>
                                        <a:ea typeface="Cambria Math" panose="02040503050406030204" pitchFamily="18" charset="0"/>
                                      </a:rPr>
                                      <m:t>𝑡</m:t>
                                    </m:r>
                                  </m:sub>
                                </m:sSub>
                              </m:e>
                            </m:d>
                          </m:num>
                          <m:den>
                            <m:r>
                              <a:rPr lang="en-US"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𝑡</m:t>
                            </m:r>
                          </m:den>
                        </m:f>
                        <m:r>
                          <a:rPr lang="en-AU" i="1">
                            <a:latin typeface="Cambria Math" panose="02040503050406030204" pitchFamily="18" charset="0"/>
                          </a:rPr>
                          <m:t>+</m:t>
                        </m:r>
                        <m:r>
                          <a:rPr lang="en-AU" b="0" i="1" smtClean="0">
                            <a:latin typeface="Cambria Math" panose="02040503050406030204" pitchFamily="18" charset="0"/>
                          </a:rPr>
                          <m:t>𝐷𝑁</m:t>
                        </m:r>
                        <m:d>
                          <m:dPr>
                            <m:begChr m:val="["/>
                            <m:endChr m:val="]"/>
                            <m:ctrlPr>
                              <a:rPr lang="en-AU" i="1">
                                <a:latin typeface="Cambria Math" panose="02040503050406030204" pitchFamily="18" charset="0"/>
                              </a:rPr>
                            </m:ctrlPr>
                          </m:dPr>
                          <m:e>
                            <m:f>
                              <m:fPr>
                                <m:ctrlPr>
                                  <a:rPr lang="en-AU" i="1">
                                    <a:latin typeface="Cambria Math" panose="02040503050406030204" pitchFamily="18" charset="0"/>
                                  </a:rPr>
                                </m:ctrlPr>
                              </m:fPr>
                              <m:num>
                                <m:r>
                                  <a:rPr lang="en-AU" i="1">
                                    <a:latin typeface="Cambria Math" panose="02040503050406030204" pitchFamily="18" charset="0"/>
                                    <a:ea typeface="Cambria Math" panose="02040503050406030204" pitchFamily="18" charset="0"/>
                                  </a:rPr>
                                  <m:t>𝜌</m:t>
                                </m:r>
                                <m:r>
                                  <a:rPr lang="en-AU" i="1">
                                    <a:latin typeface="Cambria Math" panose="02040503050406030204" pitchFamily="18" charset="0"/>
                                    <a:ea typeface="Cambria Math" panose="02040503050406030204" pitchFamily="18" charset="0"/>
                                  </a:rPr>
                                  <m:t>𝐴</m:t>
                                </m:r>
                                <m:r>
                                  <a:rPr lang="en-AU" b="1" i="1">
                                    <a:latin typeface="Cambria Math" panose="02040503050406030204" pitchFamily="18" charset="0"/>
                                    <a:ea typeface="Cambria Math" panose="02040503050406030204" pitchFamily="18" charset="0"/>
                                  </a:rPr>
                                  <m:t>𝒌</m:t>
                                </m:r>
                              </m:num>
                              <m:den>
                                <m:r>
                                  <a:rPr lang="en-AU" i="1">
                                    <a:latin typeface="Cambria Math" panose="02040503050406030204" pitchFamily="18" charset="0"/>
                                    <a:ea typeface="Cambria Math" panose="02040503050406030204" pitchFamily="18" charset="0"/>
                                  </a:rPr>
                                  <m:t>𝜇</m:t>
                                </m:r>
                              </m:den>
                            </m:f>
                          </m:e>
                        </m:d>
                      </m:e>
                    </m:d>
                    <m:sSub>
                      <m:sSubPr>
                        <m:ctrlPr>
                          <a:rPr lang="en-US" i="1" smtClean="0">
                            <a:latin typeface="Cambria Math" panose="02040503050406030204" pitchFamily="18" charset="0"/>
                          </a:rPr>
                        </m:ctrlPr>
                      </m:sSubPr>
                      <m:e>
                        <m:d>
                          <m:dPr>
                            <m:begChr m:val="{"/>
                            <m:endChr m:val="}"/>
                            <m:ctrlPr>
                              <a:rPr lang="en-US" i="1">
                                <a:latin typeface="Cambria Math" panose="02040503050406030204" pitchFamily="18" charset="0"/>
                              </a:rPr>
                            </m:ctrlPr>
                          </m:dPr>
                          <m:e>
                            <m:r>
                              <a:rPr lang="en-AU" i="1">
                                <a:latin typeface="Cambria Math" panose="02040503050406030204" pitchFamily="18" charset="0"/>
                              </a:rPr>
                              <m:t>𝑝</m:t>
                            </m:r>
                          </m:e>
                        </m:d>
                      </m:e>
                      <m:sub>
                        <m:r>
                          <a:rPr lang="en-AU" b="0" i="1" smtClean="0">
                            <a:latin typeface="Cambria Math" panose="02040503050406030204" pitchFamily="18" charset="0"/>
                          </a:rPr>
                          <m:t>𝑡</m:t>
                        </m:r>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sub>
                    </m:sSub>
                    <m:r>
                      <a:rPr lang="en-AU" b="0" i="1" smtClean="0">
                        <a:latin typeface="Cambria Math" panose="02040503050406030204" pitchFamily="18" charset="0"/>
                      </a:rPr>
                      <m:t>=</m:t>
                    </m:r>
                  </m:oMath>
                </a14:m>
                <a:r>
                  <a:rPr lang="en-US" dirty="0"/>
                  <a:t> </a:t>
                </a:r>
                <a14:m>
                  <m:oMath xmlns:m="http://schemas.openxmlformats.org/officeDocument/2006/math">
                    <m:r>
                      <a:rPr lang="en-AU" b="0" i="1" smtClean="0">
                        <a:latin typeface="Cambria Math" panose="02040503050406030204" pitchFamily="18" charset="0"/>
                      </a:rPr>
                      <m:t>𝑁𝑁</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𝜙𝜌</m:t>
                            </m:r>
                            <m:sSub>
                              <m:sSubPr>
                                <m:ctrlPr>
                                  <a:rPr lang="en-US"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𝑐</m:t>
                                </m:r>
                              </m:e>
                              <m:sub>
                                <m:r>
                                  <a:rPr lang="en-AU" i="1">
                                    <a:latin typeface="Cambria Math" panose="02040503050406030204" pitchFamily="18" charset="0"/>
                                    <a:ea typeface="Cambria Math" panose="02040503050406030204" pitchFamily="18" charset="0"/>
                                  </a:rPr>
                                  <m:t>𝑡</m:t>
                                </m:r>
                              </m:sub>
                            </m:sSub>
                          </m:e>
                        </m:d>
                      </m:num>
                      <m:den>
                        <m:r>
                          <a:rPr lang="en-US"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𝑡</m:t>
                        </m:r>
                      </m:den>
                    </m:f>
                    <m:r>
                      <a:rPr lang="en-AU"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AU" i="1">
                                <a:latin typeface="Cambria Math" panose="02040503050406030204" pitchFamily="18" charset="0"/>
                              </a:rPr>
                              <m:t>𝑝</m:t>
                            </m:r>
                          </m:e>
                        </m:d>
                      </m:e>
                      <m:sub>
                        <m:r>
                          <a:rPr lang="en-AU" i="1">
                            <a:latin typeface="Cambria Math" panose="02040503050406030204" pitchFamily="18" charset="0"/>
                          </a:rPr>
                          <m:t>𝑡</m:t>
                        </m:r>
                      </m:sub>
                    </m:sSub>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𝐷𝑁𝑁</m:t>
                    </m:r>
                    <m:sSub>
                      <m:sSubPr>
                        <m:ctrlPr>
                          <a:rPr lang="en-AU" b="0" i="1" smtClean="0">
                            <a:latin typeface="Cambria Math" panose="02040503050406030204" pitchFamily="18" charset="0"/>
                            <a:ea typeface="Cambria Math" panose="02040503050406030204" pitchFamily="18" charset="0"/>
                          </a:rPr>
                        </m:ctrlPr>
                      </m:sSubPr>
                      <m:e>
                        <m:d>
                          <m:dPr>
                            <m:begChr m:val="{"/>
                            <m:endChr m:val="}"/>
                            <m:ctrlPr>
                              <a:rPr lang="en-AU" i="1">
                                <a:latin typeface="Cambria Math" panose="02040503050406030204" pitchFamily="18" charset="0"/>
                                <a:ea typeface="Cambria Math" panose="02040503050406030204" pitchFamily="18" charset="0"/>
                              </a:rPr>
                            </m:ctrlPr>
                          </m:dPr>
                          <m:e>
                            <m:f>
                              <m:fPr>
                                <m:ctrlPr>
                                  <a:rPr lang="en-AU" i="1">
                                    <a:latin typeface="Cambria Math" panose="02040503050406030204" pitchFamily="18" charset="0"/>
                                  </a:rPr>
                                </m:ctrlPr>
                              </m:fPr>
                              <m:num>
                                <m:r>
                                  <a:rPr lang="en-AU" i="1">
                                    <a:latin typeface="Cambria Math" panose="02040503050406030204" pitchFamily="18" charset="0"/>
                                    <a:ea typeface="Cambria Math" panose="02040503050406030204" pitchFamily="18" charset="0"/>
                                  </a:rPr>
                                  <m:t>𝜌</m:t>
                                </m:r>
                                <m:r>
                                  <a:rPr lang="en-AU" i="1">
                                    <a:latin typeface="Cambria Math" panose="02040503050406030204" pitchFamily="18" charset="0"/>
                                    <a:ea typeface="Cambria Math" panose="02040503050406030204" pitchFamily="18" charset="0"/>
                                  </a:rPr>
                                  <m:t>𝐴</m:t>
                                </m:r>
                                <m:r>
                                  <a:rPr lang="en-AU" b="1" i="1">
                                    <a:latin typeface="Cambria Math" panose="02040503050406030204" pitchFamily="18" charset="0"/>
                                    <a:ea typeface="Cambria Math" panose="02040503050406030204" pitchFamily="18" charset="0"/>
                                  </a:rPr>
                                  <m:t>𝒌</m:t>
                                </m:r>
                              </m:num>
                              <m:den>
                                <m:r>
                                  <a:rPr lang="en-AU" i="1">
                                    <a:latin typeface="Cambria Math" panose="02040503050406030204" pitchFamily="18" charset="0"/>
                                    <a:ea typeface="Cambria Math" panose="02040503050406030204" pitchFamily="18" charset="0"/>
                                  </a:rPr>
                                  <m:t>𝜇</m:t>
                                </m:r>
                              </m:den>
                            </m:f>
                            <m:r>
                              <a:rPr lang="en-AU" i="1">
                                <a:latin typeface="Cambria Math" panose="02040503050406030204" pitchFamily="18" charset="0"/>
                                <a:ea typeface="Cambria Math" panose="02040503050406030204" pitchFamily="18" charset="0"/>
                              </a:rPr>
                              <m:t>𝑔</m:t>
                            </m:r>
                            <m:r>
                              <m:rPr>
                                <m:sty m:val="p"/>
                              </m:rP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𝑧</m:t>
                            </m:r>
                          </m:e>
                        </m:d>
                      </m:e>
                      <m:sub>
                        <m:r>
                          <a:rPr lang="en-AU" i="1">
                            <a:latin typeface="Cambria Math" panose="02040503050406030204" pitchFamily="18" charset="0"/>
                            <a:ea typeface="Cambria Math" panose="02040503050406030204" pitchFamily="18" charset="0"/>
                          </a:rPr>
                          <m:t>𝑡</m:t>
                        </m:r>
                        <m:r>
                          <a:rPr lang="en-AU" i="1">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sub>
                    </m:sSub>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𝑁𝑁𝑄</m:t>
                        </m:r>
                      </m:e>
                      <m:sub>
                        <m:r>
                          <a:rPr lang="en-AU" b="0" i="1" smtClean="0">
                            <a:latin typeface="Cambria Math" panose="02040503050406030204" pitchFamily="18" charset="0"/>
                            <a:ea typeface="Cambria Math" panose="02040503050406030204" pitchFamily="18" charset="0"/>
                          </a:rPr>
                          <m:t>𝑚</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sub>
                    </m:sSub>
                  </m:oMath>
                </a14:m>
                <a:endParaRPr lang="en-US" dirty="0"/>
              </a:p>
            </p:txBody>
          </p:sp>
        </mc:Choice>
        <mc:Fallback xmlns="">
          <p:sp>
            <p:nvSpPr>
              <p:cNvPr id="23" name="TextBox 22">
                <a:extLst>
                  <a:ext uri="{FF2B5EF4-FFF2-40B4-BE49-F238E27FC236}">
                    <a16:creationId xmlns:a16="http://schemas.microsoft.com/office/drawing/2014/main" id="{E07522FA-43C9-6A42-B61F-BF406F7415AE}"/>
                  </a:ext>
                </a:extLst>
              </p:cNvPr>
              <p:cNvSpPr txBox="1">
                <a:spLocks noRot="1" noChangeAspect="1" noMove="1" noResize="1" noEditPoints="1" noAdjustHandles="1" noChangeArrowheads="1" noChangeShapeType="1" noTextEdit="1"/>
              </p:cNvSpPr>
              <p:nvPr/>
            </p:nvSpPr>
            <p:spPr>
              <a:xfrm>
                <a:off x="606564" y="5320339"/>
                <a:ext cx="8124853" cy="616387"/>
              </a:xfrm>
              <a:prstGeom prst="rect">
                <a:avLst/>
              </a:prstGeom>
              <a:blipFill>
                <a:blip r:embed="rId9"/>
                <a:stretch>
                  <a:fillRect b="-2041"/>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FFE525A-E321-2B49-9AE7-2951FC98A66B}"/>
              </a:ext>
            </a:extLst>
          </p:cNvPr>
          <p:cNvSpPr txBox="1"/>
          <p:nvPr/>
        </p:nvSpPr>
        <p:spPr>
          <a:xfrm>
            <a:off x="1475243" y="5940763"/>
            <a:ext cx="532518" cy="369332"/>
          </a:xfrm>
          <a:prstGeom prst="rect">
            <a:avLst/>
          </a:prstGeom>
          <a:noFill/>
        </p:spPr>
        <p:txBody>
          <a:bodyPr wrap="none" rtlCol="0">
            <a:spAutoFit/>
          </a:bodyPr>
          <a:lstStyle/>
          <a:p>
            <a:r>
              <a:rPr lang="en-US" dirty="0"/>
              <a:t>LHS</a:t>
            </a:r>
          </a:p>
        </p:txBody>
      </p:sp>
      <p:sp>
        <p:nvSpPr>
          <p:cNvPr id="15" name="TextBox 14">
            <a:extLst>
              <a:ext uri="{FF2B5EF4-FFF2-40B4-BE49-F238E27FC236}">
                <a16:creationId xmlns:a16="http://schemas.microsoft.com/office/drawing/2014/main" id="{DAE441B6-9EC5-D948-B59C-6AACB5C609BB}"/>
              </a:ext>
            </a:extLst>
          </p:cNvPr>
          <p:cNvSpPr txBox="1"/>
          <p:nvPr/>
        </p:nvSpPr>
        <p:spPr>
          <a:xfrm>
            <a:off x="3916395" y="5944949"/>
            <a:ext cx="559769" cy="369332"/>
          </a:xfrm>
          <a:prstGeom prst="rect">
            <a:avLst/>
          </a:prstGeom>
          <a:noFill/>
        </p:spPr>
        <p:txBody>
          <a:bodyPr wrap="none" rtlCol="0">
            <a:spAutoFit/>
          </a:bodyPr>
          <a:lstStyle/>
          <a:p>
            <a:r>
              <a:rPr lang="en-US" dirty="0"/>
              <a:t>RHS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C39C87-32C3-1441-AE97-EB36D73CB3AB}"/>
                  </a:ext>
                </a:extLst>
              </p:cNvPr>
              <p:cNvSpPr txBox="1"/>
              <p:nvPr/>
            </p:nvSpPr>
            <p:spPr>
              <a:xfrm>
                <a:off x="5294483" y="4379240"/>
                <a:ext cx="2198872"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𝑐</m:t>
                          </m:r>
                        </m:e>
                        <m:sub>
                          <m:r>
                            <a:rPr lang="en-AU" b="0" i="1" smtClean="0">
                              <a:latin typeface="Cambria Math" panose="02040503050406030204" pitchFamily="18" charset="0"/>
                            </a:rPr>
                            <m:t>𝑡</m:t>
                          </m:r>
                        </m:sub>
                      </m:sSub>
                      <m:r>
                        <a:rPr lang="en-AU" b="0" i="1" smtClean="0">
                          <a:latin typeface="Cambria Math" panose="02040503050406030204" pitchFamily="18" charset="0"/>
                        </a:rPr>
                        <m:t>=</m:t>
                      </m:r>
                      <m:r>
                        <a:rPr lang="en-AU" b="0" i="1" smtClean="0">
                          <a:latin typeface="Cambria Math" panose="02040503050406030204" pitchFamily="18" charset="0"/>
                        </a:rPr>
                        <m:t>𝜙</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𝛽</m:t>
                          </m:r>
                        </m:e>
                        <m:sub>
                          <m:r>
                            <a:rPr lang="en-AU" b="0" i="1" smtClean="0">
                              <a:latin typeface="Cambria Math" panose="02040503050406030204" pitchFamily="18" charset="0"/>
                            </a:rPr>
                            <m:t>𝑓</m:t>
                          </m:r>
                        </m:sub>
                      </m:sSub>
                      <m:r>
                        <a:rPr lang="en-AU" b="0" i="0" smtClean="0">
                          <a:latin typeface="Cambria Math" panose="02040503050406030204" pitchFamily="18" charset="0"/>
                        </a:rPr>
                        <m:t>+</m:t>
                      </m:r>
                      <m:d>
                        <m:dPr>
                          <m:ctrlPr>
                            <a:rPr lang="en-AU" b="0" i="1" smtClean="0">
                              <a:latin typeface="Cambria Math" panose="02040503050406030204" pitchFamily="18" charset="0"/>
                            </a:rPr>
                          </m:ctrlPr>
                        </m:dPr>
                        <m:e>
                          <m:r>
                            <a:rPr lang="en-AU" b="0" i="0" smtClean="0">
                              <a:latin typeface="Cambria Math" panose="02040503050406030204" pitchFamily="18" charset="0"/>
                            </a:rPr>
                            <m:t>1−</m:t>
                          </m:r>
                          <m:r>
                            <a:rPr lang="en-AU" b="0" i="1" smtClean="0">
                              <a:latin typeface="Cambria Math" panose="02040503050406030204" pitchFamily="18" charset="0"/>
                            </a:rPr>
                            <m:t>𝜙</m:t>
                          </m:r>
                        </m:e>
                      </m:d>
                      <m:sSub>
                        <m:sSubPr>
                          <m:ctrlPr>
                            <a:rPr lang="en-AU" b="0" i="1" smtClean="0">
                              <a:latin typeface="Cambria Math" panose="02040503050406030204" pitchFamily="18" charset="0"/>
                            </a:rPr>
                          </m:ctrlPr>
                        </m:sSubPr>
                        <m:e>
                          <m:r>
                            <a:rPr lang="en-AU" b="0" i="1" smtClean="0">
                              <a:latin typeface="Cambria Math" panose="02040503050406030204" pitchFamily="18" charset="0"/>
                            </a:rPr>
                            <m:t>𝛽</m:t>
                          </m:r>
                        </m:e>
                        <m:sub>
                          <m:r>
                            <a:rPr lang="en-AU" b="0" i="1" smtClean="0">
                              <a:latin typeface="Cambria Math" panose="02040503050406030204" pitchFamily="18" charset="0"/>
                            </a:rPr>
                            <m:t>𝑟</m:t>
                          </m:r>
                        </m:sub>
                      </m:sSub>
                    </m:oMath>
                  </m:oMathPara>
                </a14:m>
                <a:endParaRPr lang="en-US" dirty="0"/>
              </a:p>
            </p:txBody>
          </p:sp>
        </mc:Choice>
        <mc:Fallback xmlns="">
          <p:sp>
            <p:nvSpPr>
              <p:cNvPr id="4" name="TextBox 3">
                <a:extLst>
                  <a:ext uri="{FF2B5EF4-FFF2-40B4-BE49-F238E27FC236}">
                    <a16:creationId xmlns:a16="http://schemas.microsoft.com/office/drawing/2014/main" id="{9FC39C87-32C3-1441-AE97-EB36D73CB3AB}"/>
                  </a:ext>
                </a:extLst>
              </p:cNvPr>
              <p:cNvSpPr txBox="1">
                <a:spLocks noRot="1" noChangeAspect="1" noMove="1" noResize="1" noEditPoints="1" noAdjustHandles="1" noChangeArrowheads="1" noChangeShapeType="1" noTextEdit="1"/>
              </p:cNvSpPr>
              <p:nvPr/>
            </p:nvSpPr>
            <p:spPr>
              <a:xfrm>
                <a:off x="5294483" y="4379240"/>
                <a:ext cx="2198872" cy="299249"/>
              </a:xfrm>
              <a:prstGeom prst="rect">
                <a:avLst/>
              </a:prstGeom>
              <a:blipFill>
                <a:blip r:embed="rId10"/>
                <a:stretch>
                  <a:fillRect l="-575" b="-250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143019E5-607C-724B-BAA6-1E917555960E}"/>
              </a:ext>
            </a:extLst>
          </p:cNvPr>
          <p:cNvSpPr txBox="1"/>
          <p:nvPr/>
        </p:nvSpPr>
        <p:spPr>
          <a:xfrm>
            <a:off x="395536" y="5043340"/>
            <a:ext cx="1013419"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mass matrix</a:t>
            </a:r>
          </a:p>
        </p:txBody>
      </p:sp>
      <p:sp>
        <p:nvSpPr>
          <p:cNvPr id="21" name="TextBox 20">
            <a:extLst>
              <a:ext uri="{FF2B5EF4-FFF2-40B4-BE49-F238E27FC236}">
                <a16:creationId xmlns:a16="http://schemas.microsoft.com/office/drawing/2014/main" id="{E8F0CC0F-38B4-3E4D-8946-31B73D96801E}"/>
              </a:ext>
            </a:extLst>
          </p:cNvPr>
          <p:cNvSpPr txBox="1"/>
          <p:nvPr/>
        </p:nvSpPr>
        <p:spPr>
          <a:xfrm>
            <a:off x="3586630" y="5039228"/>
            <a:ext cx="1013419"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mass matrix</a:t>
            </a:r>
          </a:p>
        </p:txBody>
      </p:sp>
      <p:sp>
        <p:nvSpPr>
          <p:cNvPr id="24" name="TextBox 23">
            <a:extLst>
              <a:ext uri="{FF2B5EF4-FFF2-40B4-BE49-F238E27FC236}">
                <a16:creationId xmlns:a16="http://schemas.microsoft.com/office/drawing/2014/main" id="{D6D8AAD4-782F-9A48-ACE8-4F8EF791A183}"/>
              </a:ext>
            </a:extLst>
          </p:cNvPr>
          <p:cNvSpPr txBox="1"/>
          <p:nvPr/>
        </p:nvSpPr>
        <p:spPr>
          <a:xfrm>
            <a:off x="7447013" y="5035116"/>
            <a:ext cx="1013419"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mass matrix</a:t>
            </a:r>
          </a:p>
        </p:txBody>
      </p:sp>
      <p:sp>
        <p:nvSpPr>
          <p:cNvPr id="25" name="TextBox 24">
            <a:extLst>
              <a:ext uri="{FF2B5EF4-FFF2-40B4-BE49-F238E27FC236}">
                <a16:creationId xmlns:a16="http://schemas.microsoft.com/office/drawing/2014/main" id="{F43649B4-C0C5-7D4E-94E9-AD473A2872C8}"/>
              </a:ext>
            </a:extLst>
          </p:cNvPr>
          <p:cNvSpPr txBox="1"/>
          <p:nvPr/>
        </p:nvSpPr>
        <p:spPr>
          <a:xfrm>
            <a:off x="1740213" y="5046701"/>
            <a:ext cx="1515158"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conductance matrix</a:t>
            </a:r>
          </a:p>
        </p:txBody>
      </p:sp>
      <p:sp>
        <p:nvSpPr>
          <p:cNvPr id="26" name="TextBox 25">
            <a:extLst>
              <a:ext uri="{FF2B5EF4-FFF2-40B4-BE49-F238E27FC236}">
                <a16:creationId xmlns:a16="http://schemas.microsoft.com/office/drawing/2014/main" id="{88489874-9F52-A446-8896-B8382DB9ACFB}"/>
              </a:ext>
            </a:extLst>
          </p:cNvPr>
          <p:cNvSpPr txBox="1"/>
          <p:nvPr/>
        </p:nvSpPr>
        <p:spPr>
          <a:xfrm>
            <a:off x="5150575" y="5061683"/>
            <a:ext cx="1370888"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body-force matrix</a:t>
            </a:r>
          </a:p>
        </p:txBody>
      </p:sp>
    </p:spTree>
    <p:extLst>
      <p:ext uri="{BB962C8B-B14F-4D97-AF65-F5344CB8AC3E}">
        <p14:creationId xmlns:p14="http://schemas.microsoft.com/office/powerpoint/2010/main" val="92040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4710A-94BC-CF46-956B-DC5B5034B8BD}"/>
              </a:ext>
            </a:extLst>
          </p:cNvPr>
          <p:cNvSpPr>
            <a:spLocks noGrp="1"/>
          </p:cNvSpPr>
          <p:nvPr>
            <p:ph type="title"/>
          </p:nvPr>
        </p:nvSpPr>
        <p:spPr/>
        <p:txBody>
          <a:bodyPr/>
          <a:lstStyle/>
          <a:p>
            <a:r>
              <a:rPr lang="en-US" dirty="0"/>
              <a:t>Introducing saturations</a:t>
            </a:r>
          </a:p>
        </p:txBody>
      </p:sp>
      <p:sp>
        <p:nvSpPr>
          <p:cNvPr id="4" name="Date Placeholder 3">
            <a:extLst>
              <a:ext uri="{FF2B5EF4-FFF2-40B4-BE49-F238E27FC236}">
                <a16:creationId xmlns:a16="http://schemas.microsoft.com/office/drawing/2014/main" id="{E7E10BE5-6EC9-C449-BE7D-357B180EEC76}"/>
              </a:ext>
            </a:extLst>
          </p:cNvPr>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a:extLst>
              <a:ext uri="{FF2B5EF4-FFF2-40B4-BE49-F238E27FC236}">
                <a16:creationId xmlns:a16="http://schemas.microsoft.com/office/drawing/2014/main" id="{CEF6B6F4-64A3-094C-88A5-A5A745170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04809D-6C9F-A94D-AC41-A4E48C8B8164}"/>
              </a:ext>
            </a:extLst>
          </p:cNvPr>
          <p:cNvSpPr>
            <a:spLocks noGrp="1"/>
          </p:cNvSpPr>
          <p:nvPr>
            <p:ph type="sldNum" sz="quarter" idx="12"/>
          </p:nvPr>
        </p:nvSpPr>
        <p:spPr/>
        <p:txBody>
          <a:bodyPr/>
          <a:lstStyle/>
          <a:p>
            <a:fld id="{223FD816-CC6A-BF43-8241-637E3E7EAA5A}" type="slidenum">
              <a:rPr lang="en-US" smtClean="0"/>
              <a:pPr/>
              <a:t>5</a:t>
            </a:fld>
            <a:endParaRPr lang="en-US"/>
          </a:p>
        </p:txBody>
      </p:sp>
      <p:sp>
        <p:nvSpPr>
          <p:cNvPr id="8" name="Rectangle 2">
            <a:extLst>
              <a:ext uri="{FF2B5EF4-FFF2-40B4-BE49-F238E27FC236}">
                <a16:creationId xmlns:a16="http://schemas.microsoft.com/office/drawing/2014/main" id="{57B4C202-6E52-BF49-AC57-B38ED61BE168}"/>
              </a:ext>
            </a:extLst>
          </p:cNvPr>
          <p:cNvSpPr>
            <a:spLocks noChangeArrowheads="1"/>
          </p:cNvSpPr>
          <p:nvPr/>
        </p:nvSpPr>
        <p:spPr bwMode="auto">
          <a:xfrm>
            <a:off x="323528" y="444500"/>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TextBox 9">
            <a:extLst>
              <a:ext uri="{FF2B5EF4-FFF2-40B4-BE49-F238E27FC236}">
                <a16:creationId xmlns:a16="http://schemas.microsoft.com/office/drawing/2014/main" id="{35C8FCBF-2459-4A44-93B2-C7687BA82F9F}"/>
              </a:ext>
            </a:extLst>
          </p:cNvPr>
          <p:cNvSpPr txBox="1">
            <a:spLocks noChangeArrowheads="1"/>
          </p:cNvSpPr>
          <p:nvPr/>
        </p:nvSpPr>
        <p:spPr bwMode="auto">
          <a:xfrm>
            <a:off x="539552" y="836712"/>
            <a:ext cx="8568952"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Introduction of the extended Darcy’s law in the continuity equation</a:t>
            </a:r>
          </a:p>
          <a:p>
            <a:pPr defTabSz="457200" eaLnBrk="1" hangingPunct="1"/>
            <a:r>
              <a:rPr lang="en-AU" sz="1800" dirty="0">
                <a:solidFill>
                  <a:srgbClr val="0000FF"/>
                </a:solidFill>
              </a:rPr>
              <a:t>for a single phase, </a:t>
            </a:r>
            <a:r>
              <a:rPr lang="en-AU" sz="1800" i="1" dirty="0" err="1">
                <a:solidFill>
                  <a:srgbClr val="0000FF"/>
                </a:solidFill>
              </a:rPr>
              <a:t>i</a:t>
            </a:r>
            <a:r>
              <a:rPr lang="en-AU" sz="1800" i="1" dirty="0">
                <a:solidFill>
                  <a:srgbClr val="0000FF"/>
                </a:solidFill>
              </a:rPr>
              <a:t> </a:t>
            </a:r>
            <a:endParaRPr lang="en-US" sz="1800" i="1" dirty="0">
              <a:solidFill>
                <a:srgbClr val="0000FF"/>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5109D6D-AE31-2542-B953-C9A60208B18F}"/>
                  </a:ext>
                </a:extLst>
              </p:cNvPr>
              <p:cNvSpPr txBox="1"/>
              <p:nvPr/>
            </p:nvSpPr>
            <p:spPr>
              <a:xfrm>
                <a:off x="1403648" y="1516469"/>
                <a:ext cx="5688632" cy="6163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sSub>
                        <m:sSubPr>
                          <m:ctrlPr>
                            <a:rPr lang="en-AU"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𝑐</m:t>
                          </m:r>
                        </m:e>
                        <m:sub>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𝑖</m:t>
                          </m:r>
                        </m:sub>
                      </m:sSub>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𝑝</m:t>
                              </m:r>
                            </m:e>
                            <m:sub>
                              <m:r>
                                <a:rPr lang="en-AU" b="0" i="1" smtClean="0">
                                  <a:latin typeface="Cambria Math" panose="02040503050406030204" pitchFamily="18" charset="0"/>
                                  <a:ea typeface="Cambria Math" panose="02040503050406030204" pitchFamily="18" charset="0"/>
                                </a:rPr>
                                <m:t>𝑖</m:t>
                              </m:r>
                            </m:sub>
                          </m:sSub>
                        </m:num>
                        <m:den>
                          <m: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den>
                      </m:f>
                      <m:r>
                        <a:rPr lang="en-AU" b="0" i="1" smtClean="0">
                          <a:latin typeface="Cambria Math" panose="02040503050406030204" pitchFamily="18" charset="0"/>
                          <a:ea typeface="Cambria Math" panose="02040503050406030204" pitchFamily="18" charset="0"/>
                        </a:rPr>
                        <m:t>−</m:t>
                      </m:r>
                      <m:r>
                        <m:rPr>
                          <m:sty m:val="p"/>
                        </m:rP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 ∙</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d>
                        <m:dPr>
                          <m:begChr m:val="["/>
                          <m:endChr m:val="]"/>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𝑘</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𝑟</m:t>
                                  </m:r>
                                </m:e>
                                <m:sub>
                                  <m:r>
                                    <a:rPr lang="en-AU" b="0" i="1" smtClean="0">
                                      <a:latin typeface="Cambria Math" panose="02040503050406030204" pitchFamily="18" charset="0"/>
                                      <a:ea typeface="Cambria Math" panose="02040503050406030204" pitchFamily="18" charset="0"/>
                                    </a:rPr>
                                    <m:t>𝑖</m:t>
                                  </m:r>
                                </m:sub>
                              </m:sSub>
                              <m:d>
                                <m:dPr>
                                  <m:ctrlPr>
                                    <a:rPr lang="en-AU" b="0" i="1" smtClean="0">
                                      <a:latin typeface="Cambria Math" panose="02040503050406030204" pitchFamily="18" charset="0"/>
                                      <a:ea typeface="Cambria Math" panose="02040503050406030204" pitchFamily="18" charset="0"/>
                                    </a:rPr>
                                  </m:ctrlPr>
                                </m:dPr>
                                <m:e>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𝑠</m:t>
                                      </m:r>
                                    </m:e>
                                    <m:sub>
                                      <m:r>
                                        <a:rPr lang="en-AU" b="0" i="1" smtClean="0">
                                          <a:latin typeface="Cambria Math" panose="02040503050406030204" pitchFamily="18" charset="0"/>
                                          <a:ea typeface="Cambria Math" panose="02040503050406030204" pitchFamily="18" charset="0"/>
                                        </a:rPr>
                                        <m:t>1</m:t>
                                      </m:r>
                                    </m:sub>
                                  </m:sSub>
                                </m:e>
                              </m:d>
                            </m:num>
                            <m:den>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𝜇</m:t>
                                  </m:r>
                                </m:e>
                                <m:sub>
                                  <m:r>
                                    <a:rPr lang="en-AU" b="0" i="1" smtClean="0">
                                      <a:latin typeface="Cambria Math" panose="02040503050406030204" pitchFamily="18" charset="0"/>
                                      <a:ea typeface="Cambria Math" panose="02040503050406030204" pitchFamily="18" charset="0"/>
                                    </a:rPr>
                                    <m:t>𝑖</m:t>
                                  </m:r>
                                </m:sub>
                              </m:sSub>
                            </m:den>
                          </m:f>
                          <m:r>
                            <a:rPr lang="en-AU" b="0" i="1" smtClean="0">
                              <a:latin typeface="Cambria Math" panose="02040503050406030204" pitchFamily="18" charset="0"/>
                              <a:ea typeface="Cambria Math" panose="02040503050406030204" pitchFamily="18" charset="0"/>
                            </a:rPr>
                            <m:t>𝐴</m:t>
                          </m:r>
                          <m:r>
                            <a:rPr lang="en-AU" b="1" i="1">
                              <a:latin typeface="Cambria Math" panose="02040503050406030204" pitchFamily="18" charset="0"/>
                              <a:ea typeface="Cambria Math" panose="02040503050406030204" pitchFamily="18" charset="0"/>
                            </a:rPr>
                            <m:t>𝒌</m:t>
                          </m:r>
                          <m:d>
                            <m:dPr>
                              <m:ctrlPr>
                                <a:rPr lang="en-AU" b="0" i="1" smtClean="0">
                                  <a:latin typeface="Cambria Math" panose="02040503050406030204" pitchFamily="18" charset="0"/>
                                  <a:ea typeface="Cambria Math" panose="02040503050406030204" pitchFamily="18" charset="0"/>
                                </a:rPr>
                              </m:ctrlPr>
                            </m:dPr>
                            <m:e>
                              <m:r>
                                <m:rPr>
                                  <m:sty m:val="p"/>
                                </m:rP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𝑝</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𝑔</m:t>
                              </m:r>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𝑧</m:t>
                              </m:r>
                            </m:e>
                          </m:d>
                        </m:e>
                      </m:d>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𝑄</m:t>
                          </m:r>
                        </m:e>
                        <m:sub>
                          <m:r>
                            <a:rPr lang="en-AU" b="0" i="1" smtClean="0">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12" name="TextBox 11">
                <a:extLst>
                  <a:ext uri="{FF2B5EF4-FFF2-40B4-BE49-F238E27FC236}">
                    <a16:creationId xmlns:a16="http://schemas.microsoft.com/office/drawing/2014/main" id="{15109D6D-AE31-2542-B953-C9A60208B18F}"/>
                  </a:ext>
                </a:extLst>
              </p:cNvPr>
              <p:cNvSpPr txBox="1">
                <a:spLocks noRot="1" noChangeAspect="1" noMove="1" noResize="1" noEditPoints="1" noAdjustHandles="1" noChangeArrowheads="1" noChangeShapeType="1" noTextEdit="1"/>
              </p:cNvSpPr>
              <p:nvPr/>
            </p:nvSpPr>
            <p:spPr>
              <a:xfrm>
                <a:off x="1403648" y="1516469"/>
                <a:ext cx="5688632" cy="616387"/>
              </a:xfrm>
              <a:prstGeom prst="rect">
                <a:avLst/>
              </a:prstGeom>
              <a:blipFill>
                <a:blip r:embed="rId2"/>
                <a:stretch>
                  <a:fillRect b="-4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24F2F5E-A2EE-8248-A1EA-73D789AD7492}"/>
                  </a:ext>
                </a:extLst>
              </p:cNvPr>
              <p:cNvSpPr txBox="1">
                <a:spLocks noChangeArrowheads="1"/>
              </p:cNvSpPr>
              <p:nvPr/>
            </p:nvSpPr>
            <p:spPr bwMode="auto">
              <a:xfrm>
                <a:off x="539552" y="2734141"/>
                <a:ext cx="8568952" cy="369332"/>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Noting that </a:t>
                </a:r>
                <a14:m>
                  <m:oMath xmlns:m="http://schemas.openxmlformats.org/officeDocument/2006/math">
                    <m:nary>
                      <m:naryPr>
                        <m:chr m:val="∑"/>
                        <m:subHide m:val="on"/>
                        <m:supHide m:val="on"/>
                        <m:ctrlPr>
                          <a:rPr lang="en-AU" sz="1800" i="1" smtClean="0">
                            <a:solidFill>
                              <a:srgbClr val="0000FF"/>
                            </a:solidFill>
                            <a:latin typeface="Cambria Math" panose="02040503050406030204" pitchFamily="18" charset="0"/>
                          </a:rPr>
                        </m:ctrlPr>
                      </m:naryPr>
                      <m:sub/>
                      <m:sup/>
                      <m:e>
                        <m:sSub>
                          <m:sSubPr>
                            <m:ctrlPr>
                              <a:rPr lang="en-AU" sz="1800" b="0" i="1" smtClean="0">
                                <a:solidFill>
                                  <a:srgbClr val="0000FF"/>
                                </a:solidFill>
                                <a:latin typeface="Cambria Math" panose="02040503050406030204" pitchFamily="18" charset="0"/>
                              </a:rPr>
                            </m:ctrlPr>
                          </m:sSubPr>
                          <m:e>
                            <m:r>
                              <a:rPr lang="en-AU" sz="1800" b="0" i="1" smtClean="0">
                                <a:solidFill>
                                  <a:srgbClr val="0000FF"/>
                                </a:solidFill>
                                <a:latin typeface="Cambria Math" panose="02040503050406030204" pitchFamily="18" charset="0"/>
                              </a:rPr>
                              <m:t>𝑠</m:t>
                            </m:r>
                          </m:e>
                          <m:sub>
                            <m:r>
                              <a:rPr lang="en-AU" sz="1800" b="0" i="1" smtClean="0">
                                <a:solidFill>
                                  <a:srgbClr val="0000FF"/>
                                </a:solidFill>
                                <a:latin typeface="Cambria Math" panose="02040503050406030204" pitchFamily="18" charset="0"/>
                              </a:rPr>
                              <m:t>𝑖</m:t>
                            </m:r>
                          </m:sub>
                        </m:sSub>
                      </m:e>
                    </m:nary>
                    <m:r>
                      <a:rPr lang="en-AU" sz="1800" b="0" i="1" smtClean="0">
                        <a:solidFill>
                          <a:srgbClr val="0000FF"/>
                        </a:solidFill>
                        <a:latin typeface="Cambria Math" panose="02040503050406030204" pitchFamily="18" charset="0"/>
                      </a:rPr>
                      <m:t>=1,</m:t>
                    </m:r>
                  </m:oMath>
                </a14:m>
                <a:r>
                  <a:rPr lang="en-US" sz="1800" i="1" dirty="0">
                    <a:solidFill>
                      <a:srgbClr val="0000FF"/>
                    </a:solidFill>
                  </a:rPr>
                  <a:t> </a:t>
                </a:r>
                <a:r>
                  <a:rPr lang="en-US" sz="1800" dirty="0">
                    <a:solidFill>
                      <a:srgbClr val="0000FF"/>
                    </a:solidFill>
                  </a:rPr>
                  <a:t>which is the sum of the saturations of all phases. </a:t>
                </a:r>
              </a:p>
            </p:txBody>
          </p:sp>
        </mc:Choice>
        <mc:Fallback xmlns="">
          <p:sp>
            <p:nvSpPr>
              <p:cNvPr id="13" name="TextBox 12">
                <a:extLst>
                  <a:ext uri="{FF2B5EF4-FFF2-40B4-BE49-F238E27FC236}">
                    <a16:creationId xmlns:a16="http://schemas.microsoft.com/office/drawing/2014/main" id="{124F2F5E-A2EE-8248-A1EA-73D789AD7492}"/>
                  </a:ext>
                </a:extLst>
              </p:cNvPr>
              <p:cNvSpPr txBox="1">
                <a:spLocks noRot="1" noChangeAspect="1" noMove="1" noResize="1" noEditPoints="1" noAdjustHandles="1" noChangeArrowheads="1" noChangeShapeType="1" noTextEdit="1"/>
              </p:cNvSpPr>
              <p:nvPr/>
            </p:nvSpPr>
            <p:spPr bwMode="auto">
              <a:xfrm>
                <a:off x="539552" y="2734141"/>
                <a:ext cx="8568952" cy="369332"/>
              </a:xfrm>
              <a:prstGeom prst="rect">
                <a:avLst/>
              </a:prstGeom>
              <a:blipFill>
                <a:blip r:embed="rId3"/>
                <a:stretch>
                  <a:fillRect l="-444" t="-106667" b="-170000"/>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4" name="TextBox 13">
            <a:extLst>
              <a:ext uri="{FF2B5EF4-FFF2-40B4-BE49-F238E27FC236}">
                <a16:creationId xmlns:a16="http://schemas.microsoft.com/office/drawing/2014/main" id="{8D23DE26-C076-564B-ADCF-4AF3A789795D}"/>
              </a:ext>
            </a:extLst>
          </p:cNvPr>
          <p:cNvSpPr txBox="1">
            <a:spLocks noChangeArrowheads="1"/>
          </p:cNvSpPr>
          <p:nvPr/>
        </p:nvSpPr>
        <p:spPr bwMode="auto">
          <a:xfrm>
            <a:off x="539552" y="3298901"/>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The transport equation now becomes (omitting sources and sinks):</a:t>
            </a:r>
            <a:endParaRPr lang="en-US" sz="1800" i="1" dirty="0">
              <a:solidFill>
                <a:srgbClr val="0000FF"/>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3275B98-490F-7D4B-8F7D-C80203761B91}"/>
                  </a:ext>
                </a:extLst>
              </p:cNvPr>
              <p:cNvSpPr txBox="1"/>
              <p:nvPr/>
            </p:nvSpPr>
            <p:spPr>
              <a:xfrm>
                <a:off x="573287" y="4004587"/>
                <a:ext cx="4574777" cy="6120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𝑠</m:t>
                              </m:r>
                            </m:e>
                            <m:sub>
                              <m:r>
                                <a:rPr lang="en-AU" b="0" i="1" smtClean="0">
                                  <a:latin typeface="Cambria Math" panose="02040503050406030204" pitchFamily="18" charset="0"/>
                                  <a:ea typeface="Cambria Math" panose="02040503050406030204" pitchFamily="18" charset="0"/>
                                </a:rPr>
                                <m:t>𝑖</m:t>
                              </m:r>
                            </m:sub>
                          </m:sSub>
                        </m:num>
                        <m:den>
                          <m: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den>
                      </m:f>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1" i="1" smtClean="0">
                              <a:latin typeface="Cambria Math" panose="02040503050406030204" pitchFamily="18" charset="0"/>
                              <a:ea typeface="Cambria Math" panose="02040503050406030204" pitchFamily="18" charset="0"/>
                            </a:rPr>
                            <m:t>𝒖</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r>
                        <m:rPr>
                          <m:sty m:val="p"/>
                        </m:rP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𝜆</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𝑗</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𝜆</m:t>
                              </m:r>
                            </m:e>
                            <m:sub>
                              <m:r>
                                <a:rPr lang="en-AU" b="0" i="1" smtClean="0">
                                  <a:latin typeface="Cambria Math" panose="02040503050406030204" pitchFamily="18" charset="0"/>
                                  <a:ea typeface="Cambria Math" panose="02040503050406030204" pitchFamily="18" charset="0"/>
                                </a:rPr>
                                <m:t>𝑗</m:t>
                              </m:r>
                            </m:sub>
                          </m:sSub>
                        </m:num>
                        <m:den>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𝑖</m:t>
                              </m:r>
                            </m:sub>
                          </m:sSub>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𝜆</m:t>
                              </m:r>
                            </m:e>
                            <m:sub>
                              <m:r>
                                <a:rPr lang="en-AU" i="1">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𝑗</m:t>
                              </m:r>
                            </m:sub>
                          </m:sSub>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𝜆</m:t>
                              </m:r>
                            </m:e>
                            <m:sub>
                              <m:r>
                                <a:rPr lang="en-AU" i="1">
                                  <a:latin typeface="Cambria Math" panose="02040503050406030204" pitchFamily="18" charset="0"/>
                                  <a:ea typeface="Cambria Math" panose="02040503050406030204" pitchFamily="18" charset="0"/>
                                </a:rPr>
                                <m:t>𝑗</m:t>
                              </m:r>
                            </m:sub>
                          </m:sSub>
                        </m:den>
                      </m:f>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𝑑</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𝑝</m:t>
                              </m:r>
                            </m:e>
                            <m:sub>
                              <m:r>
                                <a:rPr lang="en-AU" b="0" i="1" smtClean="0">
                                  <a:latin typeface="Cambria Math" panose="02040503050406030204" pitchFamily="18" charset="0"/>
                                  <a:ea typeface="Cambria Math" panose="02040503050406030204" pitchFamily="18" charset="0"/>
                                </a:rPr>
                                <m:t>𝑐</m:t>
                              </m:r>
                            </m:sub>
                          </m:sSub>
                        </m:num>
                        <m:den>
                          <m:r>
                            <a:rPr lang="en-AU" b="0" i="1" smtClean="0">
                              <a:latin typeface="Cambria Math" panose="02040503050406030204" pitchFamily="18" charset="0"/>
                              <a:ea typeface="Cambria Math" panose="02040503050406030204" pitchFamily="18" charset="0"/>
                            </a:rPr>
                            <m:t>𝑑𝑠</m:t>
                          </m:r>
                        </m:den>
                      </m:f>
                      <m:r>
                        <a:rPr lang="en-AU" b="1" i="1" smtClean="0">
                          <a:latin typeface="Cambria Math" panose="02040503050406030204" pitchFamily="18" charset="0"/>
                          <a:ea typeface="Cambria Math" panose="02040503050406030204" pitchFamily="18" charset="0"/>
                        </a:rPr>
                        <m:t>𝒌</m:t>
                      </m:r>
                      <m:r>
                        <m:rPr>
                          <m:sty m:val="p"/>
                        </m:rP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𝑠</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 </m:t>
                      </m:r>
                    </m:oMath>
                  </m:oMathPara>
                </a14:m>
                <a:endParaRPr lang="en-US" dirty="0"/>
              </a:p>
            </p:txBody>
          </p:sp>
        </mc:Choice>
        <mc:Fallback xmlns="">
          <p:sp>
            <p:nvSpPr>
              <p:cNvPr id="16" name="TextBox 15">
                <a:extLst>
                  <a:ext uri="{FF2B5EF4-FFF2-40B4-BE49-F238E27FC236}">
                    <a16:creationId xmlns:a16="http://schemas.microsoft.com/office/drawing/2014/main" id="{23275B98-490F-7D4B-8F7D-C80203761B91}"/>
                  </a:ext>
                </a:extLst>
              </p:cNvPr>
              <p:cNvSpPr txBox="1">
                <a:spLocks noRot="1" noChangeAspect="1" noMove="1" noResize="1" noEditPoints="1" noAdjustHandles="1" noChangeArrowheads="1" noChangeShapeType="1" noTextEdit="1"/>
              </p:cNvSpPr>
              <p:nvPr/>
            </p:nvSpPr>
            <p:spPr>
              <a:xfrm>
                <a:off x="573287" y="4004587"/>
                <a:ext cx="4574777" cy="612091"/>
              </a:xfrm>
              <a:prstGeom prst="rect">
                <a:avLst/>
              </a:prstGeom>
              <a:blipFill>
                <a:blip r:embed="rId4"/>
                <a:stretch>
                  <a:fillRect b="-10000"/>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63010165-2AF6-854E-8E4E-110C53FFB73E}"/>
              </a:ext>
            </a:extLst>
          </p:cNvPr>
          <p:cNvSpPr txBox="1">
            <a:spLocks noChangeArrowheads="1"/>
          </p:cNvSpPr>
          <p:nvPr/>
        </p:nvSpPr>
        <p:spPr bwMode="auto">
          <a:xfrm>
            <a:off x="5467292" y="4098015"/>
            <a:ext cx="1379519"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where </a:t>
            </a:r>
            <a:endParaRPr lang="en-US" sz="1800" i="1" dirty="0">
              <a:solidFill>
                <a:srgbClr val="0000FF"/>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753422B-9708-6540-8507-F1661E5DC396}"/>
                  </a:ext>
                </a:extLst>
              </p:cNvPr>
              <p:cNvSpPr txBox="1"/>
              <p:nvPr/>
            </p:nvSpPr>
            <p:spPr>
              <a:xfrm>
                <a:off x="6362731" y="4143086"/>
                <a:ext cx="23909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1" i="1" smtClean="0">
                              <a:latin typeface="Cambria Math" panose="02040503050406030204" pitchFamily="18" charset="0"/>
                            </a:rPr>
                            <m:t>𝒖</m:t>
                          </m:r>
                        </m:e>
                        <m:sub>
                          <m:r>
                            <a:rPr lang="en-AU" b="0" i="1" smtClean="0">
                              <a:latin typeface="Cambria Math" panose="02040503050406030204" pitchFamily="18" charset="0"/>
                            </a:rPr>
                            <m:t>𝑖</m:t>
                          </m:r>
                        </m:sub>
                      </m:sSub>
                      <m:r>
                        <a:rPr lang="en-AU" b="0" i="1" smtClean="0">
                          <a:latin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𝜆</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𝑘</m:t>
                      </m:r>
                      <m:r>
                        <a:rPr lang="en-AU" b="0" i="1" smtClean="0">
                          <a:latin typeface="Cambria Math" panose="02040503050406030204" pitchFamily="18" charset="0"/>
                          <a:ea typeface="Cambria Math" panose="02040503050406030204" pitchFamily="18" charset="0"/>
                        </a:rPr>
                        <m:t>∙</m:t>
                      </m:r>
                      <m:d>
                        <m:dPr>
                          <m:ctrlPr>
                            <a:rPr lang="en-AU" b="0" i="1" smtClean="0">
                              <a:latin typeface="Cambria Math" panose="02040503050406030204" pitchFamily="18" charset="0"/>
                              <a:ea typeface="Cambria Math" panose="02040503050406030204" pitchFamily="18" charset="0"/>
                            </a:rPr>
                          </m:ctrlPr>
                        </m:dPr>
                        <m:e>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𝑝</m:t>
                          </m:r>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𝑔</m:t>
                          </m:r>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𝑧</m:t>
                          </m:r>
                        </m:e>
                      </m:d>
                    </m:oMath>
                  </m:oMathPara>
                </a14:m>
                <a:endParaRPr lang="en-US" dirty="0"/>
              </a:p>
            </p:txBody>
          </p:sp>
        </mc:Choice>
        <mc:Fallback xmlns="">
          <p:sp>
            <p:nvSpPr>
              <p:cNvPr id="18" name="TextBox 17">
                <a:extLst>
                  <a:ext uri="{FF2B5EF4-FFF2-40B4-BE49-F238E27FC236}">
                    <a16:creationId xmlns:a16="http://schemas.microsoft.com/office/drawing/2014/main" id="{C753422B-9708-6540-8507-F1661E5DC396}"/>
                  </a:ext>
                </a:extLst>
              </p:cNvPr>
              <p:cNvSpPr txBox="1">
                <a:spLocks noRot="1" noChangeAspect="1" noMove="1" noResize="1" noEditPoints="1" noAdjustHandles="1" noChangeArrowheads="1" noChangeShapeType="1" noTextEdit="1"/>
              </p:cNvSpPr>
              <p:nvPr/>
            </p:nvSpPr>
            <p:spPr>
              <a:xfrm>
                <a:off x="6362731" y="4143086"/>
                <a:ext cx="2390976" cy="276999"/>
              </a:xfrm>
              <a:prstGeom prst="rect">
                <a:avLst/>
              </a:prstGeom>
              <a:blipFill>
                <a:blip r:embed="rId5"/>
                <a:stretch>
                  <a:fillRect l="-1058" b="-21739"/>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38F869CC-EEFB-3445-8218-B1CD53AB0FEB}"/>
              </a:ext>
            </a:extLst>
          </p:cNvPr>
          <p:cNvSpPr txBox="1">
            <a:spLocks noChangeArrowheads="1"/>
          </p:cNvSpPr>
          <p:nvPr/>
        </p:nvSpPr>
        <p:spPr bwMode="auto">
          <a:xfrm>
            <a:off x="575048" y="4959957"/>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Summing over the phases:</a:t>
            </a:r>
            <a:endParaRPr lang="en-US" sz="1800" i="1" dirty="0">
              <a:solidFill>
                <a:srgbClr val="0000FF"/>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09D6E18-F122-3344-A0C3-509C37EBB453}"/>
                  </a:ext>
                </a:extLst>
              </p:cNvPr>
              <p:cNvSpPr txBox="1"/>
              <p:nvPr/>
            </p:nvSpPr>
            <p:spPr>
              <a:xfrm>
                <a:off x="580234" y="5474218"/>
                <a:ext cx="6445547" cy="784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𝜙</m:t>
                      </m:r>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den>
                      </m:f>
                      <m:nary>
                        <m:naryPr>
                          <m:chr m:val="∑"/>
                          <m:ctrlPr>
                            <a:rPr lang="en-US" i="1" smtClean="0">
                              <a:latin typeface="Cambria Math" panose="02040503050406030204" pitchFamily="18" charset="0"/>
                              <a:ea typeface="Cambria Math" panose="02040503050406030204" pitchFamily="18" charset="0"/>
                            </a:rPr>
                          </m:ctrlPr>
                        </m:naryPr>
                        <m:sub>
                          <m:r>
                            <m:rPr>
                              <m:brk m:alnAt="23"/>
                            </m:rPr>
                            <a:rPr lang="en-AU" b="0" i="1" smtClean="0">
                              <a:latin typeface="Cambria Math" panose="02040503050406030204" pitchFamily="18" charset="0"/>
                              <a:ea typeface="Cambria Math" panose="02040503050406030204" pitchFamily="18" charset="0"/>
                            </a:rPr>
                            <m:t>𝑖</m:t>
                          </m:r>
                        </m:sub>
                        <m:sup>
                          <m:r>
                            <a:rPr lang="en-AU" b="0" i="1" smtClean="0">
                              <a:latin typeface="Cambria Math" panose="02040503050406030204" pitchFamily="18" charset="0"/>
                              <a:ea typeface="Cambria Math" panose="02040503050406030204" pitchFamily="18" charset="0"/>
                            </a:rPr>
                            <m:t>𝑝h𝑎𝑠𝑒𝑠</m:t>
                          </m:r>
                        </m:sup>
                        <m:e>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𝑠</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e>
                      </m:nary>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m:rPr>
                              <m:sty m:val="p"/>
                            </m:rP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1" i="1" smtClean="0">
                              <a:latin typeface="Cambria Math" panose="02040503050406030204" pitchFamily="18" charset="0"/>
                              <a:ea typeface="Cambria Math" panose="02040503050406030204" pitchFamily="18" charset="0"/>
                            </a:rPr>
                            <m:t>𝒖</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r>
                        <m:rPr>
                          <m:sty m:val="p"/>
                        </m:rP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𝜆</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𝑗</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𝜆</m:t>
                              </m:r>
                            </m:e>
                            <m:sub>
                              <m:r>
                                <a:rPr lang="en-AU" b="0" i="1" smtClean="0">
                                  <a:latin typeface="Cambria Math" panose="02040503050406030204" pitchFamily="18" charset="0"/>
                                  <a:ea typeface="Cambria Math" panose="02040503050406030204" pitchFamily="18" charset="0"/>
                                </a:rPr>
                                <m:t>𝑗</m:t>
                              </m:r>
                            </m:sub>
                          </m:sSub>
                        </m:num>
                        <m:den>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𝑖</m:t>
                              </m:r>
                            </m:sub>
                          </m:sSub>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𝜆</m:t>
                              </m:r>
                            </m:e>
                            <m:sub>
                              <m:r>
                                <a:rPr lang="en-AU" i="1">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𝑗</m:t>
                              </m:r>
                            </m:sub>
                          </m:sSub>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𝜆</m:t>
                              </m:r>
                            </m:e>
                            <m:sub>
                              <m:r>
                                <a:rPr lang="en-AU" i="1">
                                  <a:latin typeface="Cambria Math" panose="02040503050406030204" pitchFamily="18" charset="0"/>
                                  <a:ea typeface="Cambria Math" panose="02040503050406030204" pitchFamily="18" charset="0"/>
                                </a:rPr>
                                <m:t>𝑗</m:t>
                              </m:r>
                            </m:sub>
                          </m:sSub>
                        </m:den>
                      </m:f>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𝑑</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𝑝</m:t>
                              </m:r>
                            </m:e>
                            <m:sub>
                              <m:r>
                                <a:rPr lang="en-AU" b="0" i="1" smtClean="0">
                                  <a:latin typeface="Cambria Math" panose="02040503050406030204" pitchFamily="18" charset="0"/>
                                  <a:ea typeface="Cambria Math" panose="02040503050406030204" pitchFamily="18" charset="0"/>
                                </a:rPr>
                                <m:t>𝑐</m:t>
                              </m:r>
                            </m:sub>
                          </m:sSub>
                        </m:num>
                        <m:den>
                          <m:r>
                            <a:rPr lang="en-AU" b="0" i="1" smtClean="0">
                              <a:latin typeface="Cambria Math" panose="02040503050406030204" pitchFamily="18" charset="0"/>
                              <a:ea typeface="Cambria Math" panose="02040503050406030204" pitchFamily="18" charset="0"/>
                            </a:rPr>
                            <m:t>𝑑𝑠</m:t>
                          </m:r>
                        </m:den>
                      </m:f>
                      <m:r>
                        <a:rPr lang="en-AU" b="1" i="1" smtClean="0">
                          <a:latin typeface="Cambria Math" panose="02040503050406030204" pitchFamily="18" charset="0"/>
                          <a:ea typeface="Cambria Math" panose="02040503050406030204" pitchFamily="18" charset="0"/>
                        </a:rPr>
                        <m:t>𝒌</m:t>
                      </m:r>
                      <m:r>
                        <m:rPr>
                          <m:sty m:val="p"/>
                        </m:rP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𝑠</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 −</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𝑄</m:t>
                          </m:r>
                        </m:e>
                        <m:sub>
                          <m:r>
                            <a:rPr lang="en-AU" b="0" i="1" smtClean="0">
                              <a:latin typeface="Cambria Math" panose="02040503050406030204" pitchFamily="18" charset="0"/>
                              <a:ea typeface="Cambria Math" panose="02040503050406030204" pitchFamily="18" charset="0"/>
                            </a:rPr>
                            <m:t>𝑖</m:t>
                          </m:r>
                        </m:sub>
                      </m:sSub>
                      <m:r>
                        <a:rPr lang="en-AU" b="0" i="1" smtClean="0">
                          <a:latin typeface="Cambria Math" panose="02040503050406030204" pitchFamily="18" charset="0"/>
                          <a:ea typeface="Cambria Math" panose="02040503050406030204" pitchFamily="18" charset="0"/>
                        </a:rPr>
                        <m:t>=0 </m:t>
                      </m:r>
                    </m:oMath>
                  </m:oMathPara>
                </a14:m>
                <a:endParaRPr lang="en-US" dirty="0"/>
              </a:p>
            </p:txBody>
          </p:sp>
        </mc:Choice>
        <mc:Fallback xmlns="">
          <p:sp>
            <p:nvSpPr>
              <p:cNvPr id="20" name="TextBox 19">
                <a:extLst>
                  <a:ext uri="{FF2B5EF4-FFF2-40B4-BE49-F238E27FC236}">
                    <a16:creationId xmlns:a16="http://schemas.microsoft.com/office/drawing/2014/main" id="{D09D6E18-F122-3344-A0C3-509C37EBB453}"/>
                  </a:ext>
                </a:extLst>
              </p:cNvPr>
              <p:cNvSpPr txBox="1">
                <a:spLocks noRot="1" noChangeAspect="1" noMove="1" noResize="1" noEditPoints="1" noAdjustHandles="1" noChangeArrowheads="1" noChangeShapeType="1" noTextEdit="1"/>
              </p:cNvSpPr>
              <p:nvPr/>
            </p:nvSpPr>
            <p:spPr>
              <a:xfrm>
                <a:off x="580234" y="5474218"/>
                <a:ext cx="6445547" cy="784574"/>
              </a:xfrm>
              <a:prstGeom prst="rect">
                <a:avLst/>
              </a:prstGeom>
              <a:blipFill>
                <a:blip r:embed="rId6"/>
                <a:stretch>
                  <a:fillRect l="-1969" t="-109524" b="-169841"/>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FC71C279-4A1E-0145-8183-8BED64D36935}"/>
              </a:ext>
            </a:extLst>
          </p:cNvPr>
          <p:cNvSpPr txBox="1"/>
          <p:nvPr/>
        </p:nvSpPr>
        <p:spPr>
          <a:xfrm>
            <a:off x="2996054" y="4559459"/>
            <a:ext cx="1503938"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capillary spreading </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0ADF20B-CD2E-C649-A88B-3B3F9AECCB12}"/>
                  </a:ext>
                </a:extLst>
              </p:cNvPr>
              <p:cNvSpPr txBox="1"/>
              <p:nvPr/>
            </p:nvSpPr>
            <p:spPr>
              <a:xfrm>
                <a:off x="4152563" y="2300181"/>
                <a:ext cx="413517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𝑐</m:t>
                          </m:r>
                        </m:e>
                        <m:sub>
                          <m:r>
                            <a:rPr lang="en-AU" b="0" i="1" smtClean="0">
                              <a:latin typeface="Cambria Math" panose="02040503050406030204" pitchFamily="18" charset="0"/>
                            </a:rPr>
                            <m:t>𝑡</m:t>
                          </m:r>
                        </m:sub>
                      </m:sSub>
                      <m:r>
                        <a:rPr lang="en-AU" b="0" i="1" smtClean="0">
                          <a:latin typeface="Cambria Math" panose="02040503050406030204" pitchFamily="18" charset="0"/>
                        </a:rPr>
                        <m:t>=</m:t>
                      </m:r>
                      <m:r>
                        <a:rPr lang="en-AU" b="0" i="1" smtClean="0">
                          <a:latin typeface="Cambria Math" panose="02040503050406030204" pitchFamily="18" charset="0"/>
                        </a:rPr>
                        <m:t>𝜙</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𝑠</m:t>
                          </m:r>
                        </m:e>
                        <m:sub>
                          <m:r>
                            <a:rPr lang="en-AU" b="0" i="1" smtClean="0">
                              <a:latin typeface="Cambria Math" panose="02040503050406030204" pitchFamily="18" charset="0"/>
                            </a:rPr>
                            <m:t>𝐶𝑜</m:t>
                          </m:r>
                          <m:r>
                            <a:rPr lang="en-AU" b="0" i="1" smtClean="0">
                              <a:latin typeface="Cambria Math" panose="02040503050406030204" pitchFamily="18" charset="0"/>
                            </a:rPr>
                            <m:t>2</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𝛽</m:t>
                          </m:r>
                        </m:e>
                        <m:sub>
                          <m:r>
                            <a:rPr lang="en-AU" b="0" i="1" smtClean="0">
                              <a:latin typeface="Cambria Math" panose="02040503050406030204" pitchFamily="18" charset="0"/>
                            </a:rPr>
                            <m:t>𝐶𝑂</m:t>
                          </m:r>
                          <m:r>
                            <a:rPr lang="en-AU" b="0" i="1" smtClean="0">
                              <a:latin typeface="Cambria Math" panose="02040503050406030204" pitchFamily="18" charset="0"/>
                            </a:rPr>
                            <m:t>2</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𝑠</m:t>
                          </m:r>
                        </m:e>
                        <m:sub>
                          <m:r>
                            <a:rPr lang="en-AU" b="0" i="1" smtClean="0">
                              <a:latin typeface="Cambria Math" panose="02040503050406030204" pitchFamily="18" charset="0"/>
                            </a:rPr>
                            <m:t>𝐻</m:t>
                          </m:r>
                          <m:r>
                            <a:rPr lang="en-AU" b="0" i="1" smtClean="0">
                              <a:latin typeface="Cambria Math" panose="02040503050406030204" pitchFamily="18" charset="0"/>
                            </a:rPr>
                            <m:t>2</m:t>
                          </m:r>
                          <m:r>
                            <a:rPr lang="en-AU" b="0" i="1" smtClean="0">
                              <a:latin typeface="Cambria Math" panose="02040503050406030204" pitchFamily="18" charset="0"/>
                            </a:rPr>
                            <m:t>𝑂</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𝛽</m:t>
                          </m:r>
                        </m:e>
                        <m:sub>
                          <m:r>
                            <a:rPr lang="en-AU" b="0" i="1" smtClean="0">
                              <a:latin typeface="Cambria Math" panose="02040503050406030204" pitchFamily="18" charset="0"/>
                            </a:rPr>
                            <m:t>𝐻</m:t>
                          </m:r>
                          <m:r>
                            <a:rPr lang="en-AU" b="0" i="1" smtClean="0">
                              <a:latin typeface="Cambria Math" panose="02040503050406030204" pitchFamily="18" charset="0"/>
                            </a:rPr>
                            <m:t>2</m:t>
                          </m:r>
                          <m:r>
                            <a:rPr lang="en-AU" b="0" i="1" smtClean="0">
                              <a:latin typeface="Cambria Math" panose="02040503050406030204" pitchFamily="18" charset="0"/>
                            </a:rPr>
                            <m:t>𝑂</m:t>
                          </m:r>
                        </m:sub>
                      </m:sSub>
                      <m:r>
                        <a:rPr lang="en-AU" b="0" i="0" smtClean="0">
                          <a:latin typeface="Cambria Math" panose="02040503050406030204" pitchFamily="18" charset="0"/>
                        </a:rPr>
                        <m:t>+</m:t>
                      </m:r>
                      <m:d>
                        <m:dPr>
                          <m:ctrlPr>
                            <a:rPr lang="en-AU" b="0" i="1" smtClean="0">
                              <a:latin typeface="Cambria Math" panose="02040503050406030204" pitchFamily="18" charset="0"/>
                            </a:rPr>
                          </m:ctrlPr>
                        </m:dPr>
                        <m:e>
                          <m:r>
                            <a:rPr lang="en-AU" b="0" i="0" smtClean="0">
                              <a:latin typeface="Cambria Math" panose="02040503050406030204" pitchFamily="18" charset="0"/>
                            </a:rPr>
                            <m:t>1−</m:t>
                          </m:r>
                          <m:r>
                            <a:rPr lang="en-AU" b="0" i="1" smtClean="0">
                              <a:latin typeface="Cambria Math" panose="02040503050406030204" pitchFamily="18" charset="0"/>
                            </a:rPr>
                            <m:t>𝜙</m:t>
                          </m:r>
                        </m:e>
                      </m:d>
                      <m:sSub>
                        <m:sSubPr>
                          <m:ctrlPr>
                            <a:rPr lang="en-AU" b="0" i="1" smtClean="0">
                              <a:latin typeface="Cambria Math" panose="02040503050406030204" pitchFamily="18" charset="0"/>
                            </a:rPr>
                          </m:ctrlPr>
                        </m:sSubPr>
                        <m:e>
                          <m:r>
                            <a:rPr lang="en-AU" b="0" i="1" smtClean="0">
                              <a:latin typeface="Cambria Math" panose="02040503050406030204" pitchFamily="18" charset="0"/>
                            </a:rPr>
                            <m:t>𝛽</m:t>
                          </m:r>
                        </m:e>
                        <m:sub>
                          <m:r>
                            <a:rPr lang="en-AU" b="0" i="1" smtClean="0">
                              <a:latin typeface="Cambria Math" panose="02040503050406030204" pitchFamily="18" charset="0"/>
                            </a:rPr>
                            <m:t>𝑟</m:t>
                          </m:r>
                        </m:sub>
                      </m:sSub>
                    </m:oMath>
                  </m:oMathPara>
                </a14:m>
                <a:endParaRPr lang="en-US" dirty="0"/>
              </a:p>
            </p:txBody>
          </p:sp>
        </mc:Choice>
        <mc:Fallback xmlns="">
          <p:sp>
            <p:nvSpPr>
              <p:cNvPr id="22" name="TextBox 21">
                <a:extLst>
                  <a:ext uri="{FF2B5EF4-FFF2-40B4-BE49-F238E27FC236}">
                    <a16:creationId xmlns:a16="http://schemas.microsoft.com/office/drawing/2014/main" id="{B0ADF20B-CD2E-C649-A88B-3B3F9AECCB12}"/>
                  </a:ext>
                </a:extLst>
              </p:cNvPr>
              <p:cNvSpPr txBox="1">
                <a:spLocks noRot="1" noChangeAspect="1" noMove="1" noResize="1" noEditPoints="1" noAdjustHandles="1" noChangeArrowheads="1" noChangeShapeType="1" noTextEdit="1"/>
              </p:cNvSpPr>
              <p:nvPr/>
            </p:nvSpPr>
            <p:spPr>
              <a:xfrm>
                <a:off x="4152563" y="2300181"/>
                <a:ext cx="4135171" cy="276999"/>
              </a:xfrm>
              <a:prstGeom prst="rect">
                <a:avLst/>
              </a:prstGeom>
              <a:blipFill>
                <a:blip r:embed="rId7"/>
                <a:stretch>
                  <a:fillRect l="-306" b="-30435"/>
                </a:stretch>
              </a:blipFill>
            </p:spPr>
            <p:txBody>
              <a:bodyPr/>
              <a:lstStyle/>
              <a:p>
                <a:r>
                  <a:rPr lang="en-US">
                    <a:noFill/>
                  </a:rPr>
                  <a:t> </a:t>
                </a:r>
              </a:p>
            </p:txBody>
          </p:sp>
        </mc:Fallback>
      </mc:AlternateContent>
    </p:spTree>
    <p:extLst>
      <p:ext uri="{BB962C8B-B14F-4D97-AF65-F5344CB8AC3E}">
        <p14:creationId xmlns:p14="http://schemas.microsoft.com/office/powerpoint/2010/main" val="191618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4710A-94BC-CF46-956B-DC5B5034B8BD}"/>
              </a:ext>
            </a:extLst>
          </p:cNvPr>
          <p:cNvSpPr>
            <a:spLocks noGrp="1"/>
          </p:cNvSpPr>
          <p:nvPr>
            <p:ph type="title"/>
          </p:nvPr>
        </p:nvSpPr>
        <p:spPr/>
        <p:txBody>
          <a:bodyPr/>
          <a:lstStyle/>
          <a:p>
            <a:r>
              <a:rPr lang="en-US" dirty="0"/>
              <a:t>Introducing phase composition</a:t>
            </a:r>
          </a:p>
        </p:txBody>
      </p:sp>
      <p:sp>
        <p:nvSpPr>
          <p:cNvPr id="4" name="Date Placeholder 3">
            <a:extLst>
              <a:ext uri="{FF2B5EF4-FFF2-40B4-BE49-F238E27FC236}">
                <a16:creationId xmlns:a16="http://schemas.microsoft.com/office/drawing/2014/main" id="{E7E10BE5-6EC9-C449-BE7D-357B180EEC76}"/>
              </a:ext>
            </a:extLst>
          </p:cNvPr>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a:extLst>
              <a:ext uri="{FF2B5EF4-FFF2-40B4-BE49-F238E27FC236}">
                <a16:creationId xmlns:a16="http://schemas.microsoft.com/office/drawing/2014/main" id="{CEF6B6F4-64A3-094C-88A5-A5A745170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04809D-6C9F-A94D-AC41-A4E48C8B8164}"/>
              </a:ext>
            </a:extLst>
          </p:cNvPr>
          <p:cNvSpPr>
            <a:spLocks noGrp="1"/>
          </p:cNvSpPr>
          <p:nvPr>
            <p:ph type="sldNum" sz="quarter" idx="12"/>
          </p:nvPr>
        </p:nvSpPr>
        <p:spPr/>
        <p:txBody>
          <a:bodyPr/>
          <a:lstStyle/>
          <a:p>
            <a:fld id="{223FD816-CC6A-BF43-8241-637E3E7EAA5A}" type="slidenum">
              <a:rPr lang="en-US" smtClean="0"/>
              <a:pPr/>
              <a:t>6</a:t>
            </a:fld>
            <a:endParaRPr lang="en-US"/>
          </a:p>
        </p:txBody>
      </p:sp>
      <p:graphicFrame>
        <p:nvGraphicFramePr>
          <p:cNvPr id="9" name="Object 8">
            <a:extLst>
              <a:ext uri="{FF2B5EF4-FFF2-40B4-BE49-F238E27FC236}">
                <a16:creationId xmlns:a16="http://schemas.microsoft.com/office/drawing/2014/main" id="{C42F25BD-B666-F04D-BACE-0DE14FFEB257}"/>
              </a:ext>
            </a:extLst>
          </p:cNvPr>
          <p:cNvGraphicFramePr>
            <a:graphicFrameLocks noChangeAspect="1"/>
          </p:cNvGraphicFramePr>
          <p:nvPr>
            <p:extLst>
              <p:ext uri="{D42A27DB-BD31-4B8C-83A1-F6EECF244321}">
                <p14:modId xmlns:p14="http://schemas.microsoft.com/office/powerpoint/2010/main" val="614405940"/>
              </p:ext>
            </p:extLst>
          </p:nvPr>
        </p:nvGraphicFramePr>
        <p:xfrm>
          <a:off x="1547664" y="5579354"/>
          <a:ext cx="5872608" cy="784428"/>
        </p:xfrm>
        <a:graphic>
          <a:graphicData uri="http://schemas.openxmlformats.org/presentationml/2006/ole">
            <mc:AlternateContent xmlns:mc="http://schemas.openxmlformats.org/markup-compatibility/2006">
              <mc:Choice xmlns:v="urn:schemas-microsoft-com:vml" Requires="v">
                <p:oleObj spid="_x0000_s57403" r:id="rId3" imgW="1758950" imgH="234950" progId="Equation.DSMT4">
                  <p:embed/>
                </p:oleObj>
              </mc:Choice>
              <mc:Fallback>
                <p:oleObj r:id="rId3" imgW="1758950" imgH="234950" progId="Equation.DSMT4">
                  <p:embed/>
                  <p:pic>
                    <p:nvPicPr>
                      <p:cNvPr id="9" name="Object 8">
                        <a:extLst>
                          <a:ext uri="{FF2B5EF4-FFF2-40B4-BE49-F238E27FC236}">
                            <a16:creationId xmlns:a16="http://schemas.microsoft.com/office/drawing/2014/main" id="{C42F25BD-B666-F04D-BACE-0DE14FFEB2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5579354"/>
                        <a:ext cx="5872608" cy="784428"/>
                      </a:xfrm>
                      <a:prstGeom prst="rect">
                        <a:avLst/>
                      </a:prstGeom>
                      <a:noFill/>
                    </p:spPr>
                  </p:pic>
                </p:oleObj>
              </mc:Fallback>
            </mc:AlternateContent>
          </a:graphicData>
        </a:graphic>
      </p:graphicFrame>
      <p:sp>
        <p:nvSpPr>
          <p:cNvPr id="10" name="TextBox 9">
            <a:extLst>
              <a:ext uri="{FF2B5EF4-FFF2-40B4-BE49-F238E27FC236}">
                <a16:creationId xmlns:a16="http://schemas.microsoft.com/office/drawing/2014/main" id="{35C8FCBF-2459-4A44-93B2-C7687BA82F9F}"/>
              </a:ext>
            </a:extLst>
          </p:cNvPr>
          <p:cNvSpPr txBox="1">
            <a:spLocks noChangeArrowheads="1"/>
          </p:cNvSpPr>
          <p:nvPr/>
        </p:nvSpPr>
        <p:spPr bwMode="auto">
          <a:xfrm>
            <a:off x="539552" y="836712"/>
            <a:ext cx="8280920"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In the mass-based framework, the mass of each phase is the product of its density with its saturation and the porosity.</a:t>
            </a:r>
          </a:p>
          <a:p>
            <a:pPr defTabSz="457200" eaLnBrk="1" hangingPunct="1"/>
            <a:r>
              <a:rPr lang="en-AU" sz="1800" i="1" dirty="0">
                <a:solidFill>
                  <a:srgbClr val="0000FF"/>
                </a:solidFill>
              </a:rPr>
              <a:t>Now, </a:t>
            </a:r>
            <a:r>
              <a:rPr lang="en-AU" sz="1800" dirty="0">
                <a:solidFill>
                  <a:srgbClr val="0000FF"/>
                </a:solidFill>
              </a:rPr>
              <a:t>tracking the composition of each phase in terms of the mass fractions of its components </a:t>
            </a:r>
            <a:r>
              <a:rPr lang="en-AU" sz="1800" i="1" dirty="0">
                <a:solidFill>
                  <a:srgbClr val="0000FF"/>
                </a:solidFill>
              </a:rPr>
              <a:t>k</a:t>
            </a:r>
            <a:r>
              <a:rPr lang="en-AU" sz="1800" dirty="0">
                <a:solidFill>
                  <a:srgbClr val="0000FF"/>
                </a:solidFill>
              </a:rPr>
              <a:t>, </a:t>
            </a:r>
            <a:r>
              <a:rPr lang="en-AU" sz="1800" i="1" dirty="0" err="1">
                <a:solidFill>
                  <a:srgbClr val="0000FF"/>
                </a:solidFill>
              </a:rPr>
              <a:t>x</a:t>
            </a:r>
            <a:r>
              <a:rPr lang="en-AU" sz="1800" i="1" baseline="-25000" dirty="0" err="1">
                <a:solidFill>
                  <a:srgbClr val="0000FF"/>
                </a:solidFill>
              </a:rPr>
              <a:t>k</a:t>
            </a:r>
            <a:endParaRPr lang="en-AU" sz="1800" i="1" baseline="-25000" dirty="0">
              <a:solidFill>
                <a:srgbClr val="0000FF"/>
              </a:solidFill>
            </a:endParaRPr>
          </a:p>
          <a:p>
            <a:pPr defTabSz="457200" eaLnBrk="1" hangingPunct="1"/>
            <a:r>
              <a:rPr lang="en-US" sz="1800" dirty="0">
                <a:solidFill>
                  <a:srgbClr val="0000FF"/>
                </a:solidFill>
              </a:rPr>
              <a:t>The total mass of each component in the system, is the sum of its saturation weighted mass fractions in each phase.</a:t>
            </a:r>
          </a:p>
        </p:txBody>
      </p:sp>
      <p:sp>
        <p:nvSpPr>
          <p:cNvPr id="19" name="TextBox 18">
            <a:extLst>
              <a:ext uri="{FF2B5EF4-FFF2-40B4-BE49-F238E27FC236}">
                <a16:creationId xmlns:a16="http://schemas.microsoft.com/office/drawing/2014/main" id="{38F869CC-EEFB-3445-8218-B1CD53AB0FEB}"/>
              </a:ext>
            </a:extLst>
          </p:cNvPr>
          <p:cNvSpPr txBox="1">
            <a:spLocks noChangeArrowheads="1"/>
          </p:cNvSpPr>
          <p:nvPr/>
        </p:nvSpPr>
        <p:spPr bwMode="auto">
          <a:xfrm>
            <a:off x="522064" y="5320810"/>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Combining all this into a multiphase – multicomponent transport scheme:</a:t>
            </a:r>
            <a:endParaRPr lang="en-US" sz="1800" i="1" dirty="0">
              <a:solidFill>
                <a:srgbClr val="0000FF"/>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BD5580C-4C09-674F-B57C-6A12E6B8B1F5}"/>
                  </a:ext>
                </a:extLst>
              </p:cNvPr>
              <p:cNvSpPr txBox="1"/>
              <p:nvPr/>
            </p:nvSpPr>
            <p:spPr>
              <a:xfrm>
                <a:off x="3704392" y="2684114"/>
                <a:ext cx="2064732" cy="7845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𝑘</m:t>
                          </m:r>
                          <m:r>
                            <a:rPr lang="en-AU" b="0" i="1" smtClean="0">
                              <a:latin typeface="Cambria Math" panose="02040503050406030204" pitchFamily="18" charset="0"/>
                            </a:rPr>
                            <m:t>,</m:t>
                          </m:r>
                          <m:r>
                            <a:rPr lang="en-AU" b="0" i="1" smtClean="0">
                              <a:latin typeface="Cambria Math" panose="02040503050406030204" pitchFamily="18" charset="0"/>
                            </a:rPr>
                            <m:t>𝑡</m:t>
                          </m:r>
                        </m:sub>
                      </m:sSub>
                      <m:r>
                        <a:rPr lang="en-AU" b="0" i="1" smtClean="0">
                          <a:latin typeface="Cambria Math" panose="02040503050406030204" pitchFamily="18" charset="0"/>
                        </a:rPr>
                        <m:t>=</m:t>
                      </m:r>
                      <m:nary>
                        <m:naryPr>
                          <m:chr m:val="∑"/>
                          <m:ctrlPr>
                            <a:rPr lang="en-AU" b="0" i="1" smtClean="0">
                              <a:latin typeface="Cambria Math" panose="02040503050406030204" pitchFamily="18" charset="0"/>
                            </a:rPr>
                          </m:ctrlPr>
                        </m:naryPr>
                        <m:sub>
                          <m:r>
                            <m:rPr>
                              <m:brk m:alnAt="23"/>
                            </m:rPr>
                            <a:rPr lang="en-AU" b="0" i="1" smtClean="0">
                              <a:latin typeface="Cambria Math" panose="02040503050406030204" pitchFamily="18" charset="0"/>
                            </a:rPr>
                            <m:t>𝑖</m:t>
                          </m:r>
                        </m:sub>
                        <m:sup>
                          <m:r>
                            <a:rPr lang="en-AU" b="0" i="1" smtClean="0">
                              <a:latin typeface="Cambria Math" panose="02040503050406030204" pitchFamily="18" charset="0"/>
                            </a:rPr>
                            <m:t>𝑝h𝑎𝑠𝑒𝑠</m:t>
                          </m:r>
                        </m:sup>
                        <m:e>
                          <m:sSub>
                            <m:sSubPr>
                              <m:ctrlPr>
                                <a:rPr lang="en-AU" b="0" i="1" smtClean="0">
                                  <a:latin typeface="Cambria Math" panose="02040503050406030204" pitchFamily="18" charset="0"/>
                                </a:rPr>
                              </m:ctrlPr>
                            </m:sSubPr>
                            <m:e>
                              <m:r>
                                <a:rPr lang="en-AU" b="0" i="1" smtClean="0">
                                  <a:latin typeface="Cambria Math" panose="02040503050406030204" pitchFamily="18" charset="0"/>
                                </a:rPr>
                                <m:t>𝑠</m:t>
                              </m:r>
                            </m:e>
                            <m:sub>
                              <m:r>
                                <a:rPr lang="en-AU" b="0" i="1" smtClean="0">
                                  <a:latin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𝜌</m:t>
                              </m:r>
                            </m:e>
                            <m:sub>
                              <m:r>
                                <a:rPr lang="en-AU" b="0" i="1" smtClean="0">
                                  <a:latin typeface="Cambria Math" panose="02040503050406030204" pitchFamily="18" charset="0"/>
                                  <a:ea typeface="Cambria Math" panose="02040503050406030204" pitchFamily="18" charset="0"/>
                                </a:rPr>
                                <m:t>𝑖</m:t>
                              </m:r>
                            </m:sub>
                          </m:sSub>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𝑋</m:t>
                              </m:r>
                            </m:e>
                            <m:sub>
                              <m:r>
                                <a:rPr lang="en-AU" b="0" i="1" smtClean="0">
                                  <a:latin typeface="Cambria Math" panose="02040503050406030204" pitchFamily="18" charset="0"/>
                                  <a:ea typeface="Cambria Math" panose="02040503050406030204" pitchFamily="18" charset="0"/>
                                </a:rPr>
                                <m:t>𝑘</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𝑖</m:t>
                              </m:r>
                            </m:sub>
                          </m:sSub>
                        </m:e>
                      </m:nary>
                    </m:oMath>
                  </m:oMathPara>
                </a14:m>
                <a:endParaRPr lang="en-US" dirty="0"/>
              </a:p>
            </p:txBody>
          </p:sp>
        </mc:Choice>
        <mc:Fallback xmlns="">
          <p:sp>
            <p:nvSpPr>
              <p:cNvPr id="3" name="TextBox 2">
                <a:extLst>
                  <a:ext uri="{FF2B5EF4-FFF2-40B4-BE49-F238E27FC236}">
                    <a16:creationId xmlns:a16="http://schemas.microsoft.com/office/drawing/2014/main" id="{4BD5580C-4C09-674F-B57C-6A12E6B8B1F5}"/>
                  </a:ext>
                </a:extLst>
              </p:cNvPr>
              <p:cNvSpPr txBox="1">
                <a:spLocks noRot="1" noChangeAspect="1" noMove="1" noResize="1" noEditPoints="1" noAdjustHandles="1" noChangeArrowheads="1" noChangeShapeType="1" noTextEdit="1"/>
              </p:cNvSpPr>
              <p:nvPr/>
            </p:nvSpPr>
            <p:spPr>
              <a:xfrm>
                <a:off x="3704392" y="2684114"/>
                <a:ext cx="2064732" cy="784574"/>
              </a:xfrm>
              <a:prstGeom prst="rect">
                <a:avLst/>
              </a:prstGeom>
              <a:blipFill>
                <a:blip r:embed="rId5"/>
                <a:stretch>
                  <a:fillRect l="-1840" t="-107937" r="-613" b="-169841"/>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2811565C-A12E-FB43-9EB0-C5FC71E4CD51}"/>
              </a:ext>
            </a:extLst>
          </p:cNvPr>
          <p:cNvSpPr txBox="1">
            <a:spLocks noChangeArrowheads="1"/>
          </p:cNvSpPr>
          <p:nvPr/>
        </p:nvSpPr>
        <p:spPr bwMode="auto">
          <a:xfrm>
            <a:off x="539552" y="3501008"/>
            <a:ext cx="8568952"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defTabSz="457200" eaLnBrk="1" hangingPunct="1"/>
            <a:r>
              <a:rPr lang="en-AU" sz="1800" dirty="0">
                <a:solidFill>
                  <a:srgbClr val="0000FF"/>
                </a:solidFill>
              </a:rPr>
              <a:t>For the components H</a:t>
            </a:r>
            <a:r>
              <a:rPr lang="en-AU" sz="1800" baseline="-25000" dirty="0">
                <a:solidFill>
                  <a:srgbClr val="0000FF"/>
                </a:solidFill>
              </a:rPr>
              <a:t>2</a:t>
            </a:r>
            <a:r>
              <a:rPr lang="en-AU" sz="1800" dirty="0">
                <a:solidFill>
                  <a:srgbClr val="0000FF"/>
                </a:solidFill>
              </a:rPr>
              <a:t>O, CO</a:t>
            </a:r>
            <a:r>
              <a:rPr lang="en-AU" sz="1800" baseline="-25000" dirty="0">
                <a:solidFill>
                  <a:srgbClr val="0000FF"/>
                </a:solidFill>
              </a:rPr>
              <a:t>2</a:t>
            </a:r>
            <a:r>
              <a:rPr lang="en-AU" sz="1800" dirty="0">
                <a:solidFill>
                  <a:srgbClr val="0000FF"/>
                </a:solidFill>
              </a:rPr>
              <a:t> and </a:t>
            </a:r>
            <a:r>
              <a:rPr lang="en-AU" sz="1800" dirty="0" err="1">
                <a:solidFill>
                  <a:srgbClr val="0000FF"/>
                </a:solidFill>
              </a:rPr>
              <a:t>NaCl</a:t>
            </a:r>
            <a:r>
              <a:rPr lang="en-AU" sz="1800" dirty="0">
                <a:solidFill>
                  <a:srgbClr val="0000FF"/>
                </a:solidFill>
              </a:rPr>
              <a:t>, (</a:t>
            </a:r>
            <a:r>
              <a:rPr lang="en-AU" sz="1800" dirty="0" err="1">
                <a:solidFill>
                  <a:srgbClr val="0000FF"/>
                </a:solidFill>
              </a:rPr>
              <a:t>usind</a:t>
            </a:r>
            <a:r>
              <a:rPr lang="en-AU" sz="1800" dirty="0">
                <a:solidFill>
                  <a:srgbClr val="0000FF"/>
                </a:solidFill>
              </a:rPr>
              <a:t> the </a:t>
            </a:r>
            <a:r>
              <a:rPr lang="en-AU" sz="1800" dirty="0" err="1">
                <a:solidFill>
                  <a:srgbClr val="0000FF"/>
                </a:solidFill>
              </a:rPr>
              <a:t>Spycher</a:t>
            </a:r>
            <a:r>
              <a:rPr lang="en-AU" sz="1800" dirty="0">
                <a:solidFill>
                  <a:srgbClr val="0000FF"/>
                </a:solidFill>
              </a:rPr>
              <a:t> EOS), we have</a:t>
            </a:r>
            <a:endParaRPr lang="en-US" sz="1800" i="1" dirty="0">
              <a:solidFill>
                <a:srgbClr val="0000FF"/>
              </a:solidFill>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2959241A-6BC4-4945-91CE-5E27944401A9}"/>
                  </a:ext>
                </a:extLst>
              </p:cNvPr>
              <p:cNvSpPr/>
              <p:nvPr/>
            </p:nvSpPr>
            <p:spPr>
              <a:xfrm>
                <a:off x="522064" y="3970907"/>
                <a:ext cx="3606436" cy="3931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𝑋</m:t>
                          </m:r>
                        </m:e>
                        <m:sub>
                          <m:sSub>
                            <m:sSubPr>
                              <m:ctrlPr>
                                <a:rPr lang="en-AU" b="0" i="1" smtClean="0">
                                  <a:latin typeface="Cambria Math" panose="02040503050406030204" pitchFamily="18" charset="0"/>
                                </a:rPr>
                              </m:ctrlPr>
                            </m:sSubPr>
                            <m:e>
                              <m:r>
                                <a:rPr lang="en-AU" b="0" i="1" smtClean="0">
                                  <a:latin typeface="Cambria Math" panose="02040503050406030204" pitchFamily="18" charset="0"/>
                                </a:rPr>
                                <m:t>𝐻</m:t>
                              </m:r>
                            </m:e>
                            <m:sub>
                              <m:r>
                                <a:rPr lang="en-AU" b="0" i="1" smtClean="0">
                                  <a:latin typeface="Cambria Math" panose="02040503050406030204" pitchFamily="18" charset="0"/>
                                </a:rPr>
                                <m:t>2</m:t>
                              </m:r>
                            </m:sub>
                          </m:sSub>
                          <m:r>
                            <a:rPr lang="en-AU" b="0" i="1" smtClean="0">
                              <a:latin typeface="Cambria Math" panose="02040503050406030204" pitchFamily="18" charset="0"/>
                            </a:rPr>
                            <m:t>𝑂</m:t>
                          </m:r>
                          <m:r>
                            <a:rPr lang="en-AU" b="0" i="1" smtClean="0">
                              <a:latin typeface="Cambria Math" panose="02040503050406030204" pitchFamily="18" charset="0"/>
                            </a:rPr>
                            <m:t>,</m:t>
                          </m:r>
                          <m:r>
                            <a:rPr lang="en-AU" b="0" i="1" smtClean="0">
                              <a:latin typeface="Cambria Math" panose="02040503050406030204" pitchFamily="18" charset="0"/>
                            </a:rPr>
                            <m:t>𝑡𝑜𝑡𝑎𝑙</m:t>
                          </m:r>
                        </m:sub>
                      </m:sSub>
                      <m:r>
                        <a:rPr lang="en-AU" b="0" i="1" smtClean="0">
                          <a:latin typeface="Cambria Math" panose="02040503050406030204" pitchFamily="18" charset="0"/>
                        </a:rPr>
                        <m:t>=</m:t>
                      </m:r>
                      <m:sSub>
                        <m:sSubPr>
                          <m:ctrlPr>
                            <a:rPr lang="en-US" i="1">
                              <a:latin typeface="Cambria Math" panose="02040503050406030204" pitchFamily="18" charset="0"/>
                            </a:rPr>
                          </m:ctrlPr>
                        </m:sSub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𝑠</m:t>
                              </m:r>
                            </m:e>
                            <m:sub>
                              <m:r>
                                <a:rPr lang="en-AU" b="0" i="1" smtClean="0">
                                  <a:latin typeface="Cambria Math" panose="02040503050406030204" pitchFamily="18" charset="0"/>
                                </a:rPr>
                                <m:t>1</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𝜌</m:t>
                              </m:r>
                            </m:e>
                            <m:sub>
                              <m:r>
                                <a:rPr lang="en-AU" b="0" i="1" smtClean="0">
                                  <a:latin typeface="Cambria Math" panose="02040503050406030204" pitchFamily="18" charset="0"/>
                                </a:rPr>
                                <m:t>1</m:t>
                              </m:r>
                            </m:sub>
                          </m:sSub>
                          <m:r>
                            <a:rPr lang="en-AU" i="1">
                              <a:latin typeface="Cambria Math" panose="02040503050406030204" pitchFamily="18" charset="0"/>
                            </a:rPr>
                            <m:t>𝑋</m:t>
                          </m:r>
                        </m:e>
                        <m:sub>
                          <m:sSub>
                            <m:sSubPr>
                              <m:ctrlPr>
                                <a:rPr lang="en-AU" i="1">
                                  <a:latin typeface="Cambria Math" panose="02040503050406030204" pitchFamily="18" charset="0"/>
                                </a:rPr>
                              </m:ctrlPr>
                            </m:sSubPr>
                            <m:e>
                              <m:r>
                                <a:rPr lang="en-AU" i="1">
                                  <a:latin typeface="Cambria Math" panose="02040503050406030204" pitchFamily="18" charset="0"/>
                                </a:rPr>
                                <m:t>𝐻</m:t>
                              </m:r>
                            </m:e>
                            <m:sub>
                              <m:r>
                                <a:rPr lang="en-AU" i="1">
                                  <a:latin typeface="Cambria Math" panose="02040503050406030204" pitchFamily="18" charset="0"/>
                                </a:rPr>
                                <m:t>2</m:t>
                              </m:r>
                            </m:sub>
                          </m:sSub>
                          <m:r>
                            <a:rPr lang="en-AU" i="1">
                              <a:latin typeface="Cambria Math" panose="02040503050406030204" pitchFamily="18" charset="0"/>
                            </a:rPr>
                            <m:t>𝑂</m:t>
                          </m:r>
                        </m:sub>
                      </m:sSub>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m:rPr>
                              <m:sty m:val="p"/>
                            </m:rPr>
                            <a:rPr lang="en-AU" b="0" i="0" smtClean="0">
                              <a:latin typeface="Cambria Math" panose="02040503050406030204" pitchFamily="18" charset="0"/>
                            </a:rPr>
                            <m:t>s</m:t>
                          </m:r>
                        </m:e>
                        <m:sub>
                          <m:r>
                            <a:rPr lang="en-AU" b="0" i="0" smtClean="0">
                              <a:latin typeface="Cambria Math" panose="02040503050406030204" pitchFamily="18" charset="0"/>
                            </a:rPr>
                            <m:t>2</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𝜌</m:t>
                          </m:r>
                        </m:e>
                        <m:sub>
                          <m:r>
                            <a:rPr lang="en-AU" b="0" i="0" smtClean="0">
                              <a:latin typeface="Cambria Math" panose="02040503050406030204" pitchFamily="18" charset="0"/>
                            </a:rPr>
                            <m:t>2 </m:t>
                          </m:r>
                        </m:sub>
                      </m:sSub>
                      <m:sSub>
                        <m:sSubPr>
                          <m:ctrlPr>
                            <a:rPr lang="en-US" i="1">
                              <a:latin typeface="Cambria Math" panose="02040503050406030204" pitchFamily="18" charset="0"/>
                            </a:rPr>
                          </m:ctrlPr>
                        </m:sSubPr>
                        <m:e>
                          <m:r>
                            <a:rPr lang="en-AU" b="0" i="1" smtClean="0">
                              <a:latin typeface="Cambria Math" panose="02040503050406030204" pitchFamily="18" charset="0"/>
                            </a:rPr>
                            <m:t>𝑌</m:t>
                          </m:r>
                        </m:e>
                        <m:sub>
                          <m:sSub>
                            <m:sSubPr>
                              <m:ctrlPr>
                                <a:rPr lang="en-AU" i="1">
                                  <a:latin typeface="Cambria Math" panose="02040503050406030204" pitchFamily="18" charset="0"/>
                                </a:rPr>
                              </m:ctrlPr>
                            </m:sSubPr>
                            <m:e>
                              <m:r>
                                <a:rPr lang="en-AU" i="1">
                                  <a:latin typeface="Cambria Math" panose="02040503050406030204" pitchFamily="18" charset="0"/>
                                </a:rPr>
                                <m:t>𝐻</m:t>
                              </m:r>
                            </m:e>
                            <m:sub>
                              <m:r>
                                <a:rPr lang="en-AU" i="1">
                                  <a:latin typeface="Cambria Math" panose="02040503050406030204" pitchFamily="18" charset="0"/>
                                </a:rPr>
                                <m:t>2</m:t>
                              </m:r>
                            </m:sub>
                          </m:sSub>
                          <m:r>
                            <a:rPr lang="en-AU" i="1">
                              <a:latin typeface="Cambria Math" panose="02040503050406030204" pitchFamily="18" charset="0"/>
                            </a:rPr>
                            <m:t>𝑂</m:t>
                          </m:r>
                        </m:sub>
                      </m:sSub>
                    </m:oMath>
                  </m:oMathPara>
                </a14:m>
                <a:endParaRPr lang="en-AU" b="0" dirty="0"/>
              </a:p>
            </p:txBody>
          </p:sp>
        </mc:Choice>
        <mc:Fallback xmlns="">
          <p:sp>
            <p:nvSpPr>
              <p:cNvPr id="15" name="Rectangle 14">
                <a:extLst>
                  <a:ext uri="{FF2B5EF4-FFF2-40B4-BE49-F238E27FC236}">
                    <a16:creationId xmlns:a16="http://schemas.microsoft.com/office/drawing/2014/main" id="{2959241A-6BC4-4945-91CE-5E27944401A9}"/>
                  </a:ext>
                </a:extLst>
              </p:cNvPr>
              <p:cNvSpPr>
                <a:spLocks noRot="1" noChangeAspect="1" noMove="1" noResize="1" noEditPoints="1" noAdjustHandles="1" noChangeArrowheads="1" noChangeShapeType="1" noTextEdit="1"/>
              </p:cNvSpPr>
              <p:nvPr/>
            </p:nvSpPr>
            <p:spPr>
              <a:xfrm>
                <a:off x="522064" y="3970907"/>
                <a:ext cx="3606436" cy="393121"/>
              </a:xfrm>
              <a:prstGeom prst="rect">
                <a:avLst/>
              </a:prstGeom>
              <a:blipFill>
                <a:blip r:embed="rId6"/>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BEDCD582-94FA-E348-A3F3-9CB6F08608B7}"/>
                  </a:ext>
                </a:extLst>
              </p:cNvPr>
              <p:cNvSpPr/>
              <p:nvPr/>
            </p:nvSpPr>
            <p:spPr>
              <a:xfrm>
                <a:off x="523859" y="4347193"/>
                <a:ext cx="3597523" cy="3931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𝑋</m:t>
                          </m:r>
                        </m:e>
                        <m:sub>
                          <m:sSub>
                            <m:sSubPr>
                              <m:ctrlPr>
                                <a:rPr lang="en-AU" b="0" i="1" smtClean="0">
                                  <a:latin typeface="Cambria Math" panose="02040503050406030204" pitchFamily="18" charset="0"/>
                                </a:rPr>
                              </m:ctrlPr>
                            </m:sSubPr>
                            <m:e>
                              <m:r>
                                <a:rPr lang="en-AU" b="0" i="1" smtClean="0">
                                  <a:latin typeface="Cambria Math" panose="02040503050406030204" pitchFamily="18" charset="0"/>
                                </a:rPr>
                                <m:t>𝐶𝑂</m:t>
                              </m:r>
                            </m:e>
                            <m:sub>
                              <m:r>
                                <a:rPr lang="en-AU" b="0" i="1" smtClean="0">
                                  <a:latin typeface="Cambria Math" panose="02040503050406030204" pitchFamily="18" charset="0"/>
                                </a:rPr>
                                <m:t>2</m:t>
                              </m:r>
                            </m:sub>
                          </m:sSub>
                          <m:r>
                            <a:rPr lang="en-AU" b="0" i="1" smtClean="0">
                              <a:latin typeface="Cambria Math" panose="02040503050406030204" pitchFamily="18" charset="0"/>
                            </a:rPr>
                            <m:t>,</m:t>
                          </m:r>
                          <m:r>
                            <a:rPr lang="en-AU" b="0" i="1" smtClean="0">
                              <a:latin typeface="Cambria Math" panose="02040503050406030204" pitchFamily="18" charset="0"/>
                            </a:rPr>
                            <m:t>𝑡𝑜𝑡𝑎𝑙</m:t>
                          </m:r>
                        </m:sub>
                      </m:sSub>
                      <m:r>
                        <a:rPr lang="en-AU" b="0" i="1" smtClean="0">
                          <a:latin typeface="Cambria Math" panose="02040503050406030204" pitchFamily="18" charset="0"/>
                        </a:rPr>
                        <m:t>=</m:t>
                      </m:r>
                      <m:sSub>
                        <m:sSubPr>
                          <m:ctrlPr>
                            <a:rPr lang="en-US" i="1">
                              <a:latin typeface="Cambria Math" panose="02040503050406030204" pitchFamily="18" charset="0"/>
                            </a:rPr>
                          </m:ctrlPr>
                        </m:sSub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𝑠</m:t>
                              </m:r>
                            </m:e>
                            <m:sub>
                              <m:r>
                                <a:rPr lang="en-AU" b="0" i="1" smtClean="0">
                                  <a:latin typeface="Cambria Math" panose="02040503050406030204" pitchFamily="18" charset="0"/>
                                </a:rPr>
                                <m:t>1</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𝜌</m:t>
                              </m:r>
                            </m:e>
                            <m:sub>
                              <m:r>
                                <a:rPr lang="en-AU" b="0" i="1" smtClean="0">
                                  <a:latin typeface="Cambria Math" panose="02040503050406030204" pitchFamily="18" charset="0"/>
                                </a:rPr>
                                <m:t>1</m:t>
                              </m:r>
                            </m:sub>
                          </m:sSub>
                          <m:r>
                            <a:rPr lang="en-AU" i="1">
                              <a:latin typeface="Cambria Math" panose="02040503050406030204" pitchFamily="18" charset="0"/>
                            </a:rPr>
                            <m:t>𝑋</m:t>
                          </m:r>
                        </m:e>
                        <m:sub>
                          <m:sSub>
                            <m:sSubPr>
                              <m:ctrlPr>
                                <a:rPr lang="en-AU" i="1">
                                  <a:latin typeface="Cambria Math" panose="02040503050406030204" pitchFamily="18" charset="0"/>
                                </a:rPr>
                              </m:ctrlPr>
                            </m:sSubPr>
                            <m:e>
                              <m:r>
                                <a:rPr lang="en-AU" b="0" i="1" smtClean="0">
                                  <a:latin typeface="Cambria Math" panose="02040503050406030204" pitchFamily="18" charset="0"/>
                                </a:rPr>
                                <m:t>𝐶𝑂</m:t>
                              </m:r>
                            </m:e>
                            <m:sub>
                              <m:r>
                                <a:rPr lang="en-AU" i="1">
                                  <a:latin typeface="Cambria Math" panose="02040503050406030204" pitchFamily="18" charset="0"/>
                                </a:rPr>
                                <m:t>2</m:t>
                              </m:r>
                            </m:sub>
                          </m:sSub>
                        </m:sub>
                      </m:sSub>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m:rPr>
                              <m:sty m:val="p"/>
                            </m:rPr>
                            <a:rPr lang="en-AU" b="0" i="0" smtClean="0">
                              <a:latin typeface="Cambria Math" panose="02040503050406030204" pitchFamily="18" charset="0"/>
                            </a:rPr>
                            <m:t>s</m:t>
                          </m:r>
                        </m:e>
                        <m:sub>
                          <m:r>
                            <a:rPr lang="en-AU" b="0" i="0" smtClean="0">
                              <a:latin typeface="Cambria Math" panose="02040503050406030204" pitchFamily="18" charset="0"/>
                            </a:rPr>
                            <m:t>2</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𝜌</m:t>
                          </m:r>
                        </m:e>
                        <m:sub>
                          <m:r>
                            <a:rPr lang="en-AU" b="0" i="0" smtClean="0">
                              <a:latin typeface="Cambria Math" panose="02040503050406030204" pitchFamily="18" charset="0"/>
                            </a:rPr>
                            <m:t>2 </m:t>
                          </m:r>
                        </m:sub>
                      </m:sSub>
                      <m:sSub>
                        <m:sSubPr>
                          <m:ctrlPr>
                            <a:rPr lang="en-US" i="1">
                              <a:latin typeface="Cambria Math" panose="02040503050406030204" pitchFamily="18" charset="0"/>
                            </a:rPr>
                          </m:ctrlPr>
                        </m:sSubPr>
                        <m:e>
                          <m:r>
                            <a:rPr lang="en-AU" b="0" i="1" smtClean="0">
                              <a:latin typeface="Cambria Math" panose="02040503050406030204" pitchFamily="18" charset="0"/>
                            </a:rPr>
                            <m:t>𝑌</m:t>
                          </m:r>
                        </m:e>
                        <m:sub>
                          <m:sSub>
                            <m:sSubPr>
                              <m:ctrlPr>
                                <a:rPr lang="en-AU" i="1">
                                  <a:latin typeface="Cambria Math" panose="02040503050406030204" pitchFamily="18" charset="0"/>
                                </a:rPr>
                              </m:ctrlPr>
                            </m:sSubPr>
                            <m:e>
                              <m:r>
                                <a:rPr lang="en-AU" b="0" i="1" smtClean="0">
                                  <a:latin typeface="Cambria Math" panose="02040503050406030204" pitchFamily="18" charset="0"/>
                                </a:rPr>
                                <m:t>𝐶𝑂</m:t>
                              </m:r>
                            </m:e>
                            <m:sub>
                              <m:r>
                                <a:rPr lang="en-AU" i="1">
                                  <a:latin typeface="Cambria Math" panose="02040503050406030204" pitchFamily="18" charset="0"/>
                                </a:rPr>
                                <m:t>2</m:t>
                              </m:r>
                            </m:sub>
                          </m:sSub>
                        </m:sub>
                      </m:sSub>
                    </m:oMath>
                  </m:oMathPara>
                </a14:m>
                <a:endParaRPr lang="en-AU" b="0" dirty="0"/>
              </a:p>
            </p:txBody>
          </p:sp>
        </mc:Choice>
        <mc:Fallback xmlns="">
          <p:sp>
            <p:nvSpPr>
              <p:cNvPr id="25" name="Rectangle 24">
                <a:extLst>
                  <a:ext uri="{FF2B5EF4-FFF2-40B4-BE49-F238E27FC236}">
                    <a16:creationId xmlns:a16="http://schemas.microsoft.com/office/drawing/2014/main" id="{BEDCD582-94FA-E348-A3F3-9CB6F08608B7}"/>
                  </a:ext>
                </a:extLst>
              </p:cNvPr>
              <p:cNvSpPr>
                <a:spLocks noRot="1" noChangeAspect="1" noMove="1" noResize="1" noEditPoints="1" noAdjustHandles="1" noChangeArrowheads="1" noChangeShapeType="1" noTextEdit="1"/>
              </p:cNvSpPr>
              <p:nvPr/>
            </p:nvSpPr>
            <p:spPr>
              <a:xfrm>
                <a:off x="523859" y="4347193"/>
                <a:ext cx="3597523" cy="393121"/>
              </a:xfrm>
              <a:prstGeom prst="rect">
                <a:avLst/>
              </a:prstGeom>
              <a:blipFill>
                <a:blip r:embed="rId7"/>
                <a:stretch>
                  <a:fillRect b="-9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7727155E-0AD4-2F4E-93F0-F9B97821A542}"/>
                  </a:ext>
                </a:extLst>
              </p:cNvPr>
              <p:cNvSpPr/>
              <p:nvPr/>
            </p:nvSpPr>
            <p:spPr>
              <a:xfrm>
                <a:off x="535843" y="4778087"/>
                <a:ext cx="4466030" cy="3907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𝑁𝑎𝐶𝑙</m:t>
                          </m:r>
                          <m:r>
                            <a:rPr lang="en-AU" b="0" i="1" smtClean="0">
                              <a:latin typeface="Cambria Math" panose="02040503050406030204" pitchFamily="18" charset="0"/>
                            </a:rPr>
                            <m:t>,</m:t>
                          </m:r>
                          <m:r>
                            <a:rPr lang="en-AU" b="0" i="1" smtClean="0">
                              <a:latin typeface="Cambria Math" panose="02040503050406030204" pitchFamily="18" charset="0"/>
                            </a:rPr>
                            <m:t>𝑡𝑜𝑡𝑎𝑙</m:t>
                          </m:r>
                        </m:sub>
                      </m:sSub>
                      <m:r>
                        <a:rPr lang="en-AU" b="0" i="1" smtClean="0">
                          <a:latin typeface="Cambria Math" panose="02040503050406030204" pitchFamily="18" charset="0"/>
                        </a:rPr>
                        <m:t>=</m:t>
                      </m:r>
                      <m:sSub>
                        <m:sSubPr>
                          <m:ctrlPr>
                            <a:rPr lang="en-US" i="1">
                              <a:latin typeface="Cambria Math" panose="02040503050406030204" pitchFamily="18" charset="0"/>
                            </a:rPr>
                          </m:ctrlPr>
                        </m:sSubPr>
                        <m:e>
                          <m:sSub>
                            <m:sSubPr>
                              <m:ctrlPr>
                                <a:rPr lang="en-AU" b="0" i="1" smtClean="0">
                                  <a:latin typeface="Cambria Math" panose="02040503050406030204" pitchFamily="18" charset="0"/>
                                </a:rPr>
                              </m:ctrlPr>
                            </m:sSubPr>
                            <m:e>
                              <m:r>
                                <a:rPr lang="en-AU" b="0" i="1" smtClean="0">
                                  <a:latin typeface="Cambria Math" panose="02040503050406030204" pitchFamily="18" charset="0"/>
                                </a:rPr>
                                <m:t>𝑠</m:t>
                              </m:r>
                            </m:e>
                            <m:sub>
                              <m:r>
                                <a:rPr lang="en-AU" b="0" i="1" smtClean="0">
                                  <a:latin typeface="Cambria Math" panose="02040503050406030204" pitchFamily="18" charset="0"/>
                                </a:rPr>
                                <m:t>1</m:t>
                              </m:r>
                            </m:sub>
                          </m:sSub>
                          <m:sSub>
                            <m:sSubPr>
                              <m:ctrlPr>
                                <a:rPr lang="en-AU" b="0" i="1" smtClean="0">
                                  <a:latin typeface="Cambria Math" panose="02040503050406030204" pitchFamily="18" charset="0"/>
                                </a:rPr>
                              </m:ctrlPr>
                            </m:sSubPr>
                            <m:e>
                              <m:r>
                                <a:rPr lang="en-AU" b="0" i="1" smtClean="0">
                                  <a:latin typeface="Cambria Math" panose="02040503050406030204" pitchFamily="18" charset="0"/>
                                </a:rPr>
                                <m:t>𝜌</m:t>
                              </m:r>
                            </m:e>
                            <m:sub>
                              <m:r>
                                <a:rPr lang="en-AU" b="0" i="1" smtClean="0">
                                  <a:latin typeface="Cambria Math" panose="02040503050406030204" pitchFamily="18" charset="0"/>
                                </a:rPr>
                                <m:t>1</m:t>
                              </m:r>
                            </m:sub>
                          </m:sSub>
                          <m:r>
                            <a:rPr lang="en-AU" i="1">
                              <a:latin typeface="Cambria Math" panose="02040503050406030204" pitchFamily="18" charset="0"/>
                            </a:rPr>
                            <m:t>𝑋</m:t>
                          </m:r>
                        </m:e>
                        <m:sub>
                          <m:r>
                            <a:rPr lang="en-AU" b="0" i="1" smtClean="0">
                              <a:latin typeface="Cambria Math" panose="02040503050406030204" pitchFamily="18" charset="0"/>
                            </a:rPr>
                            <m:t>𝑁𝑎𝐶𝑙</m:t>
                          </m:r>
                        </m:sub>
                      </m:sSub>
                      <m:r>
                        <a:rPr lang="en-AU" b="0" i="0"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𝑁𝑎𝐶𝑙</m:t>
                          </m:r>
                          <m:r>
                            <a:rPr lang="en-AU" b="0" i="1" smtClean="0">
                              <a:latin typeface="Cambria Math" panose="02040503050406030204" pitchFamily="18" charset="0"/>
                            </a:rPr>
                            <m:t>,</m:t>
                          </m:r>
                          <m:r>
                            <a:rPr lang="en-AU" b="0" i="1" smtClean="0">
                              <a:latin typeface="Cambria Math" panose="02040503050406030204" pitchFamily="18" charset="0"/>
                            </a:rPr>
                            <m:t>𝑝𝑟𝑒𝑐𝑖𝑝𝑖𝑡𝑎𝑡𝑒𝑑</m:t>
                          </m:r>
                          <m:r>
                            <a:rPr lang="en-AU" b="0" i="1" smtClean="0">
                              <a:latin typeface="Cambria Math" panose="02040503050406030204" pitchFamily="18" charset="0"/>
                            </a:rPr>
                            <m:t> </m:t>
                          </m:r>
                        </m:sub>
                      </m:sSub>
                    </m:oMath>
                  </m:oMathPara>
                </a14:m>
                <a:endParaRPr lang="en-AU" b="0" dirty="0"/>
              </a:p>
            </p:txBody>
          </p:sp>
        </mc:Choice>
        <mc:Fallback xmlns="">
          <p:sp>
            <p:nvSpPr>
              <p:cNvPr id="26" name="Rectangle 25">
                <a:extLst>
                  <a:ext uri="{FF2B5EF4-FFF2-40B4-BE49-F238E27FC236}">
                    <a16:creationId xmlns:a16="http://schemas.microsoft.com/office/drawing/2014/main" id="{7727155E-0AD4-2F4E-93F0-F9B97821A542}"/>
                  </a:ext>
                </a:extLst>
              </p:cNvPr>
              <p:cNvSpPr>
                <a:spLocks noRot="1" noChangeAspect="1" noMove="1" noResize="1" noEditPoints="1" noAdjustHandles="1" noChangeArrowheads="1" noChangeShapeType="1" noTextEdit="1"/>
              </p:cNvSpPr>
              <p:nvPr/>
            </p:nvSpPr>
            <p:spPr>
              <a:xfrm>
                <a:off x="535843" y="4778087"/>
                <a:ext cx="4466030" cy="390748"/>
              </a:xfrm>
              <a:prstGeom prst="rect">
                <a:avLst/>
              </a:prstGeom>
              <a:blipFill>
                <a:blip r:embed="rId8"/>
                <a:stretch>
                  <a:fillRect b="-6250"/>
                </a:stretch>
              </a:blipFill>
            </p:spPr>
            <p:txBody>
              <a:bodyPr/>
              <a:lstStyle/>
              <a:p>
                <a:r>
                  <a:rPr lang="en-US">
                    <a:noFill/>
                  </a:rPr>
                  <a:t> </a:t>
                </a:r>
              </a:p>
            </p:txBody>
          </p:sp>
        </mc:Fallback>
      </mc:AlternateContent>
    </p:spTree>
    <p:extLst>
      <p:ext uri="{BB962C8B-B14F-4D97-AF65-F5344CB8AC3E}">
        <p14:creationId xmlns:p14="http://schemas.microsoft.com/office/powerpoint/2010/main" val="1414288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CB8CA34-5CDA-8E46-BD3E-320034326310}"/>
              </a:ext>
            </a:extLst>
          </p:cNvPr>
          <p:cNvSpPr>
            <a:spLocks noGrp="1" noChangeArrowheads="1"/>
          </p:cNvSpPr>
          <p:nvPr>
            <p:ph type="title"/>
          </p:nvPr>
        </p:nvSpPr>
        <p:spPr>
          <a:xfrm>
            <a:off x="152400" y="294928"/>
            <a:ext cx="8839200" cy="685800"/>
          </a:xfrm>
        </p:spPr>
        <p:txBody>
          <a:bodyPr>
            <a:normAutofit fontScale="90000"/>
          </a:bodyPr>
          <a:lstStyle/>
          <a:p>
            <a:r>
              <a:rPr lang="en-US" altLang="en-US" sz="3000" dirty="0">
                <a:latin typeface="Helvetica" pitchFamily="2" charset="0"/>
              </a:rPr>
              <a:t>In depth review: </a:t>
            </a:r>
            <a:br>
              <a:rPr lang="en-US" altLang="en-US" sz="3000" dirty="0">
                <a:latin typeface="Helvetica" pitchFamily="2" charset="0"/>
              </a:rPr>
            </a:br>
            <a:r>
              <a:rPr lang="en-US" altLang="en-US" sz="3000" dirty="0">
                <a:latin typeface="Helvetica" pitchFamily="2" charset="0"/>
              </a:rPr>
              <a:t>        pressure equation from conservation of fluid mass </a:t>
            </a:r>
          </a:p>
        </p:txBody>
      </p:sp>
      <p:grpSp>
        <p:nvGrpSpPr>
          <p:cNvPr id="12316" name="Group 28">
            <a:extLst>
              <a:ext uri="{FF2B5EF4-FFF2-40B4-BE49-F238E27FC236}">
                <a16:creationId xmlns:a16="http://schemas.microsoft.com/office/drawing/2014/main" id="{C2F38227-98DB-0046-BBE5-3A025688F6F4}"/>
              </a:ext>
            </a:extLst>
          </p:cNvPr>
          <p:cNvGrpSpPr>
            <a:grpSpLocks/>
          </p:cNvGrpSpPr>
          <p:nvPr/>
        </p:nvGrpSpPr>
        <p:grpSpPr bwMode="auto">
          <a:xfrm>
            <a:off x="152400" y="1745219"/>
            <a:ext cx="5478463" cy="571500"/>
            <a:chOff x="96" y="1346"/>
            <a:chExt cx="3451" cy="360"/>
          </a:xfrm>
        </p:grpSpPr>
        <p:pic>
          <p:nvPicPr>
            <p:cNvPr id="12295" name="Picture 7">
              <a:extLst>
                <a:ext uri="{FF2B5EF4-FFF2-40B4-BE49-F238E27FC236}">
                  <a16:creationId xmlns:a16="http://schemas.microsoft.com/office/drawing/2014/main" id="{3D6A6A7E-6464-7446-B6C5-D16D22C4B4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5" y="1346"/>
              <a:ext cx="1302" cy="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299" name="Rectangle 11">
              <a:extLst>
                <a:ext uri="{FF2B5EF4-FFF2-40B4-BE49-F238E27FC236}">
                  <a16:creationId xmlns:a16="http://schemas.microsoft.com/office/drawing/2014/main" id="{C6643BF7-2F36-2F42-AA89-9BDD410A5B92}"/>
                </a:ext>
              </a:extLst>
            </p:cNvPr>
            <p:cNvSpPr>
              <a:spLocks noChangeArrowheads="1"/>
            </p:cNvSpPr>
            <p:nvPr/>
          </p:nvSpPr>
          <p:spPr bwMode="auto">
            <a:xfrm>
              <a:off x="96" y="1437"/>
              <a:ext cx="673"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Darcy’s law:</a:t>
              </a:r>
              <a:endParaRPr lang="en-US" altLang="en-US" sz="1200" b="1">
                <a:latin typeface="Helvetica" pitchFamily="2" charset="0"/>
              </a:endParaRPr>
            </a:p>
          </p:txBody>
        </p:sp>
      </p:grpSp>
      <p:grpSp>
        <p:nvGrpSpPr>
          <p:cNvPr id="12300" name="Group 12">
            <a:extLst>
              <a:ext uri="{FF2B5EF4-FFF2-40B4-BE49-F238E27FC236}">
                <a16:creationId xmlns:a16="http://schemas.microsoft.com/office/drawing/2014/main" id="{2447CBEF-59F3-9442-8172-B4352B27CE5C}"/>
              </a:ext>
            </a:extLst>
          </p:cNvPr>
          <p:cNvGrpSpPr>
            <a:grpSpLocks/>
          </p:cNvGrpSpPr>
          <p:nvPr/>
        </p:nvGrpSpPr>
        <p:grpSpPr bwMode="auto">
          <a:xfrm>
            <a:off x="152400" y="1052736"/>
            <a:ext cx="5967413" cy="533400"/>
            <a:chOff x="96" y="720"/>
            <a:chExt cx="3759" cy="336"/>
          </a:xfrm>
        </p:grpSpPr>
        <p:sp>
          <p:nvSpPr>
            <p:cNvPr id="12301" name="Rectangle 13">
              <a:extLst>
                <a:ext uri="{FF2B5EF4-FFF2-40B4-BE49-F238E27FC236}">
                  <a16:creationId xmlns:a16="http://schemas.microsoft.com/office/drawing/2014/main" id="{FB587745-B322-9B45-A1FD-8DB74A14C6B6}"/>
                </a:ext>
              </a:extLst>
            </p:cNvPr>
            <p:cNvSpPr>
              <a:spLocks noChangeArrowheads="1"/>
            </p:cNvSpPr>
            <p:nvPr/>
          </p:nvSpPr>
          <p:spPr bwMode="auto">
            <a:xfrm>
              <a:off x="96" y="801"/>
              <a:ext cx="1148"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Conservation of mass:</a:t>
              </a:r>
              <a:endParaRPr lang="en-US" altLang="en-US" sz="1200" b="1">
                <a:latin typeface="Helvetica" pitchFamily="2" charset="0"/>
              </a:endParaRPr>
            </a:p>
          </p:txBody>
        </p:sp>
        <p:pic>
          <p:nvPicPr>
            <p:cNvPr id="12302" name="Picture 14">
              <a:extLst>
                <a:ext uri="{FF2B5EF4-FFF2-40B4-BE49-F238E27FC236}">
                  <a16:creationId xmlns:a16="http://schemas.microsoft.com/office/drawing/2014/main" id="{29290A5A-19B9-EE43-80F9-64A352B29C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 y="720"/>
              <a:ext cx="1950" cy="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2303" name="Group 15">
            <a:extLst>
              <a:ext uri="{FF2B5EF4-FFF2-40B4-BE49-F238E27FC236}">
                <a16:creationId xmlns:a16="http://schemas.microsoft.com/office/drawing/2014/main" id="{CBC38D4F-9E4B-6845-A502-81BF0C06BC3A}"/>
              </a:ext>
            </a:extLst>
          </p:cNvPr>
          <p:cNvGrpSpPr>
            <a:grpSpLocks/>
          </p:cNvGrpSpPr>
          <p:nvPr/>
        </p:nvGrpSpPr>
        <p:grpSpPr bwMode="auto">
          <a:xfrm>
            <a:off x="152400" y="3448700"/>
            <a:ext cx="6076950" cy="619125"/>
            <a:chOff x="96" y="2586"/>
            <a:chExt cx="3828" cy="390"/>
          </a:xfrm>
        </p:grpSpPr>
        <p:sp>
          <p:nvSpPr>
            <p:cNvPr id="12304" name="Rectangle 16">
              <a:extLst>
                <a:ext uri="{FF2B5EF4-FFF2-40B4-BE49-F238E27FC236}">
                  <a16:creationId xmlns:a16="http://schemas.microsoft.com/office/drawing/2014/main" id="{F899B680-DA53-2645-8069-232F2429E4D5}"/>
                </a:ext>
              </a:extLst>
            </p:cNvPr>
            <p:cNvSpPr>
              <a:spLocks noChangeArrowheads="1"/>
            </p:cNvSpPr>
            <p:nvPr/>
          </p:nvSpPr>
          <p:spPr bwMode="auto">
            <a:xfrm>
              <a:off x="96" y="2694"/>
              <a:ext cx="1311"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dirty="0">
                  <a:latin typeface="Helvetica" pitchFamily="2" charset="0"/>
                </a:rPr>
                <a:t>Thermodynamic relations:</a:t>
              </a:r>
              <a:endParaRPr lang="en-US" altLang="en-US" sz="1200" b="1" dirty="0">
                <a:latin typeface="Helvetica" pitchFamily="2" charset="0"/>
              </a:endParaRPr>
            </a:p>
          </p:txBody>
        </p:sp>
        <p:pic>
          <p:nvPicPr>
            <p:cNvPr id="12305" name="Picture 17">
              <a:extLst>
                <a:ext uri="{FF2B5EF4-FFF2-40B4-BE49-F238E27FC236}">
                  <a16:creationId xmlns:a16="http://schemas.microsoft.com/office/drawing/2014/main" id="{073C0A80-7DD5-CF43-9C1C-E0F79D7CB4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6" y="2586"/>
              <a:ext cx="2088" cy="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2306" name="Group 18">
            <a:extLst>
              <a:ext uri="{FF2B5EF4-FFF2-40B4-BE49-F238E27FC236}">
                <a16:creationId xmlns:a16="http://schemas.microsoft.com/office/drawing/2014/main" id="{9FD5BB17-9B0B-FE43-8C7E-74C5CF335C73}"/>
              </a:ext>
            </a:extLst>
          </p:cNvPr>
          <p:cNvGrpSpPr>
            <a:grpSpLocks/>
          </p:cNvGrpSpPr>
          <p:nvPr/>
        </p:nvGrpSpPr>
        <p:grpSpPr bwMode="auto">
          <a:xfrm>
            <a:off x="152400" y="2454027"/>
            <a:ext cx="7772400" cy="542925"/>
            <a:chOff x="96" y="1989"/>
            <a:chExt cx="4896" cy="342"/>
          </a:xfrm>
        </p:grpSpPr>
        <p:sp>
          <p:nvSpPr>
            <p:cNvPr id="12307" name="Rectangle 19">
              <a:extLst>
                <a:ext uri="{FF2B5EF4-FFF2-40B4-BE49-F238E27FC236}">
                  <a16:creationId xmlns:a16="http://schemas.microsoft.com/office/drawing/2014/main" id="{85DEDAF3-6CF1-2345-9236-86CFD73C5446}"/>
                </a:ext>
              </a:extLst>
            </p:cNvPr>
            <p:cNvSpPr>
              <a:spLocks noChangeArrowheads="1"/>
            </p:cNvSpPr>
            <p:nvPr/>
          </p:nvSpPr>
          <p:spPr bwMode="auto">
            <a:xfrm>
              <a:off x="96" y="2073"/>
              <a:ext cx="73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dirty="0">
                  <a:latin typeface="Helvetica" pitchFamily="2" charset="0"/>
                </a:rPr>
                <a:t>Total density:</a:t>
              </a:r>
              <a:endParaRPr lang="en-US" altLang="en-US" sz="1200" b="1" dirty="0">
                <a:latin typeface="Helvetica" pitchFamily="2" charset="0"/>
              </a:endParaRPr>
            </a:p>
          </p:txBody>
        </p:sp>
        <p:grpSp>
          <p:nvGrpSpPr>
            <p:cNvPr id="12308" name="Group 20">
              <a:extLst>
                <a:ext uri="{FF2B5EF4-FFF2-40B4-BE49-F238E27FC236}">
                  <a16:creationId xmlns:a16="http://schemas.microsoft.com/office/drawing/2014/main" id="{C35E413F-E30F-BF4E-9AD8-470FDD5DEF70}"/>
                </a:ext>
              </a:extLst>
            </p:cNvPr>
            <p:cNvGrpSpPr>
              <a:grpSpLocks/>
            </p:cNvGrpSpPr>
            <p:nvPr/>
          </p:nvGrpSpPr>
          <p:grpSpPr bwMode="auto">
            <a:xfrm>
              <a:off x="1206" y="1989"/>
              <a:ext cx="3786" cy="342"/>
              <a:chOff x="1206" y="1989"/>
              <a:chExt cx="3786" cy="342"/>
            </a:xfrm>
          </p:grpSpPr>
          <p:pic>
            <p:nvPicPr>
              <p:cNvPr id="12309" name="Picture 21">
                <a:extLst>
                  <a:ext uri="{FF2B5EF4-FFF2-40B4-BE49-F238E27FC236}">
                    <a16:creationId xmlns:a16="http://schemas.microsoft.com/office/drawing/2014/main" id="{3C310418-251E-4044-97B4-E856895463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6" y="1989"/>
                <a:ext cx="1926" cy="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2310" name="Picture 22">
                <a:extLst>
                  <a:ext uri="{FF2B5EF4-FFF2-40B4-BE49-F238E27FC236}">
                    <a16:creationId xmlns:a16="http://schemas.microsoft.com/office/drawing/2014/main" id="{8B19DFDF-8498-F841-8E83-5889AA33DC7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6" y="2046"/>
                <a:ext cx="1386" cy="2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grpSp>
        <p:nvGrpSpPr>
          <p:cNvPr id="12311" name="Group 23">
            <a:extLst>
              <a:ext uri="{FF2B5EF4-FFF2-40B4-BE49-F238E27FC236}">
                <a16:creationId xmlns:a16="http://schemas.microsoft.com/office/drawing/2014/main" id="{DFE49F5D-73C3-8142-B5FF-E018A0A4996A}"/>
              </a:ext>
            </a:extLst>
          </p:cNvPr>
          <p:cNvGrpSpPr>
            <a:grpSpLocks/>
          </p:cNvGrpSpPr>
          <p:nvPr/>
        </p:nvGrpSpPr>
        <p:grpSpPr bwMode="auto">
          <a:xfrm>
            <a:off x="590550" y="4365104"/>
            <a:ext cx="7962900" cy="838200"/>
            <a:chOff x="408" y="3216"/>
            <a:chExt cx="5016" cy="528"/>
          </a:xfrm>
        </p:grpSpPr>
        <p:sp>
          <p:nvSpPr>
            <p:cNvPr id="12312" name="Rectangle 24">
              <a:extLst>
                <a:ext uri="{FF2B5EF4-FFF2-40B4-BE49-F238E27FC236}">
                  <a16:creationId xmlns:a16="http://schemas.microsoft.com/office/drawing/2014/main" id="{368504E5-6328-ED46-9106-44552FDAAB02}"/>
                </a:ext>
              </a:extLst>
            </p:cNvPr>
            <p:cNvSpPr>
              <a:spLocks noChangeArrowheads="1"/>
            </p:cNvSpPr>
            <p:nvPr/>
          </p:nvSpPr>
          <p:spPr bwMode="auto">
            <a:xfrm>
              <a:off x="408" y="3216"/>
              <a:ext cx="5016" cy="528"/>
            </a:xfrm>
            <a:prstGeom prst="rect">
              <a:avLst/>
            </a:prstGeom>
            <a:noFill/>
            <a:ln w="3810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pic>
          <p:nvPicPr>
            <p:cNvPr id="12313" name="Picture 25">
              <a:extLst>
                <a:ext uri="{FF2B5EF4-FFF2-40B4-BE49-F238E27FC236}">
                  <a16:creationId xmlns:a16="http://schemas.microsoft.com/office/drawing/2014/main" id="{B131691B-A7BB-8E4F-8F95-0EAD5437689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l="5103" t="45558" r="1701" b="44418"/>
            <a:stretch>
              <a:fillRect/>
            </a:stretch>
          </p:blipFill>
          <p:spPr bwMode="auto">
            <a:xfrm>
              <a:off x="468" y="3284"/>
              <a:ext cx="4896" cy="3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sp>
        <p:nvSpPr>
          <p:cNvPr id="22" name="TextBox 21">
            <a:extLst>
              <a:ext uri="{FF2B5EF4-FFF2-40B4-BE49-F238E27FC236}">
                <a16:creationId xmlns:a16="http://schemas.microsoft.com/office/drawing/2014/main" id="{E3A72403-3001-B849-9178-BA1E227FCB83}"/>
              </a:ext>
            </a:extLst>
          </p:cNvPr>
          <p:cNvSpPr txBox="1"/>
          <p:nvPr/>
        </p:nvSpPr>
        <p:spPr>
          <a:xfrm>
            <a:off x="2699792" y="3212976"/>
            <a:ext cx="1189749"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compressibility</a:t>
            </a:r>
          </a:p>
        </p:txBody>
      </p:sp>
      <p:sp>
        <p:nvSpPr>
          <p:cNvPr id="23" name="TextBox 22">
            <a:extLst>
              <a:ext uri="{FF2B5EF4-FFF2-40B4-BE49-F238E27FC236}">
                <a16:creationId xmlns:a16="http://schemas.microsoft.com/office/drawing/2014/main" id="{9C89DDAA-8D27-E242-A247-E7AA3FC755F2}"/>
              </a:ext>
            </a:extLst>
          </p:cNvPr>
          <p:cNvSpPr txBox="1"/>
          <p:nvPr/>
        </p:nvSpPr>
        <p:spPr>
          <a:xfrm>
            <a:off x="4132798" y="3218784"/>
            <a:ext cx="942887"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expansivity</a:t>
            </a:r>
          </a:p>
        </p:txBody>
      </p:sp>
      <p:sp>
        <p:nvSpPr>
          <p:cNvPr id="24" name="TextBox 23">
            <a:extLst>
              <a:ext uri="{FF2B5EF4-FFF2-40B4-BE49-F238E27FC236}">
                <a16:creationId xmlns:a16="http://schemas.microsoft.com/office/drawing/2014/main" id="{A94647D0-B0F1-E24D-8773-D6FA20F9F8C7}"/>
              </a:ext>
            </a:extLst>
          </p:cNvPr>
          <p:cNvSpPr txBox="1"/>
          <p:nvPr/>
        </p:nvSpPr>
        <p:spPr>
          <a:xfrm>
            <a:off x="5275742" y="3219635"/>
            <a:ext cx="2467342"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reaction induced volume changes</a:t>
            </a:r>
          </a:p>
        </p:txBody>
      </p:sp>
      <p:sp>
        <p:nvSpPr>
          <p:cNvPr id="25" name="TextBox 24">
            <a:extLst>
              <a:ext uri="{FF2B5EF4-FFF2-40B4-BE49-F238E27FC236}">
                <a16:creationId xmlns:a16="http://schemas.microsoft.com/office/drawing/2014/main" id="{5D29B762-8621-A249-ABE1-59715312D968}"/>
              </a:ext>
            </a:extLst>
          </p:cNvPr>
          <p:cNvSpPr txBox="1"/>
          <p:nvPr/>
        </p:nvSpPr>
        <p:spPr>
          <a:xfrm>
            <a:off x="6569154" y="5208984"/>
            <a:ext cx="2467342" cy="461665"/>
          </a:xfrm>
          <a:prstGeom prst="rect">
            <a:avLst/>
          </a:prstGeom>
          <a:noFill/>
        </p:spPr>
        <p:txBody>
          <a:bodyPr wrap="square" rtlCol="0">
            <a:spAutoFit/>
          </a:bodyPr>
          <a:lstStyle/>
          <a:p>
            <a:pPr algn="ctr"/>
            <a:r>
              <a:rPr lang="en-US" sz="1200" dirty="0">
                <a:solidFill>
                  <a:srgbClr val="FF0000"/>
                </a:solidFill>
                <a:latin typeface="Arial" panose="020B0604020202020204" pitchFamily="34" charset="0"/>
                <a:cs typeface="Arial" panose="020B0604020202020204" pitchFamily="34" charset="0"/>
              </a:rPr>
              <a:t>additional sources and sinks in the pressure equation</a:t>
            </a:r>
          </a:p>
        </p:txBody>
      </p:sp>
      <p:sp>
        <p:nvSpPr>
          <p:cNvPr id="2" name="TextBox 1">
            <a:extLst>
              <a:ext uri="{FF2B5EF4-FFF2-40B4-BE49-F238E27FC236}">
                <a16:creationId xmlns:a16="http://schemas.microsoft.com/office/drawing/2014/main" id="{96423A5B-D855-1443-946A-4DB7683FB379}"/>
              </a:ext>
            </a:extLst>
          </p:cNvPr>
          <p:cNvSpPr txBox="1"/>
          <p:nvPr/>
        </p:nvSpPr>
        <p:spPr>
          <a:xfrm>
            <a:off x="6731721" y="3492505"/>
            <a:ext cx="2142207" cy="738664"/>
          </a:xfrm>
          <a:prstGeom prst="rect">
            <a:avLst/>
          </a:prstGeom>
          <a:noFill/>
        </p:spPr>
        <p:txBody>
          <a:bodyPr wrap="square" rtlCol="0">
            <a:spAutoFit/>
          </a:bodyPr>
          <a:lstStyle/>
          <a:p>
            <a:r>
              <a:rPr lang="en-US" sz="1400" dirty="0"/>
              <a:t>mass source “potentially problematic if timesteps are large”</a:t>
            </a:r>
          </a:p>
        </p:txBody>
      </p:sp>
      <p:graphicFrame>
        <p:nvGraphicFramePr>
          <p:cNvPr id="3" name="Object 2"/>
          <p:cNvGraphicFramePr>
            <a:graphicFrameLocks noChangeAspect="1"/>
          </p:cNvGraphicFramePr>
          <p:nvPr>
            <p:extLst>
              <p:ext uri="{D42A27DB-BD31-4B8C-83A1-F6EECF244321}">
                <p14:modId xmlns:p14="http://schemas.microsoft.com/office/powerpoint/2010/main" val="2683735226"/>
              </p:ext>
            </p:extLst>
          </p:nvPr>
        </p:nvGraphicFramePr>
        <p:xfrm>
          <a:off x="6230838" y="1628800"/>
          <a:ext cx="2380919" cy="660401"/>
        </p:xfrm>
        <a:graphic>
          <a:graphicData uri="http://schemas.openxmlformats.org/presentationml/2006/ole">
            <mc:AlternateContent xmlns:mc="http://schemas.openxmlformats.org/markup-compatibility/2006">
              <mc:Choice xmlns:v="urn:schemas-microsoft-com:vml" Requires="v">
                <p:oleObj spid="_x0000_s58376" name="Equation" r:id="rId10" imgW="1739900" imgH="482600" progId="Equation.DSMT4">
                  <p:embed/>
                </p:oleObj>
              </mc:Choice>
              <mc:Fallback>
                <p:oleObj name="Equation" r:id="rId10" imgW="1739900" imgH="482600" progId="Equation.DSMT4">
                  <p:embed/>
                  <p:pic>
                    <p:nvPicPr>
                      <p:cNvPr id="0" name=""/>
                      <p:cNvPicPr/>
                      <p:nvPr/>
                    </p:nvPicPr>
                    <p:blipFill>
                      <a:blip r:embed="rId11"/>
                      <a:stretch>
                        <a:fillRect/>
                      </a:stretch>
                    </p:blipFill>
                    <p:spPr>
                      <a:xfrm>
                        <a:off x="6230838" y="1628800"/>
                        <a:ext cx="2380919" cy="660401"/>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4AAFF04D-7673-244B-B5FB-3EE89A996BC3}"/>
              </a:ext>
            </a:extLst>
          </p:cNvPr>
          <p:cNvSpPr txBox="1"/>
          <p:nvPr/>
        </p:nvSpPr>
        <p:spPr>
          <a:xfrm>
            <a:off x="252232" y="5543691"/>
            <a:ext cx="2400016" cy="261610"/>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Reduced pressure (gravity term):</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0E39992-B938-F143-B05F-A1827B8C0D9B}"/>
                  </a:ext>
                </a:extLst>
              </p:cNvPr>
              <p:cNvSpPr txBox="1"/>
              <p:nvPr/>
            </p:nvSpPr>
            <p:spPr>
              <a:xfrm>
                <a:off x="2699792" y="5733256"/>
                <a:ext cx="5369996" cy="71590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AU" b="1" i="1" smtClean="0">
                          <a:latin typeface="Cambria Math" panose="02040503050406030204" pitchFamily="18" charset="0"/>
                        </a:rPr>
                        <m:t>𝒌</m:t>
                      </m:r>
                      <m:d>
                        <m:dPr>
                          <m:ctrlPr>
                            <a:rPr lang="en-AU" b="0" i="1" smtClean="0">
                              <a:latin typeface="Cambria Math" panose="02040503050406030204" pitchFamily="18" charset="0"/>
                            </a:rPr>
                          </m:ctrlPr>
                        </m:dPr>
                        <m:e>
                          <m:d>
                            <m:dPr>
                              <m:ctrlPr>
                                <a:rPr lang="en-AU" b="1" i="1">
                                  <a:latin typeface="Cambria Math" panose="02040503050406030204" pitchFamily="18" charset="0"/>
                                </a:rPr>
                              </m:ctrlPr>
                            </m:dPr>
                            <m:e>
                              <m:f>
                                <m:fPr>
                                  <m:ctrlPr>
                                    <a:rPr lang="en-AU" i="1">
                                      <a:latin typeface="Cambria Math" panose="02040503050406030204" pitchFamily="18" charset="0"/>
                                    </a:rPr>
                                  </m:ctrlPr>
                                </m:fPr>
                                <m:num>
                                  <m:r>
                                    <a:rPr lang="en-AU" i="1">
                                      <a:latin typeface="Cambria Math" panose="02040503050406030204" pitchFamily="18" charset="0"/>
                                    </a:rPr>
                                    <m:t>𝑘</m:t>
                                  </m:r>
                                  <m:sSub>
                                    <m:sSubPr>
                                      <m:ctrlPr>
                                        <a:rPr lang="en-AU" i="1">
                                          <a:latin typeface="Cambria Math" panose="02040503050406030204" pitchFamily="18" charset="0"/>
                                        </a:rPr>
                                      </m:ctrlPr>
                                    </m:sSubPr>
                                    <m:e>
                                      <m:r>
                                        <a:rPr lang="en-AU" i="1">
                                          <a:latin typeface="Cambria Math" panose="02040503050406030204" pitchFamily="18" charset="0"/>
                                        </a:rPr>
                                        <m:t>𝑟</m:t>
                                      </m:r>
                                    </m:e>
                                    <m:sub>
                                      <m:r>
                                        <a:rPr lang="en-AU" i="1">
                                          <a:latin typeface="Cambria Math" panose="02040503050406030204" pitchFamily="18" charset="0"/>
                                        </a:rPr>
                                        <m:t>𝑔</m:t>
                                      </m:r>
                                    </m:sub>
                                  </m:sSub>
                                </m:num>
                                <m:den>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𝜇</m:t>
                                      </m:r>
                                    </m:e>
                                    <m:sub>
                                      <m:r>
                                        <a:rPr lang="en-AU" i="1">
                                          <a:latin typeface="Cambria Math" panose="02040503050406030204" pitchFamily="18" charset="0"/>
                                          <a:ea typeface="Cambria Math" panose="02040503050406030204" pitchFamily="18" charset="0"/>
                                        </a:rPr>
                                        <m:t>𝑔</m:t>
                                      </m:r>
                                    </m:sub>
                                  </m:sSub>
                                </m:den>
                              </m:f>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𝑔</m:t>
                                  </m:r>
                                </m:sub>
                              </m:sSub>
                            </m:e>
                          </m:d>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𝑔</m:t>
                                  </m:r>
                                </m:sub>
                              </m:sSub>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𝑟𝑒𝑓</m:t>
                                  </m:r>
                                </m:sub>
                              </m:sSub>
                            </m:e>
                          </m:d>
                          <m:r>
                            <a:rPr lang="en-AU" i="1">
                              <a:latin typeface="Cambria Math" panose="02040503050406030204" pitchFamily="18" charset="0"/>
                            </a:rPr>
                            <m:t>+</m:t>
                          </m:r>
                          <m:d>
                            <m:dPr>
                              <m:ctrlPr>
                                <a:rPr lang="en-AU" i="1" smtClean="0">
                                  <a:latin typeface="Cambria Math" panose="02040503050406030204" pitchFamily="18" charset="0"/>
                                </a:rPr>
                              </m:ctrlPr>
                            </m:dPr>
                            <m:e>
                              <m:f>
                                <m:fPr>
                                  <m:ctrlPr>
                                    <a:rPr lang="en-AU" i="1">
                                      <a:latin typeface="Cambria Math" panose="02040503050406030204" pitchFamily="18" charset="0"/>
                                    </a:rPr>
                                  </m:ctrlPr>
                                </m:fPr>
                                <m:num>
                                  <m:r>
                                    <a:rPr lang="en-AU" i="1">
                                      <a:latin typeface="Cambria Math" panose="02040503050406030204" pitchFamily="18" charset="0"/>
                                    </a:rPr>
                                    <m:t>𝑘</m:t>
                                  </m:r>
                                  <m:sSub>
                                    <m:sSubPr>
                                      <m:ctrlPr>
                                        <a:rPr lang="en-AU" i="1">
                                          <a:latin typeface="Cambria Math" panose="02040503050406030204" pitchFamily="18" charset="0"/>
                                        </a:rPr>
                                      </m:ctrlPr>
                                    </m:sSubPr>
                                    <m:e>
                                      <m:r>
                                        <a:rPr lang="en-AU" i="1">
                                          <a:latin typeface="Cambria Math" panose="02040503050406030204" pitchFamily="18" charset="0"/>
                                        </a:rPr>
                                        <m:t>𝑟</m:t>
                                      </m:r>
                                    </m:e>
                                    <m:sub>
                                      <m:r>
                                        <a:rPr lang="en-AU" i="1">
                                          <a:latin typeface="Cambria Math" panose="02040503050406030204" pitchFamily="18" charset="0"/>
                                        </a:rPr>
                                        <m:t>𝑤</m:t>
                                      </m:r>
                                    </m:sub>
                                  </m:sSub>
                                </m:num>
                                <m:den>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𝜇</m:t>
                                      </m:r>
                                    </m:e>
                                    <m:sub>
                                      <m:r>
                                        <a:rPr lang="en-AU" i="1">
                                          <a:latin typeface="Cambria Math" panose="02040503050406030204" pitchFamily="18" charset="0"/>
                                          <a:ea typeface="Cambria Math" panose="02040503050406030204" pitchFamily="18" charset="0"/>
                                        </a:rPr>
                                        <m:t>𝑤</m:t>
                                      </m:r>
                                    </m:sub>
                                  </m:sSub>
                                </m:den>
                              </m:f>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𝑤</m:t>
                                  </m:r>
                                </m:sub>
                              </m:sSub>
                            </m:e>
                          </m:d>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𝑤</m:t>
                                  </m:r>
                                </m:sub>
                              </m:sSub>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𝜌</m:t>
                                  </m:r>
                                </m:e>
                                <m:sub>
                                  <m:r>
                                    <a:rPr lang="en-AU" i="1">
                                      <a:latin typeface="Cambria Math" panose="02040503050406030204" pitchFamily="18" charset="0"/>
                                      <a:ea typeface="Cambria Math" panose="02040503050406030204" pitchFamily="18" charset="0"/>
                                    </a:rPr>
                                    <m:t>𝑟𝑒𝑓</m:t>
                                  </m:r>
                                </m:sub>
                              </m:sSub>
                            </m:e>
                          </m:d>
                        </m:e>
                      </m:d>
                      <m:r>
                        <a:rPr lang="en-AU" b="0" i="1" smtClean="0">
                          <a:latin typeface="Cambria Math" panose="02040503050406030204" pitchFamily="18" charset="0"/>
                        </a:rPr>
                        <m:t>𝑔</m:t>
                      </m:r>
                      <m:sSub>
                        <m:sSubPr>
                          <m:ctrlPr>
                            <a:rPr lang="en-AU" b="0" i="1" smtClean="0">
                              <a:latin typeface="Cambria Math" panose="02040503050406030204" pitchFamily="18" charset="0"/>
                              <a:ea typeface="Cambria Math" panose="02040503050406030204" pitchFamily="18" charset="0"/>
                            </a:rPr>
                          </m:ctrlPr>
                        </m:sSubPr>
                        <m:e>
                          <m:r>
                            <m:rPr>
                              <m:sty m:val="p"/>
                            </m:rPr>
                            <a:rPr lang="en-AU" i="1">
                              <a:latin typeface="Cambria Math" panose="02040503050406030204" pitchFamily="18" charset="0"/>
                              <a:ea typeface="Cambria Math" panose="02040503050406030204" pitchFamily="18" charset="0"/>
                            </a:rPr>
                            <m:t>∇</m:t>
                          </m:r>
                        </m:e>
                        <m:sub>
                          <m:r>
                            <a:rPr lang="en-AU" b="0" i="1" smtClean="0">
                              <a:latin typeface="Cambria Math" panose="02040503050406030204" pitchFamily="18" charset="0"/>
                              <a:ea typeface="Cambria Math" panose="02040503050406030204" pitchFamily="18" charset="0"/>
                            </a:rPr>
                            <m:t>𝑧</m:t>
                          </m:r>
                        </m:sub>
                      </m:sSub>
                    </m:oMath>
                  </m:oMathPara>
                </a14:m>
                <a:endParaRPr lang="en-US" dirty="0"/>
              </a:p>
            </p:txBody>
          </p:sp>
        </mc:Choice>
        <mc:Fallback>
          <p:sp>
            <p:nvSpPr>
              <p:cNvPr id="5" name="TextBox 4">
                <a:extLst>
                  <a:ext uri="{FF2B5EF4-FFF2-40B4-BE49-F238E27FC236}">
                    <a16:creationId xmlns:a16="http://schemas.microsoft.com/office/drawing/2014/main" id="{C0E39992-B938-F143-B05F-A1827B8C0D9B}"/>
                  </a:ext>
                </a:extLst>
              </p:cNvPr>
              <p:cNvSpPr txBox="1">
                <a:spLocks noRot="1" noChangeAspect="1" noMove="1" noResize="1" noEditPoints="1" noAdjustHandles="1" noChangeArrowheads="1" noChangeShapeType="1" noTextEdit="1"/>
              </p:cNvSpPr>
              <p:nvPr/>
            </p:nvSpPr>
            <p:spPr>
              <a:xfrm>
                <a:off x="2699792" y="5733256"/>
                <a:ext cx="5369996" cy="715902"/>
              </a:xfrm>
              <a:prstGeom prst="rect">
                <a:avLst/>
              </a:prstGeom>
              <a:blipFill>
                <a:blip r:embed="rId12"/>
                <a:stretch>
                  <a:fillRect l="-709"/>
                </a:stretch>
              </a:blipFill>
            </p:spPr>
            <p:txBody>
              <a:bodyPr/>
              <a:lstStyle/>
              <a:p>
                <a:r>
                  <a:rPr lang="en-US">
                    <a:noFill/>
                  </a:rPr>
                  <a:t> </a:t>
                </a:r>
              </a:p>
            </p:txBody>
          </p:sp>
        </mc:Fallback>
      </mc:AlternateContent>
    </p:spTree>
    <p:extLst>
      <p:ext uri="{BB962C8B-B14F-4D97-AF65-F5344CB8AC3E}">
        <p14:creationId xmlns:p14="http://schemas.microsoft.com/office/powerpoint/2010/main" val="39069023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30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230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2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8BBCFA4-1D9B-8948-B6EC-A1D55407144F}"/>
              </a:ext>
            </a:extLst>
          </p:cNvPr>
          <p:cNvSpPr>
            <a:spLocks noGrp="1" noChangeArrowheads="1"/>
          </p:cNvSpPr>
          <p:nvPr>
            <p:ph type="title"/>
          </p:nvPr>
        </p:nvSpPr>
        <p:spPr>
          <a:xfrm>
            <a:off x="152400" y="76200"/>
            <a:ext cx="8839200" cy="685800"/>
          </a:xfrm>
        </p:spPr>
        <p:txBody>
          <a:bodyPr/>
          <a:lstStyle/>
          <a:p>
            <a:r>
              <a:rPr lang="en-US" altLang="en-US" sz="3000" dirty="0">
                <a:latin typeface="Helvetica" pitchFamily="2" charset="0"/>
              </a:rPr>
              <a:t>Governing equations: Conservation of salt / CO</a:t>
            </a:r>
            <a:r>
              <a:rPr lang="en-US" altLang="en-US" sz="3000" baseline="-25000" dirty="0">
                <a:latin typeface="Helvetica" pitchFamily="2" charset="0"/>
              </a:rPr>
              <a:t>2</a:t>
            </a:r>
          </a:p>
        </p:txBody>
      </p:sp>
      <p:grpSp>
        <p:nvGrpSpPr>
          <p:cNvPr id="14341" name="Group 5">
            <a:extLst>
              <a:ext uri="{FF2B5EF4-FFF2-40B4-BE49-F238E27FC236}">
                <a16:creationId xmlns:a16="http://schemas.microsoft.com/office/drawing/2014/main" id="{1F2F5327-8361-4E42-904E-55634D10298A}"/>
              </a:ext>
            </a:extLst>
          </p:cNvPr>
          <p:cNvGrpSpPr>
            <a:grpSpLocks/>
          </p:cNvGrpSpPr>
          <p:nvPr/>
        </p:nvGrpSpPr>
        <p:grpSpPr bwMode="auto">
          <a:xfrm>
            <a:off x="708992" y="1482055"/>
            <a:ext cx="6157913" cy="581025"/>
            <a:chOff x="96" y="642"/>
            <a:chExt cx="3879" cy="366"/>
          </a:xfrm>
        </p:grpSpPr>
        <p:sp>
          <p:nvSpPr>
            <p:cNvPr id="14342" name="Rectangle 6">
              <a:extLst>
                <a:ext uri="{FF2B5EF4-FFF2-40B4-BE49-F238E27FC236}">
                  <a16:creationId xmlns:a16="http://schemas.microsoft.com/office/drawing/2014/main" id="{EB5736F9-E777-B941-8D4B-7EFD70580B88}"/>
                </a:ext>
              </a:extLst>
            </p:cNvPr>
            <p:cNvSpPr>
              <a:spLocks noChangeArrowheads="1"/>
            </p:cNvSpPr>
            <p:nvPr/>
          </p:nvSpPr>
          <p:spPr bwMode="auto">
            <a:xfrm>
              <a:off x="96" y="739"/>
              <a:ext cx="1005"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Advection in fluids:</a:t>
              </a:r>
              <a:endParaRPr lang="en-US" altLang="en-US" sz="1200" b="1">
                <a:latin typeface="Helvetica" pitchFamily="2" charset="0"/>
              </a:endParaRPr>
            </a:p>
          </p:txBody>
        </p:sp>
        <p:pic>
          <p:nvPicPr>
            <p:cNvPr id="14343" name="Picture 7">
              <a:extLst>
                <a:ext uri="{FF2B5EF4-FFF2-40B4-BE49-F238E27FC236}">
                  <a16:creationId xmlns:a16="http://schemas.microsoft.com/office/drawing/2014/main" id="{4C966FE5-B711-C84C-9D8A-9EA8904D7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 y="642"/>
              <a:ext cx="2190" cy="36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4344" name="Group 8">
            <a:extLst>
              <a:ext uri="{FF2B5EF4-FFF2-40B4-BE49-F238E27FC236}">
                <a16:creationId xmlns:a16="http://schemas.microsoft.com/office/drawing/2014/main" id="{FB793E25-B425-7F4D-B991-4789BFF48CDA}"/>
              </a:ext>
            </a:extLst>
          </p:cNvPr>
          <p:cNvGrpSpPr>
            <a:grpSpLocks/>
          </p:cNvGrpSpPr>
          <p:nvPr/>
        </p:nvGrpSpPr>
        <p:grpSpPr bwMode="auto">
          <a:xfrm>
            <a:off x="708992" y="3923630"/>
            <a:ext cx="5919788" cy="323850"/>
            <a:chOff x="96" y="2056"/>
            <a:chExt cx="3729" cy="204"/>
          </a:xfrm>
        </p:grpSpPr>
        <p:sp>
          <p:nvSpPr>
            <p:cNvPr id="14345" name="Rectangle 9">
              <a:extLst>
                <a:ext uri="{FF2B5EF4-FFF2-40B4-BE49-F238E27FC236}">
                  <a16:creationId xmlns:a16="http://schemas.microsoft.com/office/drawing/2014/main" id="{46B551EF-D9DE-DB49-9756-C0F6FFC76D17}"/>
                </a:ext>
              </a:extLst>
            </p:cNvPr>
            <p:cNvSpPr>
              <a:spLocks noChangeArrowheads="1"/>
            </p:cNvSpPr>
            <p:nvPr/>
          </p:nvSpPr>
          <p:spPr bwMode="auto">
            <a:xfrm>
              <a:off x="96" y="2071"/>
              <a:ext cx="941"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Total salt content:</a:t>
              </a:r>
              <a:endParaRPr lang="en-US" altLang="en-US" sz="1200" b="1">
                <a:latin typeface="Helvetica" pitchFamily="2" charset="0"/>
              </a:endParaRPr>
            </a:p>
          </p:txBody>
        </p:sp>
        <p:pic>
          <p:nvPicPr>
            <p:cNvPr id="14346" name="Picture 10">
              <a:extLst>
                <a:ext uri="{FF2B5EF4-FFF2-40B4-BE49-F238E27FC236}">
                  <a16:creationId xmlns:a16="http://schemas.microsoft.com/office/drawing/2014/main" id="{C89D25FB-D3CF-144E-B86F-E382143306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5" y="2056"/>
              <a:ext cx="1890" cy="2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4347" name="Group 11">
            <a:extLst>
              <a:ext uri="{FF2B5EF4-FFF2-40B4-BE49-F238E27FC236}">
                <a16:creationId xmlns:a16="http://schemas.microsoft.com/office/drawing/2014/main" id="{E49D17DB-4443-E34F-B873-1148EFD32AE6}"/>
              </a:ext>
            </a:extLst>
          </p:cNvPr>
          <p:cNvGrpSpPr>
            <a:grpSpLocks/>
          </p:cNvGrpSpPr>
          <p:nvPr/>
        </p:nvGrpSpPr>
        <p:grpSpPr bwMode="auto">
          <a:xfrm>
            <a:off x="708992" y="2636168"/>
            <a:ext cx="6267450" cy="571500"/>
            <a:chOff x="96" y="1344"/>
            <a:chExt cx="3948" cy="360"/>
          </a:xfrm>
        </p:grpSpPr>
        <p:sp>
          <p:nvSpPr>
            <p:cNvPr id="14348" name="Rectangle 12">
              <a:extLst>
                <a:ext uri="{FF2B5EF4-FFF2-40B4-BE49-F238E27FC236}">
                  <a16:creationId xmlns:a16="http://schemas.microsoft.com/office/drawing/2014/main" id="{9C0889A7-3035-AB47-8F30-F8D64DCB822E}"/>
                </a:ext>
              </a:extLst>
            </p:cNvPr>
            <p:cNvSpPr>
              <a:spLocks noChangeArrowheads="1"/>
            </p:cNvSpPr>
            <p:nvPr/>
          </p:nvSpPr>
          <p:spPr bwMode="auto">
            <a:xfrm>
              <a:off x="96" y="1437"/>
              <a:ext cx="1040"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Dispersion in fluids:</a:t>
              </a:r>
              <a:endParaRPr lang="en-US" altLang="en-US" sz="1200" b="1">
                <a:latin typeface="Helvetica" pitchFamily="2" charset="0"/>
              </a:endParaRPr>
            </a:p>
          </p:txBody>
        </p:sp>
        <p:pic>
          <p:nvPicPr>
            <p:cNvPr id="14349" name="Picture 13">
              <a:extLst>
                <a:ext uri="{FF2B5EF4-FFF2-40B4-BE49-F238E27FC236}">
                  <a16:creationId xmlns:a16="http://schemas.microsoft.com/office/drawing/2014/main" id="{3849B3B1-8C61-A24A-A000-0C5D0D30BB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6" y="1344"/>
              <a:ext cx="2328" cy="3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4350" name="Group 14">
            <a:extLst>
              <a:ext uri="{FF2B5EF4-FFF2-40B4-BE49-F238E27FC236}">
                <a16:creationId xmlns:a16="http://schemas.microsoft.com/office/drawing/2014/main" id="{A3F765E8-B8C2-BF4C-9517-CE68B43345DB}"/>
              </a:ext>
            </a:extLst>
          </p:cNvPr>
          <p:cNvGrpSpPr>
            <a:grpSpLocks/>
          </p:cNvGrpSpPr>
          <p:nvPr/>
        </p:nvGrpSpPr>
        <p:grpSpPr bwMode="auto">
          <a:xfrm>
            <a:off x="2156792" y="5111080"/>
            <a:ext cx="5943600" cy="838200"/>
            <a:chOff x="960" y="2736"/>
            <a:chExt cx="3744" cy="528"/>
          </a:xfrm>
        </p:grpSpPr>
        <p:sp>
          <p:nvSpPr>
            <p:cNvPr id="14351" name="Rectangle 15">
              <a:extLst>
                <a:ext uri="{FF2B5EF4-FFF2-40B4-BE49-F238E27FC236}">
                  <a16:creationId xmlns:a16="http://schemas.microsoft.com/office/drawing/2014/main" id="{6D005787-62FE-E943-8ACF-AB5BE1EC3759}"/>
                </a:ext>
              </a:extLst>
            </p:cNvPr>
            <p:cNvSpPr>
              <a:spLocks noChangeArrowheads="1"/>
            </p:cNvSpPr>
            <p:nvPr/>
          </p:nvSpPr>
          <p:spPr bwMode="auto">
            <a:xfrm>
              <a:off x="960" y="2736"/>
              <a:ext cx="3744" cy="528"/>
            </a:xfrm>
            <a:prstGeom prst="rect">
              <a:avLst/>
            </a:prstGeom>
            <a:noFill/>
            <a:ln w="3810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pic>
          <p:nvPicPr>
            <p:cNvPr id="14352" name="Picture 16">
              <a:extLst>
                <a:ext uri="{FF2B5EF4-FFF2-40B4-BE49-F238E27FC236}">
                  <a16:creationId xmlns:a16="http://schemas.microsoft.com/office/drawing/2014/main" id="{B46188F6-AFC2-D84A-85B8-2DD5A340D3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4" y="2814"/>
              <a:ext cx="3636" cy="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sp>
        <p:nvSpPr>
          <p:cNvPr id="2" name="TextBox 1">
            <a:extLst>
              <a:ext uri="{FF2B5EF4-FFF2-40B4-BE49-F238E27FC236}">
                <a16:creationId xmlns:a16="http://schemas.microsoft.com/office/drawing/2014/main" id="{C40FD395-0E49-384B-8BD6-92AAB96DABCF}"/>
              </a:ext>
            </a:extLst>
          </p:cNvPr>
          <p:cNvSpPr txBox="1"/>
          <p:nvPr/>
        </p:nvSpPr>
        <p:spPr>
          <a:xfrm>
            <a:off x="265507" y="661009"/>
            <a:ext cx="3044423"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see Geiger et al. 2005, JGR</a:t>
            </a:r>
          </a:p>
        </p:txBody>
      </p:sp>
    </p:spTree>
    <p:extLst>
      <p:ext uri="{BB962C8B-B14F-4D97-AF65-F5344CB8AC3E}">
        <p14:creationId xmlns:p14="http://schemas.microsoft.com/office/powerpoint/2010/main" val="3929449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3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43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3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532527F-AFDB-8347-90A9-2103AC106C8C}"/>
              </a:ext>
            </a:extLst>
          </p:cNvPr>
          <p:cNvSpPr>
            <a:spLocks noGrp="1" noChangeArrowheads="1"/>
          </p:cNvSpPr>
          <p:nvPr>
            <p:ph type="title"/>
          </p:nvPr>
        </p:nvSpPr>
        <p:spPr>
          <a:xfrm>
            <a:off x="152400" y="76200"/>
            <a:ext cx="8839200" cy="685800"/>
          </a:xfrm>
        </p:spPr>
        <p:txBody>
          <a:bodyPr/>
          <a:lstStyle/>
          <a:p>
            <a:r>
              <a:rPr lang="en-US" altLang="en-US" sz="3000">
                <a:latin typeface="Helvetica" pitchFamily="2" charset="0"/>
              </a:rPr>
              <a:t>Governing equations: Conservation of energy</a:t>
            </a:r>
          </a:p>
        </p:txBody>
      </p:sp>
      <p:grpSp>
        <p:nvGrpSpPr>
          <p:cNvPr id="13317" name="Group 5">
            <a:extLst>
              <a:ext uri="{FF2B5EF4-FFF2-40B4-BE49-F238E27FC236}">
                <a16:creationId xmlns:a16="http://schemas.microsoft.com/office/drawing/2014/main" id="{EEF406C6-EDF0-2641-A80A-1D2BFEAF3F66}"/>
              </a:ext>
            </a:extLst>
          </p:cNvPr>
          <p:cNvGrpSpPr>
            <a:grpSpLocks/>
          </p:cNvGrpSpPr>
          <p:nvPr/>
        </p:nvGrpSpPr>
        <p:grpSpPr bwMode="auto">
          <a:xfrm>
            <a:off x="152400" y="1114425"/>
            <a:ext cx="6172200" cy="561975"/>
            <a:chOff x="96" y="672"/>
            <a:chExt cx="3888" cy="354"/>
          </a:xfrm>
        </p:grpSpPr>
        <p:sp>
          <p:nvSpPr>
            <p:cNvPr id="13318" name="Rectangle 6">
              <a:extLst>
                <a:ext uri="{FF2B5EF4-FFF2-40B4-BE49-F238E27FC236}">
                  <a16:creationId xmlns:a16="http://schemas.microsoft.com/office/drawing/2014/main" id="{C6B69AFA-F421-C840-8744-BBCD00480F4C}"/>
                </a:ext>
              </a:extLst>
            </p:cNvPr>
            <p:cNvSpPr>
              <a:spLocks noChangeArrowheads="1"/>
            </p:cNvSpPr>
            <p:nvPr/>
          </p:nvSpPr>
          <p:spPr bwMode="auto">
            <a:xfrm>
              <a:off x="96" y="762"/>
              <a:ext cx="1005"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Advection in fluids:</a:t>
              </a:r>
              <a:endParaRPr lang="en-US" altLang="en-US" sz="1200" b="1">
                <a:latin typeface="Helvetica" pitchFamily="2" charset="0"/>
              </a:endParaRPr>
            </a:p>
          </p:txBody>
        </p:sp>
        <p:pic>
          <p:nvPicPr>
            <p:cNvPr id="13319" name="Picture 7">
              <a:extLst>
                <a:ext uri="{FF2B5EF4-FFF2-40B4-BE49-F238E27FC236}">
                  <a16:creationId xmlns:a16="http://schemas.microsoft.com/office/drawing/2014/main" id="{E9E41DA2-AAE9-574A-BA34-9C1E9E2E0C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 y="672"/>
              <a:ext cx="2184" cy="3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3320" name="Group 8">
            <a:extLst>
              <a:ext uri="{FF2B5EF4-FFF2-40B4-BE49-F238E27FC236}">
                <a16:creationId xmlns:a16="http://schemas.microsoft.com/office/drawing/2014/main" id="{5596B204-0A7A-BE45-85AD-BA3438BC6A95}"/>
              </a:ext>
            </a:extLst>
          </p:cNvPr>
          <p:cNvGrpSpPr>
            <a:grpSpLocks/>
          </p:cNvGrpSpPr>
          <p:nvPr/>
        </p:nvGrpSpPr>
        <p:grpSpPr bwMode="auto">
          <a:xfrm>
            <a:off x="152400" y="3209925"/>
            <a:ext cx="6705600" cy="523875"/>
            <a:chOff x="96" y="1632"/>
            <a:chExt cx="4224" cy="330"/>
          </a:xfrm>
        </p:grpSpPr>
        <p:sp>
          <p:nvSpPr>
            <p:cNvPr id="13321" name="Rectangle 9">
              <a:extLst>
                <a:ext uri="{FF2B5EF4-FFF2-40B4-BE49-F238E27FC236}">
                  <a16:creationId xmlns:a16="http://schemas.microsoft.com/office/drawing/2014/main" id="{430A7778-115C-C042-BCAA-E833568D790E}"/>
                </a:ext>
              </a:extLst>
            </p:cNvPr>
            <p:cNvSpPr>
              <a:spLocks noChangeArrowheads="1"/>
            </p:cNvSpPr>
            <p:nvPr/>
          </p:nvSpPr>
          <p:spPr bwMode="auto">
            <a:xfrm>
              <a:off x="96" y="1711"/>
              <a:ext cx="1024"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Conduction in rock:</a:t>
              </a:r>
              <a:endParaRPr lang="en-US" altLang="en-US" sz="1200" b="1">
                <a:latin typeface="Helvetica" pitchFamily="2" charset="0"/>
              </a:endParaRPr>
            </a:p>
          </p:txBody>
        </p:sp>
        <p:pic>
          <p:nvPicPr>
            <p:cNvPr id="13322" name="Picture 10">
              <a:extLst>
                <a:ext uri="{FF2B5EF4-FFF2-40B4-BE49-F238E27FC236}">
                  <a16:creationId xmlns:a16="http://schemas.microsoft.com/office/drawing/2014/main" id="{8BBB0E22-4C71-8442-848A-14EBB847D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1290"/>
            <a:stretch>
              <a:fillRect/>
            </a:stretch>
          </p:blipFill>
          <p:spPr bwMode="auto">
            <a:xfrm>
              <a:off x="2598" y="1632"/>
              <a:ext cx="1722" cy="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3323" name="Picture 11">
              <a:extLst>
                <a:ext uri="{FF2B5EF4-FFF2-40B4-BE49-F238E27FC236}">
                  <a16:creationId xmlns:a16="http://schemas.microsoft.com/office/drawing/2014/main" id="{BE0C687A-B16B-CB41-AB60-3FD3A3D69C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 y="1692"/>
              <a:ext cx="594" cy="2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3324" name="Group 12">
            <a:extLst>
              <a:ext uri="{FF2B5EF4-FFF2-40B4-BE49-F238E27FC236}">
                <a16:creationId xmlns:a16="http://schemas.microsoft.com/office/drawing/2014/main" id="{90E9B958-4216-874D-8674-DBFD9F575986}"/>
              </a:ext>
            </a:extLst>
          </p:cNvPr>
          <p:cNvGrpSpPr>
            <a:grpSpLocks/>
          </p:cNvGrpSpPr>
          <p:nvPr/>
        </p:nvGrpSpPr>
        <p:grpSpPr bwMode="auto">
          <a:xfrm>
            <a:off x="152400" y="2286000"/>
            <a:ext cx="5819775" cy="352425"/>
            <a:chOff x="96" y="1200"/>
            <a:chExt cx="3666" cy="222"/>
          </a:xfrm>
        </p:grpSpPr>
        <p:sp>
          <p:nvSpPr>
            <p:cNvPr id="13325" name="Rectangle 13">
              <a:extLst>
                <a:ext uri="{FF2B5EF4-FFF2-40B4-BE49-F238E27FC236}">
                  <a16:creationId xmlns:a16="http://schemas.microsoft.com/office/drawing/2014/main" id="{3A0596A2-6840-564E-8CA9-0A5999276A03}"/>
                </a:ext>
              </a:extLst>
            </p:cNvPr>
            <p:cNvSpPr>
              <a:spLocks noChangeArrowheads="1"/>
            </p:cNvSpPr>
            <p:nvPr/>
          </p:nvSpPr>
          <p:spPr bwMode="auto">
            <a:xfrm>
              <a:off x="96" y="1224"/>
              <a:ext cx="1132"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GB" altLang="en-US" sz="1200" b="1">
                  <a:latin typeface="Helvetica" pitchFamily="2" charset="0"/>
                </a:rPr>
                <a:t>Energy in salt phases:</a:t>
              </a:r>
              <a:endParaRPr lang="en-US" altLang="en-US" sz="1200" b="1">
                <a:latin typeface="Helvetica" pitchFamily="2" charset="0"/>
              </a:endParaRPr>
            </a:p>
          </p:txBody>
        </p:sp>
        <p:pic>
          <p:nvPicPr>
            <p:cNvPr id="13326" name="Picture 14">
              <a:extLst>
                <a:ext uri="{FF2B5EF4-FFF2-40B4-BE49-F238E27FC236}">
                  <a16:creationId xmlns:a16="http://schemas.microsoft.com/office/drawing/2014/main" id="{AC95AFD2-EFCB-F94F-B863-C25D12F336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8" y="1200"/>
              <a:ext cx="1764" cy="2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3327" name="Group 15">
            <a:extLst>
              <a:ext uri="{FF2B5EF4-FFF2-40B4-BE49-F238E27FC236}">
                <a16:creationId xmlns:a16="http://schemas.microsoft.com/office/drawing/2014/main" id="{6C962DE6-5EAA-B447-9A50-AA06AB71701F}"/>
              </a:ext>
            </a:extLst>
          </p:cNvPr>
          <p:cNvGrpSpPr>
            <a:grpSpLocks/>
          </p:cNvGrpSpPr>
          <p:nvPr/>
        </p:nvGrpSpPr>
        <p:grpSpPr bwMode="auto">
          <a:xfrm>
            <a:off x="1219200" y="4343400"/>
            <a:ext cx="6781800" cy="838200"/>
            <a:chOff x="768" y="2880"/>
            <a:chExt cx="4272" cy="528"/>
          </a:xfrm>
        </p:grpSpPr>
        <p:pic>
          <p:nvPicPr>
            <p:cNvPr id="13328" name="Picture 16">
              <a:extLst>
                <a:ext uri="{FF2B5EF4-FFF2-40B4-BE49-F238E27FC236}">
                  <a16:creationId xmlns:a16="http://schemas.microsoft.com/office/drawing/2014/main" id="{F1F1CDC6-BBBE-8240-8807-7D3453A1E3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4" y="2937"/>
              <a:ext cx="4140" cy="4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3329" name="Rectangle 17">
              <a:extLst>
                <a:ext uri="{FF2B5EF4-FFF2-40B4-BE49-F238E27FC236}">
                  <a16:creationId xmlns:a16="http://schemas.microsoft.com/office/drawing/2014/main" id="{E508560F-0899-AB4E-A384-D14D34992363}"/>
                </a:ext>
              </a:extLst>
            </p:cNvPr>
            <p:cNvSpPr>
              <a:spLocks noChangeArrowheads="1"/>
            </p:cNvSpPr>
            <p:nvPr/>
          </p:nvSpPr>
          <p:spPr bwMode="auto">
            <a:xfrm>
              <a:off x="768" y="2880"/>
              <a:ext cx="4272" cy="528"/>
            </a:xfrm>
            <a:prstGeom prst="rect">
              <a:avLst/>
            </a:prstGeom>
            <a:noFill/>
            <a:ln w="3810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grpSp>
      <p:sp>
        <p:nvSpPr>
          <p:cNvPr id="18" name="TextBox 17">
            <a:extLst>
              <a:ext uri="{FF2B5EF4-FFF2-40B4-BE49-F238E27FC236}">
                <a16:creationId xmlns:a16="http://schemas.microsoft.com/office/drawing/2014/main" id="{B4F7771D-8908-D340-AC33-94A3659B63BC}"/>
              </a:ext>
            </a:extLst>
          </p:cNvPr>
          <p:cNvSpPr txBox="1"/>
          <p:nvPr/>
        </p:nvSpPr>
        <p:spPr>
          <a:xfrm>
            <a:off x="514167" y="1742301"/>
            <a:ext cx="7948266" cy="276999"/>
          </a:xfrm>
          <a:prstGeom prst="rect">
            <a:avLst/>
          </a:prstGeom>
          <a:noFill/>
        </p:spPr>
        <p:txBody>
          <a:bodyPr wrap="none" rtlCol="0">
            <a:spAutoFit/>
          </a:bodyPr>
          <a:lstStyle/>
          <a:p>
            <a:r>
              <a:rPr lang="en-US" sz="1200" dirty="0">
                <a:solidFill>
                  <a:srgbClr val="FF0000"/>
                </a:solidFill>
                <a:latin typeface="Arial" panose="020B0604020202020204" pitchFamily="34" charset="0"/>
                <a:cs typeface="Arial" panose="020B0604020202020204" pitchFamily="34" charset="0"/>
              </a:rPr>
              <a:t>Since the amount of dissolved salt (and CO2) affects fluid density, it influences the total velocity of the fluid mixture.</a:t>
            </a:r>
          </a:p>
        </p:txBody>
      </p:sp>
    </p:spTree>
    <p:extLst>
      <p:ext uri="{BB962C8B-B14F-4D97-AF65-F5344CB8AC3E}">
        <p14:creationId xmlns:p14="http://schemas.microsoft.com/office/powerpoint/2010/main" val="41070945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3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33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3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680C9-7116-5A46-9AAC-68F9A9658F74}"/>
              </a:ext>
            </a:extLst>
          </p:cNvPr>
          <p:cNvSpPr>
            <a:spLocks noGrp="1"/>
          </p:cNvSpPr>
          <p:nvPr>
            <p:ph type="title"/>
          </p:nvPr>
        </p:nvSpPr>
        <p:spPr/>
        <p:txBody>
          <a:bodyPr/>
          <a:lstStyle/>
          <a:p>
            <a:r>
              <a:rPr lang="en-US" dirty="0"/>
              <a:t>Solution strategy</a:t>
            </a:r>
          </a:p>
        </p:txBody>
      </p:sp>
      <p:sp>
        <p:nvSpPr>
          <p:cNvPr id="3" name="Content Placeholder 2">
            <a:extLst>
              <a:ext uri="{FF2B5EF4-FFF2-40B4-BE49-F238E27FC236}">
                <a16:creationId xmlns:a16="http://schemas.microsoft.com/office/drawing/2014/main" id="{DDD3BB50-9D64-C44F-9F3C-717B260CA861}"/>
              </a:ext>
            </a:extLst>
          </p:cNvPr>
          <p:cNvSpPr>
            <a:spLocks noGrp="1"/>
          </p:cNvSpPr>
          <p:nvPr>
            <p:ph idx="1"/>
          </p:nvPr>
        </p:nvSpPr>
        <p:spPr/>
        <p:txBody>
          <a:bodyPr/>
          <a:lstStyle/>
          <a:p>
            <a:pPr marL="0" indent="0">
              <a:buNone/>
            </a:pPr>
            <a:r>
              <a:rPr lang="en-US" dirty="0"/>
              <a:t>Full problem:</a:t>
            </a:r>
          </a:p>
          <a:p>
            <a:r>
              <a:rPr lang="en-US" dirty="0"/>
              <a:t>Nested iteration strategy (</a:t>
            </a:r>
            <a:r>
              <a:rPr lang="en-US" dirty="0" err="1"/>
              <a:t>Hajibeygi</a:t>
            </a:r>
            <a:r>
              <a:rPr lang="en-US" dirty="0"/>
              <a:t> &amp; Jenny, 14’):</a:t>
            </a:r>
          </a:p>
          <a:p>
            <a:pPr lvl="1"/>
            <a:r>
              <a:rPr lang="en-US" dirty="0"/>
              <a:t>Inner saturation loop: predictor – corrector approach for saturation</a:t>
            </a:r>
          </a:p>
          <a:p>
            <a:pPr lvl="1"/>
            <a:r>
              <a:rPr lang="en-US" dirty="0"/>
              <a:t>Outer iteration loop: pressure with mass source term</a:t>
            </a:r>
          </a:p>
        </p:txBody>
      </p:sp>
      <p:sp>
        <p:nvSpPr>
          <p:cNvPr id="4" name="Date Placeholder 3">
            <a:extLst>
              <a:ext uri="{FF2B5EF4-FFF2-40B4-BE49-F238E27FC236}">
                <a16:creationId xmlns:a16="http://schemas.microsoft.com/office/drawing/2014/main" id="{23C9B26F-B018-6541-95AB-ECE3FFFB7E93}"/>
              </a:ext>
            </a:extLst>
          </p:cNvPr>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a:extLst>
              <a:ext uri="{FF2B5EF4-FFF2-40B4-BE49-F238E27FC236}">
                <a16:creationId xmlns:a16="http://schemas.microsoft.com/office/drawing/2014/main" id="{F7F537FA-8B95-5C4D-9709-A96605433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D3D9C-FE33-A140-957C-8F040E86224A}"/>
              </a:ext>
            </a:extLst>
          </p:cNvPr>
          <p:cNvSpPr>
            <a:spLocks noGrp="1"/>
          </p:cNvSpPr>
          <p:nvPr>
            <p:ph type="sldNum" sz="quarter" idx="12"/>
          </p:nvPr>
        </p:nvSpPr>
        <p:spPr/>
        <p:txBody>
          <a:bodyPr/>
          <a:lstStyle/>
          <a:p>
            <a:fld id="{223FD816-CC6A-BF43-8241-637E3E7EAA5A}" type="slidenum">
              <a:rPr lang="en-US" smtClean="0"/>
              <a:pPr/>
              <a:t>10</a:t>
            </a:fld>
            <a:endParaRPr lang="en-US"/>
          </a:p>
        </p:txBody>
      </p:sp>
    </p:spTree>
    <p:extLst>
      <p:ext uri="{BB962C8B-B14F-4D97-AF65-F5344CB8AC3E}">
        <p14:creationId xmlns:p14="http://schemas.microsoft.com/office/powerpoint/2010/main" val="1680803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514350" indent="-514350">
              <a:spcBef>
                <a:spcPts val="800"/>
              </a:spcBef>
              <a:spcAft>
                <a:spcPts val="1800"/>
              </a:spcAft>
              <a:buFont typeface="+mj-lt"/>
              <a:buAutoNum type="arabicPeriod"/>
            </a:pPr>
            <a:r>
              <a:rPr lang="en-US" sz="2400" dirty="0"/>
              <a:t>Governing Equations</a:t>
            </a:r>
          </a:p>
          <a:p>
            <a:pPr marL="514350" indent="-514350">
              <a:spcBef>
                <a:spcPts val="800"/>
              </a:spcBef>
              <a:spcAft>
                <a:spcPts val="1800"/>
              </a:spcAft>
              <a:buFont typeface="+mj-lt"/>
              <a:buAutoNum type="arabicPeriod"/>
            </a:pPr>
            <a:r>
              <a:rPr lang="en-US" sz="2400" b="1" dirty="0" err="1"/>
              <a:t>Discretisation</a:t>
            </a:r>
            <a:endParaRPr lang="en-US" sz="2400" b="1" dirty="0"/>
          </a:p>
          <a:p>
            <a:pPr marL="514350" indent="-514350">
              <a:spcBef>
                <a:spcPts val="800"/>
              </a:spcBef>
              <a:spcAft>
                <a:spcPts val="1800"/>
              </a:spcAft>
              <a:buFont typeface="+mj-lt"/>
              <a:buAutoNum type="arabicPeriod"/>
            </a:pPr>
            <a:r>
              <a:rPr lang="en-US" sz="2400" dirty="0"/>
              <a:t>Design specifications and considerations</a:t>
            </a:r>
          </a:p>
          <a:p>
            <a:pPr marL="514350" indent="-514350">
              <a:spcBef>
                <a:spcPts val="800"/>
              </a:spcBef>
              <a:spcAft>
                <a:spcPts val="1800"/>
              </a:spcAft>
              <a:buFont typeface="+mj-lt"/>
              <a:buAutoNum type="arabicPeriod"/>
            </a:pPr>
            <a:r>
              <a:rPr lang="en-US" sz="2400" dirty="0"/>
              <a:t>Phase by phase transport</a:t>
            </a:r>
          </a:p>
          <a:p>
            <a:pPr marL="514350" indent="-514350">
              <a:spcBef>
                <a:spcPts val="800"/>
              </a:spcBef>
              <a:spcAft>
                <a:spcPts val="1800"/>
              </a:spcAft>
              <a:buFont typeface="+mj-lt"/>
              <a:buAutoNum type="arabicPeriod"/>
            </a:pPr>
            <a:r>
              <a:rPr lang="en-US" sz="2400" dirty="0"/>
              <a:t>Design prototype: classes and use-case</a:t>
            </a:r>
          </a:p>
        </p:txBody>
      </p:sp>
      <p:sp>
        <p:nvSpPr>
          <p:cNvPr id="4" name="Date Placeholder 3"/>
          <p:cNvSpPr>
            <a:spLocks noGrp="1"/>
          </p:cNvSpPr>
          <p:nvPr>
            <p:ph type="dt" sz="half" idx="10"/>
          </p:nvPr>
        </p:nvSpPr>
        <p:spPr>
          <a:xfrm>
            <a:off x="35496" y="6492875"/>
            <a:ext cx="3087544" cy="365125"/>
          </a:xfrm>
        </p:spPr>
        <p:txBody>
          <a:bodyPr/>
          <a:lstStyle/>
          <a:p>
            <a:pPr>
              <a:defRPr/>
            </a:pPr>
            <a:r>
              <a:rPr lang="en-US" dirty="0"/>
              <a:t>CSMP Generic Transport Scheme: Agenda</a:t>
            </a:r>
          </a:p>
        </p:txBody>
      </p:sp>
      <p:sp>
        <p:nvSpPr>
          <p:cNvPr id="5" name="Slide Number Placeholder 4"/>
          <p:cNvSpPr>
            <a:spLocks noGrp="1"/>
          </p:cNvSpPr>
          <p:nvPr>
            <p:ph type="sldNum" sz="quarter" idx="12"/>
          </p:nvPr>
        </p:nvSpPr>
        <p:spPr/>
        <p:txBody>
          <a:bodyPr/>
          <a:lstStyle/>
          <a:p>
            <a:fld id="{321305FD-7CE1-C64B-B0A3-F76AC6FEC4D2}" type="slidenum">
              <a:rPr lang="en-US" smtClean="0"/>
              <a:pPr/>
              <a:t>11</a:t>
            </a:fld>
            <a:endParaRPr lang="en-US"/>
          </a:p>
        </p:txBody>
      </p:sp>
    </p:spTree>
    <p:extLst>
      <p:ext uri="{BB962C8B-B14F-4D97-AF65-F5344CB8AC3E}">
        <p14:creationId xmlns:p14="http://schemas.microsoft.com/office/powerpoint/2010/main" val="2239845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 placement (</a:t>
            </a:r>
            <a:r>
              <a:rPr lang="en-US" dirty="0" err="1"/>
              <a:t>Barycentric</a:t>
            </a:r>
            <a:r>
              <a:rPr lang="en-US" dirty="0"/>
              <a:t> formulation)</a:t>
            </a:r>
          </a:p>
        </p:txBody>
      </p:sp>
      <p:sp>
        <p:nvSpPr>
          <p:cNvPr id="3" name="Date Placeholder 2"/>
          <p:cNvSpPr>
            <a:spLocks noGrp="1"/>
          </p:cNvSpPr>
          <p:nvPr>
            <p:ph type="dt" sz="half" idx="10"/>
          </p:nvPr>
        </p:nvSpPr>
        <p:spPr/>
        <p:txBody>
          <a:bodyPr/>
          <a:lstStyle/>
          <a:p>
            <a:fld id="{C1762EE7-3E26-8344-9AFB-A62088F617B5}" type="datetime1">
              <a:rPr lang="en-US" smtClean="0">
                <a:solidFill>
                  <a:prstClr val="white">
                    <a:lumMod val="65000"/>
                  </a:prstClr>
                </a:solidFill>
              </a:rPr>
              <a:pPr/>
              <a:t>3/17/19</a:t>
            </a:fld>
            <a:endParaRPr lang="en-US">
              <a:solidFill>
                <a:prstClr val="white">
                  <a:lumMod val="65000"/>
                </a:prstClr>
              </a:solidFill>
            </a:endParaRPr>
          </a:p>
        </p:txBody>
      </p:sp>
      <p:sp>
        <p:nvSpPr>
          <p:cNvPr id="4" name="Footer Placeholder 3"/>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5" name="Slide Number Placeholder 4"/>
          <p:cNvSpPr>
            <a:spLocks noGrp="1"/>
          </p:cNvSpPr>
          <p:nvPr>
            <p:ph type="sldNum" sz="quarter" idx="12"/>
          </p:nvPr>
        </p:nvSpPr>
        <p:spPr/>
        <p:txBody>
          <a:bodyPr/>
          <a:lstStyle/>
          <a:p>
            <a:fld id="{223FD816-CC6A-BF43-8241-637E3E7EAA5A}" type="slidenum">
              <a:rPr lang="en-US" smtClean="0">
                <a:solidFill>
                  <a:prstClr val="white">
                    <a:lumMod val="65000"/>
                  </a:prstClr>
                </a:solidFill>
              </a:rPr>
              <a:pPr/>
              <a:t>12</a:t>
            </a:fld>
            <a:endParaRPr lang="en-US">
              <a:solidFill>
                <a:prstClr val="white">
                  <a:lumMod val="65000"/>
                </a:prstClr>
              </a:solidFill>
            </a:endParaRPr>
          </a:p>
        </p:txBody>
      </p:sp>
      <p:sp>
        <p:nvSpPr>
          <p:cNvPr id="7" name="Freeform 3"/>
          <p:cNvSpPr>
            <a:spLocks/>
          </p:cNvSpPr>
          <p:nvPr/>
        </p:nvSpPr>
        <p:spPr bwMode="auto">
          <a:xfrm>
            <a:off x="1930055" y="2002351"/>
            <a:ext cx="3857625" cy="3402012"/>
          </a:xfrm>
          <a:custGeom>
            <a:avLst/>
            <a:gdLst>
              <a:gd name="T0" fmla="*/ 0 w 2430"/>
              <a:gd name="T1" fmla="*/ 2147483647 h 2143"/>
              <a:gd name="T2" fmla="*/ 2147483647 w 2430"/>
              <a:gd name="T3" fmla="*/ 0 h 2143"/>
              <a:gd name="T4" fmla="*/ 2147483647 w 2430"/>
              <a:gd name="T5" fmla="*/ 2147483647 h 2143"/>
              <a:gd name="T6" fmla="*/ 0 w 2430"/>
              <a:gd name="T7" fmla="*/ 2147483647 h 2143"/>
              <a:gd name="T8" fmla="*/ 0 60000 65536"/>
              <a:gd name="T9" fmla="*/ 0 60000 65536"/>
              <a:gd name="T10" fmla="*/ 0 60000 65536"/>
              <a:gd name="T11" fmla="*/ 0 60000 65536"/>
              <a:gd name="T12" fmla="*/ 0 w 2430"/>
              <a:gd name="T13" fmla="*/ 0 h 2143"/>
              <a:gd name="T14" fmla="*/ 2430 w 2430"/>
              <a:gd name="T15" fmla="*/ 2143 h 2143"/>
            </a:gdLst>
            <a:ahLst/>
            <a:cxnLst>
              <a:cxn ang="T8">
                <a:pos x="T0" y="T1"/>
              </a:cxn>
              <a:cxn ang="T9">
                <a:pos x="T2" y="T3"/>
              </a:cxn>
              <a:cxn ang="T10">
                <a:pos x="T4" y="T5"/>
              </a:cxn>
              <a:cxn ang="T11">
                <a:pos x="T6" y="T7"/>
              </a:cxn>
            </a:cxnLst>
            <a:rect l="T12" t="T13" r="T14" b="T15"/>
            <a:pathLst>
              <a:path w="2430" h="2143">
                <a:moveTo>
                  <a:pt x="0" y="2143"/>
                </a:moveTo>
                <a:lnTo>
                  <a:pt x="1252" y="0"/>
                </a:lnTo>
                <a:lnTo>
                  <a:pt x="2430" y="2104"/>
                </a:lnTo>
                <a:lnTo>
                  <a:pt x="0" y="2143"/>
                </a:lnTo>
                <a:close/>
              </a:path>
            </a:pathLst>
          </a:custGeom>
          <a:solidFill>
            <a:srgbClr val="FFFF00"/>
          </a:solidFill>
          <a:ln w="28575">
            <a:solidFill>
              <a:schemeClr val="tx1"/>
            </a:solidFill>
            <a:miter lim="800000"/>
            <a:headEnd/>
            <a:tailEnd/>
          </a:ln>
        </p:spPr>
        <p:txBody>
          <a:bodyPr wrap="none"/>
          <a:lstStyle/>
          <a:p>
            <a:endParaRPr lang="en-US" dirty="0"/>
          </a:p>
        </p:txBody>
      </p:sp>
      <p:sp>
        <p:nvSpPr>
          <p:cNvPr id="8" name="Oval 4"/>
          <p:cNvSpPr>
            <a:spLocks noChangeArrowheads="1"/>
          </p:cNvSpPr>
          <p:nvPr/>
        </p:nvSpPr>
        <p:spPr bwMode="auto">
          <a:xfrm>
            <a:off x="1791942" y="5280538"/>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9" name="Oval 5"/>
          <p:cNvSpPr>
            <a:spLocks noChangeArrowheads="1"/>
          </p:cNvSpPr>
          <p:nvPr/>
        </p:nvSpPr>
        <p:spPr bwMode="auto">
          <a:xfrm>
            <a:off x="5643217" y="5226563"/>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0" name="Oval 6"/>
          <p:cNvSpPr>
            <a:spLocks noChangeArrowheads="1"/>
          </p:cNvSpPr>
          <p:nvPr/>
        </p:nvSpPr>
        <p:spPr bwMode="auto">
          <a:xfrm>
            <a:off x="3773142" y="1872176"/>
            <a:ext cx="288925" cy="255587"/>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1" name="Line 7"/>
          <p:cNvSpPr>
            <a:spLocks noChangeShapeType="1"/>
          </p:cNvSpPr>
          <p:nvPr/>
        </p:nvSpPr>
        <p:spPr bwMode="auto">
          <a:xfrm>
            <a:off x="3917605" y="4064513"/>
            <a:ext cx="20637" cy="1306513"/>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2" name="Line 8"/>
          <p:cNvSpPr>
            <a:spLocks noChangeShapeType="1"/>
          </p:cNvSpPr>
          <p:nvPr/>
        </p:nvSpPr>
        <p:spPr bwMode="auto">
          <a:xfrm flipV="1">
            <a:off x="3919192" y="3735901"/>
            <a:ext cx="962025" cy="336550"/>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3" name="Line 9"/>
          <p:cNvSpPr>
            <a:spLocks noChangeShapeType="1"/>
          </p:cNvSpPr>
          <p:nvPr/>
        </p:nvSpPr>
        <p:spPr bwMode="auto">
          <a:xfrm>
            <a:off x="2965105" y="3634301"/>
            <a:ext cx="962025" cy="433387"/>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4" name="Line 10"/>
          <p:cNvSpPr>
            <a:spLocks noChangeShapeType="1"/>
          </p:cNvSpPr>
          <p:nvPr/>
        </p:nvSpPr>
        <p:spPr bwMode="auto">
          <a:xfrm flipV="1">
            <a:off x="3930305" y="4675701"/>
            <a:ext cx="598487" cy="3492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23" name="Oval 19"/>
          <p:cNvSpPr>
            <a:spLocks noChangeArrowheads="1"/>
          </p:cNvSpPr>
          <p:nvPr/>
        </p:nvSpPr>
        <p:spPr bwMode="auto">
          <a:xfrm>
            <a:off x="3855692" y="4628076"/>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9" name="Line 25"/>
          <p:cNvSpPr>
            <a:spLocks noChangeShapeType="1"/>
          </p:cNvSpPr>
          <p:nvPr/>
        </p:nvSpPr>
        <p:spPr bwMode="auto">
          <a:xfrm flipV="1">
            <a:off x="5022505" y="2723076"/>
            <a:ext cx="752475" cy="95567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0" name="Line 26"/>
          <p:cNvSpPr>
            <a:spLocks noChangeShapeType="1"/>
          </p:cNvSpPr>
          <p:nvPr/>
        </p:nvSpPr>
        <p:spPr bwMode="auto">
          <a:xfrm flipH="1" flipV="1">
            <a:off x="2336455" y="2829438"/>
            <a:ext cx="596900" cy="75882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3" name="TextBox 32"/>
          <p:cNvSpPr txBox="1"/>
          <p:nvPr/>
        </p:nvSpPr>
        <p:spPr>
          <a:xfrm>
            <a:off x="3728637" y="3794185"/>
            <a:ext cx="390552" cy="461665"/>
          </a:xfrm>
          <a:prstGeom prst="rect">
            <a:avLst/>
          </a:prstGeom>
          <a:noFill/>
        </p:spPr>
        <p:txBody>
          <a:bodyPr wrap="none" rtlCol="0">
            <a:spAutoFit/>
          </a:bodyPr>
          <a:lstStyle/>
          <a:p>
            <a:r>
              <a:rPr lang="en-US" sz="2400" b="1" dirty="0"/>
              <a:t>x</a:t>
            </a:r>
          </a:p>
        </p:txBody>
      </p:sp>
      <p:graphicFrame>
        <p:nvGraphicFramePr>
          <p:cNvPr id="39" name="Object 38"/>
          <p:cNvGraphicFramePr>
            <a:graphicFrameLocks noChangeAspect="1"/>
          </p:cNvGraphicFramePr>
          <p:nvPr>
            <p:extLst>
              <p:ext uri="{D42A27DB-BD31-4B8C-83A1-F6EECF244321}">
                <p14:modId xmlns:p14="http://schemas.microsoft.com/office/powerpoint/2010/main" val="835462361"/>
              </p:ext>
            </p:extLst>
          </p:nvPr>
        </p:nvGraphicFramePr>
        <p:xfrm>
          <a:off x="4092575" y="1575222"/>
          <a:ext cx="2941638" cy="595313"/>
        </p:xfrm>
        <a:graphic>
          <a:graphicData uri="http://schemas.openxmlformats.org/presentationml/2006/ole">
            <mc:AlternateContent xmlns:mc="http://schemas.openxmlformats.org/markup-compatibility/2006">
              <mc:Choice xmlns:v="urn:schemas-microsoft-com:vml" Requires="v">
                <p:oleObj spid="_x0000_s29149" name="Equation" r:id="rId3" imgW="939800" imgH="190500" progId="Equation.3">
                  <p:embed/>
                </p:oleObj>
              </mc:Choice>
              <mc:Fallback>
                <p:oleObj name="Equation" r:id="rId3" imgW="939800" imgH="190500" progId="Equation.3">
                  <p:embed/>
                  <p:pic>
                    <p:nvPicPr>
                      <p:cNvPr id="0" name=""/>
                      <p:cNvPicPr/>
                      <p:nvPr/>
                    </p:nvPicPr>
                    <p:blipFill>
                      <a:blip r:embed="rId4"/>
                      <a:stretch>
                        <a:fillRect/>
                      </a:stretch>
                    </p:blipFill>
                    <p:spPr>
                      <a:xfrm>
                        <a:off x="4092575" y="1575222"/>
                        <a:ext cx="2941638" cy="595313"/>
                      </a:xfrm>
                      <a:prstGeom prst="rect">
                        <a:avLst/>
                      </a:prstGeom>
                    </p:spPr>
                  </p:pic>
                </p:oleObj>
              </mc:Fallback>
            </mc:AlternateContent>
          </a:graphicData>
        </a:graphic>
      </p:graphicFrame>
      <p:graphicFrame>
        <p:nvGraphicFramePr>
          <p:cNvPr id="40" name="Object 39"/>
          <p:cNvGraphicFramePr>
            <a:graphicFrameLocks noChangeAspect="1"/>
          </p:cNvGraphicFramePr>
          <p:nvPr>
            <p:extLst>
              <p:ext uri="{D42A27DB-BD31-4B8C-83A1-F6EECF244321}">
                <p14:modId xmlns:p14="http://schemas.microsoft.com/office/powerpoint/2010/main" val="4123771706"/>
              </p:ext>
            </p:extLst>
          </p:nvPr>
        </p:nvGraphicFramePr>
        <p:xfrm>
          <a:off x="3112446" y="3285121"/>
          <a:ext cx="1826590" cy="1607399"/>
        </p:xfrm>
        <a:graphic>
          <a:graphicData uri="http://schemas.openxmlformats.org/presentationml/2006/ole">
            <mc:AlternateContent xmlns:mc="http://schemas.openxmlformats.org/markup-compatibility/2006">
              <mc:Choice xmlns:v="urn:schemas-microsoft-com:vml" Requires="v">
                <p:oleObj spid="_x0000_s29150" name="Equation" r:id="rId5" imgW="749300" imgH="660400" progId="Equation.DSMT4">
                  <p:embed/>
                </p:oleObj>
              </mc:Choice>
              <mc:Fallback>
                <p:oleObj name="Equation" r:id="rId5" imgW="749300" imgH="660400" progId="Equation.DSMT4">
                  <p:embed/>
                  <p:pic>
                    <p:nvPicPr>
                      <p:cNvPr id="0" name=""/>
                      <p:cNvPicPr/>
                      <p:nvPr/>
                    </p:nvPicPr>
                    <p:blipFill>
                      <a:blip r:embed="rId6"/>
                      <a:stretch>
                        <a:fillRect/>
                      </a:stretch>
                    </p:blipFill>
                    <p:spPr>
                      <a:xfrm>
                        <a:off x="3112446" y="3285121"/>
                        <a:ext cx="1826590" cy="1607399"/>
                      </a:xfrm>
                      <a:prstGeom prst="rect">
                        <a:avLst/>
                      </a:prstGeom>
                    </p:spPr>
                  </p:pic>
                </p:oleObj>
              </mc:Fallback>
            </mc:AlternateContent>
          </a:graphicData>
        </a:graphic>
      </p:graphicFrame>
    </p:spTree>
    <p:extLst>
      <p:ext uri="{BB962C8B-B14F-4D97-AF65-F5344CB8AC3E}">
        <p14:creationId xmlns:p14="http://schemas.microsoft.com/office/powerpoint/2010/main" val="821150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112"/>
            <a:ext cx="8229600" cy="914400"/>
          </a:xfrm>
        </p:spPr>
        <p:txBody>
          <a:bodyPr>
            <a:normAutofit fontScale="90000"/>
          </a:bodyPr>
          <a:lstStyle/>
          <a:p>
            <a:r>
              <a:rPr lang="en-US" dirty="0"/>
              <a:t>Variable placement </a:t>
            </a:r>
            <a:br>
              <a:rPr lang="en-US" dirty="0"/>
            </a:br>
            <a:r>
              <a:rPr lang="en-US" dirty="0"/>
              <a:t>(integration-point based  formulation)</a:t>
            </a:r>
          </a:p>
        </p:txBody>
      </p:sp>
      <p:sp>
        <p:nvSpPr>
          <p:cNvPr id="3" name="Date Placeholder 2"/>
          <p:cNvSpPr>
            <a:spLocks noGrp="1"/>
          </p:cNvSpPr>
          <p:nvPr>
            <p:ph type="dt" sz="half" idx="10"/>
          </p:nvPr>
        </p:nvSpPr>
        <p:spPr/>
        <p:txBody>
          <a:bodyPr/>
          <a:lstStyle/>
          <a:p>
            <a:fld id="{C1762EE7-3E26-8344-9AFB-A62088F617B5}" type="datetime1">
              <a:rPr lang="en-US" smtClean="0">
                <a:solidFill>
                  <a:prstClr val="white">
                    <a:lumMod val="65000"/>
                  </a:prstClr>
                </a:solidFill>
              </a:rPr>
              <a:pPr/>
              <a:t>3/17/19</a:t>
            </a:fld>
            <a:endParaRPr lang="en-US">
              <a:solidFill>
                <a:prstClr val="white">
                  <a:lumMod val="65000"/>
                </a:prstClr>
              </a:solidFill>
            </a:endParaRPr>
          </a:p>
        </p:txBody>
      </p:sp>
      <p:sp>
        <p:nvSpPr>
          <p:cNvPr id="4" name="Footer Placeholder 3"/>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5" name="Slide Number Placeholder 4"/>
          <p:cNvSpPr>
            <a:spLocks noGrp="1"/>
          </p:cNvSpPr>
          <p:nvPr>
            <p:ph type="sldNum" sz="quarter" idx="12"/>
          </p:nvPr>
        </p:nvSpPr>
        <p:spPr/>
        <p:txBody>
          <a:bodyPr/>
          <a:lstStyle/>
          <a:p>
            <a:fld id="{223FD816-CC6A-BF43-8241-637E3E7EAA5A}" type="slidenum">
              <a:rPr lang="en-US" smtClean="0">
                <a:solidFill>
                  <a:prstClr val="white">
                    <a:lumMod val="65000"/>
                  </a:prstClr>
                </a:solidFill>
              </a:rPr>
              <a:pPr/>
              <a:t>13</a:t>
            </a:fld>
            <a:endParaRPr lang="en-US">
              <a:solidFill>
                <a:prstClr val="white">
                  <a:lumMod val="65000"/>
                </a:prstClr>
              </a:solidFill>
            </a:endParaRPr>
          </a:p>
        </p:txBody>
      </p:sp>
      <p:sp>
        <p:nvSpPr>
          <p:cNvPr id="7" name="Freeform 3"/>
          <p:cNvSpPr>
            <a:spLocks/>
          </p:cNvSpPr>
          <p:nvPr/>
        </p:nvSpPr>
        <p:spPr bwMode="auto">
          <a:xfrm>
            <a:off x="1930055" y="2002351"/>
            <a:ext cx="3857625" cy="3402012"/>
          </a:xfrm>
          <a:custGeom>
            <a:avLst/>
            <a:gdLst>
              <a:gd name="T0" fmla="*/ 0 w 2430"/>
              <a:gd name="T1" fmla="*/ 2147483647 h 2143"/>
              <a:gd name="T2" fmla="*/ 2147483647 w 2430"/>
              <a:gd name="T3" fmla="*/ 0 h 2143"/>
              <a:gd name="T4" fmla="*/ 2147483647 w 2430"/>
              <a:gd name="T5" fmla="*/ 2147483647 h 2143"/>
              <a:gd name="T6" fmla="*/ 0 w 2430"/>
              <a:gd name="T7" fmla="*/ 2147483647 h 2143"/>
              <a:gd name="T8" fmla="*/ 0 60000 65536"/>
              <a:gd name="T9" fmla="*/ 0 60000 65536"/>
              <a:gd name="T10" fmla="*/ 0 60000 65536"/>
              <a:gd name="T11" fmla="*/ 0 60000 65536"/>
              <a:gd name="T12" fmla="*/ 0 w 2430"/>
              <a:gd name="T13" fmla="*/ 0 h 2143"/>
              <a:gd name="T14" fmla="*/ 2430 w 2430"/>
              <a:gd name="T15" fmla="*/ 2143 h 2143"/>
            </a:gdLst>
            <a:ahLst/>
            <a:cxnLst>
              <a:cxn ang="T8">
                <a:pos x="T0" y="T1"/>
              </a:cxn>
              <a:cxn ang="T9">
                <a:pos x="T2" y="T3"/>
              </a:cxn>
              <a:cxn ang="T10">
                <a:pos x="T4" y="T5"/>
              </a:cxn>
              <a:cxn ang="T11">
                <a:pos x="T6" y="T7"/>
              </a:cxn>
            </a:cxnLst>
            <a:rect l="T12" t="T13" r="T14" b="T15"/>
            <a:pathLst>
              <a:path w="2430" h="2143">
                <a:moveTo>
                  <a:pt x="0" y="2143"/>
                </a:moveTo>
                <a:lnTo>
                  <a:pt x="1252" y="0"/>
                </a:lnTo>
                <a:lnTo>
                  <a:pt x="2430" y="2104"/>
                </a:lnTo>
                <a:lnTo>
                  <a:pt x="0" y="2143"/>
                </a:lnTo>
                <a:close/>
              </a:path>
            </a:pathLst>
          </a:custGeom>
          <a:solidFill>
            <a:srgbClr val="FFFF00"/>
          </a:solidFill>
          <a:ln w="28575">
            <a:solidFill>
              <a:schemeClr val="tx1"/>
            </a:solidFill>
            <a:miter lim="800000"/>
            <a:headEnd/>
            <a:tailEnd/>
          </a:ln>
        </p:spPr>
        <p:txBody>
          <a:bodyPr wrap="none"/>
          <a:lstStyle/>
          <a:p>
            <a:endParaRPr lang="en-US" dirty="0"/>
          </a:p>
        </p:txBody>
      </p:sp>
      <p:sp>
        <p:nvSpPr>
          <p:cNvPr id="8" name="Oval 4"/>
          <p:cNvSpPr>
            <a:spLocks noChangeArrowheads="1"/>
          </p:cNvSpPr>
          <p:nvPr/>
        </p:nvSpPr>
        <p:spPr bwMode="auto">
          <a:xfrm>
            <a:off x="1791942" y="5280538"/>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9" name="Oval 5"/>
          <p:cNvSpPr>
            <a:spLocks noChangeArrowheads="1"/>
          </p:cNvSpPr>
          <p:nvPr/>
        </p:nvSpPr>
        <p:spPr bwMode="auto">
          <a:xfrm>
            <a:off x="5643217" y="5226563"/>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0" name="Oval 6"/>
          <p:cNvSpPr>
            <a:spLocks noChangeArrowheads="1"/>
          </p:cNvSpPr>
          <p:nvPr/>
        </p:nvSpPr>
        <p:spPr bwMode="auto">
          <a:xfrm>
            <a:off x="3773142" y="1872176"/>
            <a:ext cx="288925" cy="255587"/>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11" name="Line 7"/>
          <p:cNvSpPr>
            <a:spLocks noChangeShapeType="1"/>
          </p:cNvSpPr>
          <p:nvPr/>
        </p:nvSpPr>
        <p:spPr bwMode="auto">
          <a:xfrm>
            <a:off x="3917605" y="4064513"/>
            <a:ext cx="20637" cy="1306513"/>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2" name="Line 8"/>
          <p:cNvSpPr>
            <a:spLocks noChangeShapeType="1"/>
          </p:cNvSpPr>
          <p:nvPr/>
        </p:nvSpPr>
        <p:spPr bwMode="auto">
          <a:xfrm flipV="1">
            <a:off x="3919192" y="3735901"/>
            <a:ext cx="962025" cy="336550"/>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3" name="Line 9"/>
          <p:cNvSpPr>
            <a:spLocks noChangeShapeType="1"/>
          </p:cNvSpPr>
          <p:nvPr/>
        </p:nvSpPr>
        <p:spPr bwMode="auto">
          <a:xfrm>
            <a:off x="2965105" y="3634301"/>
            <a:ext cx="962025" cy="433387"/>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14" name="Line 10"/>
          <p:cNvSpPr>
            <a:spLocks noChangeShapeType="1"/>
          </p:cNvSpPr>
          <p:nvPr/>
        </p:nvSpPr>
        <p:spPr bwMode="auto">
          <a:xfrm flipV="1">
            <a:off x="3930305" y="4675701"/>
            <a:ext cx="598487" cy="3492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15" name="Oval 11"/>
          <p:cNvSpPr>
            <a:spLocks noChangeArrowheads="1"/>
          </p:cNvSpPr>
          <p:nvPr/>
        </p:nvSpPr>
        <p:spPr bwMode="auto">
          <a:xfrm>
            <a:off x="3058767" y="4586801"/>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16" name="Oval 12"/>
          <p:cNvSpPr>
            <a:spLocks noChangeArrowheads="1"/>
          </p:cNvSpPr>
          <p:nvPr/>
        </p:nvSpPr>
        <p:spPr bwMode="auto">
          <a:xfrm>
            <a:off x="3842992" y="3205676"/>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17" name="Oval 13"/>
          <p:cNvSpPr>
            <a:spLocks noChangeArrowheads="1"/>
          </p:cNvSpPr>
          <p:nvPr/>
        </p:nvSpPr>
        <p:spPr bwMode="auto">
          <a:xfrm>
            <a:off x="4600230" y="4609026"/>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3" name="Oval 19"/>
          <p:cNvSpPr>
            <a:spLocks noChangeArrowheads="1"/>
          </p:cNvSpPr>
          <p:nvPr/>
        </p:nvSpPr>
        <p:spPr bwMode="auto">
          <a:xfrm>
            <a:off x="3855692" y="4628076"/>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4" name="Oval 20"/>
          <p:cNvSpPr>
            <a:spLocks noChangeArrowheads="1"/>
          </p:cNvSpPr>
          <p:nvPr/>
        </p:nvSpPr>
        <p:spPr bwMode="auto">
          <a:xfrm>
            <a:off x="4309717" y="3839088"/>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5" name="Oval 21"/>
          <p:cNvSpPr>
            <a:spLocks noChangeArrowheads="1"/>
          </p:cNvSpPr>
          <p:nvPr/>
        </p:nvSpPr>
        <p:spPr bwMode="auto">
          <a:xfrm>
            <a:off x="3354042" y="3766063"/>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29" name="Line 25"/>
          <p:cNvSpPr>
            <a:spLocks noChangeShapeType="1"/>
          </p:cNvSpPr>
          <p:nvPr/>
        </p:nvSpPr>
        <p:spPr bwMode="auto">
          <a:xfrm flipV="1">
            <a:off x="5022505" y="2723076"/>
            <a:ext cx="752475" cy="95567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0" name="Line 26"/>
          <p:cNvSpPr>
            <a:spLocks noChangeShapeType="1"/>
          </p:cNvSpPr>
          <p:nvPr/>
        </p:nvSpPr>
        <p:spPr bwMode="auto">
          <a:xfrm flipH="1" flipV="1">
            <a:off x="2336455" y="2829438"/>
            <a:ext cx="596900" cy="75882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3" name="TextBox 32"/>
          <p:cNvSpPr txBox="1"/>
          <p:nvPr/>
        </p:nvSpPr>
        <p:spPr>
          <a:xfrm>
            <a:off x="3750347" y="2230989"/>
            <a:ext cx="321272" cy="369332"/>
          </a:xfrm>
          <a:prstGeom prst="rect">
            <a:avLst/>
          </a:prstGeom>
          <a:noFill/>
        </p:spPr>
        <p:txBody>
          <a:bodyPr wrap="none" rtlCol="0">
            <a:spAutoFit/>
          </a:bodyPr>
          <a:lstStyle/>
          <a:p>
            <a:r>
              <a:rPr lang="en-US" dirty="0"/>
              <a:t>x</a:t>
            </a:r>
          </a:p>
        </p:txBody>
      </p:sp>
      <p:sp>
        <p:nvSpPr>
          <p:cNvPr id="34" name="TextBox 33"/>
          <p:cNvSpPr txBox="1"/>
          <p:nvPr/>
        </p:nvSpPr>
        <p:spPr>
          <a:xfrm>
            <a:off x="2223300" y="4940254"/>
            <a:ext cx="321272" cy="369332"/>
          </a:xfrm>
          <a:prstGeom prst="rect">
            <a:avLst/>
          </a:prstGeom>
          <a:noFill/>
        </p:spPr>
        <p:txBody>
          <a:bodyPr wrap="none" rtlCol="0">
            <a:spAutoFit/>
          </a:bodyPr>
          <a:lstStyle/>
          <a:p>
            <a:r>
              <a:rPr lang="en-US" dirty="0"/>
              <a:t>x</a:t>
            </a:r>
          </a:p>
        </p:txBody>
      </p:sp>
      <p:sp>
        <p:nvSpPr>
          <p:cNvPr id="35" name="TextBox 34"/>
          <p:cNvSpPr txBox="1"/>
          <p:nvPr/>
        </p:nvSpPr>
        <p:spPr>
          <a:xfrm>
            <a:off x="5216559" y="4883758"/>
            <a:ext cx="321272" cy="369332"/>
          </a:xfrm>
          <a:prstGeom prst="rect">
            <a:avLst/>
          </a:prstGeom>
          <a:noFill/>
        </p:spPr>
        <p:txBody>
          <a:bodyPr wrap="none" rtlCol="0">
            <a:spAutoFit/>
          </a:bodyPr>
          <a:lstStyle/>
          <a:p>
            <a:r>
              <a:rPr lang="en-US" dirty="0"/>
              <a:t>x</a:t>
            </a:r>
          </a:p>
        </p:txBody>
      </p:sp>
      <p:graphicFrame>
        <p:nvGraphicFramePr>
          <p:cNvPr id="39" name="Object 38"/>
          <p:cNvGraphicFramePr>
            <a:graphicFrameLocks noChangeAspect="1"/>
          </p:cNvGraphicFramePr>
          <p:nvPr>
            <p:extLst>
              <p:ext uri="{D42A27DB-BD31-4B8C-83A1-F6EECF244321}">
                <p14:modId xmlns:p14="http://schemas.microsoft.com/office/powerpoint/2010/main" val="111643269"/>
              </p:ext>
            </p:extLst>
          </p:nvPr>
        </p:nvGraphicFramePr>
        <p:xfrm>
          <a:off x="4171649" y="1726989"/>
          <a:ext cx="2782887" cy="595313"/>
        </p:xfrm>
        <a:graphic>
          <a:graphicData uri="http://schemas.openxmlformats.org/presentationml/2006/ole">
            <mc:AlternateContent xmlns:mc="http://schemas.openxmlformats.org/markup-compatibility/2006">
              <mc:Choice xmlns:v="urn:schemas-microsoft-com:vml" Requires="v">
                <p:oleObj spid="_x0000_s30173" name="Equation" r:id="rId3" imgW="889000" imgH="190500" progId="Equation.3">
                  <p:embed/>
                </p:oleObj>
              </mc:Choice>
              <mc:Fallback>
                <p:oleObj name="Equation" r:id="rId3" imgW="889000" imgH="190500" progId="Equation.3">
                  <p:embed/>
                  <p:pic>
                    <p:nvPicPr>
                      <p:cNvPr id="0" name=""/>
                      <p:cNvPicPr/>
                      <p:nvPr/>
                    </p:nvPicPr>
                    <p:blipFill>
                      <a:blip r:embed="rId4"/>
                      <a:stretch>
                        <a:fillRect/>
                      </a:stretch>
                    </p:blipFill>
                    <p:spPr>
                      <a:xfrm>
                        <a:off x="4171649" y="1726989"/>
                        <a:ext cx="2782887" cy="595313"/>
                      </a:xfrm>
                      <a:prstGeom prst="rect">
                        <a:avLst/>
                      </a:prstGeom>
                    </p:spPr>
                  </p:pic>
                </p:oleObj>
              </mc:Fallback>
            </mc:AlternateContent>
          </a:graphicData>
        </a:graphic>
      </p:graphicFrame>
      <p:graphicFrame>
        <p:nvGraphicFramePr>
          <p:cNvPr id="40" name="Object 39"/>
          <p:cNvGraphicFramePr>
            <a:graphicFrameLocks noChangeAspect="1"/>
          </p:cNvGraphicFramePr>
          <p:nvPr>
            <p:extLst>
              <p:ext uri="{D42A27DB-BD31-4B8C-83A1-F6EECF244321}">
                <p14:modId xmlns:p14="http://schemas.microsoft.com/office/powerpoint/2010/main" val="2555881830"/>
              </p:ext>
            </p:extLst>
          </p:nvPr>
        </p:nvGraphicFramePr>
        <p:xfrm>
          <a:off x="3058170" y="3350257"/>
          <a:ext cx="1826590" cy="1607399"/>
        </p:xfrm>
        <a:graphic>
          <a:graphicData uri="http://schemas.openxmlformats.org/presentationml/2006/ole">
            <mc:AlternateContent xmlns:mc="http://schemas.openxmlformats.org/markup-compatibility/2006">
              <mc:Choice xmlns:v="urn:schemas-microsoft-com:vml" Requires="v">
                <p:oleObj spid="_x0000_s30174" name="Equation" r:id="rId5" imgW="749300" imgH="660400" progId="Equation.DSMT4">
                  <p:embed/>
                </p:oleObj>
              </mc:Choice>
              <mc:Fallback>
                <p:oleObj name="Equation" r:id="rId5" imgW="749300" imgH="660400" progId="Equation.DSMT4">
                  <p:embed/>
                  <p:pic>
                    <p:nvPicPr>
                      <p:cNvPr id="0" name=""/>
                      <p:cNvPicPr/>
                      <p:nvPr/>
                    </p:nvPicPr>
                    <p:blipFill>
                      <a:blip r:embed="rId6"/>
                      <a:stretch>
                        <a:fillRect/>
                      </a:stretch>
                    </p:blipFill>
                    <p:spPr>
                      <a:xfrm>
                        <a:off x="3058170" y="3350257"/>
                        <a:ext cx="1826590" cy="1607399"/>
                      </a:xfrm>
                      <a:prstGeom prst="rect">
                        <a:avLst/>
                      </a:prstGeom>
                    </p:spPr>
                  </p:pic>
                </p:oleObj>
              </mc:Fallback>
            </mc:AlternateContent>
          </a:graphicData>
        </a:graphic>
      </p:graphicFrame>
    </p:spTree>
    <p:extLst>
      <p:ext uri="{BB962C8B-B14F-4D97-AF65-F5344CB8AC3E}">
        <p14:creationId xmlns:p14="http://schemas.microsoft.com/office/powerpoint/2010/main" val="1649634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3984-3C98-0648-9DAB-2E5D993F234D}"/>
              </a:ext>
            </a:extLst>
          </p:cNvPr>
          <p:cNvSpPr>
            <a:spLocks noGrp="1"/>
          </p:cNvSpPr>
          <p:nvPr>
            <p:ph type="title"/>
          </p:nvPr>
        </p:nvSpPr>
        <p:spPr/>
        <p:txBody>
          <a:bodyPr/>
          <a:lstStyle/>
          <a:p>
            <a:r>
              <a:rPr lang="en-US" altLang="en-US" dirty="0">
                <a:latin typeface="Helvetica" pitchFamily="2" charset="0"/>
              </a:rPr>
              <a:t>Current implementation</a:t>
            </a:r>
            <a:endParaRPr lang="en-US" dirty="0"/>
          </a:p>
        </p:txBody>
      </p:sp>
      <p:sp>
        <p:nvSpPr>
          <p:cNvPr id="3" name="Content Placeholder 2">
            <a:extLst>
              <a:ext uri="{FF2B5EF4-FFF2-40B4-BE49-F238E27FC236}">
                <a16:creationId xmlns:a16="http://schemas.microsoft.com/office/drawing/2014/main" id="{2D37B3C0-1045-4249-9AAA-D5B5D968BE96}"/>
              </a:ext>
            </a:extLst>
          </p:cNvPr>
          <p:cNvSpPr>
            <a:spLocks noGrp="1"/>
          </p:cNvSpPr>
          <p:nvPr>
            <p:ph idx="1"/>
          </p:nvPr>
        </p:nvSpPr>
        <p:spPr/>
        <p:txBody>
          <a:bodyPr>
            <a:normAutofit lnSpcReduction="10000"/>
          </a:bodyPr>
          <a:lstStyle/>
          <a:p>
            <a:pPr marL="0" indent="0">
              <a:buNone/>
            </a:pPr>
            <a:r>
              <a:rPr lang="en-US" dirty="0"/>
              <a:t>0. Thermal equilibration (done only once at beginning), we leave the relatively straight-forward implementation of heat transfer until later. </a:t>
            </a:r>
          </a:p>
          <a:p>
            <a:pPr marL="0" indent="0">
              <a:buNone/>
            </a:pPr>
            <a:r>
              <a:rPr lang="en-US" dirty="0"/>
              <a:t>Initial computation of flow and transport properties</a:t>
            </a:r>
          </a:p>
          <a:p>
            <a:pPr marL="0" indent="0">
              <a:buNone/>
            </a:pPr>
            <a:r>
              <a:rPr lang="en-US" dirty="0"/>
              <a:t>Time-marching loop:</a:t>
            </a:r>
          </a:p>
          <a:p>
            <a:pPr marL="457200" indent="-457200">
              <a:buFont typeface="+mj-lt"/>
              <a:buAutoNum type="arabicPeriod"/>
            </a:pPr>
            <a:r>
              <a:rPr lang="en-US" dirty="0"/>
              <a:t>Multiphase / multicomponent transfer, including dispersion of salt and convective overturn of CO</a:t>
            </a:r>
            <a:r>
              <a:rPr lang="en-US" baseline="-25000" dirty="0"/>
              <a:t>2</a:t>
            </a:r>
            <a:r>
              <a:rPr lang="en-US" dirty="0"/>
              <a:t> </a:t>
            </a:r>
          </a:p>
          <a:p>
            <a:pPr marL="457200" indent="-457200">
              <a:buFont typeface="+mj-lt"/>
              <a:buAutoNum type="arabicPeriod"/>
            </a:pPr>
            <a:r>
              <a:rPr lang="en-US" dirty="0"/>
              <a:t>EOS computation of saturations and fluid properties (densities of phases etc.)</a:t>
            </a:r>
          </a:p>
          <a:p>
            <a:pPr marL="457200" indent="-457200">
              <a:buFont typeface="+mj-lt"/>
              <a:buAutoNum type="arabicPeriod"/>
            </a:pPr>
            <a:r>
              <a:rPr lang="en-US" dirty="0"/>
              <a:t>If salt precipitation, change porosity and apply correlation to find new permeability</a:t>
            </a:r>
          </a:p>
          <a:p>
            <a:pPr marL="457200" indent="-457200">
              <a:buFont typeface="+mj-lt"/>
              <a:buAutoNum type="arabicPeriod"/>
            </a:pPr>
            <a:r>
              <a:rPr lang="en-US" dirty="0"/>
              <a:t>Computation of potential source or sink terms</a:t>
            </a:r>
          </a:p>
          <a:p>
            <a:pPr marL="457200" indent="-457200">
              <a:buFont typeface="+mj-lt"/>
              <a:buAutoNum type="arabicPeriod"/>
            </a:pPr>
            <a:r>
              <a:rPr lang="en-US" dirty="0"/>
              <a:t>Update of transport properties</a:t>
            </a:r>
          </a:p>
          <a:p>
            <a:pPr marL="457200" indent="-457200">
              <a:buFont typeface="+mj-lt"/>
              <a:buAutoNum type="arabicPeriod"/>
            </a:pPr>
            <a:r>
              <a:rPr lang="en-US" dirty="0"/>
              <a:t>Solution of pressure diffusion equation (implicit)</a:t>
            </a:r>
          </a:p>
          <a:p>
            <a:pPr marL="457200" indent="-457200">
              <a:buFont typeface="+mj-lt"/>
              <a:buAutoNum type="arabicPeriod"/>
            </a:pPr>
            <a:r>
              <a:rPr lang="en-US" dirty="0"/>
              <a:t>Post-processing of phase velocities</a:t>
            </a:r>
          </a:p>
        </p:txBody>
      </p:sp>
      <p:sp>
        <p:nvSpPr>
          <p:cNvPr id="4" name="Date Placeholder 3">
            <a:extLst>
              <a:ext uri="{FF2B5EF4-FFF2-40B4-BE49-F238E27FC236}">
                <a16:creationId xmlns:a16="http://schemas.microsoft.com/office/drawing/2014/main" id="{E152516E-1FD0-7046-8F39-DA9057880F0D}"/>
              </a:ext>
            </a:extLst>
          </p:cNvPr>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a:extLst>
              <a:ext uri="{FF2B5EF4-FFF2-40B4-BE49-F238E27FC236}">
                <a16:creationId xmlns:a16="http://schemas.microsoft.com/office/drawing/2014/main" id="{6DAB12A7-2E97-B44D-8719-A20A297E3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BAD8BA-E211-5748-A0D4-0675A1178763}"/>
              </a:ext>
            </a:extLst>
          </p:cNvPr>
          <p:cNvSpPr>
            <a:spLocks noGrp="1"/>
          </p:cNvSpPr>
          <p:nvPr>
            <p:ph type="sldNum" sz="quarter" idx="12"/>
          </p:nvPr>
        </p:nvSpPr>
        <p:spPr/>
        <p:txBody>
          <a:bodyPr/>
          <a:lstStyle/>
          <a:p>
            <a:fld id="{223FD816-CC6A-BF43-8241-637E3E7EAA5A}" type="slidenum">
              <a:rPr lang="en-US" smtClean="0"/>
              <a:pPr/>
              <a:t>14</a:t>
            </a:fld>
            <a:endParaRPr lang="en-US"/>
          </a:p>
        </p:txBody>
      </p:sp>
    </p:spTree>
    <p:extLst>
      <p:ext uri="{BB962C8B-B14F-4D97-AF65-F5344CB8AC3E}">
        <p14:creationId xmlns:p14="http://schemas.microsoft.com/office/powerpoint/2010/main" val="4192422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F611B-21D3-0F44-9374-1276FB6664CF}"/>
              </a:ext>
            </a:extLst>
          </p:cNvPr>
          <p:cNvSpPr>
            <a:spLocks noGrp="1"/>
          </p:cNvSpPr>
          <p:nvPr>
            <p:ph type="title"/>
          </p:nvPr>
        </p:nvSpPr>
        <p:spPr/>
        <p:txBody>
          <a:bodyPr/>
          <a:lstStyle/>
          <a:p>
            <a:r>
              <a:rPr lang="en-US" dirty="0"/>
              <a:t>Computation of saturations at new time level</a:t>
            </a:r>
          </a:p>
        </p:txBody>
      </p:sp>
      <p:sp>
        <p:nvSpPr>
          <p:cNvPr id="3" name="Content Placeholder 2">
            <a:extLst>
              <a:ext uri="{FF2B5EF4-FFF2-40B4-BE49-F238E27FC236}">
                <a16:creationId xmlns:a16="http://schemas.microsoft.com/office/drawing/2014/main" id="{58812E33-2967-814D-A894-74B636467D02}"/>
              </a:ext>
            </a:extLst>
          </p:cNvPr>
          <p:cNvSpPr>
            <a:spLocks noGrp="1"/>
          </p:cNvSpPr>
          <p:nvPr>
            <p:ph idx="1"/>
          </p:nvPr>
        </p:nvSpPr>
        <p:spPr/>
        <p:txBody>
          <a:bodyPr>
            <a:normAutofit fontScale="92500" lnSpcReduction="10000"/>
          </a:bodyPr>
          <a:lstStyle/>
          <a:p>
            <a:pPr marL="0" indent="0">
              <a:buNone/>
            </a:pPr>
            <a:r>
              <a:rPr lang="en-US" dirty="0"/>
              <a:t>To convert from mass fraction to volume fraction:</a:t>
            </a:r>
          </a:p>
          <a:p>
            <a:endParaRPr lang="en-US" dirty="0"/>
          </a:p>
          <a:p>
            <a:r>
              <a:rPr lang="en-US" dirty="0"/>
              <a:t>vf1 = </a:t>
            </a:r>
            <a:r>
              <a:rPr lang="en-US" dirty="0" err="1"/>
              <a:t>s</a:t>
            </a:r>
            <a:r>
              <a:rPr lang="en-US" baseline="-25000" dirty="0" err="1"/>
              <a:t>w</a:t>
            </a:r>
            <a:r>
              <a:rPr lang="en-US" dirty="0"/>
              <a:t> =  1/(1+(rho1/rho2)*(1/wf1-1))</a:t>
            </a:r>
          </a:p>
          <a:p>
            <a:r>
              <a:rPr lang="en-US" dirty="0"/>
              <a:t>vf2 = s</a:t>
            </a:r>
            <a:r>
              <a:rPr lang="en-US" baseline="-25000" dirty="0"/>
              <a:t>CO2</a:t>
            </a:r>
            <a:r>
              <a:rPr lang="en-US" dirty="0"/>
              <a:t> = 1/(1+(rho2/rho1)*(1/wf2-1))</a:t>
            </a:r>
          </a:p>
          <a:p>
            <a:endParaRPr lang="en-US" dirty="0"/>
          </a:p>
          <a:p>
            <a:r>
              <a:rPr lang="en-US" dirty="0"/>
              <a:t>where, vf1=phase 1 (H2O) volume fraction</a:t>
            </a:r>
          </a:p>
          <a:p>
            <a:r>
              <a:rPr lang="en-US" dirty="0"/>
              <a:t>vf2 = phase 2 (CO2) volume fraction</a:t>
            </a:r>
          </a:p>
          <a:p>
            <a:r>
              <a:rPr lang="en-US" dirty="0"/>
              <a:t>wf1=phase 1 mass fraction</a:t>
            </a:r>
          </a:p>
          <a:p>
            <a:r>
              <a:rPr lang="en-US" dirty="0"/>
              <a:t>wf2=phase 2 mass fraction</a:t>
            </a:r>
          </a:p>
          <a:p>
            <a:r>
              <a:rPr lang="en-US" dirty="0"/>
              <a:t>rho1=phase 1 density</a:t>
            </a:r>
          </a:p>
          <a:p>
            <a:r>
              <a:rPr lang="en-US" dirty="0"/>
              <a:t>rho2=phase 2 density</a:t>
            </a:r>
          </a:p>
          <a:p>
            <a:endParaRPr lang="en-US" dirty="0"/>
          </a:p>
          <a:p>
            <a:r>
              <a:rPr lang="en-US" dirty="0"/>
              <a:t>PS. Double check that vf1 + vf2 = 1</a:t>
            </a:r>
          </a:p>
        </p:txBody>
      </p:sp>
      <p:sp>
        <p:nvSpPr>
          <p:cNvPr id="4" name="Date Placeholder 3">
            <a:extLst>
              <a:ext uri="{FF2B5EF4-FFF2-40B4-BE49-F238E27FC236}">
                <a16:creationId xmlns:a16="http://schemas.microsoft.com/office/drawing/2014/main" id="{4F604EC7-A68A-6C45-A0CD-49A35918F418}"/>
              </a:ext>
            </a:extLst>
          </p:cNvPr>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a:extLst>
              <a:ext uri="{FF2B5EF4-FFF2-40B4-BE49-F238E27FC236}">
                <a16:creationId xmlns:a16="http://schemas.microsoft.com/office/drawing/2014/main" id="{E43AAC9F-4165-3E49-ADFB-CD6C63BE1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851CFB-3F5B-9E40-A733-65EB663D49F3}"/>
              </a:ext>
            </a:extLst>
          </p:cNvPr>
          <p:cNvSpPr>
            <a:spLocks noGrp="1"/>
          </p:cNvSpPr>
          <p:nvPr>
            <p:ph type="sldNum" sz="quarter" idx="12"/>
          </p:nvPr>
        </p:nvSpPr>
        <p:spPr/>
        <p:txBody>
          <a:bodyPr/>
          <a:lstStyle/>
          <a:p>
            <a:fld id="{223FD816-CC6A-BF43-8241-637E3E7EAA5A}" type="slidenum">
              <a:rPr lang="en-US" smtClean="0"/>
              <a:pPr/>
              <a:t>15</a:t>
            </a:fld>
            <a:endParaRPr lang="en-US"/>
          </a:p>
        </p:txBody>
      </p:sp>
    </p:spTree>
    <p:extLst>
      <p:ext uri="{BB962C8B-B14F-4D97-AF65-F5344CB8AC3E}">
        <p14:creationId xmlns:p14="http://schemas.microsoft.com/office/powerpoint/2010/main" val="2675020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80686B3-757C-B544-857C-430B38D56094}"/>
              </a:ext>
            </a:extLst>
          </p:cNvPr>
          <p:cNvSpPr>
            <a:spLocks noGrp="1" noChangeArrowheads="1"/>
          </p:cNvSpPr>
          <p:nvPr>
            <p:ph type="title"/>
          </p:nvPr>
        </p:nvSpPr>
        <p:spPr>
          <a:xfrm>
            <a:off x="647700" y="487363"/>
            <a:ext cx="7772400" cy="685800"/>
          </a:xfrm>
        </p:spPr>
        <p:txBody>
          <a:bodyPr>
            <a:normAutofit fontScale="90000"/>
          </a:bodyPr>
          <a:lstStyle/>
          <a:p>
            <a:r>
              <a:rPr lang="en-US" altLang="en-US" sz="3000" dirty="0">
                <a:latin typeface="Helvetica" pitchFamily="2" charset="0"/>
              </a:rPr>
              <a:t>If necessary: predictor-corrector time-stepping</a:t>
            </a:r>
          </a:p>
        </p:txBody>
      </p:sp>
      <p:sp>
        <p:nvSpPr>
          <p:cNvPr id="15365" name="Rectangle 5">
            <a:extLst>
              <a:ext uri="{FF2B5EF4-FFF2-40B4-BE49-F238E27FC236}">
                <a16:creationId xmlns:a16="http://schemas.microsoft.com/office/drawing/2014/main" id="{A789B432-9957-2C43-9F4A-79B543E2CC46}"/>
              </a:ext>
            </a:extLst>
          </p:cNvPr>
          <p:cNvSpPr>
            <a:spLocks noGrp="1" noChangeArrowheads="1"/>
          </p:cNvSpPr>
          <p:nvPr>
            <p:ph type="body" idx="1"/>
          </p:nvPr>
        </p:nvSpPr>
        <p:spPr>
          <a:xfrm>
            <a:off x="1447800" y="2193925"/>
            <a:ext cx="6172200" cy="3179763"/>
          </a:xfrm>
        </p:spPr>
        <p:txBody>
          <a:bodyPr/>
          <a:lstStyle/>
          <a:p>
            <a:pPr marL="533400" indent="-533400">
              <a:lnSpc>
                <a:spcPct val="90000"/>
              </a:lnSpc>
              <a:spcBef>
                <a:spcPct val="10000"/>
              </a:spcBef>
              <a:spcAft>
                <a:spcPct val="20000"/>
              </a:spcAft>
              <a:buFontTx/>
              <a:buAutoNum type="arabicPeriod"/>
            </a:pPr>
            <a:r>
              <a:rPr lang="en-US" altLang="en-US" sz="2000" dirty="0"/>
              <a:t>Diffusion of heat (FE, implicit)</a:t>
            </a:r>
          </a:p>
          <a:p>
            <a:pPr marL="533400" indent="-533400">
              <a:lnSpc>
                <a:spcPct val="90000"/>
              </a:lnSpc>
              <a:spcBef>
                <a:spcPct val="10000"/>
              </a:spcBef>
              <a:spcAft>
                <a:spcPct val="20000"/>
              </a:spcAft>
              <a:buFontTx/>
              <a:buAutoNum type="arabicPeriod"/>
            </a:pPr>
            <a:r>
              <a:rPr lang="en-US" altLang="en-US" sz="2000" dirty="0"/>
              <a:t>Diffusion of salt and CO2 (FE, implicit)</a:t>
            </a:r>
          </a:p>
          <a:p>
            <a:pPr marL="533400" indent="-533400">
              <a:lnSpc>
                <a:spcPct val="90000"/>
              </a:lnSpc>
              <a:spcBef>
                <a:spcPct val="10000"/>
              </a:spcBef>
              <a:spcAft>
                <a:spcPct val="20000"/>
              </a:spcAft>
              <a:buFontTx/>
              <a:buAutoNum type="arabicPeriod"/>
            </a:pPr>
            <a:r>
              <a:rPr lang="en-US" altLang="en-US" sz="2000" dirty="0"/>
              <a:t>Advection of heat (FV, explicit)</a:t>
            </a:r>
          </a:p>
          <a:p>
            <a:pPr marL="533400" indent="-533400">
              <a:lnSpc>
                <a:spcPct val="90000"/>
              </a:lnSpc>
              <a:spcBef>
                <a:spcPct val="10000"/>
              </a:spcBef>
              <a:spcAft>
                <a:spcPct val="20000"/>
              </a:spcAft>
              <a:buFontTx/>
              <a:buAutoNum type="arabicPeriod"/>
            </a:pPr>
            <a:r>
              <a:rPr lang="en-US" altLang="en-US" sz="2000" dirty="0"/>
              <a:t>Advection of salt (FV, explicit)</a:t>
            </a:r>
          </a:p>
          <a:p>
            <a:pPr marL="533400" indent="-533400">
              <a:lnSpc>
                <a:spcPct val="90000"/>
              </a:lnSpc>
              <a:spcBef>
                <a:spcPct val="10000"/>
              </a:spcBef>
              <a:spcAft>
                <a:spcPct val="20000"/>
              </a:spcAft>
              <a:buFontTx/>
              <a:buAutoNum type="arabicPeriod"/>
            </a:pPr>
            <a:r>
              <a:rPr lang="en-US" altLang="en-US" sz="2000" dirty="0"/>
              <a:t>Update fluid properties (EOS)</a:t>
            </a:r>
          </a:p>
          <a:p>
            <a:pPr marL="533400" indent="-533400">
              <a:lnSpc>
                <a:spcPct val="90000"/>
              </a:lnSpc>
              <a:spcBef>
                <a:spcPct val="10000"/>
              </a:spcBef>
              <a:spcAft>
                <a:spcPct val="20000"/>
              </a:spcAft>
              <a:buFontTx/>
              <a:buAutoNum type="arabicPeriod"/>
            </a:pPr>
            <a:r>
              <a:rPr lang="en-US" altLang="en-US" sz="2000" dirty="0"/>
              <a:t>Update transport properties (e.g., </a:t>
            </a:r>
            <a:r>
              <a:rPr lang="en-US" altLang="en-US" sz="2000" i="1" dirty="0" err="1">
                <a:latin typeface="Symbol" pitchFamily="2" charset="2"/>
              </a:rPr>
              <a:t>l</a:t>
            </a:r>
            <a:r>
              <a:rPr lang="en-US" altLang="en-US" sz="2000" i="1" baseline="-25000" dirty="0" err="1"/>
              <a:t>t</a:t>
            </a:r>
            <a:r>
              <a:rPr lang="en-US" altLang="en-US" sz="2000" dirty="0"/>
              <a:t>, </a:t>
            </a:r>
            <a:r>
              <a:rPr lang="en-US" altLang="en-US" sz="2000" b="1" i="1" dirty="0"/>
              <a:t>D</a:t>
            </a:r>
            <a:r>
              <a:rPr lang="en-US" altLang="en-US" sz="2000" dirty="0"/>
              <a:t>, </a:t>
            </a:r>
            <a:r>
              <a:rPr lang="en-US" altLang="en-US" sz="2000" i="1" dirty="0">
                <a:latin typeface="Symbol" pitchFamily="2" charset="2"/>
              </a:rPr>
              <a:t>f</a:t>
            </a:r>
            <a:r>
              <a:rPr lang="en-US" altLang="en-US" sz="2000" dirty="0"/>
              <a:t>)</a:t>
            </a:r>
          </a:p>
          <a:p>
            <a:pPr marL="533400" indent="-533400">
              <a:lnSpc>
                <a:spcPct val="90000"/>
              </a:lnSpc>
              <a:spcBef>
                <a:spcPct val="10000"/>
              </a:spcBef>
              <a:spcAft>
                <a:spcPct val="20000"/>
              </a:spcAft>
              <a:buFontTx/>
              <a:buAutoNum type="arabicPeriod"/>
            </a:pPr>
            <a:r>
              <a:rPr lang="en-US" altLang="en-US" sz="2000" dirty="0"/>
              <a:t>Diffusion of fluid pressure (FE, implicit)</a:t>
            </a:r>
          </a:p>
          <a:p>
            <a:pPr marL="533400" indent="-533400">
              <a:lnSpc>
                <a:spcPct val="90000"/>
              </a:lnSpc>
              <a:spcBef>
                <a:spcPct val="10000"/>
              </a:spcBef>
              <a:spcAft>
                <a:spcPct val="20000"/>
              </a:spcAft>
              <a:buFontTx/>
              <a:buAutoNum type="arabicPeriod"/>
            </a:pPr>
            <a:r>
              <a:rPr lang="en-US" altLang="en-US" sz="2000" dirty="0"/>
              <a:t>Calculate fluid velocities</a:t>
            </a:r>
          </a:p>
          <a:p>
            <a:pPr marL="533400" indent="-533400">
              <a:lnSpc>
                <a:spcPct val="90000"/>
              </a:lnSpc>
              <a:buFontTx/>
              <a:buAutoNum type="arabicPeriod"/>
            </a:pPr>
            <a:endParaRPr lang="en-US" altLang="en-US" sz="2000" dirty="0"/>
          </a:p>
        </p:txBody>
      </p:sp>
      <p:sp>
        <p:nvSpPr>
          <p:cNvPr id="15366" name="Rectangle 6">
            <a:extLst>
              <a:ext uri="{FF2B5EF4-FFF2-40B4-BE49-F238E27FC236}">
                <a16:creationId xmlns:a16="http://schemas.microsoft.com/office/drawing/2014/main" id="{52E034F1-A617-0A4D-ADA7-A1206B80F8B5}"/>
              </a:ext>
            </a:extLst>
          </p:cNvPr>
          <p:cNvSpPr>
            <a:spLocks noChangeArrowheads="1"/>
          </p:cNvSpPr>
          <p:nvPr/>
        </p:nvSpPr>
        <p:spPr bwMode="auto">
          <a:xfrm>
            <a:off x="1447800" y="1519238"/>
            <a:ext cx="23463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en-US" sz="2000">
                <a:solidFill>
                  <a:srgbClr val="CC0000"/>
                </a:solidFill>
              </a:rPr>
              <a:t>With </a:t>
            </a:r>
            <a:r>
              <a:rPr lang="en-US" altLang="en-US" sz="2000">
                <a:solidFill>
                  <a:srgbClr val="CC0000"/>
                </a:solidFill>
                <a:latin typeface="Symbol" pitchFamily="2" charset="2"/>
              </a:rPr>
              <a:t>D</a:t>
            </a:r>
            <a:r>
              <a:rPr lang="en-US" altLang="en-US" sz="2000">
                <a:solidFill>
                  <a:srgbClr val="CC0000"/>
                </a:solidFill>
              </a:rPr>
              <a:t>t = 0.5 * CFL</a:t>
            </a:r>
          </a:p>
        </p:txBody>
      </p:sp>
      <p:sp>
        <p:nvSpPr>
          <p:cNvPr id="15367" name="Rectangle 7">
            <a:extLst>
              <a:ext uri="{FF2B5EF4-FFF2-40B4-BE49-F238E27FC236}">
                <a16:creationId xmlns:a16="http://schemas.microsoft.com/office/drawing/2014/main" id="{1FEAA57C-AA55-A344-BEE4-248F527D3B67}"/>
              </a:ext>
            </a:extLst>
          </p:cNvPr>
          <p:cNvSpPr>
            <a:spLocks noChangeArrowheads="1"/>
          </p:cNvSpPr>
          <p:nvPr/>
        </p:nvSpPr>
        <p:spPr bwMode="auto">
          <a:xfrm>
            <a:off x="1447800" y="5300663"/>
            <a:ext cx="4978400" cy="76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Aft>
                <a:spcPct val="20000"/>
              </a:spcAft>
            </a:pPr>
            <a:r>
              <a:rPr lang="en-US" altLang="en-US" sz="2000">
                <a:solidFill>
                  <a:srgbClr val="CC0000"/>
                </a:solidFill>
              </a:rPr>
              <a:t>Repeat with </a:t>
            </a:r>
            <a:r>
              <a:rPr lang="en-US" altLang="en-US" sz="2000">
                <a:solidFill>
                  <a:srgbClr val="CC0000"/>
                </a:solidFill>
                <a:latin typeface="Symbol" pitchFamily="2" charset="2"/>
              </a:rPr>
              <a:t>D</a:t>
            </a:r>
            <a:r>
              <a:rPr lang="en-US" altLang="en-US" sz="2000">
                <a:solidFill>
                  <a:srgbClr val="CC0000"/>
                </a:solidFill>
              </a:rPr>
              <a:t>t = CFL and </a:t>
            </a:r>
            <a:r>
              <a:rPr lang="en-US" altLang="en-US" sz="2000" b="1">
                <a:solidFill>
                  <a:srgbClr val="CC0000"/>
                </a:solidFill>
              </a:rPr>
              <a:t>v</a:t>
            </a:r>
            <a:r>
              <a:rPr lang="en-US" altLang="en-US" sz="2000" baseline="30000">
                <a:solidFill>
                  <a:srgbClr val="CC0000"/>
                </a:solidFill>
              </a:rPr>
              <a:t>t+</a:t>
            </a:r>
            <a:r>
              <a:rPr lang="en-US" altLang="en-US" sz="2000" baseline="30000">
                <a:solidFill>
                  <a:srgbClr val="CC0000"/>
                </a:solidFill>
                <a:latin typeface="Symbol" pitchFamily="2" charset="2"/>
              </a:rPr>
              <a:t>D</a:t>
            </a:r>
            <a:r>
              <a:rPr lang="en-US" altLang="en-US" sz="2000" baseline="30000">
                <a:solidFill>
                  <a:srgbClr val="CC0000"/>
                </a:solidFill>
              </a:rPr>
              <a:t>t/2</a:t>
            </a:r>
            <a:r>
              <a:rPr lang="en-US" altLang="en-US" sz="2000">
                <a:solidFill>
                  <a:srgbClr val="CC0000"/>
                </a:solidFill>
              </a:rPr>
              <a:t>, </a:t>
            </a:r>
            <a:r>
              <a:rPr lang="en-US" altLang="en-US" sz="2000">
                <a:solidFill>
                  <a:srgbClr val="CC0000"/>
                </a:solidFill>
                <a:latin typeface="Symbol" pitchFamily="2" charset="2"/>
              </a:rPr>
              <a:t>l</a:t>
            </a:r>
            <a:r>
              <a:rPr lang="en-US" altLang="en-US" sz="2000" baseline="30000">
                <a:solidFill>
                  <a:srgbClr val="CC0000"/>
                </a:solidFill>
              </a:rPr>
              <a:t>t+</a:t>
            </a:r>
            <a:r>
              <a:rPr lang="en-US" altLang="en-US" sz="2000" baseline="30000">
                <a:solidFill>
                  <a:srgbClr val="CC0000"/>
                </a:solidFill>
                <a:latin typeface="Symbol" pitchFamily="2" charset="2"/>
              </a:rPr>
              <a:t>D</a:t>
            </a:r>
            <a:r>
              <a:rPr lang="en-US" altLang="en-US" sz="2000" baseline="30000">
                <a:solidFill>
                  <a:srgbClr val="CC0000"/>
                </a:solidFill>
              </a:rPr>
              <a:t>t/2</a:t>
            </a:r>
            <a:r>
              <a:rPr lang="en-US" altLang="en-US" sz="2000">
                <a:solidFill>
                  <a:srgbClr val="CC0000"/>
                </a:solidFill>
              </a:rPr>
              <a:t>, etc.</a:t>
            </a:r>
          </a:p>
          <a:p>
            <a:pPr>
              <a:spcAft>
                <a:spcPct val="20000"/>
              </a:spcAft>
            </a:pPr>
            <a:r>
              <a:rPr lang="en-US" altLang="en-US" sz="2000">
                <a:solidFill>
                  <a:srgbClr val="CC0000"/>
                </a:solidFill>
              </a:rPr>
              <a:t>Error: </a:t>
            </a:r>
            <a:r>
              <a:rPr lang="en-US" altLang="en-US" sz="2000" i="1">
                <a:solidFill>
                  <a:srgbClr val="CC0000"/>
                </a:solidFill>
              </a:rPr>
              <a:t>O</a:t>
            </a:r>
            <a:r>
              <a:rPr lang="en-US" altLang="en-US" sz="2000">
                <a:solidFill>
                  <a:srgbClr val="CC0000"/>
                </a:solidFill>
                <a:latin typeface="Symbol" pitchFamily="2" charset="2"/>
              </a:rPr>
              <a:t>D</a:t>
            </a:r>
            <a:r>
              <a:rPr lang="en-US" altLang="en-US" sz="2000">
                <a:solidFill>
                  <a:srgbClr val="CC0000"/>
                </a:solidFill>
              </a:rPr>
              <a:t>t</a:t>
            </a:r>
            <a:r>
              <a:rPr lang="en-US" altLang="en-US" sz="2000" baseline="30000">
                <a:solidFill>
                  <a:srgbClr val="CC0000"/>
                </a:solidFill>
              </a:rPr>
              <a:t>2</a:t>
            </a:r>
          </a:p>
        </p:txBody>
      </p:sp>
    </p:spTree>
    <p:extLst>
      <p:ext uri="{BB962C8B-B14F-4D97-AF65-F5344CB8AC3E}">
        <p14:creationId xmlns:p14="http://schemas.microsoft.com/office/powerpoint/2010/main" val="1290041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514350" indent="-514350">
              <a:spcBef>
                <a:spcPts val="800"/>
              </a:spcBef>
              <a:spcAft>
                <a:spcPts val="1800"/>
              </a:spcAft>
              <a:buFont typeface="+mj-lt"/>
              <a:buAutoNum type="arabicPeriod"/>
            </a:pPr>
            <a:r>
              <a:rPr lang="en-US" sz="2400" dirty="0"/>
              <a:t>Governing Equations</a:t>
            </a:r>
          </a:p>
          <a:p>
            <a:pPr marL="514350" indent="-514350">
              <a:spcBef>
                <a:spcPts val="800"/>
              </a:spcBef>
              <a:spcAft>
                <a:spcPts val="1800"/>
              </a:spcAft>
              <a:buFont typeface="+mj-lt"/>
              <a:buAutoNum type="arabicPeriod"/>
            </a:pPr>
            <a:r>
              <a:rPr lang="en-US" sz="2400" dirty="0" err="1"/>
              <a:t>Discretisation</a:t>
            </a:r>
            <a:endParaRPr lang="en-US" sz="2400" dirty="0"/>
          </a:p>
          <a:p>
            <a:pPr marL="514350" indent="-514350">
              <a:spcBef>
                <a:spcPts val="800"/>
              </a:spcBef>
              <a:spcAft>
                <a:spcPts val="1800"/>
              </a:spcAft>
              <a:buFont typeface="+mj-lt"/>
              <a:buAutoNum type="arabicPeriod"/>
            </a:pPr>
            <a:r>
              <a:rPr lang="en-US" sz="2400" b="1" dirty="0"/>
              <a:t>Design specifications and considerations</a:t>
            </a:r>
          </a:p>
          <a:p>
            <a:pPr marL="514350" indent="-514350">
              <a:spcBef>
                <a:spcPts val="800"/>
              </a:spcBef>
              <a:spcAft>
                <a:spcPts val="1800"/>
              </a:spcAft>
              <a:buFont typeface="+mj-lt"/>
              <a:buAutoNum type="arabicPeriod"/>
            </a:pPr>
            <a:r>
              <a:rPr lang="en-US" sz="2400" dirty="0"/>
              <a:t>Phase by phase transport</a:t>
            </a:r>
          </a:p>
          <a:p>
            <a:pPr marL="514350" indent="-514350">
              <a:spcBef>
                <a:spcPts val="800"/>
              </a:spcBef>
              <a:spcAft>
                <a:spcPts val="1800"/>
              </a:spcAft>
              <a:buFont typeface="+mj-lt"/>
              <a:buAutoNum type="arabicPeriod"/>
            </a:pPr>
            <a:r>
              <a:rPr lang="en-US" sz="2400" dirty="0"/>
              <a:t>Design prototype: classes and use-case</a:t>
            </a:r>
          </a:p>
        </p:txBody>
      </p:sp>
      <p:sp>
        <p:nvSpPr>
          <p:cNvPr id="4" name="Date Placeholder 3"/>
          <p:cNvSpPr>
            <a:spLocks noGrp="1"/>
          </p:cNvSpPr>
          <p:nvPr>
            <p:ph type="dt" sz="half" idx="10"/>
          </p:nvPr>
        </p:nvSpPr>
        <p:spPr>
          <a:xfrm>
            <a:off x="35496" y="6492875"/>
            <a:ext cx="3087544" cy="365125"/>
          </a:xfrm>
        </p:spPr>
        <p:txBody>
          <a:bodyPr/>
          <a:lstStyle/>
          <a:p>
            <a:pPr>
              <a:defRPr/>
            </a:pPr>
            <a:r>
              <a:rPr lang="en-US" dirty="0"/>
              <a:t>CSMP Generic Transport Scheme: Agenda</a:t>
            </a:r>
          </a:p>
        </p:txBody>
      </p:sp>
      <p:sp>
        <p:nvSpPr>
          <p:cNvPr id="5" name="Slide Number Placeholder 4"/>
          <p:cNvSpPr>
            <a:spLocks noGrp="1"/>
          </p:cNvSpPr>
          <p:nvPr>
            <p:ph type="sldNum" sz="quarter" idx="12"/>
          </p:nvPr>
        </p:nvSpPr>
        <p:spPr/>
        <p:txBody>
          <a:bodyPr/>
          <a:lstStyle/>
          <a:p>
            <a:fld id="{321305FD-7CE1-C64B-B0A3-F76AC6FEC4D2}" type="slidenum">
              <a:rPr lang="en-US" smtClean="0"/>
              <a:pPr/>
              <a:t>17</a:t>
            </a:fld>
            <a:endParaRPr lang="en-US"/>
          </a:p>
        </p:txBody>
      </p:sp>
    </p:spTree>
    <p:extLst>
      <p:ext uri="{BB962C8B-B14F-4D97-AF65-F5344CB8AC3E}">
        <p14:creationId xmlns:p14="http://schemas.microsoft.com/office/powerpoint/2010/main" val="3021226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83560"/>
            <a:ext cx="8229600" cy="442856"/>
          </a:xfrm>
        </p:spPr>
        <p:txBody>
          <a:bodyPr>
            <a:noAutofit/>
          </a:bodyPr>
          <a:lstStyle/>
          <a:p>
            <a:pPr eaLnBrk="1" hangingPunct="1"/>
            <a:r>
              <a:rPr lang="en-US" sz="2800" dirty="0"/>
              <a:t>Interface supporting FEM-FVM framework</a:t>
            </a:r>
            <a:endParaRPr lang="en-GB" sz="2800" dirty="0"/>
          </a:p>
        </p:txBody>
      </p:sp>
      <p:sp>
        <p:nvSpPr>
          <p:cNvPr id="2" name="Content Placeholder 1"/>
          <p:cNvSpPr>
            <a:spLocks noGrp="1"/>
          </p:cNvSpPr>
          <p:nvPr>
            <p:ph idx="1"/>
          </p:nvPr>
        </p:nvSpPr>
        <p:spPr>
          <a:xfrm>
            <a:off x="457199" y="605243"/>
            <a:ext cx="8413791" cy="890443"/>
          </a:xfrm>
        </p:spPr>
        <p:txBody>
          <a:bodyPr>
            <a:normAutofit/>
          </a:bodyPr>
          <a:lstStyle/>
          <a:p>
            <a:pPr marL="0" indent="0">
              <a:buNone/>
            </a:pPr>
            <a:r>
              <a:rPr lang="en-US" dirty="0"/>
              <a:t>Element / Face / Interface policy: </a:t>
            </a:r>
            <a:r>
              <a:rPr lang="en-US" b="1" dirty="0" err="1"/>
              <a:t>FiniteVolumePolicy</a:t>
            </a:r>
            <a:r>
              <a:rPr lang="en-US" dirty="0"/>
              <a:t>  excerpts from interface:</a:t>
            </a:r>
          </a:p>
        </p:txBody>
      </p:sp>
      <p:grpSp>
        <p:nvGrpSpPr>
          <p:cNvPr id="7" name="Group 6"/>
          <p:cNvGrpSpPr/>
          <p:nvPr/>
        </p:nvGrpSpPr>
        <p:grpSpPr>
          <a:xfrm>
            <a:off x="2709166" y="4134045"/>
            <a:ext cx="3330575" cy="2332038"/>
            <a:chOff x="2709166" y="3975281"/>
            <a:chExt cx="3330575" cy="2332038"/>
          </a:xfrm>
        </p:grpSpPr>
        <p:sp>
          <p:nvSpPr>
            <p:cNvPr id="33802" name="Text Box 8"/>
            <p:cNvSpPr txBox="1">
              <a:spLocks noChangeArrowheads="1"/>
            </p:cNvSpPr>
            <p:nvPr/>
          </p:nvSpPr>
          <p:spPr bwMode="auto">
            <a:xfrm>
              <a:off x="4036316" y="4859519"/>
              <a:ext cx="1993900"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FiniteVolumeStencil</a:t>
              </a:r>
              <a:endParaRPr lang="en-GB" sz="1600">
                <a:solidFill>
                  <a:prstClr val="black"/>
                </a:solidFill>
                <a:latin typeface="Arial" charset="0"/>
                <a:ea typeface="+mn-ea"/>
                <a:cs typeface="+mn-cs"/>
              </a:endParaRPr>
            </a:p>
          </p:txBody>
        </p:sp>
        <p:sp>
          <p:nvSpPr>
            <p:cNvPr id="33803" name="Text Box 9"/>
            <p:cNvSpPr txBox="1">
              <a:spLocks noChangeArrowheads="1"/>
            </p:cNvSpPr>
            <p:nvPr/>
          </p:nvSpPr>
          <p:spPr bwMode="auto">
            <a:xfrm>
              <a:off x="2713929" y="5407206"/>
              <a:ext cx="2795587"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FiniteVolumeStencilManager</a:t>
              </a:r>
              <a:endParaRPr lang="en-GB" sz="1600">
                <a:solidFill>
                  <a:prstClr val="black"/>
                </a:solidFill>
                <a:latin typeface="Arial" charset="0"/>
                <a:ea typeface="+mn-ea"/>
                <a:cs typeface="+mn-cs"/>
              </a:endParaRPr>
            </a:p>
          </p:txBody>
        </p:sp>
        <p:sp>
          <p:nvSpPr>
            <p:cNvPr id="33804" name="Text Box 10"/>
            <p:cNvSpPr txBox="1">
              <a:spLocks noChangeArrowheads="1"/>
            </p:cNvSpPr>
            <p:nvPr/>
          </p:nvSpPr>
          <p:spPr bwMode="auto">
            <a:xfrm>
              <a:off x="2777429" y="5951719"/>
              <a:ext cx="3192462"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FV_IntegrationPointsAndWeights</a:t>
              </a:r>
              <a:endParaRPr lang="en-GB" sz="1600">
                <a:solidFill>
                  <a:prstClr val="black"/>
                </a:solidFill>
                <a:latin typeface="Arial" charset="0"/>
                <a:ea typeface="+mn-ea"/>
                <a:cs typeface="+mn-cs"/>
              </a:endParaRPr>
            </a:p>
          </p:txBody>
        </p:sp>
        <p:sp>
          <p:nvSpPr>
            <p:cNvPr id="33805" name="Text Box 12"/>
            <p:cNvSpPr txBox="1">
              <a:spLocks noChangeArrowheads="1"/>
            </p:cNvSpPr>
            <p:nvPr/>
          </p:nvSpPr>
          <p:spPr bwMode="auto">
            <a:xfrm>
              <a:off x="4047429" y="3975281"/>
              <a:ext cx="1918113" cy="338554"/>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dirty="0" err="1">
                  <a:solidFill>
                    <a:prstClr val="black"/>
                  </a:solidFill>
                  <a:latin typeface="Arial" charset="0"/>
                  <a:ea typeface="+mn-ea"/>
                  <a:cs typeface="+mn-cs"/>
                </a:rPr>
                <a:t>FiniteVolumePolicy</a:t>
              </a:r>
              <a:endParaRPr lang="en-GB" sz="1600" dirty="0">
                <a:solidFill>
                  <a:prstClr val="black"/>
                </a:solidFill>
                <a:latin typeface="Arial" charset="0"/>
                <a:ea typeface="+mn-ea"/>
                <a:cs typeface="+mn-cs"/>
              </a:endParaRPr>
            </a:p>
          </p:txBody>
        </p:sp>
        <p:sp>
          <p:nvSpPr>
            <p:cNvPr id="33806" name="Text Box 13"/>
            <p:cNvSpPr txBox="1">
              <a:spLocks noChangeArrowheads="1"/>
            </p:cNvSpPr>
            <p:nvPr/>
          </p:nvSpPr>
          <p:spPr bwMode="auto">
            <a:xfrm>
              <a:off x="2709166" y="4857931"/>
              <a:ext cx="947738" cy="355600"/>
            </a:xfrm>
            <a:prstGeom prst="rect">
              <a:avLst/>
            </a:prstGeom>
            <a:noFill/>
            <a:ln w="19050">
              <a:solidFill>
                <a:srgbClr val="B2B2B2"/>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srgbClr val="B2B2B2"/>
                  </a:solidFill>
                  <a:latin typeface="Arial" charset="0"/>
                  <a:ea typeface="+mn-ea"/>
                  <a:cs typeface="+mn-cs"/>
                </a:rPr>
                <a:t>Element</a:t>
              </a:r>
              <a:endParaRPr lang="en-GB" sz="1600">
                <a:solidFill>
                  <a:srgbClr val="B2B2B2"/>
                </a:solidFill>
                <a:latin typeface="Arial" charset="0"/>
                <a:ea typeface="+mn-ea"/>
                <a:cs typeface="+mn-cs"/>
              </a:endParaRPr>
            </a:p>
          </p:txBody>
        </p:sp>
        <p:sp>
          <p:nvSpPr>
            <p:cNvPr id="33811" name="Rectangle 18"/>
            <p:cNvSpPr>
              <a:spLocks noChangeArrowheads="1"/>
            </p:cNvSpPr>
            <p:nvPr/>
          </p:nvSpPr>
          <p:spPr bwMode="auto">
            <a:xfrm>
              <a:off x="2810766" y="4302306"/>
              <a:ext cx="2513013" cy="244475"/>
            </a:xfrm>
            <a:prstGeom prst="rect">
              <a:avLst/>
            </a:prstGeom>
            <a:noFill/>
            <a:ln w="9525">
              <a:noFill/>
              <a:miter lim="800000"/>
              <a:headEnd/>
              <a:tailEnd/>
            </a:ln>
          </p:spPr>
          <p:txBody>
            <a:bodyPr wrap="none">
              <a:prstTxWarp prst="textNoShape">
                <a:avLst/>
              </a:prstTxWarp>
              <a:spAutoFit/>
            </a:bodyPr>
            <a:lstStyle/>
            <a:p>
              <a:pPr defTabSz="457200" fontAlgn="auto">
                <a:spcBef>
                  <a:spcPts val="0"/>
                </a:spcBef>
                <a:spcAft>
                  <a:spcPts val="0"/>
                </a:spcAft>
              </a:pPr>
              <a:r>
                <a:rPr lang="en-US" sz="1000" dirty="0">
                  <a:solidFill>
                    <a:prstClr val="black"/>
                  </a:solidFill>
                  <a:latin typeface="Arial" charset="0"/>
                  <a:ea typeface="+mn-ea"/>
                  <a:cs typeface="+mn-cs"/>
                </a:rPr>
                <a:t>additional FV functionality for the Element</a:t>
              </a:r>
              <a:endParaRPr lang="en-GB" sz="1000" dirty="0">
                <a:solidFill>
                  <a:prstClr val="black"/>
                </a:solidFill>
                <a:latin typeface="Arial" charset="0"/>
                <a:ea typeface="+mn-ea"/>
                <a:cs typeface="+mn-cs"/>
              </a:endParaRPr>
            </a:p>
          </p:txBody>
        </p:sp>
        <p:cxnSp>
          <p:nvCxnSpPr>
            <p:cNvPr id="33817" name="AutoShape 24"/>
            <p:cNvCxnSpPr>
              <a:cxnSpLocks noChangeShapeType="1"/>
              <a:stCxn id="33806" idx="3"/>
              <a:endCxn id="33802" idx="1"/>
            </p:cNvCxnSpPr>
            <p:nvPr/>
          </p:nvCxnSpPr>
          <p:spPr bwMode="auto">
            <a:xfrm>
              <a:off x="3666429" y="5035731"/>
              <a:ext cx="360362" cy="1588"/>
            </a:xfrm>
            <a:prstGeom prst="straightConnector1">
              <a:avLst/>
            </a:prstGeom>
            <a:noFill/>
            <a:ln w="19050">
              <a:solidFill>
                <a:schemeClr val="tx1"/>
              </a:solidFill>
              <a:miter lim="800000"/>
              <a:headEnd/>
              <a:tailEnd/>
            </a:ln>
          </p:spPr>
        </p:cxnSp>
        <p:cxnSp>
          <p:nvCxnSpPr>
            <p:cNvPr id="33818" name="AutoShape 25"/>
            <p:cNvCxnSpPr>
              <a:cxnSpLocks noChangeShapeType="1"/>
              <a:stCxn id="33805" idx="1"/>
              <a:endCxn id="33806" idx="1"/>
            </p:cNvCxnSpPr>
            <p:nvPr/>
          </p:nvCxnSpPr>
          <p:spPr bwMode="auto">
            <a:xfrm rot="10800000" flipV="1">
              <a:off x="2709167" y="4144557"/>
              <a:ext cx="1338263" cy="891173"/>
            </a:xfrm>
            <a:prstGeom prst="bentConnector3">
              <a:avLst>
                <a:gd name="adj1" fmla="val 117082"/>
              </a:avLst>
            </a:prstGeom>
            <a:noFill/>
            <a:ln w="19050">
              <a:solidFill>
                <a:schemeClr val="tx1"/>
              </a:solidFill>
              <a:miter lim="800000"/>
              <a:headEnd/>
              <a:tailEnd/>
            </a:ln>
          </p:spPr>
        </p:cxnSp>
        <p:cxnSp>
          <p:nvCxnSpPr>
            <p:cNvPr id="33819" name="AutoShape 26"/>
            <p:cNvCxnSpPr>
              <a:cxnSpLocks noChangeShapeType="1"/>
              <a:stCxn id="33802" idx="3"/>
              <a:endCxn id="33803" idx="3"/>
            </p:cNvCxnSpPr>
            <p:nvPr/>
          </p:nvCxnSpPr>
          <p:spPr bwMode="auto">
            <a:xfrm flipH="1">
              <a:off x="5519041" y="5037319"/>
              <a:ext cx="520700" cy="547687"/>
            </a:xfrm>
            <a:prstGeom prst="bentConnector3">
              <a:avLst>
                <a:gd name="adj1" fmla="val -42074"/>
              </a:avLst>
            </a:prstGeom>
            <a:noFill/>
            <a:ln w="19050">
              <a:solidFill>
                <a:schemeClr val="tx1"/>
              </a:solidFill>
              <a:miter lim="800000"/>
              <a:headEnd/>
              <a:tailEnd/>
            </a:ln>
          </p:spPr>
        </p:cxnSp>
        <p:cxnSp>
          <p:nvCxnSpPr>
            <p:cNvPr id="33820" name="AutoShape 27"/>
            <p:cNvCxnSpPr>
              <a:cxnSpLocks noChangeShapeType="1"/>
              <a:stCxn id="33803" idx="2"/>
              <a:endCxn id="33804" idx="0"/>
            </p:cNvCxnSpPr>
            <p:nvPr/>
          </p:nvCxnSpPr>
          <p:spPr bwMode="auto">
            <a:xfrm rot="16200000" flipH="1">
              <a:off x="4158553" y="5726294"/>
              <a:ext cx="169863" cy="261938"/>
            </a:xfrm>
            <a:prstGeom prst="bentConnector3">
              <a:avLst>
                <a:gd name="adj1" fmla="val 49532"/>
              </a:avLst>
            </a:prstGeom>
            <a:noFill/>
            <a:ln w="19050">
              <a:solidFill>
                <a:schemeClr val="tx1"/>
              </a:solidFill>
              <a:miter lim="800000"/>
              <a:headEnd/>
              <a:tailEnd/>
            </a:ln>
          </p:spPr>
        </p:cxnSp>
      </p:grpSp>
      <p:sp>
        <p:nvSpPr>
          <p:cNvPr id="6" name="Rectangle 5"/>
          <p:cNvSpPr/>
          <p:nvPr/>
        </p:nvSpPr>
        <p:spPr>
          <a:xfrm>
            <a:off x="71814" y="1313988"/>
            <a:ext cx="9063840" cy="2492990"/>
          </a:xfrm>
          <a:prstGeom prst="rect">
            <a:avLst/>
          </a:prstGeom>
        </p:spPr>
        <p:txBody>
          <a:bodyPr wrap="square">
            <a:spAutoFit/>
          </a:bodyPr>
          <a:lstStyle/>
          <a:p>
            <a:r>
              <a:rPr lang="en-US" sz="1200" dirty="0">
                <a:latin typeface="Courier"/>
                <a:cs typeface="Courier"/>
              </a:rPr>
              <a:t>double64   </a:t>
            </a:r>
            <a:r>
              <a:rPr lang="en-US" sz="1200" dirty="0" err="1">
                <a:latin typeface="Courier"/>
                <a:cs typeface="Courier"/>
              </a:rPr>
              <a:t>SectorVolume</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FacetArea</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latin typeface="Courier"/>
                <a:cs typeface="Courier"/>
              </a:rPr>
              <a:t>Point&lt;3U&gt;  </a:t>
            </a:r>
            <a:r>
              <a:rPr lang="en-US" sz="1200" dirty="0" err="1">
                <a:latin typeface="Courier"/>
                <a:cs typeface="Courier"/>
              </a:rPr>
              <a:t>FacetNormal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latin typeface="Courier"/>
                <a:cs typeface="Courier"/>
              </a:rPr>
              <a:t>double64   </a:t>
            </a:r>
            <a:r>
              <a:rPr lang="en-US" sz="1200" dirty="0" err="1">
                <a:latin typeface="Courier"/>
                <a:cs typeface="Courier"/>
              </a:rPr>
              <a:t>FacetIntegral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pPr>
              <a:tabLst>
                <a:tab pos="7889875" algn="l"/>
              </a:tabLst>
            </a:pPr>
            <a:r>
              <a:rPr lang="en-US" sz="1200" dirty="0">
                <a:latin typeface="Courier"/>
                <a:cs typeface="Courier"/>
              </a:rPr>
              <a:t>double64   </a:t>
            </a:r>
            <a:r>
              <a:rPr lang="en-US" sz="1200" dirty="0" err="1">
                <a:latin typeface="Courier"/>
                <a:cs typeface="Courier"/>
              </a:rPr>
              <a:t>SectorIntegral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PropertyValueAtFacetIntegrationPoint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PropertyValueAtSectorIntegrationPoint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ProjectionOnFacetNormal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err="1">
                <a:latin typeface="Courier"/>
                <a:cs typeface="Courier"/>
              </a:rPr>
              <a:t>VectorVariable</a:t>
            </a:r>
            <a:r>
              <a:rPr lang="en-US" sz="1200" dirty="0">
                <a:latin typeface="Courier"/>
                <a:cs typeface="Courier"/>
              </a:rPr>
              <a:t>&lt;3U&gt;&amp; ) </a:t>
            </a:r>
            <a:r>
              <a:rPr lang="en-US" sz="1200" dirty="0" err="1">
                <a:solidFill>
                  <a:srgbClr val="0000FF"/>
                </a:solidFill>
                <a:latin typeface="Courier"/>
                <a:cs typeface="Courier"/>
              </a:rPr>
              <a:t>const</a:t>
            </a:r>
            <a:r>
              <a:rPr lang="en-US" sz="1200" dirty="0">
                <a:latin typeface="Courier"/>
                <a:cs typeface="Courier"/>
              </a:rPr>
              <a:t>;</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N_AtFacetIntegrationPoint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ip</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N_AtSectorIntegrationPoint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ip</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a:t>
            </a:r>
            <a:r>
              <a:rPr lang="en-US" sz="1200" dirty="0">
                <a:latin typeface="Courier"/>
                <a:cs typeface="Courier"/>
              </a:rPr>
              <a:t>( </a:t>
            </a:r>
            <a:r>
              <a:rPr lang="en-US" sz="1200" dirty="0" err="1">
                <a:latin typeface="Courier"/>
                <a:cs typeface="Courier"/>
              </a:rPr>
              <a:t>const</a:t>
            </a:r>
            <a:r>
              <a:rPr lang="en-US" sz="1200" dirty="0">
                <a:latin typeface="Courier"/>
                <a:cs typeface="Courier"/>
              </a:rPr>
              <a:t> Point&lt;3U&gt;&amp; </a:t>
            </a:r>
            <a:r>
              <a:rPr lang="en-US" sz="1200" dirty="0" err="1">
                <a:latin typeface="Courier"/>
                <a:cs typeface="Courier"/>
              </a:rPr>
              <a:t>rst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Point&lt;3U&gt;  </a:t>
            </a:r>
            <a:r>
              <a:rPr lang="en-US" sz="1200" dirty="0" err="1">
                <a:latin typeface="Courier"/>
                <a:cs typeface="Courier"/>
              </a:rPr>
              <a:t>RstToXYZ</a:t>
            </a:r>
            <a:r>
              <a:rPr lang="en-US" sz="1200" dirty="0">
                <a:latin typeface="Courier"/>
                <a:cs typeface="Courier"/>
              </a:rPr>
              <a:t>( </a:t>
            </a:r>
            <a:r>
              <a:rPr lang="en-US" sz="1200" dirty="0" err="1">
                <a:latin typeface="Courier"/>
                <a:cs typeface="Courier"/>
              </a:rPr>
              <a:t>const</a:t>
            </a:r>
            <a:r>
              <a:rPr lang="en-US" sz="1200" dirty="0">
                <a:latin typeface="Courier"/>
                <a:cs typeface="Courier"/>
              </a:rPr>
              <a:t> Point&lt;3U&gt;&amp; </a:t>
            </a:r>
            <a:r>
              <a:rPr lang="en-US" sz="1200" dirty="0" err="1">
                <a:latin typeface="Courier"/>
                <a:cs typeface="Courier"/>
              </a:rPr>
              <a:t>rst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etc.</a:t>
            </a:r>
          </a:p>
        </p:txBody>
      </p:sp>
      <p:sp>
        <p:nvSpPr>
          <p:cNvPr id="8" name="TextBox 7"/>
          <p:cNvSpPr txBox="1"/>
          <p:nvPr/>
        </p:nvSpPr>
        <p:spPr>
          <a:xfrm>
            <a:off x="6454283" y="3577402"/>
            <a:ext cx="2494983" cy="1077218"/>
          </a:xfrm>
          <a:prstGeom prst="rect">
            <a:avLst/>
          </a:prstGeom>
          <a:noFill/>
        </p:spPr>
        <p:txBody>
          <a:bodyPr wrap="square" rtlCol="0">
            <a:spAutoFit/>
          </a:bodyPr>
          <a:lstStyle/>
          <a:p>
            <a:r>
              <a:rPr lang="en-US" sz="1600" i="1" dirty="0">
                <a:latin typeface="Arial"/>
                <a:cs typeface="Arial"/>
              </a:rPr>
              <a:t>To learn how these computations are done, look at </a:t>
            </a:r>
            <a:r>
              <a:rPr lang="en-US" sz="1600" i="1" dirty="0" err="1">
                <a:latin typeface="Arial"/>
                <a:cs typeface="Arial"/>
              </a:rPr>
              <a:t>Paluszny</a:t>
            </a:r>
            <a:r>
              <a:rPr lang="en-US" sz="1600" i="1" dirty="0">
                <a:latin typeface="Arial"/>
                <a:cs typeface="Arial"/>
              </a:rPr>
              <a:t> et al. (2007, </a:t>
            </a:r>
            <a:r>
              <a:rPr lang="en-US" sz="1600" i="1" dirty="0" err="1">
                <a:latin typeface="Arial"/>
                <a:cs typeface="Arial"/>
              </a:rPr>
              <a:t>Geofluids</a:t>
            </a:r>
            <a:r>
              <a:rPr lang="en-US" sz="1600" i="1" dirty="0">
                <a:latin typeface="Arial"/>
                <a:cs typeface="Arial"/>
              </a:rPr>
              <a:t>)</a:t>
            </a:r>
          </a:p>
        </p:txBody>
      </p:sp>
      <p:sp>
        <p:nvSpPr>
          <p:cNvPr id="39"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40"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41"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18</a:t>
            </a:fld>
            <a:endParaRPr lang="en-US" dirty="0">
              <a:solidFill>
                <a:prstClr val="white">
                  <a:lumMod val="65000"/>
                </a:prstClr>
              </a:solidFill>
              <a:ea typeface="+mn-ea"/>
            </a:endParaRPr>
          </a:p>
        </p:txBody>
      </p:sp>
      <p:sp>
        <p:nvSpPr>
          <p:cNvPr id="9" name="TextBox 8"/>
          <p:cNvSpPr txBox="1"/>
          <p:nvPr/>
        </p:nvSpPr>
        <p:spPr>
          <a:xfrm>
            <a:off x="808204" y="4810943"/>
            <a:ext cx="1472083" cy="1200329"/>
          </a:xfrm>
          <a:prstGeom prst="rect">
            <a:avLst/>
          </a:prstGeom>
          <a:noFill/>
        </p:spPr>
        <p:txBody>
          <a:bodyPr wrap="square" rtlCol="0">
            <a:spAutoFit/>
          </a:bodyPr>
          <a:lstStyle/>
          <a:p>
            <a:r>
              <a:rPr lang="en-US" i="1" dirty="0">
                <a:latin typeface="Arial"/>
                <a:cs typeface="Arial"/>
              </a:rPr>
              <a:t>Framework provided through Model class</a:t>
            </a:r>
          </a:p>
        </p:txBody>
      </p:sp>
      <p:sp>
        <p:nvSpPr>
          <p:cNvPr id="43" name="TextBox 42"/>
          <p:cNvSpPr txBox="1"/>
          <p:nvPr/>
        </p:nvSpPr>
        <p:spPr>
          <a:xfrm>
            <a:off x="6117710" y="6002507"/>
            <a:ext cx="1472083" cy="523220"/>
          </a:xfrm>
          <a:prstGeom prst="rect">
            <a:avLst/>
          </a:prstGeom>
          <a:noFill/>
        </p:spPr>
        <p:txBody>
          <a:bodyPr wrap="square" rtlCol="0">
            <a:spAutoFit/>
          </a:bodyPr>
          <a:lstStyle/>
          <a:p>
            <a:r>
              <a:rPr lang="en-US" sz="1400" i="1" dirty="0">
                <a:latin typeface="Arial"/>
                <a:cs typeface="Arial"/>
              </a:rPr>
              <a:t>data container for </a:t>
            </a:r>
            <a:r>
              <a:rPr lang="en-US" sz="1400" i="1" dirty="0" err="1">
                <a:latin typeface="Arial"/>
                <a:cs typeface="Arial"/>
              </a:rPr>
              <a:t>initialisation</a:t>
            </a:r>
            <a:endParaRPr lang="en-US" sz="1400" i="1" dirty="0">
              <a:latin typeface="Arial"/>
              <a:cs typeface="Arial"/>
            </a:endParaRPr>
          </a:p>
        </p:txBody>
      </p:sp>
      <p:sp>
        <p:nvSpPr>
          <p:cNvPr id="44" name="TextBox 43"/>
          <p:cNvSpPr txBox="1"/>
          <p:nvPr/>
        </p:nvSpPr>
        <p:spPr>
          <a:xfrm>
            <a:off x="6366633" y="5520487"/>
            <a:ext cx="1864198" cy="523220"/>
          </a:xfrm>
          <a:prstGeom prst="rect">
            <a:avLst/>
          </a:prstGeom>
          <a:noFill/>
        </p:spPr>
        <p:txBody>
          <a:bodyPr wrap="square" rtlCol="0">
            <a:spAutoFit/>
          </a:bodyPr>
          <a:lstStyle/>
          <a:p>
            <a:r>
              <a:rPr lang="en-US" sz="1400" i="1" dirty="0">
                <a:latin typeface="Arial"/>
                <a:cs typeface="Arial"/>
              </a:rPr>
              <a:t>Container of available stencils</a:t>
            </a:r>
          </a:p>
        </p:txBody>
      </p:sp>
      <p:sp>
        <p:nvSpPr>
          <p:cNvPr id="45" name="TextBox 44"/>
          <p:cNvSpPr txBox="1"/>
          <p:nvPr/>
        </p:nvSpPr>
        <p:spPr>
          <a:xfrm>
            <a:off x="6369419" y="4930176"/>
            <a:ext cx="1864198" cy="523220"/>
          </a:xfrm>
          <a:prstGeom prst="rect">
            <a:avLst/>
          </a:prstGeom>
          <a:noFill/>
        </p:spPr>
        <p:txBody>
          <a:bodyPr wrap="square" rtlCol="0">
            <a:spAutoFit/>
          </a:bodyPr>
          <a:lstStyle/>
          <a:p>
            <a:r>
              <a:rPr lang="en-US" sz="1400" i="1" dirty="0">
                <a:latin typeface="Arial"/>
                <a:cs typeface="Arial"/>
              </a:rPr>
              <a:t>FV in parametric space representation</a:t>
            </a:r>
          </a:p>
        </p:txBody>
      </p:sp>
      <p:sp>
        <p:nvSpPr>
          <p:cNvPr id="46" name="TextBox 45"/>
          <p:cNvSpPr txBox="1"/>
          <p:nvPr/>
        </p:nvSpPr>
        <p:spPr>
          <a:xfrm>
            <a:off x="2815823" y="3822466"/>
            <a:ext cx="3603450" cy="307777"/>
          </a:xfrm>
          <a:prstGeom prst="rect">
            <a:avLst/>
          </a:prstGeom>
          <a:noFill/>
        </p:spPr>
        <p:txBody>
          <a:bodyPr wrap="square" rtlCol="0">
            <a:spAutoFit/>
          </a:bodyPr>
          <a:lstStyle/>
          <a:p>
            <a:r>
              <a:rPr lang="en-US" sz="1400" i="1" dirty="0">
                <a:latin typeface="Arial"/>
                <a:cs typeface="Arial"/>
              </a:rPr>
              <a:t>FV interface of element, face or interface</a:t>
            </a:r>
          </a:p>
        </p:txBody>
      </p:sp>
      <p:sp>
        <p:nvSpPr>
          <p:cNvPr id="47" name="TextBox 46"/>
          <p:cNvSpPr txBox="1"/>
          <p:nvPr/>
        </p:nvSpPr>
        <p:spPr>
          <a:xfrm>
            <a:off x="120270" y="3820914"/>
            <a:ext cx="3603450" cy="307777"/>
          </a:xfrm>
          <a:prstGeom prst="rect">
            <a:avLst/>
          </a:prstGeom>
          <a:noFill/>
        </p:spPr>
        <p:txBody>
          <a:bodyPr wrap="square" rtlCol="0">
            <a:spAutoFit/>
          </a:bodyPr>
          <a:lstStyle/>
          <a:p>
            <a:r>
              <a:rPr lang="en-US" sz="1400" dirty="0" err="1">
                <a:latin typeface="Arial"/>
                <a:cs typeface="Arial"/>
              </a:rPr>
              <a:t>finiteVolumeAuxiliaryFunctions</a:t>
            </a:r>
            <a:r>
              <a:rPr lang="en-US" sz="1400" dirty="0">
                <a:latin typeface="Arial"/>
                <a:cs typeface="Arial"/>
              </a:rPr>
              <a:t>  +</a:t>
            </a:r>
          </a:p>
        </p:txBody>
      </p:sp>
    </p:spTree>
    <p:extLst>
      <p:ext uri="{BB962C8B-B14F-4D97-AF65-F5344CB8AC3E}">
        <p14:creationId xmlns:p14="http://schemas.microsoft.com/office/powerpoint/2010/main" val="2339907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design considerations</a:t>
            </a:r>
          </a:p>
        </p:txBody>
      </p:sp>
      <p:sp>
        <p:nvSpPr>
          <p:cNvPr id="3" name="Content Placeholder 2"/>
          <p:cNvSpPr>
            <a:spLocks noGrp="1"/>
          </p:cNvSpPr>
          <p:nvPr>
            <p:ph idx="1"/>
          </p:nvPr>
        </p:nvSpPr>
        <p:spPr>
          <a:xfrm>
            <a:off x="457200" y="764704"/>
            <a:ext cx="8229600" cy="5211763"/>
          </a:xfrm>
        </p:spPr>
        <p:txBody>
          <a:bodyPr>
            <a:noAutofit/>
          </a:bodyPr>
          <a:lstStyle/>
          <a:p>
            <a:pPr marL="0" indent="0">
              <a:buNone/>
            </a:pPr>
            <a:r>
              <a:rPr lang="en-US" sz="1600" dirty="0"/>
              <a:t>Transport scheme has two parts:</a:t>
            </a:r>
            <a:endParaRPr lang="en-US" sz="1600" b="1" dirty="0"/>
          </a:p>
          <a:p>
            <a:pPr marL="800100" lvl="1" indent="-342900">
              <a:buFont typeface="+mj-lt"/>
              <a:buAutoNum type="arabicPeriod"/>
            </a:pPr>
            <a:r>
              <a:rPr lang="en-US" sz="1600" b="1" dirty="0"/>
              <a:t>manages the transport of a single phase</a:t>
            </a:r>
            <a:r>
              <a:rPr lang="en-US" sz="1600" dirty="0"/>
              <a:t> including its components and the physics of advection, diffusion, mechanical dispersion and reaction (sorption, decay and chemical reactions), and </a:t>
            </a:r>
            <a:endParaRPr lang="en-US" sz="1600" b="1" dirty="0"/>
          </a:p>
          <a:p>
            <a:pPr marL="800100" lvl="1" indent="-342900">
              <a:buFont typeface="+mj-lt"/>
              <a:buAutoNum type="arabicPeriod"/>
            </a:pPr>
            <a:r>
              <a:rPr lang="en-US" sz="1600" b="1" dirty="0"/>
              <a:t>manages multiple phases</a:t>
            </a:r>
          </a:p>
          <a:p>
            <a:r>
              <a:rPr lang="en-US" sz="1600" dirty="0"/>
              <a:t>All computations are done in parametric space; tensor permeability is considered</a:t>
            </a:r>
          </a:p>
          <a:p>
            <a:r>
              <a:rPr lang="en-US" sz="1600" dirty="0"/>
              <a:t>Transfer among phases is accomplished by EOS objects</a:t>
            </a:r>
          </a:p>
          <a:p>
            <a:r>
              <a:rPr lang="en-US" sz="1600" dirty="0"/>
              <a:t>Rather than having variable storage in the transport schemes classes, all variables are stored as integration point properties inside the </a:t>
            </a:r>
            <a:r>
              <a:rPr lang="en-US" sz="1600" b="1" dirty="0" err="1"/>
              <a:t>LocalVariableStorage</a:t>
            </a:r>
            <a:r>
              <a:rPr lang="en-US" sz="1600" b="1" dirty="0"/>
              <a:t> </a:t>
            </a:r>
            <a:r>
              <a:rPr lang="en-US" sz="1600" dirty="0"/>
              <a:t>class</a:t>
            </a:r>
          </a:p>
          <a:p>
            <a:r>
              <a:rPr lang="en-US" sz="1600" dirty="0"/>
              <a:t>Multi-species or component transport relies on </a:t>
            </a:r>
            <a:r>
              <a:rPr lang="en-US" sz="1600" b="1" dirty="0" err="1"/>
              <a:t>ArrayVariable</a:t>
            </a:r>
            <a:r>
              <a:rPr lang="en-US" sz="1600" dirty="0"/>
              <a:t> objects that encapsulate entire chemical systems; array elements are labeled by </a:t>
            </a:r>
            <a:r>
              <a:rPr lang="en-US" sz="1600" dirty="0" err="1"/>
              <a:t>enums</a:t>
            </a:r>
            <a:r>
              <a:rPr lang="en-US" sz="1600" dirty="0"/>
              <a:t>.</a:t>
            </a:r>
          </a:p>
          <a:p>
            <a:pPr marL="0" indent="0">
              <a:buNone/>
            </a:pPr>
            <a:r>
              <a:rPr lang="en-US" sz="1600" b="1" dirty="0"/>
              <a:t>Conditions / limitations</a:t>
            </a:r>
          </a:p>
          <a:p>
            <a:r>
              <a:rPr lang="en-US" sz="1600" dirty="0"/>
              <a:t>Needs flexibility to define a chemical system during a running simulation</a:t>
            </a:r>
          </a:p>
          <a:p>
            <a:r>
              <a:rPr lang="en-US" sz="1600" dirty="0"/>
              <a:t>Diffusion may need to consider species, advection may not have to</a:t>
            </a:r>
          </a:p>
          <a:p>
            <a:r>
              <a:rPr lang="en-US" sz="1600" dirty="0"/>
              <a:t>Saturation functions must be redesigned</a:t>
            </a:r>
          </a:p>
          <a:p>
            <a:r>
              <a:rPr lang="en-US" sz="1600" dirty="0"/>
              <a:t>Existing visitors are not aligned in terms of their functionality with the design objectives imposed by DES</a:t>
            </a:r>
          </a:p>
        </p:txBody>
      </p:sp>
      <p:sp>
        <p:nvSpPr>
          <p:cNvPr id="4" name="Slide Number Placeholder 3"/>
          <p:cNvSpPr>
            <a:spLocks noGrp="1"/>
          </p:cNvSpPr>
          <p:nvPr>
            <p:ph type="sldNum" sz="quarter" idx="12"/>
          </p:nvPr>
        </p:nvSpPr>
        <p:spPr/>
        <p:txBody>
          <a:bodyPr/>
          <a:lstStyle/>
          <a:p>
            <a:fld id="{C83A4929-569E-4284-9297-8396DF358F0B}" type="slidenum">
              <a:rPr lang="de-CH" smtClean="0"/>
              <a:t>19</a:t>
            </a:fld>
            <a:endParaRPr lang="de-CH"/>
          </a:p>
        </p:txBody>
      </p:sp>
    </p:spTree>
    <p:extLst>
      <p:ext uri="{BB962C8B-B14F-4D97-AF65-F5344CB8AC3E}">
        <p14:creationId xmlns:p14="http://schemas.microsoft.com/office/powerpoint/2010/main" val="1361463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44624"/>
            <a:ext cx="5040560" cy="6565902"/>
          </a:xfrm>
          <a:prstGeom prst="rect">
            <a:avLst/>
          </a:prstGeom>
          <a:noFill/>
        </p:spPr>
        <p:txBody>
          <a:bodyPr wrap="square" rtlCol="0">
            <a:spAutoFit/>
          </a:bodyPr>
          <a:lstStyle/>
          <a:p>
            <a:pPr>
              <a:spcBef>
                <a:spcPts val="300"/>
              </a:spcBef>
              <a:spcAft>
                <a:spcPts val="200"/>
              </a:spcAft>
            </a:pPr>
            <a:r>
              <a:rPr lang="en-US" b="1" dirty="0">
                <a:latin typeface="Arial"/>
                <a:cs typeface="Arial"/>
              </a:rPr>
              <a:t>Required functionality 1 </a:t>
            </a:r>
          </a:p>
          <a:p>
            <a:pPr marL="285750" indent="-285750">
              <a:spcBef>
                <a:spcPts val="300"/>
              </a:spcBef>
              <a:spcAft>
                <a:spcPts val="200"/>
              </a:spcAft>
              <a:buFontTx/>
              <a:buChar char="-"/>
            </a:pPr>
            <a:r>
              <a:rPr lang="en-US" sz="1600" dirty="0">
                <a:latin typeface="Arial"/>
                <a:cs typeface="Arial"/>
              </a:rPr>
              <a:t>Calculating and updating (if geometry and-or pore volume changes): sector (pore) volume, facet area, and normal</a:t>
            </a:r>
          </a:p>
          <a:p>
            <a:pPr marL="285750" indent="-285750">
              <a:spcBef>
                <a:spcPts val="300"/>
              </a:spcBef>
              <a:spcAft>
                <a:spcPts val="200"/>
              </a:spcAft>
              <a:buFontTx/>
              <a:buChar char="-"/>
            </a:pPr>
            <a:r>
              <a:rPr lang="en-US" sz="1600" dirty="0">
                <a:latin typeface="Arial"/>
                <a:cs typeface="Arial"/>
              </a:rPr>
              <a:t>Storage and access of FV-related variables</a:t>
            </a:r>
          </a:p>
          <a:p>
            <a:pPr marL="285750" indent="-285750">
              <a:spcBef>
                <a:spcPts val="300"/>
              </a:spcBef>
              <a:spcAft>
                <a:spcPts val="200"/>
              </a:spcAft>
              <a:buFontTx/>
              <a:buChar char="-"/>
            </a:pPr>
            <a:r>
              <a:rPr lang="en-US" sz="1600" dirty="0">
                <a:latin typeface="Arial"/>
                <a:cs typeface="Arial"/>
              </a:rPr>
              <a:t>Determine upwind nodes</a:t>
            </a:r>
          </a:p>
          <a:p>
            <a:pPr marL="285750" indent="-285750">
              <a:spcBef>
                <a:spcPts val="300"/>
              </a:spcBef>
              <a:spcAft>
                <a:spcPts val="200"/>
              </a:spcAft>
              <a:buFontTx/>
              <a:buChar char="-"/>
            </a:pPr>
            <a:r>
              <a:rPr lang="en-US" sz="1600" dirty="0">
                <a:latin typeface="Arial"/>
                <a:cs typeface="Arial"/>
              </a:rPr>
              <a:t>Node-to-node connectivity graph for upstream </a:t>
            </a:r>
            <a:r>
              <a:rPr lang="en-US" sz="1600" dirty="0" err="1">
                <a:latin typeface="Arial"/>
                <a:cs typeface="Arial"/>
              </a:rPr>
              <a:t>extrema</a:t>
            </a:r>
            <a:r>
              <a:rPr lang="en-US" sz="1600" dirty="0">
                <a:latin typeface="Arial"/>
                <a:cs typeface="Arial"/>
              </a:rPr>
              <a:t> calculations</a:t>
            </a:r>
          </a:p>
          <a:p>
            <a:pPr marL="285750" indent="-285750">
              <a:spcBef>
                <a:spcPts val="300"/>
              </a:spcBef>
              <a:spcAft>
                <a:spcPts val="200"/>
              </a:spcAft>
              <a:buFontTx/>
              <a:buChar char="-"/>
            </a:pPr>
            <a:r>
              <a:rPr lang="en-US" sz="1600" dirty="0">
                <a:latin typeface="Arial"/>
                <a:cs typeface="Arial"/>
              </a:rPr>
              <a:t>Projections – finite volume auxiliary functions</a:t>
            </a:r>
          </a:p>
          <a:p>
            <a:pPr marL="285750" indent="-285750">
              <a:spcBef>
                <a:spcPts val="300"/>
              </a:spcBef>
              <a:spcAft>
                <a:spcPts val="200"/>
              </a:spcAft>
              <a:buFontTx/>
              <a:buChar char="-"/>
            </a:pPr>
            <a:r>
              <a:rPr lang="en-US" sz="1600" dirty="0">
                <a:latin typeface="Arial"/>
                <a:cs typeface="Arial"/>
              </a:rPr>
              <a:t>Compute and store facet fluxes</a:t>
            </a:r>
          </a:p>
          <a:p>
            <a:pPr marL="285750" indent="-285750">
              <a:spcBef>
                <a:spcPts val="300"/>
              </a:spcBef>
              <a:spcAft>
                <a:spcPts val="200"/>
              </a:spcAft>
              <a:buFontTx/>
              <a:buChar char="-"/>
            </a:pPr>
            <a:r>
              <a:rPr lang="en-US" sz="1600" dirty="0">
                <a:latin typeface="Arial"/>
                <a:cs typeface="Arial"/>
              </a:rPr>
              <a:t>Calculate CFL</a:t>
            </a:r>
          </a:p>
          <a:p>
            <a:pPr marL="285750" indent="-285750">
              <a:spcBef>
                <a:spcPts val="300"/>
              </a:spcBef>
              <a:spcAft>
                <a:spcPts val="200"/>
              </a:spcAft>
              <a:buFontTx/>
              <a:buChar char="-"/>
            </a:pPr>
            <a:r>
              <a:rPr lang="en-US" sz="1600" dirty="0">
                <a:latin typeface="Arial"/>
                <a:cs typeface="Arial"/>
              </a:rPr>
              <a:t>Range checking of inputs (range of applicability) and outputs</a:t>
            </a:r>
          </a:p>
          <a:p>
            <a:pPr marL="285750" indent="-285750">
              <a:spcBef>
                <a:spcPts val="300"/>
              </a:spcBef>
              <a:spcAft>
                <a:spcPts val="200"/>
              </a:spcAft>
              <a:buFontTx/>
              <a:buChar char="-"/>
            </a:pPr>
            <a:r>
              <a:rPr lang="en-US" sz="1600" dirty="0">
                <a:latin typeface="Arial"/>
                <a:cs typeface="Arial"/>
              </a:rPr>
              <a:t>Mass balance calculations / mass based transport</a:t>
            </a:r>
          </a:p>
          <a:p>
            <a:pPr marL="285750" indent="-285750">
              <a:spcBef>
                <a:spcPts val="300"/>
              </a:spcBef>
              <a:spcAft>
                <a:spcPts val="200"/>
              </a:spcAft>
              <a:buFontTx/>
              <a:buChar char="-"/>
            </a:pPr>
            <a:r>
              <a:rPr lang="en-US" sz="1600" dirty="0">
                <a:latin typeface="Arial"/>
                <a:cs typeface="Arial"/>
              </a:rPr>
              <a:t>Accumulation of fluxes</a:t>
            </a:r>
          </a:p>
          <a:p>
            <a:pPr marL="285750" indent="-285750">
              <a:spcBef>
                <a:spcPts val="300"/>
              </a:spcBef>
              <a:spcAft>
                <a:spcPts val="200"/>
              </a:spcAft>
              <a:buFontTx/>
              <a:buChar char="-"/>
            </a:pPr>
            <a:r>
              <a:rPr lang="en-US" sz="1600" dirty="0">
                <a:latin typeface="Arial"/>
                <a:cs typeface="Arial"/>
              </a:rPr>
              <a:t>Time-discretization (implicit, explicit, first/second order)</a:t>
            </a:r>
          </a:p>
          <a:p>
            <a:pPr marL="285750" indent="-285750">
              <a:spcBef>
                <a:spcPts val="300"/>
              </a:spcBef>
              <a:spcAft>
                <a:spcPts val="200"/>
              </a:spcAft>
              <a:buFontTx/>
              <a:buChar char="-"/>
            </a:pPr>
            <a:r>
              <a:rPr lang="en-US" sz="1600" dirty="0">
                <a:latin typeface="Arial"/>
                <a:cs typeface="Arial"/>
              </a:rPr>
              <a:t>Iterations in nonlinear schemes (e.g. Newton)</a:t>
            </a:r>
          </a:p>
          <a:p>
            <a:pPr marL="285750" indent="-285750">
              <a:spcBef>
                <a:spcPts val="300"/>
              </a:spcBef>
              <a:spcAft>
                <a:spcPts val="200"/>
              </a:spcAft>
              <a:buFontTx/>
              <a:buChar char="-"/>
            </a:pPr>
            <a:r>
              <a:rPr lang="en-US" sz="1600" dirty="0">
                <a:latin typeface="Arial"/>
                <a:cs typeface="Arial"/>
              </a:rPr>
              <a:t>Higher-order in space</a:t>
            </a:r>
          </a:p>
          <a:p>
            <a:pPr marL="285750" indent="-285750">
              <a:spcBef>
                <a:spcPts val="300"/>
              </a:spcBef>
              <a:spcAft>
                <a:spcPts val="200"/>
              </a:spcAft>
              <a:buFontTx/>
              <a:buChar char="-"/>
            </a:pPr>
            <a:r>
              <a:rPr lang="en-US" sz="1600" dirty="0">
                <a:latin typeface="Arial"/>
                <a:cs typeface="Arial"/>
              </a:rPr>
              <a:t>Limiting</a:t>
            </a:r>
          </a:p>
          <a:p>
            <a:pPr marL="285750" indent="-285750">
              <a:spcBef>
                <a:spcPts val="300"/>
              </a:spcBef>
              <a:spcAft>
                <a:spcPts val="200"/>
              </a:spcAft>
              <a:buFontTx/>
              <a:buChar char="-"/>
            </a:pPr>
            <a:r>
              <a:rPr lang="en-US" sz="1600" dirty="0">
                <a:latin typeface="Arial"/>
                <a:cs typeface="Arial"/>
              </a:rPr>
              <a:t>Additional physics/chemistry</a:t>
            </a:r>
          </a:p>
          <a:p>
            <a:pPr marL="285750" indent="-285750">
              <a:spcBef>
                <a:spcPts val="300"/>
              </a:spcBef>
              <a:spcAft>
                <a:spcPts val="200"/>
              </a:spcAft>
              <a:buFontTx/>
              <a:buChar char="-"/>
            </a:pPr>
            <a:r>
              <a:rPr lang="en-US" sz="1600" dirty="0">
                <a:latin typeface="Arial"/>
                <a:cs typeface="Arial"/>
              </a:rPr>
              <a:t>Boundary conditions and flux balances</a:t>
            </a:r>
            <a:endParaRPr lang="de-CH" sz="1600" dirty="0">
              <a:latin typeface="Arial"/>
              <a:cs typeface="Arial"/>
            </a:endParaRPr>
          </a:p>
        </p:txBody>
      </p:sp>
      <p:sp>
        <p:nvSpPr>
          <p:cNvPr id="2" name="Slide Number Placeholder 1"/>
          <p:cNvSpPr>
            <a:spLocks noGrp="1"/>
          </p:cNvSpPr>
          <p:nvPr>
            <p:ph type="sldNum" sz="quarter" idx="12"/>
          </p:nvPr>
        </p:nvSpPr>
        <p:spPr/>
        <p:txBody>
          <a:bodyPr/>
          <a:lstStyle/>
          <a:p>
            <a:fld id="{C83A4929-569E-4284-9297-8396DF358F0B}" type="slidenum">
              <a:rPr lang="de-CH" smtClean="0"/>
              <a:t>20</a:t>
            </a:fld>
            <a:endParaRPr lang="de-CH"/>
          </a:p>
        </p:txBody>
      </p:sp>
      <p:sp>
        <p:nvSpPr>
          <p:cNvPr id="5" name="TextBox 4"/>
          <p:cNvSpPr txBox="1"/>
          <p:nvPr/>
        </p:nvSpPr>
        <p:spPr>
          <a:xfrm>
            <a:off x="5292080" y="51682"/>
            <a:ext cx="3816424" cy="4511492"/>
          </a:xfrm>
          <a:prstGeom prst="rect">
            <a:avLst/>
          </a:prstGeom>
          <a:noFill/>
        </p:spPr>
        <p:txBody>
          <a:bodyPr wrap="square" rtlCol="0">
            <a:spAutoFit/>
          </a:bodyPr>
          <a:lstStyle/>
          <a:p>
            <a:pPr>
              <a:spcBef>
                <a:spcPts val="300"/>
              </a:spcBef>
              <a:spcAft>
                <a:spcPts val="200"/>
              </a:spcAft>
            </a:pPr>
            <a:r>
              <a:rPr lang="en-US" b="1" dirty="0">
                <a:latin typeface="Arial"/>
                <a:cs typeface="Arial"/>
              </a:rPr>
              <a:t>Required functionality 2</a:t>
            </a:r>
          </a:p>
          <a:p>
            <a:pPr marL="285750" indent="-285750">
              <a:spcBef>
                <a:spcPts val="300"/>
              </a:spcBef>
              <a:spcAft>
                <a:spcPts val="200"/>
              </a:spcAft>
              <a:buFontTx/>
              <a:buChar char="-"/>
            </a:pPr>
            <a:r>
              <a:rPr lang="en-US" sz="1600" dirty="0">
                <a:latin typeface="Arial"/>
                <a:cs typeface="Arial"/>
              </a:rPr>
              <a:t>Calculate min/max for upstream nodes</a:t>
            </a:r>
          </a:p>
          <a:p>
            <a:pPr marL="285750" indent="-285750">
              <a:spcBef>
                <a:spcPts val="300"/>
              </a:spcBef>
              <a:spcAft>
                <a:spcPts val="200"/>
              </a:spcAft>
              <a:buFontTx/>
              <a:buChar char="-"/>
            </a:pPr>
            <a:r>
              <a:rPr lang="en-US" sz="1600" dirty="0">
                <a:latin typeface="Arial"/>
                <a:cs typeface="Arial"/>
              </a:rPr>
              <a:t>Scaling of </a:t>
            </a:r>
            <a:r>
              <a:rPr lang="en-US" sz="1600" i="1" dirty="0">
                <a:latin typeface="Arial"/>
                <a:cs typeface="Arial"/>
              </a:rPr>
              <a:t>n</a:t>
            </a:r>
            <a:r>
              <a:rPr lang="en-US" sz="1600" dirty="0">
                <a:latin typeface="Arial"/>
                <a:cs typeface="Arial"/>
              </a:rPr>
              <a:t> and </a:t>
            </a:r>
            <a:r>
              <a:rPr lang="en-US" sz="1600" i="1" dirty="0">
                <a:latin typeface="Arial"/>
                <a:cs typeface="Arial"/>
              </a:rPr>
              <a:t>m</a:t>
            </a:r>
            <a:r>
              <a:rPr lang="en-US" sz="1600" dirty="0">
                <a:latin typeface="Arial"/>
                <a:cs typeface="Arial"/>
              </a:rPr>
              <a:t> in matrix equation dependent on number of components used</a:t>
            </a:r>
          </a:p>
          <a:p>
            <a:pPr marL="285750" indent="-285750">
              <a:spcBef>
                <a:spcPts val="300"/>
              </a:spcBef>
              <a:spcAft>
                <a:spcPts val="200"/>
              </a:spcAft>
              <a:buFontTx/>
              <a:buChar char="-"/>
            </a:pPr>
            <a:r>
              <a:rPr lang="en-US" sz="1600" dirty="0">
                <a:latin typeface="Arial"/>
                <a:cs typeface="Arial"/>
              </a:rPr>
              <a:t>Parametric space computations,</a:t>
            </a:r>
          </a:p>
          <a:p>
            <a:pPr marL="285750" indent="-285750">
              <a:spcBef>
                <a:spcPts val="300"/>
              </a:spcBef>
              <a:spcAft>
                <a:spcPts val="200"/>
              </a:spcAft>
              <a:buFontTx/>
              <a:buChar char="-"/>
            </a:pPr>
            <a:r>
              <a:rPr lang="en-US" sz="1600" dirty="0">
                <a:latin typeface="Arial"/>
                <a:cs typeface="Arial"/>
              </a:rPr>
              <a:t>Tests of flux balances for poly-element type meshes</a:t>
            </a:r>
          </a:p>
          <a:p>
            <a:pPr marL="285750" indent="-285750">
              <a:spcBef>
                <a:spcPts val="300"/>
              </a:spcBef>
              <a:spcAft>
                <a:spcPts val="200"/>
              </a:spcAft>
              <a:buFontTx/>
              <a:buChar char="-"/>
            </a:pPr>
            <a:r>
              <a:rPr lang="en-US" sz="1600" dirty="0">
                <a:latin typeface="Arial"/>
                <a:cs typeface="Arial"/>
              </a:rPr>
              <a:t>Separation into (new) saturation functions and flow functions that bring in fluid properties from the Fluids objects</a:t>
            </a:r>
          </a:p>
          <a:p>
            <a:pPr marL="285750" indent="-285750">
              <a:spcBef>
                <a:spcPts val="300"/>
              </a:spcBef>
              <a:spcAft>
                <a:spcPts val="200"/>
              </a:spcAft>
              <a:buFontTx/>
              <a:buChar char="-"/>
            </a:pPr>
            <a:r>
              <a:rPr lang="en-US" sz="1600" dirty="0" err="1">
                <a:latin typeface="Arial"/>
                <a:cs typeface="Arial"/>
              </a:rPr>
              <a:t>Bijective</a:t>
            </a:r>
            <a:r>
              <a:rPr lang="en-US" sz="1600" dirty="0">
                <a:latin typeface="Arial"/>
                <a:cs typeface="Arial"/>
              </a:rPr>
              <a:t> mapping from FV to FEM scheme</a:t>
            </a:r>
          </a:p>
          <a:p>
            <a:pPr marL="285750" indent="-285750">
              <a:spcBef>
                <a:spcPts val="300"/>
              </a:spcBef>
              <a:spcAft>
                <a:spcPts val="200"/>
              </a:spcAft>
              <a:buFontTx/>
              <a:buChar char="-"/>
            </a:pPr>
            <a:endParaRPr lang="en-US" sz="1600" dirty="0">
              <a:latin typeface="Arial"/>
              <a:cs typeface="Arial"/>
            </a:endParaRPr>
          </a:p>
        </p:txBody>
      </p:sp>
    </p:spTree>
    <p:extLst>
      <p:ext uri="{BB962C8B-B14F-4D97-AF65-F5344CB8AC3E}">
        <p14:creationId xmlns:p14="http://schemas.microsoft.com/office/powerpoint/2010/main" val="2122840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Initialisation</a:t>
            </a:r>
            <a:r>
              <a:rPr lang="en-US" dirty="0"/>
              <a:t> and storage of variables</a:t>
            </a:r>
          </a:p>
        </p:txBody>
      </p:sp>
      <p:sp>
        <p:nvSpPr>
          <p:cNvPr id="10" name="Content Placeholder 9"/>
          <p:cNvSpPr>
            <a:spLocks noGrp="1"/>
          </p:cNvSpPr>
          <p:nvPr>
            <p:ph idx="1"/>
          </p:nvPr>
        </p:nvSpPr>
        <p:spPr>
          <a:xfrm>
            <a:off x="457200" y="737517"/>
            <a:ext cx="8229600" cy="5211763"/>
          </a:xfrm>
        </p:spPr>
        <p:txBody>
          <a:bodyPr>
            <a:normAutofit/>
          </a:bodyPr>
          <a:lstStyle/>
          <a:p>
            <a:r>
              <a:rPr lang="en-US" sz="1600" dirty="0"/>
              <a:t>Utilizing storage at SECTOR and FACET_INTEGRATION_POINT reached from the parent elements</a:t>
            </a:r>
          </a:p>
        </p:txBody>
      </p:sp>
      <p:sp>
        <p:nvSpPr>
          <p:cNvPr id="3" name="Date Placeholder 2"/>
          <p:cNvSpPr>
            <a:spLocks noGrp="1"/>
          </p:cNvSpPr>
          <p:nvPr>
            <p:ph type="dt" sz="half" idx="10"/>
          </p:nvPr>
        </p:nvSpPr>
        <p:spPr/>
        <p:txBody>
          <a:bodyPr/>
          <a:lstStyle/>
          <a:p>
            <a:fld id="{C1762EE7-3E26-8344-9AFB-A62088F617B5}" type="datetime1">
              <a:rPr lang="en-US" smtClean="0"/>
              <a:pPr/>
              <a:t>3/17/19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21</a:t>
            </a:fld>
            <a:endParaRPr lang="en-US"/>
          </a:p>
        </p:txBody>
      </p:sp>
      <p:pic>
        <p:nvPicPr>
          <p:cNvPr id="9" name="Picture 8"/>
          <p:cNvPicPr>
            <a:picLocks noChangeAspect="1"/>
          </p:cNvPicPr>
          <p:nvPr/>
        </p:nvPicPr>
        <p:blipFill>
          <a:blip r:embed="rId2"/>
          <a:stretch>
            <a:fillRect/>
          </a:stretch>
        </p:blipFill>
        <p:spPr>
          <a:xfrm>
            <a:off x="677100" y="1412776"/>
            <a:ext cx="7567307" cy="5088984"/>
          </a:xfrm>
          <a:prstGeom prst="rect">
            <a:avLst/>
          </a:prstGeom>
        </p:spPr>
      </p:pic>
    </p:spTree>
    <p:extLst>
      <p:ext uri="{BB962C8B-B14F-4D97-AF65-F5344CB8AC3E}">
        <p14:creationId xmlns:p14="http://schemas.microsoft.com/office/powerpoint/2010/main" val="417729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4160"/>
          </a:xfrm>
        </p:spPr>
        <p:txBody>
          <a:bodyPr>
            <a:normAutofit/>
          </a:bodyPr>
          <a:lstStyle/>
          <a:p>
            <a:pPr algn="ctr"/>
            <a:r>
              <a:rPr lang="en-US" sz="2400" dirty="0"/>
              <a:t>What happens in old (2</a:t>
            </a:r>
            <a:r>
              <a:rPr lang="en-US" sz="2400" baseline="30000" dirty="0"/>
              <a:t>nd</a:t>
            </a:r>
            <a:r>
              <a:rPr lang="en-US" sz="2400" dirty="0"/>
              <a:t>-order) explicit 2-phase flow calculation?</a:t>
            </a:r>
          </a:p>
        </p:txBody>
      </p:sp>
      <p:sp>
        <p:nvSpPr>
          <p:cNvPr id="3" name="Content Placeholder 2"/>
          <p:cNvSpPr>
            <a:spLocks noGrp="1"/>
          </p:cNvSpPr>
          <p:nvPr>
            <p:ph idx="1"/>
          </p:nvPr>
        </p:nvSpPr>
        <p:spPr>
          <a:xfrm>
            <a:off x="457200" y="620688"/>
            <a:ext cx="8229600" cy="5849904"/>
          </a:xfrm>
        </p:spPr>
        <p:txBody>
          <a:bodyPr>
            <a:noAutofit/>
          </a:bodyPr>
          <a:lstStyle/>
          <a:p>
            <a:pPr>
              <a:buAutoNum type="arabicPeriod"/>
            </a:pPr>
            <a:r>
              <a:rPr lang="en-US" sz="1600" b="1" dirty="0"/>
              <a:t>For the transport region, calculate CFL ( / time-stepping criterion) </a:t>
            </a:r>
          </a:p>
          <a:p>
            <a:pPr lvl="1">
              <a:spcBef>
                <a:spcPts val="100"/>
              </a:spcBef>
              <a:spcAft>
                <a:spcPts val="300"/>
              </a:spcAft>
            </a:pPr>
            <a:r>
              <a:rPr lang="en-US" sz="1400" dirty="0"/>
              <a:t>Element-by-element: from phase velocity based on combined viscous-gravitational-capillary phase velocity, but not sources</a:t>
            </a:r>
          </a:p>
          <a:p>
            <a:pPr lvl="1">
              <a:spcBef>
                <a:spcPts val="100"/>
              </a:spcBef>
              <a:spcAft>
                <a:spcPts val="300"/>
              </a:spcAft>
            </a:pPr>
            <a:r>
              <a:rPr lang="en-US" sz="1400" dirty="0">
                <a:solidFill>
                  <a:srgbClr val="FF0000"/>
                </a:solidFill>
              </a:rPr>
              <a:t>Decision needed: compute only once using shock speed, vs. </a:t>
            </a:r>
            <a:r>
              <a:rPr lang="en-US" sz="1400" dirty="0" err="1">
                <a:solidFill>
                  <a:srgbClr val="FF0000"/>
                </a:solidFill>
              </a:rPr>
              <a:t>recompute</a:t>
            </a:r>
            <a:r>
              <a:rPr lang="en-US" sz="1400" dirty="0">
                <a:solidFill>
                  <a:srgbClr val="FF0000"/>
                </a:solidFill>
              </a:rPr>
              <a:t> for each transport increment</a:t>
            </a:r>
          </a:p>
          <a:p>
            <a:pPr marL="0" indent="0">
              <a:buNone/>
            </a:pPr>
            <a:r>
              <a:rPr lang="en-US" sz="1600" b="1" dirty="0"/>
              <a:t>2. Compute FV centered saturations gradients </a:t>
            </a:r>
            <a:r>
              <a:rPr lang="en-US" sz="1600" b="1" dirty="0">
                <a:solidFill>
                  <a:schemeClr val="bg1">
                    <a:lumMod val="75000"/>
                  </a:schemeClr>
                </a:solidFill>
              </a:rPr>
              <a:t>using Karen’s method</a:t>
            </a:r>
          </a:p>
          <a:p>
            <a:pPr marL="0" indent="0">
              <a:buNone/>
            </a:pPr>
            <a:r>
              <a:rPr lang="en-US" sz="1600" b="1" dirty="0"/>
              <a:t>3. For (second order in space), find </a:t>
            </a:r>
            <a:r>
              <a:rPr lang="en-US" sz="1600" b="1" dirty="0" err="1"/>
              <a:t>s</a:t>
            </a:r>
            <a:r>
              <a:rPr lang="en-US" sz="1600" b="1" baseline="-25000" dirty="0" err="1"/>
              <a:t>min</a:t>
            </a:r>
            <a:r>
              <a:rPr lang="en-US" sz="1600" b="1" dirty="0"/>
              <a:t> / </a:t>
            </a:r>
            <a:r>
              <a:rPr lang="en-US" sz="1600" b="1" dirty="0" err="1"/>
              <a:t>s</a:t>
            </a:r>
            <a:r>
              <a:rPr lang="en-US" sz="1600" b="1" baseline="-25000" dirty="0" err="1"/>
              <a:t>max</a:t>
            </a:r>
            <a:r>
              <a:rPr lang="en-US" sz="1600" b="1" dirty="0"/>
              <a:t> upstream of each FV facet</a:t>
            </a:r>
          </a:p>
          <a:p>
            <a:pPr marL="0" indent="0">
              <a:buNone/>
            </a:pPr>
            <a:r>
              <a:rPr lang="en-US" sz="1600" dirty="0"/>
              <a:t>	</a:t>
            </a:r>
            <a:r>
              <a:rPr lang="en-US" sz="1400" dirty="0" err="1"/>
              <a:t>MinMaxAdvectedProperty</a:t>
            </a:r>
            <a:r>
              <a:rPr lang="en-US" sz="1400" dirty="0"/>
              <a:t>();   using node-to-node connectivity</a:t>
            </a:r>
          </a:p>
          <a:p>
            <a:pPr marL="0" indent="0">
              <a:spcBef>
                <a:spcPts val="100"/>
              </a:spcBef>
              <a:spcAft>
                <a:spcPts val="300"/>
              </a:spcAft>
              <a:buNone/>
            </a:pPr>
            <a:r>
              <a:rPr lang="en-US" sz="1600" b="1" dirty="0"/>
              <a:t>3. Loop over all elements of the transport region to accumulate fluxes / sources</a:t>
            </a:r>
          </a:p>
          <a:p>
            <a:pPr lvl="1">
              <a:spcBef>
                <a:spcPts val="100"/>
              </a:spcBef>
              <a:spcAft>
                <a:spcPts val="300"/>
              </a:spcAft>
            </a:pPr>
            <a:r>
              <a:rPr lang="en-US" sz="1400" dirty="0"/>
              <a:t>stencil_.AccumulateExplicitAdvectionSolution2( this-&gt;SMINMAX, </a:t>
            </a:r>
            <a:r>
              <a:rPr lang="de-DE" sz="1400" dirty="0"/>
              <a:t>(*</a:t>
            </a:r>
            <a:r>
              <a:rPr lang="de-DE" sz="1400" dirty="0" err="1"/>
              <a:t>fvt</a:t>
            </a:r>
            <a:r>
              <a:rPr lang="de-DE" sz="1400" dirty="0"/>
              <a:t>), *(*</a:t>
            </a:r>
            <a:r>
              <a:rPr lang="de-DE" sz="1400" dirty="0" err="1"/>
              <a:t>eit</a:t>
            </a:r>
            <a:r>
              <a:rPr lang="de-DE" sz="1400" dirty="0"/>
              <a:t>), RESULT ); </a:t>
            </a:r>
          </a:p>
          <a:p>
            <a:pPr lvl="1">
              <a:spcBef>
                <a:spcPts val="100"/>
              </a:spcBef>
              <a:spcAft>
                <a:spcPts val="300"/>
              </a:spcAft>
            </a:pPr>
            <a:r>
              <a:rPr lang="de-DE" sz="1400" dirty="0" err="1"/>
              <a:t>compute</a:t>
            </a:r>
            <a:r>
              <a:rPr lang="de-DE" sz="1400" dirty="0"/>
              <a:t> </a:t>
            </a:r>
            <a:r>
              <a:rPr lang="de-DE" sz="1400" dirty="0" err="1"/>
              <a:t>limiter</a:t>
            </a:r>
            <a:r>
              <a:rPr lang="de-DE" sz="1400" dirty="0"/>
              <a:t> </a:t>
            </a:r>
            <a:r>
              <a:rPr lang="de-DE" sz="1400" dirty="0" err="1"/>
              <a:t>values</a:t>
            </a:r>
            <a:r>
              <a:rPr lang="de-DE" sz="1600" dirty="0"/>
              <a:t>	     </a:t>
            </a:r>
          </a:p>
          <a:p>
            <a:pPr marL="0" indent="0">
              <a:buNone/>
            </a:pPr>
            <a:r>
              <a:rPr lang="de-DE" sz="1600" b="1" dirty="0"/>
              <a:t>4. Accumulate </a:t>
            </a:r>
            <a:r>
              <a:rPr lang="de-DE" sz="1600" b="1" dirty="0" err="1"/>
              <a:t>boundary</a:t>
            </a:r>
            <a:r>
              <a:rPr lang="de-DE" sz="1600" b="1" dirty="0"/>
              <a:t> </a:t>
            </a:r>
            <a:r>
              <a:rPr lang="de-DE" sz="1600" b="1" dirty="0" err="1"/>
              <a:t>terms</a:t>
            </a:r>
            <a:r>
              <a:rPr lang="de-DE" sz="1600" b="1" dirty="0"/>
              <a:t>, </a:t>
            </a:r>
            <a:r>
              <a:rPr lang="de-DE" sz="1600" b="1" dirty="0" err="1"/>
              <a:t>compensating</a:t>
            </a:r>
            <a:r>
              <a:rPr lang="de-DE" sz="1600" b="1" dirty="0"/>
              <a:t> </a:t>
            </a:r>
            <a:r>
              <a:rPr lang="de-DE" sz="1600" b="1" dirty="0" err="1"/>
              <a:t>for</a:t>
            </a:r>
            <a:r>
              <a:rPr lang="de-DE" sz="1600" b="1" dirty="0"/>
              <a:t> </a:t>
            </a:r>
            <a:r>
              <a:rPr lang="de-DE" sz="1600" b="1" dirty="0" err="1"/>
              <a:t>inflow</a:t>
            </a:r>
            <a:r>
              <a:rPr lang="de-DE" sz="1600" b="1" dirty="0"/>
              <a:t> </a:t>
            </a:r>
            <a:r>
              <a:rPr lang="de-DE" sz="1600" b="1" dirty="0" err="1"/>
              <a:t>and</a:t>
            </a:r>
            <a:r>
              <a:rPr lang="de-DE" sz="1600" b="1" dirty="0"/>
              <a:t> </a:t>
            </a:r>
            <a:r>
              <a:rPr lang="de-DE" sz="1600" b="1" dirty="0" err="1"/>
              <a:t>outflow</a:t>
            </a:r>
            <a:endParaRPr lang="de-DE" sz="1600" b="1" dirty="0"/>
          </a:p>
          <a:p>
            <a:pPr marL="0" indent="0">
              <a:buNone/>
            </a:pPr>
            <a:r>
              <a:rPr lang="de-DE" sz="1600" dirty="0"/>
              <a:t>	</a:t>
            </a:r>
            <a:r>
              <a:rPr lang="de-DE" sz="1400" dirty="0" err="1"/>
              <a:t>AssignFluxBoundaryConditions</a:t>
            </a:r>
            <a:r>
              <a:rPr lang="de-DE" sz="1400" dirty="0"/>
              <a:t>();</a:t>
            </a:r>
          </a:p>
          <a:p>
            <a:pPr marL="0" indent="0">
              <a:buNone/>
            </a:pPr>
            <a:r>
              <a:rPr lang="de-DE" sz="1600" b="1" dirty="0"/>
              <a:t>5. </a:t>
            </a:r>
            <a:r>
              <a:rPr lang="sk-SK" sz="1600" b="1" dirty="0"/>
              <a:t>Compose solution  </a:t>
            </a:r>
          </a:p>
          <a:p>
            <a:pPr marL="0" indent="0">
              <a:buNone/>
            </a:pPr>
            <a:endParaRPr lang="sk-SK" sz="1600" b="1" dirty="0"/>
          </a:p>
          <a:p>
            <a:pPr marL="0" indent="0">
              <a:buNone/>
            </a:pPr>
            <a:endParaRPr lang="sk-SK" sz="1600" b="1" dirty="0"/>
          </a:p>
          <a:p>
            <a:pPr marL="0" indent="0">
              <a:buNone/>
            </a:pPr>
            <a:r>
              <a:rPr lang="sk-SK" sz="1600" b="1" dirty="0"/>
              <a:t>6. Save computed saturations to FV</a:t>
            </a:r>
          </a:p>
          <a:p>
            <a:pPr marL="0" indent="0">
              <a:buNone/>
            </a:pPr>
            <a:r>
              <a:rPr lang="sk-SK" sz="1600" dirty="0"/>
              <a:t>	</a:t>
            </a:r>
            <a:r>
              <a:rPr lang="sk-SK" sz="1400" dirty="0"/>
              <a:t>OutputResults( this-&gt;pref_, output_result_range );</a:t>
            </a:r>
            <a:endParaRPr lang="en-US" sz="1400" dirty="0"/>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22</a:t>
            </a:fld>
            <a:endParaRPr lang="en-US" dirty="0">
              <a:solidFill>
                <a:prstClr val="white">
                  <a:lumMod val="65000"/>
                </a:prstClr>
              </a:solidFill>
            </a:endParaRPr>
          </a:p>
        </p:txBody>
      </p:sp>
      <p:grpSp>
        <p:nvGrpSpPr>
          <p:cNvPr id="15" name="Group 14"/>
          <p:cNvGrpSpPr/>
          <p:nvPr/>
        </p:nvGrpSpPr>
        <p:grpSpPr>
          <a:xfrm>
            <a:off x="450079" y="5085184"/>
            <a:ext cx="8370393" cy="792088"/>
            <a:chOff x="450079" y="5085184"/>
            <a:chExt cx="8370393" cy="792088"/>
          </a:xfrm>
        </p:grpSpPr>
        <p:grpSp>
          <p:nvGrpSpPr>
            <p:cNvPr id="10" name="Group 9"/>
            <p:cNvGrpSpPr/>
            <p:nvPr/>
          </p:nvGrpSpPr>
          <p:grpSpPr>
            <a:xfrm>
              <a:off x="450079" y="5085184"/>
              <a:ext cx="8298385" cy="580026"/>
              <a:chOff x="450079" y="544718"/>
              <a:chExt cx="8298385" cy="580026"/>
            </a:xfrm>
          </p:grpSpPr>
          <p:pic>
            <p:nvPicPr>
              <p:cNvPr id="7" name="Picture 6"/>
              <p:cNvPicPr>
                <a:picLocks noChangeAspect="1"/>
              </p:cNvPicPr>
              <p:nvPr/>
            </p:nvPicPr>
            <p:blipFill>
              <a:blip r:embed="rId3"/>
              <a:stretch>
                <a:fillRect/>
              </a:stretch>
            </p:blipFill>
            <p:spPr>
              <a:xfrm>
                <a:off x="450079" y="548680"/>
                <a:ext cx="4176464" cy="576064"/>
              </a:xfrm>
              <a:prstGeom prst="rect">
                <a:avLst/>
              </a:prstGeom>
            </p:spPr>
          </p:pic>
          <p:pic>
            <p:nvPicPr>
              <p:cNvPr id="8" name="Picture 7"/>
              <p:cNvPicPr>
                <a:picLocks noChangeAspect="1"/>
              </p:cNvPicPr>
              <p:nvPr/>
            </p:nvPicPr>
            <p:blipFill>
              <a:blip r:embed="rId4"/>
              <a:stretch>
                <a:fillRect/>
              </a:stretch>
            </p:blipFill>
            <p:spPr>
              <a:xfrm>
                <a:off x="4572000" y="548680"/>
                <a:ext cx="1863764" cy="574991"/>
              </a:xfrm>
              <a:prstGeom prst="rect">
                <a:avLst/>
              </a:prstGeom>
            </p:spPr>
          </p:pic>
          <p:pic>
            <p:nvPicPr>
              <p:cNvPr id="9" name="Picture 8"/>
              <p:cNvPicPr>
                <a:picLocks noChangeAspect="1"/>
              </p:cNvPicPr>
              <p:nvPr/>
            </p:nvPicPr>
            <p:blipFill>
              <a:blip r:embed="rId5"/>
              <a:stretch>
                <a:fillRect/>
              </a:stretch>
            </p:blipFill>
            <p:spPr>
              <a:xfrm>
                <a:off x="6363913" y="544718"/>
                <a:ext cx="2384551" cy="580026"/>
              </a:xfrm>
              <a:prstGeom prst="rect">
                <a:avLst/>
              </a:prstGeom>
            </p:spPr>
          </p:pic>
        </p:grpSp>
        <p:sp>
          <p:nvSpPr>
            <p:cNvPr id="11" name="TextBox 10"/>
            <p:cNvSpPr txBox="1"/>
            <p:nvPr/>
          </p:nvSpPr>
          <p:spPr>
            <a:xfrm>
              <a:off x="1606497" y="5569495"/>
              <a:ext cx="1165303" cy="307777"/>
            </a:xfrm>
            <a:prstGeom prst="rect">
              <a:avLst/>
            </a:prstGeom>
            <a:noFill/>
          </p:spPr>
          <p:txBody>
            <a:bodyPr wrap="none" rtlCol="0">
              <a:spAutoFit/>
            </a:bodyPr>
            <a:lstStyle/>
            <a:p>
              <a:r>
                <a:rPr lang="en-US" sz="1400" dirty="0">
                  <a:latin typeface="Arial"/>
                  <a:cs typeface="Arial"/>
                </a:rPr>
                <a:t>viscous flow</a:t>
              </a:r>
            </a:p>
          </p:txBody>
        </p:sp>
        <p:sp>
          <p:nvSpPr>
            <p:cNvPr id="12" name="TextBox 11"/>
            <p:cNvSpPr txBox="1"/>
            <p:nvPr/>
          </p:nvSpPr>
          <p:spPr>
            <a:xfrm>
              <a:off x="3059832" y="5569495"/>
              <a:ext cx="1441859" cy="307777"/>
            </a:xfrm>
            <a:prstGeom prst="rect">
              <a:avLst/>
            </a:prstGeom>
            <a:noFill/>
          </p:spPr>
          <p:txBody>
            <a:bodyPr wrap="none" rtlCol="0">
              <a:spAutoFit/>
            </a:bodyPr>
            <a:lstStyle/>
            <a:p>
              <a:r>
                <a:rPr lang="en-US" sz="1400" dirty="0">
                  <a:latin typeface="Arial"/>
                  <a:cs typeface="Arial"/>
                </a:rPr>
                <a:t>sources &amp; sinks</a:t>
              </a:r>
            </a:p>
          </p:txBody>
        </p:sp>
        <p:sp>
          <p:nvSpPr>
            <p:cNvPr id="13" name="TextBox 12"/>
            <p:cNvSpPr txBox="1"/>
            <p:nvPr/>
          </p:nvSpPr>
          <p:spPr>
            <a:xfrm>
              <a:off x="4690580" y="5569495"/>
              <a:ext cx="1681620" cy="307777"/>
            </a:xfrm>
            <a:prstGeom prst="rect">
              <a:avLst/>
            </a:prstGeom>
            <a:noFill/>
          </p:spPr>
          <p:txBody>
            <a:bodyPr wrap="none" rtlCol="0">
              <a:spAutoFit/>
            </a:bodyPr>
            <a:lstStyle/>
            <a:p>
              <a:r>
                <a:rPr lang="en-US" sz="1400" dirty="0">
                  <a:latin typeface="Arial"/>
                  <a:cs typeface="Arial"/>
                </a:rPr>
                <a:t>capillary spreading</a:t>
              </a:r>
            </a:p>
          </p:txBody>
        </p:sp>
        <p:sp>
          <p:nvSpPr>
            <p:cNvPr id="14" name="TextBox 13"/>
            <p:cNvSpPr txBox="1"/>
            <p:nvPr/>
          </p:nvSpPr>
          <p:spPr>
            <a:xfrm>
              <a:off x="6619792" y="5569495"/>
              <a:ext cx="2200680" cy="307777"/>
            </a:xfrm>
            <a:prstGeom prst="rect">
              <a:avLst/>
            </a:prstGeom>
            <a:noFill/>
          </p:spPr>
          <p:txBody>
            <a:bodyPr wrap="none" rtlCol="0">
              <a:spAutoFit/>
            </a:bodyPr>
            <a:lstStyle/>
            <a:p>
              <a:r>
                <a:rPr lang="en-US" sz="1400" dirty="0">
                  <a:latin typeface="Arial"/>
                  <a:cs typeface="Arial"/>
                </a:rPr>
                <a:t>gravitational </a:t>
              </a:r>
              <a:r>
                <a:rPr lang="en-US" sz="1400" dirty="0" err="1">
                  <a:latin typeface="Arial"/>
                  <a:cs typeface="Arial"/>
                </a:rPr>
                <a:t>segregration</a:t>
              </a:r>
              <a:endParaRPr lang="en-US" sz="1400" dirty="0">
                <a:latin typeface="Arial"/>
                <a:cs typeface="Arial"/>
              </a:endParaRPr>
            </a:p>
          </p:txBody>
        </p:sp>
      </p:grpSp>
    </p:spTree>
    <p:extLst>
      <p:ext uri="{BB962C8B-B14F-4D97-AF65-F5344CB8AC3E}">
        <p14:creationId xmlns:p14="http://schemas.microsoft.com/office/powerpoint/2010/main" val="2734230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228600" y="201285"/>
            <a:ext cx="8162925" cy="579437"/>
          </a:xfrm>
        </p:spPr>
        <p:txBody>
          <a:bodyPr/>
          <a:lstStyle/>
          <a:p>
            <a:pPr eaLnBrk="1" hangingPunct="1"/>
            <a:r>
              <a:rPr lang="en-US" dirty="0"/>
              <a:t>CFL calculation</a:t>
            </a:r>
            <a:endParaRPr lang="en-GB" dirty="0"/>
          </a:p>
        </p:txBody>
      </p:sp>
      <p:sp>
        <p:nvSpPr>
          <p:cNvPr id="37893" name="Rectangle 3"/>
          <p:cNvSpPr>
            <a:spLocks noGrp="1" noChangeArrowheads="1"/>
          </p:cNvSpPr>
          <p:nvPr>
            <p:ph type="body" idx="1"/>
          </p:nvPr>
        </p:nvSpPr>
        <p:spPr>
          <a:xfrm>
            <a:off x="395536" y="2021309"/>
            <a:ext cx="8509028" cy="4360019"/>
          </a:xfrm>
        </p:spPr>
        <p:txBody>
          <a:bodyPr>
            <a:noAutofit/>
          </a:bodyPr>
          <a:lstStyle/>
          <a:p>
            <a:pPr marL="182563" indent="-182563">
              <a:spcAft>
                <a:spcPct val="50000"/>
              </a:spcAft>
            </a:pPr>
            <a:r>
              <a:rPr lang="en-US" sz="1600" dirty="0"/>
              <a:t>CFL is currently calculated using element length in the direction of flow (as opposed to FV), see NCFVT::</a:t>
            </a:r>
            <a:r>
              <a:rPr lang="en-US" sz="1600" b="1" dirty="0" err="1"/>
              <a:t>AnisotropicCourantIncrement</a:t>
            </a:r>
            <a:r>
              <a:rPr lang="en-US" sz="1600" b="1" dirty="0"/>
              <a:t>()</a:t>
            </a:r>
            <a:r>
              <a:rPr lang="en-US" sz="1600" dirty="0"/>
              <a:t>. Only viscous and gravitationally driven flow are considered for the FV scheme because capillary spreading is computed with the FE method (has a different time constraint).</a:t>
            </a:r>
          </a:p>
          <a:p>
            <a:pPr marL="182563" indent="-182563">
              <a:spcAft>
                <a:spcPct val="50000"/>
              </a:spcAft>
            </a:pPr>
            <a:r>
              <a:rPr lang="en-US" sz="1600" dirty="0"/>
              <a:t>An upper limit value must be specified in case there is no flow.</a:t>
            </a:r>
            <a:endParaRPr lang="en-GB" sz="1600" dirty="0"/>
          </a:p>
          <a:p>
            <a:pPr marL="182563" indent="-182563" eaLnBrk="1" hangingPunct="1">
              <a:spcAft>
                <a:spcPct val="50000"/>
              </a:spcAft>
            </a:pPr>
            <a:r>
              <a:rPr lang="en-US" sz="1600" dirty="0"/>
              <a:t>For explicit calculations, </a:t>
            </a:r>
            <a:r>
              <a:rPr lang="en-US" sz="1600" i="1" dirty="0" err="1"/>
              <a:t>df</a:t>
            </a:r>
            <a:r>
              <a:rPr lang="en-US" sz="1600" i="1" dirty="0"/>
              <a:t>/</a:t>
            </a:r>
            <a:r>
              <a:rPr lang="en-US" sz="1600" i="1" dirty="0" err="1"/>
              <a:t>ds</a:t>
            </a:r>
            <a:r>
              <a:rPr lang="en-US" sz="1600" i="1" baseline="-25000" dirty="0" err="1"/>
              <a:t>max</a:t>
            </a:r>
            <a:r>
              <a:rPr lang="en-US" sz="1600" dirty="0"/>
              <a:t> suffices for the calculation of CFL because the resulting step size is small enough even when </a:t>
            </a:r>
            <a:r>
              <a:rPr lang="en-US" sz="1600" i="1" dirty="0" err="1"/>
              <a:t>df</a:t>
            </a:r>
            <a:r>
              <a:rPr lang="en-US" sz="1600" i="1" dirty="0"/>
              <a:t>/ds</a:t>
            </a:r>
            <a:r>
              <a:rPr lang="en-US" sz="1600" dirty="0"/>
              <a:t> increases during iteration.</a:t>
            </a:r>
          </a:p>
          <a:p>
            <a:pPr marL="182563" indent="-182563" eaLnBrk="1" hangingPunct="1">
              <a:spcAft>
                <a:spcPct val="50000"/>
              </a:spcAft>
            </a:pPr>
            <a:r>
              <a:rPr lang="en-US" sz="1600" dirty="0"/>
              <a:t>For implicit calculations an exact CFL is not necessary.</a:t>
            </a:r>
          </a:p>
          <a:p>
            <a:pPr marL="182563" indent="-182563" eaLnBrk="1" hangingPunct="1">
              <a:spcAft>
                <a:spcPct val="50000"/>
              </a:spcAft>
            </a:pPr>
            <a:r>
              <a:rPr lang="en-US" sz="1600" dirty="0"/>
              <a:t>Experience shows that CFL should not be linked to pressure time-step calculation</a:t>
            </a:r>
          </a:p>
          <a:p>
            <a:pPr marL="182563" indent="-182563" eaLnBrk="1" hangingPunct="1">
              <a:spcAft>
                <a:spcPct val="50000"/>
              </a:spcAft>
            </a:pPr>
            <a:r>
              <a:rPr lang="en-US" sz="1600" dirty="0"/>
              <a:t>When simultaneously addressing viscous, gravitational, and capillary terms CFL should not be based on the addition of these components but their max values; this way, even if one of these is zero a meaningful value is established.</a:t>
            </a:r>
          </a:p>
          <a:p>
            <a:pPr marL="182563" indent="-182563" eaLnBrk="1" hangingPunct="1">
              <a:spcAft>
                <a:spcPct val="50000"/>
              </a:spcAft>
            </a:pPr>
            <a:r>
              <a:rPr lang="en-US" sz="1600" dirty="0"/>
              <a:t>Note: CFL methods should be virtual so that they can be </a:t>
            </a:r>
            <a:r>
              <a:rPr lang="en-US" sz="1600" dirty="0" err="1"/>
              <a:t>overriden</a:t>
            </a:r>
            <a:endParaRPr lang="en-US" sz="1600" dirty="0"/>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23</a:t>
            </a:fld>
            <a:endParaRPr lang="en-US">
              <a:solidFill>
                <a:prstClr val="white">
                  <a:lumMod val="65000"/>
                </a:prstClr>
              </a:solidFill>
            </a:endParaRPr>
          </a:p>
        </p:txBody>
      </p:sp>
      <p:grpSp>
        <p:nvGrpSpPr>
          <p:cNvPr id="26" name="Group 25"/>
          <p:cNvGrpSpPr/>
          <p:nvPr/>
        </p:nvGrpSpPr>
        <p:grpSpPr>
          <a:xfrm>
            <a:off x="3347864" y="245839"/>
            <a:ext cx="5256584" cy="1454969"/>
            <a:chOff x="3563888" y="101823"/>
            <a:chExt cx="5256584" cy="1454969"/>
          </a:xfrm>
        </p:grpSpPr>
        <p:grpSp>
          <p:nvGrpSpPr>
            <p:cNvPr id="24" name="Group 23"/>
            <p:cNvGrpSpPr/>
            <p:nvPr/>
          </p:nvGrpSpPr>
          <p:grpSpPr>
            <a:xfrm>
              <a:off x="3563888" y="273293"/>
              <a:ext cx="2736304" cy="1283499"/>
              <a:chOff x="3707904" y="201285"/>
              <a:chExt cx="2736304" cy="1283499"/>
            </a:xfrm>
          </p:grpSpPr>
          <p:grpSp>
            <p:nvGrpSpPr>
              <p:cNvPr id="10" name="Group 39"/>
              <p:cNvGrpSpPr>
                <a:grpSpLocks/>
              </p:cNvGrpSpPr>
              <p:nvPr/>
            </p:nvGrpSpPr>
            <p:grpSpPr bwMode="auto">
              <a:xfrm>
                <a:off x="3995936" y="407659"/>
                <a:ext cx="1872208" cy="1077125"/>
                <a:chOff x="2167" y="3056"/>
                <a:chExt cx="1226" cy="748"/>
              </a:xfrm>
            </p:grpSpPr>
            <p:sp>
              <p:nvSpPr>
                <p:cNvPr id="11" name="Freeform 40"/>
                <p:cNvSpPr>
                  <a:spLocks/>
                </p:cNvSpPr>
                <p:nvPr/>
              </p:nvSpPr>
              <p:spPr bwMode="auto">
                <a:xfrm>
                  <a:off x="2212" y="3375"/>
                  <a:ext cx="1141" cy="404"/>
                </a:xfrm>
                <a:custGeom>
                  <a:avLst/>
                  <a:gdLst/>
                  <a:ahLst/>
                  <a:cxnLst>
                    <a:cxn ang="0">
                      <a:pos x="0" y="62"/>
                    </a:cxn>
                    <a:cxn ang="0">
                      <a:pos x="1141" y="0"/>
                    </a:cxn>
                    <a:cxn ang="0">
                      <a:pos x="827" y="404"/>
                    </a:cxn>
                    <a:cxn ang="0">
                      <a:pos x="0" y="62"/>
                    </a:cxn>
                  </a:cxnLst>
                  <a:rect l="0" t="0" r="r" b="b"/>
                  <a:pathLst>
                    <a:path w="1141" h="404">
                      <a:moveTo>
                        <a:pt x="0" y="62"/>
                      </a:moveTo>
                      <a:lnTo>
                        <a:pt x="1141" y="0"/>
                      </a:lnTo>
                      <a:lnTo>
                        <a:pt x="827" y="404"/>
                      </a:lnTo>
                      <a:lnTo>
                        <a:pt x="0" y="62"/>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12" name="Freeform 41"/>
                <p:cNvSpPr>
                  <a:spLocks/>
                </p:cNvSpPr>
                <p:nvPr/>
              </p:nvSpPr>
              <p:spPr bwMode="auto">
                <a:xfrm>
                  <a:off x="2190" y="3097"/>
                  <a:ext cx="1141" cy="404"/>
                </a:xfrm>
                <a:custGeom>
                  <a:avLst/>
                  <a:gdLst/>
                  <a:ahLst/>
                  <a:cxnLst>
                    <a:cxn ang="0">
                      <a:pos x="0" y="62"/>
                    </a:cxn>
                    <a:cxn ang="0">
                      <a:pos x="1141" y="0"/>
                    </a:cxn>
                    <a:cxn ang="0">
                      <a:pos x="827" y="404"/>
                    </a:cxn>
                    <a:cxn ang="0">
                      <a:pos x="0" y="62"/>
                    </a:cxn>
                  </a:cxnLst>
                  <a:rect l="0" t="0" r="r" b="b"/>
                  <a:pathLst>
                    <a:path w="1141" h="404">
                      <a:moveTo>
                        <a:pt x="0" y="62"/>
                      </a:moveTo>
                      <a:lnTo>
                        <a:pt x="1141" y="0"/>
                      </a:lnTo>
                      <a:lnTo>
                        <a:pt x="827" y="404"/>
                      </a:lnTo>
                      <a:lnTo>
                        <a:pt x="0" y="62"/>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13" name="Freeform 42"/>
                <p:cNvSpPr>
                  <a:spLocks/>
                </p:cNvSpPr>
                <p:nvPr/>
              </p:nvSpPr>
              <p:spPr bwMode="auto">
                <a:xfrm>
                  <a:off x="2196" y="3159"/>
                  <a:ext cx="844" cy="616"/>
                </a:xfrm>
                <a:custGeom>
                  <a:avLst/>
                  <a:gdLst/>
                  <a:ahLst/>
                  <a:cxnLst>
                    <a:cxn ang="0">
                      <a:pos x="0" y="0"/>
                    </a:cxn>
                    <a:cxn ang="0">
                      <a:pos x="17" y="280"/>
                    </a:cxn>
                    <a:cxn ang="0">
                      <a:pos x="844" y="616"/>
                    </a:cxn>
                    <a:cxn ang="0">
                      <a:pos x="827" y="342"/>
                    </a:cxn>
                    <a:cxn ang="0">
                      <a:pos x="0" y="0"/>
                    </a:cxn>
                  </a:cxnLst>
                  <a:rect l="0" t="0" r="r" b="b"/>
                  <a:pathLst>
                    <a:path w="844" h="616">
                      <a:moveTo>
                        <a:pt x="0" y="0"/>
                      </a:moveTo>
                      <a:lnTo>
                        <a:pt x="17" y="280"/>
                      </a:lnTo>
                      <a:lnTo>
                        <a:pt x="844" y="616"/>
                      </a:lnTo>
                      <a:lnTo>
                        <a:pt x="827" y="342"/>
                      </a:lnTo>
                      <a:lnTo>
                        <a:pt x="0" y="0"/>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14" name="Freeform 43"/>
                <p:cNvSpPr>
                  <a:spLocks/>
                </p:cNvSpPr>
                <p:nvPr/>
              </p:nvSpPr>
              <p:spPr bwMode="auto">
                <a:xfrm>
                  <a:off x="3023" y="3096"/>
                  <a:ext cx="336" cy="673"/>
                </a:xfrm>
                <a:custGeom>
                  <a:avLst/>
                  <a:gdLst/>
                  <a:ahLst/>
                  <a:cxnLst>
                    <a:cxn ang="0">
                      <a:pos x="0" y="399"/>
                    </a:cxn>
                    <a:cxn ang="0">
                      <a:pos x="313" y="0"/>
                    </a:cxn>
                    <a:cxn ang="0">
                      <a:pos x="336" y="280"/>
                    </a:cxn>
                    <a:cxn ang="0">
                      <a:pos x="17" y="673"/>
                    </a:cxn>
                    <a:cxn ang="0">
                      <a:pos x="0" y="399"/>
                    </a:cxn>
                  </a:cxnLst>
                  <a:rect l="0" t="0" r="r" b="b"/>
                  <a:pathLst>
                    <a:path w="336" h="673">
                      <a:moveTo>
                        <a:pt x="0" y="399"/>
                      </a:moveTo>
                      <a:lnTo>
                        <a:pt x="313" y="0"/>
                      </a:lnTo>
                      <a:lnTo>
                        <a:pt x="336" y="280"/>
                      </a:lnTo>
                      <a:lnTo>
                        <a:pt x="17" y="673"/>
                      </a:lnTo>
                      <a:lnTo>
                        <a:pt x="0" y="399"/>
                      </a:lnTo>
                      <a:close/>
                    </a:path>
                  </a:pathLst>
                </a:custGeom>
                <a:solidFill>
                  <a:srgbClr val="33CC33"/>
                </a:solidFill>
                <a:ln w="9525">
                  <a:solidFill>
                    <a:schemeClr val="tx1"/>
                  </a:solidFill>
                  <a:round/>
                  <a:headEnd/>
                  <a:tailEnd/>
                </a:ln>
                <a:effectLst/>
              </p:spPr>
              <p:txBody>
                <a:bodyPr>
                  <a:prstTxWarp prst="textNoShape">
                    <a:avLst/>
                  </a:prstTxWarp>
                </a:bodyPr>
                <a:lstStyle/>
                <a:p>
                  <a:endParaRPr lang="en-US"/>
                </a:p>
              </p:txBody>
            </p:sp>
            <p:sp>
              <p:nvSpPr>
                <p:cNvPr id="15" name="Oval 44"/>
                <p:cNvSpPr>
                  <a:spLocks noChangeArrowheads="1"/>
                </p:cNvSpPr>
                <p:nvPr/>
              </p:nvSpPr>
              <p:spPr bwMode="auto">
                <a:xfrm>
                  <a:off x="3283" y="3056"/>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6" name="Oval 45"/>
                <p:cNvSpPr>
                  <a:spLocks noChangeArrowheads="1"/>
                </p:cNvSpPr>
                <p:nvPr/>
              </p:nvSpPr>
              <p:spPr bwMode="auto">
                <a:xfrm>
                  <a:off x="3302" y="3345"/>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7" name="Oval 46"/>
                <p:cNvSpPr>
                  <a:spLocks noChangeArrowheads="1"/>
                </p:cNvSpPr>
                <p:nvPr/>
              </p:nvSpPr>
              <p:spPr bwMode="auto">
                <a:xfrm>
                  <a:off x="2987" y="3724"/>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8" name="Oval 47"/>
                <p:cNvSpPr>
                  <a:spLocks noChangeArrowheads="1"/>
                </p:cNvSpPr>
                <p:nvPr/>
              </p:nvSpPr>
              <p:spPr bwMode="auto">
                <a:xfrm>
                  <a:off x="2989" y="3461"/>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19" name="Oval 48"/>
                <p:cNvSpPr>
                  <a:spLocks noChangeArrowheads="1"/>
                </p:cNvSpPr>
                <p:nvPr/>
              </p:nvSpPr>
              <p:spPr bwMode="auto">
                <a:xfrm>
                  <a:off x="2168" y="3128"/>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sp>
              <p:nvSpPr>
                <p:cNvPr id="20" name="Oval 49"/>
                <p:cNvSpPr>
                  <a:spLocks noChangeArrowheads="1"/>
                </p:cNvSpPr>
                <p:nvPr/>
              </p:nvSpPr>
              <p:spPr bwMode="auto">
                <a:xfrm>
                  <a:off x="2167" y="3402"/>
                  <a:ext cx="91" cy="80"/>
                </a:xfrm>
                <a:prstGeom prst="ellipse">
                  <a:avLst/>
                </a:prstGeom>
                <a:solidFill>
                  <a:srgbClr val="33CC33"/>
                </a:solidFill>
                <a:ln w="9525">
                  <a:solidFill>
                    <a:schemeClr val="tx1"/>
                  </a:solidFill>
                  <a:round/>
                  <a:headEnd/>
                  <a:tailEnd/>
                </a:ln>
                <a:effectLst/>
              </p:spPr>
              <p:txBody>
                <a:bodyPr wrap="none" anchor="ctr">
                  <a:prstTxWarp prst="textNoShape">
                    <a:avLst/>
                  </a:prstTxWarp>
                </a:bodyPr>
                <a:lstStyle/>
                <a:p>
                  <a:endParaRPr lang="en-US"/>
                </a:p>
              </p:txBody>
            </p:sp>
          </p:grpSp>
          <p:cxnSp>
            <p:nvCxnSpPr>
              <p:cNvPr id="3" name="Straight Arrow Connector 2"/>
              <p:cNvCxnSpPr/>
              <p:nvPr/>
            </p:nvCxnSpPr>
            <p:spPr>
              <a:xfrm>
                <a:off x="3707904" y="522860"/>
                <a:ext cx="2736304" cy="300961"/>
              </a:xfrm>
              <a:prstGeom prst="straightConnector1">
                <a:avLst/>
              </a:prstGeom>
              <a:ln>
                <a:solidFill>
                  <a:srgbClr val="FF00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6" name="Straight Arrow Connector 5"/>
              <p:cNvCxnSpPr/>
              <p:nvPr/>
            </p:nvCxnSpPr>
            <p:spPr>
              <a:xfrm flipH="1" flipV="1">
                <a:off x="4064655" y="465259"/>
                <a:ext cx="1515457" cy="16128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19" idx="0"/>
              </p:cNvCxnSpPr>
              <p:nvPr/>
            </p:nvCxnSpPr>
            <p:spPr>
              <a:xfrm flipH="1" flipV="1">
                <a:off x="4064655" y="201285"/>
                <a:ext cx="2291" cy="310054"/>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flipH="1" flipV="1">
                <a:off x="5577821" y="418271"/>
                <a:ext cx="2291" cy="310054"/>
              </a:xfrm>
              <a:prstGeom prst="line">
                <a:avLst/>
              </a:prstGeom>
            </p:spPr>
            <p:style>
              <a:lnRef idx="2">
                <a:schemeClr val="accent1"/>
              </a:lnRef>
              <a:fillRef idx="0">
                <a:schemeClr val="accent1"/>
              </a:fillRef>
              <a:effectRef idx="1">
                <a:schemeClr val="accent1"/>
              </a:effectRef>
              <a:fontRef idx="minor">
                <a:schemeClr val="tx1"/>
              </a:fontRef>
            </p:style>
          </p:cxnSp>
        </p:grpSp>
        <p:sp>
          <p:nvSpPr>
            <p:cNvPr id="23" name="TextBox 22"/>
            <p:cNvSpPr txBox="1"/>
            <p:nvPr/>
          </p:nvSpPr>
          <p:spPr>
            <a:xfrm>
              <a:off x="3990015" y="101823"/>
              <a:ext cx="4830457" cy="461665"/>
            </a:xfrm>
            <a:prstGeom prst="rect">
              <a:avLst/>
            </a:prstGeom>
            <a:noFill/>
          </p:spPr>
          <p:txBody>
            <a:bodyPr wrap="square" rtlCol="0">
              <a:spAutoFit/>
            </a:bodyPr>
            <a:lstStyle/>
            <a:p>
              <a:r>
                <a:rPr lang="en-US" sz="1200" dirty="0">
                  <a:latin typeface="Arial"/>
                  <a:cs typeface="Arial"/>
                </a:rPr>
                <a:t>max distance over which information can be propagated in a single advection step (undefined if strong sources/sinks or elliptic problem)</a:t>
              </a:r>
            </a:p>
          </p:txBody>
        </p:sp>
        <p:sp>
          <p:nvSpPr>
            <p:cNvPr id="28" name="TextBox 27"/>
            <p:cNvSpPr txBox="1"/>
            <p:nvPr/>
          </p:nvSpPr>
          <p:spPr>
            <a:xfrm>
              <a:off x="5742905" y="888975"/>
              <a:ext cx="1368151" cy="307777"/>
            </a:xfrm>
            <a:prstGeom prst="rect">
              <a:avLst/>
            </a:prstGeom>
            <a:noFill/>
          </p:spPr>
          <p:txBody>
            <a:bodyPr wrap="square" rtlCol="0">
              <a:spAutoFit/>
            </a:bodyPr>
            <a:lstStyle/>
            <a:p>
              <a:r>
                <a:rPr lang="en-US" sz="1400" dirty="0">
                  <a:solidFill>
                    <a:srgbClr val="FF0000"/>
                  </a:solidFill>
                  <a:latin typeface="Arial"/>
                  <a:cs typeface="Arial"/>
                </a:rPr>
                <a:t>flow velocity</a:t>
              </a:r>
            </a:p>
          </p:txBody>
        </p:sp>
      </p:grpSp>
    </p:spTree>
    <p:extLst>
      <p:ext uri="{BB962C8B-B14F-4D97-AF65-F5344CB8AC3E}">
        <p14:creationId xmlns:p14="http://schemas.microsoft.com/office/powerpoint/2010/main" val="860151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2008"/>
            <a:ext cx="8229600" cy="649565"/>
          </a:xfrm>
        </p:spPr>
        <p:txBody>
          <a:bodyPr>
            <a:normAutofit fontScale="90000"/>
          </a:bodyPr>
          <a:lstStyle/>
          <a:p>
            <a:r>
              <a:rPr lang="en-US" dirty="0"/>
              <a:t>Constitutive relationships – Refactoring done!</a:t>
            </a:r>
          </a:p>
        </p:txBody>
      </p:sp>
      <p:sp>
        <p:nvSpPr>
          <p:cNvPr id="3" name="Content Placeholder 2"/>
          <p:cNvSpPr>
            <a:spLocks noGrp="1"/>
          </p:cNvSpPr>
          <p:nvPr>
            <p:ph idx="1"/>
          </p:nvPr>
        </p:nvSpPr>
        <p:spPr>
          <a:xfrm>
            <a:off x="457200" y="836712"/>
            <a:ext cx="8229600" cy="5328592"/>
          </a:xfrm>
        </p:spPr>
        <p:txBody>
          <a:bodyPr>
            <a:normAutofit/>
          </a:bodyPr>
          <a:lstStyle/>
          <a:p>
            <a:pPr marL="182563" indent="-182563"/>
            <a:r>
              <a:rPr lang="en-US" dirty="0"/>
              <a:t>Break up computations involving fluid properties from those that are material parameters, i.e. the saturation functions (careful because of interactions)</a:t>
            </a:r>
          </a:p>
          <a:p>
            <a:pPr marL="182563" indent="-182563"/>
            <a:r>
              <a:rPr lang="en-US" dirty="0"/>
              <a:t>Implement scheme using static polymorphism</a:t>
            </a:r>
          </a:p>
          <a:p>
            <a:pPr marL="182563" indent="-182563"/>
            <a:r>
              <a:rPr lang="en-US" dirty="0"/>
              <a:t>Saturation functions are currently recovered from subclasses of the </a:t>
            </a:r>
            <a:r>
              <a:rPr lang="en-US" b="1" dirty="0" err="1"/>
              <a:t>TwoPhaseModel</a:t>
            </a:r>
            <a:r>
              <a:rPr lang="en-US" dirty="0"/>
              <a:t> (here we will eventually need extensions for 3-phase and perhaps for compressible flow)</a:t>
            </a:r>
          </a:p>
          <a:p>
            <a:pPr marL="182563" indent="-182563"/>
            <a:r>
              <a:rPr lang="en-US" dirty="0"/>
              <a:t>Idea (for element-based material properties):  initialize 2-phase model for element (or specific internal site (=node etc.), then compute terms accessible through interface.</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endParaRPr lang="en-US">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24</a:t>
            </a:fld>
            <a:endParaRPr lang="en-US">
              <a:solidFill>
                <a:prstClr val="white">
                  <a:lumMod val="65000"/>
                </a:prstClr>
              </a:solidFill>
            </a:endParaRPr>
          </a:p>
        </p:txBody>
      </p:sp>
      <p:sp>
        <p:nvSpPr>
          <p:cNvPr id="7" name="TextBox 6"/>
          <p:cNvSpPr txBox="1"/>
          <p:nvPr/>
        </p:nvSpPr>
        <p:spPr>
          <a:xfrm>
            <a:off x="4957629" y="4869160"/>
            <a:ext cx="3729171" cy="369332"/>
          </a:xfrm>
          <a:prstGeom prst="rect">
            <a:avLst/>
          </a:prstGeom>
          <a:noFill/>
        </p:spPr>
        <p:txBody>
          <a:bodyPr wrap="none" rtlCol="0">
            <a:spAutoFit/>
          </a:bodyPr>
          <a:lstStyle/>
          <a:p>
            <a:r>
              <a:rPr lang="en-US" i="1" dirty="0">
                <a:latin typeface="Arial"/>
                <a:cs typeface="Arial"/>
              </a:rPr>
              <a:t>What methods do we really need?</a:t>
            </a:r>
          </a:p>
        </p:txBody>
      </p:sp>
    </p:spTree>
    <p:extLst>
      <p:ext uri="{BB962C8B-B14F-4D97-AF65-F5344CB8AC3E}">
        <p14:creationId xmlns:p14="http://schemas.microsoft.com/office/powerpoint/2010/main" val="1876224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514350" indent="-514350">
              <a:spcBef>
                <a:spcPts val="800"/>
              </a:spcBef>
              <a:spcAft>
                <a:spcPts val="1800"/>
              </a:spcAft>
              <a:buFont typeface="+mj-lt"/>
              <a:buAutoNum type="arabicPeriod"/>
            </a:pPr>
            <a:r>
              <a:rPr lang="en-US" sz="2400" dirty="0"/>
              <a:t>What should be kept from old scheme</a:t>
            </a:r>
          </a:p>
          <a:p>
            <a:pPr marL="400050" lvl="1" indent="0">
              <a:spcBef>
                <a:spcPts val="800"/>
              </a:spcBef>
              <a:spcAft>
                <a:spcPts val="1800"/>
              </a:spcAft>
              <a:buNone/>
            </a:pPr>
            <a:r>
              <a:rPr lang="en-US" sz="2400" dirty="0"/>
              <a:t>		</a:t>
            </a:r>
            <a:r>
              <a:rPr lang="en-US" sz="2400" i="1" dirty="0"/>
              <a:t>and what’s new in CSMP++</a:t>
            </a:r>
          </a:p>
          <a:p>
            <a:pPr marL="514350" indent="-514350">
              <a:spcBef>
                <a:spcPts val="800"/>
              </a:spcBef>
              <a:spcAft>
                <a:spcPts val="1800"/>
              </a:spcAft>
              <a:buFont typeface="+mj-lt"/>
              <a:buAutoNum type="arabicPeriod"/>
            </a:pPr>
            <a:r>
              <a:rPr lang="en-US" sz="2400" b="1" dirty="0"/>
              <a:t>Design specifications and considerations</a:t>
            </a:r>
          </a:p>
          <a:p>
            <a:pPr marL="514350" indent="-514350">
              <a:spcBef>
                <a:spcPts val="800"/>
              </a:spcBef>
              <a:spcAft>
                <a:spcPts val="1800"/>
              </a:spcAft>
              <a:buFont typeface="+mj-lt"/>
              <a:buAutoNum type="arabicPeriod"/>
            </a:pPr>
            <a:r>
              <a:rPr lang="en-US" sz="2400" dirty="0"/>
              <a:t>Phase by phase transport</a:t>
            </a:r>
          </a:p>
          <a:p>
            <a:pPr marL="514350" indent="-514350">
              <a:spcBef>
                <a:spcPts val="800"/>
              </a:spcBef>
              <a:spcAft>
                <a:spcPts val="1800"/>
              </a:spcAft>
              <a:buFont typeface="+mj-lt"/>
              <a:buAutoNum type="arabicPeriod"/>
            </a:pPr>
            <a:r>
              <a:rPr lang="en-US" sz="2400" dirty="0"/>
              <a:t>Design prototype: classes and use-case</a:t>
            </a:r>
          </a:p>
        </p:txBody>
      </p:sp>
      <p:sp>
        <p:nvSpPr>
          <p:cNvPr id="4" name="Date Placeholder 3"/>
          <p:cNvSpPr>
            <a:spLocks noGrp="1"/>
          </p:cNvSpPr>
          <p:nvPr>
            <p:ph type="dt" sz="half" idx="10"/>
          </p:nvPr>
        </p:nvSpPr>
        <p:spPr>
          <a:xfrm>
            <a:off x="35496" y="6492875"/>
            <a:ext cx="3087544" cy="365125"/>
          </a:xfrm>
        </p:spPr>
        <p:txBody>
          <a:bodyPr/>
          <a:lstStyle/>
          <a:p>
            <a:pPr>
              <a:defRPr/>
            </a:pPr>
            <a:r>
              <a:rPr lang="en-US" dirty="0"/>
              <a:t>CSMP Generic Transport Scheme: Agenda</a:t>
            </a:r>
          </a:p>
        </p:txBody>
      </p:sp>
      <p:sp>
        <p:nvSpPr>
          <p:cNvPr id="5" name="Slide Number Placeholder 4"/>
          <p:cNvSpPr>
            <a:spLocks noGrp="1"/>
          </p:cNvSpPr>
          <p:nvPr>
            <p:ph type="sldNum" sz="quarter" idx="12"/>
          </p:nvPr>
        </p:nvSpPr>
        <p:spPr/>
        <p:txBody>
          <a:bodyPr/>
          <a:lstStyle/>
          <a:p>
            <a:fld id="{321305FD-7CE1-C64B-B0A3-F76AC6FEC4D2}" type="slidenum">
              <a:rPr lang="en-US" smtClean="0"/>
              <a:pPr/>
              <a:t>25</a:t>
            </a:fld>
            <a:endParaRPr lang="en-US"/>
          </a:p>
        </p:txBody>
      </p:sp>
    </p:spTree>
    <p:extLst>
      <p:ext uri="{BB962C8B-B14F-4D97-AF65-F5344CB8AC3E}">
        <p14:creationId xmlns:p14="http://schemas.microsoft.com/office/powerpoint/2010/main" val="4120260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1684"/>
            <a:ext cx="8229600" cy="914400"/>
          </a:xfrm>
        </p:spPr>
        <p:txBody>
          <a:bodyPr>
            <a:noAutofit/>
          </a:bodyPr>
          <a:lstStyle/>
          <a:p>
            <a:r>
              <a:rPr lang="en-US" dirty="0"/>
              <a:t>Placement of material properties on the elements; why?</a:t>
            </a:r>
          </a:p>
        </p:txBody>
      </p:sp>
      <p:sp>
        <p:nvSpPr>
          <p:cNvPr id="3" name="Text Placeholder 2"/>
          <p:cNvSpPr>
            <a:spLocks noGrp="1"/>
          </p:cNvSpPr>
          <p:nvPr>
            <p:ph sz="half" idx="1"/>
          </p:nvPr>
        </p:nvSpPr>
        <p:spPr>
          <a:xfrm>
            <a:off x="457200" y="1355082"/>
            <a:ext cx="4038600" cy="5127096"/>
          </a:xfrm>
        </p:spPr>
        <p:txBody>
          <a:bodyPr>
            <a:normAutofit/>
          </a:bodyPr>
          <a:lstStyle/>
          <a:p>
            <a:pPr marL="0" indent="0">
              <a:buNone/>
            </a:pPr>
            <a:r>
              <a:rPr lang="en-US" sz="2800" dirty="0"/>
              <a:t>Element</a:t>
            </a:r>
          </a:p>
          <a:p>
            <a:r>
              <a:rPr lang="en-US" sz="1900" dirty="0"/>
              <a:t>FE mesh can be used to represent material boundaries</a:t>
            </a:r>
          </a:p>
          <a:p>
            <a:r>
              <a:rPr lang="en-US" sz="1900" dirty="0"/>
              <a:t>Saturation at material interfaces makes no physical sense (discontinuities can only be represented with Split Boundaries or FECFVM scheme)</a:t>
            </a:r>
          </a:p>
          <a:p>
            <a:r>
              <a:rPr lang="en-US" sz="1900" dirty="0"/>
              <a:t>For element-centered saturation, upwind direction does not matter</a:t>
            </a:r>
          </a:p>
        </p:txBody>
      </p:sp>
      <p:sp>
        <p:nvSpPr>
          <p:cNvPr id="10" name="Content Placeholder 9"/>
          <p:cNvSpPr>
            <a:spLocks noGrp="1"/>
          </p:cNvSpPr>
          <p:nvPr>
            <p:ph sz="half" idx="2"/>
          </p:nvPr>
        </p:nvSpPr>
        <p:spPr>
          <a:xfrm>
            <a:off x="4648200" y="1355082"/>
            <a:ext cx="4038600" cy="5127096"/>
          </a:xfrm>
        </p:spPr>
        <p:txBody>
          <a:bodyPr>
            <a:normAutofit/>
          </a:bodyPr>
          <a:lstStyle/>
          <a:p>
            <a:pPr marL="0" indent="0">
              <a:buNone/>
            </a:pPr>
            <a:r>
              <a:rPr lang="en-US" sz="2800" strike="sngStrike" dirty="0"/>
              <a:t>Node</a:t>
            </a:r>
          </a:p>
          <a:p>
            <a:r>
              <a:rPr lang="en-US" sz="1900" dirty="0"/>
              <a:t>Material boundaries are blurred and domain volumes cannot be estimated accurately</a:t>
            </a:r>
          </a:p>
          <a:p>
            <a:r>
              <a:rPr lang="en-US" sz="1900" dirty="0"/>
              <a:t>Saturation is physically meaningful even where sharp property gradients exist</a:t>
            </a:r>
          </a:p>
          <a:p>
            <a:r>
              <a:rPr lang="en-US" sz="1900" dirty="0"/>
              <a:t>Transmissibility multipliers are non-physical if different flow laws exist in different domains</a:t>
            </a:r>
          </a:p>
        </p:txBody>
      </p:sp>
      <p:sp>
        <p:nvSpPr>
          <p:cNvPr id="11" name="TextBox 10"/>
          <p:cNvSpPr txBox="1"/>
          <p:nvPr/>
        </p:nvSpPr>
        <p:spPr>
          <a:xfrm>
            <a:off x="746948" y="5719909"/>
            <a:ext cx="7686911" cy="369332"/>
          </a:xfrm>
          <a:prstGeom prst="rect">
            <a:avLst/>
          </a:prstGeom>
          <a:noFill/>
        </p:spPr>
        <p:txBody>
          <a:bodyPr wrap="none" rtlCol="0">
            <a:spAutoFit/>
          </a:bodyPr>
          <a:lstStyle/>
          <a:p>
            <a:r>
              <a:rPr lang="en-US" i="1" dirty="0">
                <a:latin typeface="Arial"/>
                <a:cs typeface="Arial"/>
              </a:rPr>
              <a:t>= Fractured reservoir simulation needs element-based material properties</a:t>
            </a:r>
          </a:p>
        </p:txBody>
      </p:sp>
      <p:sp>
        <p:nvSpPr>
          <p:cNvPr id="12" name="Date Placeholder 3"/>
          <p:cNvSpPr>
            <a:spLocks noGrp="1"/>
          </p:cNvSpPr>
          <p:nvPr>
            <p:ph type="dt" sz="half" idx="2"/>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13"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4"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26</a:t>
            </a:fld>
            <a:endParaRPr lang="en-US" dirty="0">
              <a:solidFill>
                <a:prstClr val="white">
                  <a:lumMod val="65000"/>
                </a:prstClr>
              </a:solidFill>
              <a:ea typeface="+mn-ea"/>
            </a:endParaRPr>
          </a:p>
        </p:txBody>
      </p:sp>
    </p:spTree>
    <p:extLst>
      <p:ext uri="{BB962C8B-B14F-4D97-AF65-F5344CB8AC3E}">
        <p14:creationId xmlns:p14="http://schemas.microsoft.com/office/powerpoint/2010/main" val="2321535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57200" y="0"/>
            <a:ext cx="8229600" cy="620688"/>
          </a:xfrm>
        </p:spPr>
        <p:txBody>
          <a:bodyPr/>
          <a:lstStyle/>
          <a:p>
            <a:r>
              <a:rPr lang="en-US" dirty="0"/>
              <a:t>Variable storage needs</a:t>
            </a:r>
          </a:p>
        </p:txBody>
      </p:sp>
      <p:sp>
        <p:nvSpPr>
          <p:cNvPr id="9" name="Content Placeholder 8"/>
          <p:cNvSpPr>
            <a:spLocks noGrp="1"/>
          </p:cNvSpPr>
          <p:nvPr>
            <p:ph idx="1"/>
          </p:nvPr>
        </p:nvSpPr>
        <p:spPr>
          <a:xfrm>
            <a:off x="457200" y="548680"/>
            <a:ext cx="8229600" cy="5581831"/>
          </a:xfrm>
        </p:spPr>
        <p:txBody>
          <a:bodyPr>
            <a:noAutofit/>
          </a:bodyPr>
          <a:lstStyle/>
          <a:p>
            <a:pPr marL="0" indent="0">
              <a:spcBef>
                <a:spcPts val="100"/>
              </a:spcBef>
              <a:spcAft>
                <a:spcPts val="600"/>
              </a:spcAft>
              <a:buNone/>
            </a:pPr>
            <a:r>
              <a:rPr lang="en-US" sz="1600" dirty="0"/>
              <a:t>For higher order store at different time levels (in one step or by repeated accumulation):</a:t>
            </a:r>
          </a:p>
          <a:p>
            <a:pPr>
              <a:spcBef>
                <a:spcPts val="100"/>
              </a:spcBef>
              <a:spcAft>
                <a:spcPts val="600"/>
              </a:spcAft>
            </a:pPr>
            <a:r>
              <a:rPr lang="en-US" sz="1600" dirty="0">
                <a:solidFill>
                  <a:srgbClr val="000090"/>
                </a:solidFill>
              </a:rPr>
              <a:t>finite volumes (placement NODE):</a:t>
            </a:r>
          </a:p>
          <a:p>
            <a:pPr lvl="1">
              <a:spcBef>
                <a:spcPts val="100"/>
              </a:spcBef>
              <a:spcAft>
                <a:spcPts val="600"/>
              </a:spcAft>
            </a:pPr>
            <a:r>
              <a:rPr lang="en-US" sz="1600" dirty="0"/>
              <a:t>Integrated pore volume -&gt; SCALAR</a:t>
            </a:r>
          </a:p>
          <a:p>
            <a:pPr lvl="1">
              <a:spcBef>
                <a:spcPts val="100"/>
              </a:spcBef>
              <a:spcAft>
                <a:spcPts val="600"/>
              </a:spcAft>
            </a:pPr>
            <a:r>
              <a:rPr lang="en-US" sz="1600" dirty="0"/>
              <a:t>Divergence of total velocity -&gt; SCALAR</a:t>
            </a:r>
          </a:p>
          <a:p>
            <a:pPr lvl="1">
              <a:spcBef>
                <a:spcPts val="100"/>
              </a:spcBef>
              <a:spcAft>
                <a:spcPts val="600"/>
              </a:spcAft>
            </a:pPr>
            <a:r>
              <a:rPr lang="en-US" sz="1600" dirty="0"/>
              <a:t>Sources or sinks -&gt; SCALAR</a:t>
            </a:r>
          </a:p>
          <a:p>
            <a:pPr lvl="1">
              <a:spcBef>
                <a:spcPts val="100"/>
              </a:spcBef>
              <a:spcAft>
                <a:spcPts val="600"/>
              </a:spcAft>
            </a:pPr>
            <a:r>
              <a:rPr lang="en-US" sz="1600" dirty="0"/>
              <a:t>Saturations / concentrations -&gt; ARRAY</a:t>
            </a:r>
          </a:p>
          <a:p>
            <a:pPr lvl="1">
              <a:spcBef>
                <a:spcPts val="100"/>
              </a:spcBef>
              <a:spcAft>
                <a:spcPts val="600"/>
              </a:spcAft>
            </a:pPr>
            <a:r>
              <a:rPr lang="en-US" sz="1600" dirty="0"/>
              <a:t>Saturation gradient (for higher order scheme) -&gt; VECTOR</a:t>
            </a:r>
          </a:p>
          <a:p>
            <a:pPr lvl="1">
              <a:spcBef>
                <a:spcPts val="100"/>
              </a:spcBef>
              <a:spcAft>
                <a:spcPts val="600"/>
              </a:spcAft>
            </a:pPr>
            <a:r>
              <a:rPr lang="en-US" sz="1600" dirty="0"/>
              <a:t>Inflow versus outflow in the presence of sources and sinks -&gt; SCALAR</a:t>
            </a:r>
          </a:p>
          <a:p>
            <a:pPr lvl="1">
              <a:spcBef>
                <a:spcPts val="100"/>
              </a:spcBef>
              <a:spcAft>
                <a:spcPts val="600"/>
              </a:spcAft>
            </a:pPr>
            <a:r>
              <a:rPr lang="en-US" sz="1600" dirty="0"/>
              <a:t>CFL ?</a:t>
            </a:r>
          </a:p>
          <a:p>
            <a:pPr>
              <a:spcBef>
                <a:spcPts val="100"/>
              </a:spcBef>
              <a:spcAft>
                <a:spcPts val="600"/>
              </a:spcAft>
            </a:pPr>
            <a:r>
              <a:rPr lang="en-US" sz="1600" dirty="0">
                <a:solidFill>
                  <a:srgbClr val="000090"/>
                </a:solidFill>
              </a:rPr>
              <a:t>facets:</a:t>
            </a:r>
          </a:p>
          <a:p>
            <a:pPr lvl="1">
              <a:spcBef>
                <a:spcPts val="100"/>
              </a:spcBef>
              <a:spcAft>
                <a:spcPts val="600"/>
              </a:spcAft>
            </a:pPr>
            <a:r>
              <a:rPr lang="en-US" sz="1600" dirty="0"/>
              <a:t>combined phase and components fluxes</a:t>
            </a:r>
          </a:p>
          <a:p>
            <a:pPr lvl="1">
              <a:spcBef>
                <a:spcPts val="100"/>
              </a:spcBef>
              <a:spcAft>
                <a:spcPts val="600"/>
              </a:spcAft>
            </a:pPr>
            <a:r>
              <a:rPr lang="en-US" sz="1600" dirty="0"/>
              <a:t>phase velocities  </a:t>
            </a:r>
          </a:p>
          <a:p>
            <a:pPr>
              <a:spcBef>
                <a:spcPts val="100"/>
              </a:spcBef>
              <a:spcAft>
                <a:spcPts val="600"/>
              </a:spcAft>
            </a:pPr>
            <a:r>
              <a:rPr lang="en-US" sz="1600" dirty="0">
                <a:solidFill>
                  <a:srgbClr val="000090"/>
                </a:solidFill>
              </a:rPr>
              <a:t>elements:</a:t>
            </a:r>
          </a:p>
          <a:p>
            <a:pPr lvl="1">
              <a:spcBef>
                <a:spcPts val="100"/>
              </a:spcBef>
              <a:spcAft>
                <a:spcPts val="600"/>
              </a:spcAft>
            </a:pPr>
            <a:r>
              <a:rPr lang="en-US" sz="1600" dirty="0"/>
              <a:t>total velocity -&gt; VECTOR</a:t>
            </a:r>
          </a:p>
          <a:p>
            <a:pPr lvl="1">
              <a:spcBef>
                <a:spcPts val="100"/>
              </a:spcBef>
              <a:spcAft>
                <a:spcPts val="600"/>
              </a:spcAft>
            </a:pPr>
            <a:r>
              <a:rPr lang="en-US" sz="1600" dirty="0"/>
              <a:t>diffusivities</a:t>
            </a:r>
          </a:p>
          <a:p>
            <a:pPr lvl="1">
              <a:spcBef>
                <a:spcPts val="100"/>
              </a:spcBef>
              <a:spcAft>
                <a:spcPts val="600"/>
              </a:spcAft>
            </a:pPr>
            <a:r>
              <a:rPr lang="en-US" sz="1600" dirty="0"/>
              <a:t>sector porosity and pore volumes</a:t>
            </a:r>
          </a:p>
          <a:p>
            <a:pPr lvl="1">
              <a:spcBef>
                <a:spcPts val="100"/>
              </a:spcBef>
              <a:spcAft>
                <a:spcPts val="600"/>
              </a:spcAft>
            </a:pPr>
            <a:r>
              <a:rPr lang="en-US" sz="1600" dirty="0"/>
              <a:t>sector source terms (for FEM equations)</a:t>
            </a:r>
          </a:p>
          <a:p>
            <a:pPr lvl="1">
              <a:spcBef>
                <a:spcPts val="100"/>
              </a:spcBef>
              <a:spcAft>
                <a:spcPts val="600"/>
              </a:spcAft>
            </a:pPr>
            <a:r>
              <a:rPr lang="en-US" sz="1600" dirty="0"/>
              <a:t>constitutive relationships</a:t>
            </a: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12"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27</a:t>
            </a:fld>
            <a:endParaRPr lang="en-US" dirty="0">
              <a:solidFill>
                <a:prstClr val="white">
                  <a:lumMod val="65000"/>
                </a:prstClr>
              </a:solidFill>
              <a:ea typeface="+mn-ea"/>
            </a:endParaRPr>
          </a:p>
        </p:txBody>
      </p:sp>
      <p:sp>
        <p:nvSpPr>
          <p:cNvPr id="13"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Tree>
    <p:extLst>
      <p:ext uri="{BB962C8B-B14F-4D97-AF65-F5344CB8AC3E}">
        <p14:creationId xmlns:p14="http://schemas.microsoft.com/office/powerpoint/2010/main" val="750890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514350" indent="-514350">
              <a:spcBef>
                <a:spcPts val="800"/>
              </a:spcBef>
              <a:spcAft>
                <a:spcPts val="1800"/>
              </a:spcAft>
              <a:buFont typeface="+mj-lt"/>
              <a:buAutoNum type="arabicPeriod"/>
            </a:pPr>
            <a:r>
              <a:rPr lang="en-US" sz="2400" dirty="0"/>
              <a:t>What should be kept from old scheme</a:t>
            </a:r>
          </a:p>
          <a:p>
            <a:pPr marL="400050" lvl="1" indent="0">
              <a:spcBef>
                <a:spcPts val="800"/>
              </a:spcBef>
              <a:spcAft>
                <a:spcPts val="1800"/>
              </a:spcAft>
              <a:buNone/>
            </a:pPr>
            <a:r>
              <a:rPr lang="en-US" sz="2400" dirty="0"/>
              <a:t>		</a:t>
            </a:r>
            <a:r>
              <a:rPr lang="en-US" sz="2400" i="1" dirty="0"/>
              <a:t>and what’s new in CSMP++</a:t>
            </a:r>
          </a:p>
          <a:p>
            <a:pPr marL="514350" indent="-514350">
              <a:spcBef>
                <a:spcPts val="800"/>
              </a:spcBef>
              <a:spcAft>
                <a:spcPts val="1800"/>
              </a:spcAft>
              <a:buFont typeface="+mj-lt"/>
              <a:buAutoNum type="arabicPeriod"/>
            </a:pPr>
            <a:r>
              <a:rPr lang="en-US" sz="2400" dirty="0"/>
              <a:t>Design specifications and considerations</a:t>
            </a:r>
          </a:p>
          <a:p>
            <a:pPr marL="514350" indent="-514350">
              <a:spcBef>
                <a:spcPts val="800"/>
              </a:spcBef>
              <a:spcAft>
                <a:spcPts val="1800"/>
              </a:spcAft>
              <a:buFont typeface="+mj-lt"/>
              <a:buAutoNum type="arabicPeriod"/>
            </a:pPr>
            <a:r>
              <a:rPr lang="en-US" sz="2400" b="1" dirty="0"/>
              <a:t>Phase by phase transport</a:t>
            </a:r>
          </a:p>
          <a:p>
            <a:pPr marL="514350" indent="-514350">
              <a:spcBef>
                <a:spcPts val="800"/>
              </a:spcBef>
              <a:spcAft>
                <a:spcPts val="1800"/>
              </a:spcAft>
              <a:buFont typeface="+mj-lt"/>
              <a:buAutoNum type="arabicPeriod"/>
            </a:pPr>
            <a:r>
              <a:rPr lang="en-US" sz="2400" dirty="0"/>
              <a:t>Design prototyping: classes and use-cases</a:t>
            </a:r>
          </a:p>
        </p:txBody>
      </p:sp>
      <p:sp>
        <p:nvSpPr>
          <p:cNvPr id="4" name="Date Placeholder 3"/>
          <p:cNvSpPr>
            <a:spLocks noGrp="1"/>
          </p:cNvSpPr>
          <p:nvPr>
            <p:ph type="dt" sz="half" idx="10"/>
          </p:nvPr>
        </p:nvSpPr>
        <p:spPr>
          <a:xfrm>
            <a:off x="35496" y="6492875"/>
            <a:ext cx="3087544" cy="365125"/>
          </a:xfrm>
        </p:spPr>
        <p:txBody>
          <a:bodyPr/>
          <a:lstStyle/>
          <a:p>
            <a:pPr>
              <a:defRPr/>
            </a:pPr>
            <a:r>
              <a:rPr lang="en-US" dirty="0"/>
              <a:t>CSMP Generic Transport Scheme: Agenda</a:t>
            </a:r>
          </a:p>
        </p:txBody>
      </p:sp>
      <p:sp>
        <p:nvSpPr>
          <p:cNvPr id="5" name="Slide Number Placeholder 4"/>
          <p:cNvSpPr>
            <a:spLocks noGrp="1"/>
          </p:cNvSpPr>
          <p:nvPr>
            <p:ph type="sldNum" sz="quarter" idx="12"/>
          </p:nvPr>
        </p:nvSpPr>
        <p:spPr/>
        <p:txBody>
          <a:bodyPr/>
          <a:lstStyle/>
          <a:p>
            <a:fld id="{321305FD-7CE1-C64B-B0A3-F76AC6FEC4D2}" type="slidenum">
              <a:rPr lang="en-US" smtClean="0"/>
              <a:pPr/>
              <a:t>28</a:t>
            </a:fld>
            <a:endParaRPr lang="en-US"/>
          </a:p>
        </p:txBody>
      </p:sp>
    </p:spTree>
    <p:extLst>
      <p:ext uri="{BB962C8B-B14F-4D97-AF65-F5344CB8AC3E}">
        <p14:creationId xmlns:p14="http://schemas.microsoft.com/office/powerpoint/2010/main" val="570150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31178" y="44624"/>
            <a:ext cx="8686800" cy="914400"/>
          </a:xfrm>
        </p:spPr>
        <p:txBody>
          <a:bodyPr>
            <a:noAutofit/>
          </a:bodyPr>
          <a:lstStyle/>
          <a:p>
            <a:r>
              <a:rPr lang="en-US" sz="2400" dirty="0"/>
              <a:t>New goal: phase-by-phase component transport scheme with support for component exchange among phases</a:t>
            </a:r>
          </a:p>
        </p:txBody>
      </p:sp>
      <p:sp>
        <p:nvSpPr>
          <p:cNvPr id="9" name="Content Placeholder 8"/>
          <p:cNvSpPr>
            <a:spLocks noGrp="1"/>
          </p:cNvSpPr>
          <p:nvPr>
            <p:ph idx="1"/>
          </p:nvPr>
        </p:nvSpPr>
        <p:spPr>
          <a:xfrm>
            <a:off x="457200" y="980728"/>
            <a:ext cx="8229600" cy="5188307"/>
          </a:xfrm>
        </p:spPr>
        <p:txBody>
          <a:bodyPr>
            <a:noAutofit/>
          </a:bodyPr>
          <a:lstStyle/>
          <a:p>
            <a:pPr marL="0" indent="0">
              <a:buNone/>
            </a:pPr>
            <a:r>
              <a:rPr lang="en-US" sz="1800" dirty="0"/>
              <a:t>(Isochoric transfer among phases is accomplished by EOS classes; diffusion terms are computed by finite element operators accumulated into same solution matrix as terms from implicit version of transport scheme)</a:t>
            </a:r>
          </a:p>
          <a:p>
            <a:r>
              <a:rPr lang="en-US" sz="1800" dirty="0"/>
              <a:t>Computations needed (first and second-order in space):</a:t>
            </a:r>
          </a:p>
          <a:p>
            <a:pPr lvl="1"/>
            <a:r>
              <a:rPr lang="en-US" sz="1800" dirty="0"/>
              <a:t>CFL time increment or else whichever applicable; else predictor-corrector saturation change or inflow vs. outflow (for instance, when source terms dominate)</a:t>
            </a:r>
          </a:p>
          <a:p>
            <a:pPr lvl="1"/>
            <a:r>
              <a:rPr lang="en-US" sz="1800" dirty="0"/>
              <a:t>upwind direction (combined: </a:t>
            </a:r>
            <a:r>
              <a:rPr lang="en-US" sz="1800" dirty="0" err="1"/>
              <a:t>capillary+diffusion+transport</a:t>
            </a:r>
            <a:r>
              <a:rPr lang="en-US" sz="1800" dirty="0"/>
              <a:t>)</a:t>
            </a:r>
          </a:p>
          <a:p>
            <a:pPr lvl="1"/>
            <a:r>
              <a:rPr lang="en-US" sz="1800" dirty="0"/>
              <a:t>upwind saturation range </a:t>
            </a:r>
          </a:p>
          <a:p>
            <a:pPr lvl="1"/>
            <a:r>
              <a:rPr lang="en-US" sz="1800" dirty="0"/>
              <a:t>advection terms</a:t>
            </a:r>
          </a:p>
          <a:p>
            <a:pPr lvl="1"/>
            <a:r>
              <a:rPr lang="en-US" sz="1800" dirty="0"/>
              <a:t>node-centered saturation gradients (or </a:t>
            </a:r>
            <a:r>
              <a:rPr lang="en-US" sz="1800" dirty="0" err="1"/>
              <a:t>bijective</a:t>
            </a:r>
            <a:r>
              <a:rPr lang="en-US" sz="1800" dirty="0"/>
              <a:t> mapping (Matthai et al. 2009, TIPM; check!)</a:t>
            </a:r>
          </a:p>
          <a:p>
            <a:pPr lvl="1"/>
            <a:r>
              <a:rPr lang="en-US" sz="1800" dirty="0"/>
              <a:t>source terms (</a:t>
            </a:r>
            <a:r>
              <a:rPr lang="en-US" sz="1800" dirty="0" err="1"/>
              <a:t>upwinded</a:t>
            </a:r>
            <a:r>
              <a:rPr lang="en-US" sz="1800" dirty="0"/>
              <a:t> or not)</a:t>
            </a:r>
          </a:p>
          <a:p>
            <a:pPr lvl="1"/>
            <a:r>
              <a:rPr lang="en-US" sz="1800" dirty="0"/>
              <a:t>storage terms</a:t>
            </a:r>
          </a:p>
          <a:p>
            <a:pPr lvl="1"/>
            <a:r>
              <a:rPr lang="en-US" sz="1800" dirty="0"/>
              <a:t>limiter(s)</a:t>
            </a: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29</a:t>
            </a:fld>
            <a:endParaRPr lang="en-US" dirty="0">
              <a:solidFill>
                <a:prstClr val="white">
                  <a:lumMod val="65000"/>
                </a:prstClr>
              </a:solidFill>
              <a:ea typeface="+mn-ea"/>
            </a:endParaRPr>
          </a:p>
        </p:txBody>
      </p:sp>
    </p:spTree>
    <p:extLst>
      <p:ext uri="{BB962C8B-B14F-4D97-AF65-F5344CB8AC3E}">
        <p14:creationId xmlns:p14="http://schemas.microsoft.com/office/powerpoint/2010/main" val="646397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a:bodyPr>
          <a:lstStyle/>
          <a:p>
            <a:r>
              <a:rPr lang="en-US" sz="2800" dirty="0"/>
              <a:t>Implemented vs. conceptual functionality</a:t>
            </a:r>
          </a:p>
        </p:txBody>
      </p:sp>
      <p:sp>
        <p:nvSpPr>
          <p:cNvPr id="3" name="Content Placeholder 2"/>
          <p:cNvSpPr>
            <a:spLocks noGrp="1"/>
          </p:cNvSpPr>
          <p:nvPr>
            <p:ph idx="1"/>
          </p:nvPr>
        </p:nvSpPr>
        <p:spPr>
          <a:xfrm>
            <a:off x="457200" y="548680"/>
            <a:ext cx="8229600" cy="5272492"/>
          </a:xfrm>
        </p:spPr>
        <p:txBody>
          <a:bodyPr>
            <a:noAutofit/>
          </a:bodyPr>
          <a:lstStyle/>
          <a:p>
            <a:pPr marL="182563" indent="-182563">
              <a:spcBef>
                <a:spcPts val="100"/>
              </a:spcBef>
              <a:spcAft>
                <a:spcPts val="500"/>
              </a:spcAft>
            </a:pPr>
            <a:r>
              <a:rPr lang="en-US" sz="1600" dirty="0">
                <a:solidFill>
                  <a:srgbClr val="008000"/>
                </a:solidFill>
              </a:rPr>
              <a:t>Calculating and updating porosity, pore volume, facet area and normal </a:t>
            </a:r>
          </a:p>
          <a:p>
            <a:pPr marL="182563" indent="-182563">
              <a:spcBef>
                <a:spcPts val="100"/>
              </a:spcBef>
              <a:spcAft>
                <a:spcPts val="500"/>
              </a:spcAft>
            </a:pPr>
            <a:r>
              <a:rPr lang="en-US" sz="1600" dirty="0">
                <a:solidFill>
                  <a:srgbClr val="008000"/>
                </a:solidFill>
              </a:rPr>
              <a:t>Read / store / range check / projections of variables</a:t>
            </a:r>
          </a:p>
          <a:p>
            <a:pPr marL="182563" indent="-182563">
              <a:spcBef>
                <a:spcPts val="100"/>
              </a:spcBef>
              <a:spcAft>
                <a:spcPts val="500"/>
              </a:spcAft>
            </a:pPr>
            <a:r>
              <a:rPr lang="en-US" sz="1600" dirty="0">
                <a:solidFill>
                  <a:srgbClr val="008000"/>
                </a:solidFill>
              </a:rPr>
              <a:t>Determine upwind nodes</a:t>
            </a:r>
          </a:p>
          <a:p>
            <a:pPr marL="182563" indent="-182563">
              <a:spcBef>
                <a:spcPts val="100"/>
              </a:spcBef>
              <a:spcAft>
                <a:spcPts val="500"/>
              </a:spcAft>
            </a:pPr>
            <a:r>
              <a:rPr lang="en-US" sz="1600" dirty="0">
                <a:solidFill>
                  <a:srgbClr val="008000"/>
                </a:solidFill>
              </a:rPr>
              <a:t>Calculate CFL </a:t>
            </a:r>
            <a:r>
              <a:rPr lang="en-US" sz="1600" dirty="0"/>
              <a:t>or any other special requirements on time-step size</a:t>
            </a:r>
            <a:endParaRPr lang="en-US" sz="1600" dirty="0">
              <a:solidFill>
                <a:srgbClr val="008000"/>
              </a:solidFill>
            </a:endParaRPr>
          </a:p>
          <a:p>
            <a:pPr marL="182563" indent="-182563">
              <a:spcBef>
                <a:spcPts val="100"/>
              </a:spcBef>
              <a:spcAft>
                <a:spcPts val="500"/>
              </a:spcAft>
            </a:pPr>
            <a:r>
              <a:rPr lang="en-US" sz="1600" dirty="0">
                <a:solidFill>
                  <a:srgbClr val="008000"/>
                </a:solidFill>
              </a:rPr>
              <a:t>Mass balance</a:t>
            </a:r>
          </a:p>
          <a:p>
            <a:pPr marL="182563" indent="-182563">
              <a:spcBef>
                <a:spcPts val="100"/>
              </a:spcBef>
              <a:spcAft>
                <a:spcPts val="500"/>
              </a:spcAft>
            </a:pPr>
            <a:r>
              <a:rPr lang="en-US" sz="1600" dirty="0"/>
              <a:t>Scaling n components and m phases</a:t>
            </a:r>
          </a:p>
          <a:p>
            <a:pPr marL="182563" indent="-182563">
              <a:spcBef>
                <a:spcPts val="100"/>
              </a:spcBef>
              <a:spcAft>
                <a:spcPts val="500"/>
              </a:spcAft>
            </a:pPr>
            <a:r>
              <a:rPr lang="en-US" sz="1600" dirty="0"/>
              <a:t>Calculating components</a:t>
            </a:r>
          </a:p>
          <a:p>
            <a:pPr marL="182563" indent="-182563">
              <a:spcBef>
                <a:spcPts val="100"/>
              </a:spcBef>
              <a:spcAft>
                <a:spcPts val="500"/>
              </a:spcAft>
            </a:pPr>
            <a:r>
              <a:rPr lang="en-US" sz="1600" dirty="0">
                <a:solidFill>
                  <a:srgbClr val="FF6600"/>
                </a:solidFill>
              </a:rPr>
              <a:t>Determine and store facet fluxes</a:t>
            </a:r>
          </a:p>
          <a:p>
            <a:pPr marL="182563" indent="-182563">
              <a:spcBef>
                <a:spcPts val="100"/>
              </a:spcBef>
              <a:spcAft>
                <a:spcPts val="500"/>
              </a:spcAft>
            </a:pPr>
            <a:r>
              <a:rPr lang="en-US" sz="1600" dirty="0">
                <a:solidFill>
                  <a:srgbClr val="FF6600"/>
                </a:solidFill>
              </a:rPr>
              <a:t>Sector-based volume source and sink terms, stored on sector integration points</a:t>
            </a:r>
          </a:p>
          <a:p>
            <a:pPr marL="182563" indent="-182563">
              <a:spcBef>
                <a:spcPts val="100"/>
              </a:spcBef>
              <a:spcAft>
                <a:spcPts val="500"/>
              </a:spcAft>
            </a:pPr>
            <a:r>
              <a:rPr lang="en-US" sz="1600" dirty="0">
                <a:solidFill>
                  <a:srgbClr val="FF6600"/>
                </a:solidFill>
              </a:rPr>
              <a:t>Accumulation of fluxes</a:t>
            </a:r>
          </a:p>
          <a:p>
            <a:pPr marL="182563" indent="-182563">
              <a:spcBef>
                <a:spcPts val="100"/>
              </a:spcBef>
              <a:spcAft>
                <a:spcPts val="500"/>
              </a:spcAft>
            </a:pPr>
            <a:r>
              <a:rPr lang="en-US" sz="1600" dirty="0" err="1">
                <a:solidFill>
                  <a:srgbClr val="FF6600"/>
                </a:solidFill>
              </a:rPr>
              <a:t>SaturationFunction</a:t>
            </a:r>
            <a:r>
              <a:rPr lang="en-US" sz="1600" dirty="0">
                <a:solidFill>
                  <a:srgbClr val="FF6600"/>
                </a:solidFill>
              </a:rPr>
              <a:t> should be made specific to Region instances</a:t>
            </a:r>
          </a:p>
          <a:p>
            <a:pPr marL="182563" indent="-182563">
              <a:spcBef>
                <a:spcPts val="100"/>
              </a:spcBef>
              <a:spcAft>
                <a:spcPts val="500"/>
              </a:spcAft>
            </a:pPr>
            <a:r>
              <a:rPr lang="en-US" sz="1600" dirty="0">
                <a:solidFill>
                  <a:srgbClr val="FF6600"/>
                </a:solidFill>
              </a:rPr>
              <a:t>Time-discretization (implicit, explicit, first/second order)</a:t>
            </a:r>
          </a:p>
          <a:p>
            <a:pPr marL="182563" indent="-182563">
              <a:spcBef>
                <a:spcPts val="100"/>
              </a:spcBef>
              <a:spcAft>
                <a:spcPts val="500"/>
              </a:spcAft>
            </a:pPr>
            <a:r>
              <a:rPr lang="en-US" sz="1600" dirty="0">
                <a:solidFill>
                  <a:srgbClr val="FF6600"/>
                </a:solidFill>
              </a:rPr>
              <a:t>Iterations (e.g. </a:t>
            </a:r>
            <a:r>
              <a:rPr lang="en-US" sz="1600" dirty="0"/>
              <a:t>Newton</a:t>
            </a:r>
            <a:r>
              <a:rPr lang="en-US" sz="1600" dirty="0">
                <a:solidFill>
                  <a:srgbClr val="FF6600"/>
                </a:solidFill>
              </a:rPr>
              <a:t>)</a:t>
            </a:r>
          </a:p>
          <a:p>
            <a:pPr marL="182563" indent="-182563">
              <a:spcBef>
                <a:spcPts val="100"/>
              </a:spcBef>
              <a:spcAft>
                <a:spcPts val="500"/>
              </a:spcAft>
            </a:pPr>
            <a:r>
              <a:rPr lang="en-US" sz="1600" dirty="0">
                <a:solidFill>
                  <a:srgbClr val="FF6600"/>
                </a:solidFill>
              </a:rPr>
              <a:t>Higher-order in space</a:t>
            </a:r>
          </a:p>
          <a:p>
            <a:pPr marL="182563" indent="-182563">
              <a:spcBef>
                <a:spcPts val="100"/>
              </a:spcBef>
              <a:spcAft>
                <a:spcPts val="500"/>
              </a:spcAft>
            </a:pPr>
            <a:r>
              <a:rPr lang="en-US" sz="1600" dirty="0">
                <a:solidFill>
                  <a:srgbClr val="FF6600"/>
                </a:solidFill>
              </a:rPr>
              <a:t>Limiting</a:t>
            </a:r>
          </a:p>
          <a:p>
            <a:pPr marL="182563" indent="-182563">
              <a:spcBef>
                <a:spcPts val="100"/>
              </a:spcBef>
              <a:spcAft>
                <a:spcPts val="500"/>
              </a:spcAft>
            </a:pPr>
            <a:r>
              <a:rPr lang="en-US" sz="1600" b="1" dirty="0">
                <a:solidFill>
                  <a:srgbClr val="0000FF"/>
                </a:solidFill>
              </a:rPr>
              <a:t>Transport calculations in parametric space !!!</a:t>
            </a:r>
          </a:p>
          <a:p>
            <a:pPr marL="182563" indent="-182563">
              <a:spcBef>
                <a:spcPts val="100"/>
              </a:spcBef>
              <a:spcAft>
                <a:spcPts val="500"/>
              </a:spcAft>
            </a:pPr>
            <a:r>
              <a:rPr lang="en-US" sz="1600" dirty="0"/>
              <a:t>Boundary conditions</a:t>
            </a:r>
          </a:p>
          <a:p>
            <a:pPr marL="182563" indent="-182563">
              <a:spcBef>
                <a:spcPts val="100"/>
              </a:spcBef>
              <a:spcAft>
                <a:spcPts val="500"/>
              </a:spcAft>
            </a:pPr>
            <a:r>
              <a:rPr lang="en-US" sz="1600" dirty="0"/>
              <a:t>Additional physics/chemistry</a:t>
            </a:r>
          </a:p>
          <a:p>
            <a:pPr marL="182563" indent="-182563">
              <a:spcBef>
                <a:spcPts val="100"/>
              </a:spcBef>
              <a:spcAft>
                <a:spcPts val="500"/>
              </a:spcAft>
            </a:pPr>
            <a:r>
              <a:rPr lang="en-US" sz="1600" dirty="0"/>
              <a:t>Access and configuration of the </a:t>
            </a:r>
            <a:r>
              <a:rPr lang="en-US" sz="1600" dirty="0" err="1"/>
              <a:t>SAMG_Solver</a:t>
            </a:r>
            <a:r>
              <a:rPr lang="en-US" sz="1600" dirty="0"/>
              <a:t> from the outside</a:t>
            </a:r>
          </a:p>
          <a:p>
            <a:pPr>
              <a:spcBef>
                <a:spcPts val="100"/>
              </a:spcBef>
              <a:spcAft>
                <a:spcPts val="500"/>
              </a:spcAft>
            </a:pPr>
            <a:endParaRPr lang="en-US" sz="1600" dirty="0"/>
          </a:p>
        </p:txBody>
      </p:sp>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30</a:t>
            </a:fld>
            <a:endParaRPr lang="en-US" dirty="0">
              <a:solidFill>
                <a:prstClr val="white">
                  <a:lumMod val="65000"/>
                </a:prstClr>
              </a:solidFill>
              <a:ea typeface="+mn-ea"/>
            </a:endParaRPr>
          </a:p>
        </p:txBody>
      </p:sp>
    </p:spTree>
    <p:extLst>
      <p:ext uri="{BB962C8B-B14F-4D97-AF65-F5344CB8AC3E}">
        <p14:creationId xmlns:p14="http://schemas.microsoft.com/office/powerpoint/2010/main" val="41326142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considerations</a:t>
            </a:r>
          </a:p>
        </p:txBody>
      </p:sp>
      <p:sp>
        <p:nvSpPr>
          <p:cNvPr id="3" name="Content Placeholder 2"/>
          <p:cNvSpPr>
            <a:spLocks noGrp="1"/>
          </p:cNvSpPr>
          <p:nvPr>
            <p:ph idx="1"/>
          </p:nvPr>
        </p:nvSpPr>
        <p:spPr>
          <a:xfrm>
            <a:off x="457200" y="764704"/>
            <a:ext cx="8229600" cy="5728171"/>
          </a:xfrm>
        </p:spPr>
        <p:txBody>
          <a:bodyPr>
            <a:normAutofit lnSpcReduction="10000"/>
          </a:bodyPr>
          <a:lstStyle/>
          <a:p>
            <a:r>
              <a:rPr lang="en-US" dirty="0"/>
              <a:t>Whatever we do on the facets and FVs has a great impact on speed!</a:t>
            </a:r>
          </a:p>
          <a:p>
            <a:r>
              <a:rPr lang="en-US" dirty="0"/>
              <a:t>To avoid iffy code, interior domains should be visited first, then their boundaries separately</a:t>
            </a:r>
          </a:p>
          <a:p>
            <a:r>
              <a:rPr lang="en-US" dirty="0"/>
              <a:t>Formulation should be extensible for DES implementation</a:t>
            </a:r>
          </a:p>
          <a:p>
            <a:r>
              <a:rPr lang="en-US" dirty="0"/>
              <a:t>FV visitation mode has a great impact on speed: element-by-element means that facets are only visited once, but may not be possible in higher-order scheme when node-centered saturation gradients are used in the flux approximation</a:t>
            </a:r>
          </a:p>
          <a:p>
            <a:r>
              <a:rPr lang="en-US" dirty="0"/>
              <a:t>Facet flux computations should be </a:t>
            </a:r>
            <a:r>
              <a:rPr lang="en-US" dirty="0" err="1"/>
              <a:t>dissassembled</a:t>
            </a:r>
            <a:r>
              <a:rPr lang="en-US" dirty="0"/>
              <a:t> and </a:t>
            </a:r>
            <a:r>
              <a:rPr lang="en-US" dirty="0" err="1"/>
              <a:t>recombineable</a:t>
            </a:r>
            <a:r>
              <a:rPr lang="en-US" dirty="0"/>
              <a:t> in a flexible way</a:t>
            </a:r>
          </a:p>
          <a:p>
            <a:r>
              <a:rPr lang="en-US" dirty="0"/>
              <a:t>The framework should be flexible enough to quickly implement all kinds of methods</a:t>
            </a:r>
          </a:p>
          <a:p>
            <a:r>
              <a:rPr lang="en-US" dirty="0"/>
              <a:t>CFL computations based on local shock speed (=element property), only work if the gravitational component of flow is small because shock speed is different in up- or down-dip flow</a:t>
            </a:r>
          </a:p>
        </p:txBody>
      </p:sp>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31</a:t>
            </a:fld>
            <a:endParaRPr lang="en-US" dirty="0">
              <a:solidFill>
                <a:prstClr val="white">
                  <a:lumMod val="65000"/>
                </a:prstClr>
              </a:solidFill>
              <a:ea typeface="+mn-ea"/>
            </a:endParaRPr>
          </a:p>
        </p:txBody>
      </p:sp>
    </p:spTree>
    <p:extLst>
      <p:ext uri="{BB962C8B-B14F-4D97-AF65-F5344CB8AC3E}">
        <p14:creationId xmlns:p14="http://schemas.microsoft.com/office/powerpoint/2010/main" val="1804918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pPr marL="514350" indent="-514350">
              <a:spcBef>
                <a:spcPts val="800"/>
              </a:spcBef>
              <a:spcAft>
                <a:spcPts val="1800"/>
              </a:spcAft>
              <a:buFont typeface="+mj-lt"/>
              <a:buAutoNum type="arabicPeriod"/>
            </a:pPr>
            <a:r>
              <a:rPr lang="en-US" sz="2400" dirty="0"/>
              <a:t>What should be kept from old scheme</a:t>
            </a:r>
          </a:p>
          <a:p>
            <a:pPr marL="400050" lvl="1" indent="0">
              <a:spcBef>
                <a:spcPts val="800"/>
              </a:spcBef>
              <a:spcAft>
                <a:spcPts val="1800"/>
              </a:spcAft>
              <a:buNone/>
            </a:pPr>
            <a:r>
              <a:rPr lang="en-US" sz="2400" dirty="0"/>
              <a:t>		</a:t>
            </a:r>
            <a:r>
              <a:rPr lang="en-US" sz="2400" i="1" dirty="0"/>
              <a:t>and what’s new in CSMP++</a:t>
            </a:r>
          </a:p>
          <a:p>
            <a:pPr marL="514350" indent="-514350">
              <a:spcBef>
                <a:spcPts val="800"/>
              </a:spcBef>
              <a:spcAft>
                <a:spcPts val="1800"/>
              </a:spcAft>
              <a:buFont typeface="+mj-lt"/>
              <a:buAutoNum type="arabicPeriod"/>
            </a:pPr>
            <a:r>
              <a:rPr lang="en-US" sz="2400" dirty="0"/>
              <a:t>Design specifications and considerations</a:t>
            </a:r>
          </a:p>
          <a:p>
            <a:pPr marL="514350" indent="-514350">
              <a:spcBef>
                <a:spcPts val="800"/>
              </a:spcBef>
              <a:spcAft>
                <a:spcPts val="1800"/>
              </a:spcAft>
              <a:buFont typeface="+mj-lt"/>
              <a:buAutoNum type="arabicPeriod"/>
            </a:pPr>
            <a:r>
              <a:rPr lang="en-US" sz="2400" dirty="0"/>
              <a:t>Phase by phase transport</a:t>
            </a:r>
          </a:p>
          <a:p>
            <a:pPr marL="514350" indent="-514350">
              <a:spcBef>
                <a:spcPts val="800"/>
              </a:spcBef>
              <a:spcAft>
                <a:spcPts val="1800"/>
              </a:spcAft>
              <a:buFont typeface="+mj-lt"/>
              <a:buAutoNum type="arabicPeriod"/>
            </a:pPr>
            <a:r>
              <a:rPr lang="en-US" sz="2400" b="1" dirty="0"/>
              <a:t>Design prototype: classes and use-case</a:t>
            </a:r>
          </a:p>
        </p:txBody>
      </p:sp>
      <p:sp>
        <p:nvSpPr>
          <p:cNvPr id="4" name="Date Placeholder 3"/>
          <p:cNvSpPr>
            <a:spLocks noGrp="1"/>
          </p:cNvSpPr>
          <p:nvPr>
            <p:ph type="dt" sz="half" idx="10"/>
          </p:nvPr>
        </p:nvSpPr>
        <p:spPr>
          <a:xfrm>
            <a:off x="35496" y="6492875"/>
            <a:ext cx="3087544" cy="365125"/>
          </a:xfrm>
        </p:spPr>
        <p:txBody>
          <a:bodyPr/>
          <a:lstStyle/>
          <a:p>
            <a:pPr>
              <a:defRPr/>
            </a:pPr>
            <a:r>
              <a:rPr lang="en-US" dirty="0"/>
              <a:t>CSMP Generic Transport Scheme: Agenda</a:t>
            </a:r>
          </a:p>
        </p:txBody>
      </p:sp>
      <p:sp>
        <p:nvSpPr>
          <p:cNvPr id="5" name="Slide Number Placeholder 4"/>
          <p:cNvSpPr>
            <a:spLocks noGrp="1"/>
          </p:cNvSpPr>
          <p:nvPr>
            <p:ph type="sldNum" sz="quarter" idx="12"/>
          </p:nvPr>
        </p:nvSpPr>
        <p:spPr/>
        <p:txBody>
          <a:bodyPr/>
          <a:lstStyle/>
          <a:p>
            <a:fld id="{321305FD-7CE1-C64B-B0A3-F76AC6FEC4D2}" type="slidenum">
              <a:rPr lang="en-US" smtClean="0"/>
              <a:pPr/>
              <a:t>32</a:t>
            </a:fld>
            <a:endParaRPr lang="en-US"/>
          </a:p>
        </p:txBody>
      </p:sp>
    </p:spTree>
    <p:extLst>
      <p:ext uri="{BB962C8B-B14F-4D97-AF65-F5344CB8AC3E}">
        <p14:creationId xmlns:p14="http://schemas.microsoft.com/office/powerpoint/2010/main" val="17098923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lstStyle/>
          <a:p>
            <a:r>
              <a:rPr lang="en-US" dirty="0"/>
              <a:t>Layout 1 (class diagram)</a:t>
            </a:r>
          </a:p>
        </p:txBody>
      </p:sp>
      <p:sp>
        <p:nvSpPr>
          <p:cNvPr id="3" name="Date Placeholder 2"/>
          <p:cNvSpPr>
            <a:spLocks noGrp="1"/>
          </p:cNvSpPr>
          <p:nvPr>
            <p:ph type="dt" sz="half" idx="10"/>
          </p:nvPr>
        </p:nvSpPr>
        <p:spPr/>
        <p:txBody>
          <a:bodyPr/>
          <a:lstStyle/>
          <a:p>
            <a:fld id="{C1762EE7-3E26-8344-9AFB-A62088F617B5}" type="datetime1">
              <a:rPr lang="en-US" smtClean="0"/>
              <a:pPr/>
              <a:t>3/17/19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33</a:t>
            </a:fld>
            <a:endParaRPr lang="en-US"/>
          </a:p>
        </p:txBody>
      </p:sp>
      <p:pic>
        <p:nvPicPr>
          <p:cNvPr id="6" name="Picture 5"/>
          <p:cNvPicPr>
            <a:picLocks noChangeAspect="1"/>
          </p:cNvPicPr>
          <p:nvPr/>
        </p:nvPicPr>
        <p:blipFill>
          <a:blip r:embed="rId2"/>
          <a:stretch>
            <a:fillRect/>
          </a:stretch>
        </p:blipFill>
        <p:spPr>
          <a:xfrm>
            <a:off x="131507" y="764704"/>
            <a:ext cx="8904989" cy="5544616"/>
          </a:xfrm>
          <a:prstGeom prst="rect">
            <a:avLst/>
          </a:prstGeom>
        </p:spPr>
      </p:pic>
    </p:spTree>
    <p:extLst>
      <p:ext uri="{BB962C8B-B14F-4D97-AF65-F5344CB8AC3E}">
        <p14:creationId xmlns:p14="http://schemas.microsoft.com/office/powerpoint/2010/main" val="2949177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Layout 2</a:t>
            </a:r>
          </a:p>
        </p:txBody>
      </p:sp>
      <p:sp>
        <p:nvSpPr>
          <p:cNvPr id="3" name="Date Placeholder 2"/>
          <p:cNvSpPr>
            <a:spLocks noGrp="1"/>
          </p:cNvSpPr>
          <p:nvPr>
            <p:ph type="dt" sz="half" idx="10"/>
          </p:nvPr>
        </p:nvSpPr>
        <p:spPr/>
        <p:txBody>
          <a:bodyPr/>
          <a:lstStyle/>
          <a:p>
            <a:fld id="{C1762EE7-3E26-8344-9AFB-A62088F617B5}" type="datetime1">
              <a:rPr lang="en-US" smtClean="0"/>
              <a:pPr/>
              <a:t>3/17/19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34</a:t>
            </a:fld>
            <a:endParaRPr lang="en-US"/>
          </a:p>
        </p:txBody>
      </p:sp>
      <p:pic>
        <p:nvPicPr>
          <p:cNvPr id="6" name="Picture 5"/>
          <p:cNvPicPr>
            <a:picLocks noChangeAspect="1"/>
          </p:cNvPicPr>
          <p:nvPr/>
        </p:nvPicPr>
        <p:blipFill>
          <a:blip r:embed="rId2"/>
          <a:stretch>
            <a:fillRect/>
          </a:stretch>
        </p:blipFill>
        <p:spPr>
          <a:xfrm>
            <a:off x="804664" y="764704"/>
            <a:ext cx="7727776" cy="5829726"/>
          </a:xfrm>
          <a:prstGeom prst="rect">
            <a:avLst/>
          </a:prstGeom>
        </p:spPr>
      </p:pic>
    </p:spTree>
    <p:extLst>
      <p:ext uri="{BB962C8B-B14F-4D97-AF65-F5344CB8AC3E}">
        <p14:creationId xmlns:p14="http://schemas.microsoft.com/office/powerpoint/2010/main" val="15535004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20688"/>
          </a:xfrm>
        </p:spPr>
        <p:txBody>
          <a:bodyPr/>
          <a:lstStyle/>
          <a:p>
            <a:r>
              <a:rPr lang="en-US" dirty="0"/>
              <a:t>Layout 3: Assembly of FVM equations</a:t>
            </a:r>
          </a:p>
        </p:txBody>
      </p:sp>
      <p:sp>
        <p:nvSpPr>
          <p:cNvPr id="3" name="Date Placeholder 2"/>
          <p:cNvSpPr>
            <a:spLocks noGrp="1"/>
          </p:cNvSpPr>
          <p:nvPr>
            <p:ph type="dt" sz="half" idx="10"/>
          </p:nvPr>
        </p:nvSpPr>
        <p:spPr/>
        <p:txBody>
          <a:bodyPr/>
          <a:lstStyle/>
          <a:p>
            <a:fld id="{C1762EE7-3E26-8344-9AFB-A62088F617B5}" type="datetime1">
              <a:rPr lang="en-US" smtClean="0"/>
              <a:pPr/>
              <a:t>3/17/19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FD816-CC6A-BF43-8241-637E3E7EAA5A}" type="slidenum">
              <a:rPr lang="en-US" smtClean="0"/>
              <a:pPr/>
              <a:t>35</a:t>
            </a:fld>
            <a:endParaRPr lang="en-US"/>
          </a:p>
        </p:txBody>
      </p:sp>
      <p:pic>
        <p:nvPicPr>
          <p:cNvPr id="6" name="Picture 5"/>
          <p:cNvPicPr>
            <a:picLocks noChangeAspect="1"/>
          </p:cNvPicPr>
          <p:nvPr/>
        </p:nvPicPr>
        <p:blipFill>
          <a:blip r:embed="rId2"/>
          <a:stretch>
            <a:fillRect/>
          </a:stretch>
        </p:blipFill>
        <p:spPr>
          <a:xfrm>
            <a:off x="1499604" y="620688"/>
            <a:ext cx="7248860" cy="2910323"/>
          </a:xfrm>
          <a:prstGeom prst="rect">
            <a:avLst/>
          </a:prstGeom>
        </p:spPr>
      </p:pic>
      <p:pic>
        <p:nvPicPr>
          <p:cNvPr id="7" name="Picture 6"/>
          <p:cNvPicPr>
            <a:picLocks noChangeAspect="1"/>
          </p:cNvPicPr>
          <p:nvPr/>
        </p:nvPicPr>
        <p:blipFill>
          <a:blip r:embed="rId3"/>
          <a:stretch>
            <a:fillRect/>
          </a:stretch>
        </p:blipFill>
        <p:spPr>
          <a:xfrm>
            <a:off x="2117006" y="3946149"/>
            <a:ext cx="6631458" cy="2624365"/>
          </a:xfrm>
          <a:prstGeom prst="rect">
            <a:avLst/>
          </a:prstGeom>
        </p:spPr>
      </p:pic>
      <p:sp>
        <p:nvSpPr>
          <p:cNvPr id="8" name="TextBox 7"/>
          <p:cNvSpPr txBox="1"/>
          <p:nvPr/>
        </p:nvSpPr>
        <p:spPr>
          <a:xfrm>
            <a:off x="323528" y="1124744"/>
            <a:ext cx="783388" cy="461665"/>
          </a:xfrm>
          <a:prstGeom prst="rect">
            <a:avLst/>
          </a:prstGeom>
          <a:noFill/>
        </p:spPr>
        <p:txBody>
          <a:bodyPr wrap="none" rtlCol="0">
            <a:spAutoFit/>
          </a:bodyPr>
          <a:lstStyle/>
          <a:p>
            <a:r>
              <a:rPr lang="en-US" sz="2400" dirty="0">
                <a:latin typeface="Arial"/>
                <a:cs typeface="Arial"/>
              </a:rPr>
              <a:t>LHS</a:t>
            </a:r>
          </a:p>
        </p:txBody>
      </p:sp>
      <p:sp>
        <p:nvSpPr>
          <p:cNvPr id="9" name="TextBox 8"/>
          <p:cNvSpPr txBox="1"/>
          <p:nvPr/>
        </p:nvSpPr>
        <p:spPr>
          <a:xfrm>
            <a:off x="395536" y="4293096"/>
            <a:ext cx="834483" cy="461665"/>
          </a:xfrm>
          <a:prstGeom prst="rect">
            <a:avLst/>
          </a:prstGeom>
          <a:noFill/>
        </p:spPr>
        <p:txBody>
          <a:bodyPr wrap="none" rtlCol="0">
            <a:spAutoFit/>
          </a:bodyPr>
          <a:lstStyle/>
          <a:p>
            <a:r>
              <a:rPr lang="en-US" sz="2400" dirty="0">
                <a:latin typeface="Arial"/>
                <a:cs typeface="Arial"/>
              </a:rPr>
              <a:t>RHS</a:t>
            </a:r>
          </a:p>
        </p:txBody>
      </p:sp>
    </p:spTree>
    <p:extLst>
      <p:ext uri="{BB962C8B-B14F-4D97-AF65-F5344CB8AC3E}">
        <p14:creationId xmlns:p14="http://schemas.microsoft.com/office/powerpoint/2010/main" val="2212040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classes?</a:t>
            </a:r>
          </a:p>
        </p:txBody>
      </p:sp>
      <p:sp>
        <p:nvSpPr>
          <p:cNvPr id="7" name="TextBox 6"/>
          <p:cNvSpPr txBox="1"/>
          <p:nvPr/>
        </p:nvSpPr>
        <p:spPr>
          <a:xfrm>
            <a:off x="272340" y="719600"/>
            <a:ext cx="4248472" cy="5262980"/>
          </a:xfrm>
          <a:prstGeom prst="rect">
            <a:avLst/>
          </a:prstGeom>
          <a:noFill/>
        </p:spPr>
        <p:txBody>
          <a:bodyPr wrap="square" rtlCol="0">
            <a:spAutoFit/>
          </a:bodyPr>
          <a:lstStyle/>
          <a:p>
            <a:r>
              <a:rPr lang="en-US" sz="1600" b="1" dirty="0" err="1">
                <a:latin typeface="Arial"/>
                <a:cs typeface="Arial"/>
              </a:rPr>
              <a:t>FiniteVolumeManager</a:t>
            </a:r>
            <a:endParaRPr lang="en-US" sz="1600" b="1" dirty="0">
              <a:latin typeface="Arial"/>
              <a:cs typeface="Arial"/>
            </a:endParaRPr>
          </a:p>
          <a:p>
            <a:endParaRPr lang="en-US" sz="1600" b="1" dirty="0">
              <a:latin typeface="Arial"/>
              <a:cs typeface="Arial"/>
            </a:endParaRPr>
          </a:p>
          <a:p>
            <a:r>
              <a:rPr lang="en-US" sz="1600" b="1" dirty="0" err="1">
                <a:latin typeface="Arial"/>
                <a:cs typeface="Arial"/>
              </a:rPr>
              <a:t>SaturationFunctions</a:t>
            </a:r>
            <a:endParaRPr lang="en-US" sz="1600" b="1" dirty="0">
              <a:latin typeface="Arial"/>
              <a:cs typeface="Arial"/>
            </a:endParaRPr>
          </a:p>
          <a:p>
            <a:pPr marL="285750" indent="-285750">
              <a:buFont typeface="Arial" pitchFamily="34" charset="0"/>
              <a:buChar char="•"/>
            </a:pPr>
            <a:r>
              <a:rPr lang="en-US" sz="1600" dirty="0" err="1">
                <a:latin typeface="Arial"/>
                <a:cs typeface="Arial"/>
              </a:rPr>
              <a:t>relperms</a:t>
            </a:r>
            <a:r>
              <a:rPr lang="en-US" sz="1600" dirty="0">
                <a:latin typeface="Arial"/>
                <a:cs typeface="Arial"/>
              </a:rPr>
              <a:t>, etc.</a:t>
            </a:r>
          </a:p>
          <a:p>
            <a:pPr marL="285750" indent="-285750">
              <a:buFont typeface="Arial" pitchFamily="34" charset="0"/>
              <a:buChar char="•"/>
            </a:pPr>
            <a:r>
              <a:rPr lang="en-US" sz="1600" dirty="0" err="1">
                <a:latin typeface="Arial"/>
                <a:cs typeface="Arial"/>
              </a:rPr>
              <a:t>mobilities</a:t>
            </a:r>
            <a:endParaRPr lang="en-US" sz="1600" dirty="0">
              <a:latin typeface="Arial"/>
              <a:cs typeface="Arial"/>
            </a:endParaRPr>
          </a:p>
          <a:p>
            <a:pPr marL="285750" indent="-285750">
              <a:buFont typeface="Arial" pitchFamily="34" charset="0"/>
              <a:buChar char="•"/>
            </a:pPr>
            <a:endParaRPr lang="en-US" sz="1600" b="1" dirty="0">
              <a:latin typeface="Arial"/>
              <a:cs typeface="Arial"/>
            </a:endParaRPr>
          </a:p>
          <a:p>
            <a:r>
              <a:rPr lang="en-US" sz="1600" b="1" dirty="0">
                <a:latin typeface="Arial"/>
                <a:cs typeface="Arial"/>
              </a:rPr>
              <a:t>Fluid Properties</a:t>
            </a:r>
          </a:p>
          <a:p>
            <a:endParaRPr lang="en-US" sz="1600" b="1" dirty="0">
              <a:latin typeface="Arial"/>
              <a:cs typeface="Arial"/>
            </a:endParaRPr>
          </a:p>
          <a:p>
            <a:r>
              <a:rPr lang="en-US" sz="1600" b="1" dirty="0" err="1">
                <a:latin typeface="Arial"/>
                <a:cs typeface="Arial"/>
              </a:rPr>
              <a:t>GenericGradientCalculator</a:t>
            </a:r>
            <a:endParaRPr lang="en-US" sz="1600" b="1" dirty="0">
              <a:latin typeface="Arial"/>
              <a:cs typeface="Arial"/>
            </a:endParaRPr>
          </a:p>
          <a:p>
            <a:endParaRPr lang="en-US" sz="1600" dirty="0">
              <a:latin typeface="Arial"/>
              <a:cs typeface="Arial"/>
            </a:endParaRPr>
          </a:p>
          <a:p>
            <a:r>
              <a:rPr lang="en-US" sz="1600" b="1" dirty="0" err="1">
                <a:latin typeface="Arial"/>
                <a:cs typeface="Arial"/>
              </a:rPr>
              <a:t>TimeIncrement</a:t>
            </a:r>
            <a:r>
              <a:rPr lang="en-US" sz="1600" dirty="0">
                <a:latin typeface="Arial"/>
                <a:cs typeface="Arial"/>
              </a:rPr>
              <a:t> class</a:t>
            </a:r>
          </a:p>
          <a:p>
            <a:pPr marL="285750" indent="-285750">
              <a:buFont typeface="Arial" pitchFamily="34" charset="0"/>
              <a:buChar char="•"/>
            </a:pPr>
            <a:r>
              <a:rPr lang="en-US" sz="1600" dirty="0">
                <a:latin typeface="Arial"/>
                <a:cs typeface="Arial"/>
              </a:rPr>
              <a:t>Calculate CFL or other criteria</a:t>
            </a:r>
          </a:p>
          <a:p>
            <a:pPr marL="285750" indent="-285750">
              <a:buFont typeface="Arial" pitchFamily="34" charset="0"/>
              <a:buChar char="•"/>
            </a:pPr>
            <a:r>
              <a:rPr lang="en-US" sz="1600" dirty="0">
                <a:latin typeface="Arial"/>
                <a:cs typeface="Arial"/>
              </a:rPr>
              <a:t>Mass Balance</a:t>
            </a:r>
          </a:p>
          <a:p>
            <a:pPr marL="285750" indent="-285750">
              <a:buFont typeface="Arial" pitchFamily="34" charset="0"/>
              <a:buChar char="•"/>
            </a:pPr>
            <a:r>
              <a:rPr lang="en-US" sz="1600" dirty="0">
                <a:latin typeface="Arial"/>
                <a:cs typeface="Arial"/>
              </a:rPr>
              <a:t>Volume Based</a:t>
            </a:r>
          </a:p>
          <a:p>
            <a:pPr marL="285750" indent="-285750">
              <a:buFont typeface="Arial" pitchFamily="34" charset="0"/>
              <a:buChar char="•"/>
            </a:pPr>
            <a:r>
              <a:rPr lang="en-US" sz="1600" dirty="0">
                <a:latin typeface="Arial"/>
                <a:cs typeface="Arial"/>
              </a:rPr>
              <a:t>Time-discretization (implicit, explicit, first/second order)</a:t>
            </a:r>
          </a:p>
          <a:p>
            <a:endParaRPr lang="en-US" sz="1600" dirty="0">
              <a:latin typeface="Arial"/>
              <a:cs typeface="Arial"/>
            </a:endParaRPr>
          </a:p>
          <a:p>
            <a:endParaRPr lang="en-US" sz="1600" dirty="0">
              <a:latin typeface="Arial"/>
              <a:cs typeface="Arial"/>
            </a:endParaRPr>
          </a:p>
          <a:p>
            <a:r>
              <a:rPr lang="en-US" sz="1600" i="1" dirty="0">
                <a:latin typeface="Arial"/>
                <a:cs typeface="Arial"/>
              </a:rPr>
              <a:t>To be carried out and managed by </a:t>
            </a:r>
            <a:r>
              <a:rPr lang="en-US" sz="1600" b="1" i="1" dirty="0">
                <a:latin typeface="Arial"/>
                <a:cs typeface="Arial"/>
              </a:rPr>
              <a:t>Model</a:t>
            </a:r>
          </a:p>
          <a:p>
            <a:pPr marL="285750" indent="-285750">
              <a:buFont typeface="Arial" pitchFamily="34" charset="0"/>
              <a:buChar char="•"/>
            </a:pPr>
            <a:r>
              <a:rPr lang="en-US" sz="1600" dirty="0">
                <a:latin typeface="Arial"/>
                <a:cs typeface="Arial"/>
              </a:rPr>
              <a:t>If geometry changes, update porosity, pore volume, facet area and facet normal</a:t>
            </a:r>
          </a:p>
        </p:txBody>
      </p:sp>
      <p:sp>
        <p:nvSpPr>
          <p:cNvPr id="8" name="Rectangle 7"/>
          <p:cNvSpPr/>
          <p:nvPr/>
        </p:nvSpPr>
        <p:spPr>
          <a:xfrm>
            <a:off x="4951283" y="129981"/>
            <a:ext cx="3672408" cy="6986530"/>
          </a:xfrm>
          <a:prstGeom prst="rect">
            <a:avLst/>
          </a:prstGeom>
        </p:spPr>
        <p:txBody>
          <a:bodyPr wrap="square">
            <a:spAutoFit/>
          </a:bodyPr>
          <a:lstStyle/>
          <a:p>
            <a:r>
              <a:rPr lang="en-US" sz="1600" b="1" dirty="0">
                <a:latin typeface="Arial"/>
                <a:cs typeface="Arial"/>
              </a:rPr>
              <a:t>EOS </a:t>
            </a:r>
          </a:p>
          <a:p>
            <a:endParaRPr lang="en-US" sz="1600" dirty="0">
              <a:latin typeface="Arial"/>
              <a:cs typeface="Arial"/>
            </a:endParaRPr>
          </a:p>
          <a:p>
            <a:r>
              <a:rPr lang="en-US" sz="1600" dirty="0">
                <a:latin typeface="Arial"/>
                <a:cs typeface="Arial"/>
              </a:rPr>
              <a:t>Additional physics/chemistry</a:t>
            </a:r>
          </a:p>
          <a:p>
            <a:endParaRPr lang="en-US" sz="1600" dirty="0">
              <a:latin typeface="Arial"/>
              <a:cs typeface="Arial"/>
            </a:endParaRPr>
          </a:p>
          <a:p>
            <a:r>
              <a:rPr lang="en-US" sz="1600" b="1" dirty="0" err="1">
                <a:latin typeface="Arial"/>
                <a:cs typeface="Arial"/>
              </a:rPr>
              <a:t>InteriorProcessor</a:t>
            </a:r>
            <a:r>
              <a:rPr lang="en-US" sz="1600" dirty="0">
                <a:latin typeface="Arial"/>
                <a:cs typeface="Arial"/>
              </a:rPr>
              <a:t> (base class)</a:t>
            </a:r>
          </a:p>
          <a:p>
            <a:r>
              <a:rPr lang="en-US" sz="1600" dirty="0">
                <a:latin typeface="Arial"/>
                <a:cs typeface="Arial"/>
              </a:rPr>
              <a:t>Accumulation (LHS?)</a:t>
            </a:r>
          </a:p>
          <a:p>
            <a:r>
              <a:rPr lang="en-US" sz="1600" b="1" dirty="0" err="1">
                <a:latin typeface="Arial"/>
                <a:cs typeface="Arial"/>
              </a:rPr>
              <a:t>BoundaryProcessor</a:t>
            </a:r>
            <a:r>
              <a:rPr lang="en-US" sz="1600" dirty="0">
                <a:latin typeface="Arial"/>
                <a:cs typeface="Arial"/>
              </a:rPr>
              <a:t> (base class)</a:t>
            </a:r>
          </a:p>
          <a:p>
            <a:r>
              <a:rPr lang="en-US" sz="1600" dirty="0">
                <a:latin typeface="Arial"/>
                <a:cs typeface="Arial"/>
              </a:rPr>
              <a:t>Accumulation (RHS?)</a:t>
            </a:r>
          </a:p>
          <a:p>
            <a:endParaRPr lang="en-US" sz="1600" b="1" dirty="0">
              <a:latin typeface="Arial"/>
              <a:cs typeface="Arial"/>
            </a:endParaRPr>
          </a:p>
          <a:p>
            <a:r>
              <a:rPr lang="en-US" sz="1600" b="1" dirty="0" err="1">
                <a:latin typeface="Arial"/>
                <a:cs typeface="Arial"/>
              </a:rPr>
              <a:t>FacetFlux</a:t>
            </a:r>
            <a:endParaRPr lang="en-US" sz="1600" b="1" dirty="0">
              <a:latin typeface="Arial"/>
              <a:cs typeface="Arial"/>
            </a:endParaRPr>
          </a:p>
          <a:p>
            <a:pPr marL="285750" indent="-285750">
              <a:buFont typeface="Arial" pitchFamily="34" charset="0"/>
              <a:buChar char="•"/>
            </a:pPr>
            <a:r>
              <a:rPr lang="en-US" sz="1600" dirty="0">
                <a:latin typeface="Arial"/>
                <a:cs typeface="Arial"/>
              </a:rPr>
              <a:t>Calculating components</a:t>
            </a:r>
          </a:p>
          <a:p>
            <a:pPr marL="285750" indent="-285750">
              <a:buFont typeface="Arial" pitchFamily="34" charset="0"/>
              <a:buChar char="•"/>
            </a:pPr>
            <a:r>
              <a:rPr lang="en-US" sz="1600" dirty="0">
                <a:latin typeface="Arial"/>
                <a:cs typeface="Arial"/>
              </a:rPr>
              <a:t>Determine and store facet fluxes</a:t>
            </a:r>
          </a:p>
          <a:p>
            <a:pPr marL="285750" indent="-285750">
              <a:buFontTx/>
              <a:buChar char="-"/>
            </a:pPr>
            <a:endParaRPr lang="en-US" sz="1600" dirty="0">
              <a:latin typeface="Arial"/>
              <a:cs typeface="Arial"/>
            </a:endParaRPr>
          </a:p>
          <a:p>
            <a:r>
              <a:rPr lang="en-US" sz="1600" b="1" dirty="0">
                <a:latin typeface="Arial"/>
                <a:cs typeface="Arial"/>
              </a:rPr>
              <a:t>Explicit</a:t>
            </a:r>
          </a:p>
          <a:p>
            <a:pPr marL="285750" indent="-285750">
              <a:buFont typeface="Arial" pitchFamily="34" charset="0"/>
              <a:buChar char="•"/>
            </a:pPr>
            <a:r>
              <a:rPr lang="en-US" sz="1600" dirty="0">
                <a:latin typeface="Arial"/>
                <a:cs typeface="Arial"/>
              </a:rPr>
              <a:t>Accumulation of fluxes to vector</a:t>
            </a:r>
          </a:p>
          <a:p>
            <a:pPr marL="285750" indent="-285750">
              <a:buFont typeface="Arial" pitchFamily="34" charset="0"/>
              <a:buChar char="•"/>
            </a:pPr>
            <a:r>
              <a:rPr lang="en-US" sz="1600" dirty="0">
                <a:latin typeface="Arial"/>
                <a:cs typeface="Arial"/>
              </a:rPr>
              <a:t>Accumulation of sources to vector</a:t>
            </a:r>
          </a:p>
          <a:p>
            <a:pPr marL="285750" indent="-285750">
              <a:buFont typeface="Arial" pitchFamily="34" charset="0"/>
              <a:buChar char="•"/>
            </a:pPr>
            <a:r>
              <a:rPr lang="en-US" sz="1600" dirty="0">
                <a:latin typeface="Arial"/>
                <a:cs typeface="Arial"/>
              </a:rPr>
              <a:t>Add fluxes and sources</a:t>
            </a:r>
          </a:p>
          <a:p>
            <a:pPr marL="285750" indent="-285750">
              <a:buFont typeface="Arial" pitchFamily="34" charset="0"/>
              <a:buChar char="•"/>
            </a:pPr>
            <a:r>
              <a:rPr lang="en-US" sz="1600" dirty="0">
                <a:latin typeface="Arial"/>
                <a:cs typeface="Arial"/>
              </a:rPr>
              <a:t>Higher-order in space</a:t>
            </a:r>
          </a:p>
          <a:p>
            <a:pPr marL="285750" indent="-285750">
              <a:buFont typeface="Arial" pitchFamily="34" charset="0"/>
              <a:buChar char="•"/>
            </a:pPr>
            <a:r>
              <a:rPr lang="en-US" sz="1600" dirty="0">
                <a:latin typeface="Arial"/>
                <a:cs typeface="Arial"/>
              </a:rPr>
              <a:t>Limiting</a:t>
            </a:r>
          </a:p>
          <a:p>
            <a:pPr marL="285750" indent="-285750">
              <a:buFontTx/>
              <a:buChar char="-"/>
            </a:pPr>
            <a:endParaRPr lang="en-US" sz="1600" dirty="0">
              <a:latin typeface="Arial"/>
              <a:cs typeface="Arial"/>
            </a:endParaRPr>
          </a:p>
          <a:p>
            <a:r>
              <a:rPr lang="en-US" sz="1600" b="1" dirty="0">
                <a:latin typeface="Arial"/>
                <a:cs typeface="Arial"/>
              </a:rPr>
              <a:t>Implicit</a:t>
            </a:r>
            <a:r>
              <a:rPr lang="en-US" sz="1600" dirty="0">
                <a:latin typeface="Arial"/>
                <a:cs typeface="Arial"/>
              </a:rPr>
              <a:t> (RHS vs. LHS accumulations)</a:t>
            </a:r>
          </a:p>
          <a:p>
            <a:pPr marL="285750" indent="-285750">
              <a:buFont typeface="Arial" pitchFamily="34" charset="0"/>
              <a:buChar char="•"/>
            </a:pPr>
            <a:r>
              <a:rPr lang="en-US" sz="1600" dirty="0">
                <a:latin typeface="Arial"/>
                <a:cs typeface="Arial"/>
              </a:rPr>
              <a:t>Accumulation order</a:t>
            </a:r>
          </a:p>
          <a:p>
            <a:pPr marL="285750" indent="-285750">
              <a:buFont typeface="Arial" pitchFamily="34" charset="0"/>
              <a:buChar char="•"/>
            </a:pPr>
            <a:r>
              <a:rPr lang="en-US" sz="1600" dirty="0">
                <a:latin typeface="Arial"/>
                <a:cs typeface="Arial"/>
              </a:rPr>
              <a:t>Accumulation of fluxes to matrix</a:t>
            </a:r>
          </a:p>
          <a:p>
            <a:pPr marL="285750" indent="-285750">
              <a:buFont typeface="Arial" pitchFamily="34" charset="0"/>
              <a:buChar char="•"/>
            </a:pPr>
            <a:r>
              <a:rPr lang="en-US" sz="1600" dirty="0">
                <a:latin typeface="Arial"/>
                <a:cs typeface="Arial"/>
              </a:rPr>
              <a:t>Accumulation of sources to matrix</a:t>
            </a:r>
          </a:p>
          <a:p>
            <a:pPr marL="285750" indent="-285750">
              <a:buFont typeface="Arial" pitchFamily="34" charset="0"/>
              <a:buChar char="•"/>
            </a:pPr>
            <a:r>
              <a:rPr lang="en-US" sz="1600" dirty="0">
                <a:latin typeface="Arial"/>
                <a:cs typeface="Arial"/>
              </a:rPr>
              <a:t>Iterations (e.g. Newton)</a:t>
            </a:r>
          </a:p>
          <a:p>
            <a:pPr marL="285750" indent="-285750">
              <a:buFont typeface="Arial" pitchFamily="34" charset="0"/>
              <a:buChar char="•"/>
            </a:pPr>
            <a:r>
              <a:rPr lang="en-US" sz="1600" dirty="0">
                <a:latin typeface="Arial"/>
                <a:cs typeface="Arial"/>
              </a:rPr>
              <a:t>Solver / SAMG</a:t>
            </a:r>
          </a:p>
          <a:p>
            <a:pPr marL="742950" lvl="1" indent="-285750">
              <a:buFontTx/>
              <a:buChar char="-"/>
            </a:pPr>
            <a:endParaRPr lang="en-US" sz="1600" dirty="0">
              <a:latin typeface="Arial"/>
              <a:cs typeface="Arial"/>
            </a:endParaRPr>
          </a:p>
          <a:p>
            <a:pPr marL="742950" lvl="1" indent="-285750">
              <a:buFontTx/>
              <a:buChar char="-"/>
            </a:pPr>
            <a:endParaRPr lang="de-CH" sz="1600" dirty="0">
              <a:latin typeface="Arial"/>
              <a:cs typeface="Arial"/>
            </a:endParaRPr>
          </a:p>
        </p:txBody>
      </p:sp>
      <p:sp>
        <p:nvSpPr>
          <p:cNvPr id="9"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10"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1"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36</a:t>
            </a:fld>
            <a:endParaRPr lang="en-US" dirty="0">
              <a:solidFill>
                <a:prstClr val="white">
                  <a:lumMod val="65000"/>
                </a:prstClr>
              </a:solidFill>
              <a:ea typeface="+mn-ea"/>
            </a:endParaRPr>
          </a:p>
        </p:txBody>
      </p:sp>
    </p:spTree>
    <p:extLst>
      <p:ext uri="{BB962C8B-B14F-4D97-AF65-F5344CB8AC3E}">
        <p14:creationId xmlns:p14="http://schemas.microsoft.com/office/powerpoint/2010/main" val="1643877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Classes – envisaged at </a:t>
            </a:r>
            <a:r>
              <a:rPr lang="en-US" dirty="0" err="1"/>
              <a:t>Colleoli</a:t>
            </a:r>
            <a:r>
              <a:rPr lang="en-US" dirty="0"/>
              <a:t> Workshop</a:t>
            </a:r>
          </a:p>
        </p:txBody>
      </p:sp>
      <p:sp>
        <p:nvSpPr>
          <p:cNvPr id="3" name="Content Placeholder 2"/>
          <p:cNvSpPr>
            <a:spLocks noGrp="1"/>
          </p:cNvSpPr>
          <p:nvPr>
            <p:ph idx="1"/>
          </p:nvPr>
        </p:nvSpPr>
        <p:spPr/>
        <p:txBody>
          <a:bodyPr>
            <a:normAutofit/>
          </a:bodyPr>
          <a:lstStyle/>
          <a:p>
            <a:r>
              <a:rPr lang="en-US" dirty="0" err="1"/>
              <a:t>SaturationFunction</a:t>
            </a:r>
            <a:r>
              <a:rPr lang="en-US" dirty="0"/>
              <a:t> – relative permeability and capillary pressure</a:t>
            </a:r>
          </a:p>
          <a:p>
            <a:r>
              <a:rPr lang="en-US" dirty="0" err="1"/>
              <a:t>FluidProperties</a:t>
            </a:r>
            <a:r>
              <a:rPr lang="en-US" dirty="0"/>
              <a:t> – fluid properties, speciation, phases, components</a:t>
            </a:r>
          </a:p>
          <a:p>
            <a:r>
              <a:rPr lang="en-US" dirty="0" err="1"/>
              <a:t>GenericPropertyGradient</a:t>
            </a:r>
            <a:r>
              <a:rPr lang="en-US" dirty="0"/>
              <a:t> – FV centered gradients</a:t>
            </a:r>
          </a:p>
          <a:p>
            <a:r>
              <a:rPr lang="en-US" dirty="0" err="1"/>
              <a:t>FlowFunctions</a:t>
            </a:r>
            <a:r>
              <a:rPr lang="en-US" dirty="0"/>
              <a:t> – fractional flows, derivatives etc.</a:t>
            </a:r>
          </a:p>
          <a:p>
            <a:r>
              <a:rPr lang="en-US" dirty="0" err="1"/>
              <a:t>FacetFlux</a:t>
            </a:r>
            <a:r>
              <a:rPr lang="en-US" dirty="0"/>
              <a:t> – upwind directions and facet fluxes computed stencil by stencil</a:t>
            </a:r>
          </a:p>
          <a:p>
            <a:r>
              <a:rPr lang="en-US" dirty="0" err="1"/>
              <a:t>FluxEvaluator</a:t>
            </a:r>
            <a:r>
              <a:rPr lang="en-US" dirty="0"/>
              <a:t> – flux computations for entire region of computation</a:t>
            </a:r>
          </a:p>
          <a:p>
            <a:r>
              <a:rPr lang="en-US" dirty="0"/>
              <a:t>Accumulator – assembling LHS and RHS operators </a:t>
            </a:r>
          </a:p>
          <a:p>
            <a:r>
              <a:rPr lang="en-US" dirty="0" err="1"/>
              <a:t>VectorOperator</a:t>
            </a:r>
            <a:r>
              <a:rPr lang="en-US" dirty="0"/>
              <a:t> – base class for RHS integrals and BCs</a:t>
            </a:r>
          </a:p>
          <a:p>
            <a:r>
              <a:rPr lang="en-US" dirty="0" err="1"/>
              <a:t>MatrixOperator</a:t>
            </a:r>
            <a:r>
              <a:rPr lang="en-US" dirty="0"/>
              <a:t> – base class for LHS integrals</a:t>
            </a:r>
          </a:p>
          <a:p>
            <a:r>
              <a:rPr lang="en-US" dirty="0" err="1"/>
              <a:t>ExplicitTransport</a:t>
            </a:r>
            <a:r>
              <a:rPr lang="en-US" dirty="0"/>
              <a:t> – assembly of explicit scheme solution</a:t>
            </a:r>
          </a:p>
          <a:p>
            <a:r>
              <a:rPr lang="en-US" dirty="0" err="1"/>
              <a:t>ImplicitTransport</a:t>
            </a:r>
            <a:r>
              <a:rPr lang="en-US" dirty="0"/>
              <a:t> – Newton-</a:t>
            </a:r>
            <a:r>
              <a:rPr lang="en-US" dirty="0" err="1"/>
              <a:t>Raphson</a:t>
            </a:r>
            <a:r>
              <a:rPr lang="en-US" dirty="0"/>
              <a:t> – </a:t>
            </a:r>
            <a:r>
              <a:rPr lang="en-US" dirty="0" err="1"/>
              <a:t>LineSearch</a:t>
            </a:r>
            <a:r>
              <a:rPr lang="en-US" dirty="0"/>
              <a:t> accumulation</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37</a:t>
            </a:fld>
            <a:endParaRPr lang="en-US">
              <a:solidFill>
                <a:prstClr val="white">
                  <a:lumMod val="65000"/>
                </a:prstClr>
              </a:solidFill>
            </a:endParaRPr>
          </a:p>
        </p:txBody>
      </p:sp>
    </p:spTree>
    <p:extLst>
      <p:ext uri="{BB962C8B-B14F-4D97-AF65-F5344CB8AC3E}">
        <p14:creationId xmlns:p14="http://schemas.microsoft.com/office/powerpoint/2010/main" val="1309313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88640"/>
            <a:ext cx="4248472" cy="6001644"/>
          </a:xfrm>
          <a:prstGeom prst="rect">
            <a:avLst/>
          </a:prstGeom>
          <a:noFill/>
        </p:spPr>
        <p:txBody>
          <a:bodyPr wrap="square" rtlCol="0">
            <a:spAutoFit/>
          </a:bodyPr>
          <a:lstStyle/>
          <a:p>
            <a:r>
              <a:rPr lang="en-US" sz="1600" dirty="0">
                <a:latin typeface="Arial"/>
                <a:cs typeface="Arial"/>
              </a:rPr>
              <a:t>Read Class</a:t>
            </a:r>
          </a:p>
          <a:p>
            <a:pPr marL="285750" indent="-285750">
              <a:buFont typeface="Arial" pitchFamily="34" charset="0"/>
              <a:buChar char="•"/>
            </a:pPr>
            <a:r>
              <a:rPr lang="en-US" sz="1600" dirty="0">
                <a:latin typeface="Arial"/>
                <a:cs typeface="Arial"/>
              </a:rPr>
              <a:t>Reading variables</a:t>
            </a:r>
          </a:p>
          <a:p>
            <a:pPr marL="285750" indent="-285750">
              <a:buFont typeface="Arial" pitchFamily="34" charset="0"/>
              <a:buChar char="•"/>
            </a:pPr>
            <a:r>
              <a:rPr lang="en-US" sz="1600" dirty="0">
                <a:latin typeface="Arial"/>
                <a:cs typeface="Arial"/>
              </a:rPr>
              <a:t>Scaling n and m</a:t>
            </a:r>
          </a:p>
          <a:p>
            <a:endParaRPr lang="en-US" sz="1600" dirty="0">
              <a:latin typeface="Arial"/>
              <a:cs typeface="Arial"/>
            </a:endParaRPr>
          </a:p>
          <a:p>
            <a:r>
              <a:rPr lang="en-US" sz="1600" dirty="0">
                <a:latin typeface="Arial"/>
                <a:cs typeface="Arial"/>
              </a:rPr>
              <a:t>Store Class</a:t>
            </a:r>
          </a:p>
          <a:p>
            <a:pPr marL="285750" indent="-285750">
              <a:buFont typeface="Arial" pitchFamily="34" charset="0"/>
              <a:buChar char="•"/>
            </a:pPr>
            <a:r>
              <a:rPr lang="en-US" sz="1600" dirty="0">
                <a:latin typeface="Arial"/>
                <a:cs typeface="Arial"/>
              </a:rPr>
              <a:t>Range check</a:t>
            </a:r>
          </a:p>
          <a:p>
            <a:pPr marL="285750" indent="-285750">
              <a:buFont typeface="Arial" pitchFamily="34" charset="0"/>
              <a:buChar char="•"/>
            </a:pPr>
            <a:r>
              <a:rPr lang="en-US" sz="1600" dirty="0">
                <a:latin typeface="Arial"/>
                <a:cs typeface="Arial"/>
              </a:rPr>
              <a:t>Storing results and </a:t>
            </a:r>
            <a:r>
              <a:rPr lang="en-US" sz="1600" dirty="0" err="1">
                <a:latin typeface="Arial"/>
                <a:cs typeface="Arial"/>
              </a:rPr>
              <a:t>velocitits</a:t>
            </a:r>
            <a:endParaRPr lang="en-US" sz="1600" dirty="0">
              <a:latin typeface="Arial"/>
              <a:cs typeface="Arial"/>
            </a:endParaRPr>
          </a:p>
          <a:p>
            <a:endParaRPr lang="en-US" sz="1600" b="1" dirty="0">
              <a:latin typeface="Arial"/>
              <a:cs typeface="Arial"/>
            </a:endParaRPr>
          </a:p>
          <a:p>
            <a:r>
              <a:rPr lang="en-US" sz="1600" b="1" dirty="0">
                <a:latin typeface="Arial"/>
                <a:cs typeface="Arial"/>
              </a:rPr>
              <a:t>Time Increment Class</a:t>
            </a:r>
          </a:p>
          <a:p>
            <a:pPr marL="285750" indent="-285750">
              <a:buFont typeface="Arial" pitchFamily="34" charset="0"/>
              <a:buChar char="•"/>
            </a:pPr>
            <a:r>
              <a:rPr lang="en-US" sz="1600" dirty="0">
                <a:latin typeface="Arial"/>
                <a:cs typeface="Arial"/>
              </a:rPr>
              <a:t>Calculate CFL</a:t>
            </a:r>
          </a:p>
          <a:p>
            <a:pPr marL="285750" indent="-285750">
              <a:buFont typeface="Arial" pitchFamily="34" charset="0"/>
              <a:buChar char="•"/>
            </a:pPr>
            <a:r>
              <a:rPr lang="en-US" sz="1600" dirty="0">
                <a:latin typeface="Arial"/>
                <a:cs typeface="Arial"/>
              </a:rPr>
              <a:t>Mass Balance</a:t>
            </a:r>
          </a:p>
          <a:p>
            <a:pPr marL="285750" indent="-285750">
              <a:buFont typeface="Arial" pitchFamily="34" charset="0"/>
              <a:buChar char="•"/>
            </a:pPr>
            <a:r>
              <a:rPr lang="en-US" sz="1600" dirty="0">
                <a:latin typeface="Arial"/>
                <a:cs typeface="Arial"/>
              </a:rPr>
              <a:t>Volume Based</a:t>
            </a:r>
          </a:p>
          <a:p>
            <a:pPr marL="285750" indent="-285750">
              <a:buFont typeface="Arial" pitchFamily="34" charset="0"/>
              <a:buChar char="•"/>
            </a:pPr>
            <a:r>
              <a:rPr lang="en-US" sz="1600" dirty="0">
                <a:latin typeface="Arial"/>
                <a:cs typeface="Arial"/>
              </a:rPr>
              <a:t>Time-discretization (implicit, explicit, first/second order)</a:t>
            </a:r>
          </a:p>
          <a:p>
            <a:endParaRPr lang="en-US" sz="1600" dirty="0">
              <a:latin typeface="Arial"/>
              <a:cs typeface="Arial"/>
            </a:endParaRPr>
          </a:p>
          <a:p>
            <a:r>
              <a:rPr lang="en-US" sz="1600" b="1" dirty="0" err="1">
                <a:latin typeface="Arial"/>
                <a:cs typeface="Arial"/>
              </a:rPr>
              <a:t>UpwindDirection</a:t>
            </a:r>
            <a:r>
              <a:rPr lang="en-US" sz="1600" b="1" dirty="0">
                <a:latin typeface="Arial"/>
                <a:cs typeface="Arial"/>
              </a:rPr>
              <a:t> Class</a:t>
            </a:r>
          </a:p>
          <a:p>
            <a:pPr marL="285750" indent="-285750">
              <a:buFont typeface="Arial" pitchFamily="34" charset="0"/>
              <a:buChar char="•"/>
            </a:pPr>
            <a:r>
              <a:rPr lang="en-US" sz="1600" dirty="0">
                <a:latin typeface="Arial"/>
                <a:cs typeface="Arial"/>
              </a:rPr>
              <a:t>Projections</a:t>
            </a:r>
          </a:p>
          <a:p>
            <a:pPr marL="285750" indent="-285750">
              <a:buFont typeface="Arial" pitchFamily="34" charset="0"/>
              <a:buChar char="•"/>
            </a:pPr>
            <a:r>
              <a:rPr lang="en-US" sz="1600" dirty="0">
                <a:latin typeface="Arial"/>
                <a:cs typeface="Arial"/>
              </a:rPr>
              <a:t>Determine upwind nodes</a:t>
            </a:r>
          </a:p>
          <a:p>
            <a:endParaRPr lang="en-US" sz="1600" dirty="0">
              <a:latin typeface="Arial"/>
              <a:cs typeface="Arial"/>
            </a:endParaRPr>
          </a:p>
          <a:p>
            <a:r>
              <a:rPr lang="en-US" sz="1600" b="1" dirty="0">
                <a:latin typeface="Arial"/>
                <a:cs typeface="Arial"/>
              </a:rPr>
              <a:t>Manager Class</a:t>
            </a:r>
          </a:p>
          <a:p>
            <a:pPr marL="285750" indent="-285750">
              <a:buFont typeface="Arial" pitchFamily="34" charset="0"/>
              <a:buChar char="•"/>
            </a:pPr>
            <a:r>
              <a:rPr lang="en-US" sz="1600" dirty="0">
                <a:latin typeface="Arial"/>
                <a:cs typeface="Arial"/>
              </a:rPr>
              <a:t>Calculating and updating porosity and pore volume</a:t>
            </a:r>
          </a:p>
          <a:p>
            <a:pPr marL="285750" indent="-285750">
              <a:buFont typeface="Arial" pitchFamily="34" charset="0"/>
              <a:buChar char="•"/>
            </a:pPr>
            <a:r>
              <a:rPr lang="en-US" sz="1600" dirty="0">
                <a:latin typeface="Arial"/>
                <a:cs typeface="Arial"/>
              </a:rPr>
              <a:t>Calculating and updating facet area and normal</a:t>
            </a:r>
          </a:p>
        </p:txBody>
      </p:sp>
      <p:sp>
        <p:nvSpPr>
          <p:cNvPr id="3" name="Rectangle 2"/>
          <p:cNvSpPr/>
          <p:nvPr/>
        </p:nvSpPr>
        <p:spPr>
          <a:xfrm>
            <a:off x="4932040" y="332656"/>
            <a:ext cx="3672408" cy="5755423"/>
          </a:xfrm>
          <a:prstGeom prst="rect">
            <a:avLst/>
          </a:prstGeom>
        </p:spPr>
        <p:txBody>
          <a:bodyPr wrap="square">
            <a:spAutoFit/>
          </a:bodyPr>
          <a:lstStyle/>
          <a:p>
            <a:r>
              <a:rPr lang="en-US" sz="1600" dirty="0">
                <a:latin typeface="Arial"/>
                <a:cs typeface="Arial"/>
              </a:rPr>
              <a:t>Additional physics/chemistry</a:t>
            </a:r>
          </a:p>
          <a:p>
            <a:endParaRPr lang="en-US" sz="1600" dirty="0">
              <a:latin typeface="Arial"/>
              <a:cs typeface="Arial"/>
            </a:endParaRPr>
          </a:p>
          <a:p>
            <a:r>
              <a:rPr lang="en-US" sz="1600" b="1" dirty="0">
                <a:latin typeface="Arial"/>
                <a:cs typeface="Arial"/>
              </a:rPr>
              <a:t>Boundary Class</a:t>
            </a:r>
          </a:p>
          <a:p>
            <a:pPr marL="285750" indent="-285750">
              <a:buFont typeface="Arial" pitchFamily="34" charset="0"/>
              <a:buChar char="•"/>
            </a:pPr>
            <a:r>
              <a:rPr lang="en-US" sz="1600" dirty="0">
                <a:latin typeface="Arial"/>
                <a:cs typeface="Arial"/>
              </a:rPr>
              <a:t>Boundary conditions</a:t>
            </a:r>
          </a:p>
          <a:p>
            <a:pPr marL="285750" indent="-285750">
              <a:buFontTx/>
              <a:buChar char="-"/>
            </a:pPr>
            <a:endParaRPr lang="en-US" sz="1600" dirty="0">
              <a:latin typeface="Arial"/>
              <a:cs typeface="Arial"/>
            </a:endParaRPr>
          </a:p>
          <a:p>
            <a:r>
              <a:rPr lang="en-US" sz="1600" b="1" dirty="0" err="1">
                <a:latin typeface="Arial"/>
                <a:cs typeface="Arial"/>
              </a:rPr>
              <a:t>DetermineStoreFacetFlux</a:t>
            </a:r>
            <a:endParaRPr lang="en-US" sz="1600" b="1" dirty="0">
              <a:latin typeface="Arial"/>
              <a:cs typeface="Arial"/>
            </a:endParaRPr>
          </a:p>
          <a:p>
            <a:pPr marL="285750" indent="-285750">
              <a:buFont typeface="Arial" pitchFamily="34" charset="0"/>
              <a:buChar char="•"/>
            </a:pPr>
            <a:r>
              <a:rPr lang="en-US" sz="1600" dirty="0">
                <a:latin typeface="Arial"/>
                <a:cs typeface="Arial"/>
              </a:rPr>
              <a:t>Calculating components</a:t>
            </a:r>
          </a:p>
          <a:p>
            <a:pPr marL="285750" indent="-285750">
              <a:buFont typeface="Arial" pitchFamily="34" charset="0"/>
              <a:buChar char="•"/>
            </a:pPr>
            <a:r>
              <a:rPr lang="en-US" sz="1600" dirty="0">
                <a:latin typeface="Arial"/>
                <a:cs typeface="Arial"/>
              </a:rPr>
              <a:t>Determine and store facet fluxes</a:t>
            </a:r>
          </a:p>
          <a:p>
            <a:pPr marL="285750" indent="-285750">
              <a:buFontTx/>
              <a:buChar char="-"/>
            </a:pPr>
            <a:endParaRPr lang="en-US" sz="1600" dirty="0">
              <a:latin typeface="Arial"/>
              <a:cs typeface="Arial"/>
            </a:endParaRPr>
          </a:p>
          <a:p>
            <a:r>
              <a:rPr lang="en-US" sz="1600" b="1" dirty="0">
                <a:latin typeface="Arial"/>
                <a:cs typeface="Arial"/>
              </a:rPr>
              <a:t>Explicit</a:t>
            </a:r>
          </a:p>
          <a:p>
            <a:pPr marL="285750" indent="-285750">
              <a:buFont typeface="Arial" pitchFamily="34" charset="0"/>
              <a:buChar char="•"/>
            </a:pPr>
            <a:r>
              <a:rPr lang="en-US" sz="1600" dirty="0">
                <a:latin typeface="Arial"/>
                <a:cs typeface="Arial"/>
              </a:rPr>
              <a:t>Accumulation of fluxes to vector</a:t>
            </a:r>
          </a:p>
          <a:p>
            <a:pPr marL="285750" indent="-285750">
              <a:buFont typeface="Arial" pitchFamily="34" charset="0"/>
              <a:buChar char="•"/>
            </a:pPr>
            <a:r>
              <a:rPr lang="en-US" sz="1600" dirty="0">
                <a:latin typeface="Arial"/>
                <a:cs typeface="Arial"/>
              </a:rPr>
              <a:t>Accumulation of sources to vector</a:t>
            </a:r>
          </a:p>
          <a:p>
            <a:pPr marL="285750" indent="-285750">
              <a:buFont typeface="Arial" pitchFamily="34" charset="0"/>
              <a:buChar char="•"/>
            </a:pPr>
            <a:r>
              <a:rPr lang="en-US" sz="1600" dirty="0">
                <a:latin typeface="Arial"/>
                <a:cs typeface="Arial"/>
              </a:rPr>
              <a:t>Add fluxes and sources</a:t>
            </a:r>
          </a:p>
          <a:p>
            <a:pPr marL="285750" indent="-285750">
              <a:buFont typeface="Arial" pitchFamily="34" charset="0"/>
              <a:buChar char="•"/>
            </a:pPr>
            <a:r>
              <a:rPr lang="en-US" sz="1600" dirty="0">
                <a:latin typeface="Arial"/>
                <a:cs typeface="Arial"/>
              </a:rPr>
              <a:t>Higher-order in space</a:t>
            </a:r>
          </a:p>
          <a:p>
            <a:pPr marL="285750" indent="-285750">
              <a:buFont typeface="Arial" pitchFamily="34" charset="0"/>
              <a:buChar char="•"/>
            </a:pPr>
            <a:r>
              <a:rPr lang="en-US" sz="1600" dirty="0">
                <a:latin typeface="Arial"/>
                <a:cs typeface="Arial"/>
              </a:rPr>
              <a:t>Limiting</a:t>
            </a:r>
          </a:p>
          <a:p>
            <a:pPr marL="285750" indent="-285750">
              <a:buFontTx/>
              <a:buChar char="-"/>
            </a:pPr>
            <a:endParaRPr lang="en-US" sz="1600" dirty="0">
              <a:latin typeface="Arial"/>
              <a:cs typeface="Arial"/>
            </a:endParaRPr>
          </a:p>
          <a:p>
            <a:r>
              <a:rPr lang="en-US" sz="1600" b="1" dirty="0">
                <a:latin typeface="Arial"/>
                <a:cs typeface="Arial"/>
              </a:rPr>
              <a:t>Implicit</a:t>
            </a:r>
          </a:p>
          <a:p>
            <a:pPr marL="285750" indent="-285750">
              <a:buFont typeface="Arial" pitchFamily="34" charset="0"/>
              <a:buChar char="•"/>
            </a:pPr>
            <a:r>
              <a:rPr lang="en-US" sz="1600" dirty="0">
                <a:latin typeface="Arial"/>
                <a:cs typeface="Arial"/>
              </a:rPr>
              <a:t>Accumulation of fluxes to matrix</a:t>
            </a:r>
          </a:p>
          <a:p>
            <a:pPr marL="285750" indent="-285750">
              <a:buFont typeface="Arial" pitchFamily="34" charset="0"/>
              <a:buChar char="•"/>
            </a:pPr>
            <a:r>
              <a:rPr lang="en-US" sz="1600" dirty="0">
                <a:latin typeface="Arial"/>
                <a:cs typeface="Arial"/>
              </a:rPr>
              <a:t>Accumulation of sources to matrix</a:t>
            </a:r>
          </a:p>
          <a:p>
            <a:pPr marL="285750" indent="-285750">
              <a:buFont typeface="Arial" pitchFamily="34" charset="0"/>
              <a:buChar char="•"/>
            </a:pPr>
            <a:r>
              <a:rPr lang="en-US" sz="1600" dirty="0">
                <a:latin typeface="Arial"/>
                <a:cs typeface="Arial"/>
              </a:rPr>
              <a:t>Iterations (e.g. Newton)</a:t>
            </a:r>
          </a:p>
          <a:p>
            <a:pPr marL="285750" indent="-285750">
              <a:buFont typeface="Arial" pitchFamily="34" charset="0"/>
              <a:buChar char="•"/>
            </a:pPr>
            <a:r>
              <a:rPr lang="en-US" sz="1600" dirty="0">
                <a:latin typeface="Arial"/>
                <a:cs typeface="Arial"/>
              </a:rPr>
              <a:t>Solver / SAMG</a:t>
            </a:r>
          </a:p>
          <a:p>
            <a:pPr marL="742950" lvl="1" indent="-285750">
              <a:buFontTx/>
              <a:buChar char="-"/>
            </a:pPr>
            <a:endParaRPr lang="en-US" sz="1600" dirty="0">
              <a:latin typeface="Arial"/>
              <a:cs typeface="Arial"/>
            </a:endParaRPr>
          </a:p>
          <a:p>
            <a:pPr marL="742950" lvl="1" indent="-285750">
              <a:buFontTx/>
              <a:buChar char="-"/>
            </a:pPr>
            <a:endParaRPr lang="de-CH" sz="1600" dirty="0">
              <a:latin typeface="Arial"/>
              <a:cs typeface="Arial"/>
            </a:endParaRPr>
          </a:p>
        </p:txBody>
      </p:sp>
      <p:sp>
        <p:nvSpPr>
          <p:cNvPr id="2" name="Slide Number Placeholder 1"/>
          <p:cNvSpPr>
            <a:spLocks noGrp="1"/>
          </p:cNvSpPr>
          <p:nvPr>
            <p:ph type="sldNum" sz="quarter" idx="12"/>
          </p:nvPr>
        </p:nvSpPr>
        <p:spPr/>
        <p:txBody>
          <a:bodyPr/>
          <a:lstStyle/>
          <a:p>
            <a:fld id="{C83A4929-569E-4284-9297-8396DF358F0B}" type="slidenum">
              <a:rPr lang="de-CH" smtClean="0"/>
              <a:t>38</a:t>
            </a:fld>
            <a:endParaRPr lang="de-CH"/>
          </a:p>
        </p:txBody>
      </p:sp>
    </p:spTree>
    <p:extLst>
      <p:ext uri="{BB962C8B-B14F-4D97-AF65-F5344CB8AC3E}">
        <p14:creationId xmlns:p14="http://schemas.microsoft.com/office/powerpoint/2010/main" val="3985956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FiniteVolumeVariableGradient</a:t>
            </a:r>
            <a:endParaRPr lang="en-US" dirty="0"/>
          </a:p>
        </p:txBody>
      </p:sp>
      <p:sp>
        <p:nvSpPr>
          <p:cNvPr id="3" name="Content Placeholder 2"/>
          <p:cNvSpPr>
            <a:spLocks noGrp="1"/>
          </p:cNvSpPr>
          <p:nvPr>
            <p:ph idx="1"/>
          </p:nvPr>
        </p:nvSpPr>
        <p:spPr/>
        <p:txBody>
          <a:bodyPr/>
          <a:lstStyle/>
          <a:p>
            <a:r>
              <a:rPr lang="en-US" dirty="0" err="1"/>
              <a:t>PropertyGradient</a:t>
            </a:r>
            <a:r>
              <a:rPr lang="en-US" dirty="0"/>
              <a:t>()</a:t>
            </a:r>
          </a:p>
          <a:p>
            <a:r>
              <a:rPr lang="en-US" dirty="0" err="1"/>
              <a:t>PropertyGradientLimiter</a:t>
            </a:r>
            <a:r>
              <a:rPr lang="en-US" dirty="0"/>
              <a:t>() – should this be here?</a:t>
            </a:r>
          </a:p>
          <a:p>
            <a:endParaRPr lang="en-US" dirty="0"/>
          </a:p>
          <a:p>
            <a:r>
              <a:rPr lang="en-US" dirty="0"/>
              <a:t>For FV centered estimation of facet saturations as in Geiger et al. (2004)</a:t>
            </a:r>
          </a:p>
          <a:p>
            <a:r>
              <a:rPr lang="en-US" dirty="0"/>
              <a:t>Separate treatment of model boundary versus interior</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39</a:t>
            </a:fld>
            <a:endParaRPr lang="en-US"/>
          </a:p>
        </p:txBody>
      </p:sp>
    </p:spTree>
    <p:extLst>
      <p:ext uri="{BB962C8B-B14F-4D97-AF65-F5344CB8AC3E}">
        <p14:creationId xmlns:p14="http://schemas.microsoft.com/office/powerpoint/2010/main" val="2244313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SaturationFunction</a:t>
            </a:r>
            <a:endParaRPr lang="en-US" dirty="0"/>
          </a:p>
        </p:txBody>
      </p:sp>
      <p:sp>
        <p:nvSpPr>
          <p:cNvPr id="3" name="Content Placeholder 2"/>
          <p:cNvSpPr>
            <a:spLocks noGrp="1"/>
          </p:cNvSpPr>
          <p:nvPr>
            <p:ph idx="1"/>
          </p:nvPr>
        </p:nvSpPr>
        <p:spPr/>
        <p:txBody>
          <a:bodyPr/>
          <a:lstStyle/>
          <a:p>
            <a:r>
              <a:rPr lang="en-US" dirty="0"/>
              <a:t>From saturation(s) provided externally computes </a:t>
            </a:r>
            <a:r>
              <a:rPr lang="en-US" dirty="0" err="1"/>
              <a:t>kri</a:t>
            </a:r>
            <a:r>
              <a:rPr lang="en-US" dirty="0"/>
              <a:t>(</a:t>
            </a:r>
            <a:r>
              <a:rPr lang="en-US" dirty="0" err="1"/>
              <a:t>sw</a:t>
            </a:r>
            <a:r>
              <a:rPr lang="en-US" dirty="0"/>
              <a:t>), pc(</a:t>
            </a:r>
            <a:r>
              <a:rPr lang="en-US" dirty="0" err="1"/>
              <a:t>sw</a:t>
            </a:r>
            <a:r>
              <a:rPr lang="en-US" dirty="0"/>
              <a:t>), </a:t>
            </a:r>
            <a:r>
              <a:rPr lang="en-US" dirty="0" err="1"/>
              <a:t>dpc</a:t>
            </a:r>
            <a:r>
              <a:rPr lang="en-US" dirty="0"/>
              <a:t>/ds</a:t>
            </a:r>
          </a:p>
          <a:p>
            <a:r>
              <a:rPr lang="en-US" dirty="0"/>
              <a:t>Has access to the element interface (and initializes itself there)</a:t>
            </a:r>
          </a:p>
          <a:p>
            <a:r>
              <a:rPr lang="en-US" dirty="0"/>
              <a:t>relative permeability can be a function of all kinds of parameters (hysteresis, velocity dependence, etc.)</a:t>
            </a:r>
          </a:p>
          <a:p>
            <a:r>
              <a:rPr lang="en-US" dirty="0"/>
              <a:t>capillary pressure function</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40</a:t>
            </a:fld>
            <a:endParaRPr lang="en-US">
              <a:solidFill>
                <a:prstClr val="white">
                  <a:lumMod val="65000"/>
                </a:prstClr>
              </a:solidFill>
            </a:endParaRPr>
          </a:p>
        </p:txBody>
      </p:sp>
    </p:spTree>
    <p:extLst>
      <p:ext uri="{BB962C8B-B14F-4D97-AF65-F5344CB8AC3E}">
        <p14:creationId xmlns:p14="http://schemas.microsoft.com/office/powerpoint/2010/main" val="2365280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Fluid</a:t>
            </a:r>
            <a:r>
              <a:rPr lang="en-US" dirty="0" err="1">
                <a:solidFill>
                  <a:srgbClr val="BFBFBF"/>
                </a:solidFill>
              </a:rPr>
              <a:t>Properties</a:t>
            </a:r>
            <a:endParaRPr lang="en-US" dirty="0">
              <a:solidFill>
                <a:srgbClr val="BFBFBF"/>
              </a:solidFill>
            </a:endParaRPr>
          </a:p>
        </p:txBody>
      </p:sp>
      <p:sp>
        <p:nvSpPr>
          <p:cNvPr id="3" name="Content Placeholder 2"/>
          <p:cNvSpPr>
            <a:spLocks noGrp="1"/>
          </p:cNvSpPr>
          <p:nvPr>
            <p:ph idx="1"/>
          </p:nvPr>
        </p:nvSpPr>
        <p:spPr/>
        <p:txBody>
          <a:bodyPr/>
          <a:lstStyle/>
          <a:p>
            <a:r>
              <a:rPr lang="en-US"/>
              <a:t>Input are P, T, X</a:t>
            </a:r>
          </a:p>
          <a:p>
            <a:r>
              <a:rPr lang="en-US" dirty="0"/>
              <a:t>(Maximum) number of phases</a:t>
            </a:r>
          </a:p>
          <a:p>
            <a:r>
              <a:rPr lang="en-US" dirty="0"/>
              <a:t>Number of components per phase</a:t>
            </a:r>
          </a:p>
          <a:p>
            <a:r>
              <a:rPr lang="en-US" dirty="0"/>
              <a:t>Mass fractions</a:t>
            </a:r>
          </a:p>
          <a:p>
            <a:r>
              <a:rPr lang="en-US" dirty="0"/>
              <a:t>Phase densities</a:t>
            </a:r>
          </a:p>
          <a:p>
            <a:r>
              <a:rPr lang="en-US" dirty="0"/>
              <a:t>Phase viscosities</a:t>
            </a:r>
          </a:p>
          <a:p>
            <a:r>
              <a:rPr lang="en-US" dirty="0"/>
              <a:t>Saturations (in the case of mass-fraction based scheme)</a:t>
            </a:r>
          </a:p>
          <a:p>
            <a:r>
              <a:rPr lang="en-US" dirty="0"/>
              <a:t>Component exchange among phases</a:t>
            </a:r>
          </a:p>
          <a:p>
            <a:endParaRPr lang="en-US" dirty="0"/>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41</a:t>
            </a:fld>
            <a:endParaRPr lang="en-US">
              <a:solidFill>
                <a:prstClr val="white">
                  <a:lumMod val="65000"/>
                </a:prstClr>
              </a:solidFill>
            </a:endParaRPr>
          </a:p>
        </p:txBody>
      </p:sp>
    </p:spTree>
    <p:extLst>
      <p:ext uri="{BB962C8B-B14F-4D97-AF65-F5344CB8AC3E}">
        <p14:creationId xmlns:p14="http://schemas.microsoft.com/office/powerpoint/2010/main" val="3515171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FlowFunctions</a:t>
            </a:r>
            <a:endParaRPr lang="en-US" dirty="0"/>
          </a:p>
        </p:txBody>
      </p:sp>
      <p:sp>
        <p:nvSpPr>
          <p:cNvPr id="3" name="Content Placeholder 2"/>
          <p:cNvSpPr>
            <a:spLocks noGrp="1"/>
          </p:cNvSpPr>
          <p:nvPr>
            <p:ph idx="1"/>
          </p:nvPr>
        </p:nvSpPr>
        <p:spPr/>
        <p:txBody>
          <a:bodyPr/>
          <a:lstStyle/>
          <a:p>
            <a:r>
              <a:rPr lang="en-US" dirty="0" err="1"/>
              <a:t>CapillaryPressureDerivatives</a:t>
            </a:r>
            <a:r>
              <a:rPr lang="en-US" dirty="0"/>
              <a:t>() + </a:t>
            </a:r>
            <a:r>
              <a:rPr lang="en-US" dirty="0" err="1"/>
              <a:t>FractionalFlow</a:t>
            </a:r>
            <a:r>
              <a:rPr lang="en-US" dirty="0"/>
              <a:t>()</a:t>
            </a:r>
          </a:p>
          <a:p>
            <a:r>
              <a:rPr lang="en-US" dirty="0"/>
              <a:t>+ </a:t>
            </a:r>
            <a:r>
              <a:rPr lang="en-US" dirty="0" err="1"/>
              <a:t>FractionalFlowDerivatives</a:t>
            </a:r>
            <a:r>
              <a:rPr lang="en-US" dirty="0"/>
              <a:t>()</a:t>
            </a:r>
          </a:p>
          <a:p>
            <a:r>
              <a:rPr lang="en-US" dirty="0"/>
              <a:t>+ </a:t>
            </a:r>
            <a:r>
              <a:rPr lang="en-US" dirty="0" err="1"/>
              <a:t>PhaseMobilities</a:t>
            </a:r>
            <a:r>
              <a:rPr lang="en-US" dirty="0"/>
              <a:t>()</a:t>
            </a:r>
          </a:p>
          <a:p>
            <a:r>
              <a:rPr lang="en-US" dirty="0"/>
              <a:t>+ </a:t>
            </a:r>
            <a:r>
              <a:rPr lang="en-US" dirty="0" err="1"/>
              <a:t>TotalMobility</a:t>
            </a:r>
            <a:r>
              <a:rPr lang="en-US" dirty="0"/>
              <a:t>()</a:t>
            </a:r>
          </a:p>
          <a:p>
            <a:r>
              <a:rPr lang="en-US" dirty="0"/>
              <a:t>Compute total mobility, fractional flows, derivatives, pc-derivatives etc. from input variables computed by </a:t>
            </a:r>
            <a:r>
              <a:rPr lang="en-US" b="1" dirty="0" err="1"/>
              <a:t>SaturationFunctions</a:t>
            </a:r>
            <a:r>
              <a:rPr lang="en-US" dirty="0"/>
              <a:t> and </a:t>
            </a:r>
            <a:r>
              <a:rPr lang="en-US" b="1" dirty="0" err="1"/>
              <a:t>FluidProperties</a:t>
            </a:r>
            <a:endParaRPr lang="en-US" b="1" dirty="0"/>
          </a:p>
          <a:p>
            <a:r>
              <a:rPr lang="en-US" dirty="0"/>
              <a:t>Default: all derivatives are evaluated numerically</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42</a:t>
            </a:fld>
            <a:endParaRPr lang="en-US">
              <a:solidFill>
                <a:prstClr val="white">
                  <a:lumMod val="65000"/>
                </a:prstClr>
              </a:solidFill>
            </a:endParaRPr>
          </a:p>
        </p:txBody>
      </p:sp>
    </p:spTree>
    <p:extLst>
      <p:ext uri="{BB962C8B-B14F-4D97-AF65-F5344CB8AC3E}">
        <p14:creationId xmlns:p14="http://schemas.microsoft.com/office/powerpoint/2010/main" val="27394518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FacetFlux</a:t>
            </a:r>
            <a:endParaRPr lang="en-US" dirty="0">
              <a:solidFill>
                <a:srgbClr val="BFBFBF"/>
              </a:solidFill>
            </a:endParaRPr>
          </a:p>
        </p:txBody>
      </p:sp>
      <p:sp>
        <p:nvSpPr>
          <p:cNvPr id="3" name="Content Placeholder 2"/>
          <p:cNvSpPr>
            <a:spLocks noGrp="1"/>
          </p:cNvSpPr>
          <p:nvPr>
            <p:ph idx="1"/>
          </p:nvPr>
        </p:nvSpPr>
        <p:spPr>
          <a:xfrm>
            <a:off x="457200" y="811422"/>
            <a:ext cx="8229600" cy="5943600"/>
          </a:xfrm>
        </p:spPr>
        <p:txBody>
          <a:bodyPr>
            <a:normAutofit fontScale="85000" lnSpcReduction="20000"/>
          </a:bodyPr>
          <a:lstStyle/>
          <a:p>
            <a:r>
              <a:rPr lang="en-US" dirty="0" err="1"/>
              <a:t>FacetNormalPermeabilities</a:t>
            </a:r>
            <a:r>
              <a:rPr lang="en-US" dirty="0"/>
              <a:t>() – method called in constructor</a:t>
            </a:r>
          </a:p>
          <a:p>
            <a:r>
              <a:rPr lang="en-US" dirty="0" err="1"/>
              <a:t>FaceAndComponentFluxes</a:t>
            </a:r>
            <a:r>
              <a:rPr lang="en-US" dirty="0"/>
              <a:t>()</a:t>
            </a:r>
          </a:p>
          <a:p>
            <a:r>
              <a:rPr lang="en-US" dirty="0" err="1"/>
              <a:t>UpwindDirection</a:t>
            </a:r>
            <a:r>
              <a:rPr lang="en-US" dirty="0"/>
              <a:t>() – prerequisite to flux </a:t>
            </a:r>
            <a:r>
              <a:rPr lang="en-US" dirty="0" err="1"/>
              <a:t>calculuation</a:t>
            </a:r>
            <a:r>
              <a:rPr lang="en-US" dirty="0"/>
              <a:t>; must be found for each phase</a:t>
            </a:r>
          </a:p>
          <a:p>
            <a:r>
              <a:rPr lang="en-US" dirty="0"/>
              <a:t>To compute first- and second order facet fluxes </a:t>
            </a:r>
          </a:p>
          <a:p>
            <a:r>
              <a:rPr lang="en-US" b="1" dirty="0"/>
              <a:t>Operations</a:t>
            </a:r>
            <a:r>
              <a:rPr lang="en-US" dirty="0"/>
              <a:t>:</a:t>
            </a:r>
          </a:p>
          <a:p>
            <a:pPr lvl="1"/>
            <a:r>
              <a:rPr lang="en-US" dirty="0"/>
              <a:t>computes total mobility and velocity if needs</a:t>
            </a:r>
          </a:p>
          <a:p>
            <a:pPr lvl="1"/>
            <a:r>
              <a:rPr lang="en-US" dirty="0"/>
              <a:t>interpolate saturation using </a:t>
            </a:r>
            <a:r>
              <a:rPr lang="en-US" b="1" dirty="0" err="1"/>
              <a:t>FiniteVolumeVariableGradient</a:t>
            </a:r>
            <a:r>
              <a:rPr lang="en-US" dirty="0"/>
              <a:t> to find facet saturation</a:t>
            </a:r>
          </a:p>
          <a:p>
            <a:pPr lvl="1"/>
            <a:r>
              <a:rPr lang="en-US" dirty="0"/>
              <a:t>Uses </a:t>
            </a:r>
            <a:r>
              <a:rPr lang="en-US" b="1" dirty="0" err="1"/>
              <a:t>FlowFunctions</a:t>
            </a:r>
            <a:r>
              <a:rPr lang="en-US" dirty="0"/>
              <a:t> to compute fractional flow, derivatives etc.</a:t>
            </a:r>
          </a:p>
          <a:p>
            <a:pPr lvl="1"/>
            <a:r>
              <a:rPr lang="en-US" dirty="0"/>
              <a:t>find </a:t>
            </a:r>
            <a:r>
              <a:rPr lang="en-US" i="1" dirty="0"/>
              <a:t>phase </a:t>
            </a:r>
            <a:r>
              <a:rPr lang="en-US" i="1" dirty="0" err="1"/>
              <a:t>velocit</a:t>
            </a:r>
            <a:r>
              <a:rPr lang="en-US" i="1" dirty="0"/>
              <a:t>(</a:t>
            </a:r>
            <a:r>
              <a:rPr lang="en-US" i="1" dirty="0" err="1"/>
              <a:t>ies</a:t>
            </a:r>
            <a:r>
              <a:rPr lang="en-US" i="1" dirty="0"/>
              <a:t>) </a:t>
            </a:r>
            <a:r>
              <a:rPr lang="en-US" dirty="0"/>
              <a:t>(viscous, gravitational and capillary) at the barycenter to determine the upwind directions for all facets</a:t>
            </a:r>
          </a:p>
          <a:p>
            <a:pPr lvl="1"/>
            <a:r>
              <a:rPr lang="en-US" dirty="0"/>
              <a:t>evaluate </a:t>
            </a:r>
            <a:r>
              <a:rPr lang="en-US" dirty="0" err="1"/>
              <a:t>relperms</a:t>
            </a:r>
            <a:r>
              <a:rPr lang="en-US" dirty="0"/>
              <a:t> (using all kinds of parameters) via </a:t>
            </a:r>
            <a:r>
              <a:rPr lang="en-US" b="1" dirty="0" err="1"/>
              <a:t>SaturationFunction</a:t>
            </a:r>
            <a:endParaRPr lang="en-US" b="1" dirty="0"/>
          </a:p>
          <a:p>
            <a:pPr lvl="1"/>
            <a:r>
              <a:rPr lang="en-US" dirty="0"/>
              <a:t>Get fluid properties (</a:t>
            </a:r>
            <a:r>
              <a:rPr lang="en-US" dirty="0" err="1"/>
              <a:t>densitie</a:t>
            </a:r>
            <a:r>
              <a:rPr lang="en-US" dirty="0"/>
              <a:t>(s), viscosity(s), concentrations etc.)</a:t>
            </a:r>
          </a:p>
          <a:p>
            <a:pPr lvl="1"/>
            <a:r>
              <a:rPr lang="en-US" dirty="0"/>
              <a:t>Evaluate </a:t>
            </a:r>
            <a:r>
              <a:rPr lang="en-US" dirty="0" err="1"/>
              <a:t>mobilities</a:t>
            </a:r>
            <a:r>
              <a:rPr lang="en-US" dirty="0"/>
              <a:t> and fractional flows</a:t>
            </a:r>
          </a:p>
          <a:p>
            <a:pPr lvl="1"/>
            <a:r>
              <a:rPr lang="en-US" dirty="0"/>
              <a:t>Compute facet fluxes</a:t>
            </a:r>
          </a:p>
          <a:p>
            <a:pPr lvl="1"/>
            <a:r>
              <a:rPr lang="en-US" dirty="0"/>
              <a:t>Store facet fluxes</a:t>
            </a:r>
          </a:p>
          <a:p>
            <a:pPr lvl="1"/>
            <a:r>
              <a:rPr lang="en-US" dirty="0"/>
              <a:t>NO LIMITING</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43</a:t>
            </a:fld>
            <a:endParaRPr lang="en-US">
              <a:solidFill>
                <a:prstClr val="white">
                  <a:lumMod val="65000"/>
                </a:prstClr>
              </a:solidFill>
            </a:endParaRPr>
          </a:p>
        </p:txBody>
      </p:sp>
    </p:spTree>
    <p:extLst>
      <p:ext uri="{BB962C8B-B14F-4D97-AF65-F5344CB8AC3E}">
        <p14:creationId xmlns:p14="http://schemas.microsoft.com/office/powerpoint/2010/main" val="13602658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Upstream direction vs. Inside-Outside nodes</a:t>
            </a:r>
          </a:p>
        </p:txBody>
      </p:sp>
      <p:sp>
        <p:nvSpPr>
          <p:cNvPr id="3" name="Content Placeholder 2"/>
          <p:cNvSpPr>
            <a:spLocks noGrp="1"/>
          </p:cNvSpPr>
          <p:nvPr>
            <p:ph idx="1"/>
          </p:nvPr>
        </p:nvSpPr>
        <p:spPr>
          <a:xfrm>
            <a:off x="457200" y="914401"/>
            <a:ext cx="8229600" cy="498376"/>
          </a:xfrm>
        </p:spPr>
        <p:txBody>
          <a:bodyPr/>
          <a:lstStyle/>
          <a:p>
            <a:r>
              <a:rPr lang="en-US" dirty="0"/>
              <a:t>Keep the distinction clear</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44</a:t>
            </a:fld>
            <a:endParaRPr lang="en-US"/>
          </a:p>
        </p:txBody>
      </p:sp>
      <p:sp>
        <p:nvSpPr>
          <p:cNvPr id="7" name="Text Box 37"/>
          <p:cNvSpPr txBox="1">
            <a:spLocks noChangeArrowheads="1"/>
          </p:cNvSpPr>
          <p:nvPr/>
        </p:nvSpPr>
        <p:spPr bwMode="auto">
          <a:xfrm>
            <a:off x="852488" y="1596454"/>
            <a:ext cx="355837"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u</a:t>
            </a:r>
            <a:endParaRPr lang="en-GB" sz="2400">
              <a:latin typeface="Arial"/>
              <a:cs typeface="Arial"/>
            </a:endParaRPr>
          </a:p>
        </p:txBody>
      </p:sp>
      <p:sp>
        <p:nvSpPr>
          <p:cNvPr id="8" name="Text Box 38"/>
          <p:cNvSpPr txBox="1">
            <a:spLocks noChangeArrowheads="1"/>
          </p:cNvSpPr>
          <p:nvPr/>
        </p:nvSpPr>
        <p:spPr bwMode="auto">
          <a:xfrm>
            <a:off x="3059832" y="1556792"/>
            <a:ext cx="355837"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Arial"/>
                <a:cs typeface="Arial"/>
              </a:rPr>
              <a:t>u</a:t>
            </a:r>
            <a:endParaRPr lang="en-GB" sz="2400" dirty="0">
              <a:latin typeface="Arial"/>
              <a:cs typeface="Arial"/>
            </a:endParaRPr>
          </a:p>
        </p:txBody>
      </p:sp>
      <p:grpSp>
        <p:nvGrpSpPr>
          <p:cNvPr id="9" name="Group 53"/>
          <p:cNvGrpSpPr>
            <a:grpSpLocks/>
          </p:cNvGrpSpPr>
          <p:nvPr/>
        </p:nvGrpSpPr>
        <p:grpSpPr bwMode="auto">
          <a:xfrm>
            <a:off x="961231" y="2004145"/>
            <a:ext cx="6307138" cy="4283075"/>
            <a:chOff x="753" y="1278"/>
            <a:chExt cx="3973" cy="2698"/>
          </a:xfrm>
        </p:grpSpPr>
        <p:sp>
          <p:nvSpPr>
            <p:cNvPr id="10" name="Freeform 3"/>
            <p:cNvSpPr>
              <a:spLocks/>
            </p:cNvSpPr>
            <p:nvPr/>
          </p:nvSpPr>
          <p:spPr bwMode="auto">
            <a:xfrm>
              <a:off x="2953" y="2581"/>
              <a:ext cx="1344" cy="1056"/>
            </a:xfrm>
            <a:custGeom>
              <a:avLst/>
              <a:gdLst>
                <a:gd name="T0" fmla="*/ 384 w 1344"/>
                <a:gd name="T1" fmla="*/ 0 h 1056"/>
                <a:gd name="T2" fmla="*/ 785 w 1344"/>
                <a:gd name="T3" fmla="*/ 11 h 1056"/>
                <a:gd name="T4" fmla="*/ 1045 w 1344"/>
                <a:gd name="T5" fmla="*/ 79 h 1056"/>
                <a:gd name="T6" fmla="*/ 1181 w 1344"/>
                <a:gd name="T7" fmla="*/ 378 h 1056"/>
                <a:gd name="T8" fmla="*/ 1344 w 1344"/>
                <a:gd name="T9" fmla="*/ 672 h 1056"/>
                <a:gd name="T10" fmla="*/ 1237 w 1344"/>
                <a:gd name="T11" fmla="*/ 903 h 1056"/>
                <a:gd name="T12" fmla="*/ 740 w 1344"/>
                <a:gd name="T13" fmla="*/ 1056 h 1056"/>
                <a:gd name="T14" fmla="*/ 232 w 1344"/>
                <a:gd name="T15" fmla="*/ 943 h 1056"/>
                <a:gd name="T16" fmla="*/ 0 w 1344"/>
                <a:gd name="T17" fmla="*/ 638 h 1056"/>
                <a:gd name="T18" fmla="*/ 159 w 1344"/>
                <a:gd name="T19" fmla="*/ 282 h 1056"/>
                <a:gd name="T20" fmla="*/ 384 w 1344"/>
                <a:gd name="T21" fmla="*/ 0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4" h="1056">
                  <a:moveTo>
                    <a:pt x="384" y="0"/>
                  </a:moveTo>
                  <a:lnTo>
                    <a:pt x="785" y="11"/>
                  </a:lnTo>
                  <a:lnTo>
                    <a:pt x="1045" y="79"/>
                  </a:lnTo>
                  <a:lnTo>
                    <a:pt x="1181" y="378"/>
                  </a:lnTo>
                  <a:lnTo>
                    <a:pt x="1344" y="672"/>
                  </a:lnTo>
                  <a:lnTo>
                    <a:pt x="1237" y="903"/>
                  </a:lnTo>
                  <a:lnTo>
                    <a:pt x="740" y="1056"/>
                  </a:lnTo>
                  <a:lnTo>
                    <a:pt x="232" y="943"/>
                  </a:lnTo>
                  <a:lnTo>
                    <a:pt x="0" y="638"/>
                  </a:lnTo>
                  <a:lnTo>
                    <a:pt x="159" y="282"/>
                  </a:lnTo>
                  <a:lnTo>
                    <a:pt x="384" y="0"/>
                  </a:lnTo>
                  <a:close/>
                </a:path>
              </a:pathLst>
            </a:custGeom>
            <a:noFill/>
            <a:ln w="28575"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endParaRPr lang="en-US">
                <a:latin typeface="Arial"/>
                <a:cs typeface="Arial"/>
              </a:endParaRPr>
            </a:p>
          </p:txBody>
        </p:sp>
        <p:sp>
          <p:nvSpPr>
            <p:cNvPr id="11" name="Line 4"/>
            <p:cNvSpPr>
              <a:spLocks noChangeShapeType="1"/>
            </p:cNvSpPr>
            <p:nvPr/>
          </p:nvSpPr>
          <p:spPr bwMode="auto">
            <a:xfrm flipH="1">
              <a:off x="1400" y="2592"/>
              <a:ext cx="1141" cy="774"/>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2" name="Line 5"/>
            <p:cNvSpPr>
              <a:spLocks noChangeShapeType="1"/>
            </p:cNvSpPr>
            <p:nvPr/>
          </p:nvSpPr>
          <p:spPr bwMode="auto">
            <a:xfrm>
              <a:off x="808" y="1350"/>
              <a:ext cx="598" cy="2021"/>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3" name="Line 6"/>
            <p:cNvSpPr>
              <a:spLocks noChangeShapeType="1"/>
            </p:cNvSpPr>
            <p:nvPr/>
          </p:nvSpPr>
          <p:spPr bwMode="auto">
            <a:xfrm>
              <a:off x="813" y="1344"/>
              <a:ext cx="1711" cy="1271"/>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4" name="Line 7"/>
            <p:cNvSpPr>
              <a:spLocks noChangeShapeType="1"/>
            </p:cNvSpPr>
            <p:nvPr/>
          </p:nvSpPr>
          <p:spPr bwMode="auto">
            <a:xfrm>
              <a:off x="808" y="1338"/>
              <a:ext cx="2061" cy="17"/>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5" name="Line 8"/>
            <p:cNvSpPr>
              <a:spLocks noChangeShapeType="1"/>
            </p:cNvSpPr>
            <p:nvPr/>
          </p:nvSpPr>
          <p:spPr bwMode="auto">
            <a:xfrm>
              <a:off x="2180" y="1350"/>
              <a:ext cx="333" cy="1248"/>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6" name="Line 9"/>
            <p:cNvSpPr>
              <a:spLocks noChangeShapeType="1"/>
            </p:cNvSpPr>
            <p:nvPr/>
          </p:nvSpPr>
          <p:spPr bwMode="auto">
            <a:xfrm flipH="1">
              <a:off x="2513" y="1355"/>
              <a:ext cx="350" cy="1243"/>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7" name="Line 10"/>
            <p:cNvSpPr>
              <a:spLocks noChangeShapeType="1"/>
            </p:cNvSpPr>
            <p:nvPr/>
          </p:nvSpPr>
          <p:spPr bwMode="auto">
            <a:xfrm>
              <a:off x="2863" y="1344"/>
              <a:ext cx="875" cy="683"/>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8" name="Line 11"/>
            <p:cNvSpPr>
              <a:spLocks noChangeShapeType="1"/>
            </p:cNvSpPr>
            <p:nvPr/>
          </p:nvSpPr>
          <p:spPr bwMode="auto">
            <a:xfrm flipH="1">
              <a:off x="2496" y="2027"/>
              <a:ext cx="1242" cy="571"/>
            </a:xfrm>
            <a:prstGeom prst="line">
              <a:avLst/>
            </a:prstGeom>
            <a:noFill/>
            <a:ln w="2857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19" name="Line 12"/>
            <p:cNvSpPr>
              <a:spLocks noChangeShapeType="1"/>
            </p:cNvSpPr>
            <p:nvPr/>
          </p:nvSpPr>
          <p:spPr bwMode="auto">
            <a:xfrm>
              <a:off x="3738" y="2022"/>
              <a:ext cx="802" cy="773"/>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0" name="Line 13"/>
            <p:cNvSpPr>
              <a:spLocks noChangeShapeType="1"/>
            </p:cNvSpPr>
            <p:nvPr/>
          </p:nvSpPr>
          <p:spPr bwMode="auto">
            <a:xfrm>
              <a:off x="4546" y="2801"/>
              <a:ext cx="118" cy="1028"/>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1" name="Line 14"/>
            <p:cNvSpPr>
              <a:spLocks noChangeShapeType="1"/>
            </p:cNvSpPr>
            <p:nvPr/>
          </p:nvSpPr>
          <p:spPr bwMode="auto">
            <a:xfrm flipH="1" flipV="1">
              <a:off x="3721" y="3145"/>
              <a:ext cx="943" cy="689"/>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2" name="Line 15"/>
            <p:cNvSpPr>
              <a:spLocks noChangeShapeType="1"/>
            </p:cNvSpPr>
            <p:nvPr/>
          </p:nvSpPr>
          <p:spPr bwMode="auto">
            <a:xfrm flipH="1">
              <a:off x="3710" y="2790"/>
              <a:ext cx="825" cy="344"/>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3" name="Line 16"/>
            <p:cNvSpPr>
              <a:spLocks noChangeShapeType="1"/>
            </p:cNvSpPr>
            <p:nvPr/>
          </p:nvSpPr>
          <p:spPr bwMode="auto">
            <a:xfrm flipH="1">
              <a:off x="3710" y="2033"/>
              <a:ext cx="28" cy="1101"/>
            </a:xfrm>
            <a:prstGeom prst="line">
              <a:avLst/>
            </a:prstGeom>
            <a:noFill/>
            <a:ln w="2857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4" name="Line 17"/>
            <p:cNvSpPr>
              <a:spLocks noChangeShapeType="1"/>
            </p:cNvSpPr>
            <p:nvPr/>
          </p:nvSpPr>
          <p:spPr bwMode="auto">
            <a:xfrm>
              <a:off x="2519" y="2609"/>
              <a:ext cx="1202" cy="536"/>
            </a:xfrm>
            <a:prstGeom prst="line">
              <a:avLst/>
            </a:prstGeom>
            <a:noFill/>
            <a:ln w="28575">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5" name="Line 18"/>
            <p:cNvSpPr>
              <a:spLocks noChangeShapeType="1"/>
            </p:cNvSpPr>
            <p:nvPr/>
          </p:nvSpPr>
          <p:spPr bwMode="auto">
            <a:xfrm flipH="1">
              <a:off x="2632" y="3140"/>
              <a:ext cx="1095" cy="790"/>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6" name="Line 19"/>
            <p:cNvSpPr>
              <a:spLocks noChangeShapeType="1"/>
            </p:cNvSpPr>
            <p:nvPr/>
          </p:nvSpPr>
          <p:spPr bwMode="auto">
            <a:xfrm>
              <a:off x="2524" y="2603"/>
              <a:ext cx="102" cy="1327"/>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7" name="Line 20"/>
            <p:cNvSpPr>
              <a:spLocks noChangeShapeType="1"/>
            </p:cNvSpPr>
            <p:nvPr/>
          </p:nvSpPr>
          <p:spPr bwMode="auto">
            <a:xfrm>
              <a:off x="1400" y="3371"/>
              <a:ext cx="1232" cy="571"/>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8" name="Line 21"/>
            <p:cNvSpPr>
              <a:spLocks noChangeShapeType="1"/>
            </p:cNvSpPr>
            <p:nvPr/>
          </p:nvSpPr>
          <p:spPr bwMode="auto">
            <a:xfrm flipV="1">
              <a:off x="2643" y="3829"/>
              <a:ext cx="2021" cy="113"/>
            </a:xfrm>
            <a:prstGeom prst="line">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29" name="Oval 22"/>
            <p:cNvSpPr>
              <a:spLocks noChangeArrowheads="1"/>
            </p:cNvSpPr>
            <p:nvPr/>
          </p:nvSpPr>
          <p:spPr bwMode="auto">
            <a:xfrm>
              <a:off x="2444" y="2541"/>
              <a:ext cx="125" cy="118"/>
            </a:xfrm>
            <a:prstGeom prst="ellipse">
              <a:avLst/>
            </a:prstGeom>
            <a:solidFill>
              <a:srgbClr val="FF66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30" name="Oval 23"/>
            <p:cNvSpPr>
              <a:spLocks noChangeArrowheads="1"/>
            </p:cNvSpPr>
            <p:nvPr/>
          </p:nvSpPr>
          <p:spPr bwMode="auto">
            <a:xfrm>
              <a:off x="3659" y="3070"/>
              <a:ext cx="130" cy="124"/>
            </a:xfrm>
            <a:prstGeom prst="ellipse">
              <a:avLst/>
            </a:prstGeom>
            <a:solidFill>
              <a:srgbClr val="33CC33"/>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31" name="Line 24"/>
            <p:cNvSpPr>
              <a:spLocks noChangeShapeType="1"/>
            </p:cNvSpPr>
            <p:nvPr/>
          </p:nvSpPr>
          <p:spPr bwMode="auto">
            <a:xfrm>
              <a:off x="3219" y="2733"/>
              <a:ext cx="175" cy="136"/>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32" name="Line 25"/>
            <p:cNvSpPr>
              <a:spLocks noChangeShapeType="1"/>
            </p:cNvSpPr>
            <p:nvPr/>
          </p:nvSpPr>
          <p:spPr bwMode="auto">
            <a:xfrm flipH="1" flipV="1">
              <a:off x="3528" y="2366"/>
              <a:ext cx="1" cy="220"/>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33" name="Line 26"/>
            <p:cNvSpPr>
              <a:spLocks noChangeShapeType="1"/>
            </p:cNvSpPr>
            <p:nvPr/>
          </p:nvSpPr>
          <p:spPr bwMode="auto">
            <a:xfrm flipH="1">
              <a:off x="3066" y="2440"/>
              <a:ext cx="170" cy="135"/>
            </a:xfrm>
            <a:prstGeom prst="line">
              <a:avLst/>
            </a:prstGeom>
            <a:noFill/>
            <a:ln w="19050">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34" name="Freeform 27"/>
            <p:cNvSpPr>
              <a:spLocks/>
            </p:cNvSpPr>
            <p:nvPr/>
          </p:nvSpPr>
          <p:spPr bwMode="auto">
            <a:xfrm>
              <a:off x="1570" y="1768"/>
              <a:ext cx="1762" cy="1536"/>
            </a:xfrm>
            <a:custGeom>
              <a:avLst/>
              <a:gdLst>
                <a:gd name="T0" fmla="*/ 1762 w 1762"/>
                <a:gd name="T1" fmla="*/ 818 h 1536"/>
                <a:gd name="T2" fmla="*/ 1564 w 1762"/>
                <a:gd name="T3" fmla="*/ 542 h 1536"/>
                <a:gd name="T4" fmla="*/ 1468 w 1762"/>
                <a:gd name="T5" fmla="*/ 225 h 1536"/>
                <a:gd name="T6" fmla="*/ 1107 w 1762"/>
                <a:gd name="T7" fmla="*/ 203 h 1536"/>
                <a:gd name="T8" fmla="*/ 949 w 1762"/>
                <a:gd name="T9" fmla="*/ 0 h 1536"/>
                <a:gd name="T10" fmla="*/ 774 w 1762"/>
                <a:gd name="T11" fmla="*/ 214 h 1536"/>
                <a:gd name="T12" fmla="*/ 260 w 1762"/>
                <a:gd name="T13" fmla="*/ 5 h 1536"/>
                <a:gd name="T14" fmla="*/ 90 w 1762"/>
                <a:gd name="T15" fmla="*/ 208 h 1536"/>
                <a:gd name="T16" fmla="*/ 0 w 1762"/>
                <a:gd name="T17" fmla="*/ 672 h 1536"/>
                <a:gd name="T18" fmla="*/ 384 w 1762"/>
                <a:gd name="T19" fmla="*/ 1219 h 1536"/>
                <a:gd name="T20" fmla="*/ 610 w 1762"/>
                <a:gd name="T21" fmla="*/ 1536 h 1536"/>
                <a:gd name="T22" fmla="*/ 994 w 1762"/>
                <a:gd name="T23" fmla="*/ 1496 h 1536"/>
                <a:gd name="T24" fmla="*/ 1389 w 1762"/>
                <a:gd name="T25" fmla="*/ 1451 h 1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2" h="1536">
                  <a:moveTo>
                    <a:pt x="1762" y="818"/>
                  </a:moveTo>
                  <a:lnTo>
                    <a:pt x="1564" y="542"/>
                  </a:lnTo>
                  <a:lnTo>
                    <a:pt x="1468" y="225"/>
                  </a:lnTo>
                  <a:lnTo>
                    <a:pt x="1107" y="203"/>
                  </a:lnTo>
                  <a:lnTo>
                    <a:pt x="949" y="0"/>
                  </a:lnTo>
                  <a:lnTo>
                    <a:pt x="774" y="214"/>
                  </a:lnTo>
                  <a:lnTo>
                    <a:pt x="260" y="5"/>
                  </a:lnTo>
                  <a:lnTo>
                    <a:pt x="90" y="208"/>
                  </a:lnTo>
                  <a:lnTo>
                    <a:pt x="0" y="672"/>
                  </a:lnTo>
                  <a:lnTo>
                    <a:pt x="384" y="1219"/>
                  </a:lnTo>
                  <a:lnTo>
                    <a:pt x="610" y="1536"/>
                  </a:lnTo>
                  <a:lnTo>
                    <a:pt x="994" y="1496"/>
                  </a:lnTo>
                  <a:lnTo>
                    <a:pt x="1389" y="1451"/>
                  </a:lnTo>
                </a:path>
              </a:pathLst>
            </a:custGeom>
            <a:noFill/>
            <a:ln w="28575" cap="flat" cmpd="sng">
              <a:solidFill>
                <a:srgbClr val="FF0000"/>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endParaRPr lang="en-US">
                <a:latin typeface="Arial"/>
                <a:cs typeface="Arial"/>
              </a:endParaRPr>
            </a:p>
          </p:txBody>
        </p:sp>
        <p:sp>
          <p:nvSpPr>
            <p:cNvPr id="35" name="Line 28"/>
            <p:cNvSpPr>
              <a:spLocks noChangeShapeType="1"/>
            </p:cNvSpPr>
            <p:nvPr/>
          </p:nvSpPr>
          <p:spPr bwMode="auto">
            <a:xfrm>
              <a:off x="3332" y="2581"/>
              <a:ext cx="610" cy="248"/>
            </a:xfrm>
            <a:prstGeom prst="line">
              <a:avLst/>
            </a:prstGeom>
            <a:noFill/>
            <a:ln w="28575">
              <a:solidFill>
                <a:srgbClr val="33CC33"/>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36" name="Oval 29"/>
            <p:cNvSpPr>
              <a:spLocks noChangeArrowheads="1"/>
            </p:cNvSpPr>
            <p:nvPr/>
          </p:nvSpPr>
          <p:spPr bwMode="auto">
            <a:xfrm>
              <a:off x="3303" y="2546"/>
              <a:ext cx="74" cy="74"/>
            </a:xfrm>
            <a:prstGeom prst="ellipse">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37" name="Text Box 30"/>
            <p:cNvSpPr txBox="1">
              <a:spLocks noChangeArrowheads="1"/>
            </p:cNvSpPr>
            <p:nvPr/>
          </p:nvSpPr>
          <p:spPr bwMode="auto">
            <a:xfrm>
              <a:off x="3624" y="3174"/>
              <a:ext cx="224"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d</a:t>
              </a:r>
              <a:endParaRPr lang="en-GB" sz="2400">
                <a:latin typeface="Arial"/>
                <a:cs typeface="Arial"/>
              </a:endParaRPr>
            </a:p>
          </p:txBody>
        </p:sp>
        <p:sp>
          <p:nvSpPr>
            <p:cNvPr id="38" name="Text Box 31"/>
            <p:cNvSpPr txBox="1">
              <a:spLocks noChangeArrowheads="1"/>
            </p:cNvSpPr>
            <p:nvPr/>
          </p:nvSpPr>
          <p:spPr bwMode="auto">
            <a:xfrm>
              <a:off x="2195" y="2440"/>
              <a:ext cx="21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c</a:t>
              </a:r>
              <a:endParaRPr lang="en-GB" sz="2400">
                <a:latin typeface="Arial"/>
                <a:cs typeface="Arial"/>
              </a:endParaRPr>
            </a:p>
          </p:txBody>
        </p:sp>
        <p:sp>
          <p:nvSpPr>
            <p:cNvPr id="39" name="Text Box 32"/>
            <p:cNvSpPr txBox="1">
              <a:spLocks noChangeArrowheads="1"/>
            </p:cNvSpPr>
            <p:nvPr/>
          </p:nvSpPr>
          <p:spPr bwMode="auto">
            <a:xfrm>
              <a:off x="1116" y="3235"/>
              <a:ext cx="224"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u</a:t>
              </a:r>
              <a:endParaRPr lang="en-GB" sz="2400">
                <a:latin typeface="Arial"/>
                <a:cs typeface="Arial"/>
              </a:endParaRPr>
            </a:p>
          </p:txBody>
        </p:sp>
        <p:sp>
          <p:nvSpPr>
            <p:cNvPr id="40" name="Oval 33"/>
            <p:cNvSpPr>
              <a:spLocks noChangeArrowheads="1"/>
            </p:cNvSpPr>
            <p:nvPr/>
          </p:nvSpPr>
          <p:spPr bwMode="auto">
            <a:xfrm>
              <a:off x="2799" y="1305"/>
              <a:ext cx="125" cy="118"/>
            </a:xfrm>
            <a:prstGeom prst="ellipse">
              <a:avLst/>
            </a:prstGeom>
            <a:solidFill>
              <a:srgbClr val="FF00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1" name="Oval 34"/>
            <p:cNvSpPr>
              <a:spLocks noChangeArrowheads="1"/>
            </p:cNvSpPr>
            <p:nvPr/>
          </p:nvSpPr>
          <p:spPr bwMode="auto">
            <a:xfrm>
              <a:off x="2115" y="1300"/>
              <a:ext cx="125" cy="118"/>
            </a:xfrm>
            <a:prstGeom prst="ellipse">
              <a:avLst/>
            </a:prstGeom>
            <a:solidFill>
              <a:srgbClr val="FF00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2" name="Oval 35"/>
            <p:cNvSpPr>
              <a:spLocks noChangeArrowheads="1"/>
            </p:cNvSpPr>
            <p:nvPr/>
          </p:nvSpPr>
          <p:spPr bwMode="auto">
            <a:xfrm>
              <a:off x="753" y="1278"/>
              <a:ext cx="125" cy="118"/>
            </a:xfrm>
            <a:prstGeom prst="ellipse">
              <a:avLst/>
            </a:prstGeom>
            <a:solidFill>
              <a:srgbClr val="FF00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3" name="Oval 36"/>
            <p:cNvSpPr>
              <a:spLocks noChangeArrowheads="1"/>
            </p:cNvSpPr>
            <p:nvPr/>
          </p:nvSpPr>
          <p:spPr bwMode="auto">
            <a:xfrm>
              <a:off x="1346" y="3306"/>
              <a:ext cx="125" cy="118"/>
            </a:xfrm>
            <a:prstGeom prst="ellipse">
              <a:avLst/>
            </a:prstGeom>
            <a:solidFill>
              <a:srgbClr val="FF00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4" name="Oval 39"/>
            <p:cNvSpPr>
              <a:spLocks noChangeArrowheads="1"/>
            </p:cNvSpPr>
            <p:nvPr/>
          </p:nvSpPr>
          <p:spPr bwMode="auto">
            <a:xfrm>
              <a:off x="2562" y="3851"/>
              <a:ext cx="125" cy="118"/>
            </a:xfrm>
            <a:prstGeom prst="ellipse">
              <a:avLst/>
            </a:prstGeom>
            <a:solidFill>
              <a:srgbClr val="FFFF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5" name="Oval 40"/>
            <p:cNvSpPr>
              <a:spLocks noChangeArrowheads="1"/>
            </p:cNvSpPr>
            <p:nvPr/>
          </p:nvSpPr>
          <p:spPr bwMode="auto">
            <a:xfrm>
              <a:off x="4601" y="3761"/>
              <a:ext cx="125" cy="118"/>
            </a:xfrm>
            <a:prstGeom prst="ellipse">
              <a:avLst/>
            </a:prstGeom>
            <a:solidFill>
              <a:srgbClr val="0000FF"/>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6" name="Oval 41"/>
            <p:cNvSpPr>
              <a:spLocks noChangeArrowheads="1"/>
            </p:cNvSpPr>
            <p:nvPr/>
          </p:nvSpPr>
          <p:spPr bwMode="auto">
            <a:xfrm>
              <a:off x="4471" y="2734"/>
              <a:ext cx="125" cy="118"/>
            </a:xfrm>
            <a:prstGeom prst="ellipse">
              <a:avLst/>
            </a:prstGeom>
            <a:solidFill>
              <a:srgbClr val="00FFFF"/>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7" name="Oval 42"/>
            <p:cNvSpPr>
              <a:spLocks noChangeArrowheads="1"/>
            </p:cNvSpPr>
            <p:nvPr/>
          </p:nvSpPr>
          <p:spPr bwMode="auto">
            <a:xfrm>
              <a:off x="3669" y="1966"/>
              <a:ext cx="125" cy="118"/>
            </a:xfrm>
            <a:prstGeom prst="ellipse">
              <a:avLst/>
            </a:prstGeom>
            <a:solidFill>
              <a:srgbClr val="FFFF00"/>
            </a:solidFill>
            <a:ln w="1905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latin typeface="Arial"/>
                <a:cs typeface="Arial"/>
              </a:endParaRPr>
            </a:p>
          </p:txBody>
        </p:sp>
        <p:sp>
          <p:nvSpPr>
            <p:cNvPr id="48" name="Text Box 43"/>
            <p:cNvSpPr txBox="1">
              <a:spLocks noChangeArrowheads="1"/>
            </p:cNvSpPr>
            <p:nvPr/>
          </p:nvSpPr>
          <p:spPr bwMode="auto">
            <a:xfrm rot="18979976">
              <a:off x="1227" y="3328"/>
              <a:ext cx="2124"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lgn="ctr"/>
              <a:r>
                <a:rPr lang="en-US" dirty="0">
                  <a:solidFill>
                    <a:srgbClr val="FF6600"/>
                  </a:solidFill>
                  <a:latin typeface="Arial"/>
                  <a:cs typeface="Arial"/>
                </a:rPr>
                <a:t>Solute Concentration Front</a:t>
              </a:r>
              <a:endParaRPr lang="en-GB" dirty="0">
                <a:solidFill>
                  <a:srgbClr val="FF6600"/>
                </a:solidFill>
                <a:latin typeface="Arial"/>
                <a:cs typeface="Arial"/>
              </a:endParaRPr>
            </a:p>
          </p:txBody>
        </p:sp>
        <p:sp>
          <p:nvSpPr>
            <p:cNvPr id="49" name="Freeform 44"/>
            <p:cNvSpPr>
              <a:spLocks/>
            </p:cNvSpPr>
            <p:nvPr/>
          </p:nvSpPr>
          <p:spPr bwMode="auto">
            <a:xfrm>
              <a:off x="1536" y="1350"/>
              <a:ext cx="1824" cy="2626"/>
            </a:xfrm>
            <a:custGeom>
              <a:avLst/>
              <a:gdLst>
                <a:gd name="T0" fmla="*/ 0 w 1824"/>
                <a:gd name="T1" fmla="*/ 2626 h 2626"/>
                <a:gd name="T2" fmla="*/ 531 w 1824"/>
                <a:gd name="T3" fmla="*/ 2202 h 2626"/>
                <a:gd name="T4" fmla="*/ 943 w 1824"/>
                <a:gd name="T5" fmla="*/ 1767 h 2626"/>
                <a:gd name="T6" fmla="*/ 1180 w 1824"/>
                <a:gd name="T7" fmla="*/ 1445 h 2626"/>
                <a:gd name="T8" fmla="*/ 1327 w 1824"/>
                <a:gd name="T9" fmla="*/ 1186 h 2626"/>
                <a:gd name="T10" fmla="*/ 1474 w 1824"/>
                <a:gd name="T11" fmla="*/ 762 h 2626"/>
                <a:gd name="T12" fmla="*/ 1824 w 1824"/>
                <a:gd name="T13" fmla="*/ 0 h 2626"/>
              </a:gdLst>
              <a:ahLst/>
              <a:cxnLst>
                <a:cxn ang="0">
                  <a:pos x="T0" y="T1"/>
                </a:cxn>
                <a:cxn ang="0">
                  <a:pos x="T2" y="T3"/>
                </a:cxn>
                <a:cxn ang="0">
                  <a:pos x="T4" y="T5"/>
                </a:cxn>
                <a:cxn ang="0">
                  <a:pos x="T6" y="T7"/>
                </a:cxn>
                <a:cxn ang="0">
                  <a:pos x="T8" y="T9"/>
                </a:cxn>
                <a:cxn ang="0">
                  <a:pos x="T10" y="T11"/>
                </a:cxn>
                <a:cxn ang="0">
                  <a:pos x="T12" y="T13"/>
                </a:cxn>
              </a:cxnLst>
              <a:rect l="0" t="0" r="r" b="b"/>
              <a:pathLst>
                <a:path w="1824" h="2626">
                  <a:moveTo>
                    <a:pt x="0" y="2626"/>
                  </a:moveTo>
                  <a:lnTo>
                    <a:pt x="531" y="2202"/>
                  </a:lnTo>
                  <a:lnTo>
                    <a:pt x="943" y="1767"/>
                  </a:lnTo>
                  <a:lnTo>
                    <a:pt x="1180" y="1445"/>
                  </a:lnTo>
                  <a:lnTo>
                    <a:pt x="1327" y="1186"/>
                  </a:lnTo>
                  <a:lnTo>
                    <a:pt x="1474" y="762"/>
                  </a:lnTo>
                  <a:lnTo>
                    <a:pt x="1824" y="0"/>
                  </a:lnTo>
                </a:path>
              </a:pathLst>
            </a:custGeom>
            <a:noFill/>
            <a:ln w="28575" cap="flat" cmpd="sng">
              <a:solidFill>
                <a:srgbClr val="FF6600"/>
              </a:solidFill>
              <a:prstDash val="dashDot"/>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wrap="none"/>
            <a:lstStyle/>
            <a:p>
              <a:endParaRPr lang="en-US">
                <a:latin typeface="Arial"/>
                <a:cs typeface="Arial"/>
              </a:endParaRPr>
            </a:p>
          </p:txBody>
        </p:sp>
        <p:sp>
          <p:nvSpPr>
            <p:cNvPr id="50" name="Line 45"/>
            <p:cNvSpPr>
              <a:spLocks noChangeShapeType="1"/>
            </p:cNvSpPr>
            <p:nvPr/>
          </p:nvSpPr>
          <p:spPr bwMode="auto">
            <a:xfrm>
              <a:off x="2810" y="1645"/>
              <a:ext cx="339" cy="129"/>
            </a:xfrm>
            <a:prstGeom prst="line">
              <a:avLst/>
            </a:prstGeom>
            <a:noFill/>
            <a:ln w="28575">
              <a:solidFill>
                <a:srgbClr val="FF6600"/>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51" name="Line 46"/>
            <p:cNvSpPr>
              <a:spLocks noChangeShapeType="1"/>
            </p:cNvSpPr>
            <p:nvPr/>
          </p:nvSpPr>
          <p:spPr bwMode="auto">
            <a:xfrm>
              <a:off x="1336" y="3727"/>
              <a:ext cx="322" cy="130"/>
            </a:xfrm>
            <a:prstGeom prst="line">
              <a:avLst/>
            </a:prstGeom>
            <a:noFill/>
            <a:ln w="28575">
              <a:solidFill>
                <a:srgbClr val="FF6600"/>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endParaRPr lang="en-US">
                <a:latin typeface="Arial"/>
                <a:cs typeface="Arial"/>
              </a:endParaRPr>
            </a:p>
          </p:txBody>
        </p:sp>
        <p:sp>
          <p:nvSpPr>
            <p:cNvPr id="52" name="Text Box 47"/>
            <p:cNvSpPr txBox="1">
              <a:spLocks noChangeArrowheads="1"/>
            </p:cNvSpPr>
            <p:nvPr/>
          </p:nvSpPr>
          <p:spPr bwMode="auto">
            <a:xfrm>
              <a:off x="1839" y="2372"/>
              <a:ext cx="39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FV</a:t>
              </a:r>
              <a:r>
                <a:rPr lang="en-US" sz="2400" baseline="-25000">
                  <a:latin typeface="Arial"/>
                  <a:cs typeface="Arial"/>
                </a:rPr>
                <a:t>i</a:t>
              </a:r>
              <a:endParaRPr lang="en-GB" sz="2400" baseline="-25000">
                <a:latin typeface="Arial"/>
                <a:cs typeface="Arial"/>
              </a:endParaRPr>
            </a:p>
          </p:txBody>
        </p:sp>
        <p:sp>
          <p:nvSpPr>
            <p:cNvPr id="53" name="Text Box 48"/>
            <p:cNvSpPr txBox="1">
              <a:spLocks noChangeArrowheads="1"/>
            </p:cNvSpPr>
            <p:nvPr/>
          </p:nvSpPr>
          <p:spPr bwMode="auto">
            <a:xfrm>
              <a:off x="3170" y="2985"/>
              <a:ext cx="401"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FV</a:t>
              </a:r>
              <a:r>
                <a:rPr lang="en-US" sz="2400" baseline="-25000">
                  <a:latin typeface="Arial"/>
                  <a:cs typeface="Arial"/>
                </a:rPr>
                <a:t>j</a:t>
              </a:r>
              <a:endParaRPr lang="en-GB" sz="2400" baseline="-25000">
                <a:latin typeface="Arial"/>
                <a:cs typeface="Arial"/>
              </a:endParaRPr>
            </a:p>
          </p:txBody>
        </p:sp>
        <p:sp>
          <p:nvSpPr>
            <p:cNvPr id="54" name="Text Box 49"/>
            <p:cNvSpPr txBox="1">
              <a:spLocks noChangeArrowheads="1"/>
            </p:cNvSpPr>
            <p:nvPr/>
          </p:nvSpPr>
          <p:spPr bwMode="auto">
            <a:xfrm>
              <a:off x="3404" y="2095"/>
              <a:ext cx="224"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n</a:t>
              </a:r>
              <a:endParaRPr lang="en-GB" sz="2400">
                <a:latin typeface="Arial"/>
                <a:cs typeface="Arial"/>
              </a:endParaRPr>
            </a:p>
          </p:txBody>
        </p:sp>
        <p:sp>
          <p:nvSpPr>
            <p:cNvPr id="55" name="Text Box 50"/>
            <p:cNvSpPr txBox="1">
              <a:spLocks noChangeArrowheads="1"/>
            </p:cNvSpPr>
            <p:nvPr/>
          </p:nvSpPr>
          <p:spPr bwMode="auto">
            <a:xfrm>
              <a:off x="2333" y="2628"/>
              <a:ext cx="224"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0</a:t>
              </a:r>
              <a:endParaRPr lang="en-GB" sz="2400">
                <a:latin typeface="Arial"/>
                <a:cs typeface="Arial"/>
              </a:endParaRPr>
            </a:p>
          </p:txBody>
        </p:sp>
        <p:sp>
          <p:nvSpPr>
            <p:cNvPr id="56" name="Text Box 51"/>
            <p:cNvSpPr txBox="1">
              <a:spLocks noChangeArrowheads="1"/>
            </p:cNvSpPr>
            <p:nvPr/>
          </p:nvSpPr>
          <p:spPr bwMode="auto">
            <a:xfrm>
              <a:off x="3810" y="3021"/>
              <a:ext cx="224"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1</a:t>
              </a:r>
              <a:endParaRPr lang="en-GB" sz="2400">
                <a:latin typeface="Arial"/>
                <a:cs typeface="Arial"/>
              </a:endParaRPr>
            </a:p>
          </p:txBody>
        </p:sp>
        <p:sp>
          <p:nvSpPr>
            <p:cNvPr id="57" name="Text Box 52"/>
            <p:cNvSpPr txBox="1">
              <a:spLocks noChangeArrowheads="1"/>
            </p:cNvSpPr>
            <p:nvPr/>
          </p:nvSpPr>
          <p:spPr bwMode="auto">
            <a:xfrm>
              <a:off x="3783" y="1778"/>
              <a:ext cx="224"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2</a:t>
              </a:r>
              <a:endParaRPr lang="en-GB" sz="2400">
                <a:latin typeface="Arial"/>
                <a:cs typeface="Arial"/>
              </a:endParaRPr>
            </a:p>
          </p:txBody>
        </p:sp>
      </p:grpSp>
      <p:sp>
        <p:nvSpPr>
          <p:cNvPr id="58" name="Text Box 54"/>
          <p:cNvSpPr txBox="1">
            <a:spLocks noChangeArrowheads="1"/>
          </p:cNvSpPr>
          <p:nvPr/>
        </p:nvSpPr>
        <p:spPr bwMode="auto">
          <a:xfrm>
            <a:off x="6192838" y="4258692"/>
            <a:ext cx="3651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v</a:t>
            </a:r>
            <a:endParaRPr lang="en-GB" sz="2400">
              <a:latin typeface="Arial"/>
              <a:cs typeface="Arial"/>
            </a:endParaRPr>
          </a:p>
        </p:txBody>
      </p:sp>
      <p:sp>
        <p:nvSpPr>
          <p:cNvPr id="59" name="Text Box 55"/>
          <p:cNvSpPr txBox="1">
            <a:spLocks noChangeArrowheads="1"/>
          </p:cNvSpPr>
          <p:nvPr/>
        </p:nvSpPr>
        <p:spPr bwMode="auto">
          <a:xfrm>
            <a:off x="1358900" y="2207642"/>
            <a:ext cx="1467619"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Arial"/>
                <a:cs typeface="Arial"/>
              </a:rPr>
              <a:t>upstream</a:t>
            </a:r>
            <a:endParaRPr lang="en-GB" sz="2400" dirty="0">
              <a:latin typeface="Arial"/>
              <a:cs typeface="Arial"/>
            </a:endParaRPr>
          </a:p>
        </p:txBody>
      </p:sp>
      <p:sp>
        <p:nvSpPr>
          <p:cNvPr id="60" name="Text Box 56"/>
          <p:cNvSpPr txBox="1">
            <a:spLocks noChangeArrowheads="1"/>
          </p:cNvSpPr>
          <p:nvPr/>
        </p:nvSpPr>
        <p:spPr bwMode="auto">
          <a:xfrm>
            <a:off x="6875463" y="6063679"/>
            <a:ext cx="186105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400">
                <a:latin typeface="Arial"/>
                <a:cs typeface="Arial"/>
              </a:rPr>
              <a:t>downstream</a:t>
            </a:r>
            <a:endParaRPr lang="en-GB" sz="2400">
              <a:latin typeface="Arial"/>
              <a:cs typeface="Arial"/>
            </a:endParaRPr>
          </a:p>
        </p:txBody>
      </p:sp>
      <p:pic>
        <p:nvPicPr>
          <p:cNvPr id="64" name="Picture 63"/>
          <p:cNvPicPr>
            <a:picLocks noChangeAspect="1"/>
          </p:cNvPicPr>
          <p:nvPr/>
        </p:nvPicPr>
        <p:blipFill>
          <a:blip r:embed="rId2"/>
          <a:stretch>
            <a:fillRect/>
          </a:stretch>
        </p:blipFill>
        <p:spPr>
          <a:xfrm>
            <a:off x="6420128" y="880134"/>
            <a:ext cx="2184320" cy="1180714"/>
          </a:xfrm>
          <a:prstGeom prst="rect">
            <a:avLst/>
          </a:prstGeom>
        </p:spPr>
      </p:pic>
    </p:spTree>
    <p:extLst>
      <p:ext uri="{BB962C8B-B14F-4D97-AF65-F5344CB8AC3E}">
        <p14:creationId xmlns:p14="http://schemas.microsoft.com/office/powerpoint/2010/main" val="19361979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the upstream direction</a:t>
            </a:r>
          </a:p>
        </p:txBody>
      </p:sp>
      <p:sp>
        <p:nvSpPr>
          <p:cNvPr id="3" name="Content Placeholder 2"/>
          <p:cNvSpPr>
            <a:spLocks noGrp="1"/>
          </p:cNvSpPr>
          <p:nvPr>
            <p:ph idx="1"/>
          </p:nvPr>
        </p:nvSpPr>
        <p:spPr>
          <a:xfrm>
            <a:off x="457200" y="764704"/>
            <a:ext cx="8229600" cy="570383"/>
          </a:xfrm>
        </p:spPr>
        <p:txBody>
          <a:bodyPr>
            <a:normAutofit/>
          </a:bodyPr>
          <a:lstStyle/>
          <a:p>
            <a:pPr marL="0" indent="0">
              <a:buNone/>
            </a:pPr>
            <a:r>
              <a:rPr lang="en-US" sz="1800" dirty="0"/>
              <a:t>Method of </a:t>
            </a:r>
            <a:r>
              <a:rPr lang="en-US" sz="1800" dirty="0" err="1"/>
              <a:t>Shaho</a:t>
            </a:r>
            <a:r>
              <a:rPr lang="en-US" sz="1800" dirty="0"/>
              <a:t> for simultaneous capillary – gravitational  - viscous flows.</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45</a:t>
            </a:fld>
            <a:endParaRPr lang="en-US"/>
          </a:p>
        </p:txBody>
      </p:sp>
      <p:pic>
        <p:nvPicPr>
          <p:cNvPr id="7" name="Picture 6"/>
          <p:cNvPicPr>
            <a:picLocks noChangeAspect="1"/>
          </p:cNvPicPr>
          <p:nvPr/>
        </p:nvPicPr>
        <p:blipFill>
          <a:blip r:embed="rId3"/>
          <a:stretch>
            <a:fillRect/>
          </a:stretch>
        </p:blipFill>
        <p:spPr>
          <a:xfrm>
            <a:off x="35496" y="1268759"/>
            <a:ext cx="9073008" cy="5224115"/>
          </a:xfrm>
          <a:prstGeom prst="rect">
            <a:avLst/>
          </a:prstGeom>
        </p:spPr>
      </p:pic>
      <p:cxnSp>
        <p:nvCxnSpPr>
          <p:cNvPr id="9" name="Straight Arrow Connector 8"/>
          <p:cNvCxnSpPr/>
          <p:nvPr/>
        </p:nvCxnSpPr>
        <p:spPr>
          <a:xfrm flipH="1">
            <a:off x="1115616" y="1988840"/>
            <a:ext cx="144016" cy="36004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12234" y="1619508"/>
            <a:ext cx="2159566" cy="369332"/>
          </a:xfrm>
          <a:prstGeom prst="rect">
            <a:avLst/>
          </a:prstGeom>
          <a:noFill/>
        </p:spPr>
        <p:txBody>
          <a:bodyPr wrap="none" rtlCol="0">
            <a:spAutoFit/>
          </a:bodyPr>
          <a:lstStyle/>
          <a:p>
            <a:r>
              <a:rPr lang="en-US" dirty="0">
                <a:solidFill>
                  <a:schemeClr val="accent1">
                    <a:lumMod val="50000"/>
                  </a:schemeClr>
                </a:solidFill>
              </a:rPr>
              <a:t>average o-w mobility  </a:t>
            </a:r>
          </a:p>
        </p:txBody>
      </p:sp>
    </p:spTree>
    <p:extLst>
      <p:ext uri="{BB962C8B-B14F-4D97-AF65-F5344CB8AC3E}">
        <p14:creationId xmlns:p14="http://schemas.microsoft.com/office/powerpoint/2010/main" val="4004265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184" y="0"/>
            <a:ext cx="2314600" cy="3501008"/>
          </a:xfrm>
        </p:spPr>
        <p:txBody>
          <a:bodyPr/>
          <a:lstStyle/>
          <a:p>
            <a:r>
              <a:rPr lang="en-US" dirty="0"/>
              <a:t>Upstream direction calculation algorithms</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46</a:t>
            </a:fld>
            <a:endParaRPr lang="en-US"/>
          </a:p>
        </p:txBody>
      </p:sp>
      <p:pic>
        <p:nvPicPr>
          <p:cNvPr id="7" name="Picture 6"/>
          <p:cNvPicPr>
            <a:picLocks noChangeAspect="1"/>
          </p:cNvPicPr>
          <p:nvPr/>
        </p:nvPicPr>
        <p:blipFill>
          <a:blip r:embed="rId2"/>
          <a:stretch>
            <a:fillRect/>
          </a:stretch>
        </p:blipFill>
        <p:spPr>
          <a:xfrm>
            <a:off x="2339752" y="0"/>
            <a:ext cx="5494798" cy="6803396"/>
          </a:xfrm>
          <a:prstGeom prst="rect">
            <a:avLst/>
          </a:prstGeom>
        </p:spPr>
      </p:pic>
      <p:sp>
        <p:nvSpPr>
          <p:cNvPr id="8" name="TextBox 7"/>
          <p:cNvSpPr txBox="1"/>
          <p:nvPr/>
        </p:nvSpPr>
        <p:spPr>
          <a:xfrm>
            <a:off x="4644008" y="354142"/>
            <a:ext cx="1963799" cy="338554"/>
          </a:xfrm>
          <a:prstGeom prst="rect">
            <a:avLst/>
          </a:prstGeom>
          <a:noFill/>
        </p:spPr>
        <p:txBody>
          <a:bodyPr wrap="none" rtlCol="0">
            <a:spAutoFit/>
          </a:bodyPr>
          <a:lstStyle/>
          <a:p>
            <a:r>
              <a:rPr lang="en-US" sz="1600" dirty="0">
                <a:solidFill>
                  <a:srgbClr val="0000FF"/>
                </a:solidFill>
                <a:latin typeface="Arial"/>
                <a:cs typeface="Arial"/>
              </a:rPr>
              <a:t>for an incoming flux</a:t>
            </a:r>
          </a:p>
        </p:txBody>
      </p:sp>
      <p:sp>
        <p:nvSpPr>
          <p:cNvPr id="9" name="TextBox 8"/>
          <p:cNvSpPr txBox="1"/>
          <p:nvPr/>
        </p:nvSpPr>
        <p:spPr>
          <a:xfrm>
            <a:off x="4644008" y="3356992"/>
            <a:ext cx="1861407" cy="338554"/>
          </a:xfrm>
          <a:prstGeom prst="rect">
            <a:avLst/>
          </a:prstGeom>
          <a:noFill/>
        </p:spPr>
        <p:txBody>
          <a:bodyPr wrap="none" rtlCol="0">
            <a:spAutoFit/>
          </a:bodyPr>
          <a:lstStyle/>
          <a:p>
            <a:r>
              <a:rPr lang="en-US" sz="1600" dirty="0">
                <a:solidFill>
                  <a:srgbClr val="FF0066"/>
                </a:solidFill>
                <a:latin typeface="Arial"/>
                <a:cs typeface="Arial"/>
              </a:rPr>
              <a:t>for outgoing fluxes</a:t>
            </a:r>
          </a:p>
        </p:txBody>
      </p:sp>
      <p:sp>
        <p:nvSpPr>
          <p:cNvPr id="10" name="Rectangle 9"/>
          <p:cNvSpPr/>
          <p:nvPr/>
        </p:nvSpPr>
        <p:spPr>
          <a:xfrm>
            <a:off x="4346521" y="691119"/>
            <a:ext cx="3537847" cy="276999"/>
          </a:xfrm>
          <a:prstGeom prst="rect">
            <a:avLst/>
          </a:prstGeom>
        </p:spPr>
        <p:txBody>
          <a:bodyPr wrap="none">
            <a:spAutoFit/>
          </a:bodyPr>
          <a:lstStyle/>
          <a:p>
            <a:r>
              <a:rPr lang="en-US" b="1" baseline="30000" dirty="0">
                <a:latin typeface="Arial"/>
                <a:cs typeface="Arial"/>
              </a:rPr>
              <a:t>̂ </a:t>
            </a:r>
            <a:r>
              <a:rPr lang="en-US" b="1" baseline="30000" dirty="0" err="1">
                <a:latin typeface="Arial"/>
                <a:cs typeface="Arial"/>
              </a:rPr>
              <a:t>k</a:t>
            </a:r>
            <a:r>
              <a:rPr lang="en-US" baseline="30000" dirty="0" err="1">
                <a:latin typeface="Arial"/>
                <a:cs typeface="Arial"/>
              </a:rPr>
              <a:t>_hat</a:t>
            </a:r>
            <a:r>
              <a:rPr lang="en-US" baseline="30000" dirty="0">
                <a:latin typeface="Arial"/>
                <a:cs typeface="Arial"/>
              </a:rPr>
              <a:t> is the vertical unit vector pointing upwards</a:t>
            </a:r>
            <a:endParaRPr lang="en-US" dirty="0">
              <a:latin typeface="Arial"/>
              <a:cs typeface="Arial"/>
            </a:endParaRPr>
          </a:p>
        </p:txBody>
      </p:sp>
    </p:spTree>
    <p:extLst>
      <p:ext uri="{BB962C8B-B14F-4D97-AF65-F5344CB8AC3E}">
        <p14:creationId xmlns:p14="http://schemas.microsoft.com/office/powerpoint/2010/main" val="14473724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FluxEvaluator</a:t>
            </a:r>
            <a:endParaRPr lang="en-US" dirty="0"/>
          </a:p>
        </p:txBody>
      </p:sp>
      <p:sp>
        <p:nvSpPr>
          <p:cNvPr id="3" name="Content Placeholder 2"/>
          <p:cNvSpPr>
            <a:spLocks noGrp="1"/>
          </p:cNvSpPr>
          <p:nvPr>
            <p:ph idx="1"/>
          </p:nvPr>
        </p:nvSpPr>
        <p:spPr>
          <a:xfrm>
            <a:off x="457200" y="914401"/>
            <a:ext cx="8229600" cy="2226566"/>
          </a:xfrm>
        </p:spPr>
        <p:txBody>
          <a:bodyPr/>
          <a:lstStyle/>
          <a:p>
            <a:r>
              <a:rPr lang="en-US" dirty="0" err="1"/>
              <a:t>FacetFluxes</a:t>
            </a:r>
            <a:r>
              <a:rPr lang="en-US" dirty="0"/>
              <a:t>() – distributed and stored on facets</a:t>
            </a:r>
          </a:p>
          <a:p>
            <a:r>
              <a:rPr lang="en-US" dirty="0" err="1"/>
              <a:t>FiniteVolumeFluxBalance</a:t>
            </a:r>
            <a:r>
              <a:rPr lang="en-US" dirty="0"/>
              <a:t>() – stored on finite volumes</a:t>
            </a:r>
          </a:p>
          <a:p>
            <a:r>
              <a:rPr lang="en-US" dirty="0" err="1"/>
              <a:t>FiniteVolumePropertyGradients</a:t>
            </a:r>
            <a:r>
              <a:rPr lang="en-US" dirty="0"/>
              <a:t>()</a:t>
            </a:r>
          </a:p>
          <a:p>
            <a:r>
              <a:rPr lang="en-US" dirty="0" err="1"/>
              <a:t>FluxDivergence</a:t>
            </a:r>
            <a:r>
              <a:rPr lang="en-US" dirty="0"/>
              <a:t>()</a:t>
            </a:r>
          </a:p>
          <a:p>
            <a:r>
              <a:rPr lang="en-US" dirty="0"/>
              <a:t>sources and sink terms computed on the sectors</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47</a:t>
            </a:fld>
            <a:endParaRPr lang="en-US"/>
          </a:p>
        </p:txBody>
      </p:sp>
      <p:sp>
        <p:nvSpPr>
          <p:cNvPr id="7" name="Content Placeholder 2"/>
          <p:cNvSpPr txBox="1">
            <a:spLocks/>
          </p:cNvSpPr>
          <p:nvPr/>
        </p:nvSpPr>
        <p:spPr>
          <a:xfrm>
            <a:off x="622027" y="3140967"/>
            <a:ext cx="8229600" cy="3351907"/>
          </a:xfrm>
          <a:prstGeom prst="rect">
            <a:avLst/>
          </a:prstGeom>
        </p:spPr>
        <p:txBody>
          <a:bodyPr vert="horz" lIns="91440" tIns="45720" rIns="91440" bIns="45720" rtlCol="0">
            <a:normAutofit/>
          </a:bodyPr>
          <a:lstStyle>
            <a:lvl1pPr marL="342900" indent="-3429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3pPr>
            <a:lvl4pPr marL="16002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b="1" dirty="0"/>
              <a:t>Comments</a:t>
            </a:r>
          </a:p>
          <a:p>
            <a:r>
              <a:rPr lang="en-US" dirty="0"/>
              <a:t>uses </a:t>
            </a:r>
            <a:r>
              <a:rPr lang="en-US" dirty="0" err="1"/>
              <a:t>GenericPropertyGradient</a:t>
            </a:r>
            <a:endParaRPr lang="en-US" dirty="0"/>
          </a:p>
          <a:p>
            <a:r>
              <a:rPr lang="en-US" dirty="0"/>
              <a:t>uses </a:t>
            </a:r>
            <a:r>
              <a:rPr lang="en-US" dirty="0" err="1"/>
              <a:t>FacetFlux</a:t>
            </a:r>
            <a:endParaRPr lang="en-US" dirty="0"/>
          </a:p>
          <a:p>
            <a:pPr lvl="1"/>
            <a:r>
              <a:rPr lang="en-US" dirty="0"/>
              <a:t>uses </a:t>
            </a:r>
            <a:r>
              <a:rPr lang="en-US" dirty="0" err="1"/>
              <a:t>SaturationFunction</a:t>
            </a:r>
            <a:endParaRPr lang="en-US" dirty="0"/>
          </a:p>
          <a:p>
            <a:pPr lvl="1"/>
            <a:r>
              <a:rPr lang="en-US" dirty="0"/>
              <a:t>uses </a:t>
            </a:r>
            <a:r>
              <a:rPr lang="en-US" dirty="0" err="1"/>
              <a:t>FluidProperty</a:t>
            </a:r>
            <a:endParaRPr lang="en-US" dirty="0"/>
          </a:p>
          <a:p>
            <a:r>
              <a:rPr lang="en-US" i="1" dirty="0"/>
              <a:t>perhaps one could also store sector flux balances</a:t>
            </a:r>
          </a:p>
          <a:p>
            <a:r>
              <a:rPr lang="en-US" i="1" dirty="0"/>
              <a:t>mass balances also stored on finite volumes</a:t>
            </a:r>
          </a:p>
        </p:txBody>
      </p:sp>
    </p:spTree>
    <p:extLst>
      <p:ext uri="{BB962C8B-B14F-4D97-AF65-F5344CB8AC3E}">
        <p14:creationId xmlns:p14="http://schemas.microsoft.com/office/powerpoint/2010/main" val="23121582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FluxEvaluator</a:t>
            </a:r>
            <a:r>
              <a:rPr lang="en-US" dirty="0"/>
              <a:t> (for the entire region)</a:t>
            </a:r>
          </a:p>
        </p:txBody>
      </p:sp>
      <p:sp>
        <p:nvSpPr>
          <p:cNvPr id="3" name="Content Placeholder 2"/>
          <p:cNvSpPr>
            <a:spLocks noGrp="1"/>
          </p:cNvSpPr>
          <p:nvPr>
            <p:ph idx="1"/>
          </p:nvPr>
        </p:nvSpPr>
        <p:spPr>
          <a:xfrm>
            <a:off x="457200" y="3468538"/>
            <a:ext cx="8229600" cy="3024337"/>
          </a:xfrm>
        </p:spPr>
        <p:txBody>
          <a:bodyPr>
            <a:normAutofit fontScale="92500"/>
          </a:bodyPr>
          <a:lstStyle/>
          <a:p>
            <a:r>
              <a:rPr lang="en-US" dirty="0"/>
              <a:t>Updates fluid properties (including the saturations)</a:t>
            </a:r>
          </a:p>
          <a:p>
            <a:r>
              <a:rPr lang="en-US" dirty="0"/>
              <a:t>If a second-order is requested, computes the finite-volume centered property gradients</a:t>
            </a:r>
          </a:p>
          <a:p>
            <a:r>
              <a:rPr lang="en-US" dirty="0"/>
              <a:t>Calls </a:t>
            </a:r>
            <a:r>
              <a:rPr lang="en-US" b="1" dirty="0" err="1"/>
              <a:t>FacetFlux</a:t>
            </a:r>
            <a:r>
              <a:rPr lang="en-US" dirty="0"/>
              <a:t> to compute facet fluxes of phases</a:t>
            </a:r>
          </a:p>
          <a:p>
            <a:r>
              <a:rPr lang="en-US" dirty="0"/>
              <a:t>Integrates total incoming versus outgoing fluxes for each finite volume</a:t>
            </a:r>
          </a:p>
          <a:p>
            <a:pPr marL="0" indent="0">
              <a:buNone/>
            </a:pPr>
            <a:r>
              <a:rPr lang="en-US" i="1" dirty="0"/>
              <a:t>Question: Limiting should be done on the phase flux (total). What does this imply for where the limiter is called (by </a:t>
            </a:r>
            <a:r>
              <a:rPr lang="en-US" i="1" dirty="0" err="1"/>
              <a:t>FacetFluxEvaluator</a:t>
            </a:r>
            <a:r>
              <a:rPr lang="en-US" i="1" dirty="0"/>
              <a:t> or decoupled)</a:t>
            </a:r>
          </a:p>
          <a:p>
            <a:endParaRPr lang="en-US" dirty="0"/>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48</a:t>
            </a:fld>
            <a:endParaRPr lang="en-US">
              <a:solidFill>
                <a:prstClr val="white">
                  <a:lumMod val="65000"/>
                </a:prstClr>
              </a:solidFill>
            </a:endParaRPr>
          </a:p>
        </p:txBody>
      </p:sp>
      <p:pic>
        <p:nvPicPr>
          <p:cNvPr id="7" name="Picture 6"/>
          <p:cNvPicPr>
            <a:picLocks noChangeAspect="1"/>
          </p:cNvPicPr>
          <p:nvPr/>
        </p:nvPicPr>
        <p:blipFill>
          <a:blip r:embed="rId2"/>
          <a:stretch>
            <a:fillRect/>
          </a:stretch>
        </p:blipFill>
        <p:spPr>
          <a:xfrm>
            <a:off x="899592" y="914399"/>
            <a:ext cx="3528392" cy="2447111"/>
          </a:xfrm>
          <a:prstGeom prst="rect">
            <a:avLst/>
          </a:prstGeom>
        </p:spPr>
      </p:pic>
    </p:spTree>
    <p:extLst>
      <p:ext uri="{BB962C8B-B14F-4D97-AF65-F5344CB8AC3E}">
        <p14:creationId xmlns:p14="http://schemas.microsoft.com/office/powerpoint/2010/main" val="6973513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TransferStepEvaluator</a:t>
            </a:r>
            <a:endParaRPr lang="en-US" dirty="0"/>
          </a:p>
        </p:txBody>
      </p:sp>
      <p:sp>
        <p:nvSpPr>
          <p:cNvPr id="3" name="Content Placeholder 2"/>
          <p:cNvSpPr>
            <a:spLocks noGrp="1"/>
          </p:cNvSpPr>
          <p:nvPr>
            <p:ph idx="1"/>
          </p:nvPr>
        </p:nvSpPr>
        <p:spPr>
          <a:xfrm>
            <a:off x="492498" y="1700808"/>
            <a:ext cx="8229600" cy="4792067"/>
          </a:xfrm>
        </p:spPr>
        <p:txBody>
          <a:bodyPr>
            <a:normAutofit/>
          </a:bodyPr>
          <a:lstStyle/>
          <a:p>
            <a:pPr marL="0" indent="0">
              <a:buNone/>
            </a:pPr>
            <a:r>
              <a:rPr lang="en-US" b="1" dirty="0"/>
              <a:t>Criteria</a:t>
            </a:r>
            <a:r>
              <a:rPr lang="en-US" dirty="0"/>
              <a:t> (keep DES implementation in mind)</a:t>
            </a:r>
          </a:p>
          <a:p>
            <a:r>
              <a:rPr lang="en-US" dirty="0" err="1"/>
              <a:t>OutflowLessThanContentCriterion</a:t>
            </a:r>
            <a:r>
              <a:rPr lang="en-US" dirty="0"/>
              <a:t>()</a:t>
            </a:r>
          </a:p>
          <a:p>
            <a:r>
              <a:rPr lang="en-US" dirty="0" err="1"/>
              <a:t>StreamlineCFL</a:t>
            </a:r>
            <a:r>
              <a:rPr lang="en-US" dirty="0"/>
              <a:t>()</a:t>
            </a:r>
          </a:p>
          <a:p>
            <a:r>
              <a:rPr lang="en-US" dirty="0" err="1"/>
              <a:t>MaxStep</a:t>
            </a:r>
            <a:r>
              <a:rPr lang="en-US" dirty="0"/>
              <a:t>()</a:t>
            </a:r>
          </a:p>
          <a:p>
            <a:r>
              <a:rPr lang="en-US" dirty="0" err="1"/>
              <a:t>MinStep</a:t>
            </a:r>
            <a:r>
              <a:rPr lang="en-US" dirty="0"/>
              <a:t>()</a:t>
            </a:r>
          </a:p>
          <a:p>
            <a:pPr marL="0" indent="0">
              <a:buNone/>
            </a:pPr>
            <a:endParaRPr lang="en-US" dirty="0"/>
          </a:p>
          <a:p>
            <a:pPr marL="0" indent="0">
              <a:buNone/>
            </a:pPr>
            <a:r>
              <a:rPr lang="en-US" b="1" dirty="0"/>
              <a:t>Considerations</a:t>
            </a:r>
          </a:p>
          <a:p>
            <a:r>
              <a:rPr lang="en-US" dirty="0"/>
              <a:t>element-by-element evaluation taking into element length in direction of flow and volume of finite volumes</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49</a:t>
            </a:fld>
            <a:endParaRPr lang="en-US"/>
          </a:p>
        </p:txBody>
      </p:sp>
      <p:sp>
        <p:nvSpPr>
          <p:cNvPr id="7" name="Content Placeholder 2"/>
          <p:cNvSpPr txBox="1">
            <a:spLocks/>
          </p:cNvSpPr>
          <p:nvPr/>
        </p:nvSpPr>
        <p:spPr>
          <a:xfrm>
            <a:off x="486916" y="764704"/>
            <a:ext cx="8229600" cy="936103"/>
          </a:xfrm>
          <a:prstGeom prst="rect">
            <a:avLst/>
          </a:prstGeom>
        </p:spPr>
        <p:txBody>
          <a:bodyPr vert="horz" lIns="91440" tIns="45720" rIns="91440" bIns="45720" rtlCol="0">
            <a:normAutofit/>
          </a:bodyPr>
          <a:lstStyle>
            <a:lvl1pPr marL="342900" indent="-3429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1pPr>
            <a:lvl2pPr marL="742950" indent="-28575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3pPr>
            <a:lvl4pPr marL="16002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4pPr>
            <a:lvl5pPr marL="2057400" indent="-228600" algn="l" defTabSz="457200" rtl="0" eaLnBrk="1" latinLnBrk="0" hangingPunct="1">
              <a:spcBef>
                <a:spcPts val="300"/>
              </a:spcBef>
              <a:spcAft>
                <a:spcPts val="800"/>
              </a:spcAft>
              <a:buFont typeface="Arial"/>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i="1" dirty="0"/>
              <a:t>For Explicit- and </a:t>
            </a:r>
            <a:r>
              <a:rPr lang="en-US" i="1" dirty="0" err="1"/>
              <a:t>ImplicitTransport</a:t>
            </a:r>
            <a:r>
              <a:rPr lang="en-US" i="1" dirty="0"/>
              <a:t> classes and using </a:t>
            </a:r>
            <a:r>
              <a:rPr lang="en-US" i="1" dirty="0" err="1"/>
              <a:t>precomputed</a:t>
            </a:r>
            <a:r>
              <a:rPr lang="en-US" i="1" dirty="0"/>
              <a:t> facet fluxes</a:t>
            </a:r>
          </a:p>
        </p:txBody>
      </p:sp>
    </p:spTree>
    <p:extLst>
      <p:ext uri="{BB962C8B-B14F-4D97-AF65-F5344CB8AC3E}">
        <p14:creationId xmlns:p14="http://schemas.microsoft.com/office/powerpoint/2010/main" val="18747433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classes that carry out the transport</a:t>
            </a:r>
          </a:p>
        </p:txBody>
      </p:sp>
      <p:sp>
        <p:nvSpPr>
          <p:cNvPr id="3" name="Content Placeholder 2"/>
          <p:cNvSpPr>
            <a:spLocks noGrp="1"/>
          </p:cNvSpPr>
          <p:nvPr>
            <p:ph idx="1"/>
          </p:nvPr>
        </p:nvSpPr>
        <p:spPr>
          <a:xfrm>
            <a:off x="457200" y="914400"/>
            <a:ext cx="5194920" cy="5578475"/>
          </a:xfrm>
        </p:spPr>
        <p:txBody>
          <a:bodyPr>
            <a:normAutofit fontScale="92500"/>
          </a:bodyPr>
          <a:lstStyle/>
          <a:p>
            <a:pPr marL="0" indent="0">
              <a:buNone/>
            </a:pPr>
            <a:r>
              <a:rPr lang="en-US" dirty="0"/>
              <a:t>Combine accumulation with application of boundary conditions and machinery required to compute solutions / time-integrate transport equations using data from </a:t>
            </a:r>
            <a:r>
              <a:rPr lang="en-US" dirty="0" err="1"/>
              <a:t>timestep</a:t>
            </a:r>
            <a:r>
              <a:rPr lang="en-US" dirty="0"/>
              <a:t> evaluator </a:t>
            </a:r>
          </a:p>
          <a:p>
            <a:pPr marL="0" indent="0">
              <a:buNone/>
            </a:pPr>
            <a:r>
              <a:rPr lang="en-US" b="1" dirty="0" err="1"/>
              <a:t>ExplicitTransport</a:t>
            </a:r>
            <a:endParaRPr lang="en-US" b="1" dirty="0"/>
          </a:p>
          <a:p>
            <a:pPr marL="0" indent="0">
              <a:buNone/>
            </a:pPr>
            <a:r>
              <a:rPr lang="en-US" dirty="0"/>
              <a:t>	- In the simplest case, just writes the solution vector</a:t>
            </a:r>
          </a:p>
          <a:p>
            <a:pPr marL="0" indent="0">
              <a:buNone/>
            </a:pPr>
            <a:r>
              <a:rPr lang="en-US" b="1" dirty="0" err="1"/>
              <a:t>ImplicitTransport</a:t>
            </a:r>
            <a:endParaRPr lang="en-US" b="1" dirty="0"/>
          </a:p>
          <a:p>
            <a:pPr lvl="1"/>
            <a:r>
              <a:rPr lang="en-US" dirty="0"/>
              <a:t>Combines accumulation into </a:t>
            </a:r>
            <a:r>
              <a:rPr lang="en-US" dirty="0" err="1"/>
              <a:t>SparseMatrix</a:t>
            </a:r>
            <a:r>
              <a:rPr lang="en-US" dirty="0"/>
              <a:t> with solution with solver, range checks, etc.</a:t>
            </a:r>
          </a:p>
          <a:p>
            <a:pPr lvl="1"/>
            <a:r>
              <a:rPr lang="en-US" dirty="0"/>
              <a:t>Used to implement iterative solution schemes, for instance, Newton </a:t>
            </a:r>
            <a:r>
              <a:rPr lang="en-US" dirty="0" err="1"/>
              <a:t>Raphson</a:t>
            </a:r>
            <a:r>
              <a:rPr lang="en-US" dirty="0"/>
              <a:t> with line search a la Christine</a:t>
            </a:r>
          </a:p>
          <a:p>
            <a:pPr lvl="1"/>
            <a:r>
              <a:rPr lang="en-US" dirty="0"/>
              <a:t>Manages </a:t>
            </a:r>
            <a:r>
              <a:rPr lang="en-US" dirty="0" err="1"/>
              <a:t>csmp</a:t>
            </a:r>
            <a:r>
              <a:rPr lang="en-US" dirty="0"/>
              <a:t>::Solver class</a:t>
            </a:r>
          </a:p>
          <a:p>
            <a:pPr lvl="1"/>
            <a:endParaRPr lang="en-US" dirty="0"/>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50</a:t>
            </a:fld>
            <a:endParaRPr lang="en-US">
              <a:solidFill>
                <a:prstClr val="white">
                  <a:lumMod val="65000"/>
                </a:prstClr>
              </a:solidFill>
            </a:endParaRPr>
          </a:p>
        </p:txBody>
      </p:sp>
      <p:pic>
        <p:nvPicPr>
          <p:cNvPr id="7" name="Picture 6"/>
          <p:cNvPicPr>
            <a:picLocks noChangeAspect="1"/>
          </p:cNvPicPr>
          <p:nvPr/>
        </p:nvPicPr>
        <p:blipFill>
          <a:blip r:embed="rId3"/>
          <a:stretch>
            <a:fillRect/>
          </a:stretch>
        </p:blipFill>
        <p:spPr>
          <a:xfrm>
            <a:off x="5818628" y="855222"/>
            <a:ext cx="2841465" cy="2789802"/>
          </a:xfrm>
          <a:prstGeom prst="rect">
            <a:avLst/>
          </a:prstGeom>
        </p:spPr>
      </p:pic>
      <p:pic>
        <p:nvPicPr>
          <p:cNvPr id="8" name="Picture 7"/>
          <p:cNvPicPr>
            <a:picLocks noChangeAspect="1"/>
          </p:cNvPicPr>
          <p:nvPr/>
        </p:nvPicPr>
        <p:blipFill>
          <a:blip r:embed="rId4"/>
          <a:stretch>
            <a:fillRect/>
          </a:stretch>
        </p:blipFill>
        <p:spPr>
          <a:xfrm>
            <a:off x="5818628" y="3700480"/>
            <a:ext cx="2834704" cy="2792395"/>
          </a:xfrm>
          <a:prstGeom prst="rect">
            <a:avLst/>
          </a:prstGeom>
        </p:spPr>
      </p:pic>
    </p:spTree>
    <p:extLst>
      <p:ext uri="{BB962C8B-B14F-4D97-AF65-F5344CB8AC3E}">
        <p14:creationId xmlns:p14="http://schemas.microsoft.com/office/powerpoint/2010/main" val="2183824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2"/>
          <p:cNvSpPr>
            <a:spLocks noGrp="1"/>
          </p:cNvSpPr>
          <p:nvPr>
            <p:ph type="sldNum" sz="quarter" idx="10"/>
          </p:nvPr>
        </p:nvSpPr>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09D4AB1C-D985-3840-A61E-21E3AE57F6B1}" type="slidenum">
              <a:rPr lang="en-US" sz="1400">
                <a:solidFill>
                  <a:schemeClr val="bg1"/>
                </a:solidFill>
                <a:latin typeface="Arial" charset="0"/>
              </a:rPr>
              <a:pPr/>
              <a:t>51</a:t>
            </a:fld>
            <a:endParaRPr lang="en-US" sz="1400">
              <a:solidFill>
                <a:schemeClr val="bg1"/>
              </a:solidFill>
              <a:latin typeface="Arial" charset="0"/>
            </a:endParaRPr>
          </a:p>
        </p:txBody>
      </p:sp>
      <p:sp>
        <p:nvSpPr>
          <p:cNvPr id="31748" name="Rectangle 2"/>
          <p:cNvSpPr>
            <a:spLocks noGrp="1" noChangeArrowheads="1"/>
          </p:cNvSpPr>
          <p:nvPr>
            <p:ph type="title"/>
          </p:nvPr>
        </p:nvSpPr>
        <p:spPr>
          <a:xfrm>
            <a:off x="295275" y="296863"/>
            <a:ext cx="7300913" cy="1023937"/>
          </a:xfrm>
        </p:spPr>
        <p:txBody>
          <a:bodyPr/>
          <a:lstStyle/>
          <a:p>
            <a:r>
              <a:rPr lang="en-US" sz="2600">
                <a:latin typeface="Arial" charset="0"/>
              </a:rPr>
              <a:t>Capillary spreading (solved with FEM method)</a:t>
            </a:r>
          </a:p>
        </p:txBody>
      </p:sp>
      <p:graphicFrame>
        <p:nvGraphicFramePr>
          <p:cNvPr id="31746" name="Object 2"/>
          <p:cNvGraphicFramePr>
            <a:graphicFrameLocks noChangeAspect="1"/>
          </p:cNvGraphicFramePr>
          <p:nvPr/>
        </p:nvGraphicFramePr>
        <p:xfrm>
          <a:off x="479425" y="1212850"/>
          <a:ext cx="8302625" cy="3027363"/>
        </p:xfrm>
        <a:graphic>
          <a:graphicData uri="http://schemas.openxmlformats.org/presentationml/2006/ole">
            <mc:AlternateContent xmlns:mc="http://schemas.openxmlformats.org/markup-compatibility/2006">
              <mc:Choice xmlns:v="urn:schemas-microsoft-com:vml" Requires="v">
                <p:oleObj spid="_x0000_s30880" name="Equation" r:id="rId4" imgW="3759120" imgH="1371600" progId="Equation.DSMT4">
                  <p:embed/>
                </p:oleObj>
              </mc:Choice>
              <mc:Fallback>
                <p:oleObj name="Equation" r:id="rId4" imgW="3759120" imgH="1371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425" y="1212850"/>
                        <a:ext cx="8302625" cy="30273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31749" name="Text Box 4"/>
          <p:cNvSpPr txBox="1">
            <a:spLocks noChangeArrowheads="1"/>
          </p:cNvSpPr>
          <p:nvPr/>
        </p:nvSpPr>
        <p:spPr bwMode="auto">
          <a:xfrm>
            <a:off x="4519613" y="4479925"/>
            <a:ext cx="2909887" cy="915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FF0000"/>
                </a:solidFill>
                <a:latin typeface="Arial" charset="0"/>
              </a:rPr>
              <a:t>O.K. nonlinear diffusive spreading, projection on facet normal</a:t>
            </a:r>
            <a:endParaRPr lang="en-GB" sz="1800">
              <a:solidFill>
                <a:srgbClr val="FF0000"/>
              </a:solidFill>
              <a:latin typeface="Arial" charset="0"/>
            </a:endParaRPr>
          </a:p>
        </p:txBody>
      </p:sp>
      <p:sp>
        <p:nvSpPr>
          <p:cNvPr id="31750" name="Text Box 5"/>
          <p:cNvSpPr txBox="1">
            <a:spLocks noChangeArrowheads="1"/>
          </p:cNvSpPr>
          <p:nvPr/>
        </p:nvSpPr>
        <p:spPr bwMode="auto">
          <a:xfrm>
            <a:off x="1636713" y="4554538"/>
            <a:ext cx="2909887" cy="1739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FF0000"/>
                </a:solidFill>
                <a:latin typeface="Arial" charset="0"/>
              </a:rPr>
              <a:t>this divergence is computed as a source or sink for the finite volume for which the surface integration of the second term is computed</a:t>
            </a:r>
            <a:endParaRPr lang="en-GB" sz="1800">
              <a:solidFill>
                <a:srgbClr val="FF0000"/>
              </a:solidFill>
              <a:latin typeface="Arial" charset="0"/>
            </a:endParaRPr>
          </a:p>
        </p:txBody>
      </p:sp>
      <p:sp>
        <p:nvSpPr>
          <p:cNvPr id="31751" name="Rectangle 6"/>
          <p:cNvSpPr>
            <a:spLocks noChangeArrowheads="1"/>
          </p:cNvSpPr>
          <p:nvPr/>
        </p:nvSpPr>
        <p:spPr bwMode="auto">
          <a:xfrm>
            <a:off x="1277938" y="3254375"/>
            <a:ext cx="4989512" cy="990600"/>
          </a:xfrm>
          <a:prstGeom prst="rect">
            <a:avLst/>
          </a:prstGeom>
          <a:noFill/>
          <a:ln w="2857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2" name="Oval 7"/>
          <p:cNvSpPr>
            <a:spLocks noChangeArrowheads="1"/>
          </p:cNvSpPr>
          <p:nvPr/>
        </p:nvSpPr>
        <p:spPr bwMode="auto">
          <a:xfrm>
            <a:off x="5602288" y="2446338"/>
            <a:ext cx="679450" cy="469900"/>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3" name="Oval 8"/>
          <p:cNvSpPr>
            <a:spLocks noChangeArrowheads="1"/>
          </p:cNvSpPr>
          <p:nvPr/>
        </p:nvSpPr>
        <p:spPr bwMode="auto">
          <a:xfrm>
            <a:off x="8086725" y="2471738"/>
            <a:ext cx="679450" cy="469900"/>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4" name="Oval 9"/>
          <p:cNvSpPr>
            <a:spLocks noChangeArrowheads="1"/>
          </p:cNvSpPr>
          <p:nvPr/>
        </p:nvSpPr>
        <p:spPr bwMode="auto">
          <a:xfrm>
            <a:off x="5597525" y="3506788"/>
            <a:ext cx="679450" cy="469900"/>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31755" name="Oval 10"/>
          <p:cNvSpPr>
            <a:spLocks noChangeArrowheads="1"/>
          </p:cNvSpPr>
          <p:nvPr/>
        </p:nvSpPr>
        <p:spPr bwMode="auto">
          <a:xfrm>
            <a:off x="3130550" y="3502025"/>
            <a:ext cx="679450" cy="469900"/>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27747130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92696"/>
          </a:xfrm>
        </p:spPr>
        <p:txBody>
          <a:bodyPr>
            <a:normAutofit/>
          </a:bodyPr>
          <a:lstStyle/>
          <a:p>
            <a:r>
              <a:rPr lang="en-US" sz="2800" dirty="0" err="1"/>
              <a:t>LHS_Accumulator</a:t>
            </a:r>
            <a:r>
              <a:rPr lang="en-US" sz="2800" dirty="0"/>
              <a:t>  and  </a:t>
            </a:r>
            <a:r>
              <a:rPr lang="en-US" sz="2800" dirty="0" err="1"/>
              <a:t>RHS_Accumulator</a:t>
            </a:r>
            <a:endParaRPr lang="en-US" sz="2800" dirty="0"/>
          </a:p>
        </p:txBody>
      </p:sp>
      <p:sp>
        <p:nvSpPr>
          <p:cNvPr id="3" name="Content Placeholder 2"/>
          <p:cNvSpPr>
            <a:spLocks noGrp="1"/>
          </p:cNvSpPr>
          <p:nvPr>
            <p:ph idx="1"/>
          </p:nvPr>
        </p:nvSpPr>
        <p:spPr>
          <a:xfrm>
            <a:off x="457200" y="620688"/>
            <a:ext cx="8229600" cy="5976664"/>
          </a:xfrm>
        </p:spPr>
        <p:txBody>
          <a:bodyPr>
            <a:noAutofit/>
          </a:bodyPr>
          <a:lstStyle/>
          <a:p>
            <a:r>
              <a:rPr lang="en-US" sz="1400" dirty="0" err="1"/>
              <a:t>PDE_Integrator</a:t>
            </a:r>
            <a:r>
              <a:rPr lang="en-US" sz="1400" dirty="0"/>
              <a:t> style functionality to assemble flux / source / sink etc. terms into an Ax=b   or simple vector framework so that a solution can be formed or computed: </a:t>
            </a:r>
            <a:r>
              <a:rPr lang="en-US" sz="1400" b="1" dirty="0" err="1"/>
              <a:t>MatrixOperator</a:t>
            </a:r>
            <a:r>
              <a:rPr lang="en-US" sz="1400" dirty="0"/>
              <a:t> and </a:t>
            </a:r>
            <a:r>
              <a:rPr lang="en-US" sz="1400" b="1" dirty="0" err="1"/>
              <a:t>VectorOperator</a:t>
            </a:r>
            <a:endParaRPr lang="en-US" sz="1400" b="1" dirty="0"/>
          </a:p>
          <a:p>
            <a:r>
              <a:rPr lang="en-US" sz="1400" dirty="0"/>
              <a:t>Accumulation by </a:t>
            </a:r>
            <a:r>
              <a:rPr lang="en-US" sz="1400" b="1" dirty="0" err="1"/>
              <a:t>MatrixOperator</a:t>
            </a:r>
            <a:r>
              <a:rPr lang="en-US" sz="1400" dirty="0"/>
              <a:t> and </a:t>
            </a:r>
            <a:r>
              <a:rPr lang="en-US" sz="1400" b="1" dirty="0" err="1"/>
              <a:t>VectorOperator</a:t>
            </a:r>
            <a:r>
              <a:rPr lang="en-US" sz="1400" b="1" dirty="0"/>
              <a:t> </a:t>
            </a:r>
            <a:r>
              <a:rPr lang="en-US" sz="1400" dirty="0"/>
              <a:t>with state variables that specify how and when they should be accumulated.</a:t>
            </a:r>
          </a:p>
          <a:p>
            <a:endParaRPr lang="en-US" sz="1400" dirty="0"/>
          </a:p>
          <a:p>
            <a:endParaRPr lang="en-US" sz="1400" dirty="0"/>
          </a:p>
          <a:p>
            <a:endParaRPr lang="en-US" sz="1400" dirty="0"/>
          </a:p>
          <a:p>
            <a:pPr marL="0" indent="0">
              <a:buNone/>
            </a:pPr>
            <a:endParaRPr lang="en-US" sz="1400" dirty="0"/>
          </a:p>
          <a:p>
            <a:r>
              <a:rPr lang="en-US" sz="1400" dirty="0"/>
              <a:t>We need telling names for:</a:t>
            </a:r>
          </a:p>
          <a:p>
            <a:pPr lvl="1">
              <a:spcBef>
                <a:spcPts val="100"/>
              </a:spcBef>
              <a:spcAft>
                <a:spcPts val="300"/>
              </a:spcAft>
            </a:pPr>
            <a:r>
              <a:rPr lang="en-US" sz="1400" dirty="0"/>
              <a:t>Pore volumes divided by </a:t>
            </a:r>
            <a:r>
              <a:rPr lang="en-US" sz="1400" dirty="0" err="1"/>
              <a:t>time_increment</a:t>
            </a:r>
            <a:r>
              <a:rPr lang="en-US" sz="1400" dirty="0"/>
              <a:t> into diagonal of matrix</a:t>
            </a:r>
          </a:p>
          <a:p>
            <a:pPr lvl="1">
              <a:spcBef>
                <a:spcPts val="100"/>
              </a:spcBef>
              <a:spcAft>
                <a:spcPts val="300"/>
              </a:spcAft>
            </a:pPr>
            <a:r>
              <a:rPr lang="en-US" sz="1400" dirty="0"/>
              <a:t>Incoming (higher-order) fluxes coupling diagonal with off-diagonal</a:t>
            </a:r>
          </a:p>
          <a:p>
            <a:pPr lvl="1">
              <a:spcBef>
                <a:spcPts val="100"/>
              </a:spcBef>
              <a:spcAft>
                <a:spcPts val="300"/>
              </a:spcAft>
            </a:pPr>
            <a:r>
              <a:rPr lang="en-US" sz="1400" dirty="0"/>
              <a:t>Outgoing(higher-order) fluxes added to diagonal</a:t>
            </a:r>
          </a:p>
          <a:p>
            <a:pPr lvl="1">
              <a:spcBef>
                <a:spcPts val="100"/>
              </a:spcBef>
              <a:spcAft>
                <a:spcPts val="300"/>
              </a:spcAft>
            </a:pPr>
            <a:r>
              <a:rPr lang="en-US" sz="1400" dirty="0"/>
              <a:t>Sources / sinks for LHS and RHS</a:t>
            </a:r>
          </a:p>
          <a:p>
            <a:pPr lvl="1">
              <a:spcBef>
                <a:spcPts val="100"/>
              </a:spcBef>
              <a:spcAft>
                <a:spcPts val="300"/>
              </a:spcAft>
            </a:pPr>
            <a:r>
              <a:rPr lang="en-US" sz="1400" dirty="0"/>
              <a:t>All of the above for RHS</a:t>
            </a:r>
          </a:p>
          <a:p>
            <a:pPr lvl="1">
              <a:spcBef>
                <a:spcPts val="100"/>
              </a:spcBef>
              <a:spcAft>
                <a:spcPts val="300"/>
              </a:spcAft>
            </a:pPr>
            <a:r>
              <a:rPr lang="en-US" sz="1400" dirty="0" err="1"/>
              <a:t>Jacobians</a:t>
            </a:r>
            <a:r>
              <a:rPr lang="en-US" sz="1400" dirty="0"/>
              <a:t> for iterative solutions</a:t>
            </a:r>
          </a:p>
          <a:p>
            <a:pPr lvl="1">
              <a:spcBef>
                <a:spcPts val="100"/>
              </a:spcBef>
              <a:spcAft>
                <a:spcPts val="300"/>
              </a:spcAft>
            </a:pPr>
            <a:r>
              <a:rPr lang="en-US" sz="1400" dirty="0"/>
              <a:t>Diffusion type FEM integral operators</a:t>
            </a:r>
          </a:p>
          <a:p>
            <a:pPr lvl="1">
              <a:spcBef>
                <a:spcPts val="100"/>
              </a:spcBef>
              <a:spcAft>
                <a:spcPts val="300"/>
              </a:spcAft>
            </a:pPr>
            <a:r>
              <a:rPr lang="en-US" sz="1400" dirty="0"/>
              <a:t>Any of these at different time-levels</a:t>
            </a:r>
          </a:p>
          <a:p>
            <a:pPr lvl="1">
              <a:spcBef>
                <a:spcPts val="100"/>
              </a:spcBef>
              <a:spcAft>
                <a:spcPts val="300"/>
              </a:spcAft>
            </a:pPr>
            <a:r>
              <a:rPr lang="en-US" sz="1400" dirty="0"/>
              <a:t>Theta-weighting for second-order in time method</a:t>
            </a:r>
          </a:p>
          <a:p>
            <a:pPr>
              <a:spcBef>
                <a:spcPts val="100"/>
              </a:spcBef>
              <a:spcAft>
                <a:spcPts val="300"/>
              </a:spcAft>
            </a:pPr>
            <a:r>
              <a:rPr lang="en-US" sz="1400" dirty="0"/>
              <a:t>Static polymorphism for speed</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52</a:t>
            </a:fld>
            <a:endParaRPr lang="en-US">
              <a:solidFill>
                <a:prstClr val="white">
                  <a:lumMod val="65000"/>
                </a:prstClr>
              </a:solidFill>
            </a:endParaRPr>
          </a:p>
        </p:txBody>
      </p:sp>
      <p:pic>
        <p:nvPicPr>
          <p:cNvPr id="7" name="Picture 6"/>
          <p:cNvPicPr>
            <a:picLocks noChangeAspect="1"/>
          </p:cNvPicPr>
          <p:nvPr/>
        </p:nvPicPr>
        <p:blipFill>
          <a:blip r:embed="rId3"/>
          <a:stretch>
            <a:fillRect/>
          </a:stretch>
        </p:blipFill>
        <p:spPr>
          <a:xfrm>
            <a:off x="3817506" y="1700808"/>
            <a:ext cx="4608512" cy="1849675"/>
          </a:xfrm>
          <a:prstGeom prst="rect">
            <a:avLst/>
          </a:prstGeom>
        </p:spPr>
      </p:pic>
      <p:sp>
        <p:nvSpPr>
          <p:cNvPr id="8" name="TextBox 7"/>
          <p:cNvSpPr txBox="1"/>
          <p:nvPr/>
        </p:nvSpPr>
        <p:spPr>
          <a:xfrm>
            <a:off x="5076056" y="4581128"/>
            <a:ext cx="3895871" cy="923330"/>
          </a:xfrm>
          <a:prstGeom prst="rect">
            <a:avLst/>
          </a:prstGeom>
          <a:noFill/>
        </p:spPr>
        <p:txBody>
          <a:bodyPr wrap="none" rtlCol="0">
            <a:spAutoFit/>
          </a:bodyPr>
          <a:lstStyle/>
          <a:p>
            <a:r>
              <a:rPr lang="en-US" i="1" dirty="0">
                <a:solidFill>
                  <a:srgbClr val="FF0066"/>
                </a:solidFill>
                <a:latin typeface="Arial"/>
                <a:cs typeface="Arial"/>
              </a:rPr>
              <a:t>Can this be done at compile time ?</a:t>
            </a:r>
          </a:p>
          <a:p>
            <a:endParaRPr lang="en-US" i="1" dirty="0">
              <a:solidFill>
                <a:srgbClr val="FF0066"/>
              </a:solidFill>
              <a:latin typeface="Arial"/>
              <a:cs typeface="Arial"/>
            </a:endParaRPr>
          </a:p>
          <a:p>
            <a:r>
              <a:rPr lang="en-US" i="1" dirty="0">
                <a:solidFill>
                  <a:srgbClr val="FF0066"/>
                </a:solidFill>
                <a:latin typeface="Arial"/>
                <a:cs typeface="Arial"/>
              </a:rPr>
              <a:t>Can we use expression templates ?</a:t>
            </a:r>
          </a:p>
        </p:txBody>
      </p:sp>
    </p:spTree>
    <p:extLst>
      <p:ext uri="{BB962C8B-B14F-4D97-AF65-F5344CB8AC3E}">
        <p14:creationId xmlns:p14="http://schemas.microsoft.com/office/powerpoint/2010/main" val="1167425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 options</a:t>
            </a:r>
          </a:p>
        </p:txBody>
      </p:sp>
      <p:sp>
        <p:nvSpPr>
          <p:cNvPr id="3" name="Content Placeholder 2"/>
          <p:cNvSpPr>
            <a:spLocks noGrp="1"/>
          </p:cNvSpPr>
          <p:nvPr>
            <p:ph idx="1"/>
          </p:nvPr>
        </p:nvSpPr>
        <p:spPr>
          <a:xfrm>
            <a:off x="457200" y="836712"/>
            <a:ext cx="8229600" cy="5211763"/>
          </a:xfrm>
        </p:spPr>
        <p:txBody>
          <a:bodyPr/>
          <a:lstStyle/>
          <a:p>
            <a:r>
              <a:rPr lang="en-US" dirty="0"/>
              <a:t>Divide / multiply-with time-increment</a:t>
            </a:r>
          </a:p>
          <a:p>
            <a:r>
              <a:rPr lang="en-US" dirty="0"/>
              <a:t>Add, </a:t>
            </a:r>
            <a:r>
              <a:rPr lang="en-US" dirty="0" err="1"/>
              <a:t>Substract</a:t>
            </a:r>
            <a:r>
              <a:rPr lang="en-US" dirty="0"/>
              <a:t>, Multiply</a:t>
            </a:r>
          </a:p>
          <a:p>
            <a:r>
              <a:rPr lang="en-US" dirty="0"/>
              <a:t>Late Accumulate</a:t>
            </a:r>
          </a:p>
          <a:p>
            <a:r>
              <a:rPr lang="en-US" i="1" dirty="0"/>
              <a:t>Bracket operators ? – for expressions (1 +b) c or defined by sequence in which they are added?</a:t>
            </a:r>
          </a:p>
          <a:p>
            <a:r>
              <a:rPr lang="en-US" dirty="0"/>
              <a:t>Lumping for LHS only</a:t>
            </a:r>
          </a:p>
          <a:p>
            <a:r>
              <a:rPr lang="en-US" dirty="0"/>
              <a:t>Theta-weighting</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53</a:t>
            </a:fld>
            <a:endParaRPr lang="en-US">
              <a:solidFill>
                <a:prstClr val="white">
                  <a:lumMod val="65000"/>
                </a:prstClr>
              </a:solidFill>
            </a:endParaRPr>
          </a:p>
        </p:txBody>
      </p:sp>
      <p:pic>
        <p:nvPicPr>
          <p:cNvPr id="7" name="Picture 6"/>
          <p:cNvPicPr>
            <a:picLocks noChangeAspect="1"/>
          </p:cNvPicPr>
          <p:nvPr/>
        </p:nvPicPr>
        <p:blipFill>
          <a:blip r:embed="rId2"/>
          <a:stretch>
            <a:fillRect/>
          </a:stretch>
        </p:blipFill>
        <p:spPr>
          <a:xfrm>
            <a:off x="539552" y="4068440"/>
            <a:ext cx="8301442" cy="2240880"/>
          </a:xfrm>
          <a:prstGeom prst="rect">
            <a:avLst/>
          </a:prstGeom>
        </p:spPr>
      </p:pic>
    </p:spTree>
    <p:extLst>
      <p:ext uri="{BB962C8B-B14F-4D97-AF65-F5344CB8AC3E}">
        <p14:creationId xmlns:p14="http://schemas.microsoft.com/office/powerpoint/2010/main" val="33884698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TimeStepEvaluator</a:t>
            </a:r>
            <a:endParaRPr lang="en-US" dirty="0"/>
          </a:p>
        </p:txBody>
      </p:sp>
      <p:sp>
        <p:nvSpPr>
          <p:cNvPr id="3" name="Content Placeholder 2"/>
          <p:cNvSpPr>
            <a:spLocks noGrp="1"/>
          </p:cNvSpPr>
          <p:nvPr>
            <p:ph idx="1"/>
          </p:nvPr>
        </p:nvSpPr>
        <p:spPr/>
        <p:txBody>
          <a:bodyPr/>
          <a:lstStyle/>
          <a:p>
            <a:r>
              <a:rPr lang="en-US" dirty="0"/>
              <a:t>Computes advection step such that the amount of fluid that leaves any FV is not greater than what was in there before the step</a:t>
            </a:r>
          </a:p>
          <a:p>
            <a:r>
              <a:rPr lang="en-US" dirty="0"/>
              <a:t>Writes diagnostics to FV cells, but stores min/max values internally for query at end of loop</a:t>
            </a:r>
          </a:p>
          <a:p>
            <a:r>
              <a:rPr lang="en-US" dirty="0"/>
              <a:t>For accuracy, criteria must be FV cell based, but facet flux can be </a:t>
            </a:r>
            <a:r>
              <a:rPr lang="en-US" dirty="0" err="1"/>
              <a:t>precomputed</a:t>
            </a:r>
            <a:r>
              <a:rPr lang="en-US" dirty="0"/>
              <a:t> in an element-by-element, facet-by-facet computation</a:t>
            </a:r>
          </a:p>
          <a:p>
            <a:r>
              <a:rPr lang="en-US" dirty="0"/>
              <a:t>For implicit schemes any relaxation is applied to this</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54</a:t>
            </a:fld>
            <a:endParaRPr lang="en-US">
              <a:solidFill>
                <a:prstClr val="white">
                  <a:lumMod val="65000"/>
                </a:prstClr>
              </a:solidFill>
            </a:endParaRPr>
          </a:p>
        </p:txBody>
      </p:sp>
    </p:spTree>
    <p:extLst>
      <p:ext uri="{BB962C8B-B14F-4D97-AF65-F5344CB8AC3E}">
        <p14:creationId xmlns:p14="http://schemas.microsoft.com/office/powerpoint/2010/main" val="42500033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ExplicitTransport</a:t>
            </a:r>
            <a:r>
              <a:rPr lang="en-US" dirty="0"/>
              <a:t>    and    </a:t>
            </a:r>
            <a:r>
              <a:rPr lang="en-US" dirty="0" err="1"/>
              <a:t>ImplicitTransport</a:t>
            </a:r>
            <a:endParaRPr lang="en-US" dirty="0"/>
          </a:p>
        </p:txBody>
      </p:sp>
      <p:sp>
        <p:nvSpPr>
          <p:cNvPr id="3" name="Content Placeholder 2"/>
          <p:cNvSpPr>
            <a:spLocks noGrp="1"/>
          </p:cNvSpPr>
          <p:nvPr>
            <p:ph idx="1"/>
          </p:nvPr>
        </p:nvSpPr>
        <p:spPr/>
        <p:txBody>
          <a:bodyPr/>
          <a:lstStyle/>
          <a:p>
            <a:r>
              <a:rPr lang="en-US" dirty="0"/>
              <a:t>Drives </a:t>
            </a:r>
          </a:p>
          <a:p>
            <a:pPr lvl="1"/>
            <a:r>
              <a:rPr lang="en-US" dirty="0" err="1"/>
              <a:t>FluxEvaluator</a:t>
            </a:r>
            <a:endParaRPr lang="en-US" dirty="0"/>
          </a:p>
          <a:p>
            <a:pPr lvl="1"/>
            <a:r>
              <a:rPr lang="en-US" dirty="0" err="1"/>
              <a:t>TimeStepEvaluator</a:t>
            </a:r>
            <a:endParaRPr lang="en-US" dirty="0"/>
          </a:p>
          <a:p>
            <a:pPr lvl="1"/>
            <a:r>
              <a:rPr lang="en-US" dirty="0"/>
              <a:t>Accumulator</a:t>
            </a:r>
          </a:p>
          <a:p>
            <a:pPr lvl="1"/>
            <a:r>
              <a:rPr lang="en-US" dirty="0"/>
              <a:t>Solver</a:t>
            </a:r>
          </a:p>
          <a:p>
            <a:r>
              <a:rPr lang="en-US" dirty="0"/>
              <a:t>Solution process can involve </a:t>
            </a:r>
            <a:r>
              <a:rPr lang="en-US" dirty="0" err="1"/>
              <a:t>NewtonRaphson</a:t>
            </a:r>
            <a:r>
              <a:rPr lang="en-US" dirty="0"/>
              <a:t> and </a:t>
            </a:r>
            <a:r>
              <a:rPr lang="en-US" dirty="0" err="1"/>
              <a:t>LineSearch</a:t>
            </a:r>
            <a:r>
              <a:rPr lang="en-US" dirty="0"/>
              <a:t> algorithms</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55</a:t>
            </a:fld>
            <a:endParaRPr lang="en-US">
              <a:solidFill>
                <a:prstClr val="white">
                  <a:lumMod val="65000"/>
                </a:prstClr>
              </a:solidFill>
            </a:endParaRPr>
          </a:p>
        </p:txBody>
      </p:sp>
    </p:spTree>
    <p:extLst>
      <p:ext uri="{BB962C8B-B14F-4D97-AF65-F5344CB8AC3E}">
        <p14:creationId xmlns:p14="http://schemas.microsoft.com/office/powerpoint/2010/main" val="26476202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48680"/>
          </a:xfrm>
        </p:spPr>
        <p:txBody>
          <a:bodyPr>
            <a:normAutofit/>
          </a:bodyPr>
          <a:lstStyle/>
          <a:p>
            <a:r>
              <a:rPr lang="en-US" sz="2800" dirty="0"/>
              <a:t>Simulation steps (big picture)</a:t>
            </a:r>
          </a:p>
        </p:txBody>
      </p:sp>
      <p:sp>
        <p:nvSpPr>
          <p:cNvPr id="3" name="Content Placeholder 2"/>
          <p:cNvSpPr>
            <a:spLocks noGrp="1"/>
          </p:cNvSpPr>
          <p:nvPr>
            <p:ph idx="1"/>
          </p:nvPr>
        </p:nvSpPr>
        <p:spPr>
          <a:xfrm>
            <a:off x="457200" y="548680"/>
            <a:ext cx="8229600" cy="6309320"/>
          </a:xfrm>
        </p:spPr>
        <p:txBody>
          <a:bodyPr>
            <a:normAutofit lnSpcReduction="10000"/>
          </a:bodyPr>
          <a:lstStyle/>
          <a:p>
            <a:pPr>
              <a:lnSpc>
                <a:spcPct val="80000"/>
              </a:lnSpc>
              <a:spcAft>
                <a:spcPct val="20000"/>
              </a:spcAft>
            </a:pPr>
            <a:r>
              <a:rPr lang="en-GB" sz="1400" dirty="0">
                <a:latin typeface="Arial" charset="0"/>
              </a:rPr>
              <a:t>Step 1: Read mesh from *.</a:t>
            </a:r>
            <a:r>
              <a:rPr lang="en-GB" sz="1400" dirty="0" err="1">
                <a:latin typeface="Arial" charset="0"/>
              </a:rPr>
              <a:t>asc</a:t>
            </a:r>
            <a:r>
              <a:rPr lang="en-GB" sz="1400" dirty="0">
                <a:latin typeface="Arial" charset="0"/>
              </a:rPr>
              <a:t> &amp; *.</a:t>
            </a:r>
            <a:r>
              <a:rPr lang="en-GB" sz="1400" dirty="0" err="1">
                <a:latin typeface="Arial" charset="0"/>
              </a:rPr>
              <a:t>dat</a:t>
            </a:r>
            <a:r>
              <a:rPr lang="en-GB" sz="1400" dirty="0">
                <a:latin typeface="Arial" charset="0"/>
              </a:rPr>
              <a:t> files into appropriate container objects. </a:t>
            </a:r>
          </a:p>
          <a:p>
            <a:pPr>
              <a:lnSpc>
                <a:spcPct val="80000"/>
              </a:lnSpc>
              <a:spcAft>
                <a:spcPct val="20000"/>
              </a:spcAft>
            </a:pPr>
            <a:r>
              <a:rPr lang="en-GB" sz="1400" dirty="0">
                <a:latin typeface="Arial" charset="0"/>
              </a:rPr>
              <a:t>Step 2: Read regions selected for incorporation into simulation model from *-</a:t>
            </a:r>
            <a:r>
              <a:rPr lang="en-GB" sz="1400" dirty="0" err="1">
                <a:latin typeface="Arial" charset="0"/>
              </a:rPr>
              <a:t>regions.txt</a:t>
            </a:r>
            <a:r>
              <a:rPr lang="en-GB" sz="1400" dirty="0">
                <a:latin typeface="Arial" charset="0"/>
              </a:rPr>
              <a:t> file. </a:t>
            </a:r>
          </a:p>
          <a:p>
            <a:pPr>
              <a:lnSpc>
                <a:spcPct val="80000"/>
              </a:lnSpc>
              <a:spcAft>
                <a:spcPct val="20000"/>
              </a:spcAft>
            </a:pPr>
            <a:r>
              <a:rPr lang="en-GB" sz="1400" dirty="0">
                <a:latin typeface="Arial" charset="0"/>
              </a:rPr>
              <a:t>Step 3: Build simulation model from mesh data and form groups to represent </a:t>
            </a:r>
            <a:r>
              <a:rPr lang="en-GB" sz="1400" dirty="0" err="1">
                <a:latin typeface="Arial" charset="0"/>
              </a:rPr>
              <a:t>subregions</a:t>
            </a:r>
            <a:r>
              <a:rPr lang="en-GB" sz="1400" dirty="0">
                <a:latin typeface="Arial" charset="0"/>
              </a:rPr>
              <a:t>. </a:t>
            </a:r>
          </a:p>
          <a:p>
            <a:pPr>
              <a:lnSpc>
                <a:spcPct val="80000"/>
              </a:lnSpc>
              <a:spcAft>
                <a:spcPct val="20000"/>
              </a:spcAft>
            </a:pPr>
            <a:r>
              <a:rPr lang="en-GB" sz="1400" dirty="0">
                <a:latin typeface="Arial" charset="0"/>
              </a:rPr>
              <a:t>Step 4: Assign material properties, initial conditions, and boundary conditions from *-</a:t>
            </a:r>
            <a:r>
              <a:rPr lang="en-GB" sz="1400" dirty="0" err="1">
                <a:latin typeface="Arial" charset="0"/>
              </a:rPr>
              <a:t>configuration.txt</a:t>
            </a:r>
            <a:r>
              <a:rPr lang="en-GB" sz="1400" dirty="0">
                <a:latin typeface="Arial" charset="0"/>
              </a:rPr>
              <a:t> file. </a:t>
            </a:r>
          </a:p>
          <a:p>
            <a:pPr>
              <a:lnSpc>
                <a:spcPct val="80000"/>
              </a:lnSpc>
              <a:spcAft>
                <a:spcPct val="20000"/>
              </a:spcAft>
            </a:pPr>
            <a:r>
              <a:rPr lang="en-GB" sz="1400" dirty="0">
                <a:latin typeface="Arial" charset="0"/>
              </a:rPr>
              <a:t>Step 5: User chooses the relative permeability model; default for fractures is Linear model. </a:t>
            </a:r>
          </a:p>
          <a:p>
            <a:pPr>
              <a:lnSpc>
                <a:spcPct val="80000"/>
              </a:lnSpc>
              <a:spcAft>
                <a:spcPct val="20000"/>
              </a:spcAft>
            </a:pPr>
            <a:r>
              <a:rPr lang="en-GB" sz="1400" dirty="0">
                <a:latin typeface="Arial" charset="0"/>
              </a:rPr>
              <a:t>Step 6: Setup of monitoring for "saturation oil" and "fluid pressure“. </a:t>
            </a:r>
          </a:p>
          <a:p>
            <a:pPr>
              <a:lnSpc>
                <a:spcPct val="80000"/>
              </a:lnSpc>
              <a:spcAft>
                <a:spcPct val="20000"/>
              </a:spcAft>
            </a:pPr>
            <a:r>
              <a:rPr lang="en-GB" sz="1400" dirty="0">
                <a:latin typeface="Arial" charset="0"/>
              </a:rPr>
              <a:t>Step 7:  Calculate initial relative </a:t>
            </a:r>
            <a:r>
              <a:rPr lang="en-GB" sz="1400" dirty="0" err="1">
                <a:latin typeface="Arial" charset="0"/>
              </a:rPr>
              <a:t>permeabilities</a:t>
            </a:r>
            <a:r>
              <a:rPr lang="en-GB" sz="1400" dirty="0">
                <a:latin typeface="Arial" charset="0"/>
              </a:rPr>
              <a:t>, phase </a:t>
            </a:r>
            <a:r>
              <a:rPr lang="en-GB" sz="1400" dirty="0" err="1">
                <a:latin typeface="Arial" charset="0"/>
              </a:rPr>
              <a:t>mobilities</a:t>
            </a:r>
            <a:r>
              <a:rPr lang="en-GB" sz="1400" dirty="0">
                <a:latin typeface="Arial" charset="0"/>
              </a:rPr>
              <a:t> and relative fluid densities. Decision is made whether gravitational effects shall be considered or not. </a:t>
            </a:r>
          </a:p>
          <a:p>
            <a:pPr>
              <a:lnSpc>
                <a:spcPct val="80000"/>
              </a:lnSpc>
              <a:spcAft>
                <a:spcPct val="20000"/>
              </a:spcAft>
            </a:pPr>
            <a:r>
              <a:rPr lang="en-GB" sz="1400" dirty="0">
                <a:latin typeface="Arial" charset="0"/>
              </a:rPr>
              <a:t>Step 8:  Implicit and explicit finite volume advection schemes are setup. Dependent on user's choice of time stepping strategy either of these schemes will be invoked. </a:t>
            </a:r>
          </a:p>
          <a:p>
            <a:pPr>
              <a:lnSpc>
                <a:spcPct val="80000"/>
              </a:lnSpc>
              <a:spcAft>
                <a:spcPct val="20000"/>
              </a:spcAft>
            </a:pPr>
            <a:r>
              <a:rPr lang="en-GB" sz="1400" dirty="0">
                <a:latin typeface="Arial" charset="0"/>
              </a:rPr>
              <a:t>Step 9: Setup steady-state and-or transient fluid pressure computation with the SAMG solver. If computation of initial steady-state fluid pressure was requested, it is computed now, else user-specified initial fluid pressure is used.</a:t>
            </a:r>
          </a:p>
          <a:p>
            <a:pPr>
              <a:lnSpc>
                <a:spcPct val="80000"/>
              </a:lnSpc>
              <a:spcAft>
                <a:spcPct val="20000"/>
              </a:spcAft>
            </a:pPr>
            <a:r>
              <a:rPr lang="en-GB" sz="1400" dirty="0">
                <a:latin typeface="Arial" charset="0"/>
              </a:rPr>
              <a:t>Step 10: Time-stepping loop is setup and initial time-stepping criteria are established.	  </a:t>
            </a:r>
          </a:p>
          <a:p>
            <a:pPr>
              <a:lnSpc>
                <a:spcPct val="80000"/>
              </a:lnSpc>
              <a:spcAft>
                <a:spcPct val="20000"/>
              </a:spcAft>
            </a:pPr>
            <a:r>
              <a:rPr lang="en-GB" sz="1400" dirty="0">
                <a:latin typeface="Arial" charset="0"/>
              </a:rPr>
              <a:t>Step 11: </a:t>
            </a:r>
            <a:r>
              <a:rPr lang="en-GB" sz="1400" dirty="0" err="1">
                <a:latin typeface="Arial" charset="0"/>
              </a:rPr>
              <a:t>Timestepping</a:t>
            </a:r>
            <a:r>
              <a:rPr lang="en-GB" sz="1400" dirty="0">
                <a:latin typeface="Arial" charset="0"/>
              </a:rPr>
              <a:t> begins. In each time step the following operations are attempted:</a:t>
            </a:r>
            <a:endParaRPr lang="en-US" sz="1400" dirty="0">
              <a:latin typeface="Arial" charset="0"/>
            </a:endParaRPr>
          </a:p>
          <a:p>
            <a:pPr lvl="1">
              <a:lnSpc>
                <a:spcPct val="80000"/>
              </a:lnSpc>
              <a:spcAft>
                <a:spcPct val="20000"/>
              </a:spcAft>
            </a:pPr>
            <a:r>
              <a:rPr lang="en-GB" sz="1400" dirty="0">
                <a:latin typeface="Arial" charset="0"/>
                <a:ea typeface="ＭＳ Ｐゴシック" charset="0"/>
              </a:rPr>
              <a:t>Update time-increment and a check whether results need to be output in the current time interval.</a:t>
            </a:r>
          </a:p>
          <a:p>
            <a:pPr lvl="1">
              <a:lnSpc>
                <a:spcPct val="80000"/>
              </a:lnSpc>
              <a:spcAft>
                <a:spcPct val="20000"/>
              </a:spcAft>
            </a:pPr>
            <a:r>
              <a:rPr lang="en-GB" sz="1400" dirty="0">
                <a:latin typeface="Arial" charset="0"/>
                <a:ea typeface="ＭＳ Ｐゴシック" charset="0"/>
              </a:rPr>
              <a:t>Advance the saturation front by solving the transport equation.</a:t>
            </a:r>
          </a:p>
          <a:p>
            <a:pPr lvl="1">
              <a:lnSpc>
                <a:spcPct val="80000"/>
              </a:lnSpc>
              <a:spcAft>
                <a:spcPct val="20000"/>
              </a:spcAft>
            </a:pPr>
            <a:r>
              <a:rPr lang="en-GB" sz="1400" dirty="0">
                <a:latin typeface="Arial" charset="0"/>
                <a:ea typeface="ＭＳ Ｐゴシック" charset="0"/>
              </a:rPr>
              <a:t>Monitor property ranges and integrate saturation over model sub volumes.</a:t>
            </a:r>
          </a:p>
          <a:p>
            <a:pPr lvl="1">
              <a:lnSpc>
                <a:spcPct val="80000"/>
              </a:lnSpc>
              <a:spcAft>
                <a:spcPct val="20000"/>
              </a:spcAft>
            </a:pPr>
            <a:r>
              <a:rPr lang="en-GB" sz="1400" dirty="0">
                <a:latin typeface="Arial" charset="0"/>
                <a:ea typeface="ＭＳ Ｐゴシック" charset="0"/>
              </a:rPr>
              <a:t>Output variables to file if so required.</a:t>
            </a:r>
          </a:p>
          <a:p>
            <a:pPr lvl="1">
              <a:lnSpc>
                <a:spcPct val="80000"/>
              </a:lnSpc>
              <a:spcAft>
                <a:spcPct val="20000"/>
              </a:spcAft>
            </a:pPr>
            <a:r>
              <a:rPr lang="en-GB" sz="1400" dirty="0">
                <a:latin typeface="Arial" charset="0"/>
                <a:ea typeface="ＭＳ Ｐゴシック" charset="0"/>
              </a:rPr>
              <a:t>Re-compute two-phase flow properties, capillary pressure etc.</a:t>
            </a:r>
          </a:p>
          <a:p>
            <a:pPr lvl="1">
              <a:lnSpc>
                <a:spcPct val="80000"/>
              </a:lnSpc>
              <a:spcAft>
                <a:spcPct val="20000"/>
              </a:spcAft>
            </a:pPr>
            <a:r>
              <a:rPr lang="en-GB" sz="1400" dirty="0">
                <a:latin typeface="Arial" charset="0"/>
                <a:ea typeface="ＭＳ Ｐゴシック" charset="0"/>
              </a:rPr>
              <a:t>Re-compute fluid pressure if required.</a:t>
            </a:r>
          </a:p>
          <a:p>
            <a:pPr lvl="1">
              <a:lnSpc>
                <a:spcPct val="80000"/>
              </a:lnSpc>
              <a:spcAft>
                <a:spcPct val="20000"/>
              </a:spcAft>
            </a:pPr>
            <a:r>
              <a:rPr lang="en-GB" sz="1400" dirty="0">
                <a:latin typeface="Arial" charset="0"/>
                <a:ea typeface="ＭＳ Ｐゴシック" charset="0"/>
              </a:rPr>
              <a:t>Compute “absolute fluid pressure” from the (reduced) “fluid pressure.”</a:t>
            </a:r>
          </a:p>
          <a:p>
            <a:pPr lvl="1">
              <a:lnSpc>
                <a:spcPct val="80000"/>
              </a:lnSpc>
              <a:spcAft>
                <a:spcPct val="20000"/>
              </a:spcAft>
            </a:pPr>
            <a:r>
              <a:rPr lang="en-GB" sz="1400" dirty="0">
                <a:latin typeface="Arial" charset="0"/>
                <a:ea typeface="ＭＳ Ｐゴシック" charset="0"/>
              </a:rPr>
              <a:t>Re-compute total velocity and capillary pressure gradients.</a:t>
            </a:r>
            <a:endParaRPr lang="en-US" sz="1400" dirty="0">
              <a:latin typeface="Arial" charset="0"/>
              <a:ea typeface="ＭＳ Ｐゴシック" charset="0"/>
            </a:endParaRPr>
          </a:p>
          <a:p>
            <a:pPr>
              <a:lnSpc>
                <a:spcPct val="80000"/>
              </a:lnSpc>
              <a:spcAft>
                <a:spcPct val="20000"/>
              </a:spcAft>
            </a:pPr>
            <a:r>
              <a:rPr lang="en-GB" sz="1400" dirty="0">
                <a:latin typeface="Arial" charset="0"/>
              </a:rPr>
              <a:t>When the user-specified duration of the run has been reached the program terminates and the memory in use is returned to the operating system. The programme now outputs final saturations, runtime statistics etc.</a:t>
            </a:r>
            <a:endParaRPr lang="en-US" sz="1400" dirty="0">
              <a:latin typeface="Arial" charset="0"/>
            </a:endParaRP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56</a:t>
            </a:fld>
            <a:endParaRPr lang="en-US"/>
          </a:p>
        </p:txBody>
      </p:sp>
    </p:spTree>
    <p:extLst>
      <p:ext uri="{BB962C8B-B14F-4D97-AF65-F5344CB8AC3E}">
        <p14:creationId xmlns:p14="http://schemas.microsoft.com/office/powerpoint/2010/main" val="34673355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
          <p:cNvSpPr>
            <a:spLocks noGrp="1"/>
          </p:cNvSpPr>
          <p:nvPr>
            <p:ph type="sldNum" sz="quarter" idx="10"/>
          </p:nvPr>
        </p:nvSpPr>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FF9E1D0A-B9C5-E943-81F2-F4F7983AD6F1}" type="slidenum">
              <a:rPr lang="en-US" sz="1400">
                <a:solidFill>
                  <a:schemeClr val="bg1"/>
                </a:solidFill>
                <a:latin typeface="Arial" charset="0"/>
              </a:rPr>
              <a:pPr/>
              <a:t>57</a:t>
            </a:fld>
            <a:endParaRPr lang="en-US" sz="1400">
              <a:solidFill>
                <a:schemeClr val="bg1"/>
              </a:solidFill>
              <a:latin typeface="Arial" charset="0"/>
            </a:endParaRPr>
          </a:p>
        </p:txBody>
      </p:sp>
      <p:sp>
        <p:nvSpPr>
          <p:cNvPr id="27655" name="Rectangle 2"/>
          <p:cNvSpPr>
            <a:spLocks noChangeArrowheads="1"/>
          </p:cNvSpPr>
          <p:nvPr/>
        </p:nvSpPr>
        <p:spPr bwMode="auto">
          <a:xfrm>
            <a:off x="395288" y="163513"/>
            <a:ext cx="8162925"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spAutoFit/>
          </a:bodyPr>
          <a:lstStyle/>
          <a:p>
            <a:pPr algn="l" eaLnBrk="1" hangingPunct="1"/>
            <a:r>
              <a:rPr lang="en-GB" sz="2400" b="1" dirty="0">
                <a:solidFill>
                  <a:schemeClr val="tx2"/>
                </a:solidFill>
                <a:latin typeface="Arial" charset="0"/>
              </a:rPr>
              <a:t>Two-phase flow equations, slightly compressible</a:t>
            </a:r>
          </a:p>
        </p:txBody>
      </p:sp>
      <p:graphicFrame>
        <p:nvGraphicFramePr>
          <p:cNvPr id="27650" name="Object 2"/>
          <p:cNvGraphicFramePr>
            <a:graphicFrameLocks noChangeAspect="1"/>
          </p:cNvGraphicFramePr>
          <p:nvPr>
            <p:extLst>
              <p:ext uri="{D42A27DB-BD31-4B8C-83A1-F6EECF244321}">
                <p14:modId xmlns:p14="http://schemas.microsoft.com/office/powerpoint/2010/main" val="124593500"/>
              </p:ext>
            </p:extLst>
          </p:nvPr>
        </p:nvGraphicFramePr>
        <p:xfrm>
          <a:off x="739775" y="3717925"/>
          <a:ext cx="7040563" cy="915988"/>
        </p:xfrm>
        <a:graphic>
          <a:graphicData uri="http://schemas.openxmlformats.org/presentationml/2006/ole">
            <mc:AlternateContent xmlns:mc="http://schemas.openxmlformats.org/markup-compatibility/2006">
              <mc:Choice xmlns:v="urn:schemas-microsoft-com:vml" Requires="v">
                <p:oleObj spid="_x0000_s33383" name="Equation" r:id="rId4" imgW="4292600" imgH="558800" progId="Equation.DSMT4">
                  <p:embed/>
                </p:oleObj>
              </mc:Choice>
              <mc:Fallback>
                <p:oleObj name="Equation" r:id="rId4" imgW="4292600" imgH="558800" progId="Equation.DSMT4">
                  <p:embed/>
                  <p:pic>
                    <p:nvPicPr>
                      <p:cNvPr id="0" name=""/>
                      <p:cNvPicPr>
                        <a:picLocks noChangeAspect="1" noChangeArrowheads="1"/>
                      </p:cNvPicPr>
                      <p:nvPr/>
                    </p:nvPicPr>
                    <p:blipFill>
                      <a:blip r:embed="rId5"/>
                      <a:srcRect/>
                      <a:stretch>
                        <a:fillRect/>
                      </a:stretch>
                    </p:blipFill>
                    <p:spPr bwMode="auto">
                      <a:xfrm>
                        <a:off x="739775" y="3717925"/>
                        <a:ext cx="7040563" cy="9159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6" name="Text Box 4"/>
          <p:cNvSpPr txBox="1">
            <a:spLocks noChangeArrowheads="1"/>
          </p:cNvSpPr>
          <p:nvPr/>
        </p:nvSpPr>
        <p:spPr bwMode="auto">
          <a:xfrm>
            <a:off x="442913" y="3421063"/>
            <a:ext cx="460216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dirty="0">
                <a:solidFill>
                  <a:srgbClr val="0E207F"/>
                </a:solidFill>
                <a:latin typeface="Arial" charset="0"/>
              </a:rPr>
              <a:t>Transport equation</a:t>
            </a:r>
            <a:endParaRPr lang="en-GB" sz="1800" dirty="0">
              <a:solidFill>
                <a:srgbClr val="0E207F"/>
              </a:solidFill>
              <a:latin typeface="Arial" charset="0"/>
            </a:endParaRPr>
          </a:p>
        </p:txBody>
      </p:sp>
      <p:sp>
        <p:nvSpPr>
          <p:cNvPr id="27657" name="Text Box 5"/>
          <p:cNvSpPr txBox="1">
            <a:spLocks noChangeArrowheads="1"/>
          </p:cNvSpPr>
          <p:nvPr/>
        </p:nvSpPr>
        <p:spPr bwMode="auto">
          <a:xfrm>
            <a:off x="442913" y="723900"/>
            <a:ext cx="8142287"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0E207F"/>
                </a:solidFill>
                <a:latin typeface="Arial" charset="0"/>
              </a:rPr>
              <a:t>Pressure equation including reduced gravity effects but </a:t>
            </a:r>
            <a:r>
              <a:rPr lang="en-US" sz="1800" u="sng">
                <a:solidFill>
                  <a:srgbClr val="0E207F"/>
                </a:solidFill>
                <a:latin typeface="Arial" charset="0"/>
              </a:rPr>
              <a:t>not</a:t>
            </a:r>
            <a:r>
              <a:rPr lang="en-US" sz="1800">
                <a:solidFill>
                  <a:srgbClr val="0E207F"/>
                </a:solidFill>
                <a:latin typeface="Arial" charset="0"/>
              </a:rPr>
              <a:t> capillary pressure</a:t>
            </a:r>
            <a:endParaRPr lang="en-GB" sz="1800">
              <a:solidFill>
                <a:srgbClr val="0E207F"/>
              </a:solidFill>
              <a:latin typeface="Arial" charset="0"/>
            </a:endParaRPr>
          </a:p>
        </p:txBody>
      </p:sp>
      <p:graphicFrame>
        <p:nvGraphicFramePr>
          <p:cNvPr id="27651" name="Object 3"/>
          <p:cNvGraphicFramePr>
            <a:graphicFrameLocks noChangeAspect="1"/>
          </p:cNvGraphicFramePr>
          <p:nvPr>
            <p:extLst>
              <p:ext uri="{D42A27DB-BD31-4B8C-83A1-F6EECF244321}">
                <p14:modId xmlns:p14="http://schemas.microsoft.com/office/powerpoint/2010/main" val="3223384258"/>
              </p:ext>
            </p:extLst>
          </p:nvPr>
        </p:nvGraphicFramePr>
        <p:xfrm>
          <a:off x="361950" y="1157288"/>
          <a:ext cx="8445500" cy="690562"/>
        </p:xfrm>
        <a:graphic>
          <a:graphicData uri="http://schemas.openxmlformats.org/presentationml/2006/ole">
            <mc:AlternateContent xmlns:mc="http://schemas.openxmlformats.org/markup-compatibility/2006">
              <mc:Choice xmlns:v="urn:schemas-microsoft-com:vml" Requires="v">
                <p:oleObj spid="_x0000_s33384" name="Equation" r:id="rId6" imgW="5283200" imgH="431800" progId="Equation.DSMT4">
                  <p:embed/>
                </p:oleObj>
              </mc:Choice>
              <mc:Fallback>
                <p:oleObj name="Equation" r:id="rId6" imgW="5283200" imgH="431800" progId="Equation.DSMT4">
                  <p:embed/>
                  <p:pic>
                    <p:nvPicPr>
                      <p:cNvPr id="0" name=""/>
                      <p:cNvPicPr>
                        <a:picLocks noChangeAspect="1" noChangeArrowheads="1"/>
                      </p:cNvPicPr>
                      <p:nvPr/>
                    </p:nvPicPr>
                    <p:blipFill>
                      <a:blip r:embed="rId7"/>
                      <a:srcRect/>
                      <a:stretch>
                        <a:fillRect/>
                      </a:stretch>
                    </p:blipFill>
                    <p:spPr bwMode="auto">
                      <a:xfrm>
                        <a:off x="361950" y="1157288"/>
                        <a:ext cx="8445500" cy="6905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8" name="Text Box 7"/>
          <p:cNvSpPr txBox="1">
            <a:spLocks noChangeArrowheads="1"/>
          </p:cNvSpPr>
          <p:nvPr/>
        </p:nvSpPr>
        <p:spPr bwMode="auto">
          <a:xfrm>
            <a:off x="441325" y="1922463"/>
            <a:ext cx="72834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0E207F"/>
                </a:solidFill>
                <a:latin typeface="Arial" charset="0"/>
              </a:rPr>
              <a:t>Total velocity (including buoyancy-driven flow of the fluid mixture)</a:t>
            </a:r>
            <a:endParaRPr lang="en-GB" sz="1800">
              <a:solidFill>
                <a:srgbClr val="0E207F"/>
              </a:solidFill>
              <a:latin typeface="Arial" charset="0"/>
            </a:endParaRPr>
          </a:p>
        </p:txBody>
      </p:sp>
      <p:graphicFrame>
        <p:nvGraphicFramePr>
          <p:cNvPr id="27652" name="Object 4"/>
          <p:cNvGraphicFramePr>
            <a:graphicFrameLocks noChangeAspect="1"/>
          </p:cNvGraphicFramePr>
          <p:nvPr/>
        </p:nvGraphicFramePr>
        <p:xfrm>
          <a:off x="742950" y="2339975"/>
          <a:ext cx="7215188" cy="990600"/>
        </p:xfrm>
        <a:graphic>
          <a:graphicData uri="http://schemas.openxmlformats.org/presentationml/2006/ole">
            <mc:AlternateContent xmlns:mc="http://schemas.openxmlformats.org/markup-compatibility/2006">
              <mc:Choice xmlns:v="urn:schemas-microsoft-com:vml" Requires="v">
                <p:oleObj spid="_x0000_s33385" name="Equation" r:id="rId8" imgW="5194080" imgH="711000" progId="Equation.3">
                  <p:embed/>
                </p:oleObj>
              </mc:Choice>
              <mc:Fallback>
                <p:oleObj name="Equation" r:id="rId8" imgW="5194080" imgH="711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2950" y="2339975"/>
                        <a:ext cx="7215188" cy="9906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59" name="Text Box 9"/>
          <p:cNvSpPr txBox="1">
            <a:spLocks noChangeArrowheads="1"/>
          </p:cNvSpPr>
          <p:nvPr/>
        </p:nvSpPr>
        <p:spPr bwMode="auto">
          <a:xfrm>
            <a:off x="1722438" y="5705475"/>
            <a:ext cx="220980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FF0000"/>
                </a:solidFill>
                <a:latin typeface="Arial" charset="0"/>
              </a:rPr>
              <a:t>advection</a:t>
            </a:r>
            <a:endParaRPr lang="en-GB" sz="1800">
              <a:solidFill>
                <a:srgbClr val="FF0000"/>
              </a:solidFill>
              <a:latin typeface="Arial" charset="0"/>
            </a:endParaRPr>
          </a:p>
        </p:txBody>
      </p:sp>
      <p:sp>
        <p:nvSpPr>
          <p:cNvPr id="27660" name="Text Box 10"/>
          <p:cNvSpPr txBox="1">
            <a:spLocks noChangeArrowheads="1"/>
          </p:cNvSpPr>
          <p:nvPr/>
        </p:nvSpPr>
        <p:spPr bwMode="auto">
          <a:xfrm>
            <a:off x="3141663" y="5718175"/>
            <a:ext cx="5637212"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spcBef>
                <a:spcPct val="50000"/>
              </a:spcBef>
            </a:pPr>
            <a:r>
              <a:rPr lang="en-US" sz="1800">
                <a:solidFill>
                  <a:srgbClr val="FF0000"/>
                </a:solidFill>
                <a:latin typeface="Arial" charset="0"/>
              </a:rPr>
              <a:t>gravitational segregation (=volume conservative spreading)</a:t>
            </a:r>
            <a:endParaRPr lang="en-GB" sz="1800">
              <a:solidFill>
                <a:srgbClr val="FF0000"/>
              </a:solidFill>
              <a:latin typeface="Arial" charset="0"/>
            </a:endParaRPr>
          </a:p>
        </p:txBody>
      </p:sp>
      <p:graphicFrame>
        <p:nvGraphicFramePr>
          <p:cNvPr id="27653" name="Object 5"/>
          <p:cNvGraphicFramePr>
            <a:graphicFrameLocks noChangeAspect="1"/>
          </p:cNvGraphicFramePr>
          <p:nvPr>
            <p:extLst>
              <p:ext uri="{D42A27DB-BD31-4B8C-83A1-F6EECF244321}">
                <p14:modId xmlns:p14="http://schemas.microsoft.com/office/powerpoint/2010/main" val="3723789723"/>
              </p:ext>
            </p:extLst>
          </p:nvPr>
        </p:nvGraphicFramePr>
        <p:xfrm>
          <a:off x="890588" y="4473575"/>
          <a:ext cx="4986337" cy="2087563"/>
        </p:xfrm>
        <a:graphic>
          <a:graphicData uri="http://schemas.openxmlformats.org/presentationml/2006/ole">
            <mc:AlternateContent xmlns:mc="http://schemas.openxmlformats.org/markup-compatibility/2006">
              <mc:Choice xmlns:v="urn:schemas-microsoft-com:vml" Requires="v">
                <p:oleObj spid="_x0000_s33386" name="Equation" r:id="rId10" imgW="3124200" imgH="1308100" progId="Equation.DSMT4">
                  <p:embed/>
                </p:oleObj>
              </mc:Choice>
              <mc:Fallback>
                <p:oleObj name="Equation" r:id="rId10" imgW="3124200" imgH="1308100" progId="Equation.DSMT4">
                  <p:embed/>
                  <p:pic>
                    <p:nvPicPr>
                      <p:cNvPr id="0" name=""/>
                      <p:cNvPicPr>
                        <a:picLocks noChangeAspect="1" noChangeArrowheads="1"/>
                      </p:cNvPicPr>
                      <p:nvPr/>
                    </p:nvPicPr>
                    <p:blipFill>
                      <a:blip r:embed="rId11"/>
                      <a:srcRect/>
                      <a:stretch>
                        <a:fillRect/>
                      </a:stretch>
                    </p:blipFill>
                    <p:spPr bwMode="auto">
                      <a:xfrm>
                        <a:off x="890588" y="4473575"/>
                        <a:ext cx="4986337" cy="20875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661" name="Oval 14"/>
          <p:cNvSpPr>
            <a:spLocks noChangeArrowheads="1"/>
          </p:cNvSpPr>
          <p:nvPr/>
        </p:nvSpPr>
        <p:spPr bwMode="auto">
          <a:xfrm>
            <a:off x="1504950" y="5200650"/>
            <a:ext cx="563563" cy="403225"/>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7662" name="Oval 15"/>
          <p:cNvSpPr>
            <a:spLocks noChangeArrowheads="1"/>
          </p:cNvSpPr>
          <p:nvPr/>
        </p:nvSpPr>
        <p:spPr bwMode="auto">
          <a:xfrm>
            <a:off x="5338763" y="5189538"/>
            <a:ext cx="563562" cy="403225"/>
          </a:xfrm>
          <a:prstGeom prst="ellipse">
            <a:avLst/>
          </a:prstGeom>
          <a:noFill/>
          <a:ln w="1270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en-US"/>
          </a:p>
        </p:txBody>
      </p:sp>
      <p:sp>
        <p:nvSpPr>
          <p:cNvPr id="27663" name="Text Box 17"/>
          <p:cNvSpPr txBox="1">
            <a:spLocks noChangeArrowheads="1"/>
          </p:cNvSpPr>
          <p:nvPr/>
        </p:nvSpPr>
        <p:spPr bwMode="auto">
          <a:xfrm>
            <a:off x="5165725" y="4932363"/>
            <a:ext cx="884238"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r>
              <a:rPr lang="en-US" sz="1400">
                <a:solidFill>
                  <a:srgbClr val="B2B2B2"/>
                </a:solidFill>
                <a:latin typeface="Arial" charset="0"/>
              </a:rPr>
              <a:t>soln.vec.</a:t>
            </a:r>
          </a:p>
        </p:txBody>
      </p:sp>
      <p:sp>
        <p:nvSpPr>
          <p:cNvPr id="27664" name="Text Box 18"/>
          <p:cNvSpPr txBox="1">
            <a:spLocks noChangeArrowheads="1"/>
          </p:cNvSpPr>
          <p:nvPr/>
        </p:nvSpPr>
        <p:spPr bwMode="auto">
          <a:xfrm>
            <a:off x="1382713" y="4940300"/>
            <a:ext cx="884237"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gn="l" eaLnBrk="1" hangingPunct="1"/>
            <a:r>
              <a:rPr lang="en-US" sz="1400">
                <a:solidFill>
                  <a:srgbClr val="B2B2B2"/>
                </a:solidFill>
                <a:latin typeface="Arial" charset="0"/>
              </a:rPr>
              <a:t>soln.vec.</a:t>
            </a:r>
          </a:p>
        </p:txBody>
      </p:sp>
    </p:spTree>
    <p:extLst>
      <p:ext uri="{BB962C8B-B14F-4D97-AF65-F5344CB8AC3E}">
        <p14:creationId xmlns:p14="http://schemas.microsoft.com/office/powerpoint/2010/main" val="5164979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To do</a:t>
            </a:r>
          </a:p>
        </p:txBody>
      </p:sp>
      <p:sp>
        <p:nvSpPr>
          <p:cNvPr id="5" name="Content Placeholder 4"/>
          <p:cNvSpPr>
            <a:spLocks noGrp="1"/>
          </p:cNvSpPr>
          <p:nvPr>
            <p:ph idx="1"/>
          </p:nvPr>
        </p:nvSpPr>
        <p:spPr>
          <a:xfrm>
            <a:off x="457200" y="764704"/>
            <a:ext cx="8229600" cy="5728171"/>
          </a:xfrm>
        </p:spPr>
        <p:txBody>
          <a:bodyPr>
            <a:normAutofit lnSpcReduction="10000"/>
          </a:bodyPr>
          <a:lstStyle/>
          <a:p>
            <a:r>
              <a:rPr lang="en-US" dirty="0"/>
              <a:t>Rigorous implementation of 2-phase, 2-component transport</a:t>
            </a:r>
          </a:p>
          <a:p>
            <a:pPr lvl="1"/>
            <a:r>
              <a:rPr lang="en-US" dirty="0"/>
              <a:t>aqueous phase: CO2 – salt – H2O</a:t>
            </a:r>
          </a:p>
          <a:p>
            <a:pPr lvl="1"/>
            <a:r>
              <a:rPr lang="en-US" dirty="0"/>
              <a:t>capture effects on density and viscosity</a:t>
            </a:r>
          </a:p>
          <a:p>
            <a:r>
              <a:rPr lang="en-US" dirty="0"/>
              <a:t>Model dry out (CO2 </a:t>
            </a:r>
            <a:r>
              <a:rPr lang="en-US" dirty="0" err="1"/>
              <a:t>dessication</a:t>
            </a:r>
            <a:r>
              <a:rPr lang="en-US" dirty="0"/>
              <a:t>), means that water content of CO2 phase must be tracked (important for geophysical signatures)</a:t>
            </a:r>
          </a:p>
          <a:p>
            <a:r>
              <a:rPr lang="en-US" dirty="0"/>
              <a:t>Capture porosity and permeability effects of salt precipitation </a:t>
            </a:r>
          </a:p>
          <a:p>
            <a:r>
              <a:rPr lang="en-US" dirty="0"/>
              <a:t>Remove grid sensitivity from CO2 dissolution rates by including an equilibration time that depends on grid-block size</a:t>
            </a:r>
          </a:p>
          <a:p>
            <a:pPr lvl="1"/>
            <a:r>
              <a:rPr lang="en-US" dirty="0"/>
              <a:t>Local equilibrium assumption is a can of worms!</a:t>
            </a:r>
          </a:p>
          <a:p>
            <a:r>
              <a:rPr lang="en-US" dirty="0"/>
              <a:t>implement full tensor permeability transport </a:t>
            </a:r>
            <a:r>
              <a:rPr lang="en-US" dirty="0" err="1"/>
              <a:t>modelling</a:t>
            </a:r>
            <a:endParaRPr lang="en-US" dirty="0"/>
          </a:p>
          <a:p>
            <a:r>
              <a:rPr lang="en-US" dirty="0"/>
              <a:t>test </a:t>
            </a:r>
            <a:r>
              <a:rPr lang="en-US" dirty="0" err="1"/>
              <a:t>relperm</a:t>
            </a:r>
            <a:r>
              <a:rPr lang="en-US" dirty="0"/>
              <a:t> hysteresis formulation</a:t>
            </a:r>
          </a:p>
          <a:p>
            <a:r>
              <a:rPr lang="en-US" dirty="0"/>
              <a:t>Make sure that the subtle density changes of water due to dissolved CO2 are resolved correctly </a:t>
            </a:r>
          </a:p>
          <a:p>
            <a:r>
              <a:rPr lang="en-US" dirty="0"/>
              <a:t>Work with reduced pressure and reference density (much more accurate!)   </a:t>
            </a:r>
          </a:p>
        </p:txBody>
      </p:sp>
      <p:sp>
        <p:nvSpPr>
          <p:cNvPr id="19" name="Slide Number Placeholder 1"/>
          <p:cNvSpPr>
            <a:spLocks noGrp="1"/>
          </p:cNvSpPr>
          <p:nvPr>
            <p:ph type="sldNum" sz="quarter" idx="12"/>
          </p:nvPr>
        </p:nvSpPr>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fld id="{FF9E1D0A-B9C5-E943-81F2-F4F7983AD6F1}" type="slidenum">
              <a:rPr lang="en-US" sz="1400">
                <a:solidFill>
                  <a:schemeClr val="bg1"/>
                </a:solidFill>
                <a:latin typeface="Arial" charset="0"/>
              </a:rPr>
              <a:pPr/>
              <a:t>58</a:t>
            </a:fld>
            <a:endParaRPr lang="en-US" sz="1400">
              <a:solidFill>
                <a:schemeClr val="bg1"/>
              </a:solidFill>
              <a:latin typeface="Arial" charset="0"/>
            </a:endParaRPr>
          </a:p>
        </p:txBody>
      </p:sp>
    </p:spTree>
    <p:extLst>
      <p:ext uri="{BB962C8B-B14F-4D97-AF65-F5344CB8AC3E}">
        <p14:creationId xmlns:p14="http://schemas.microsoft.com/office/powerpoint/2010/main" val="1599810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59</a:t>
            </a:fld>
            <a:endParaRPr lang="en-US"/>
          </a:p>
        </p:txBody>
      </p:sp>
      <p:sp>
        <p:nvSpPr>
          <p:cNvPr id="7" name="TextBox 6"/>
          <p:cNvSpPr txBox="1"/>
          <p:nvPr/>
        </p:nvSpPr>
        <p:spPr>
          <a:xfrm>
            <a:off x="877290" y="2708920"/>
            <a:ext cx="7459607" cy="923330"/>
          </a:xfrm>
          <a:prstGeom prst="rect">
            <a:avLst/>
          </a:prstGeom>
          <a:noFill/>
        </p:spPr>
        <p:txBody>
          <a:bodyPr wrap="none" rtlCol="0">
            <a:spAutoFit/>
          </a:bodyPr>
          <a:lstStyle/>
          <a:p>
            <a:pPr algn="ctr"/>
            <a:r>
              <a:rPr lang="en-US" sz="5400" dirty="0">
                <a:latin typeface="Arial"/>
                <a:cs typeface="Arial"/>
              </a:rPr>
              <a:t>Improving existing code</a:t>
            </a:r>
          </a:p>
        </p:txBody>
      </p:sp>
    </p:spTree>
    <p:extLst>
      <p:ext uri="{BB962C8B-B14F-4D97-AF65-F5344CB8AC3E}">
        <p14:creationId xmlns:p14="http://schemas.microsoft.com/office/powerpoint/2010/main" val="19475702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Improvements</a:t>
            </a:r>
          </a:p>
        </p:txBody>
      </p:sp>
      <p:sp>
        <p:nvSpPr>
          <p:cNvPr id="6" name="Content Placeholder 5"/>
          <p:cNvSpPr>
            <a:spLocks noGrp="1"/>
          </p:cNvSpPr>
          <p:nvPr>
            <p:ph idx="1"/>
          </p:nvPr>
        </p:nvSpPr>
        <p:spPr/>
        <p:txBody>
          <a:bodyPr/>
          <a:lstStyle/>
          <a:p>
            <a:r>
              <a:rPr lang="en-US" b="1" dirty="0" err="1"/>
              <a:t>FV_IntegrationPointAndWeights</a:t>
            </a:r>
            <a:r>
              <a:rPr lang="en-US" b="1" dirty="0"/>
              <a:t> </a:t>
            </a:r>
            <a:r>
              <a:rPr lang="en-US" dirty="0"/>
              <a:t>must become Singleton</a:t>
            </a:r>
          </a:p>
        </p:txBody>
      </p:sp>
      <p:sp>
        <p:nvSpPr>
          <p:cNvPr id="2" name="Date Placeholder 1"/>
          <p:cNvSpPr>
            <a:spLocks noGrp="1"/>
          </p:cNvSpPr>
          <p:nvPr>
            <p:ph type="dt" sz="half" idx="10"/>
          </p:nvPr>
        </p:nvSpPr>
        <p:spPr/>
        <p:txBody>
          <a:bodyPr/>
          <a:lstStyle/>
          <a:p>
            <a:fld id="{3A2121E2-B05F-B94B-BD08-7791A84524CA}" type="datetime1">
              <a:rPr lang="en-US" smtClean="0"/>
              <a:pPr/>
              <a:t>3/17/19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3FD816-CC6A-BF43-8241-637E3E7EAA5A}" type="slidenum">
              <a:rPr lang="en-US" smtClean="0"/>
              <a:pPr/>
              <a:t>60</a:t>
            </a:fld>
            <a:endParaRPr lang="en-US"/>
          </a:p>
        </p:txBody>
      </p:sp>
    </p:spTree>
    <p:extLst>
      <p:ext uri="{BB962C8B-B14F-4D97-AF65-F5344CB8AC3E}">
        <p14:creationId xmlns:p14="http://schemas.microsoft.com/office/powerpoint/2010/main" val="38060636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5086"/>
            <a:ext cx="8229600" cy="914400"/>
          </a:xfrm>
        </p:spPr>
        <p:txBody>
          <a:bodyPr>
            <a:normAutofit fontScale="90000"/>
          </a:bodyPr>
          <a:lstStyle/>
          <a:p>
            <a:r>
              <a:rPr lang="en-US" dirty="0"/>
              <a:t>Keeping support functionality from </a:t>
            </a:r>
            <a:r>
              <a:rPr lang="en-US" b="1" dirty="0" err="1"/>
              <a:t>NodeCenteredFiniteVolumeTransport</a:t>
            </a:r>
            <a:r>
              <a:rPr lang="en-US" b="1" dirty="0"/>
              <a:t> ?</a:t>
            </a:r>
          </a:p>
        </p:txBody>
      </p:sp>
      <p:sp>
        <p:nvSpPr>
          <p:cNvPr id="3" name="Content Placeholder 2"/>
          <p:cNvSpPr>
            <a:spLocks noGrp="1"/>
          </p:cNvSpPr>
          <p:nvPr>
            <p:ph idx="1"/>
          </p:nvPr>
        </p:nvSpPr>
        <p:spPr>
          <a:xfrm>
            <a:off x="461830" y="1039485"/>
            <a:ext cx="8197504" cy="5551509"/>
          </a:xfrm>
        </p:spPr>
        <p:txBody>
          <a:bodyPr>
            <a:normAutofit fontScale="92500"/>
          </a:bodyPr>
          <a:lstStyle/>
          <a:p>
            <a:pPr marL="0" indent="0">
              <a:buNone/>
            </a:pPr>
            <a:r>
              <a:rPr lang="en-US" dirty="0"/>
              <a:t>Class needs a rebuild, but SKM suggests that certain functions are kept:</a:t>
            </a:r>
          </a:p>
          <a:p>
            <a:r>
              <a:rPr lang="en-US" dirty="0"/>
              <a:t>Alternative: Keep these functions but dismantle class?</a:t>
            </a:r>
          </a:p>
          <a:p>
            <a:pPr lvl="1"/>
            <a:r>
              <a:rPr lang="en-US" dirty="0"/>
              <a:t>At least the constructor / </a:t>
            </a:r>
            <a:r>
              <a:rPr lang="en-US" dirty="0" err="1"/>
              <a:t>initialisation</a:t>
            </a:r>
            <a:r>
              <a:rPr lang="en-US" dirty="0"/>
              <a:t> function are always needed </a:t>
            </a:r>
          </a:p>
          <a:p>
            <a:pPr lvl="1"/>
            <a:r>
              <a:rPr lang="en-US" dirty="0"/>
              <a:t>A transport class / visitor is also needed to manage accumulations / integrations etc. </a:t>
            </a:r>
          </a:p>
          <a:p>
            <a:pPr lvl="1"/>
            <a:r>
              <a:rPr lang="en-US" dirty="0"/>
              <a:t>CFL calculations etc. could be moved to </a:t>
            </a:r>
            <a:r>
              <a:rPr lang="en-US" b="1" dirty="0" err="1"/>
              <a:t>finiteVolumeAuxiliaryFunctions</a:t>
            </a:r>
            <a:r>
              <a:rPr lang="en-US" dirty="0"/>
              <a:t> ?</a:t>
            </a:r>
          </a:p>
          <a:p>
            <a:pPr lvl="1"/>
            <a:r>
              <a:rPr lang="en-US" dirty="0"/>
              <a:t>Complicated procedure to compute nodal volume fluid source terms for </a:t>
            </a:r>
            <a:r>
              <a:rPr lang="en-US" dirty="0" err="1"/>
              <a:t>PointSourceRHS</a:t>
            </a:r>
            <a:r>
              <a:rPr lang="en-US" dirty="0"/>
              <a:t> in FEM scheme should be replaced  by </a:t>
            </a:r>
            <a:r>
              <a:rPr lang="en-US" dirty="0" err="1"/>
              <a:t>pde_operators</a:t>
            </a:r>
            <a:r>
              <a:rPr lang="en-US" dirty="0"/>
              <a:t>.</a:t>
            </a:r>
          </a:p>
          <a:p>
            <a:pPr lvl="1"/>
            <a:r>
              <a:rPr lang="en-US" dirty="0"/>
              <a:t>Transport variables not stored in NCFVT / </a:t>
            </a:r>
            <a:r>
              <a:rPr lang="en-US" dirty="0" err="1"/>
              <a:t>FV_Parameter</a:t>
            </a:r>
            <a:r>
              <a:rPr lang="en-US" dirty="0"/>
              <a:t> array, but on model</a:t>
            </a:r>
          </a:p>
          <a:p>
            <a:pPr lvl="2"/>
            <a:r>
              <a:rPr lang="en-US" dirty="0"/>
              <a:t>Implication: transport variables exist everywhere!</a:t>
            </a:r>
          </a:p>
          <a:p>
            <a:pPr lvl="1"/>
            <a:r>
              <a:rPr lang="en-US" dirty="0"/>
              <a:t>Single phase transport should also be associated with a phase?</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61</a:t>
            </a:fld>
            <a:endParaRPr lang="en-US">
              <a:solidFill>
                <a:prstClr val="white">
                  <a:lumMod val="65000"/>
                </a:prstClr>
              </a:solidFill>
            </a:endParaRPr>
          </a:p>
        </p:txBody>
      </p:sp>
    </p:spTree>
    <p:extLst>
      <p:ext uri="{BB962C8B-B14F-4D97-AF65-F5344CB8AC3E}">
        <p14:creationId xmlns:p14="http://schemas.microsoft.com/office/powerpoint/2010/main" val="39997303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for improvement: </a:t>
            </a:r>
            <a:r>
              <a:rPr lang="en-US" dirty="0" err="1"/>
              <a:t>FiniteVolumeTraits</a:t>
            </a:r>
            <a:endParaRPr lang="en-US" dirty="0"/>
          </a:p>
        </p:txBody>
      </p:sp>
      <p:sp>
        <p:nvSpPr>
          <p:cNvPr id="3" name="Content Placeholder 2"/>
          <p:cNvSpPr>
            <a:spLocks noGrp="1"/>
          </p:cNvSpPr>
          <p:nvPr>
            <p:ph idx="1"/>
          </p:nvPr>
        </p:nvSpPr>
        <p:spPr/>
        <p:txBody>
          <a:bodyPr>
            <a:normAutofit/>
          </a:bodyPr>
          <a:lstStyle/>
          <a:p>
            <a:r>
              <a:rPr lang="en-US" dirty="0"/>
              <a:t>Speed-up: It may be possible to carry out velocity computations entirely in parametric space, saving several </a:t>
            </a:r>
            <a:r>
              <a:rPr lang="en-US" dirty="0" err="1"/>
              <a:t>Jacobian</a:t>
            </a:r>
            <a:r>
              <a:rPr lang="en-US" dirty="0"/>
              <a:t> operations</a:t>
            </a:r>
          </a:p>
          <a:p>
            <a:r>
              <a:rPr lang="en-US" dirty="0"/>
              <a:t>Confusing functions in interface of </a:t>
            </a:r>
            <a:r>
              <a:rPr lang="en-US" b="1" dirty="0" err="1"/>
              <a:t>FiniteVolumeTraits</a:t>
            </a:r>
            <a:r>
              <a:rPr lang="en-US" dirty="0"/>
              <a:t>:</a:t>
            </a:r>
          </a:p>
          <a:p>
            <a:pPr marL="0" indent="0">
              <a:buNone/>
            </a:pPr>
            <a:r>
              <a:rPr lang="en-US" dirty="0"/>
              <a:t>  	</a:t>
            </a:r>
            <a:r>
              <a:rPr lang="en-US" sz="1400" dirty="0">
                <a:latin typeface="Courier"/>
                <a:cs typeface="Courier"/>
              </a:rPr>
              <a:t>double64   </a:t>
            </a:r>
            <a:r>
              <a:rPr lang="en-US" sz="1400" dirty="0" err="1">
                <a:latin typeface="Courier"/>
                <a:cs typeface="Courier"/>
              </a:rPr>
              <a:t>FacetAreaMapped</a:t>
            </a:r>
            <a:r>
              <a:rPr lang="en-US" sz="1400" dirty="0">
                <a:latin typeface="Courier"/>
                <a:cs typeface="Courier"/>
              </a:rPr>
              <a:t>( </a:t>
            </a:r>
            <a:r>
              <a:rPr lang="en-US" sz="1400" dirty="0" err="1">
                <a:latin typeface="Courier"/>
                <a:cs typeface="Courier"/>
              </a:rPr>
              <a:t>size_t</a:t>
            </a:r>
            <a:r>
              <a:rPr lang="en-US" sz="1400" dirty="0">
                <a:latin typeface="Courier"/>
                <a:cs typeface="Courier"/>
              </a:rPr>
              <a:t> </a:t>
            </a:r>
            <a:r>
              <a:rPr lang="en-US" sz="1400" dirty="0" err="1">
                <a:latin typeface="Courier"/>
                <a:cs typeface="Courier"/>
              </a:rPr>
              <a:t>iFacet</a:t>
            </a:r>
            <a:r>
              <a:rPr lang="en-US" sz="1400" dirty="0">
                <a:latin typeface="Courier"/>
                <a:cs typeface="Courier"/>
              </a:rPr>
              <a:t> ) </a:t>
            </a:r>
            <a:r>
              <a:rPr lang="en-US" sz="1400" dirty="0" err="1">
                <a:latin typeface="Courier"/>
                <a:cs typeface="Courier"/>
              </a:rPr>
              <a:t>const</a:t>
            </a:r>
            <a:r>
              <a:rPr lang="en-US" sz="1400" dirty="0">
                <a:latin typeface="Courier"/>
                <a:cs typeface="Courier"/>
              </a:rPr>
              <a:t>; </a:t>
            </a:r>
          </a:p>
          <a:p>
            <a:pPr marL="0" indent="0">
              <a:buNone/>
            </a:pPr>
            <a:r>
              <a:rPr lang="en-US" sz="1400" dirty="0">
                <a:latin typeface="Courier"/>
                <a:cs typeface="Courier"/>
              </a:rPr>
              <a:t>	Point&lt;3U&gt;  </a:t>
            </a:r>
            <a:r>
              <a:rPr lang="en-US" sz="1400" dirty="0" err="1">
                <a:latin typeface="Courier"/>
                <a:cs typeface="Courier"/>
              </a:rPr>
              <a:t>FacetNormalMapped</a:t>
            </a:r>
            <a:r>
              <a:rPr lang="en-US" sz="1400" dirty="0">
                <a:latin typeface="Courier"/>
                <a:cs typeface="Courier"/>
              </a:rPr>
              <a:t>( </a:t>
            </a:r>
            <a:r>
              <a:rPr lang="en-US" sz="1400" dirty="0" err="1">
                <a:latin typeface="Courier"/>
                <a:cs typeface="Courier"/>
              </a:rPr>
              <a:t>size_t</a:t>
            </a:r>
            <a:r>
              <a:rPr lang="en-US" sz="1400" dirty="0">
                <a:latin typeface="Courier"/>
                <a:cs typeface="Courier"/>
              </a:rPr>
              <a:t> </a:t>
            </a:r>
            <a:r>
              <a:rPr lang="en-US" sz="1400" dirty="0" err="1">
                <a:latin typeface="Courier"/>
                <a:cs typeface="Courier"/>
              </a:rPr>
              <a:t>iFacet</a:t>
            </a:r>
            <a:r>
              <a:rPr lang="en-US" sz="1400" dirty="0">
                <a:latin typeface="Courier"/>
                <a:cs typeface="Courier"/>
              </a:rPr>
              <a:t> ) </a:t>
            </a:r>
            <a:r>
              <a:rPr lang="en-US" sz="1400" dirty="0" err="1">
                <a:latin typeface="Courier"/>
                <a:cs typeface="Courier"/>
              </a:rPr>
              <a:t>const</a:t>
            </a:r>
            <a:r>
              <a:rPr lang="en-US" sz="1400" dirty="0">
                <a:latin typeface="Courier"/>
                <a:cs typeface="Courier"/>
              </a:rPr>
              <a:t>;     </a:t>
            </a:r>
          </a:p>
          <a:p>
            <a:pPr marL="0" indent="0">
              <a:buNone/>
            </a:pPr>
            <a:r>
              <a:rPr lang="en-US" sz="1400" dirty="0">
                <a:latin typeface="Courier"/>
                <a:cs typeface="Courier"/>
              </a:rPr>
              <a:t>	double64          </a:t>
            </a:r>
            <a:r>
              <a:rPr lang="en-US" sz="1400" dirty="0" err="1">
                <a:latin typeface="Courier"/>
                <a:cs typeface="Courier"/>
              </a:rPr>
              <a:t>ParametricFacetArea</a:t>
            </a:r>
            <a:r>
              <a:rPr lang="en-US" sz="1400" dirty="0">
                <a:latin typeface="Courier"/>
                <a:cs typeface="Courier"/>
              </a:rPr>
              <a:t>( </a:t>
            </a:r>
            <a:r>
              <a:rPr lang="en-US" sz="1400" dirty="0" err="1">
                <a:latin typeface="Courier"/>
                <a:cs typeface="Courier"/>
              </a:rPr>
              <a:t>size_t</a:t>
            </a:r>
            <a:r>
              <a:rPr lang="en-US" sz="1400" dirty="0">
                <a:latin typeface="Courier"/>
                <a:cs typeface="Courier"/>
              </a:rPr>
              <a:t> </a:t>
            </a:r>
            <a:r>
              <a:rPr lang="en-US" sz="1400" dirty="0" err="1">
                <a:latin typeface="Courier"/>
                <a:cs typeface="Courier"/>
              </a:rPr>
              <a:t>iFacet</a:t>
            </a:r>
            <a:r>
              <a:rPr lang="en-US" sz="1400" dirty="0">
                <a:latin typeface="Courier"/>
                <a:cs typeface="Courier"/>
              </a:rPr>
              <a:t> ) </a:t>
            </a:r>
            <a:r>
              <a:rPr lang="en-US" sz="1400" dirty="0" err="1">
                <a:latin typeface="Courier"/>
                <a:cs typeface="Courier"/>
              </a:rPr>
              <a:t>const</a:t>
            </a:r>
            <a:r>
              <a:rPr lang="en-US" sz="1400" dirty="0">
                <a:latin typeface="Courier"/>
                <a:cs typeface="Courier"/>
              </a:rPr>
              <a:t>;</a:t>
            </a:r>
          </a:p>
          <a:p>
            <a:pPr marL="0" indent="0">
              <a:buNone/>
            </a:pPr>
            <a:r>
              <a:rPr lang="en-US" sz="1400" dirty="0">
                <a:latin typeface="Courier"/>
                <a:cs typeface="Courier"/>
              </a:rPr>
              <a:t>    </a:t>
            </a:r>
            <a:r>
              <a:rPr lang="en-US" sz="1400" dirty="0" err="1">
                <a:latin typeface="Courier"/>
                <a:cs typeface="Courier"/>
              </a:rPr>
              <a:t>const</a:t>
            </a:r>
            <a:r>
              <a:rPr lang="en-US" sz="1400" dirty="0">
                <a:latin typeface="Courier"/>
                <a:cs typeface="Courier"/>
              </a:rPr>
              <a:t> Point&lt;3U&gt;&amp;  </a:t>
            </a:r>
            <a:r>
              <a:rPr lang="en-US" sz="1400" dirty="0" err="1">
                <a:latin typeface="Courier"/>
                <a:cs typeface="Courier"/>
              </a:rPr>
              <a:t>ParametricFacetNormal</a:t>
            </a:r>
            <a:r>
              <a:rPr lang="en-US" sz="1400" dirty="0">
                <a:latin typeface="Courier"/>
                <a:cs typeface="Courier"/>
              </a:rPr>
              <a:t>( </a:t>
            </a:r>
            <a:r>
              <a:rPr lang="en-US" sz="1400" dirty="0" err="1">
                <a:latin typeface="Courier"/>
                <a:cs typeface="Courier"/>
              </a:rPr>
              <a:t>size_t</a:t>
            </a:r>
            <a:r>
              <a:rPr lang="en-US" sz="1400" dirty="0">
                <a:latin typeface="Courier"/>
                <a:cs typeface="Courier"/>
              </a:rPr>
              <a:t> </a:t>
            </a:r>
            <a:r>
              <a:rPr lang="en-US" sz="1400" dirty="0" err="1">
                <a:latin typeface="Courier"/>
                <a:cs typeface="Courier"/>
              </a:rPr>
              <a:t>iFacet</a:t>
            </a:r>
            <a:r>
              <a:rPr lang="en-US" sz="1400" dirty="0">
                <a:latin typeface="Courier"/>
                <a:cs typeface="Courier"/>
              </a:rPr>
              <a:t> ) </a:t>
            </a:r>
            <a:r>
              <a:rPr lang="en-US" sz="1400" dirty="0" err="1">
                <a:latin typeface="Courier"/>
                <a:cs typeface="Courier"/>
              </a:rPr>
              <a:t>const</a:t>
            </a:r>
            <a:r>
              <a:rPr lang="en-US" sz="1400" dirty="0">
                <a:latin typeface="Courier"/>
                <a:cs typeface="Courier"/>
              </a:rPr>
              <a:t>;</a:t>
            </a:r>
          </a:p>
          <a:p>
            <a:pPr marL="457200" lvl="1" indent="0">
              <a:buNone/>
            </a:pPr>
            <a:endParaRPr lang="en-US" sz="1400" dirty="0"/>
          </a:p>
          <a:p>
            <a:r>
              <a:rPr lang="en-US" dirty="0"/>
              <a:t>Is there an issue with velocity computations on polyhedral (multi-element type) meshes, where there appears to be a divergence in the velocity field?</a:t>
            </a:r>
          </a:p>
          <a:p>
            <a:r>
              <a:rPr lang="en-US" dirty="0"/>
              <a:t>Option PYRAMID_WITH_TRIANGULAR_FACETS should be used always and flag should be removed</a:t>
            </a: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62</a:t>
            </a:fld>
            <a:endParaRPr lang="en-US" dirty="0">
              <a:solidFill>
                <a:prstClr val="white">
                  <a:lumMod val="65000"/>
                </a:prstClr>
              </a:solidFill>
              <a:ea typeface="+mn-ea"/>
            </a:endParaRPr>
          </a:p>
        </p:txBody>
      </p:sp>
    </p:spTree>
    <p:extLst>
      <p:ext uri="{BB962C8B-B14F-4D97-AF65-F5344CB8AC3E}">
        <p14:creationId xmlns:p14="http://schemas.microsoft.com/office/powerpoint/2010/main" val="37563503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FD816-CC6A-BF43-8241-637E3E7EAA5A}" type="slidenum">
              <a:rPr lang="en-US" smtClean="0"/>
              <a:pPr/>
              <a:t>63</a:t>
            </a:fld>
            <a:endParaRPr lang="en-US"/>
          </a:p>
        </p:txBody>
      </p:sp>
      <p:sp>
        <p:nvSpPr>
          <p:cNvPr id="7" name="TextBox 6"/>
          <p:cNvSpPr txBox="1"/>
          <p:nvPr/>
        </p:nvSpPr>
        <p:spPr>
          <a:xfrm>
            <a:off x="2699792" y="2303153"/>
            <a:ext cx="3880464" cy="1754327"/>
          </a:xfrm>
          <a:prstGeom prst="rect">
            <a:avLst/>
          </a:prstGeom>
          <a:noFill/>
        </p:spPr>
        <p:txBody>
          <a:bodyPr wrap="none" rtlCol="0">
            <a:spAutoFit/>
          </a:bodyPr>
          <a:lstStyle/>
          <a:p>
            <a:pPr algn="ctr"/>
            <a:r>
              <a:rPr lang="en-US" sz="5400" dirty="0">
                <a:latin typeface="Arial"/>
                <a:cs typeface="Arial"/>
              </a:rPr>
              <a:t>Background </a:t>
            </a:r>
          </a:p>
          <a:p>
            <a:pPr algn="ctr"/>
            <a:r>
              <a:rPr lang="en-US" sz="5400" dirty="0">
                <a:latin typeface="Arial"/>
                <a:cs typeface="Arial"/>
              </a:rPr>
              <a:t>Information</a:t>
            </a:r>
          </a:p>
        </p:txBody>
      </p:sp>
    </p:spTree>
    <p:extLst>
      <p:ext uri="{BB962C8B-B14F-4D97-AF65-F5344CB8AC3E}">
        <p14:creationId xmlns:p14="http://schemas.microsoft.com/office/powerpoint/2010/main" val="10828057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5616" y="427840"/>
            <a:ext cx="7128792" cy="6186309"/>
          </a:xfrm>
          <a:prstGeom prst="rect">
            <a:avLst/>
          </a:prstGeom>
          <a:noFill/>
        </p:spPr>
        <p:txBody>
          <a:bodyPr wrap="square" rtlCol="0">
            <a:spAutoFit/>
          </a:bodyPr>
          <a:lstStyle/>
          <a:p>
            <a:r>
              <a:rPr lang="en-US" dirty="0" err="1"/>
              <a:t>Komponenten</a:t>
            </a:r>
            <a:r>
              <a:rPr lang="en-US" dirty="0"/>
              <a:t>:</a:t>
            </a:r>
          </a:p>
          <a:p>
            <a:pPr marL="285750" indent="-285750">
              <a:buFontTx/>
              <a:buChar char="-"/>
            </a:pPr>
            <a:r>
              <a:rPr lang="en-US" dirty="0" err="1"/>
              <a:t>Mobilities</a:t>
            </a:r>
            <a:r>
              <a:rPr lang="en-US" dirty="0"/>
              <a:t> and gravity term (n)</a:t>
            </a:r>
          </a:p>
          <a:p>
            <a:pPr marL="742950" lvl="1" indent="-285750">
              <a:buFontTx/>
              <a:buChar char="-"/>
            </a:pPr>
            <a:r>
              <a:rPr lang="en-US" dirty="0"/>
              <a:t>at integration points</a:t>
            </a:r>
          </a:p>
          <a:p>
            <a:pPr marL="742950" lvl="1" indent="-285750">
              <a:buFontTx/>
              <a:buChar char="-"/>
            </a:pPr>
            <a:r>
              <a:rPr lang="en-US" dirty="0" err="1"/>
              <a:t>upwinded</a:t>
            </a:r>
            <a:r>
              <a:rPr lang="en-US" dirty="0"/>
              <a:t> </a:t>
            </a:r>
          </a:p>
          <a:p>
            <a:pPr marL="742950" lvl="1" indent="-285750">
              <a:buFontTx/>
              <a:buChar char="-"/>
            </a:pPr>
            <a:r>
              <a:rPr lang="en-US" dirty="0"/>
              <a:t>at barycenter</a:t>
            </a:r>
          </a:p>
          <a:p>
            <a:pPr marL="285750" indent="-285750">
              <a:buFontTx/>
              <a:buChar char="-"/>
            </a:pPr>
            <a:r>
              <a:rPr lang="en-US" dirty="0"/>
              <a:t>Transport variables (n x m)</a:t>
            </a:r>
          </a:p>
          <a:p>
            <a:pPr marL="742950" lvl="1" indent="-285750">
              <a:buFontTx/>
              <a:buChar char="-"/>
            </a:pPr>
            <a:r>
              <a:rPr lang="en-US" dirty="0"/>
              <a:t>at integration point</a:t>
            </a:r>
          </a:p>
          <a:p>
            <a:pPr marL="742950" lvl="1" indent="-285750">
              <a:buFontTx/>
              <a:buChar char="-"/>
            </a:pPr>
            <a:r>
              <a:rPr lang="en-US" dirty="0"/>
              <a:t>at barycenter</a:t>
            </a:r>
          </a:p>
          <a:p>
            <a:pPr marL="742950" lvl="1" indent="-285750">
              <a:buFontTx/>
              <a:buChar char="-"/>
            </a:pPr>
            <a:r>
              <a:rPr lang="en-US" dirty="0" err="1"/>
              <a:t>upwinded</a:t>
            </a:r>
            <a:endParaRPr lang="en-US" dirty="0"/>
          </a:p>
          <a:p>
            <a:pPr marL="742950" lvl="1" indent="-285750">
              <a:buFontTx/>
              <a:buChar char="-"/>
            </a:pPr>
            <a:r>
              <a:rPr lang="en-US" dirty="0"/>
              <a:t>mixed</a:t>
            </a:r>
          </a:p>
          <a:p>
            <a:pPr marL="285750" indent="-285750">
              <a:buFontTx/>
              <a:buChar char="-"/>
            </a:pPr>
            <a:r>
              <a:rPr lang="en-US" dirty="0"/>
              <a:t>Source Term (n x m)</a:t>
            </a:r>
          </a:p>
          <a:p>
            <a:pPr marL="742950" lvl="1" indent="-285750">
              <a:buFontTx/>
              <a:buChar char="-"/>
            </a:pPr>
            <a:r>
              <a:rPr lang="en-US" dirty="0"/>
              <a:t>nodal, element, sector (?)</a:t>
            </a:r>
          </a:p>
          <a:p>
            <a:pPr marL="285750" indent="-285750">
              <a:buFontTx/>
              <a:buChar char="-"/>
            </a:pPr>
            <a:r>
              <a:rPr lang="en-US" dirty="0"/>
              <a:t>Storage term (n x m)</a:t>
            </a:r>
          </a:p>
          <a:p>
            <a:pPr marL="742950" lvl="1" indent="-285750">
              <a:buFontTx/>
              <a:buChar char="-"/>
            </a:pPr>
            <a:r>
              <a:rPr lang="en-US" dirty="0"/>
              <a:t>nodal, element (?)</a:t>
            </a:r>
          </a:p>
          <a:p>
            <a:pPr marL="285750" indent="-285750">
              <a:buFontTx/>
              <a:buChar char="-"/>
            </a:pPr>
            <a:r>
              <a:rPr lang="en-US" dirty="0"/>
              <a:t>General terms</a:t>
            </a:r>
          </a:p>
          <a:p>
            <a:pPr marL="742950" lvl="1" indent="-285750">
              <a:buFontTx/>
              <a:buChar char="-"/>
            </a:pPr>
            <a:r>
              <a:rPr lang="en-US" dirty="0"/>
              <a:t>porosity / pore volume</a:t>
            </a:r>
          </a:p>
          <a:p>
            <a:pPr marL="742950" lvl="1" indent="-285750">
              <a:buFontTx/>
              <a:buChar char="-"/>
            </a:pPr>
            <a:r>
              <a:rPr lang="en-US" dirty="0"/>
              <a:t>facet area</a:t>
            </a:r>
          </a:p>
          <a:p>
            <a:pPr marL="742950" lvl="1" indent="-285750">
              <a:buFontTx/>
              <a:buChar char="-"/>
            </a:pPr>
            <a:r>
              <a:rPr lang="en-US" dirty="0"/>
              <a:t>facet normal x pressure gradient</a:t>
            </a:r>
          </a:p>
          <a:p>
            <a:pPr marL="285750" indent="-285750">
              <a:buFontTx/>
              <a:buChar char="-"/>
            </a:pPr>
            <a:r>
              <a:rPr lang="en-US" dirty="0"/>
              <a:t>Global terms</a:t>
            </a:r>
          </a:p>
          <a:p>
            <a:pPr marL="742950" lvl="1" indent="-285750">
              <a:buFontTx/>
              <a:buChar char="-"/>
            </a:pPr>
            <a:r>
              <a:rPr lang="en-US" dirty="0"/>
              <a:t>time step / CFL</a:t>
            </a:r>
          </a:p>
          <a:p>
            <a:pPr marL="742950" lvl="1" indent="-285750">
              <a:buFontTx/>
              <a:buChar char="-"/>
            </a:pPr>
            <a:endParaRPr lang="en-US" dirty="0"/>
          </a:p>
          <a:p>
            <a:pPr marL="742950" lvl="1" indent="-285750">
              <a:buFontTx/>
              <a:buChar char="-"/>
            </a:pPr>
            <a:endParaRPr lang="de-CH" dirty="0"/>
          </a:p>
        </p:txBody>
      </p:sp>
      <p:sp>
        <p:nvSpPr>
          <p:cNvPr id="2" name="Slide Number Placeholder 1"/>
          <p:cNvSpPr>
            <a:spLocks noGrp="1"/>
          </p:cNvSpPr>
          <p:nvPr>
            <p:ph type="sldNum" sz="quarter" idx="12"/>
          </p:nvPr>
        </p:nvSpPr>
        <p:spPr/>
        <p:txBody>
          <a:bodyPr/>
          <a:lstStyle/>
          <a:p>
            <a:fld id="{C83A4929-569E-4284-9297-8396DF358F0B}" type="slidenum">
              <a:rPr lang="de-CH" smtClean="0"/>
              <a:t>64</a:t>
            </a:fld>
            <a:endParaRPr lang="de-CH"/>
          </a:p>
        </p:txBody>
      </p:sp>
    </p:spTree>
    <p:extLst>
      <p:ext uri="{BB962C8B-B14F-4D97-AF65-F5344CB8AC3E}">
        <p14:creationId xmlns:p14="http://schemas.microsoft.com/office/powerpoint/2010/main" val="20907480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287337" y="210470"/>
            <a:ext cx="4911195" cy="1754327"/>
          </a:xfrm>
        </p:spPr>
        <p:txBody>
          <a:bodyPr/>
          <a:lstStyle/>
          <a:p>
            <a:pPr eaLnBrk="1" hangingPunct="1"/>
            <a:r>
              <a:rPr lang="en-US" sz="2800" dirty="0">
                <a:solidFill>
                  <a:srgbClr val="FF1F98"/>
                </a:solidFill>
                <a:latin typeface="Arial" charset="0"/>
                <a:ea typeface="ＭＳ Ｐゴシック" charset="0"/>
                <a:cs typeface="ＭＳ Ｐゴシック" charset="0"/>
              </a:rPr>
              <a:t>FE-FVM </a:t>
            </a:r>
            <a:r>
              <a:rPr lang="en-US" sz="2800" dirty="0" err="1">
                <a:solidFill>
                  <a:srgbClr val="FF1F98"/>
                </a:solidFill>
                <a:latin typeface="Arial" charset="0"/>
                <a:ea typeface="ＭＳ Ｐゴシック" charset="0"/>
                <a:cs typeface="ＭＳ Ｐゴシック" charset="0"/>
              </a:rPr>
              <a:t>Discretisation</a:t>
            </a:r>
            <a:br>
              <a:rPr lang="en-US" sz="2800" dirty="0">
                <a:solidFill>
                  <a:srgbClr val="FF6600"/>
                </a:solidFill>
                <a:latin typeface="Arial" charset="0"/>
                <a:ea typeface="ＭＳ Ｐゴシック" charset="0"/>
                <a:cs typeface="ＭＳ Ｐゴシック" charset="0"/>
              </a:rPr>
            </a:br>
            <a:r>
              <a:rPr lang="en-US" sz="2000" dirty="0">
                <a:solidFill>
                  <a:schemeClr val="tx1"/>
                </a:solidFill>
                <a:latin typeface="Arial" charset="0"/>
                <a:ea typeface="ＭＳ Ｐゴシック" charset="0"/>
                <a:cs typeface="ＭＳ Ｐゴシック" charset="0"/>
              </a:rPr>
              <a:t>Different requirements seem to exist here: </a:t>
            </a:r>
            <a:br>
              <a:rPr lang="en-US" sz="2000" dirty="0">
                <a:solidFill>
                  <a:schemeClr val="tx1"/>
                </a:solidFill>
                <a:latin typeface="Arial" charset="0"/>
                <a:ea typeface="ＭＳ Ｐゴシック" charset="0"/>
                <a:cs typeface="ＭＳ Ｐゴシック" charset="0"/>
              </a:rPr>
            </a:br>
            <a:r>
              <a:rPr lang="en-US" sz="2000" dirty="0">
                <a:solidFill>
                  <a:schemeClr val="tx1"/>
                </a:solidFill>
                <a:latin typeface="Arial" charset="0"/>
                <a:ea typeface="ＭＳ Ｐゴシック" charset="0"/>
                <a:cs typeface="ＭＳ Ｐゴシック" charset="0"/>
              </a:rPr>
              <a:t>(</a:t>
            </a:r>
            <a:r>
              <a:rPr lang="en-US" sz="2000" i="1" dirty="0">
                <a:solidFill>
                  <a:schemeClr val="tx1"/>
                </a:solidFill>
                <a:latin typeface="Arial" charset="0"/>
                <a:ea typeface="ＭＳ Ｐゴシック" charset="0"/>
                <a:cs typeface="ＭＳ Ｐゴシック" charset="0"/>
              </a:rPr>
              <a:t>ETHZ wants material properties on the nodes, MUL on the elements)</a:t>
            </a:r>
            <a:endParaRPr lang="en-GB" sz="2000" i="1" dirty="0">
              <a:solidFill>
                <a:schemeClr val="tx1"/>
              </a:solidFill>
              <a:latin typeface="Arial" charset="0"/>
              <a:ea typeface="ＭＳ Ｐゴシック" charset="0"/>
              <a:cs typeface="ＭＳ Ｐゴシック" charset="0"/>
            </a:endParaRPr>
          </a:p>
        </p:txBody>
      </p:sp>
      <p:grpSp>
        <p:nvGrpSpPr>
          <p:cNvPr id="21509" name="Group 3"/>
          <p:cNvGrpSpPr>
            <a:grpSpLocks/>
          </p:cNvGrpSpPr>
          <p:nvPr/>
        </p:nvGrpSpPr>
        <p:grpSpPr bwMode="auto">
          <a:xfrm>
            <a:off x="358775" y="3844925"/>
            <a:ext cx="6165850" cy="2420938"/>
            <a:chOff x="226" y="2517"/>
            <a:chExt cx="3884" cy="1525"/>
          </a:xfrm>
        </p:grpSpPr>
        <p:sp>
          <p:nvSpPr>
            <p:cNvPr id="21539" name="Line 4"/>
            <p:cNvSpPr>
              <a:spLocks noChangeShapeType="1"/>
            </p:cNvSpPr>
            <p:nvPr/>
          </p:nvSpPr>
          <p:spPr bwMode="auto">
            <a:xfrm>
              <a:off x="614" y="3374"/>
              <a:ext cx="3232"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21540" name="Line 5"/>
            <p:cNvSpPr>
              <a:spLocks noChangeShapeType="1"/>
            </p:cNvSpPr>
            <p:nvPr/>
          </p:nvSpPr>
          <p:spPr bwMode="auto">
            <a:xfrm>
              <a:off x="610" y="2517"/>
              <a:ext cx="0" cy="1525"/>
            </a:xfrm>
            <a:prstGeom prst="line">
              <a:avLst/>
            </a:prstGeom>
            <a:noFill/>
            <a:ln w="28575">
              <a:solidFill>
                <a:schemeClr val="tx1"/>
              </a:solidFill>
              <a:miter lim="800000"/>
              <a:headEnd type="triangle" w="med" len="me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21541" name="Text Box 6"/>
            <p:cNvSpPr txBox="1">
              <a:spLocks noChangeArrowheads="1"/>
            </p:cNvSpPr>
            <p:nvPr/>
          </p:nvSpPr>
          <p:spPr bwMode="auto">
            <a:xfrm>
              <a:off x="3895" y="3282"/>
              <a:ext cx="215"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X</a:t>
              </a:r>
              <a:endParaRPr lang="en-GB" sz="1800"/>
            </a:p>
          </p:txBody>
        </p:sp>
        <p:sp>
          <p:nvSpPr>
            <p:cNvPr id="21542" name="Text Box 7"/>
            <p:cNvSpPr txBox="1">
              <a:spLocks noChangeArrowheads="1"/>
            </p:cNvSpPr>
            <p:nvPr/>
          </p:nvSpPr>
          <p:spPr bwMode="auto">
            <a:xfrm>
              <a:off x="226" y="2614"/>
              <a:ext cx="38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f(x)</a:t>
              </a:r>
              <a:endParaRPr lang="en-GB" sz="1800"/>
            </a:p>
          </p:txBody>
        </p:sp>
      </p:grpSp>
      <p:grpSp>
        <p:nvGrpSpPr>
          <p:cNvPr id="3" name="Group 8"/>
          <p:cNvGrpSpPr>
            <a:grpSpLocks/>
          </p:cNvGrpSpPr>
          <p:nvPr/>
        </p:nvGrpSpPr>
        <p:grpSpPr bwMode="auto">
          <a:xfrm>
            <a:off x="849313" y="2171700"/>
            <a:ext cx="5451475" cy="1568450"/>
            <a:chOff x="491" y="1403"/>
            <a:chExt cx="3434" cy="988"/>
          </a:xfrm>
        </p:grpSpPr>
        <p:sp>
          <p:nvSpPr>
            <p:cNvPr id="21537" name="Freeform 9"/>
            <p:cNvSpPr>
              <a:spLocks/>
            </p:cNvSpPr>
            <p:nvPr/>
          </p:nvSpPr>
          <p:spPr bwMode="auto">
            <a:xfrm>
              <a:off x="491" y="1648"/>
              <a:ext cx="3434" cy="743"/>
            </a:xfrm>
            <a:custGeom>
              <a:avLst/>
              <a:gdLst>
                <a:gd name="T0" fmla="*/ 0 w 3434"/>
                <a:gd name="T1" fmla="*/ 646 h 743"/>
                <a:gd name="T2" fmla="*/ 326 w 3434"/>
                <a:gd name="T3" fmla="*/ 285 h 743"/>
                <a:gd name="T4" fmla="*/ 519 w 3434"/>
                <a:gd name="T5" fmla="*/ 153 h 743"/>
                <a:gd name="T6" fmla="*/ 752 w 3434"/>
                <a:gd name="T7" fmla="*/ 26 h 743"/>
                <a:gd name="T8" fmla="*/ 1078 w 3434"/>
                <a:gd name="T9" fmla="*/ 0 h 743"/>
                <a:gd name="T10" fmla="*/ 1218 w 3434"/>
                <a:gd name="T11" fmla="*/ 39 h 743"/>
                <a:gd name="T12" fmla="*/ 1416 w 3434"/>
                <a:gd name="T13" fmla="*/ 202 h 743"/>
                <a:gd name="T14" fmla="*/ 1614 w 3434"/>
                <a:gd name="T15" fmla="*/ 329 h 743"/>
                <a:gd name="T16" fmla="*/ 1843 w 3434"/>
                <a:gd name="T17" fmla="*/ 466 h 743"/>
                <a:gd name="T18" fmla="*/ 2146 w 3434"/>
                <a:gd name="T19" fmla="*/ 606 h 743"/>
                <a:gd name="T20" fmla="*/ 2445 w 3434"/>
                <a:gd name="T21" fmla="*/ 677 h 743"/>
                <a:gd name="T22" fmla="*/ 2819 w 3434"/>
                <a:gd name="T23" fmla="*/ 721 h 743"/>
                <a:gd name="T24" fmla="*/ 3232 w 3434"/>
                <a:gd name="T25" fmla="*/ 738 h 743"/>
                <a:gd name="T26" fmla="*/ 3434 w 3434"/>
                <a:gd name="T27" fmla="*/ 743 h 7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34"/>
                <a:gd name="T43" fmla="*/ 0 h 743"/>
                <a:gd name="T44" fmla="*/ 3434 w 3434"/>
                <a:gd name="T45" fmla="*/ 743 h 7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34" h="743">
                  <a:moveTo>
                    <a:pt x="0" y="646"/>
                  </a:moveTo>
                  <a:lnTo>
                    <a:pt x="326" y="285"/>
                  </a:lnTo>
                  <a:lnTo>
                    <a:pt x="519" y="153"/>
                  </a:lnTo>
                  <a:lnTo>
                    <a:pt x="752" y="26"/>
                  </a:lnTo>
                  <a:lnTo>
                    <a:pt x="1078" y="0"/>
                  </a:lnTo>
                  <a:lnTo>
                    <a:pt x="1218" y="39"/>
                  </a:lnTo>
                  <a:lnTo>
                    <a:pt x="1416" y="202"/>
                  </a:lnTo>
                  <a:lnTo>
                    <a:pt x="1614" y="329"/>
                  </a:lnTo>
                  <a:lnTo>
                    <a:pt x="1843" y="466"/>
                  </a:lnTo>
                  <a:lnTo>
                    <a:pt x="2146" y="606"/>
                  </a:lnTo>
                  <a:lnTo>
                    <a:pt x="2445" y="677"/>
                  </a:lnTo>
                  <a:lnTo>
                    <a:pt x="2819" y="721"/>
                  </a:lnTo>
                  <a:lnTo>
                    <a:pt x="3232" y="738"/>
                  </a:lnTo>
                  <a:lnTo>
                    <a:pt x="3434" y="743"/>
                  </a:lnTo>
                </a:path>
              </a:pathLst>
            </a:custGeom>
            <a:noFill/>
            <a:ln w="28575">
              <a:solidFill>
                <a:srgbClr val="33CC33"/>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a:p>
          </p:txBody>
        </p:sp>
        <p:sp>
          <p:nvSpPr>
            <p:cNvPr id="21538" name="Text Box 10"/>
            <p:cNvSpPr txBox="1">
              <a:spLocks noChangeArrowheads="1"/>
            </p:cNvSpPr>
            <p:nvPr/>
          </p:nvSpPr>
          <p:spPr bwMode="auto">
            <a:xfrm>
              <a:off x="733" y="1403"/>
              <a:ext cx="1139"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solidFill>
                    <a:srgbClr val="009900"/>
                  </a:solidFill>
                  <a:latin typeface="Arial" charset="0"/>
                </a:rPr>
                <a:t>Exact Solution</a:t>
              </a:r>
              <a:endParaRPr lang="en-GB" sz="2000">
                <a:solidFill>
                  <a:srgbClr val="009900"/>
                </a:solidFill>
                <a:latin typeface="Arial" charset="0"/>
              </a:endParaRPr>
            </a:p>
          </p:txBody>
        </p:sp>
      </p:grpSp>
      <p:graphicFrame>
        <p:nvGraphicFramePr>
          <p:cNvPr id="327691" name="Object 2"/>
          <p:cNvGraphicFramePr>
            <a:graphicFrameLocks noChangeAspect="1"/>
          </p:cNvGraphicFramePr>
          <p:nvPr>
            <p:extLst>
              <p:ext uri="{D42A27DB-BD31-4B8C-83A1-F6EECF244321}">
                <p14:modId xmlns:p14="http://schemas.microsoft.com/office/powerpoint/2010/main" val="3548522582"/>
              </p:ext>
            </p:extLst>
          </p:nvPr>
        </p:nvGraphicFramePr>
        <p:xfrm>
          <a:off x="6030395" y="642551"/>
          <a:ext cx="2176715" cy="1801408"/>
        </p:xfrm>
        <a:graphic>
          <a:graphicData uri="http://schemas.openxmlformats.org/presentationml/2006/ole">
            <mc:AlternateContent xmlns:mc="http://schemas.openxmlformats.org/markup-compatibility/2006">
              <mc:Choice xmlns:v="urn:schemas-microsoft-com:vml" Requires="v">
                <p:oleObj spid="_x0000_s6422" name="Equation" r:id="rId4" imgW="1282680" imgH="888840" progId="Equation.DSMT4">
                  <p:embed/>
                </p:oleObj>
              </mc:Choice>
              <mc:Fallback>
                <p:oleObj name="Equation" r:id="rId4" imgW="1282680" imgH="8888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0395" y="642551"/>
                        <a:ext cx="2176715" cy="1801408"/>
                      </a:xfrm>
                      <a:prstGeom prst="rect">
                        <a:avLst/>
                      </a:prstGeom>
                      <a:noFill/>
                    </p:spPr>
                  </p:pic>
                </p:oleObj>
              </mc:Fallback>
            </mc:AlternateContent>
          </a:graphicData>
        </a:graphic>
      </p:graphicFrame>
      <p:grpSp>
        <p:nvGrpSpPr>
          <p:cNvPr id="4" name="Group 12"/>
          <p:cNvGrpSpPr>
            <a:grpSpLocks/>
          </p:cNvGrpSpPr>
          <p:nvPr/>
        </p:nvGrpSpPr>
        <p:grpSpPr bwMode="auto">
          <a:xfrm>
            <a:off x="1163638" y="2592388"/>
            <a:ext cx="5708650" cy="2997200"/>
            <a:chOff x="733" y="1743"/>
            <a:chExt cx="3596" cy="1888"/>
          </a:xfrm>
        </p:grpSpPr>
        <p:sp>
          <p:nvSpPr>
            <p:cNvPr id="21522" name="Line 13"/>
            <p:cNvSpPr>
              <a:spLocks noChangeShapeType="1"/>
            </p:cNvSpPr>
            <p:nvPr/>
          </p:nvSpPr>
          <p:spPr bwMode="auto">
            <a:xfrm flipV="1">
              <a:off x="1743" y="1755"/>
              <a:ext cx="0" cy="1609"/>
            </a:xfrm>
            <a:prstGeom prst="line">
              <a:avLst/>
            </a:prstGeom>
            <a:noFill/>
            <a:ln w="19050">
              <a:solidFill>
                <a:srgbClr val="FF0000"/>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21523" name="Line 14"/>
            <p:cNvSpPr>
              <a:spLocks noChangeShapeType="1"/>
            </p:cNvSpPr>
            <p:nvPr/>
          </p:nvSpPr>
          <p:spPr bwMode="auto">
            <a:xfrm flipV="1">
              <a:off x="2713" y="2326"/>
              <a:ext cx="0" cy="1046"/>
            </a:xfrm>
            <a:prstGeom prst="line">
              <a:avLst/>
            </a:prstGeom>
            <a:noFill/>
            <a:ln w="19050">
              <a:solidFill>
                <a:srgbClr val="FF0000"/>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21524" name="Line 15"/>
            <p:cNvSpPr>
              <a:spLocks noChangeShapeType="1"/>
            </p:cNvSpPr>
            <p:nvPr/>
          </p:nvSpPr>
          <p:spPr bwMode="auto">
            <a:xfrm flipV="1">
              <a:off x="3688" y="2448"/>
              <a:ext cx="0" cy="927"/>
            </a:xfrm>
            <a:prstGeom prst="line">
              <a:avLst/>
            </a:prstGeom>
            <a:noFill/>
            <a:ln w="19050">
              <a:solidFill>
                <a:srgbClr val="FF0000"/>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21525" name="Freeform 16"/>
            <p:cNvSpPr>
              <a:spLocks/>
            </p:cNvSpPr>
            <p:nvPr/>
          </p:nvSpPr>
          <p:spPr bwMode="auto">
            <a:xfrm>
              <a:off x="768" y="1743"/>
              <a:ext cx="2920" cy="699"/>
            </a:xfrm>
            <a:custGeom>
              <a:avLst/>
              <a:gdLst>
                <a:gd name="T0" fmla="*/ 0 w 2920"/>
                <a:gd name="T1" fmla="*/ 365 h 699"/>
                <a:gd name="T2" fmla="*/ 980 w 2920"/>
                <a:gd name="T3" fmla="*/ 0 h 699"/>
                <a:gd name="T4" fmla="*/ 1943 w 2920"/>
                <a:gd name="T5" fmla="*/ 580 h 699"/>
                <a:gd name="T6" fmla="*/ 2920 w 2920"/>
                <a:gd name="T7" fmla="*/ 699 h 699"/>
                <a:gd name="T8" fmla="*/ 0 60000 65536"/>
                <a:gd name="T9" fmla="*/ 0 60000 65536"/>
                <a:gd name="T10" fmla="*/ 0 60000 65536"/>
                <a:gd name="T11" fmla="*/ 0 60000 65536"/>
                <a:gd name="T12" fmla="*/ 0 w 2920"/>
                <a:gd name="T13" fmla="*/ 0 h 699"/>
                <a:gd name="T14" fmla="*/ 2920 w 2920"/>
                <a:gd name="T15" fmla="*/ 699 h 699"/>
              </a:gdLst>
              <a:ahLst/>
              <a:cxnLst>
                <a:cxn ang="T8">
                  <a:pos x="T0" y="T1"/>
                </a:cxn>
                <a:cxn ang="T9">
                  <a:pos x="T2" y="T3"/>
                </a:cxn>
                <a:cxn ang="T10">
                  <a:pos x="T4" y="T5"/>
                </a:cxn>
                <a:cxn ang="T11">
                  <a:pos x="T6" y="T7"/>
                </a:cxn>
              </a:cxnLst>
              <a:rect l="T12" t="T13" r="T14" b="T15"/>
              <a:pathLst>
                <a:path w="2920" h="699">
                  <a:moveTo>
                    <a:pt x="0" y="365"/>
                  </a:moveTo>
                  <a:lnTo>
                    <a:pt x="980" y="0"/>
                  </a:lnTo>
                  <a:lnTo>
                    <a:pt x="1943" y="580"/>
                  </a:lnTo>
                  <a:lnTo>
                    <a:pt x="2920" y="699"/>
                  </a:lnTo>
                </a:path>
              </a:pathLst>
            </a:custGeom>
            <a:noFill/>
            <a:ln w="19050">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a:p>
          </p:txBody>
        </p:sp>
        <p:sp>
          <p:nvSpPr>
            <p:cNvPr id="21526" name="Line 17"/>
            <p:cNvSpPr>
              <a:spLocks noChangeShapeType="1"/>
            </p:cNvSpPr>
            <p:nvPr/>
          </p:nvSpPr>
          <p:spPr bwMode="auto">
            <a:xfrm flipV="1">
              <a:off x="768" y="2099"/>
              <a:ext cx="0" cy="1275"/>
            </a:xfrm>
            <a:prstGeom prst="line">
              <a:avLst/>
            </a:prstGeom>
            <a:noFill/>
            <a:ln w="19050">
              <a:solidFill>
                <a:srgbClr val="FF0000"/>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21527" name="Text Box 18"/>
            <p:cNvSpPr txBox="1">
              <a:spLocks noChangeArrowheads="1"/>
            </p:cNvSpPr>
            <p:nvPr/>
          </p:nvSpPr>
          <p:spPr bwMode="auto">
            <a:xfrm>
              <a:off x="2763" y="2083"/>
              <a:ext cx="156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solidFill>
                    <a:srgbClr val="FF0000"/>
                  </a:solidFill>
                  <a:latin typeface="Arial" charset="0"/>
                </a:rPr>
                <a:t>Linear FEM Solution</a:t>
              </a:r>
              <a:endParaRPr lang="en-GB" sz="2000">
                <a:solidFill>
                  <a:srgbClr val="FF0000"/>
                </a:solidFill>
                <a:latin typeface="Arial" charset="0"/>
              </a:endParaRPr>
            </a:p>
          </p:txBody>
        </p:sp>
        <p:sp>
          <p:nvSpPr>
            <p:cNvPr id="21528" name="Text Box 19"/>
            <p:cNvSpPr txBox="1">
              <a:spLocks noChangeArrowheads="1"/>
            </p:cNvSpPr>
            <p:nvPr/>
          </p:nvSpPr>
          <p:spPr bwMode="auto">
            <a:xfrm>
              <a:off x="812" y="2584"/>
              <a:ext cx="8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Element 1</a:t>
              </a:r>
              <a:endParaRPr lang="en-GB" sz="2000">
                <a:latin typeface="Arial" charset="0"/>
              </a:endParaRPr>
            </a:p>
          </p:txBody>
        </p:sp>
        <p:sp>
          <p:nvSpPr>
            <p:cNvPr id="21529" name="Text Box 20"/>
            <p:cNvSpPr txBox="1">
              <a:spLocks noChangeArrowheads="1"/>
            </p:cNvSpPr>
            <p:nvPr/>
          </p:nvSpPr>
          <p:spPr bwMode="auto">
            <a:xfrm>
              <a:off x="1781" y="2584"/>
              <a:ext cx="8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Element 2</a:t>
              </a:r>
              <a:endParaRPr lang="en-GB" sz="2000">
                <a:latin typeface="Arial" charset="0"/>
              </a:endParaRPr>
            </a:p>
          </p:txBody>
        </p:sp>
        <p:sp>
          <p:nvSpPr>
            <p:cNvPr id="21530" name="Text Box 21"/>
            <p:cNvSpPr txBox="1">
              <a:spLocks noChangeArrowheads="1"/>
            </p:cNvSpPr>
            <p:nvPr/>
          </p:nvSpPr>
          <p:spPr bwMode="auto">
            <a:xfrm>
              <a:off x="2782" y="2584"/>
              <a:ext cx="836"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Element 3</a:t>
              </a:r>
              <a:endParaRPr lang="en-GB" sz="2000">
                <a:latin typeface="Arial" charset="0"/>
              </a:endParaRPr>
            </a:p>
          </p:txBody>
        </p:sp>
        <p:sp>
          <p:nvSpPr>
            <p:cNvPr id="21531" name="Text Box 22"/>
            <p:cNvSpPr txBox="1">
              <a:spLocks noChangeArrowheads="1"/>
            </p:cNvSpPr>
            <p:nvPr/>
          </p:nvSpPr>
          <p:spPr bwMode="auto">
            <a:xfrm>
              <a:off x="734" y="3372"/>
              <a:ext cx="6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Node 1</a:t>
              </a:r>
              <a:endParaRPr lang="en-GB" sz="2000">
                <a:latin typeface="Arial" charset="0"/>
              </a:endParaRPr>
            </a:p>
          </p:txBody>
        </p:sp>
        <p:sp>
          <p:nvSpPr>
            <p:cNvPr id="21532" name="Text Box 23"/>
            <p:cNvSpPr txBox="1">
              <a:spLocks noChangeArrowheads="1"/>
            </p:cNvSpPr>
            <p:nvPr/>
          </p:nvSpPr>
          <p:spPr bwMode="auto">
            <a:xfrm>
              <a:off x="1735" y="3381"/>
              <a:ext cx="632" cy="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Node 2</a:t>
              </a:r>
              <a:endParaRPr lang="en-GB" sz="2000">
                <a:latin typeface="Arial" charset="0"/>
              </a:endParaRPr>
            </a:p>
          </p:txBody>
        </p:sp>
        <p:sp>
          <p:nvSpPr>
            <p:cNvPr id="21533" name="Oval 24"/>
            <p:cNvSpPr>
              <a:spLocks noChangeArrowheads="1"/>
            </p:cNvSpPr>
            <p:nvPr/>
          </p:nvSpPr>
          <p:spPr bwMode="auto">
            <a:xfrm>
              <a:off x="733" y="3344"/>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sp>
          <p:nvSpPr>
            <p:cNvPr id="21534" name="Oval 25"/>
            <p:cNvSpPr>
              <a:spLocks noChangeArrowheads="1"/>
            </p:cNvSpPr>
            <p:nvPr/>
          </p:nvSpPr>
          <p:spPr bwMode="auto">
            <a:xfrm>
              <a:off x="1708" y="3339"/>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sp>
          <p:nvSpPr>
            <p:cNvPr id="21535" name="Oval 26"/>
            <p:cNvSpPr>
              <a:spLocks noChangeArrowheads="1"/>
            </p:cNvSpPr>
            <p:nvPr/>
          </p:nvSpPr>
          <p:spPr bwMode="auto">
            <a:xfrm>
              <a:off x="2683" y="3342"/>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sp>
          <p:nvSpPr>
            <p:cNvPr id="21536" name="Oval 27"/>
            <p:cNvSpPr>
              <a:spLocks noChangeArrowheads="1"/>
            </p:cNvSpPr>
            <p:nvPr/>
          </p:nvSpPr>
          <p:spPr bwMode="auto">
            <a:xfrm>
              <a:off x="3658" y="3341"/>
              <a:ext cx="70" cy="70"/>
            </a:xfrm>
            <a:prstGeom prst="ellipse">
              <a:avLst/>
            </a:prstGeom>
            <a:solidFill>
              <a:schemeClr val="bg1"/>
            </a:solidFill>
            <a:ln w="12700">
              <a:solidFill>
                <a:schemeClr val="tx1"/>
              </a:solidFill>
              <a:miter lim="800000"/>
              <a:headEnd/>
              <a:tailEnd/>
            </a:ln>
          </p:spPr>
          <p:txBody>
            <a:bodyPr wrap="none" anchor="ctr"/>
            <a:lstStyle/>
            <a:p>
              <a:endParaRPr lang="en-US"/>
            </a:p>
          </p:txBody>
        </p:sp>
      </p:grpSp>
      <p:grpSp>
        <p:nvGrpSpPr>
          <p:cNvPr id="5" name="Group 28"/>
          <p:cNvGrpSpPr>
            <a:grpSpLocks/>
          </p:cNvGrpSpPr>
          <p:nvPr/>
        </p:nvGrpSpPr>
        <p:grpSpPr bwMode="auto">
          <a:xfrm>
            <a:off x="1219200" y="4570413"/>
            <a:ext cx="5535613" cy="1846262"/>
            <a:chOff x="768" y="2974"/>
            <a:chExt cx="3487" cy="1163"/>
          </a:xfrm>
        </p:grpSpPr>
        <p:sp>
          <p:nvSpPr>
            <p:cNvPr id="21520" name="Freeform 29"/>
            <p:cNvSpPr>
              <a:spLocks/>
            </p:cNvSpPr>
            <p:nvPr/>
          </p:nvSpPr>
          <p:spPr bwMode="auto">
            <a:xfrm>
              <a:off x="768" y="2974"/>
              <a:ext cx="2920" cy="892"/>
            </a:xfrm>
            <a:custGeom>
              <a:avLst/>
              <a:gdLst>
                <a:gd name="T0" fmla="*/ 0 w 2920"/>
                <a:gd name="T1" fmla="*/ 0 h 892"/>
                <a:gd name="T2" fmla="*/ 976 w 2920"/>
                <a:gd name="T3" fmla="*/ 0 h 892"/>
                <a:gd name="T4" fmla="*/ 976 w 2920"/>
                <a:gd name="T5" fmla="*/ 892 h 892"/>
                <a:gd name="T6" fmla="*/ 1943 w 2920"/>
                <a:gd name="T7" fmla="*/ 892 h 892"/>
                <a:gd name="T8" fmla="*/ 1943 w 2920"/>
                <a:gd name="T9" fmla="*/ 567 h 892"/>
                <a:gd name="T10" fmla="*/ 2920 w 2920"/>
                <a:gd name="T11" fmla="*/ 567 h 892"/>
                <a:gd name="T12" fmla="*/ 0 60000 65536"/>
                <a:gd name="T13" fmla="*/ 0 60000 65536"/>
                <a:gd name="T14" fmla="*/ 0 60000 65536"/>
                <a:gd name="T15" fmla="*/ 0 60000 65536"/>
                <a:gd name="T16" fmla="*/ 0 60000 65536"/>
                <a:gd name="T17" fmla="*/ 0 60000 65536"/>
                <a:gd name="T18" fmla="*/ 0 w 2920"/>
                <a:gd name="T19" fmla="*/ 0 h 892"/>
                <a:gd name="T20" fmla="*/ 2920 w 2920"/>
                <a:gd name="T21" fmla="*/ 892 h 892"/>
              </a:gdLst>
              <a:ahLst/>
              <a:cxnLst>
                <a:cxn ang="T12">
                  <a:pos x="T0" y="T1"/>
                </a:cxn>
                <a:cxn ang="T13">
                  <a:pos x="T2" y="T3"/>
                </a:cxn>
                <a:cxn ang="T14">
                  <a:pos x="T4" y="T5"/>
                </a:cxn>
                <a:cxn ang="T15">
                  <a:pos x="T6" y="T7"/>
                </a:cxn>
                <a:cxn ang="T16">
                  <a:pos x="T8" y="T9"/>
                </a:cxn>
                <a:cxn ang="T17">
                  <a:pos x="T10" y="T11"/>
                </a:cxn>
              </a:cxnLst>
              <a:rect l="T18" t="T19" r="T20" b="T21"/>
              <a:pathLst>
                <a:path w="2920" h="892">
                  <a:moveTo>
                    <a:pt x="0" y="0"/>
                  </a:moveTo>
                  <a:lnTo>
                    <a:pt x="976" y="0"/>
                  </a:lnTo>
                  <a:lnTo>
                    <a:pt x="976" y="892"/>
                  </a:lnTo>
                  <a:lnTo>
                    <a:pt x="1943" y="892"/>
                  </a:lnTo>
                  <a:lnTo>
                    <a:pt x="1943" y="567"/>
                  </a:lnTo>
                  <a:lnTo>
                    <a:pt x="2920" y="567"/>
                  </a:lnTo>
                </a:path>
              </a:pathLst>
            </a:custGeom>
            <a:noFill/>
            <a:ln w="19050">
              <a:solidFill>
                <a:schemeClr val="accent2"/>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a:p>
          </p:txBody>
        </p:sp>
        <p:sp>
          <p:nvSpPr>
            <p:cNvPr id="21521" name="Text Box 30"/>
            <p:cNvSpPr txBox="1">
              <a:spLocks noChangeArrowheads="1"/>
            </p:cNvSpPr>
            <p:nvPr/>
          </p:nvSpPr>
          <p:spPr bwMode="auto">
            <a:xfrm>
              <a:off x="928" y="3906"/>
              <a:ext cx="3327"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chemeClr val="accent2"/>
                  </a:solidFill>
                  <a:latin typeface="Arial" charset="0"/>
                </a:rPr>
                <a:t>Derivative of Linear FEM Solution, e.g., </a:t>
              </a:r>
              <a:r>
                <a:rPr lang="en-US" sz="1800" i="1">
                  <a:solidFill>
                    <a:schemeClr val="accent2"/>
                  </a:solidFill>
                  <a:latin typeface="Arial" charset="0"/>
                </a:rPr>
                <a:t>p</a:t>
              </a:r>
              <a:r>
                <a:rPr lang="en-US" sz="1800" i="1" baseline="-25000">
                  <a:solidFill>
                    <a:schemeClr val="accent2"/>
                  </a:solidFill>
                  <a:latin typeface="Arial" charset="0"/>
                </a:rPr>
                <a:t>f</a:t>
              </a:r>
              <a:r>
                <a:rPr lang="en-US" sz="1800">
                  <a:solidFill>
                    <a:schemeClr val="accent2"/>
                  </a:solidFill>
                  <a:latin typeface="Arial" charset="0"/>
                </a:rPr>
                <a:t> gradient</a:t>
              </a:r>
              <a:endParaRPr lang="en-GB" sz="1800">
                <a:solidFill>
                  <a:schemeClr val="accent2"/>
                </a:solidFill>
                <a:latin typeface="Arial" charset="0"/>
              </a:endParaRPr>
            </a:p>
          </p:txBody>
        </p:sp>
      </p:grpSp>
      <p:grpSp>
        <p:nvGrpSpPr>
          <p:cNvPr id="6" name="Group 31"/>
          <p:cNvGrpSpPr>
            <a:grpSpLocks/>
          </p:cNvGrpSpPr>
          <p:nvPr/>
        </p:nvGrpSpPr>
        <p:grpSpPr bwMode="auto">
          <a:xfrm>
            <a:off x="3321050" y="4802188"/>
            <a:ext cx="1935163" cy="390525"/>
            <a:chOff x="2092" y="3025"/>
            <a:chExt cx="1219" cy="246"/>
          </a:xfrm>
        </p:grpSpPr>
        <p:sp>
          <p:nvSpPr>
            <p:cNvPr id="21515" name="Rectangle 32"/>
            <p:cNvSpPr>
              <a:spLocks noChangeArrowheads="1"/>
            </p:cNvSpPr>
            <p:nvPr/>
          </p:nvSpPr>
          <p:spPr bwMode="auto">
            <a:xfrm>
              <a:off x="2217" y="3025"/>
              <a:ext cx="980" cy="246"/>
            </a:xfrm>
            <a:prstGeom prst="rect">
              <a:avLst/>
            </a:prstGeom>
            <a:solidFill>
              <a:srgbClr val="FF6600"/>
            </a:solidFill>
            <a:ln w="19050">
              <a:solidFill>
                <a:schemeClr val="hlink"/>
              </a:solidFill>
              <a:miter lim="800000"/>
              <a:headEnd/>
              <a:tailEnd/>
            </a:ln>
          </p:spPr>
          <p:txBody>
            <a:bodyPr wrap="none" anchor="ctr"/>
            <a:lstStyle/>
            <a:p>
              <a:endParaRPr lang="en-US"/>
            </a:p>
          </p:txBody>
        </p:sp>
        <p:grpSp>
          <p:nvGrpSpPr>
            <p:cNvPr id="21516" name="Group 33"/>
            <p:cNvGrpSpPr>
              <a:grpSpLocks/>
            </p:cNvGrpSpPr>
            <p:nvPr/>
          </p:nvGrpSpPr>
          <p:grpSpPr bwMode="auto">
            <a:xfrm>
              <a:off x="2092" y="3033"/>
              <a:ext cx="1219" cy="231"/>
              <a:chOff x="2092" y="3033"/>
              <a:chExt cx="1219" cy="231"/>
            </a:xfrm>
          </p:grpSpPr>
          <p:sp>
            <p:nvSpPr>
              <p:cNvPr id="21517" name="Text Box 34"/>
              <p:cNvSpPr txBox="1">
                <a:spLocks noChangeArrowheads="1"/>
              </p:cNvSpPr>
              <p:nvPr/>
            </p:nvSpPr>
            <p:spPr bwMode="auto">
              <a:xfrm>
                <a:off x="2202" y="3033"/>
                <a:ext cx="996"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Finite Volume</a:t>
                </a:r>
                <a:endParaRPr lang="en-GB" sz="1800">
                  <a:latin typeface="Arial" charset="0"/>
                </a:endParaRPr>
              </a:p>
            </p:txBody>
          </p:sp>
          <p:sp>
            <p:nvSpPr>
              <p:cNvPr id="21518" name="Line 35"/>
              <p:cNvSpPr>
                <a:spLocks noChangeShapeType="1"/>
              </p:cNvSpPr>
              <p:nvPr/>
            </p:nvSpPr>
            <p:spPr bwMode="auto">
              <a:xfrm>
                <a:off x="3197" y="3145"/>
                <a:ext cx="114" cy="0"/>
              </a:xfrm>
              <a:prstGeom prst="line">
                <a:avLst/>
              </a:prstGeom>
              <a:noFill/>
              <a:ln w="28575">
                <a:solidFill>
                  <a:schemeClr val="folHlink"/>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sp>
            <p:nvSpPr>
              <p:cNvPr id="21519" name="Line 36"/>
              <p:cNvSpPr>
                <a:spLocks noChangeShapeType="1"/>
              </p:cNvSpPr>
              <p:nvPr/>
            </p:nvSpPr>
            <p:spPr bwMode="auto">
              <a:xfrm flipH="1">
                <a:off x="2092" y="3150"/>
                <a:ext cx="119" cy="0"/>
              </a:xfrm>
              <a:prstGeom prst="line">
                <a:avLst/>
              </a:prstGeom>
              <a:noFill/>
              <a:ln w="28575">
                <a:solidFill>
                  <a:schemeClr val="folHlink"/>
                </a:solidFill>
                <a:round/>
                <a:headEnd/>
                <a:tailEnd type="triangle" w="med" len="med"/>
              </a:ln>
              <a:extLst>
                <a:ext uri="{909E8E84-426E-40dd-AFC4-6F175D3DCCD1}">
                  <a14:hiddenFill xmlns:a14="http://schemas.microsoft.com/office/drawing/2010/main" xmlns="">
                    <a:noFill/>
                  </a14:hiddenFill>
                </a:ext>
              </a:extLst>
            </p:spPr>
            <p:txBody>
              <a:bodyPr/>
              <a:lstStyle/>
              <a:p>
                <a:endParaRPr lang="en-US"/>
              </a:p>
            </p:txBody>
          </p:sp>
        </p:grpSp>
      </p:grpSp>
      <p:sp>
        <p:nvSpPr>
          <p:cNvPr id="21514" name="Text Box 37"/>
          <p:cNvSpPr txBox="1">
            <a:spLocks noChangeArrowheads="1"/>
          </p:cNvSpPr>
          <p:nvPr/>
        </p:nvSpPr>
        <p:spPr bwMode="auto">
          <a:xfrm>
            <a:off x="6575425" y="4818063"/>
            <a:ext cx="2568575" cy="1570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algn="ctr"/>
            <a:r>
              <a:rPr lang="en-US" sz="1600" i="1">
                <a:latin typeface="Arial" charset="0"/>
              </a:rPr>
              <a:t>cf., Baliga &amp; Patankar, 1980, </a:t>
            </a:r>
          </a:p>
          <a:p>
            <a:pPr algn="ctr"/>
            <a:r>
              <a:rPr lang="en-US" sz="1600" i="1">
                <a:latin typeface="Arial" charset="0"/>
              </a:rPr>
              <a:t>Numerical Heat Transfer,</a:t>
            </a:r>
          </a:p>
          <a:p>
            <a:pPr algn="ctr"/>
            <a:r>
              <a:rPr lang="en-US" sz="1600" i="1">
                <a:latin typeface="Arial" charset="0"/>
              </a:rPr>
              <a:t>Paluszny, Matthai and Hohmeyer, 2007, Geofluids</a:t>
            </a:r>
          </a:p>
        </p:txBody>
      </p:sp>
      <p:sp>
        <p:nvSpPr>
          <p:cNvPr id="39" name="Date Placeholder 3"/>
          <p:cNvSpPr>
            <a:spLocks noGrp="1"/>
          </p:cNvSpPr>
          <p:nvPr>
            <p:ph type="dt" sz="half" idx="2"/>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40"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41"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65</a:t>
            </a:fld>
            <a:endParaRPr lang="en-US" dirty="0">
              <a:solidFill>
                <a:prstClr val="white">
                  <a:lumMod val="65000"/>
                </a:prstClr>
              </a:solidFill>
              <a:ea typeface="+mn-ea"/>
            </a:endParaRPr>
          </a:p>
        </p:txBody>
      </p:sp>
    </p:spTree>
    <p:extLst>
      <p:ext uri="{BB962C8B-B14F-4D97-AF65-F5344CB8AC3E}">
        <p14:creationId xmlns:p14="http://schemas.microsoft.com/office/powerpoint/2010/main" val="153539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dissolve">
                                      <p:cBhvr>
                                        <p:cTn id="19" dur="500"/>
                                        <p:tgtEl>
                                          <p:spTgt spid="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499"/>
                                          </p:stCondLst>
                                        </p:cTn>
                                        <p:tgtEl>
                                          <p:spTgt spid="3276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395288" y="588963"/>
            <a:ext cx="8162925" cy="579437"/>
          </a:xfrm>
        </p:spPr>
        <p:txBody>
          <a:bodyPr/>
          <a:lstStyle/>
          <a:p>
            <a:pPr algn="ctr" eaLnBrk="1" hangingPunct="1"/>
            <a:r>
              <a:rPr lang="en-US">
                <a:latin typeface="Arial" charset="0"/>
              </a:rPr>
              <a:t>Volume vs. Surface Integration</a:t>
            </a:r>
            <a:endParaRPr lang="en-GB">
              <a:latin typeface="Arial" charset="0"/>
            </a:endParaRPr>
          </a:p>
        </p:txBody>
      </p:sp>
      <p:graphicFrame>
        <p:nvGraphicFramePr>
          <p:cNvPr id="50178" name="Object 2"/>
          <p:cNvGraphicFramePr>
            <a:graphicFrameLocks noChangeAspect="1"/>
          </p:cNvGraphicFramePr>
          <p:nvPr/>
        </p:nvGraphicFramePr>
        <p:xfrm>
          <a:off x="996950" y="1870075"/>
          <a:ext cx="7413625" cy="3590925"/>
        </p:xfrm>
        <a:graphic>
          <a:graphicData uri="http://schemas.openxmlformats.org/presentationml/2006/ole">
            <mc:AlternateContent xmlns:mc="http://schemas.openxmlformats.org/markup-compatibility/2006">
              <mc:Choice xmlns:v="urn:schemas-microsoft-com:vml" Requires="v">
                <p:oleObj spid="_x0000_s7435" name="Equation" r:id="rId4" imgW="2438280" imgH="1180800" progId="Equation.DSMT4">
                  <p:embed/>
                </p:oleObj>
              </mc:Choice>
              <mc:Fallback>
                <p:oleObj name="Equation" r:id="rId4" imgW="2438280" imgH="1180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950" y="1870075"/>
                        <a:ext cx="7413625" cy="35909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0180" name="Text Box 4"/>
          <p:cNvSpPr txBox="1">
            <a:spLocks noChangeArrowheads="1"/>
          </p:cNvSpPr>
          <p:nvPr/>
        </p:nvSpPr>
        <p:spPr bwMode="auto">
          <a:xfrm>
            <a:off x="5967413" y="2020888"/>
            <a:ext cx="3001962"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a:solidFill>
                  <a:srgbClr val="FF0000"/>
                </a:solidFill>
              </a:rPr>
              <a:t>(Stokes theorem)</a:t>
            </a:r>
            <a:endParaRPr lang="en-GB">
              <a:solidFill>
                <a:srgbClr val="FF0000"/>
              </a:solidFill>
            </a:endParaRPr>
          </a:p>
        </p:txBody>
      </p:sp>
      <p:sp>
        <p:nvSpPr>
          <p:cNvPr id="50181" name="Text Box 5"/>
          <p:cNvSpPr txBox="1">
            <a:spLocks noChangeArrowheads="1"/>
          </p:cNvSpPr>
          <p:nvPr/>
        </p:nvSpPr>
        <p:spPr bwMode="auto">
          <a:xfrm>
            <a:off x="1412875" y="5619750"/>
            <a:ext cx="1150938"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3200">
                <a:solidFill>
                  <a:srgbClr val="FF0000"/>
                </a:solidFill>
              </a:rPr>
              <a:t>FEM</a:t>
            </a:r>
            <a:endParaRPr lang="en-GB" sz="3200">
              <a:solidFill>
                <a:srgbClr val="FF0000"/>
              </a:solidFill>
            </a:endParaRPr>
          </a:p>
        </p:txBody>
      </p:sp>
      <p:sp>
        <p:nvSpPr>
          <p:cNvPr id="50182" name="Text Box 6"/>
          <p:cNvSpPr txBox="1">
            <a:spLocks noChangeArrowheads="1"/>
          </p:cNvSpPr>
          <p:nvPr/>
        </p:nvSpPr>
        <p:spPr bwMode="auto">
          <a:xfrm>
            <a:off x="4775200" y="5641975"/>
            <a:ext cx="1150938"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3200">
                <a:solidFill>
                  <a:srgbClr val="FF0000"/>
                </a:solidFill>
              </a:rPr>
              <a:t>FV</a:t>
            </a:r>
            <a:endParaRPr lang="en-GB" sz="3200">
              <a:solidFill>
                <a:srgbClr val="FF0000"/>
              </a:solidFill>
            </a:endParaRPr>
          </a:p>
        </p:txBody>
      </p:sp>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66</a:t>
            </a:fld>
            <a:endParaRPr lang="en-US" dirty="0">
              <a:solidFill>
                <a:prstClr val="white">
                  <a:lumMod val="65000"/>
                </a:prstClr>
              </a:solidFill>
              <a:ea typeface="+mn-ea"/>
            </a:endParaRPr>
          </a:p>
        </p:txBody>
      </p:sp>
    </p:spTree>
    <p:extLst>
      <p:ext uri="{BB962C8B-B14F-4D97-AF65-F5344CB8AC3E}">
        <p14:creationId xmlns:p14="http://schemas.microsoft.com/office/powerpoint/2010/main" val="8711512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a:xfrm>
            <a:off x="1008063" y="374074"/>
            <a:ext cx="6080125" cy="584776"/>
          </a:xfrm>
        </p:spPr>
        <p:txBody>
          <a:bodyPr/>
          <a:lstStyle/>
          <a:p>
            <a:pPr eaLnBrk="1" hangingPunct="1"/>
            <a:r>
              <a:rPr lang="en-US" dirty="0">
                <a:latin typeface="Arial" charset="0"/>
              </a:rPr>
              <a:t>Single-phase transport variables</a:t>
            </a:r>
            <a:endParaRPr lang="en-GB" dirty="0">
              <a:latin typeface="Arial" charset="0"/>
            </a:endParaRPr>
          </a:p>
        </p:txBody>
      </p:sp>
      <p:graphicFrame>
        <p:nvGraphicFramePr>
          <p:cNvPr id="46082" name="Object 2"/>
          <p:cNvGraphicFramePr>
            <a:graphicFrameLocks noChangeAspect="1"/>
          </p:cNvGraphicFramePr>
          <p:nvPr/>
        </p:nvGraphicFramePr>
        <p:xfrm>
          <a:off x="1077913" y="1243013"/>
          <a:ext cx="6319837" cy="3282950"/>
        </p:xfrm>
        <a:graphic>
          <a:graphicData uri="http://schemas.openxmlformats.org/presentationml/2006/ole">
            <mc:AlternateContent xmlns:mc="http://schemas.openxmlformats.org/markup-compatibility/2006">
              <mc:Choice xmlns:v="urn:schemas-microsoft-com:vml" Requires="v">
                <p:oleObj spid="_x0000_s9735" name="Equation" r:id="rId4" imgW="2590560" imgH="1574640" progId="Equation.3">
                  <p:embed/>
                </p:oleObj>
              </mc:Choice>
              <mc:Fallback>
                <p:oleObj name="Equation" r:id="rId4" imgW="2590560" imgH="1574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7913" y="1243013"/>
                        <a:ext cx="6319837" cy="32829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6083" name="Object 3"/>
          <p:cNvGraphicFramePr>
            <a:graphicFrameLocks noChangeAspect="1"/>
          </p:cNvGraphicFramePr>
          <p:nvPr/>
        </p:nvGraphicFramePr>
        <p:xfrm>
          <a:off x="839788" y="4748213"/>
          <a:ext cx="7288212" cy="1614487"/>
        </p:xfrm>
        <a:graphic>
          <a:graphicData uri="http://schemas.openxmlformats.org/presentationml/2006/ole">
            <mc:AlternateContent xmlns:mc="http://schemas.openxmlformats.org/markup-compatibility/2006">
              <mc:Choice xmlns:v="urn:schemas-microsoft-com:vml" Requires="v">
                <p:oleObj spid="_x0000_s9736" name="Equation" r:id="rId6" imgW="3327120" imgH="736560" progId="Equation.DSMT4">
                  <p:embed/>
                </p:oleObj>
              </mc:Choice>
              <mc:Fallback>
                <p:oleObj name="Equation" r:id="rId6" imgW="3327120" imgH="73656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788" y="4748213"/>
                        <a:ext cx="7288212" cy="16144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6"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7"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67</a:t>
            </a:fld>
            <a:endParaRPr lang="en-US" dirty="0">
              <a:solidFill>
                <a:prstClr val="white">
                  <a:lumMod val="65000"/>
                </a:prstClr>
              </a:solidFill>
              <a:ea typeface="+mn-ea"/>
            </a:endParaRPr>
          </a:p>
        </p:txBody>
      </p:sp>
    </p:spTree>
    <p:extLst>
      <p:ext uri="{BB962C8B-B14F-4D97-AF65-F5344CB8AC3E}">
        <p14:creationId xmlns:p14="http://schemas.microsoft.com/office/powerpoint/2010/main" val="39844346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Rectangle 2"/>
          <p:cNvSpPr>
            <a:spLocks noGrp="1" noChangeArrowheads="1"/>
          </p:cNvSpPr>
          <p:nvPr>
            <p:ph type="title"/>
          </p:nvPr>
        </p:nvSpPr>
        <p:spPr>
          <a:xfrm>
            <a:off x="271463" y="249238"/>
            <a:ext cx="8640762" cy="396875"/>
          </a:xfrm>
        </p:spPr>
        <p:txBody>
          <a:bodyPr>
            <a:noAutofit/>
          </a:bodyPr>
          <a:lstStyle/>
          <a:p>
            <a:pPr eaLnBrk="1" hangingPunct="1"/>
            <a:r>
              <a:rPr lang="en-US" sz="2400" dirty="0">
                <a:latin typeface="Arial" charset="0"/>
              </a:rPr>
              <a:t>First-Order Implicit FV Solution of Transport Equation</a:t>
            </a:r>
            <a:endParaRPr lang="en-GB" sz="2400" dirty="0">
              <a:latin typeface="Arial" charset="0"/>
            </a:endParaRPr>
          </a:p>
        </p:txBody>
      </p:sp>
      <p:graphicFrame>
        <p:nvGraphicFramePr>
          <p:cNvPr id="52226" name="Object 2"/>
          <p:cNvGraphicFramePr>
            <a:graphicFrameLocks noChangeAspect="1"/>
          </p:cNvGraphicFramePr>
          <p:nvPr>
            <p:extLst>
              <p:ext uri="{D42A27DB-BD31-4B8C-83A1-F6EECF244321}">
                <p14:modId xmlns:p14="http://schemas.microsoft.com/office/powerpoint/2010/main" val="4162287598"/>
              </p:ext>
            </p:extLst>
          </p:nvPr>
        </p:nvGraphicFramePr>
        <p:xfrm>
          <a:off x="857250" y="750888"/>
          <a:ext cx="3360738" cy="661987"/>
        </p:xfrm>
        <a:graphic>
          <a:graphicData uri="http://schemas.openxmlformats.org/presentationml/2006/ole">
            <mc:AlternateContent xmlns:mc="http://schemas.openxmlformats.org/markup-compatibility/2006">
              <mc:Choice xmlns:v="urn:schemas-microsoft-com:vml" Requires="v">
                <p:oleObj spid="_x0000_s81923" name="Equation" r:id="rId4" imgW="2120900" imgH="419100" progId="Equation.DSMT4">
                  <p:embed/>
                </p:oleObj>
              </mc:Choice>
              <mc:Fallback>
                <p:oleObj name="Equation" r:id="rId4" imgW="2120900" imgH="419100" progId="Equation.DSMT4">
                  <p:embed/>
                  <p:pic>
                    <p:nvPicPr>
                      <p:cNvPr id="0" name=""/>
                      <p:cNvPicPr>
                        <a:picLocks noChangeAspect="1" noChangeArrowheads="1"/>
                      </p:cNvPicPr>
                      <p:nvPr/>
                    </p:nvPicPr>
                    <p:blipFill>
                      <a:blip r:embed="rId5"/>
                      <a:srcRect/>
                      <a:stretch>
                        <a:fillRect/>
                      </a:stretch>
                    </p:blipFill>
                    <p:spPr bwMode="auto">
                      <a:xfrm>
                        <a:off x="857250" y="750888"/>
                        <a:ext cx="3360738" cy="6619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227" name="Object 3"/>
          <p:cNvGraphicFramePr>
            <a:graphicFrameLocks noChangeAspect="1"/>
          </p:cNvGraphicFramePr>
          <p:nvPr>
            <p:extLst>
              <p:ext uri="{D42A27DB-BD31-4B8C-83A1-F6EECF244321}">
                <p14:modId xmlns:p14="http://schemas.microsoft.com/office/powerpoint/2010/main" val="2913519683"/>
              </p:ext>
            </p:extLst>
          </p:nvPr>
        </p:nvGraphicFramePr>
        <p:xfrm>
          <a:off x="684213" y="1955800"/>
          <a:ext cx="6124575" cy="2968625"/>
        </p:xfrm>
        <a:graphic>
          <a:graphicData uri="http://schemas.openxmlformats.org/presentationml/2006/ole">
            <mc:AlternateContent xmlns:mc="http://schemas.openxmlformats.org/markup-compatibility/2006">
              <mc:Choice xmlns:v="urn:schemas-microsoft-com:vml" Requires="v">
                <p:oleObj spid="_x0000_s81924" name="Equation" r:id="rId6" imgW="4724400" imgH="2298700" progId="Equation.DSMT4">
                  <p:embed/>
                </p:oleObj>
              </mc:Choice>
              <mc:Fallback>
                <p:oleObj name="Equation" r:id="rId6" imgW="4724400" imgH="2298700" progId="Equation.DSMT4">
                  <p:embed/>
                  <p:pic>
                    <p:nvPicPr>
                      <p:cNvPr id="0" name=""/>
                      <p:cNvPicPr>
                        <a:picLocks noChangeAspect="1" noChangeArrowheads="1"/>
                      </p:cNvPicPr>
                      <p:nvPr/>
                    </p:nvPicPr>
                    <p:blipFill>
                      <a:blip r:embed="rId7"/>
                      <a:srcRect/>
                      <a:stretch>
                        <a:fillRect/>
                      </a:stretch>
                    </p:blipFill>
                    <p:spPr bwMode="auto">
                      <a:xfrm>
                        <a:off x="684213" y="1955800"/>
                        <a:ext cx="6124575" cy="29686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2231" name="Text Box 6"/>
          <p:cNvSpPr txBox="1">
            <a:spLocks noChangeArrowheads="1"/>
          </p:cNvSpPr>
          <p:nvPr/>
        </p:nvSpPr>
        <p:spPr bwMode="auto">
          <a:xfrm>
            <a:off x="846138" y="5013176"/>
            <a:ext cx="3725937"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solidFill>
                  <a:srgbClr val="000090"/>
                </a:solidFill>
                <a:latin typeface="Arial"/>
                <a:cs typeface="Arial"/>
              </a:rPr>
              <a:t>Boundary In- &amp; Outflow Conditions</a:t>
            </a:r>
            <a:endParaRPr lang="en-GB" sz="1800" dirty="0">
              <a:solidFill>
                <a:srgbClr val="000090"/>
              </a:solidFill>
              <a:latin typeface="Arial"/>
              <a:cs typeface="Arial"/>
            </a:endParaRPr>
          </a:p>
        </p:txBody>
      </p:sp>
      <p:sp>
        <p:nvSpPr>
          <p:cNvPr id="52232" name="Text Box 7"/>
          <p:cNvSpPr txBox="1">
            <a:spLocks noChangeArrowheads="1"/>
          </p:cNvSpPr>
          <p:nvPr/>
        </p:nvSpPr>
        <p:spPr bwMode="auto">
          <a:xfrm>
            <a:off x="869950" y="1570038"/>
            <a:ext cx="352057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000090"/>
                </a:solidFill>
                <a:latin typeface="Arial"/>
                <a:cs typeface="Arial"/>
              </a:rPr>
              <a:t>Finite Volume / Surface Integrals</a:t>
            </a:r>
            <a:endParaRPr lang="en-GB" sz="1800">
              <a:solidFill>
                <a:srgbClr val="000090"/>
              </a:solidFill>
              <a:latin typeface="Arial"/>
              <a:cs typeface="Arial"/>
            </a:endParaRPr>
          </a:p>
        </p:txBody>
      </p:sp>
      <p:graphicFrame>
        <p:nvGraphicFramePr>
          <p:cNvPr id="52228" name="Object 4"/>
          <p:cNvGraphicFramePr>
            <a:graphicFrameLocks noChangeAspect="1"/>
          </p:cNvGraphicFramePr>
          <p:nvPr>
            <p:extLst>
              <p:ext uri="{D42A27DB-BD31-4B8C-83A1-F6EECF244321}">
                <p14:modId xmlns:p14="http://schemas.microsoft.com/office/powerpoint/2010/main" val="1534292414"/>
              </p:ext>
            </p:extLst>
          </p:nvPr>
        </p:nvGraphicFramePr>
        <p:xfrm>
          <a:off x="820738" y="5407025"/>
          <a:ext cx="4156075" cy="1214438"/>
        </p:xfrm>
        <a:graphic>
          <a:graphicData uri="http://schemas.openxmlformats.org/presentationml/2006/ole">
            <mc:AlternateContent xmlns:mc="http://schemas.openxmlformats.org/markup-compatibility/2006">
              <mc:Choice xmlns:v="urn:schemas-microsoft-com:vml" Requires="v">
                <p:oleObj spid="_x0000_s81925" name="Equation" r:id="rId8" imgW="3213100" imgH="939800" progId="Equation.DSMT4">
                  <p:embed/>
                </p:oleObj>
              </mc:Choice>
              <mc:Fallback>
                <p:oleObj name="Equation" r:id="rId8" imgW="3213100" imgH="939800" progId="Equation.DSMT4">
                  <p:embed/>
                  <p:pic>
                    <p:nvPicPr>
                      <p:cNvPr id="0" name=""/>
                      <p:cNvPicPr>
                        <a:picLocks noChangeAspect="1" noChangeArrowheads="1"/>
                      </p:cNvPicPr>
                      <p:nvPr/>
                    </p:nvPicPr>
                    <p:blipFill>
                      <a:blip r:embed="rId9"/>
                      <a:srcRect/>
                      <a:stretch>
                        <a:fillRect/>
                      </a:stretch>
                    </p:blipFill>
                    <p:spPr bwMode="auto">
                      <a:xfrm>
                        <a:off x="820738" y="5407025"/>
                        <a:ext cx="4156075" cy="1214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2229" name="Object 5"/>
          <p:cNvGraphicFramePr>
            <a:graphicFrameLocks noChangeAspect="1"/>
          </p:cNvGraphicFramePr>
          <p:nvPr/>
        </p:nvGraphicFramePr>
        <p:xfrm>
          <a:off x="5815013" y="908050"/>
          <a:ext cx="2722562" cy="315913"/>
        </p:xfrm>
        <a:graphic>
          <a:graphicData uri="http://schemas.openxmlformats.org/presentationml/2006/ole">
            <mc:AlternateContent xmlns:mc="http://schemas.openxmlformats.org/markup-compatibility/2006">
              <mc:Choice xmlns:v="urn:schemas-microsoft-com:vml" Requires="v">
                <p:oleObj spid="_x0000_s81926" name="Equation" r:id="rId10" imgW="1523880" imgH="177480" progId="Equation.DSMT4">
                  <p:embed/>
                </p:oleObj>
              </mc:Choice>
              <mc:Fallback>
                <p:oleObj name="Equation" r:id="rId10" imgW="1523880" imgH="177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15013" y="908050"/>
                        <a:ext cx="2722562" cy="3159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2233" name="Text Box 10"/>
          <p:cNvSpPr txBox="1">
            <a:spLocks noChangeArrowheads="1"/>
          </p:cNvSpPr>
          <p:nvPr/>
        </p:nvSpPr>
        <p:spPr bwMode="auto">
          <a:xfrm>
            <a:off x="4549775" y="865188"/>
            <a:ext cx="885825"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where</a:t>
            </a:r>
            <a:endParaRPr lang="en-GB" sz="1800"/>
          </a:p>
        </p:txBody>
      </p:sp>
      <p:sp>
        <p:nvSpPr>
          <p:cNvPr id="52234" name="Text Box 11"/>
          <p:cNvSpPr txBox="1">
            <a:spLocks noChangeArrowheads="1"/>
          </p:cNvSpPr>
          <p:nvPr/>
        </p:nvSpPr>
        <p:spPr bwMode="auto">
          <a:xfrm>
            <a:off x="5018088" y="1241425"/>
            <a:ext cx="3971925" cy="5175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400"/>
              <a:t>As expressed for an incompressible fluid in terms of fluid volume conservation.</a:t>
            </a:r>
            <a:endParaRPr lang="en-GB" sz="1400"/>
          </a:p>
        </p:txBody>
      </p:sp>
      <p:sp>
        <p:nvSpPr>
          <p:cNvPr id="52235" name="Text Box 12"/>
          <p:cNvSpPr txBox="1">
            <a:spLocks noChangeArrowheads="1"/>
          </p:cNvSpPr>
          <p:nvPr/>
        </p:nvSpPr>
        <p:spPr bwMode="auto">
          <a:xfrm>
            <a:off x="4973638" y="5489426"/>
            <a:ext cx="143986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in-flow (+)</a:t>
            </a:r>
          </a:p>
        </p:txBody>
      </p:sp>
      <p:sp>
        <p:nvSpPr>
          <p:cNvPr id="52236" name="Text Box 13"/>
          <p:cNvSpPr txBox="1">
            <a:spLocks noChangeArrowheads="1"/>
          </p:cNvSpPr>
          <p:nvPr/>
        </p:nvSpPr>
        <p:spPr bwMode="auto">
          <a:xfrm>
            <a:off x="4968875" y="6116488"/>
            <a:ext cx="1520825"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out-flow (-)</a:t>
            </a:r>
          </a:p>
        </p:txBody>
      </p:sp>
      <p:sp>
        <p:nvSpPr>
          <p:cNvPr id="13"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14"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5"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68</a:t>
            </a:fld>
            <a:endParaRPr lang="en-US" dirty="0">
              <a:solidFill>
                <a:prstClr val="white">
                  <a:lumMod val="65000"/>
                </a:prstClr>
              </a:solidFill>
              <a:ea typeface="+mn-ea"/>
            </a:endParaRPr>
          </a:p>
        </p:txBody>
      </p:sp>
    </p:spTree>
    <p:extLst>
      <p:ext uri="{BB962C8B-B14F-4D97-AF65-F5344CB8AC3E}">
        <p14:creationId xmlns:p14="http://schemas.microsoft.com/office/powerpoint/2010/main" val="21916011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050"/>
          <p:cNvSpPr>
            <a:spLocks noGrp="1" noChangeArrowheads="1"/>
          </p:cNvSpPr>
          <p:nvPr>
            <p:ph type="title"/>
          </p:nvPr>
        </p:nvSpPr>
        <p:spPr>
          <a:xfrm>
            <a:off x="515938" y="688975"/>
            <a:ext cx="8162925" cy="954088"/>
          </a:xfrm>
        </p:spPr>
        <p:txBody>
          <a:bodyPr/>
          <a:lstStyle/>
          <a:p>
            <a:pPr eaLnBrk="1" hangingPunct="1"/>
            <a:r>
              <a:rPr lang="en-US">
                <a:latin typeface="Arial" charset="0"/>
              </a:rPr>
              <a:t>Inclusion of diffusive fluxes in FV framework</a:t>
            </a:r>
            <a:br>
              <a:rPr lang="en-US">
                <a:latin typeface="Arial" charset="0"/>
              </a:rPr>
            </a:br>
            <a:r>
              <a:rPr lang="en-US" sz="2400">
                <a:solidFill>
                  <a:schemeClr val="tx1"/>
                </a:solidFill>
                <a:latin typeface="Arial" charset="0"/>
              </a:rPr>
              <a:t>NB: we do this with the FEM now</a:t>
            </a:r>
            <a:endParaRPr lang="en-GB" sz="2400">
              <a:solidFill>
                <a:schemeClr val="tx1"/>
              </a:solidFill>
              <a:latin typeface="Arial" charset="0"/>
            </a:endParaRPr>
          </a:p>
        </p:txBody>
      </p:sp>
      <p:graphicFrame>
        <p:nvGraphicFramePr>
          <p:cNvPr id="54274" name="Object 2"/>
          <p:cNvGraphicFramePr>
            <a:graphicFrameLocks noChangeAspect="1"/>
          </p:cNvGraphicFramePr>
          <p:nvPr/>
        </p:nvGraphicFramePr>
        <p:xfrm>
          <a:off x="504825" y="1976438"/>
          <a:ext cx="8286750" cy="3587750"/>
        </p:xfrm>
        <a:graphic>
          <a:graphicData uri="http://schemas.openxmlformats.org/presentationml/2006/ole">
            <mc:AlternateContent xmlns:mc="http://schemas.openxmlformats.org/markup-compatibility/2006">
              <mc:Choice xmlns:v="urn:schemas-microsoft-com:vml" Requires="v">
                <p:oleObj spid="_x0000_s13579" name="Equation" r:id="rId4" imgW="5676840" imgH="2463480" progId="Equation.DSMT4">
                  <p:embed/>
                </p:oleObj>
              </mc:Choice>
              <mc:Fallback>
                <p:oleObj name="Equation" r:id="rId4" imgW="5676840" imgH="246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25" y="1976438"/>
                        <a:ext cx="8286750" cy="35877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69</a:t>
            </a:fld>
            <a:endParaRPr lang="en-US" dirty="0">
              <a:solidFill>
                <a:prstClr val="white">
                  <a:lumMod val="65000"/>
                </a:prstClr>
              </a:solidFill>
              <a:ea typeface="+mn-ea"/>
            </a:endParaRPr>
          </a:p>
        </p:txBody>
      </p:sp>
    </p:spTree>
    <p:extLst>
      <p:ext uri="{BB962C8B-B14F-4D97-AF65-F5344CB8AC3E}">
        <p14:creationId xmlns:p14="http://schemas.microsoft.com/office/powerpoint/2010/main" val="4199235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ChangeArrowheads="1"/>
          </p:cNvSpPr>
          <p:nvPr/>
        </p:nvSpPr>
        <p:spPr bwMode="auto">
          <a:xfrm>
            <a:off x="642938" y="514350"/>
            <a:ext cx="8099425" cy="946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spAutoFit/>
          </a:bodyPr>
          <a:lstStyle/>
          <a:p>
            <a:r>
              <a:rPr lang="en-US" sz="2800" dirty="0">
                <a:solidFill>
                  <a:srgbClr val="FF0066"/>
                </a:solidFill>
                <a:latin typeface="Arial" charset="0"/>
              </a:rPr>
              <a:t>Iterative higher-order FV solution with Theta time differencing</a:t>
            </a:r>
            <a:endParaRPr lang="en-GB" sz="2800" dirty="0">
              <a:solidFill>
                <a:srgbClr val="FF0066"/>
              </a:solidFill>
              <a:latin typeface="Arial" charset="0"/>
            </a:endParaRPr>
          </a:p>
        </p:txBody>
      </p:sp>
      <p:graphicFrame>
        <p:nvGraphicFramePr>
          <p:cNvPr id="58370" name="Object 2"/>
          <p:cNvGraphicFramePr>
            <a:graphicFrameLocks noChangeAspect="1"/>
          </p:cNvGraphicFramePr>
          <p:nvPr/>
        </p:nvGraphicFramePr>
        <p:xfrm>
          <a:off x="1279525" y="2614613"/>
          <a:ext cx="6789738" cy="2736850"/>
        </p:xfrm>
        <a:graphic>
          <a:graphicData uri="http://schemas.openxmlformats.org/presentationml/2006/ole">
            <mc:AlternateContent xmlns:mc="http://schemas.openxmlformats.org/markup-compatibility/2006">
              <mc:Choice xmlns:v="urn:schemas-microsoft-com:vml" Requires="v">
                <p:oleObj spid="_x0000_s15627" name="Equation" r:id="rId4" imgW="3327120" imgH="1346040" progId="Equation.DSMT4">
                  <p:embed/>
                </p:oleObj>
              </mc:Choice>
              <mc:Fallback>
                <p:oleObj name="Equation" r:id="rId4" imgW="3327120" imgH="1346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9525" y="2614613"/>
                        <a:ext cx="6789738" cy="27368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58372" name="Text Box 6"/>
          <p:cNvSpPr txBox="1">
            <a:spLocks noChangeArrowheads="1"/>
          </p:cNvSpPr>
          <p:nvPr/>
        </p:nvSpPr>
        <p:spPr bwMode="auto">
          <a:xfrm>
            <a:off x="703263" y="1839913"/>
            <a:ext cx="72612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2000">
                <a:latin typeface="Arial" charset="0"/>
              </a:rPr>
              <a:t>LHS stays the same; extra surface integrals are added to RHS:</a:t>
            </a:r>
            <a:endParaRPr lang="en-GB" sz="2000">
              <a:latin typeface="Arial" charset="0"/>
            </a:endParaRPr>
          </a:p>
        </p:txBody>
      </p:sp>
      <p:sp>
        <p:nvSpPr>
          <p:cNvPr id="58373" name="Line 27"/>
          <p:cNvSpPr>
            <a:spLocks noChangeShapeType="1"/>
          </p:cNvSpPr>
          <p:nvPr/>
        </p:nvSpPr>
        <p:spPr bwMode="auto">
          <a:xfrm flipH="1">
            <a:off x="1790700" y="3130550"/>
            <a:ext cx="231775" cy="56515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58374" name="Line 28"/>
          <p:cNvSpPr>
            <a:spLocks noChangeShapeType="1"/>
          </p:cNvSpPr>
          <p:nvPr/>
        </p:nvSpPr>
        <p:spPr bwMode="auto">
          <a:xfrm>
            <a:off x="3600450" y="3121025"/>
            <a:ext cx="163513" cy="534988"/>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58375" name="Line 29"/>
          <p:cNvSpPr>
            <a:spLocks noChangeShapeType="1"/>
          </p:cNvSpPr>
          <p:nvPr/>
        </p:nvSpPr>
        <p:spPr bwMode="auto">
          <a:xfrm flipH="1">
            <a:off x="4257675" y="3443288"/>
            <a:ext cx="1781175" cy="1116012"/>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58376" name="Line 30"/>
          <p:cNvSpPr>
            <a:spLocks noChangeShapeType="1"/>
          </p:cNvSpPr>
          <p:nvPr/>
        </p:nvSpPr>
        <p:spPr bwMode="auto">
          <a:xfrm>
            <a:off x="6400800" y="3502025"/>
            <a:ext cx="520700" cy="1062038"/>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58377" name="TextBox 8"/>
          <p:cNvSpPr txBox="1">
            <a:spLocks noChangeArrowheads="1"/>
          </p:cNvSpPr>
          <p:nvPr/>
        </p:nvSpPr>
        <p:spPr bwMode="auto">
          <a:xfrm>
            <a:off x="5453063" y="5661248"/>
            <a:ext cx="27543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i="1" dirty="0">
                <a:latin typeface="Arial" charset="0"/>
                <a:cs typeface="Arial" charset="0"/>
              </a:rPr>
              <a:t>Matthai et al. TIPM 2009</a:t>
            </a: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70</a:t>
            </a:fld>
            <a:endParaRPr lang="en-US" dirty="0">
              <a:solidFill>
                <a:prstClr val="white">
                  <a:lumMod val="65000"/>
                </a:prstClr>
              </a:solidFill>
              <a:ea typeface="+mn-ea"/>
            </a:endParaRPr>
          </a:p>
        </p:txBody>
      </p:sp>
    </p:spTree>
    <p:extLst>
      <p:ext uri="{BB962C8B-B14F-4D97-AF65-F5344CB8AC3E}">
        <p14:creationId xmlns:p14="http://schemas.microsoft.com/office/powerpoint/2010/main" val="23231225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074"/>
          <p:cNvSpPr>
            <a:spLocks noChangeArrowheads="1"/>
          </p:cNvSpPr>
          <p:nvPr/>
        </p:nvSpPr>
        <p:spPr bwMode="auto">
          <a:xfrm>
            <a:off x="0" y="785813"/>
            <a:ext cx="9144000" cy="946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spAutoFit/>
          </a:bodyPr>
          <a:lstStyle/>
          <a:p>
            <a:pPr algn="ctr"/>
            <a:r>
              <a:rPr lang="en-US" sz="2800" dirty="0">
                <a:solidFill>
                  <a:srgbClr val="FF0066"/>
                </a:solidFill>
                <a:latin typeface="Arial" charset="0"/>
              </a:rPr>
              <a:t>Iterative Higher-Order FV Solution with Theta Time Differencing and Diffusion</a:t>
            </a:r>
            <a:endParaRPr lang="en-GB" sz="2800" dirty="0">
              <a:solidFill>
                <a:srgbClr val="FF0066"/>
              </a:solidFill>
              <a:latin typeface="Arial" charset="0"/>
            </a:endParaRPr>
          </a:p>
        </p:txBody>
      </p:sp>
      <p:graphicFrame>
        <p:nvGraphicFramePr>
          <p:cNvPr id="60418" name="Object 2"/>
          <p:cNvGraphicFramePr>
            <a:graphicFrameLocks noChangeAspect="1"/>
          </p:cNvGraphicFramePr>
          <p:nvPr/>
        </p:nvGraphicFramePr>
        <p:xfrm>
          <a:off x="804863" y="3146425"/>
          <a:ext cx="7410450" cy="2590800"/>
        </p:xfrm>
        <a:graphic>
          <a:graphicData uri="http://schemas.openxmlformats.org/presentationml/2006/ole">
            <mc:AlternateContent xmlns:mc="http://schemas.openxmlformats.org/markup-compatibility/2006">
              <mc:Choice xmlns:v="urn:schemas-microsoft-com:vml" Requires="v">
                <p:oleObj spid="_x0000_s17675" name="Equation" r:id="rId4" imgW="3873240" imgH="1358640" progId="Equation.DSMT4">
                  <p:embed/>
                </p:oleObj>
              </mc:Choice>
              <mc:Fallback>
                <p:oleObj name="Equation" r:id="rId4" imgW="3873240" imgH="13586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4863" y="3146425"/>
                        <a:ext cx="7410450" cy="2590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0420" name="Text Box 3076"/>
          <p:cNvSpPr txBox="1">
            <a:spLocks noChangeArrowheads="1"/>
          </p:cNvSpPr>
          <p:nvPr/>
        </p:nvSpPr>
        <p:spPr bwMode="auto">
          <a:xfrm>
            <a:off x="803275" y="2008188"/>
            <a:ext cx="6559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LHS stays the same; extra surface integrals are added to RHS:</a:t>
            </a:r>
            <a:endParaRPr lang="en-GB" sz="1800">
              <a:latin typeface="Arial" charset="0"/>
            </a:endParaRPr>
          </a:p>
        </p:txBody>
      </p:sp>
      <p:sp>
        <p:nvSpPr>
          <p:cNvPr id="60421" name="Line 3077"/>
          <p:cNvSpPr>
            <a:spLocks noChangeShapeType="1"/>
          </p:cNvSpPr>
          <p:nvPr/>
        </p:nvSpPr>
        <p:spPr bwMode="auto">
          <a:xfrm flipH="1">
            <a:off x="1174750" y="3617913"/>
            <a:ext cx="231775" cy="56515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0422" name="Line 3078"/>
          <p:cNvSpPr>
            <a:spLocks noChangeShapeType="1"/>
          </p:cNvSpPr>
          <p:nvPr/>
        </p:nvSpPr>
        <p:spPr bwMode="auto">
          <a:xfrm>
            <a:off x="3268663" y="3684588"/>
            <a:ext cx="246062" cy="376237"/>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0423" name="Line 3079"/>
          <p:cNvSpPr>
            <a:spLocks noChangeShapeType="1"/>
          </p:cNvSpPr>
          <p:nvPr/>
        </p:nvSpPr>
        <p:spPr bwMode="auto">
          <a:xfrm flipH="1">
            <a:off x="3975100" y="3640138"/>
            <a:ext cx="1274763" cy="1398587"/>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0424" name="Line 3080"/>
          <p:cNvSpPr>
            <a:spLocks noChangeShapeType="1"/>
          </p:cNvSpPr>
          <p:nvPr/>
        </p:nvSpPr>
        <p:spPr bwMode="auto">
          <a:xfrm>
            <a:off x="5686425" y="3649663"/>
            <a:ext cx="620713" cy="12954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0425" name="Text Box 3081"/>
          <p:cNvSpPr txBox="1">
            <a:spLocks noChangeArrowheads="1"/>
          </p:cNvSpPr>
          <p:nvPr/>
        </p:nvSpPr>
        <p:spPr bwMode="auto">
          <a:xfrm>
            <a:off x="706438" y="2476500"/>
            <a:ext cx="15684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First iteration:</a:t>
            </a:r>
            <a:endParaRPr lang="en-GB" sz="1800">
              <a:latin typeface="Arial" charset="0"/>
            </a:endParaRP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71</a:t>
            </a:fld>
            <a:endParaRPr lang="en-US" dirty="0">
              <a:solidFill>
                <a:prstClr val="white">
                  <a:lumMod val="65000"/>
                </a:prstClr>
              </a:solidFill>
              <a:ea typeface="+mn-ea"/>
            </a:endParaRPr>
          </a:p>
        </p:txBody>
      </p:sp>
    </p:spTree>
    <p:extLst>
      <p:ext uri="{BB962C8B-B14F-4D97-AF65-F5344CB8AC3E}">
        <p14:creationId xmlns:p14="http://schemas.microsoft.com/office/powerpoint/2010/main" val="1901132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ChangeArrowheads="1"/>
          </p:cNvSpPr>
          <p:nvPr/>
        </p:nvSpPr>
        <p:spPr bwMode="auto">
          <a:xfrm>
            <a:off x="0" y="414338"/>
            <a:ext cx="9144000" cy="946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b">
            <a:spAutoFit/>
          </a:bodyPr>
          <a:lstStyle/>
          <a:p>
            <a:pPr algn="ctr"/>
            <a:r>
              <a:rPr lang="en-US" sz="2800" dirty="0">
                <a:solidFill>
                  <a:srgbClr val="FF0066"/>
                </a:solidFill>
                <a:latin typeface="Arial" charset="0"/>
              </a:rPr>
              <a:t>Iterative Higher-Order FV Solution with Theta Time Differencing and Diffusion</a:t>
            </a:r>
            <a:endParaRPr lang="en-GB" sz="2800" dirty="0">
              <a:solidFill>
                <a:srgbClr val="FF0066"/>
              </a:solidFill>
              <a:latin typeface="Arial" charset="0"/>
            </a:endParaRPr>
          </a:p>
        </p:txBody>
      </p:sp>
      <p:graphicFrame>
        <p:nvGraphicFramePr>
          <p:cNvPr id="62466" name="Object 2"/>
          <p:cNvGraphicFramePr>
            <a:graphicFrameLocks noChangeAspect="1"/>
          </p:cNvGraphicFramePr>
          <p:nvPr/>
        </p:nvGraphicFramePr>
        <p:xfrm>
          <a:off x="1327150" y="2773363"/>
          <a:ext cx="6365875" cy="2592387"/>
        </p:xfrm>
        <a:graphic>
          <a:graphicData uri="http://schemas.openxmlformats.org/presentationml/2006/ole">
            <mc:AlternateContent xmlns:mc="http://schemas.openxmlformats.org/markup-compatibility/2006">
              <mc:Choice xmlns:v="urn:schemas-microsoft-com:vml" Requires="v">
                <p:oleObj spid="_x0000_s19723" name="Equation" r:id="rId4" imgW="3327120" imgH="1358640" progId="Equation.DSMT4">
                  <p:embed/>
                </p:oleObj>
              </mc:Choice>
              <mc:Fallback>
                <p:oleObj name="Equation" r:id="rId4" imgW="3327120" imgH="13586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7150" y="2773363"/>
                        <a:ext cx="6365875" cy="259238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2468" name="Text Box 4"/>
          <p:cNvSpPr txBox="1">
            <a:spLocks noChangeArrowheads="1"/>
          </p:cNvSpPr>
          <p:nvPr/>
        </p:nvSpPr>
        <p:spPr bwMode="auto">
          <a:xfrm>
            <a:off x="803275" y="1865313"/>
            <a:ext cx="6559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LHS stays the same; extra surface integrals are added to RHS:</a:t>
            </a:r>
            <a:endParaRPr lang="en-GB" sz="1800">
              <a:latin typeface="Arial" charset="0"/>
            </a:endParaRPr>
          </a:p>
        </p:txBody>
      </p:sp>
      <p:sp>
        <p:nvSpPr>
          <p:cNvPr id="62469" name="Line 5"/>
          <p:cNvSpPr>
            <a:spLocks noChangeShapeType="1"/>
          </p:cNvSpPr>
          <p:nvPr/>
        </p:nvSpPr>
        <p:spPr bwMode="auto">
          <a:xfrm flipH="1">
            <a:off x="2197100" y="3263900"/>
            <a:ext cx="231775" cy="56515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2470" name="Line 6"/>
          <p:cNvSpPr>
            <a:spLocks noChangeShapeType="1"/>
          </p:cNvSpPr>
          <p:nvPr/>
        </p:nvSpPr>
        <p:spPr bwMode="auto">
          <a:xfrm flipH="1">
            <a:off x="4387850" y="3287713"/>
            <a:ext cx="85725" cy="40957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2471" name="Line 7"/>
          <p:cNvSpPr>
            <a:spLocks noChangeShapeType="1"/>
          </p:cNvSpPr>
          <p:nvPr/>
        </p:nvSpPr>
        <p:spPr bwMode="auto">
          <a:xfrm flipH="1">
            <a:off x="4940300" y="3327400"/>
            <a:ext cx="1274763" cy="1398588"/>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2472" name="Line 8"/>
          <p:cNvSpPr>
            <a:spLocks noChangeShapeType="1"/>
          </p:cNvSpPr>
          <p:nvPr/>
        </p:nvSpPr>
        <p:spPr bwMode="auto">
          <a:xfrm>
            <a:off x="7124700" y="3311525"/>
            <a:ext cx="271463" cy="12954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62473" name="Text Box 9"/>
          <p:cNvSpPr txBox="1">
            <a:spLocks noChangeArrowheads="1"/>
          </p:cNvSpPr>
          <p:nvPr/>
        </p:nvSpPr>
        <p:spPr bwMode="auto">
          <a:xfrm>
            <a:off x="177800" y="2333625"/>
            <a:ext cx="20764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All other iterations:</a:t>
            </a:r>
            <a:endParaRPr lang="en-GB" sz="1800">
              <a:latin typeface="Arial" charset="0"/>
            </a:endParaRPr>
          </a:p>
        </p:txBody>
      </p:sp>
      <p:sp>
        <p:nvSpPr>
          <p:cNvPr id="1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1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2"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72</a:t>
            </a:fld>
            <a:endParaRPr lang="en-US" dirty="0">
              <a:solidFill>
                <a:prstClr val="white">
                  <a:lumMod val="65000"/>
                </a:prstClr>
              </a:solidFill>
              <a:ea typeface="+mn-ea"/>
            </a:endParaRPr>
          </a:p>
        </p:txBody>
      </p:sp>
    </p:spTree>
    <p:extLst>
      <p:ext uri="{BB962C8B-B14F-4D97-AF65-F5344CB8AC3E}">
        <p14:creationId xmlns:p14="http://schemas.microsoft.com/office/powerpoint/2010/main" val="16320812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8" name="Rectangle 1047"/>
          <p:cNvSpPr>
            <a:spLocks noChangeArrowheads="1"/>
          </p:cNvSpPr>
          <p:nvPr/>
        </p:nvSpPr>
        <p:spPr bwMode="auto">
          <a:xfrm>
            <a:off x="768350" y="1196975"/>
            <a:ext cx="393700" cy="417513"/>
          </a:xfrm>
          <a:prstGeom prst="rect">
            <a:avLst/>
          </a:prstGeom>
          <a:solidFill>
            <a:srgbClr val="FFCC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64519" name="Rectangle 1046"/>
          <p:cNvSpPr>
            <a:spLocks noChangeArrowheads="1"/>
          </p:cNvSpPr>
          <p:nvPr/>
        </p:nvSpPr>
        <p:spPr bwMode="auto">
          <a:xfrm>
            <a:off x="1868488" y="1665288"/>
            <a:ext cx="263525" cy="325437"/>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64520" name="Rectangle 1045"/>
          <p:cNvSpPr>
            <a:spLocks noChangeArrowheads="1"/>
          </p:cNvSpPr>
          <p:nvPr/>
        </p:nvSpPr>
        <p:spPr bwMode="auto">
          <a:xfrm>
            <a:off x="6240463" y="2087563"/>
            <a:ext cx="263525" cy="325437"/>
          </a:xfrm>
          <a:prstGeom prst="rect">
            <a:avLst/>
          </a:prstGeom>
          <a:solidFill>
            <a:srgbClr val="FFFF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64521" name="Text Box 1026"/>
          <p:cNvSpPr txBox="1">
            <a:spLocks noChangeArrowheads="1"/>
          </p:cNvSpPr>
          <p:nvPr/>
        </p:nvSpPr>
        <p:spPr bwMode="auto">
          <a:xfrm>
            <a:off x="639763" y="366713"/>
            <a:ext cx="6816725" cy="579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3200" dirty="0">
                <a:solidFill>
                  <a:srgbClr val="FF0066"/>
                </a:solidFill>
                <a:latin typeface="Arial" charset="0"/>
              </a:rPr>
              <a:t>Spatial Limiting of </a:t>
            </a:r>
            <a:r>
              <a:rPr lang="en-US" sz="3200" dirty="0" err="1">
                <a:solidFill>
                  <a:srgbClr val="FF0066"/>
                </a:solidFill>
                <a:latin typeface="Arial" charset="0"/>
              </a:rPr>
              <a:t>Advected</a:t>
            </a:r>
            <a:r>
              <a:rPr lang="en-US" sz="3200" dirty="0">
                <a:solidFill>
                  <a:srgbClr val="FF0066"/>
                </a:solidFill>
                <a:latin typeface="Arial" charset="0"/>
              </a:rPr>
              <a:t> Quantity</a:t>
            </a:r>
            <a:endParaRPr lang="en-GB" sz="3200" dirty="0">
              <a:solidFill>
                <a:srgbClr val="FF0066"/>
              </a:solidFill>
              <a:latin typeface="Arial" charset="0"/>
            </a:endParaRPr>
          </a:p>
        </p:txBody>
      </p:sp>
      <p:graphicFrame>
        <p:nvGraphicFramePr>
          <p:cNvPr id="64514" name="Object 2"/>
          <p:cNvGraphicFramePr>
            <a:graphicFrameLocks noChangeAspect="1"/>
          </p:cNvGraphicFramePr>
          <p:nvPr/>
        </p:nvGraphicFramePr>
        <p:xfrm>
          <a:off x="795338" y="1241425"/>
          <a:ext cx="4405312" cy="3465513"/>
        </p:xfrm>
        <a:graphic>
          <a:graphicData uri="http://schemas.openxmlformats.org/presentationml/2006/ole">
            <mc:AlternateContent xmlns:mc="http://schemas.openxmlformats.org/markup-compatibility/2006">
              <mc:Choice xmlns:v="urn:schemas-microsoft-com:vml" Requires="v">
                <p:oleObj spid="_x0000_s22275" name="Equation" r:id="rId4" imgW="2819160" imgH="2222280" progId="Equation.3">
                  <p:embed/>
                </p:oleObj>
              </mc:Choice>
              <mc:Fallback>
                <p:oleObj name="Equation" r:id="rId4" imgW="2819160" imgH="22222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338" y="1241425"/>
                        <a:ext cx="4405312" cy="34655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4522" name="Text Box 1028"/>
          <p:cNvSpPr txBox="1">
            <a:spLocks noChangeArrowheads="1"/>
          </p:cNvSpPr>
          <p:nvPr/>
        </p:nvSpPr>
        <p:spPr bwMode="auto">
          <a:xfrm>
            <a:off x="947738" y="5067300"/>
            <a:ext cx="4064000" cy="119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err="1">
                <a:latin typeface="Arial" charset="0"/>
                <a:sym typeface="Symbol" charset="0"/>
              </a:rPr>
              <a:t>ψ</a:t>
            </a:r>
            <a:r>
              <a:rPr lang="en-US" sz="1800" baseline="-25000" dirty="0" err="1">
                <a:latin typeface="Arial" charset="0"/>
              </a:rPr>
              <a:t>min</a:t>
            </a:r>
            <a:r>
              <a:rPr lang="en-US" sz="1800" dirty="0">
                <a:latin typeface="Arial" charset="0"/>
              </a:rPr>
              <a:t> and </a:t>
            </a:r>
            <a:r>
              <a:rPr lang="en-US" sz="1800" dirty="0" err="1">
                <a:latin typeface="Arial" charset="0"/>
                <a:sym typeface="Symbol" charset="0"/>
              </a:rPr>
              <a:t>ψ</a:t>
            </a:r>
            <a:r>
              <a:rPr lang="en-US" sz="1800" baseline="-25000" dirty="0" err="1">
                <a:latin typeface="Arial" charset="0"/>
              </a:rPr>
              <a:t>max</a:t>
            </a:r>
            <a:r>
              <a:rPr lang="en-US" sz="1800" dirty="0">
                <a:latin typeface="Arial" charset="0"/>
              </a:rPr>
              <a:t> refer to minimum and maximum values of </a:t>
            </a:r>
            <a:r>
              <a:rPr lang="en-US" sz="1800" dirty="0" err="1">
                <a:latin typeface="Arial" charset="0"/>
              </a:rPr>
              <a:t>advected</a:t>
            </a:r>
            <a:r>
              <a:rPr lang="en-US" sz="1800" dirty="0">
                <a:latin typeface="Arial" charset="0"/>
              </a:rPr>
              <a:t> property at upstream FV and its immediate neighbor cells.</a:t>
            </a:r>
            <a:endParaRPr lang="en-GB" sz="1800" dirty="0">
              <a:latin typeface="Arial" charset="0"/>
            </a:endParaRPr>
          </a:p>
        </p:txBody>
      </p:sp>
      <p:grpSp>
        <p:nvGrpSpPr>
          <p:cNvPr id="64523" name="Group 1029"/>
          <p:cNvGrpSpPr>
            <a:grpSpLocks/>
          </p:cNvGrpSpPr>
          <p:nvPr/>
        </p:nvGrpSpPr>
        <p:grpSpPr bwMode="auto">
          <a:xfrm>
            <a:off x="5434013" y="3184525"/>
            <a:ext cx="3211512" cy="3282950"/>
            <a:chOff x="3278" y="1746"/>
            <a:chExt cx="2023" cy="2068"/>
          </a:xfrm>
        </p:grpSpPr>
        <p:sp>
          <p:nvSpPr>
            <p:cNvPr id="64524" name="Rectangle 1030"/>
            <p:cNvSpPr>
              <a:spLocks noChangeArrowheads="1"/>
            </p:cNvSpPr>
            <p:nvPr/>
          </p:nvSpPr>
          <p:spPr bwMode="auto">
            <a:xfrm>
              <a:off x="3842" y="1982"/>
              <a:ext cx="1459" cy="1386"/>
            </a:xfrm>
            <a:prstGeom prst="rect">
              <a:avLst/>
            </a:prstGeom>
            <a:solidFill>
              <a:schemeClr val="accent1"/>
            </a:solidFill>
            <a:ln w="19050">
              <a:solidFill>
                <a:schemeClr val="tx1"/>
              </a:solidFill>
              <a:miter lim="800000"/>
              <a:headEnd/>
              <a:tailEnd/>
            </a:ln>
          </p:spPr>
          <p:txBody>
            <a:bodyPr wrap="none" anchor="ctr"/>
            <a:lstStyle/>
            <a:p>
              <a:endParaRPr lang="en-US"/>
            </a:p>
          </p:txBody>
        </p:sp>
        <p:sp>
          <p:nvSpPr>
            <p:cNvPr id="64525" name="Line 1031"/>
            <p:cNvSpPr>
              <a:spLocks noChangeShapeType="1"/>
            </p:cNvSpPr>
            <p:nvPr/>
          </p:nvSpPr>
          <p:spPr bwMode="auto">
            <a:xfrm>
              <a:off x="4257" y="1977"/>
              <a:ext cx="0" cy="1450"/>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64526" name="Line 1032"/>
            <p:cNvSpPr>
              <a:spLocks noChangeShapeType="1"/>
            </p:cNvSpPr>
            <p:nvPr/>
          </p:nvSpPr>
          <p:spPr bwMode="auto">
            <a:xfrm>
              <a:off x="4866" y="1980"/>
              <a:ext cx="0" cy="1450"/>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64527" name="Line 1033"/>
            <p:cNvSpPr>
              <a:spLocks noChangeShapeType="1"/>
            </p:cNvSpPr>
            <p:nvPr/>
          </p:nvSpPr>
          <p:spPr bwMode="auto">
            <a:xfrm flipH="1">
              <a:off x="3842" y="1982"/>
              <a:ext cx="1454" cy="1381"/>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64528" name="Freeform 1034"/>
            <p:cNvSpPr>
              <a:spLocks/>
            </p:cNvSpPr>
            <p:nvPr/>
          </p:nvSpPr>
          <p:spPr bwMode="auto">
            <a:xfrm>
              <a:off x="4257" y="2397"/>
              <a:ext cx="610" cy="576"/>
            </a:xfrm>
            <a:custGeom>
              <a:avLst/>
              <a:gdLst>
                <a:gd name="T0" fmla="*/ 0 w 610"/>
                <a:gd name="T1" fmla="*/ 576 h 576"/>
                <a:gd name="T2" fmla="*/ 610 w 610"/>
                <a:gd name="T3" fmla="*/ 576 h 576"/>
                <a:gd name="T4" fmla="*/ 610 w 610"/>
                <a:gd name="T5" fmla="*/ 0 h 576"/>
                <a:gd name="T6" fmla="*/ 268 w 610"/>
                <a:gd name="T7" fmla="*/ 0 h 576"/>
                <a:gd name="T8" fmla="*/ 0 w 610"/>
                <a:gd name="T9" fmla="*/ 576 h 576"/>
                <a:gd name="T10" fmla="*/ 0 60000 65536"/>
                <a:gd name="T11" fmla="*/ 0 60000 65536"/>
                <a:gd name="T12" fmla="*/ 0 60000 65536"/>
                <a:gd name="T13" fmla="*/ 0 60000 65536"/>
                <a:gd name="T14" fmla="*/ 0 60000 65536"/>
                <a:gd name="T15" fmla="*/ 0 w 610"/>
                <a:gd name="T16" fmla="*/ 0 h 576"/>
                <a:gd name="T17" fmla="*/ 610 w 610"/>
                <a:gd name="T18" fmla="*/ 576 h 576"/>
              </a:gdLst>
              <a:ahLst/>
              <a:cxnLst>
                <a:cxn ang="T10">
                  <a:pos x="T0" y="T1"/>
                </a:cxn>
                <a:cxn ang="T11">
                  <a:pos x="T2" y="T3"/>
                </a:cxn>
                <a:cxn ang="T12">
                  <a:pos x="T4" y="T5"/>
                </a:cxn>
                <a:cxn ang="T13">
                  <a:pos x="T6" y="T7"/>
                </a:cxn>
                <a:cxn ang="T14">
                  <a:pos x="T8" y="T9"/>
                </a:cxn>
              </a:cxnLst>
              <a:rect l="T15" t="T16" r="T17" b="T18"/>
              <a:pathLst>
                <a:path w="610" h="576">
                  <a:moveTo>
                    <a:pt x="0" y="576"/>
                  </a:moveTo>
                  <a:lnTo>
                    <a:pt x="610" y="576"/>
                  </a:lnTo>
                  <a:lnTo>
                    <a:pt x="610" y="0"/>
                  </a:lnTo>
                  <a:lnTo>
                    <a:pt x="268" y="0"/>
                  </a:lnTo>
                  <a:lnTo>
                    <a:pt x="0" y="576"/>
                  </a:lnTo>
                  <a:close/>
                </a:path>
              </a:pathLst>
            </a:custGeom>
            <a:solidFill>
              <a:schemeClr val="tx1"/>
            </a:solidFill>
            <a:ln w="9525">
              <a:solidFill>
                <a:schemeClr val="tx1"/>
              </a:solidFill>
              <a:miter lim="800000"/>
              <a:headEnd/>
              <a:tailEnd/>
            </a:ln>
          </p:spPr>
          <p:txBody>
            <a:bodyPr wrap="none"/>
            <a:lstStyle/>
            <a:p>
              <a:endParaRPr lang="en-US"/>
            </a:p>
          </p:txBody>
        </p:sp>
        <p:sp>
          <p:nvSpPr>
            <p:cNvPr id="64529" name="Line 1035"/>
            <p:cNvSpPr>
              <a:spLocks noChangeShapeType="1"/>
            </p:cNvSpPr>
            <p:nvPr/>
          </p:nvSpPr>
          <p:spPr bwMode="auto">
            <a:xfrm flipH="1">
              <a:off x="3778" y="2402"/>
              <a:ext cx="1089" cy="0"/>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64530" name="Line 1036"/>
            <p:cNvSpPr>
              <a:spLocks noChangeShapeType="1"/>
            </p:cNvSpPr>
            <p:nvPr/>
          </p:nvSpPr>
          <p:spPr bwMode="auto">
            <a:xfrm flipH="1">
              <a:off x="3777" y="2972"/>
              <a:ext cx="1089" cy="0"/>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64531" name="Text Box 1037"/>
            <p:cNvSpPr txBox="1">
              <a:spLocks noChangeArrowheads="1"/>
            </p:cNvSpPr>
            <p:nvPr/>
          </p:nvSpPr>
          <p:spPr bwMode="auto">
            <a:xfrm>
              <a:off x="4081" y="3378"/>
              <a:ext cx="35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0.0</a:t>
              </a:r>
              <a:endParaRPr lang="en-GB" sz="1800"/>
            </a:p>
          </p:txBody>
        </p:sp>
        <p:sp>
          <p:nvSpPr>
            <p:cNvPr id="64532" name="Text Box 1038"/>
            <p:cNvSpPr txBox="1">
              <a:spLocks noChangeArrowheads="1"/>
            </p:cNvSpPr>
            <p:nvPr/>
          </p:nvSpPr>
          <p:spPr bwMode="auto">
            <a:xfrm>
              <a:off x="4690" y="3373"/>
              <a:ext cx="35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1.0</a:t>
              </a:r>
              <a:endParaRPr lang="en-GB" sz="1800"/>
            </a:p>
          </p:txBody>
        </p:sp>
        <p:sp>
          <p:nvSpPr>
            <p:cNvPr id="64533" name="Text Box 1039"/>
            <p:cNvSpPr txBox="1">
              <a:spLocks noChangeArrowheads="1"/>
            </p:cNvSpPr>
            <p:nvPr/>
          </p:nvSpPr>
          <p:spPr bwMode="auto">
            <a:xfrm>
              <a:off x="3455" y="2854"/>
              <a:ext cx="35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0.0</a:t>
              </a:r>
              <a:endParaRPr lang="en-GB" sz="1800"/>
            </a:p>
          </p:txBody>
        </p:sp>
        <p:sp>
          <p:nvSpPr>
            <p:cNvPr id="64534" name="Text Box 1040"/>
            <p:cNvSpPr txBox="1">
              <a:spLocks noChangeArrowheads="1"/>
            </p:cNvSpPr>
            <p:nvPr/>
          </p:nvSpPr>
          <p:spPr bwMode="auto">
            <a:xfrm>
              <a:off x="3459" y="2283"/>
              <a:ext cx="352"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1.0</a:t>
              </a:r>
              <a:endParaRPr lang="en-GB" sz="1800"/>
            </a:p>
          </p:txBody>
        </p:sp>
        <p:sp>
          <p:nvSpPr>
            <p:cNvPr id="64535" name="Text Box 1041"/>
            <p:cNvSpPr txBox="1">
              <a:spLocks noChangeArrowheads="1"/>
            </p:cNvSpPr>
            <p:nvPr/>
          </p:nvSpPr>
          <p:spPr bwMode="auto">
            <a:xfrm>
              <a:off x="4013" y="1746"/>
              <a:ext cx="1098" cy="2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NVD Diagram</a:t>
              </a:r>
              <a:endParaRPr lang="en-GB" sz="1800"/>
            </a:p>
          </p:txBody>
        </p:sp>
        <p:graphicFrame>
          <p:nvGraphicFramePr>
            <p:cNvPr id="64516" name="Object 4"/>
            <p:cNvGraphicFramePr>
              <a:graphicFrameLocks noChangeAspect="1"/>
            </p:cNvGraphicFramePr>
            <p:nvPr/>
          </p:nvGraphicFramePr>
          <p:xfrm>
            <a:off x="4448" y="3453"/>
            <a:ext cx="322" cy="361"/>
          </p:xfrm>
          <a:graphic>
            <a:graphicData uri="http://schemas.openxmlformats.org/presentationml/2006/ole">
              <mc:AlternateContent xmlns:mc="http://schemas.openxmlformats.org/markup-compatibility/2006">
                <mc:Choice xmlns:v="urn:schemas-microsoft-com:vml" Requires="v">
                  <p:oleObj spid="_x0000_s22276" name="Equation" r:id="rId6" imgW="203040" imgH="228600" progId="Equation.3">
                    <p:embed/>
                  </p:oleObj>
                </mc:Choice>
                <mc:Fallback>
                  <p:oleObj name="Equation" r:id="rId6" imgW="203040" imgH="228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48" y="3453"/>
                          <a:ext cx="322" cy="36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4517" name="Object 5"/>
            <p:cNvGraphicFramePr>
              <a:graphicFrameLocks noChangeAspect="1"/>
            </p:cNvGraphicFramePr>
            <p:nvPr/>
          </p:nvGraphicFramePr>
          <p:xfrm>
            <a:off x="3278" y="2510"/>
            <a:ext cx="342" cy="401"/>
          </p:xfrm>
          <a:graphic>
            <a:graphicData uri="http://schemas.openxmlformats.org/presentationml/2006/ole">
              <mc:AlternateContent xmlns:mc="http://schemas.openxmlformats.org/markup-compatibility/2006">
                <mc:Choice xmlns:v="urn:schemas-microsoft-com:vml" Requires="v">
                  <p:oleObj spid="_x0000_s22277" name="Equation" r:id="rId8" imgW="215640" imgH="253800" progId="Equation.DSMT4">
                    <p:embed/>
                  </p:oleObj>
                </mc:Choice>
                <mc:Fallback>
                  <p:oleObj name="Equation" r:id="rId8" imgW="215640" imgH="2538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 y="2510"/>
                          <a:ext cx="342" cy="4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pic>
        <p:nvPicPr>
          <p:cNvPr id="2" name="Picture 1"/>
          <p:cNvPicPr>
            <a:picLocks noChangeAspect="1"/>
          </p:cNvPicPr>
          <p:nvPr/>
        </p:nvPicPr>
        <p:blipFill>
          <a:blip r:embed="rId10"/>
          <a:stretch>
            <a:fillRect/>
          </a:stretch>
        </p:blipFill>
        <p:spPr>
          <a:xfrm rot="10800000">
            <a:off x="6252585" y="1665531"/>
            <a:ext cx="2374900" cy="1130300"/>
          </a:xfrm>
          <a:prstGeom prst="rect">
            <a:avLst/>
          </a:prstGeom>
        </p:spPr>
      </p:pic>
      <p:sp>
        <p:nvSpPr>
          <p:cNvPr id="24"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25"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26"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73</a:t>
            </a:fld>
            <a:endParaRPr lang="en-US" dirty="0">
              <a:solidFill>
                <a:prstClr val="white">
                  <a:lumMod val="65000"/>
                </a:prstClr>
              </a:solidFill>
              <a:ea typeface="+mn-ea"/>
            </a:endParaRPr>
          </a:p>
        </p:txBody>
      </p:sp>
    </p:spTree>
    <p:extLst>
      <p:ext uri="{BB962C8B-B14F-4D97-AF65-F5344CB8AC3E}">
        <p14:creationId xmlns:p14="http://schemas.microsoft.com/office/powerpoint/2010/main" val="8370555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7"/>
          <p:cNvSpPr>
            <a:spLocks noChangeArrowheads="1"/>
          </p:cNvSpPr>
          <p:nvPr/>
        </p:nvSpPr>
        <p:spPr bwMode="auto">
          <a:xfrm>
            <a:off x="803275" y="1512888"/>
            <a:ext cx="384175" cy="384175"/>
          </a:xfrm>
          <a:prstGeom prst="rect">
            <a:avLst/>
          </a:prstGeom>
          <a:solidFill>
            <a:srgbClr val="FFCC00"/>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en-US"/>
          </a:p>
        </p:txBody>
      </p:sp>
      <p:sp>
        <p:nvSpPr>
          <p:cNvPr id="66565" name="Rectangle 2"/>
          <p:cNvSpPr>
            <a:spLocks noGrp="1" noChangeArrowheads="1"/>
          </p:cNvSpPr>
          <p:nvPr>
            <p:ph type="title"/>
          </p:nvPr>
        </p:nvSpPr>
        <p:spPr>
          <a:xfrm>
            <a:off x="400050" y="319088"/>
            <a:ext cx="8153400" cy="519112"/>
          </a:xfrm>
        </p:spPr>
        <p:txBody>
          <a:bodyPr/>
          <a:lstStyle/>
          <a:p>
            <a:pPr algn="ctr" eaLnBrk="1" hangingPunct="1"/>
            <a:r>
              <a:rPr lang="en-US" sz="2800">
                <a:latin typeface="Arial" charset="0"/>
              </a:rPr>
              <a:t>Theta Time Differencing</a:t>
            </a:r>
            <a:endParaRPr lang="en-GB" sz="2800">
              <a:latin typeface="Arial" charset="0"/>
            </a:endParaRPr>
          </a:p>
        </p:txBody>
      </p:sp>
      <p:graphicFrame>
        <p:nvGraphicFramePr>
          <p:cNvPr id="66562" name="Object 2"/>
          <p:cNvGraphicFramePr>
            <a:graphicFrameLocks noChangeAspect="1"/>
          </p:cNvGraphicFramePr>
          <p:nvPr/>
        </p:nvGraphicFramePr>
        <p:xfrm>
          <a:off x="817563" y="1085850"/>
          <a:ext cx="5461000" cy="5187950"/>
        </p:xfrm>
        <a:graphic>
          <a:graphicData uri="http://schemas.openxmlformats.org/presentationml/2006/ole">
            <mc:AlternateContent xmlns:mc="http://schemas.openxmlformats.org/markup-compatibility/2006">
              <mc:Choice xmlns:v="urn:schemas-microsoft-com:vml" Requires="v">
                <p:oleObj spid="_x0000_s24071" name="Equation" r:id="rId4" imgW="3149280" imgH="2997000" progId="Equation.3">
                  <p:embed/>
                </p:oleObj>
              </mc:Choice>
              <mc:Fallback>
                <p:oleObj name="Equation" r:id="rId4" imgW="3149280" imgH="2997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563" y="1085850"/>
                        <a:ext cx="5461000" cy="51879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6563" name="Object 3"/>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24072" name="Equation" r:id="rId6" imgW="114120" imgH="215640" progId="Equation.DSMT4">
                  <p:embed/>
                </p:oleObj>
              </mc:Choice>
              <mc:Fallback>
                <p:oleObj name="Equation" r:id="rId6" imgW="114120" imgH="2156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6566" name="Text Box 6"/>
          <p:cNvSpPr txBox="1">
            <a:spLocks noChangeArrowheads="1"/>
          </p:cNvSpPr>
          <p:nvPr/>
        </p:nvSpPr>
        <p:spPr bwMode="auto">
          <a:xfrm>
            <a:off x="6286500" y="1577975"/>
            <a:ext cx="2133600" cy="1371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a:t>Idea</a:t>
            </a:r>
          </a:p>
          <a:p>
            <a:pPr eaLnBrk="1" hangingPunct="1"/>
            <a:r>
              <a:rPr lang="en-US" i="1">
                <a:sym typeface="Symbol" charset="0"/>
              </a:rPr>
              <a:t>θ</a:t>
            </a:r>
            <a:r>
              <a:rPr lang="en-US" sz="1800"/>
              <a:t>should be</a:t>
            </a:r>
          </a:p>
          <a:p>
            <a:pPr eaLnBrk="1" hangingPunct="1"/>
            <a:r>
              <a:rPr lang="en-US" sz="1800"/>
              <a:t>as close to ½ as </a:t>
            </a:r>
          </a:p>
          <a:p>
            <a:pPr eaLnBrk="1" hangingPunct="1"/>
            <a:r>
              <a:rPr lang="en-US" sz="1800"/>
              <a:t>possible </a:t>
            </a:r>
            <a:endParaRPr lang="en-GB" sz="1800"/>
          </a:p>
        </p:txBody>
      </p:sp>
      <p:sp>
        <p:nvSpPr>
          <p:cNvPr id="7"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8"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9"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74</a:t>
            </a:fld>
            <a:endParaRPr lang="en-US" dirty="0">
              <a:solidFill>
                <a:prstClr val="white">
                  <a:lumMod val="65000"/>
                </a:prstClr>
              </a:solidFill>
              <a:ea typeface="+mn-ea"/>
            </a:endParaRPr>
          </a:p>
        </p:txBody>
      </p:sp>
    </p:spTree>
    <p:extLst>
      <p:ext uri="{BB962C8B-B14F-4D97-AF65-F5344CB8AC3E}">
        <p14:creationId xmlns:p14="http://schemas.microsoft.com/office/powerpoint/2010/main" val="60900785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1026"/>
          <p:cNvSpPr>
            <a:spLocks noGrp="1" noChangeArrowheads="1"/>
          </p:cNvSpPr>
          <p:nvPr>
            <p:ph type="title"/>
          </p:nvPr>
        </p:nvSpPr>
        <p:spPr>
          <a:xfrm>
            <a:off x="631825" y="885825"/>
            <a:ext cx="7605713" cy="822325"/>
          </a:xfrm>
        </p:spPr>
        <p:txBody>
          <a:bodyPr>
            <a:normAutofit fontScale="90000"/>
          </a:bodyPr>
          <a:lstStyle/>
          <a:p>
            <a:pPr algn="ctr" eaLnBrk="1" hangingPunct="1"/>
            <a:r>
              <a:rPr lang="en-US" sz="2400">
                <a:latin typeface="Arial" charset="0"/>
              </a:rPr>
              <a:t>Averting Divergence-Related Negative Contributions to Solution Matrix</a:t>
            </a:r>
            <a:endParaRPr lang="en-GB" sz="2400">
              <a:latin typeface="Arial" charset="0"/>
            </a:endParaRPr>
          </a:p>
        </p:txBody>
      </p:sp>
      <p:graphicFrame>
        <p:nvGraphicFramePr>
          <p:cNvPr id="68610" name="Object 2"/>
          <p:cNvGraphicFramePr>
            <a:graphicFrameLocks noChangeAspect="1"/>
          </p:cNvGraphicFramePr>
          <p:nvPr/>
        </p:nvGraphicFramePr>
        <p:xfrm>
          <a:off x="622300" y="2006600"/>
          <a:ext cx="7899400" cy="3411538"/>
        </p:xfrm>
        <a:graphic>
          <a:graphicData uri="http://schemas.openxmlformats.org/presentationml/2006/ole">
            <mc:AlternateContent xmlns:mc="http://schemas.openxmlformats.org/markup-compatibility/2006">
              <mc:Choice xmlns:v="urn:schemas-microsoft-com:vml" Requires="v">
                <p:oleObj spid="_x0000_s25867" name="Equation" r:id="rId4" imgW="4292280" imgH="1854000" progId="Equation.DSMT4">
                  <p:embed/>
                </p:oleObj>
              </mc:Choice>
              <mc:Fallback>
                <p:oleObj name="Equation" r:id="rId4" imgW="4292280" imgH="18540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 y="2006600"/>
                        <a:ext cx="7899400" cy="34115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8612" name="Text Box 1028"/>
          <p:cNvSpPr txBox="1">
            <a:spLocks noChangeArrowheads="1"/>
          </p:cNvSpPr>
          <p:nvPr/>
        </p:nvSpPr>
        <p:spPr bwMode="auto">
          <a:xfrm>
            <a:off x="1912938" y="5722938"/>
            <a:ext cx="5932487"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t>Sigma is only used to calculate the omega value !</a:t>
            </a:r>
            <a:endParaRPr lang="en-GB" sz="1800"/>
          </a:p>
        </p:txBody>
      </p:sp>
      <p:pic>
        <p:nvPicPr>
          <p:cNvPr id="68613" name="Picture 1029" descr="omega-balan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6038" y="3003550"/>
            <a:ext cx="3349625" cy="2486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7"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8"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75</a:t>
            </a:fld>
            <a:endParaRPr lang="en-US" dirty="0">
              <a:solidFill>
                <a:prstClr val="white">
                  <a:lumMod val="65000"/>
                </a:prstClr>
              </a:solidFill>
              <a:ea typeface="+mn-ea"/>
            </a:endParaRPr>
          </a:p>
        </p:txBody>
      </p:sp>
    </p:spTree>
    <p:extLst>
      <p:ext uri="{BB962C8B-B14F-4D97-AF65-F5344CB8AC3E}">
        <p14:creationId xmlns:p14="http://schemas.microsoft.com/office/powerpoint/2010/main" val="33851365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Freeform 24"/>
          <p:cNvSpPr>
            <a:spLocks/>
          </p:cNvSpPr>
          <p:nvPr/>
        </p:nvSpPr>
        <p:spPr bwMode="auto">
          <a:xfrm>
            <a:off x="5353050" y="4487863"/>
            <a:ext cx="2876550" cy="1187450"/>
          </a:xfrm>
          <a:custGeom>
            <a:avLst/>
            <a:gdLst>
              <a:gd name="T0" fmla="*/ 0 w 1812"/>
              <a:gd name="T1" fmla="*/ 0 h 748"/>
              <a:gd name="T2" fmla="*/ 264 w 1812"/>
              <a:gd name="T3" fmla="*/ 0 h 748"/>
              <a:gd name="T4" fmla="*/ 264 w 1812"/>
              <a:gd name="T5" fmla="*/ 211 h 748"/>
              <a:gd name="T6" fmla="*/ 774 w 1812"/>
              <a:gd name="T7" fmla="*/ 211 h 748"/>
              <a:gd name="T8" fmla="*/ 779 w 1812"/>
              <a:gd name="T9" fmla="*/ 594 h 748"/>
              <a:gd name="T10" fmla="*/ 1161 w 1812"/>
              <a:gd name="T11" fmla="*/ 594 h 748"/>
              <a:gd name="T12" fmla="*/ 1157 w 1812"/>
              <a:gd name="T13" fmla="*/ 748 h 748"/>
              <a:gd name="T14" fmla="*/ 1812 w 1812"/>
              <a:gd name="T15" fmla="*/ 739 h 748"/>
              <a:gd name="T16" fmla="*/ 0 60000 65536"/>
              <a:gd name="T17" fmla="*/ 0 60000 65536"/>
              <a:gd name="T18" fmla="*/ 0 60000 65536"/>
              <a:gd name="T19" fmla="*/ 0 60000 65536"/>
              <a:gd name="T20" fmla="*/ 0 60000 65536"/>
              <a:gd name="T21" fmla="*/ 0 60000 65536"/>
              <a:gd name="T22" fmla="*/ 0 60000 65536"/>
              <a:gd name="T23" fmla="*/ 0 60000 65536"/>
              <a:gd name="T24" fmla="*/ 0 w 1812"/>
              <a:gd name="T25" fmla="*/ 0 h 748"/>
              <a:gd name="T26" fmla="*/ 1812 w 1812"/>
              <a:gd name="T27" fmla="*/ 748 h 7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12" h="748">
                <a:moveTo>
                  <a:pt x="0" y="0"/>
                </a:moveTo>
                <a:lnTo>
                  <a:pt x="264" y="0"/>
                </a:lnTo>
                <a:lnTo>
                  <a:pt x="264" y="211"/>
                </a:lnTo>
                <a:lnTo>
                  <a:pt x="774" y="211"/>
                </a:lnTo>
                <a:lnTo>
                  <a:pt x="779" y="594"/>
                </a:lnTo>
                <a:lnTo>
                  <a:pt x="1161" y="594"/>
                </a:lnTo>
                <a:lnTo>
                  <a:pt x="1157" y="748"/>
                </a:lnTo>
                <a:lnTo>
                  <a:pt x="1812" y="739"/>
                </a:lnTo>
              </a:path>
            </a:pathLst>
          </a:custGeom>
          <a:noFill/>
          <a:ln w="1905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a:p>
        </p:txBody>
      </p:sp>
      <p:sp>
        <p:nvSpPr>
          <p:cNvPr id="56326" name="Rectangle 2"/>
          <p:cNvSpPr>
            <a:spLocks noGrp="1" noChangeArrowheads="1"/>
          </p:cNvSpPr>
          <p:nvPr>
            <p:ph type="title"/>
          </p:nvPr>
        </p:nvSpPr>
        <p:spPr>
          <a:xfrm>
            <a:off x="0" y="220663"/>
            <a:ext cx="9144000" cy="396875"/>
          </a:xfrm>
        </p:spPr>
        <p:txBody>
          <a:bodyPr>
            <a:noAutofit/>
          </a:bodyPr>
          <a:lstStyle/>
          <a:p>
            <a:pPr algn="ctr" eaLnBrk="1" hangingPunct="1"/>
            <a:r>
              <a:rPr lang="en-US" sz="2400" dirty="0" err="1">
                <a:latin typeface="Arial" charset="0"/>
              </a:rPr>
              <a:t>Bijective</a:t>
            </a:r>
            <a:r>
              <a:rPr lang="en-US" sz="2400" dirty="0">
                <a:latin typeface="Arial" charset="0"/>
              </a:rPr>
              <a:t>-Mapping between FV &amp; FEM </a:t>
            </a:r>
            <a:r>
              <a:rPr lang="en-US" sz="2400" dirty="0" err="1">
                <a:latin typeface="Arial" charset="0"/>
              </a:rPr>
              <a:t>Discretisation</a:t>
            </a:r>
            <a:endParaRPr lang="en-US" sz="2400" dirty="0">
              <a:latin typeface="Arial" charset="0"/>
            </a:endParaRPr>
          </a:p>
        </p:txBody>
      </p:sp>
      <p:graphicFrame>
        <p:nvGraphicFramePr>
          <p:cNvPr id="56322" name="Object 2"/>
          <p:cNvGraphicFramePr>
            <a:graphicFrameLocks noChangeAspect="1"/>
          </p:cNvGraphicFramePr>
          <p:nvPr/>
        </p:nvGraphicFramePr>
        <p:xfrm>
          <a:off x="749300" y="2447925"/>
          <a:ext cx="7351713" cy="579438"/>
        </p:xfrm>
        <a:graphic>
          <a:graphicData uri="http://schemas.openxmlformats.org/presentationml/2006/ole">
            <mc:AlternateContent xmlns:mc="http://schemas.openxmlformats.org/markup-compatibility/2006">
              <mc:Choice xmlns:v="urn:schemas-microsoft-com:vml" Requires="v">
                <p:oleObj spid="_x0000_s28419" name="Equation" r:id="rId4" imgW="5143320" imgH="406080" progId="Equation.3">
                  <p:embed/>
                </p:oleObj>
              </mc:Choice>
              <mc:Fallback>
                <p:oleObj name="Equation" r:id="rId4" imgW="5143320" imgH="4060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300" y="2447925"/>
                        <a:ext cx="7351713" cy="5794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6323" name="Object 3"/>
          <p:cNvGraphicFramePr>
            <a:graphicFrameLocks noChangeAspect="1"/>
          </p:cNvGraphicFramePr>
          <p:nvPr/>
        </p:nvGraphicFramePr>
        <p:xfrm>
          <a:off x="1128713" y="3086100"/>
          <a:ext cx="2984500" cy="3243263"/>
        </p:xfrm>
        <a:graphic>
          <a:graphicData uri="http://schemas.openxmlformats.org/presentationml/2006/ole">
            <mc:AlternateContent xmlns:mc="http://schemas.openxmlformats.org/markup-compatibility/2006">
              <mc:Choice xmlns:v="urn:schemas-microsoft-com:vml" Requires="v">
                <p:oleObj spid="_x0000_s28420" name="Equation" r:id="rId6" imgW="2031840" imgH="2209680" progId="Equation.3">
                  <p:embed/>
                </p:oleObj>
              </mc:Choice>
              <mc:Fallback>
                <p:oleObj name="Equation" r:id="rId6" imgW="2031840" imgH="22096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8713" y="3086100"/>
                        <a:ext cx="2984500" cy="32432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6324" name="Object 4"/>
          <p:cNvGraphicFramePr>
            <a:graphicFrameLocks noChangeAspect="1"/>
          </p:cNvGraphicFramePr>
          <p:nvPr/>
        </p:nvGraphicFramePr>
        <p:xfrm>
          <a:off x="1123950" y="704850"/>
          <a:ext cx="6064250" cy="1511300"/>
        </p:xfrm>
        <a:graphic>
          <a:graphicData uri="http://schemas.openxmlformats.org/presentationml/2006/ole">
            <mc:AlternateContent xmlns:mc="http://schemas.openxmlformats.org/markup-compatibility/2006">
              <mc:Choice xmlns:v="urn:schemas-microsoft-com:vml" Requires="v">
                <p:oleObj spid="_x0000_s28421" name="Equation" r:id="rId8" imgW="3771720" imgH="939600" progId="Equation.DSMT4">
                  <p:embed/>
                </p:oleObj>
              </mc:Choice>
              <mc:Fallback>
                <p:oleObj name="Equation" r:id="rId8" imgW="3771720" imgH="939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3950" y="704850"/>
                        <a:ext cx="6064250" cy="15113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56327" name="Group 19"/>
          <p:cNvGrpSpPr>
            <a:grpSpLocks/>
          </p:cNvGrpSpPr>
          <p:nvPr/>
        </p:nvGrpSpPr>
        <p:grpSpPr bwMode="auto">
          <a:xfrm>
            <a:off x="5291138" y="4268788"/>
            <a:ext cx="2946400" cy="1857375"/>
            <a:chOff x="3359" y="2636"/>
            <a:chExt cx="1856" cy="1170"/>
          </a:xfrm>
        </p:grpSpPr>
        <p:sp>
          <p:nvSpPr>
            <p:cNvPr id="56333" name="Line 13"/>
            <p:cNvSpPr>
              <a:spLocks noChangeShapeType="1"/>
            </p:cNvSpPr>
            <p:nvPr/>
          </p:nvSpPr>
          <p:spPr bwMode="auto">
            <a:xfrm flipV="1">
              <a:off x="3394" y="2636"/>
              <a:ext cx="0" cy="117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56334" name="Line 7"/>
            <p:cNvSpPr>
              <a:spLocks noChangeShapeType="1"/>
            </p:cNvSpPr>
            <p:nvPr/>
          </p:nvSpPr>
          <p:spPr bwMode="auto">
            <a:xfrm>
              <a:off x="3377" y="3518"/>
              <a:ext cx="1838" cy="0"/>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56335" name="Oval 8"/>
            <p:cNvSpPr>
              <a:spLocks noChangeArrowheads="1"/>
            </p:cNvSpPr>
            <p:nvPr/>
          </p:nvSpPr>
          <p:spPr bwMode="auto">
            <a:xfrm>
              <a:off x="3359" y="3478"/>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6" name="Oval 9"/>
            <p:cNvSpPr>
              <a:spLocks noChangeArrowheads="1"/>
            </p:cNvSpPr>
            <p:nvPr/>
          </p:nvSpPr>
          <p:spPr bwMode="auto">
            <a:xfrm>
              <a:off x="3908" y="3482"/>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7" name="Oval 10"/>
            <p:cNvSpPr>
              <a:spLocks noChangeArrowheads="1"/>
            </p:cNvSpPr>
            <p:nvPr/>
          </p:nvSpPr>
          <p:spPr bwMode="auto">
            <a:xfrm>
              <a:off x="4374" y="3481"/>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8" name="Oval 11"/>
            <p:cNvSpPr>
              <a:spLocks noChangeArrowheads="1"/>
            </p:cNvSpPr>
            <p:nvPr/>
          </p:nvSpPr>
          <p:spPr bwMode="auto">
            <a:xfrm>
              <a:off x="5018" y="3478"/>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39" name="Oval 12"/>
            <p:cNvSpPr>
              <a:spLocks noChangeArrowheads="1"/>
            </p:cNvSpPr>
            <p:nvPr/>
          </p:nvSpPr>
          <p:spPr bwMode="auto">
            <a:xfrm>
              <a:off x="4684" y="3481"/>
              <a:ext cx="71" cy="75"/>
            </a:xfrm>
            <a:prstGeom prst="ellipse">
              <a:avLst/>
            </a:prstGeom>
            <a:solidFill>
              <a:srgbClr val="33CC33"/>
            </a:solidFill>
            <a:ln w="9525">
              <a:solidFill>
                <a:schemeClr val="tx1"/>
              </a:solidFill>
              <a:miter lim="800000"/>
              <a:headEnd/>
              <a:tailEnd/>
            </a:ln>
          </p:spPr>
          <p:txBody>
            <a:bodyPr wrap="none" anchor="ctr"/>
            <a:lstStyle/>
            <a:p>
              <a:endParaRPr lang="en-US"/>
            </a:p>
          </p:txBody>
        </p:sp>
        <p:sp>
          <p:nvSpPr>
            <p:cNvPr id="56340" name="Line 14"/>
            <p:cNvSpPr>
              <a:spLocks noChangeShapeType="1"/>
            </p:cNvSpPr>
            <p:nvPr/>
          </p:nvSpPr>
          <p:spPr bwMode="auto">
            <a:xfrm>
              <a:off x="3677" y="3298"/>
              <a:ext cx="0" cy="448"/>
            </a:xfrm>
            <a:prstGeom prst="line">
              <a:avLst/>
            </a:prstGeom>
            <a:noFill/>
            <a:ln w="19050">
              <a:solidFill>
                <a:srgbClr val="0000FF"/>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56341" name="Line 15"/>
            <p:cNvSpPr>
              <a:spLocks noChangeShapeType="1"/>
            </p:cNvSpPr>
            <p:nvPr/>
          </p:nvSpPr>
          <p:spPr bwMode="auto">
            <a:xfrm>
              <a:off x="4177" y="3302"/>
              <a:ext cx="0" cy="448"/>
            </a:xfrm>
            <a:prstGeom prst="line">
              <a:avLst/>
            </a:prstGeom>
            <a:noFill/>
            <a:ln w="19050">
              <a:solidFill>
                <a:srgbClr val="0000FF"/>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56342" name="Line 16"/>
            <p:cNvSpPr>
              <a:spLocks noChangeShapeType="1"/>
            </p:cNvSpPr>
            <p:nvPr/>
          </p:nvSpPr>
          <p:spPr bwMode="auto">
            <a:xfrm>
              <a:off x="4561" y="3306"/>
              <a:ext cx="0" cy="448"/>
            </a:xfrm>
            <a:prstGeom prst="line">
              <a:avLst/>
            </a:prstGeom>
            <a:noFill/>
            <a:ln w="19050">
              <a:solidFill>
                <a:srgbClr val="0000FF"/>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56343" name="Line 17"/>
            <p:cNvSpPr>
              <a:spLocks noChangeShapeType="1"/>
            </p:cNvSpPr>
            <p:nvPr/>
          </p:nvSpPr>
          <p:spPr bwMode="auto">
            <a:xfrm>
              <a:off x="4885" y="3310"/>
              <a:ext cx="0" cy="448"/>
            </a:xfrm>
            <a:prstGeom prst="line">
              <a:avLst/>
            </a:prstGeom>
            <a:noFill/>
            <a:ln w="19050">
              <a:solidFill>
                <a:srgbClr val="0000FF"/>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56344" name="Line 18"/>
            <p:cNvSpPr>
              <a:spLocks noChangeShapeType="1"/>
            </p:cNvSpPr>
            <p:nvPr/>
          </p:nvSpPr>
          <p:spPr bwMode="auto">
            <a:xfrm>
              <a:off x="5209" y="3314"/>
              <a:ext cx="0" cy="448"/>
            </a:xfrm>
            <a:prstGeom prst="line">
              <a:avLst/>
            </a:prstGeom>
            <a:noFill/>
            <a:ln w="19050">
              <a:solidFill>
                <a:srgbClr val="0000FF"/>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grpSp>
      <p:sp>
        <p:nvSpPr>
          <p:cNvPr id="56328" name="Freeform 20"/>
          <p:cNvSpPr>
            <a:spLocks/>
          </p:cNvSpPr>
          <p:nvPr/>
        </p:nvSpPr>
        <p:spPr bwMode="auto">
          <a:xfrm>
            <a:off x="5346700" y="4487863"/>
            <a:ext cx="2876550" cy="1187450"/>
          </a:xfrm>
          <a:custGeom>
            <a:avLst/>
            <a:gdLst>
              <a:gd name="T0" fmla="*/ 0 w 1812"/>
              <a:gd name="T1" fmla="*/ 0 h 748"/>
              <a:gd name="T2" fmla="*/ 545 w 1812"/>
              <a:gd name="T3" fmla="*/ 0 h 748"/>
              <a:gd name="T4" fmla="*/ 1020 w 1812"/>
              <a:gd name="T5" fmla="*/ 748 h 748"/>
              <a:gd name="T6" fmla="*/ 1812 w 1812"/>
              <a:gd name="T7" fmla="*/ 748 h 748"/>
              <a:gd name="T8" fmla="*/ 0 60000 65536"/>
              <a:gd name="T9" fmla="*/ 0 60000 65536"/>
              <a:gd name="T10" fmla="*/ 0 60000 65536"/>
              <a:gd name="T11" fmla="*/ 0 60000 65536"/>
              <a:gd name="T12" fmla="*/ 0 w 1812"/>
              <a:gd name="T13" fmla="*/ 0 h 748"/>
              <a:gd name="T14" fmla="*/ 1812 w 1812"/>
              <a:gd name="T15" fmla="*/ 748 h 748"/>
            </a:gdLst>
            <a:ahLst/>
            <a:cxnLst>
              <a:cxn ang="T8">
                <a:pos x="T0" y="T1"/>
              </a:cxn>
              <a:cxn ang="T9">
                <a:pos x="T2" y="T3"/>
              </a:cxn>
              <a:cxn ang="T10">
                <a:pos x="T4" y="T5"/>
              </a:cxn>
              <a:cxn ang="T11">
                <a:pos x="T6" y="T7"/>
              </a:cxn>
            </a:cxnLst>
            <a:rect l="T12" t="T13" r="T14" b="T15"/>
            <a:pathLst>
              <a:path w="1812" h="748">
                <a:moveTo>
                  <a:pt x="0" y="0"/>
                </a:moveTo>
                <a:lnTo>
                  <a:pt x="545" y="0"/>
                </a:lnTo>
                <a:lnTo>
                  <a:pt x="1020" y="748"/>
                </a:lnTo>
                <a:lnTo>
                  <a:pt x="1812" y="748"/>
                </a:lnTo>
              </a:path>
            </a:pathLst>
          </a:custGeom>
          <a:noFill/>
          <a:ln w="19050">
            <a:solidFill>
              <a:srgbClr val="33CC33"/>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a:p>
        </p:txBody>
      </p:sp>
      <p:sp>
        <p:nvSpPr>
          <p:cNvPr id="56329" name="Freeform 21"/>
          <p:cNvSpPr>
            <a:spLocks/>
          </p:cNvSpPr>
          <p:nvPr/>
        </p:nvSpPr>
        <p:spPr bwMode="auto">
          <a:xfrm>
            <a:off x="5346700" y="4181475"/>
            <a:ext cx="2876550" cy="1751013"/>
          </a:xfrm>
          <a:custGeom>
            <a:avLst/>
            <a:gdLst>
              <a:gd name="T0" fmla="*/ 0 w 1812"/>
              <a:gd name="T1" fmla="*/ 193 h 1103"/>
              <a:gd name="T2" fmla="*/ 550 w 1812"/>
              <a:gd name="T3" fmla="*/ 0 h 1103"/>
              <a:gd name="T4" fmla="*/ 1016 w 1812"/>
              <a:gd name="T5" fmla="*/ 1103 h 1103"/>
              <a:gd name="T6" fmla="*/ 1328 w 1812"/>
              <a:gd name="T7" fmla="*/ 936 h 1103"/>
              <a:gd name="T8" fmla="*/ 1812 w 1812"/>
              <a:gd name="T9" fmla="*/ 941 h 1103"/>
              <a:gd name="T10" fmla="*/ 0 60000 65536"/>
              <a:gd name="T11" fmla="*/ 0 60000 65536"/>
              <a:gd name="T12" fmla="*/ 0 60000 65536"/>
              <a:gd name="T13" fmla="*/ 0 60000 65536"/>
              <a:gd name="T14" fmla="*/ 0 60000 65536"/>
              <a:gd name="T15" fmla="*/ 0 w 1812"/>
              <a:gd name="T16" fmla="*/ 0 h 1103"/>
              <a:gd name="T17" fmla="*/ 1812 w 1812"/>
              <a:gd name="T18" fmla="*/ 1103 h 1103"/>
            </a:gdLst>
            <a:ahLst/>
            <a:cxnLst>
              <a:cxn ang="T10">
                <a:pos x="T0" y="T1"/>
              </a:cxn>
              <a:cxn ang="T11">
                <a:pos x="T2" y="T3"/>
              </a:cxn>
              <a:cxn ang="T12">
                <a:pos x="T4" y="T5"/>
              </a:cxn>
              <a:cxn ang="T13">
                <a:pos x="T6" y="T7"/>
              </a:cxn>
              <a:cxn ang="T14">
                <a:pos x="T8" y="T9"/>
              </a:cxn>
            </a:cxnLst>
            <a:rect l="T15" t="T16" r="T17" b="T18"/>
            <a:pathLst>
              <a:path w="1812" h="1103">
                <a:moveTo>
                  <a:pt x="0" y="193"/>
                </a:moveTo>
                <a:lnTo>
                  <a:pt x="550" y="0"/>
                </a:lnTo>
                <a:lnTo>
                  <a:pt x="1016" y="1103"/>
                </a:lnTo>
                <a:lnTo>
                  <a:pt x="1328" y="936"/>
                </a:lnTo>
                <a:lnTo>
                  <a:pt x="1812" y="941"/>
                </a:lnTo>
              </a:path>
            </a:pathLst>
          </a:custGeom>
          <a:noFill/>
          <a:ln w="19050">
            <a:solidFill>
              <a:srgbClr val="0000FF"/>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US"/>
          </a:p>
        </p:txBody>
      </p:sp>
      <p:sp>
        <p:nvSpPr>
          <p:cNvPr id="56330" name="Text Box 22"/>
          <p:cNvSpPr txBox="1">
            <a:spLocks noChangeArrowheads="1"/>
          </p:cNvSpPr>
          <p:nvPr/>
        </p:nvSpPr>
        <p:spPr bwMode="auto">
          <a:xfrm>
            <a:off x="6354763" y="4256088"/>
            <a:ext cx="652462"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33CC33"/>
                </a:solidFill>
              </a:rPr>
              <a:t>FEM</a:t>
            </a:r>
            <a:endParaRPr lang="en-GB" sz="1800">
              <a:solidFill>
                <a:srgbClr val="33CC33"/>
              </a:solidFill>
            </a:endParaRPr>
          </a:p>
        </p:txBody>
      </p:sp>
      <p:sp>
        <p:nvSpPr>
          <p:cNvPr id="56331" name="Text Box 23"/>
          <p:cNvSpPr txBox="1">
            <a:spLocks noChangeArrowheads="1"/>
          </p:cNvSpPr>
          <p:nvPr/>
        </p:nvSpPr>
        <p:spPr bwMode="auto">
          <a:xfrm>
            <a:off x="6042025" y="3808413"/>
            <a:ext cx="2405063"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0000FF"/>
                </a:solidFill>
              </a:rPr>
              <a:t>Mapped: FV </a:t>
            </a:r>
            <a:r>
              <a:rPr lang="en-US" sz="1800">
                <a:solidFill>
                  <a:srgbClr val="0000FF"/>
                </a:solidFill>
                <a:sym typeface="MT Extra" charset="0"/>
              </a:rPr>
              <a:t></a:t>
            </a:r>
            <a:r>
              <a:rPr lang="en-US" sz="1800">
                <a:solidFill>
                  <a:srgbClr val="0000FF"/>
                </a:solidFill>
              </a:rPr>
              <a:t> FEM</a:t>
            </a:r>
            <a:endParaRPr lang="en-GB" sz="1800">
              <a:solidFill>
                <a:srgbClr val="0000FF"/>
              </a:solidFill>
            </a:endParaRPr>
          </a:p>
        </p:txBody>
      </p:sp>
      <p:sp>
        <p:nvSpPr>
          <p:cNvPr id="56332" name="Text Box 25"/>
          <p:cNvSpPr txBox="1">
            <a:spLocks noChangeArrowheads="1"/>
          </p:cNvSpPr>
          <p:nvPr/>
        </p:nvSpPr>
        <p:spPr bwMode="auto">
          <a:xfrm>
            <a:off x="6583363" y="4632325"/>
            <a:ext cx="2398712"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solidFill>
                  <a:srgbClr val="808080"/>
                </a:solidFill>
              </a:rPr>
              <a:t>FV </a:t>
            </a:r>
            <a:r>
              <a:rPr lang="en-US" sz="1400">
                <a:solidFill>
                  <a:srgbClr val="808080"/>
                </a:solidFill>
              </a:rPr>
              <a:t>(piecewise constant)</a:t>
            </a:r>
            <a:endParaRPr lang="en-GB" sz="1400">
              <a:solidFill>
                <a:srgbClr val="808080"/>
              </a:solidFill>
            </a:endParaRPr>
          </a:p>
        </p:txBody>
      </p:sp>
      <p:sp>
        <p:nvSpPr>
          <p:cNvPr id="25"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marL="0" indent="0" defTabSz="457200" fontAlgn="auto">
              <a:spcBef>
                <a:spcPts val="0"/>
              </a:spcBef>
              <a:spcAft>
                <a:spcPts val="0"/>
              </a:spcAft>
              <a:buNone/>
            </a:pPr>
            <a:fld id="{57951F7C-CFBF-8144-A102-5B4CA8E4DF9C}" type="datetime1">
              <a:rPr lang="en-US" smtClean="0">
                <a:solidFill>
                  <a:prstClr val="white">
                    <a:lumMod val="65000"/>
                  </a:prstClr>
                </a:solidFill>
                <a:ea typeface="+mn-ea"/>
              </a:rPr>
              <a:pPr marL="0" indent="0" defTabSz="457200" fontAlgn="auto">
                <a:spcBef>
                  <a:spcPts val="0"/>
                </a:spcBef>
                <a:spcAft>
                  <a:spcPts val="0"/>
                </a:spcAft>
                <a:buNone/>
              </a:pPr>
              <a:t>3/17/19</a:t>
            </a:fld>
            <a:endParaRPr lang="en-US" dirty="0">
              <a:solidFill>
                <a:prstClr val="white">
                  <a:lumMod val="65000"/>
                </a:prstClr>
              </a:solidFill>
              <a:ea typeface="+mn-ea"/>
            </a:endParaRPr>
          </a:p>
        </p:txBody>
      </p:sp>
      <p:sp>
        <p:nvSpPr>
          <p:cNvPr id="26"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27" name="Slide Number Placeholder 5"/>
          <p:cNvSpPr txBox="1">
            <a:spLocks/>
          </p:cNvSpPr>
          <p:nvPr/>
        </p:nvSpPr>
        <p:spPr>
          <a:xfrm>
            <a:off x="6974904" y="6492875"/>
            <a:ext cx="2133600" cy="365125"/>
          </a:xfrm>
          <a:prstGeom prst="rect">
            <a:avLst/>
          </a:prstGeom>
        </p:spPr>
        <p:txBody>
          <a:bodyPr vert="horz" lIns="91440" tIns="45720" rIns="91440" bIns="45720" rtlCol="0" anchor="ctr"/>
          <a:lstStyle>
            <a:defPPr>
              <a:defRPr lang="en-US"/>
            </a:defPPr>
            <a:lvl1pPr algn="r" rtl="0" fontAlgn="base">
              <a:spcBef>
                <a:spcPct val="0"/>
              </a:spcBef>
              <a:spcAft>
                <a:spcPct val="0"/>
              </a:spcAft>
              <a:defRPr sz="1200" kern="1200">
                <a:solidFill>
                  <a:schemeClr val="bg1">
                    <a:lumMod val="65000"/>
                  </a:schemeClr>
                </a:solidFill>
                <a:latin typeface="Arial"/>
                <a:ea typeface="ＭＳ Ｐゴシック" charset="0"/>
                <a:cs typeface="Arial"/>
              </a:defRPr>
            </a:lvl1pPr>
            <a:lvl2pPr marL="457200" algn="l" rtl="0" fontAlgn="base">
              <a:spcBef>
                <a:spcPct val="0"/>
              </a:spcBef>
              <a:spcAft>
                <a:spcPct val="0"/>
              </a:spcAft>
              <a:defRPr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Verdana" charset="0"/>
                <a:ea typeface="ＭＳ Ｐゴシック" charset="0"/>
                <a:cs typeface="ＭＳ Ｐゴシック" charset="0"/>
              </a:defRPr>
            </a:lvl5pPr>
            <a:lvl6pPr marL="2286000" algn="l" defTabSz="457200" rtl="0" eaLnBrk="1" latinLnBrk="0" hangingPunct="1">
              <a:defRPr kern="1200">
                <a:solidFill>
                  <a:schemeClr val="tx1"/>
                </a:solidFill>
                <a:latin typeface="Verdana" charset="0"/>
                <a:ea typeface="ＭＳ Ｐゴシック" charset="0"/>
                <a:cs typeface="ＭＳ Ｐゴシック" charset="0"/>
              </a:defRPr>
            </a:lvl6pPr>
            <a:lvl7pPr marL="2743200" algn="l" defTabSz="457200" rtl="0" eaLnBrk="1" latinLnBrk="0" hangingPunct="1">
              <a:defRPr kern="1200">
                <a:solidFill>
                  <a:schemeClr val="tx1"/>
                </a:solidFill>
                <a:latin typeface="Verdana" charset="0"/>
                <a:ea typeface="ＭＳ Ｐゴシック" charset="0"/>
                <a:cs typeface="ＭＳ Ｐゴシック" charset="0"/>
              </a:defRPr>
            </a:lvl7pPr>
            <a:lvl8pPr marL="3200400" algn="l" defTabSz="457200" rtl="0" eaLnBrk="1" latinLnBrk="0" hangingPunct="1">
              <a:defRPr kern="1200">
                <a:solidFill>
                  <a:schemeClr val="tx1"/>
                </a:solidFill>
                <a:latin typeface="Verdana" charset="0"/>
                <a:ea typeface="ＭＳ Ｐゴシック" charset="0"/>
                <a:cs typeface="ＭＳ Ｐゴシック" charset="0"/>
              </a:defRPr>
            </a:lvl8pPr>
            <a:lvl9pPr marL="3657600" algn="l" defTabSz="457200" rtl="0" eaLnBrk="1" latinLnBrk="0" hangingPunct="1">
              <a:defRPr kern="1200">
                <a:solidFill>
                  <a:schemeClr val="tx1"/>
                </a:solidFill>
                <a:latin typeface="Verdana" charset="0"/>
                <a:ea typeface="ＭＳ Ｐゴシック" charset="0"/>
                <a:cs typeface="ＭＳ Ｐゴシック" charset="0"/>
              </a:defRPr>
            </a:lvl9pPr>
          </a:lstStyle>
          <a:p>
            <a:pPr defTabSz="457200" fontAlgn="auto">
              <a:spcBef>
                <a:spcPts val="0"/>
              </a:spcBef>
              <a:spcAft>
                <a:spcPts val="0"/>
              </a:spcAft>
            </a:pPr>
            <a:r>
              <a:rPr lang="en-US">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76</a:t>
            </a:fld>
            <a:endParaRPr lang="en-US" dirty="0">
              <a:solidFill>
                <a:prstClr val="white">
                  <a:lumMod val="65000"/>
                </a:prstClr>
              </a:solidFill>
              <a:ea typeface="+mn-ea"/>
            </a:endParaRPr>
          </a:p>
        </p:txBody>
      </p:sp>
    </p:spTree>
    <p:extLst>
      <p:ext uri="{BB962C8B-B14F-4D97-AF65-F5344CB8AC3E}">
        <p14:creationId xmlns:p14="http://schemas.microsoft.com/office/powerpoint/2010/main" val="19625404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a:spLocks noGrp="1"/>
          </p:cNvSpPr>
          <p:nvPr>
            <p:ph type="sldNum" sz="quarter" idx="12"/>
          </p:nvPr>
        </p:nvSpPr>
        <p:spPr>
          <a:xfrm>
            <a:off x="5969000" y="6548438"/>
            <a:ext cx="3060700" cy="309562"/>
          </a:xfrm>
          <a:noFill/>
        </p:spPr>
        <p:txBody>
          <a:bodyPr/>
          <a:lstStyle/>
          <a:p>
            <a:fld id="{48014009-F9A0-704D-89CC-CD71E8F961D4}" type="slidenum">
              <a:rPr lang="en-GB"/>
              <a:pPr/>
              <a:t>77</a:t>
            </a:fld>
            <a:endParaRPr lang="en-GB"/>
          </a:p>
        </p:txBody>
      </p:sp>
      <p:sp>
        <p:nvSpPr>
          <p:cNvPr id="29699" name="Rectangle 2"/>
          <p:cNvSpPr>
            <a:spLocks noGrp="1" noChangeArrowheads="1"/>
          </p:cNvSpPr>
          <p:nvPr>
            <p:ph type="title"/>
          </p:nvPr>
        </p:nvSpPr>
        <p:spPr>
          <a:xfrm>
            <a:off x="404813" y="116632"/>
            <a:ext cx="8162925" cy="579437"/>
          </a:xfrm>
        </p:spPr>
        <p:txBody>
          <a:bodyPr/>
          <a:lstStyle/>
          <a:p>
            <a:pPr eaLnBrk="1" hangingPunct="1"/>
            <a:r>
              <a:rPr lang="en-US" dirty="0"/>
              <a:t>Computational procedure</a:t>
            </a:r>
          </a:p>
        </p:txBody>
      </p:sp>
      <p:grpSp>
        <p:nvGrpSpPr>
          <p:cNvPr id="2" name="Group 3"/>
          <p:cNvGrpSpPr>
            <a:grpSpLocks noGrp="1" noChangeAspect="1"/>
          </p:cNvGrpSpPr>
          <p:nvPr/>
        </p:nvGrpSpPr>
        <p:grpSpPr bwMode="auto">
          <a:xfrm>
            <a:off x="195263" y="866775"/>
            <a:ext cx="8702675" cy="5508625"/>
            <a:chOff x="278" y="684"/>
            <a:chExt cx="5234" cy="3147"/>
          </a:xfrm>
        </p:grpSpPr>
        <p:sp>
          <p:nvSpPr>
            <p:cNvPr id="29701" name="AutoShape 4"/>
            <p:cNvSpPr>
              <a:spLocks noChangeAspect="1" noChangeArrowheads="1" noTextEdit="1"/>
            </p:cNvSpPr>
            <p:nvPr/>
          </p:nvSpPr>
          <p:spPr bwMode="auto">
            <a:xfrm>
              <a:off x="278" y="684"/>
              <a:ext cx="5234" cy="3147"/>
            </a:xfrm>
            <a:prstGeom prst="rect">
              <a:avLst/>
            </a:prstGeom>
            <a:noFill/>
            <a:ln w="9525">
              <a:noFill/>
              <a:miter lim="800000"/>
              <a:headEnd/>
              <a:tailEnd/>
            </a:ln>
          </p:spPr>
          <p:txBody>
            <a:bodyPr>
              <a:prstTxWarp prst="textNoShape">
                <a:avLst/>
              </a:prstTxWarp>
            </a:bodyPr>
            <a:lstStyle/>
            <a:p>
              <a:endParaRPr lang="en-US"/>
            </a:p>
          </p:txBody>
        </p:sp>
        <p:sp>
          <p:nvSpPr>
            <p:cNvPr id="29702" name="_s1412101"/>
            <p:cNvSpPr>
              <a:spLocks noChangeArrowheads="1" noTextEdit="1"/>
            </p:cNvSpPr>
            <p:nvPr/>
          </p:nvSpPr>
          <p:spPr bwMode="auto">
            <a:xfrm>
              <a:off x="1985" y="920"/>
              <a:ext cx="1820" cy="1819"/>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69 w 21600"/>
                <a:gd name="T19" fmla="*/ 3159 h 21600"/>
                <a:gd name="T20" fmla="*/ 18431 w 21600"/>
                <a:gd name="T21" fmla="*/ 1844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3" name="_s1412102"/>
            <p:cNvSpPr>
              <a:spLocks noChangeArrowheads="1" noTextEdit="1"/>
            </p:cNvSpPr>
            <p:nvPr/>
          </p:nvSpPr>
          <p:spPr bwMode="auto">
            <a:xfrm rot="5400000">
              <a:off x="2413" y="1348"/>
              <a:ext cx="1819" cy="1820"/>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59 w 21600"/>
                <a:gd name="T19" fmla="*/ 3169 h 21600"/>
                <a:gd name="T20" fmla="*/ 18441 w 21600"/>
                <a:gd name="T21" fmla="*/ 1843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4" name="_s1412103"/>
            <p:cNvSpPr>
              <a:spLocks noChangeArrowheads="1" noTextEdit="1"/>
            </p:cNvSpPr>
            <p:nvPr/>
          </p:nvSpPr>
          <p:spPr bwMode="auto">
            <a:xfrm rot="10800000">
              <a:off x="1985" y="1776"/>
              <a:ext cx="1820" cy="1819"/>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69 w 21600"/>
                <a:gd name="T19" fmla="*/ 3159 h 21600"/>
                <a:gd name="T20" fmla="*/ 18431 w 21600"/>
                <a:gd name="T21" fmla="*/ 1844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5" name="_s1412104"/>
            <p:cNvSpPr>
              <a:spLocks noChangeArrowheads="1" noTextEdit="1"/>
            </p:cNvSpPr>
            <p:nvPr/>
          </p:nvSpPr>
          <p:spPr bwMode="auto">
            <a:xfrm rot="-5400000">
              <a:off x="1557" y="1348"/>
              <a:ext cx="1819" cy="1820"/>
            </a:xfrm>
            <a:custGeom>
              <a:avLst/>
              <a:gdLst>
                <a:gd name="T0" fmla="*/ 5 w 21600"/>
                <a:gd name="T1" fmla="*/ 0 h 21600"/>
                <a:gd name="T2" fmla="*/ 4 w 21600"/>
                <a:gd name="T3" fmla="*/ 2 h 21600"/>
                <a:gd name="T4" fmla="*/ 6 w 21600"/>
                <a:gd name="T5" fmla="*/ 2 h 21600"/>
                <a:gd name="T6" fmla="*/ 8 w 21600"/>
                <a:gd name="T7" fmla="*/ -2 h 21600"/>
                <a:gd name="T8" fmla="*/ 10 w 21600"/>
                <a:gd name="T9" fmla="*/ 2 h 21600"/>
                <a:gd name="T10" fmla="*/ 7 w 21600"/>
                <a:gd name="T11" fmla="*/ 4 h 21600"/>
                <a:gd name="T12" fmla="*/ 0 60000 65536"/>
                <a:gd name="T13" fmla="*/ 0 60000 65536"/>
                <a:gd name="T14" fmla="*/ 0 60000 65536"/>
                <a:gd name="T15" fmla="*/ 0 60000 65536"/>
                <a:gd name="T16" fmla="*/ 0 60000 65536"/>
                <a:gd name="T17" fmla="*/ 0 60000 65536"/>
                <a:gd name="T18" fmla="*/ 3159 w 21600"/>
                <a:gd name="T19" fmla="*/ 3169 h 21600"/>
                <a:gd name="T20" fmla="*/ 18441 w 21600"/>
                <a:gd name="T21" fmla="*/ 1843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1802" y="3670"/>
                  </a:moveTo>
                  <a:cubicBezTo>
                    <a:pt x="11470" y="3623"/>
                    <a:pt x="11135" y="3599"/>
                    <a:pt x="10800" y="3599"/>
                  </a:cubicBezTo>
                  <a:cubicBezTo>
                    <a:pt x="9536" y="3599"/>
                    <a:pt x="8294" y="3932"/>
                    <a:pt x="7200" y="4564"/>
                  </a:cubicBezTo>
                  <a:lnTo>
                    <a:pt x="5400" y="1446"/>
                  </a:lnTo>
                  <a:cubicBezTo>
                    <a:pt x="7041" y="499"/>
                    <a:pt x="8904" y="-1"/>
                    <a:pt x="10800" y="-1"/>
                  </a:cubicBezTo>
                  <a:cubicBezTo>
                    <a:pt x="11302" y="-1"/>
                    <a:pt x="11805" y="35"/>
                    <a:pt x="12303" y="105"/>
                  </a:cubicBezTo>
                  <a:lnTo>
                    <a:pt x="12678" y="-2569"/>
                  </a:lnTo>
                  <a:lnTo>
                    <a:pt x="16508" y="2513"/>
                  </a:lnTo>
                  <a:lnTo>
                    <a:pt x="11426" y="6343"/>
                  </a:lnTo>
                  <a:lnTo>
                    <a:pt x="11802" y="3670"/>
                  </a:lnTo>
                  <a:close/>
                </a:path>
              </a:pathLst>
            </a:custGeom>
            <a:solidFill>
              <a:schemeClr val="accent1"/>
            </a:solidFill>
            <a:ln w="9525">
              <a:solidFill>
                <a:schemeClr val="tx1"/>
              </a:solidFill>
              <a:miter lim="800000"/>
              <a:headEnd/>
              <a:tailEnd/>
            </a:ln>
          </p:spPr>
          <p:txBody>
            <a:bodyPr wrap="none" lIns="0" tIns="0" rIns="0" bIns="0" anchor="ctr">
              <a:prstTxWarp prst="textNoShape">
                <a:avLst/>
              </a:prstTxWarp>
            </a:bodyPr>
            <a:lstStyle/>
            <a:p>
              <a:endParaRPr lang="en-US"/>
            </a:p>
          </p:txBody>
        </p:sp>
        <p:sp>
          <p:nvSpPr>
            <p:cNvPr id="29706" name="_s1412105"/>
            <p:cNvSpPr>
              <a:spLocks noChangeArrowheads="1"/>
            </p:cNvSpPr>
            <p:nvPr/>
          </p:nvSpPr>
          <p:spPr bwMode="auto">
            <a:xfrm>
              <a:off x="3380" y="1085"/>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a:latin typeface="Arial" charset="0"/>
                </a:rPr>
                <a:t>Solve pressure equation</a:t>
              </a:r>
            </a:p>
            <a:p>
              <a:pPr algn="ctr"/>
              <a:r>
                <a:rPr lang="en-US">
                  <a:latin typeface="Arial" charset="0"/>
                </a:rPr>
                <a:t>with SAMG solver</a:t>
              </a:r>
            </a:p>
          </p:txBody>
        </p:sp>
        <p:sp>
          <p:nvSpPr>
            <p:cNvPr id="29707" name="_s1412106"/>
            <p:cNvSpPr>
              <a:spLocks noChangeArrowheads="1"/>
            </p:cNvSpPr>
            <p:nvPr/>
          </p:nvSpPr>
          <p:spPr bwMode="auto">
            <a:xfrm>
              <a:off x="3381" y="2742"/>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dirty="0">
                  <a:latin typeface="Arial" charset="0"/>
                </a:rPr>
                <a:t>Compute facet fluxes</a:t>
              </a:r>
            </a:p>
          </p:txBody>
        </p:sp>
        <p:sp>
          <p:nvSpPr>
            <p:cNvPr id="29708" name="_s1412107"/>
            <p:cNvSpPr>
              <a:spLocks noChangeArrowheads="1"/>
            </p:cNvSpPr>
            <p:nvPr/>
          </p:nvSpPr>
          <p:spPr bwMode="auto">
            <a:xfrm>
              <a:off x="1524" y="2743"/>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dirty="0">
                  <a:latin typeface="Arial" charset="0"/>
                </a:rPr>
                <a:t>Solve transport equation</a:t>
              </a:r>
            </a:p>
            <a:p>
              <a:pPr algn="ctr"/>
              <a:r>
                <a:rPr lang="en-US" dirty="0">
                  <a:latin typeface="Arial" charset="0"/>
                </a:rPr>
                <a:t>explicitly or</a:t>
              </a:r>
            </a:p>
            <a:p>
              <a:pPr algn="ctr"/>
              <a:r>
                <a:rPr lang="en-US" dirty="0">
                  <a:latin typeface="Arial" charset="0"/>
                </a:rPr>
                <a:t>implicitly with SAMG</a:t>
              </a:r>
            </a:p>
          </p:txBody>
        </p:sp>
        <p:sp>
          <p:nvSpPr>
            <p:cNvPr id="29709" name="_s1412108"/>
            <p:cNvSpPr>
              <a:spLocks noChangeArrowheads="1"/>
            </p:cNvSpPr>
            <p:nvPr/>
          </p:nvSpPr>
          <p:spPr bwMode="auto">
            <a:xfrm>
              <a:off x="1723" y="1086"/>
              <a:ext cx="686" cy="686"/>
            </a:xfrm>
            <a:prstGeom prst="rect">
              <a:avLst/>
            </a:prstGeom>
            <a:noFill/>
            <a:ln w="9525">
              <a:noFill/>
              <a:miter lim="800000"/>
              <a:headEnd/>
              <a:tailEnd/>
            </a:ln>
          </p:spPr>
          <p:txBody>
            <a:bodyPr wrap="none" lIns="0" tIns="0" rIns="0" bIns="0" anchor="ctr">
              <a:prstTxWarp prst="textNoShape">
                <a:avLst/>
              </a:prstTxWarp>
            </a:bodyPr>
            <a:lstStyle/>
            <a:p>
              <a:pPr algn="ctr"/>
              <a:r>
                <a:rPr lang="en-US" dirty="0">
                  <a:latin typeface="Arial" charset="0"/>
                </a:rPr>
                <a:t>Compute</a:t>
              </a:r>
            </a:p>
            <a:p>
              <a:pPr algn="ctr"/>
              <a:r>
                <a:rPr lang="en-US" dirty="0">
                  <a:latin typeface="Arial" charset="0"/>
                </a:rPr>
                <a:t>flow properties</a:t>
              </a:r>
            </a:p>
          </p:txBody>
        </p:sp>
      </p:grpSp>
      <p:sp>
        <p:nvSpPr>
          <p:cNvPr id="14" name="Footer Placeholder 14"/>
          <p:cNvSpPr>
            <a:spLocks noGrp="1"/>
          </p:cNvSpPr>
          <p:nvPr>
            <p:ph type="ftr" sz="quarter" idx="11"/>
          </p:nvPr>
        </p:nvSpPr>
        <p:spPr>
          <a:xfrm>
            <a:off x="3124200" y="6492875"/>
            <a:ext cx="2895600" cy="365125"/>
          </a:xfrm>
        </p:spPr>
        <p:txBody>
          <a:bodyPr/>
          <a:lstStyle/>
          <a:p>
            <a:r>
              <a:rPr lang="en-US" dirty="0"/>
              <a:t>FEM-FVM framework</a:t>
            </a:r>
          </a:p>
        </p:txBody>
      </p:sp>
      <p:sp>
        <p:nvSpPr>
          <p:cNvPr id="15" name="Date Placeholder 31"/>
          <p:cNvSpPr>
            <a:spLocks noGrp="1"/>
          </p:cNvSpPr>
          <p:nvPr>
            <p:ph type="dt" sz="half" idx="10"/>
          </p:nvPr>
        </p:nvSpPr>
        <p:spPr>
          <a:xfrm>
            <a:off x="176213" y="6428184"/>
            <a:ext cx="2881312" cy="457200"/>
          </a:xfrm>
        </p:spPr>
        <p:txBody>
          <a:bodyPr/>
          <a:lstStyle/>
          <a:p>
            <a:fld id="{6B3C9685-A190-4943-8807-66FB64A554CC}" type="datetime1">
              <a:rPr lang="en-US" smtClean="0"/>
              <a:pPr/>
              <a:t>3/17/19</a:t>
            </a:fld>
            <a:endParaRPr lang="en-US" dirty="0"/>
          </a:p>
        </p:txBody>
      </p:sp>
      <p:sp>
        <p:nvSpPr>
          <p:cNvPr id="3" name="TextBox 2"/>
          <p:cNvSpPr txBox="1"/>
          <p:nvPr/>
        </p:nvSpPr>
        <p:spPr>
          <a:xfrm>
            <a:off x="5757199" y="1385785"/>
            <a:ext cx="2824135" cy="369332"/>
          </a:xfrm>
          <a:prstGeom prst="rect">
            <a:avLst/>
          </a:prstGeom>
          <a:noFill/>
        </p:spPr>
        <p:txBody>
          <a:bodyPr wrap="none" rtlCol="0">
            <a:spAutoFit/>
          </a:bodyPr>
          <a:lstStyle/>
          <a:p>
            <a:r>
              <a:rPr lang="en-US" dirty="0"/>
              <a:t>Finite Element Computation</a:t>
            </a:r>
          </a:p>
        </p:txBody>
      </p:sp>
      <p:sp>
        <p:nvSpPr>
          <p:cNvPr id="17" name="TextBox 16"/>
          <p:cNvSpPr txBox="1"/>
          <p:nvPr/>
        </p:nvSpPr>
        <p:spPr>
          <a:xfrm>
            <a:off x="755576" y="5687691"/>
            <a:ext cx="2771950" cy="369332"/>
          </a:xfrm>
          <a:prstGeom prst="rect">
            <a:avLst/>
          </a:prstGeom>
          <a:noFill/>
        </p:spPr>
        <p:txBody>
          <a:bodyPr wrap="none" rtlCol="0">
            <a:spAutoFit/>
          </a:bodyPr>
          <a:lstStyle/>
          <a:p>
            <a:r>
              <a:rPr lang="en-US" dirty="0"/>
              <a:t>Finite Volume Computation</a:t>
            </a:r>
          </a:p>
        </p:txBody>
      </p:sp>
    </p:spTree>
    <p:extLst>
      <p:ext uri="{BB962C8B-B14F-4D97-AF65-F5344CB8AC3E}">
        <p14:creationId xmlns:p14="http://schemas.microsoft.com/office/powerpoint/2010/main" val="35411157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fontAlgn="auto">
              <a:spcAft>
                <a:spcPts val="0"/>
              </a:spcAft>
              <a:defRPr/>
            </a:pPr>
            <a:r>
              <a:rPr lang="en-US" dirty="0">
                <a:ea typeface="+mj-ea"/>
              </a:rPr>
              <a:t>A typical calculation operator-splitting calculation</a:t>
            </a:r>
          </a:p>
        </p:txBody>
      </p:sp>
      <p:sp>
        <p:nvSpPr>
          <p:cNvPr id="3" name="Content Placeholder 2"/>
          <p:cNvSpPr>
            <a:spLocks noGrp="1"/>
          </p:cNvSpPr>
          <p:nvPr>
            <p:ph idx="1"/>
          </p:nvPr>
        </p:nvSpPr>
        <p:spPr/>
        <p:txBody>
          <a:bodyPr rtlCol="0">
            <a:normAutofit lnSpcReduction="10000"/>
          </a:bodyPr>
          <a:lstStyle/>
          <a:p>
            <a:pPr marL="457200" indent="-457200" fontAlgn="auto">
              <a:buFont typeface="+mj-lt"/>
              <a:buAutoNum type="arabicPeriod"/>
              <a:defRPr/>
            </a:pPr>
            <a:r>
              <a:rPr lang="en-US" dirty="0">
                <a:ea typeface="+mn-ea"/>
              </a:rPr>
              <a:t>Compute pressure</a:t>
            </a:r>
          </a:p>
          <a:p>
            <a:pPr marL="457200" indent="-457200" fontAlgn="auto">
              <a:buFont typeface="+mj-lt"/>
              <a:buAutoNum type="arabicPeriod"/>
              <a:defRPr/>
            </a:pPr>
            <a:r>
              <a:rPr lang="en-US" dirty="0">
                <a:ea typeface="+mn-ea"/>
              </a:rPr>
              <a:t>Compute total velocity etc.</a:t>
            </a:r>
          </a:p>
          <a:p>
            <a:pPr marL="457200" indent="-457200" fontAlgn="auto">
              <a:buFont typeface="+mj-lt"/>
              <a:buAutoNum type="arabicPeriod"/>
              <a:defRPr/>
            </a:pPr>
            <a:r>
              <a:rPr lang="en-US" dirty="0">
                <a:ea typeface="+mn-ea"/>
              </a:rPr>
              <a:t>Update phase densities and viscosities,</a:t>
            </a:r>
          </a:p>
          <a:p>
            <a:pPr marL="457200" indent="-457200" fontAlgn="auto">
              <a:buFont typeface="+mj-lt"/>
              <a:buAutoNum type="arabicPeriod"/>
              <a:defRPr/>
            </a:pPr>
            <a:r>
              <a:rPr lang="en-US" dirty="0">
                <a:ea typeface="+mn-ea"/>
              </a:rPr>
              <a:t>Update multiphase flow terms / constitutive relations, </a:t>
            </a:r>
          </a:p>
          <a:p>
            <a:pPr marL="457200" indent="-457200" fontAlgn="auto">
              <a:buFont typeface="+mj-lt"/>
              <a:buAutoNum type="arabicPeriod"/>
              <a:defRPr/>
            </a:pPr>
            <a:r>
              <a:rPr lang="en-US" dirty="0">
                <a:ea typeface="+mn-ea"/>
              </a:rPr>
              <a:t>Determine time increment</a:t>
            </a:r>
          </a:p>
          <a:p>
            <a:pPr marL="457200" indent="-457200" fontAlgn="auto">
              <a:buFont typeface="+mj-lt"/>
              <a:buAutoNum type="arabicPeriod"/>
              <a:defRPr/>
            </a:pPr>
            <a:r>
              <a:rPr lang="en-US" dirty="0">
                <a:ea typeface="+mn-ea"/>
              </a:rPr>
              <a:t>Accumulate (higher-order) interior stencils</a:t>
            </a:r>
          </a:p>
          <a:p>
            <a:pPr marL="857250" lvl="1" indent="-457200" fontAlgn="auto">
              <a:buFont typeface="Arial"/>
              <a:buChar char="–"/>
              <a:defRPr/>
            </a:pPr>
            <a:r>
              <a:rPr lang="en-US" dirty="0">
                <a:ea typeface="+mn-ea"/>
              </a:rPr>
              <a:t>Compute viscous, gravitational and capillary fluxes</a:t>
            </a:r>
          </a:p>
          <a:p>
            <a:pPr marL="857250" lvl="1" indent="-457200" fontAlgn="auto">
              <a:buFont typeface="Arial"/>
              <a:buChar char="–"/>
              <a:defRPr/>
            </a:pPr>
            <a:r>
              <a:rPr lang="en-US" dirty="0">
                <a:ea typeface="+mn-ea"/>
              </a:rPr>
              <a:t>Determine upwind direction on basis of composite flux</a:t>
            </a:r>
          </a:p>
          <a:p>
            <a:pPr marL="857250" lvl="1" indent="-457200" fontAlgn="auto">
              <a:buFont typeface="Arial"/>
              <a:buChar char="–"/>
              <a:defRPr/>
            </a:pPr>
            <a:r>
              <a:rPr lang="en-US" dirty="0">
                <a:ea typeface="+mn-ea"/>
              </a:rPr>
              <a:t>Establish flux balances and pressure-change dependent source / sink terms</a:t>
            </a:r>
          </a:p>
          <a:p>
            <a:pPr marL="457200" indent="-457200" fontAlgn="auto">
              <a:buFont typeface="+mj-lt"/>
              <a:buAutoNum type="arabicPeriod"/>
              <a:defRPr/>
            </a:pPr>
            <a:r>
              <a:rPr lang="en-US" dirty="0">
                <a:ea typeface="+mn-ea"/>
              </a:rPr>
              <a:t>Accumulate lower order boundary stencils </a:t>
            </a:r>
          </a:p>
          <a:p>
            <a:pPr marL="457200" indent="-457200" fontAlgn="auto">
              <a:buFont typeface="+mj-lt"/>
              <a:buAutoNum type="arabicPeriod"/>
              <a:defRPr/>
            </a:pPr>
            <a:r>
              <a:rPr lang="en-US" dirty="0">
                <a:ea typeface="+mn-ea"/>
              </a:rPr>
              <a:t>Solve transport problem</a:t>
            </a:r>
          </a:p>
          <a:p>
            <a:pPr marL="457200" indent="-457200" fontAlgn="auto">
              <a:buFont typeface="+mj-lt"/>
              <a:buAutoNum type="arabicPeriod"/>
              <a:defRPr/>
            </a:pPr>
            <a:r>
              <a:rPr lang="en-US" dirty="0">
                <a:ea typeface="+mn-ea"/>
              </a:rPr>
              <a:t>Transfer results to model</a:t>
            </a:r>
          </a:p>
        </p:txBody>
      </p:sp>
      <p:sp>
        <p:nvSpPr>
          <p:cNvPr id="130051" name="Date Placeholder 3"/>
          <p:cNvSpPr>
            <a:spLocks noGrp="1"/>
          </p:cNvSpPr>
          <p:nvPr>
            <p:ph type="dt" sz="quarter" idx="10"/>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77321CB8-8112-8642-9864-83895599D9AA}" type="datetime1">
              <a:rPr lang="en-US" sz="1200">
                <a:solidFill>
                  <a:srgbClr val="A6A6A6"/>
                </a:solidFill>
                <a:latin typeface="Arial" charset="0"/>
                <a:cs typeface="Arial" charset="0"/>
              </a:rPr>
              <a:pPr eaLnBrk="1" hangingPunct="1"/>
              <a:t>3/17/19</a:t>
            </a:fld>
            <a:endParaRPr lang="en-US" sz="1200">
              <a:solidFill>
                <a:srgbClr val="A6A6A6"/>
              </a:solidFill>
              <a:latin typeface="Arial" charset="0"/>
              <a:cs typeface="Arial" charset="0"/>
            </a:endParaRPr>
          </a:p>
        </p:txBody>
      </p:sp>
      <p:sp>
        <p:nvSpPr>
          <p:cNvPr id="130052" name="Footer Placeholder 4"/>
          <p:cNvSpPr>
            <a:spLocks noGrp="1"/>
          </p:cNvSpPr>
          <p:nvPr>
            <p:ph type="ftr" sz="quarter" idx="1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solidFill>
                  <a:srgbClr val="A6A6A6"/>
                </a:solidFill>
                <a:latin typeface="Arial" charset="0"/>
                <a:cs typeface="Arial" charset="0"/>
              </a:rPr>
              <a:t>CSMP Generic Transport Scheme</a:t>
            </a:r>
          </a:p>
        </p:txBody>
      </p:sp>
      <p:sp>
        <p:nvSpPr>
          <p:cNvPr id="130053" name="Slide Number Placeholder 5"/>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fld id="{CB729F43-3496-3940-B294-E9261DD99606}" type="slidenum">
              <a:rPr lang="en-US" sz="1200">
                <a:solidFill>
                  <a:srgbClr val="A6A6A6"/>
                </a:solidFill>
                <a:latin typeface="Arial" charset="0"/>
                <a:cs typeface="Arial" charset="0"/>
              </a:rPr>
              <a:pPr eaLnBrk="1" hangingPunct="1"/>
              <a:t>78</a:t>
            </a:fld>
            <a:endParaRPr lang="en-US" sz="1200">
              <a:solidFill>
                <a:srgbClr val="A6A6A6"/>
              </a:solidFill>
              <a:latin typeface="Arial" charset="0"/>
              <a:cs typeface="Arial" charset="0"/>
            </a:endParaRPr>
          </a:p>
        </p:txBody>
      </p:sp>
    </p:spTree>
    <p:extLst>
      <p:ext uri="{BB962C8B-B14F-4D97-AF65-F5344CB8AC3E}">
        <p14:creationId xmlns:p14="http://schemas.microsoft.com/office/powerpoint/2010/main" val="8280954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5778" name="Rectangle 2"/>
          <p:cNvSpPr>
            <a:spLocks noGrp="1" noChangeArrowheads="1"/>
          </p:cNvSpPr>
          <p:nvPr>
            <p:ph type="title"/>
          </p:nvPr>
        </p:nvSpPr>
        <p:spPr>
          <a:xfrm>
            <a:off x="467544" y="125760"/>
            <a:ext cx="5688632" cy="1143000"/>
          </a:xfrm>
        </p:spPr>
        <p:txBody>
          <a:bodyPr/>
          <a:lstStyle/>
          <a:p>
            <a:r>
              <a:rPr lang="en-US" sz="2800" dirty="0"/>
              <a:t>Two-dimensional FE discretization of pressure equation</a:t>
            </a:r>
            <a:endParaRPr lang="en-GB" sz="2800" dirty="0"/>
          </a:p>
        </p:txBody>
      </p:sp>
      <p:grpSp>
        <p:nvGrpSpPr>
          <p:cNvPr id="1355779" name="Group 3"/>
          <p:cNvGrpSpPr>
            <a:grpSpLocks/>
          </p:cNvGrpSpPr>
          <p:nvPr/>
        </p:nvGrpSpPr>
        <p:grpSpPr bwMode="auto">
          <a:xfrm>
            <a:off x="4700588" y="2454275"/>
            <a:ext cx="3314700" cy="3009900"/>
            <a:chOff x="1855" y="1489"/>
            <a:chExt cx="2088" cy="1896"/>
          </a:xfrm>
        </p:grpSpPr>
        <p:sp>
          <p:nvSpPr>
            <p:cNvPr id="1355780" name="Freeform 4"/>
            <p:cNvSpPr>
              <a:spLocks/>
            </p:cNvSpPr>
            <p:nvPr/>
          </p:nvSpPr>
          <p:spPr bwMode="auto">
            <a:xfrm>
              <a:off x="1927" y="1553"/>
              <a:ext cx="1943" cy="1763"/>
            </a:xfrm>
            <a:custGeom>
              <a:avLst/>
              <a:gdLst>
                <a:gd name="T0" fmla="*/ 0 w 1943"/>
                <a:gd name="T1" fmla="*/ 1486 h 1763"/>
                <a:gd name="T2" fmla="*/ 998 w 1943"/>
                <a:gd name="T3" fmla="*/ 0 h 1763"/>
                <a:gd name="T4" fmla="*/ 1943 w 1943"/>
                <a:gd name="T5" fmla="*/ 1763 h 1763"/>
                <a:gd name="T6" fmla="*/ 0 w 1943"/>
                <a:gd name="T7" fmla="*/ 1486 h 1763"/>
              </a:gdLst>
              <a:ahLst/>
              <a:cxnLst>
                <a:cxn ang="0">
                  <a:pos x="T0" y="T1"/>
                </a:cxn>
                <a:cxn ang="0">
                  <a:pos x="T2" y="T3"/>
                </a:cxn>
                <a:cxn ang="0">
                  <a:pos x="T4" y="T5"/>
                </a:cxn>
                <a:cxn ang="0">
                  <a:pos x="T6" y="T7"/>
                </a:cxn>
              </a:cxnLst>
              <a:rect l="0" t="0" r="r" b="b"/>
              <a:pathLst>
                <a:path w="1943" h="1763">
                  <a:moveTo>
                    <a:pt x="0" y="1486"/>
                  </a:moveTo>
                  <a:lnTo>
                    <a:pt x="998" y="0"/>
                  </a:lnTo>
                  <a:lnTo>
                    <a:pt x="1943" y="1763"/>
                  </a:lnTo>
                  <a:lnTo>
                    <a:pt x="0" y="1486"/>
                  </a:lnTo>
                  <a:close/>
                </a:path>
              </a:pathLst>
            </a:custGeom>
            <a:solidFill>
              <a:schemeClr val="accent1"/>
            </a:solidFill>
            <a:ln w="19050" cmpd="sng">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GB"/>
            </a:p>
          </p:txBody>
        </p:sp>
        <p:sp>
          <p:nvSpPr>
            <p:cNvPr id="1355781" name="Oval 5"/>
            <p:cNvSpPr>
              <a:spLocks noChangeArrowheads="1"/>
            </p:cNvSpPr>
            <p:nvPr/>
          </p:nvSpPr>
          <p:spPr bwMode="auto">
            <a:xfrm>
              <a:off x="1855" y="2968"/>
              <a:ext cx="150" cy="141"/>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5782" name="Oval 6"/>
            <p:cNvSpPr>
              <a:spLocks noChangeArrowheads="1"/>
            </p:cNvSpPr>
            <p:nvPr/>
          </p:nvSpPr>
          <p:spPr bwMode="auto">
            <a:xfrm>
              <a:off x="3793" y="3244"/>
              <a:ext cx="150" cy="141"/>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GB"/>
            </a:p>
          </p:txBody>
        </p:sp>
        <p:sp>
          <p:nvSpPr>
            <p:cNvPr id="1355783" name="Oval 7"/>
            <p:cNvSpPr>
              <a:spLocks noChangeArrowheads="1"/>
            </p:cNvSpPr>
            <p:nvPr/>
          </p:nvSpPr>
          <p:spPr bwMode="auto">
            <a:xfrm>
              <a:off x="2847" y="1489"/>
              <a:ext cx="150" cy="141"/>
            </a:xfrm>
            <a:prstGeom prst="ellipse">
              <a:avLst/>
            </a:prstGeom>
            <a:solidFill>
              <a:schemeClr val="accent2"/>
            </a:solidFill>
            <a:ln w="1905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GB"/>
            </a:p>
          </p:txBody>
        </p:sp>
      </p:grpSp>
      <p:sp>
        <p:nvSpPr>
          <p:cNvPr id="1355784" name="Text Box 8"/>
          <p:cNvSpPr txBox="1">
            <a:spLocks noChangeArrowheads="1"/>
          </p:cNvSpPr>
          <p:nvPr/>
        </p:nvSpPr>
        <p:spPr bwMode="auto">
          <a:xfrm>
            <a:off x="6527800" y="2198688"/>
            <a:ext cx="1870504"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dirty="0">
                <a:latin typeface="Arial" charset="0"/>
              </a:rPr>
              <a:t>fluid pressure, </a:t>
            </a:r>
            <a:r>
              <a:rPr lang="en-US" i="1" dirty="0">
                <a:latin typeface="Arial" charset="0"/>
              </a:rPr>
              <a:t>p</a:t>
            </a:r>
          </a:p>
          <a:p>
            <a:r>
              <a:rPr lang="en-US" dirty="0">
                <a:latin typeface="Arial" charset="0"/>
              </a:rPr>
              <a:t>viscosity</a:t>
            </a:r>
            <a:r>
              <a:rPr lang="en-US" i="1" dirty="0">
                <a:latin typeface="Arial" charset="0"/>
              </a:rPr>
              <a:t>, μ</a:t>
            </a:r>
            <a:endParaRPr lang="en-GB" i="1" dirty="0">
              <a:latin typeface="Arial" charset="0"/>
            </a:endParaRPr>
          </a:p>
        </p:txBody>
      </p:sp>
      <p:sp>
        <p:nvSpPr>
          <p:cNvPr id="1355785" name="Text Box 9"/>
          <p:cNvSpPr txBox="1">
            <a:spLocks noChangeArrowheads="1"/>
          </p:cNvSpPr>
          <p:nvPr/>
        </p:nvSpPr>
        <p:spPr bwMode="auto">
          <a:xfrm>
            <a:off x="5453487" y="3668831"/>
            <a:ext cx="1685077"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a:r>
              <a:rPr lang="en-US" dirty="0">
                <a:latin typeface="Arial" charset="0"/>
              </a:rPr>
              <a:t>Element</a:t>
            </a:r>
          </a:p>
          <a:p>
            <a:pPr algn="ctr"/>
            <a:r>
              <a:rPr lang="en-US" sz="1800" dirty="0">
                <a:latin typeface="Arial" charset="0"/>
              </a:rPr>
              <a:t>permeability, </a:t>
            </a:r>
            <a:r>
              <a:rPr lang="en-US" sz="1800" b="1" dirty="0">
                <a:latin typeface="Arial" charset="0"/>
              </a:rPr>
              <a:t>k</a:t>
            </a:r>
          </a:p>
          <a:p>
            <a:pPr algn="ctr"/>
            <a:r>
              <a:rPr lang="en-US" sz="1800" dirty="0">
                <a:latin typeface="Arial" charset="0"/>
              </a:rPr>
              <a:t>porosity, </a:t>
            </a:r>
            <a:r>
              <a:rPr lang="en-US" sz="1800" dirty="0" err="1">
                <a:latin typeface="Arial" charset="0"/>
              </a:rPr>
              <a:t>ϕ</a:t>
            </a:r>
            <a:endParaRPr lang="en-US" sz="1800" i="1" dirty="0">
              <a:latin typeface="Arial" charset="0"/>
            </a:endParaRPr>
          </a:p>
          <a:p>
            <a:pPr algn="ctr"/>
            <a:r>
              <a:rPr lang="en-US" sz="1800" dirty="0">
                <a:latin typeface="Arial" charset="0"/>
              </a:rPr>
              <a:t>velocity, </a:t>
            </a:r>
            <a:r>
              <a:rPr lang="en-US" sz="1800" i="1" dirty="0">
                <a:latin typeface="Arial" charset="0"/>
              </a:rPr>
              <a:t>v</a:t>
            </a:r>
            <a:endParaRPr lang="en-GB" sz="1800" i="1" dirty="0">
              <a:latin typeface="Arial" charset="0"/>
            </a:endParaRPr>
          </a:p>
        </p:txBody>
      </p:sp>
      <p:sp>
        <p:nvSpPr>
          <p:cNvPr id="1355786" name="Text Box 10"/>
          <p:cNvSpPr txBox="1">
            <a:spLocks noChangeArrowheads="1"/>
          </p:cNvSpPr>
          <p:nvPr/>
        </p:nvSpPr>
        <p:spPr bwMode="auto">
          <a:xfrm>
            <a:off x="3563888" y="2708920"/>
            <a:ext cx="2239962"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r>
              <a:rPr lang="en-US" sz="2000" dirty="0">
                <a:latin typeface="Arial" charset="0"/>
              </a:rPr>
              <a:t>Variable placement</a:t>
            </a:r>
            <a:endParaRPr lang="en-GB" sz="2000" dirty="0">
              <a:latin typeface="Arial" charset="0"/>
            </a:endParaRPr>
          </a:p>
        </p:txBody>
      </p:sp>
      <p:graphicFrame>
        <p:nvGraphicFramePr>
          <p:cNvPr id="1355787" name="Object 11"/>
          <p:cNvGraphicFramePr>
            <a:graphicFrameLocks noChangeAspect="1"/>
          </p:cNvGraphicFramePr>
          <p:nvPr/>
        </p:nvGraphicFramePr>
        <p:xfrm>
          <a:off x="825500" y="2012950"/>
          <a:ext cx="2208213" cy="3638550"/>
        </p:xfrm>
        <a:graphic>
          <a:graphicData uri="http://schemas.openxmlformats.org/presentationml/2006/ole">
            <mc:AlternateContent xmlns:mc="http://schemas.openxmlformats.org/markup-compatibility/2006">
              <mc:Choice xmlns:v="urn:schemas-microsoft-com:vml" Requires="v">
                <p:oleObj spid="_x0000_s5430" name="Equation" r:id="rId4" imgW="939600" imgH="1549080" progId="Equation.DSMT4">
                  <p:embed/>
                </p:oleObj>
              </mc:Choice>
              <mc:Fallback>
                <p:oleObj name="Equation" r:id="rId4" imgW="939600" imgH="15490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500" y="2012950"/>
                        <a:ext cx="2208213" cy="3638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355788" name="Text Box 12"/>
          <p:cNvSpPr txBox="1">
            <a:spLocks noChangeArrowheads="1"/>
          </p:cNvSpPr>
          <p:nvPr/>
        </p:nvSpPr>
        <p:spPr bwMode="auto">
          <a:xfrm>
            <a:off x="5436096" y="5538718"/>
            <a:ext cx="3598033"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1600" i="1" dirty="0">
                <a:latin typeface="Arial" charset="0"/>
              </a:rPr>
              <a:t>e.g., Matthai et al. (AAPG Bull. 1996)</a:t>
            </a:r>
          </a:p>
        </p:txBody>
      </p:sp>
      <p:sp>
        <p:nvSpPr>
          <p:cNvPr id="2" name="TextBox 1"/>
          <p:cNvSpPr txBox="1"/>
          <p:nvPr/>
        </p:nvSpPr>
        <p:spPr>
          <a:xfrm>
            <a:off x="582963" y="5733256"/>
            <a:ext cx="4709117" cy="646331"/>
          </a:xfrm>
          <a:prstGeom prst="rect">
            <a:avLst/>
          </a:prstGeom>
          <a:noFill/>
        </p:spPr>
        <p:txBody>
          <a:bodyPr wrap="none" rtlCol="0">
            <a:spAutoFit/>
          </a:bodyPr>
          <a:lstStyle/>
          <a:p>
            <a:r>
              <a:rPr lang="en-GB" i="1" dirty="0"/>
              <a:t>Gives linear variation of pressure in element</a:t>
            </a:r>
          </a:p>
          <a:p>
            <a:r>
              <a:rPr lang="en-GB" i="1" dirty="0"/>
              <a:t>and piecewise constant velocity via Darcy’s law</a:t>
            </a:r>
          </a:p>
        </p:txBody>
      </p:sp>
      <p:sp>
        <p:nvSpPr>
          <p:cNvPr id="14"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pPr/>
              <a:t>79</a:t>
            </a:fld>
            <a:endParaRPr lang="en-US" dirty="0"/>
          </a:p>
        </p:txBody>
      </p:sp>
      <p:sp>
        <p:nvSpPr>
          <p:cNvPr id="15" name="Date Placeholder 6"/>
          <p:cNvSpPr>
            <a:spLocks noGrp="1"/>
          </p:cNvSpPr>
          <p:nvPr>
            <p:ph type="dt" sz="half" idx="10"/>
          </p:nvPr>
        </p:nvSpPr>
        <p:spPr>
          <a:xfrm>
            <a:off x="35496" y="6492875"/>
            <a:ext cx="2133600" cy="365125"/>
          </a:xfrm>
        </p:spPr>
        <p:txBody>
          <a:bodyPr/>
          <a:lstStyle/>
          <a:p>
            <a:fld id="{670F7173-20DF-5644-8503-00F389326E08}" type="datetime1">
              <a:rPr lang="en-US" smtClean="0"/>
              <a:pPr/>
              <a:t>3/17/19</a:t>
            </a:fld>
            <a:endParaRPr lang="en-US"/>
          </a:p>
        </p:txBody>
      </p:sp>
      <p:sp>
        <p:nvSpPr>
          <p:cNvPr id="16" name="Footer Placeholder 8"/>
          <p:cNvSpPr>
            <a:spLocks noGrp="1"/>
          </p:cNvSpPr>
          <p:nvPr>
            <p:ph type="ftr" sz="quarter" idx="11"/>
          </p:nvPr>
        </p:nvSpPr>
        <p:spPr>
          <a:xfrm>
            <a:off x="3124200" y="6492875"/>
            <a:ext cx="2895600" cy="365125"/>
          </a:xfrm>
        </p:spPr>
        <p:txBody>
          <a:bodyPr/>
          <a:lstStyle/>
          <a:p>
            <a:endParaRPr lang="en-US" dirty="0"/>
          </a:p>
          <a:p>
            <a:r>
              <a:rPr lang="en-US" dirty="0"/>
              <a:t>FEM-FVM framework</a:t>
            </a:r>
          </a:p>
          <a:p>
            <a:endParaRPr lang="en-US" dirty="0"/>
          </a:p>
        </p:txBody>
      </p:sp>
    </p:spTree>
    <p:extLst>
      <p:ext uri="{BB962C8B-B14F-4D97-AF65-F5344CB8AC3E}">
        <p14:creationId xmlns:p14="http://schemas.microsoft.com/office/powerpoint/2010/main" val="18402002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376582" y="206674"/>
            <a:ext cx="8162925" cy="846062"/>
          </a:xfrm>
        </p:spPr>
        <p:txBody>
          <a:bodyPr>
            <a:normAutofit fontScale="90000"/>
          </a:bodyPr>
          <a:lstStyle/>
          <a:p>
            <a:pPr eaLnBrk="1" hangingPunct="1"/>
            <a:r>
              <a:rPr lang="en-US" dirty="0">
                <a:latin typeface="Arial" charset="0"/>
                <a:ea typeface="ＭＳ Ｐゴシック" charset="0"/>
                <a:cs typeface="ＭＳ Ｐゴシック" charset="0"/>
              </a:rPr>
              <a:t>Implementation:</a:t>
            </a:r>
            <a:br>
              <a:rPr lang="en-US" dirty="0">
                <a:latin typeface="Arial" charset="0"/>
                <a:ea typeface="ＭＳ Ｐゴシック" charset="0"/>
                <a:cs typeface="ＭＳ Ｐゴシック" charset="0"/>
              </a:rPr>
            </a:br>
            <a:r>
              <a:rPr lang="en-US" dirty="0">
                <a:latin typeface="Arial" charset="0"/>
                <a:ea typeface="ＭＳ Ｐゴシック" charset="0"/>
                <a:cs typeface="ＭＳ Ｐゴシック" charset="0"/>
              </a:rPr>
              <a:t>Basic terminology</a:t>
            </a:r>
            <a:endParaRPr lang="en-GB" dirty="0">
              <a:latin typeface="Arial" charset="0"/>
              <a:ea typeface="ＭＳ Ｐゴシック" charset="0"/>
              <a:cs typeface="ＭＳ Ｐゴシック" charset="0"/>
            </a:endParaRPr>
          </a:p>
        </p:txBody>
      </p:sp>
      <p:sp>
        <p:nvSpPr>
          <p:cNvPr id="31774" name="Text Box 28"/>
          <p:cNvSpPr txBox="1">
            <a:spLocks noChangeArrowheads="1"/>
          </p:cNvSpPr>
          <p:nvPr/>
        </p:nvSpPr>
        <p:spPr bwMode="auto">
          <a:xfrm>
            <a:off x="1389800" y="5986463"/>
            <a:ext cx="609233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i="1" dirty="0">
                <a:latin typeface="+mj-lt"/>
              </a:rPr>
              <a:t>NB: Facet </a:t>
            </a:r>
            <a:r>
              <a:rPr lang="en-US" sz="1600" i="1" dirty="0" err="1">
                <a:latin typeface="+mj-lt"/>
              </a:rPr>
              <a:t>normals</a:t>
            </a:r>
            <a:r>
              <a:rPr lang="en-US" sz="1600" i="1" dirty="0">
                <a:latin typeface="+mj-lt"/>
              </a:rPr>
              <a:t> always point to node with higher local number</a:t>
            </a:r>
          </a:p>
        </p:txBody>
      </p:sp>
      <p:grpSp>
        <p:nvGrpSpPr>
          <p:cNvPr id="5" name="Group 4"/>
          <p:cNvGrpSpPr/>
          <p:nvPr/>
        </p:nvGrpSpPr>
        <p:grpSpPr>
          <a:xfrm>
            <a:off x="94492" y="1197488"/>
            <a:ext cx="5962165" cy="4714875"/>
            <a:chOff x="1245085" y="996950"/>
            <a:chExt cx="5962165" cy="4714875"/>
          </a:xfrm>
        </p:grpSpPr>
        <p:sp>
          <p:nvSpPr>
            <p:cNvPr id="31749" name="Freeform 3"/>
            <p:cNvSpPr>
              <a:spLocks/>
            </p:cNvSpPr>
            <p:nvPr/>
          </p:nvSpPr>
          <p:spPr bwMode="auto">
            <a:xfrm>
              <a:off x="2516188" y="1801813"/>
              <a:ext cx="3857625" cy="3402012"/>
            </a:xfrm>
            <a:custGeom>
              <a:avLst/>
              <a:gdLst>
                <a:gd name="T0" fmla="*/ 0 w 2430"/>
                <a:gd name="T1" fmla="*/ 2147483647 h 2143"/>
                <a:gd name="T2" fmla="*/ 2147483647 w 2430"/>
                <a:gd name="T3" fmla="*/ 0 h 2143"/>
                <a:gd name="T4" fmla="*/ 2147483647 w 2430"/>
                <a:gd name="T5" fmla="*/ 2147483647 h 2143"/>
                <a:gd name="T6" fmla="*/ 0 w 2430"/>
                <a:gd name="T7" fmla="*/ 2147483647 h 2143"/>
                <a:gd name="T8" fmla="*/ 0 60000 65536"/>
                <a:gd name="T9" fmla="*/ 0 60000 65536"/>
                <a:gd name="T10" fmla="*/ 0 60000 65536"/>
                <a:gd name="T11" fmla="*/ 0 60000 65536"/>
                <a:gd name="T12" fmla="*/ 0 w 2430"/>
                <a:gd name="T13" fmla="*/ 0 h 2143"/>
                <a:gd name="T14" fmla="*/ 2430 w 2430"/>
                <a:gd name="T15" fmla="*/ 2143 h 2143"/>
              </a:gdLst>
              <a:ahLst/>
              <a:cxnLst>
                <a:cxn ang="T8">
                  <a:pos x="T0" y="T1"/>
                </a:cxn>
                <a:cxn ang="T9">
                  <a:pos x="T2" y="T3"/>
                </a:cxn>
                <a:cxn ang="T10">
                  <a:pos x="T4" y="T5"/>
                </a:cxn>
                <a:cxn ang="T11">
                  <a:pos x="T6" y="T7"/>
                </a:cxn>
              </a:cxnLst>
              <a:rect l="T12" t="T13" r="T14" b="T15"/>
              <a:pathLst>
                <a:path w="2430" h="2143">
                  <a:moveTo>
                    <a:pt x="0" y="2143"/>
                  </a:moveTo>
                  <a:lnTo>
                    <a:pt x="1252" y="0"/>
                  </a:lnTo>
                  <a:lnTo>
                    <a:pt x="2430" y="2104"/>
                  </a:lnTo>
                  <a:lnTo>
                    <a:pt x="0" y="2143"/>
                  </a:lnTo>
                  <a:close/>
                </a:path>
              </a:pathLst>
            </a:custGeom>
            <a:solidFill>
              <a:schemeClr val="accent1"/>
            </a:solidFill>
            <a:ln w="28575">
              <a:solidFill>
                <a:schemeClr val="tx1"/>
              </a:solidFill>
              <a:miter lim="800000"/>
              <a:headEnd/>
              <a:tailEnd/>
            </a:ln>
          </p:spPr>
          <p:txBody>
            <a:bodyPr wrap="none"/>
            <a:lstStyle/>
            <a:p>
              <a:endParaRPr lang="en-US" dirty="0"/>
            </a:p>
          </p:txBody>
        </p:sp>
        <p:sp>
          <p:nvSpPr>
            <p:cNvPr id="31750" name="Oval 4"/>
            <p:cNvSpPr>
              <a:spLocks noChangeArrowheads="1"/>
            </p:cNvSpPr>
            <p:nvPr/>
          </p:nvSpPr>
          <p:spPr bwMode="auto">
            <a:xfrm>
              <a:off x="2378075" y="5080000"/>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31751" name="Oval 5"/>
            <p:cNvSpPr>
              <a:spLocks noChangeArrowheads="1"/>
            </p:cNvSpPr>
            <p:nvPr/>
          </p:nvSpPr>
          <p:spPr bwMode="auto">
            <a:xfrm>
              <a:off x="6229350" y="5026025"/>
              <a:ext cx="288925" cy="255588"/>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31752" name="Oval 6"/>
            <p:cNvSpPr>
              <a:spLocks noChangeArrowheads="1"/>
            </p:cNvSpPr>
            <p:nvPr/>
          </p:nvSpPr>
          <p:spPr bwMode="auto">
            <a:xfrm>
              <a:off x="4359275" y="1671638"/>
              <a:ext cx="288925" cy="255587"/>
            </a:xfrm>
            <a:prstGeom prst="ellipse">
              <a:avLst/>
            </a:prstGeom>
            <a:solidFill>
              <a:schemeClr val="accent1"/>
            </a:solidFill>
            <a:ln w="28575">
              <a:solidFill>
                <a:schemeClr val="tx1"/>
              </a:solidFill>
              <a:miter lim="800000"/>
              <a:headEnd/>
              <a:tailEnd/>
            </a:ln>
          </p:spPr>
          <p:txBody>
            <a:bodyPr wrap="none" anchor="ctr"/>
            <a:lstStyle/>
            <a:p>
              <a:endParaRPr lang="en-US"/>
            </a:p>
          </p:txBody>
        </p:sp>
        <p:sp>
          <p:nvSpPr>
            <p:cNvPr id="31753" name="Line 7"/>
            <p:cNvSpPr>
              <a:spLocks noChangeShapeType="1"/>
            </p:cNvSpPr>
            <p:nvPr/>
          </p:nvSpPr>
          <p:spPr bwMode="auto">
            <a:xfrm>
              <a:off x="4503738" y="3863975"/>
              <a:ext cx="20637" cy="1306513"/>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1754" name="Line 8"/>
            <p:cNvSpPr>
              <a:spLocks noChangeShapeType="1"/>
            </p:cNvSpPr>
            <p:nvPr/>
          </p:nvSpPr>
          <p:spPr bwMode="auto">
            <a:xfrm flipV="1">
              <a:off x="4505325" y="3535363"/>
              <a:ext cx="962025" cy="336550"/>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1755" name="Line 9"/>
            <p:cNvSpPr>
              <a:spLocks noChangeShapeType="1"/>
            </p:cNvSpPr>
            <p:nvPr/>
          </p:nvSpPr>
          <p:spPr bwMode="auto">
            <a:xfrm>
              <a:off x="3551238" y="3433763"/>
              <a:ext cx="962025" cy="433387"/>
            </a:xfrm>
            <a:prstGeom prst="line">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1756" name="Line 10"/>
            <p:cNvSpPr>
              <a:spLocks noChangeShapeType="1"/>
            </p:cNvSpPr>
            <p:nvPr/>
          </p:nvSpPr>
          <p:spPr bwMode="auto">
            <a:xfrm flipV="1">
              <a:off x="4516438" y="4475163"/>
              <a:ext cx="598487" cy="3492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US"/>
            </a:p>
          </p:txBody>
        </p:sp>
        <p:sp>
          <p:nvSpPr>
            <p:cNvPr id="31757" name="Oval 11"/>
            <p:cNvSpPr>
              <a:spLocks noChangeArrowheads="1"/>
            </p:cNvSpPr>
            <p:nvPr/>
          </p:nvSpPr>
          <p:spPr bwMode="auto">
            <a:xfrm>
              <a:off x="3644900" y="4386263"/>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58" name="Oval 12"/>
            <p:cNvSpPr>
              <a:spLocks noChangeArrowheads="1"/>
            </p:cNvSpPr>
            <p:nvPr/>
          </p:nvSpPr>
          <p:spPr bwMode="auto">
            <a:xfrm>
              <a:off x="4429125" y="300513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59" name="Oval 13"/>
            <p:cNvSpPr>
              <a:spLocks noChangeArrowheads="1"/>
            </p:cNvSpPr>
            <p:nvPr/>
          </p:nvSpPr>
          <p:spPr bwMode="auto">
            <a:xfrm>
              <a:off x="5186363" y="4408488"/>
              <a:ext cx="165100" cy="144462"/>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0" name="Text Box 14"/>
            <p:cNvSpPr txBox="1">
              <a:spLocks noChangeArrowheads="1"/>
            </p:cNvSpPr>
            <p:nvPr/>
          </p:nvSpPr>
          <p:spPr bwMode="auto">
            <a:xfrm>
              <a:off x="3744913" y="996950"/>
              <a:ext cx="1517650" cy="641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FiniteVolume</a:t>
              </a:r>
            </a:p>
            <a:p>
              <a:pPr eaLnBrk="1" hangingPunct="1"/>
              <a:r>
                <a:rPr lang="en-US" sz="1800">
                  <a:latin typeface="Arial" charset="0"/>
                </a:rPr>
                <a:t>=FEM node</a:t>
              </a:r>
              <a:endParaRPr lang="en-GB" sz="1800">
                <a:latin typeface="Arial" charset="0"/>
              </a:endParaRPr>
            </a:p>
          </p:txBody>
        </p:sp>
        <p:sp>
          <p:nvSpPr>
            <p:cNvPr id="31761" name="Text Box 15"/>
            <p:cNvSpPr txBox="1">
              <a:spLocks noChangeArrowheads="1"/>
            </p:cNvSpPr>
            <p:nvPr/>
          </p:nvSpPr>
          <p:spPr bwMode="auto">
            <a:xfrm>
              <a:off x="3151935" y="4641850"/>
              <a:ext cx="1200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FV Sector</a:t>
              </a:r>
              <a:endParaRPr lang="en-GB" sz="1800" dirty="0">
                <a:latin typeface="Arial" charset="0"/>
              </a:endParaRPr>
            </a:p>
          </p:txBody>
        </p:sp>
        <p:sp>
          <p:nvSpPr>
            <p:cNvPr id="31762" name="Text Box 16"/>
            <p:cNvSpPr txBox="1">
              <a:spLocks noChangeArrowheads="1"/>
            </p:cNvSpPr>
            <p:nvPr/>
          </p:nvSpPr>
          <p:spPr bwMode="auto">
            <a:xfrm>
              <a:off x="4021138" y="5208588"/>
              <a:ext cx="11112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FV Facet</a:t>
              </a:r>
              <a:endParaRPr lang="en-GB" sz="1800">
                <a:latin typeface="Arial" charset="0"/>
              </a:endParaRPr>
            </a:p>
          </p:txBody>
        </p:sp>
        <p:sp>
          <p:nvSpPr>
            <p:cNvPr id="31763" name="Text Box 17"/>
            <p:cNvSpPr txBox="1">
              <a:spLocks noChangeArrowheads="1"/>
            </p:cNvSpPr>
            <p:nvPr/>
          </p:nvSpPr>
          <p:spPr bwMode="auto">
            <a:xfrm>
              <a:off x="1824038" y="5345113"/>
              <a:ext cx="1352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inside node</a:t>
              </a:r>
              <a:endParaRPr lang="en-GB" sz="1800">
                <a:latin typeface="Arial" charset="0"/>
              </a:endParaRPr>
            </a:p>
          </p:txBody>
        </p:sp>
        <p:sp>
          <p:nvSpPr>
            <p:cNvPr id="31764" name="Text Box 18"/>
            <p:cNvSpPr txBox="1">
              <a:spLocks noChangeArrowheads="1"/>
            </p:cNvSpPr>
            <p:nvPr/>
          </p:nvSpPr>
          <p:spPr bwMode="auto">
            <a:xfrm>
              <a:off x="5715000" y="5235575"/>
              <a:ext cx="14922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a:latin typeface="Arial" charset="0"/>
                </a:rPr>
                <a:t>outside node</a:t>
              </a:r>
              <a:endParaRPr lang="en-GB" sz="1800">
                <a:latin typeface="Arial" charset="0"/>
              </a:endParaRPr>
            </a:p>
          </p:txBody>
        </p:sp>
        <p:sp>
          <p:nvSpPr>
            <p:cNvPr id="31765" name="Oval 19"/>
            <p:cNvSpPr>
              <a:spLocks noChangeArrowheads="1"/>
            </p:cNvSpPr>
            <p:nvPr/>
          </p:nvSpPr>
          <p:spPr bwMode="auto">
            <a:xfrm>
              <a:off x="4441825" y="4427538"/>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6" name="Oval 20"/>
            <p:cNvSpPr>
              <a:spLocks noChangeArrowheads="1"/>
            </p:cNvSpPr>
            <p:nvPr/>
          </p:nvSpPr>
          <p:spPr bwMode="auto">
            <a:xfrm>
              <a:off x="4895850" y="3638550"/>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7" name="Oval 21"/>
            <p:cNvSpPr>
              <a:spLocks noChangeArrowheads="1"/>
            </p:cNvSpPr>
            <p:nvPr/>
          </p:nvSpPr>
          <p:spPr bwMode="auto">
            <a:xfrm>
              <a:off x="3940175" y="3565525"/>
              <a:ext cx="157163" cy="158750"/>
            </a:xfrm>
            <a:prstGeom prst="ellipse">
              <a:avLst/>
            </a:prstGeom>
            <a:solidFill>
              <a:srgbClr val="808080"/>
            </a:solidFill>
            <a:ln w="19050">
              <a:solidFill>
                <a:schemeClr val="tx1"/>
              </a:solidFill>
              <a:miter lim="800000"/>
              <a:headEnd/>
              <a:tailEnd/>
            </a:ln>
          </p:spPr>
          <p:txBody>
            <a:bodyPr wrap="none" anchor="ctr"/>
            <a:lstStyle/>
            <a:p>
              <a:endParaRPr lang="en-US"/>
            </a:p>
          </p:txBody>
        </p:sp>
        <p:sp>
          <p:nvSpPr>
            <p:cNvPr id="31768" name="Text Box 22"/>
            <p:cNvSpPr txBox="1">
              <a:spLocks noChangeArrowheads="1"/>
            </p:cNvSpPr>
            <p:nvPr/>
          </p:nvSpPr>
          <p:spPr bwMode="auto">
            <a:xfrm>
              <a:off x="4033323" y="2656638"/>
              <a:ext cx="24955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sector integration point</a:t>
              </a:r>
              <a:endParaRPr lang="en-GB" sz="1800" dirty="0">
                <a:latin typeface="Arial" charset="0"/>
              </a:endParaRPr>
            </a:p>
          </p:txBody>
        </p:sp>
        <p:sp>
          <p:nvSpPr>
            <p:cNvPr id="31769" name="Rectangle 23"/>
            <p:cNvSpPr>
              <a:spLocks noChangeArrowheads="1"/>
            </p:cNvSpPr>
            <p:nvPr/>
          </p:nvSpPr>
          <p:spPr bwMode="auto">
            <a:xfrm>
              <a:off x="1245085" y="1963969"/>
              <a:ext cx="2454275" cy="946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2000" dirty="0" err="1">
                  <a:latin typeface="Arial" charset="0"/>
                </a:rPr>
                <a:t>FiniteVolumeStencil</a:t>
              </a:r>
              <a:endParaRPr lang="en-US" sz="2000" dirty="0">
                <a:latin typeface="Arial" charset="0"/>
              </a:endParaRPr>
            </a:p>
            <a:p>
              <a:r>
                <a:rPr lang="en-US" dirty="0">
                  <a:latin typeface="Arial" charset="0"/>
                </a:rPr>
                <a:t>(as illustrated for linear triangle)</a:t>
              </a:r>
            </a:p>
          </p:txBody>
        </p:sp>
        <p:sp>
          <p:nvSpPr>
            <p:cNvPr id="31770" name="Text Box 24"/>
            <p:cNvSpPr txBox="1">
              <a:spLocks noChangeArrowheads="1"/>
            </p:cNvSpPr>
            <p:nvPr/>
          </p:nvSpPr>
          <p:spPr bwMode="auto">
            <a:xfrm>
              <a:off x="5002910" y="3249698"/>
              <a:ext cx="1434698" cy="92333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facet integration point</a:t>
              </a:r>
              <a:endParaRPr lang="en-GB" sz="1800" dirty="0">
                <a:latin typeface="Arial" charset="0"/>
              </a:endParaRPr>
            </a:p>
          </p:txBody>
        </p:sp>
        <p:sp>
          <p:nvSpPr>
            <p:cNvPr id="31771" name="Line 25"/>
            <p:cNvSpPr>
              <a:spLocks noChangeShapeType="1"/>
            </p:cNvSpPr>
            <p:nvPr/>
          </p:nvSpPr>
          <p:spPr bwMode="auto">
            <a:xfrm flipV="1">
              <a:off x="5608638" y="2522538"/>
              <a:ext cx="752475" cy="95567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1772" name="Line 26"/>
            <p:cNvSpPr>
              <a:spLocks noChangeShapeType="1"/>
            </p:cNvSpPr>
            <p:nvPr/>
          </p:nvSpPr>
          <p:spPr bwMode="auto">
            <a:xfrm flipH="1" flipV="1">
              <a:off x="2922588" y="2628900"/>
              <a:ext cx="596900" cy="75882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1773" name="Line 27"/>
            <p:cNvSpPr>
              <a:spLocks noChangeShapeType="1"/>
            </p:cNvSpPr>
            <p:nvPr/>
          </p:nvSpPr>
          <p:spPr bwMode="auto">
            <a:xfrm flipV="1">
              <a:off x="6376988" y="1355725"/>
              <a:ext cx="146050" cy="1158875"/>
            </a:xfrm>
            <a:prstGeom prst="line">
              <a:avLst/>
            </a:prstGeom>
            <a:noFill/>
            <a:ln w="9525">
              <a:solidFill>
                <a:schemeClr val="tx1"/>
              </a:solidFill>
              <a:miter lim="800000"/>
              <a:headEnd/>
              <a:tailEnd/>
            </a:ln>
            <a:extLst>
              <a:ext uri="{909E8E84-426E-40dd-AFC4-6F175D3DCCD1}">
                <a14:hiddenFill xmlns:a14="http://schemas.microsoft.com/office/drawing/2010/main" xmlns="">
                  <a:noFill/>
                </a14:hiddenFill>
              </a:ext>
            </a:extLst>
          </p:spPr>
          <p:txBody>
            <a:bodyPr wrap="none"/>
            <a:lstStyle/>
            <a:p>
              <a:endParaRPr lang="en-US"/>
            </a:p>
          </p:txBody>
        </p:sp>
        <p:sp>
          <p:nvSpPr>
            <p:cNvPr id="31" name="Text Box 24"/>
            <p:cNvSpPr txBox="1">
              <a:spLocks noChangeArrowheads="1"/>
            </p:cNvSpPr>
            <p:nvPr/>
          </p:nvSpPr>
          <p:spPr bwMode="auto">
            <a:xfrm rot="18000000">
              <a:off x="1825938" y="3596518"/>
              <a:ext cx="263557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err="1">
                  <a:latin typeface="Arial" charset="0"/>
                </a:rPr>
                <a:t>subface</a:t>
              </a:r>
              <a:r>
                <a:rPr lang="en-US" sz="1800" dirty="0">
                  <a:latin typeface="Arial" charset="0"/>
                </a:rPr>
                <a:t> of element face</a:t>
              </a:r>
              <a:endParaRPr lang="en-GB" sz="1800" dirty="0">
                <a:latin typeface="Arial" charset="0"/>
              </a:endParaRPr>
            </a:p>
          </p:txBody>
        </p:sp>
        <p:sp>
          <p:nvSpPr>
            <p:cNvPr id="2" name="TextBox 1"/>
            <p:cNvSpPr txBox="1"/>
            <p:nvPr/>
          </p:nvSpPr>
          <p:spPr>
            <a:xfrm>
              <a:off x="4336480" y="2030451"/>
              <a:ext cx="321272" cy="369332"/>
            </a:xfrm>
            <a:prstGeom prst="rect">
              <a:avLst/>
            </a:prstGeom>
            <a:noFill/>
          </p:spPr>
          <p:txBody>
            <a:bodyPr wrap="none" rtlCol="0">
              <a:spAutoFit/>
            </a:bodyPr>
            <a:lstStyle/>
            <a:p>
              <a:r>
                <a:rPr lang="en-US" dirty="0"/>
                <a:t>x</a:t>
              </a:r>
            </a:p>
          </p:txBody>
        </p:sp>
        <p:sp>
          <p:nvSpPr>
            <p:cNvPr id="33" name="TextBox 32"/>
            <p:cNvSpPr txBox="1"/>
            <p:nvPr/>
          </p:nvSpPr>
          <p:spPr>
            <a:xfrm>
              <a:off x="2809433" y="4739716"/>
              <a:ext cx="321272" cy="369332"/>
            </a:xfrm>
            <a:prstGeom prst="rect">
              <a:avLst/>
            </a:prstGeom>
            <a:noFill/>
          </p:spPr>
          <p:txBody>
            <a:bodyPr wrap="none" rtlCol="0">
              <a:spAutoFit/>
            </a:bodyPr>
            <a:lstStyle/>
            <a:p>
              <a:r>
                <a:rPr lang="en-US" dirty="0"/>
                <a:t>x</a:t>
              </a:r>
            </a:p>
          </p:txBody>
        </p:sp>
        <p:sp>
          <p:nvSpPr>
            <p:cNvPr id="34" name="TextBox 33"/>
            <p:cNvSpPr txBox="1"/>
            <p:nvPr/>
          </p:nvSpPr>
          <p:spPr>
            <a:xfrm>
              <a:off x="5802692" y="4683220"/>
              <a:ext cx="321272" cy="369332"/>
            </a:xfrm>
            <a:prstGeom prst="rect">
              <a:avLst/>
            </a:prstGeom>
            <a:noFill/>
          </p:spPr>
          <p:txBody>
            <a:bodyPr wrap="none" rtlCol="0">
              <a:spAutoFit/>
            </a:bodyPr>
            <a:lstStyle/>
            <a:p>
              <a:r>
                <a:rPr lang="en-US" dirty="0"/>
                <a:t>x</a:t>
              </a:r>
            </a:p>
          </p:txBody>
        </p:sp>
        <p:sp>
          <p:nvSpPr>
            <p:cNvPr id="35" name="Text Box 22"/>
            <p:cNvSpPr txBox="1">
              <a:spLocks noChangeArrowheads="1"/>
            </p:cNvSpPr>
            <p:nvPr/>
          </p:nvSpPr>
          <p:spPr bwMode="auto">
            <a:xfrm>
              <a:off x="4194099" y="2249211"/>
              <a:ext cx="218641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37931725" indent="-37474525" eaLnBrk="0" hangingPunct="0">
                <a:defRPr sz="2400">
                  <a:solidFill>
                    <a:schemeClr val="tx1"/>
                  </a:solidFill>
                  <a:latin typeface="Verdana" charset="0"/>
                  <a:ea typeface="ＭＳ Ｐゴシック" charset="0"/>
                </a:defRPr>
              </a:lvl2pPr>
              <a:lvl3pPr eaLnBrk="0" hangingPunct="0">
                <a:defRPr sz="2400">
                  <a:solidFill>
                    <a:schemeClr val="tx1"/>
                  </a:solidFill>
                  <a:latin typeface="Verdana" charset="0"/>
                  <a:ea typeface="ＭＳ Ｐゴシック" charset="0"/>
                </a:defRPr>
              </a:lvl3pPr>
              <a:lvl4pPr eaLnBrk="0" hangingPunct="0">
                <a:defRPr sz="2400">
                  <a:solidFill>
                    <a:schemeClr val="tx1"/>
                  </a:solidFill>
                  <a:latin typeface="Verdana" charset="0"/>
                  <a:ea typeface="ＭＳ Ｐゴシック" charset="0"/>
                </a:defRPr>
              </a:lvl4pPr>
              <a:lvl5pPr eaLnBrk="0" hangingPunct="0">
                <a:defRPr sz="2400">
                  <a:solidFill>
                    <a:schemeClr val="tx1"/>
                  </a:solidFill>
                  <a:latin typeface="Verdana" charset="0"/>
                  <a:ea typeface="ＭＳ Ｐゴシック" charset="0"/>
                </a:defRPr>
              </a:lvl5pPr>
              <a:lvl6pPr marL="457200" eaLnBrk="0" fontAlgn="base" hangingPunct="0">
                <a:spcBef>
                  <a:spcPct val="0"/>
                </a:spcBef>
                <a:spcAft>
                  <a:spcPct val="0"/>
                </a:spcAft>
                <a:defRPr sz="2400">
                  <a:solidFill>
                    <a:schemeClr val="tx1"/>
                  </a:solidFill>
                  <a:latin typeface="Verdana" charset="0"/>
                  <a:ea typeface="ＭＳ Ｐゴシック" charset="0"/>
                </a:defRPr>
              </a:lvl6pPr>
              <a:lvl7pPr marL="914400" eaLnBrk="0" fontAlgn="base" hangingPunct="0">
                <a:spcBef>
                  <a:spcPct val="0"/>
                </a:spcBef>
                <a:spcAft>
                  <a:spcPct val="0"/>
                </a:spcAft>
                <a:defRPr sz="2400">
                  <a:solidFill>
                    <a:schemeClr val="tx1"/>
                  </a:solidFill>
                  <a:latin typeface="Verdana" charset="0"/>
                  <a:ea typeface="ＭＳ Ｐゴシック" charset="0"/>
                </a:defRPr>
              </a:lvl7pPr>
              <a:lvl8pPr marL="1371600" eaLnBrk="0" fontAlgn="base" hangingPunct="0">
                <a:spcBef>
                  <a:spcPct val="0"/>
                </a:spcBef>
                <a:spcAft>
                  <a:spcPct val="0"/>
                </a:spcAft>
                <a:defRPr sz="2400">
                  <a:solidFill>
                    <a:schemeClr val="tx1"/>
                  </a:solidFill>
                  <a:latin typeface="Verdana" charset="0"/>
                  <a:ea typeface="ＭＳ Ｐゴシック" charset="0"/>
                </a:defRPr>
              </a:lvl8pPr>
              <a:lvl9pPr marL="18288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800" dirty="0">
                  <a:latin typeface="Arial" charset="0"/>
                </a:rPr>
                <a:t>FE integration point</a:t>
              </a:r>
              <a:endParaRPr lang="en-GB" sz="1800" dirty="0">
                <a:latin typeface="Arial" charset="0"/>
              </a:endParaRPr>
            </a:p>
          </p:txBody>
        </p:sp>
      </p:grpSp>
      <p:sp>
        <p:nvSpPr>
          <p:cNvPr id="40"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41"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42"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80</a:t>
            </a:fld>
            <a:endParaRPr lang="en-US" dirty="0">
              <a:solidFill>
                <a:prstClr val="white">
                  <a:lumMod val="65000"/>
                </a:prstClr>
              </a:solidFill>
              <a:ea typeface="+mn-ea"/>
            </a:endParaRPr>
          </a:p>
        </p:txBody>
      </p:sp>
      <p:pic>
        <p:nvPicPr>
          <p:cNvPr id="43" name="Picture 42"/>
          <p:cNvPicPr>
            <a:picLocks noChangeAspect="1"/>
          </p:cNvPicPr>
          <p:nvPr/>
        </p:nvPicPr>
        <p:blipFill>
          <a:blip r:embed="rId3"/>
          <a:stretch>
            <a:fillRect/>
          </a:stretch>
        </p:blipFill>
        <p:spPr>
          <a:xfrm>
            <a:off x="5452968" y="3358704"/>
            <a:ext cx="3443882" cy="1689673"/>
          </a:xfrm>
          <a:prstGeom prst="rect">
            <a:avLst/>
          </a:prstGeom>
        </p:spPr>
      </p:pic>
      <p:sp>
        <p:nvSpPr>
          <p:cNvPr id="44" name="Rectangle 43"/>
          <p:cNvSpPr/>
          <p:nvPr/>
        </p:nvSpPr>
        <p:spPr>
          <a:xfrm>
            <a:off x="4620304" y="188640"/>
            <a:ext cx="4523696" cy="2492990"/>
          </a:xfrm>
          <a:prstGeom prst="rect">
            <a:avLst/>
          </a:prstGeom>
        </p:spPr>
        <p:txBody>
          <a:bodyPr wrap="square">
            <a:spAutoFit/>
          </a:bodyPr>
          <a:lstStyle/>
          <a:p>
            <a:r>
              <a:rPr lang="en-US" sz="1200" dirty="0" err="1">
                <a:solidFill>
                  <a:srgbClr val="0000FF"/>
                </a:solidFill>
                <a:latin typeface="Courier"/>
                <a:cs typeface="Courier"/>
              </a:rPr>
              <a:t>enum</a:t>
            </a:r>
            <a:r>
              <a:rPr lang="en-US" sz="1200" dirty="0">
                <a:solidFill>
                  <a:srgbClr val="0000FF"/>
                </a:solidFill>
                <a:latin typeface="Courier"/>
                <a:cs typeface="Courier"/>
              </a:rPr>
              <a:t> </a:t>
            </a:r>
            <a:r>
              <a:rPr lang="en-US" sz="1200" dirty="0">
                <a:latin typeface="Courier"/>
                <a:cs typeface="Courier"/>
              </a:rPr>
              <a:t>PLACEMENT { ELEMENT_INTEGRATION_POINT,</a:t>
            </a:r>
          </a:p>
          <a:p>
            <a:r>
              <a:rPr lang="en-US" sz="1200" dirty="0">
                <a:latin typeface="Courier"/>
                <a:cs typeface="Courier"/>
              </a:rPr>
              <a:t>                 SECTOR_INTEGRATION_POINT,</a:t>
            </a:r>
          </a:p>
          <a:p>
            <a:r>
              <a:rPr lang="en-US" sz="1200" dirty="0">
                <a:latin typeface="Courier"/>
                <a:cs typeface="Courier"/>
              </a:rPr>
              <a:t>                 FACET_INTEGRATION_POINT,</a:t>
            </a:r>
          </a:p>
          <a:p>
            <a:r>
              <a:rPr lang="en-US" sz="1200" dirty="0">
                <a:latin typeface="Courier"/>
                <a:cs typeface="Courier"/>
              </a:rPr>
              <a:t>                 NODE,</a:t>
            </a:r>
          </a:p>
          <a:p>
            <a:r>
              <a:rPr lang="en-US" sz="1200" dirty="0">
                <a:latin typeface="Courier"/>
                <a:cs typeface="Courier"/>
              </a:rPr>
              <a:t>                 EDGE,</a:t>
            </a:r>
          </a:p>
          <a:p>
            <a:r>
              <a:rPr lang="en-US" sz="1200" dirty="0">
                <a:latin typeface="Courier"/>
                <a:cs typeface="Courier"/>
              </a:rPr>
              <a:t>                 FACE,</a:t>
            </a:r>
          </a:p>
          <a:p>
            <a:r>
              <a:rPr lang="en-US" sz="1200" dirty="0">
                <a:latin typeface="Courier"/>
                <a:cs typeface="Courier"/>
              </a:rPr>
              <a:t>                 INTER_FACE,</a:t>
            </a:r>
          </a:p>
          <a:p>
            <a:r>
              <a:rPr lang="en-US" sz="1200" dirty="0">
                <a:latin typeface="Courier"/>
                <a:cs typeface="Courier"/>
              </a:rPr>
              <a:t>                 ELEMENT,</a:t>
            </a:r>
          </a:p>
          <a:p>
            <a:r>
              <a:rPr lang="en-US" sz="1200" dirty="0">
                <a:latin typeface="Courier"/>
                <a:cs typeface="Courier"/>
              </a:rPr>
              <a:t>                 REGION,</a:t>
            </a:r>
          </a:p>
          <a:p>
            <a:r>
              <a:rPr lang="en-US" sz="1200" dirty="0">
                <a:latin typeface="Courier"/>
                <a:cs typeface="Courier"/>
              </a:rPr>
              <a:t>                 BOUNDARY,</a:t>
            </a:r>
          </a:p>
          <a:p>
            <a:r>
              <a:rPr lang="en-US" sz="1200" dirty="0">
                <a:latin typeface="Courier"/>
                <a:cs typeface="Courier"/>
              </a:rPr>
              <a:t>                 SPLIT_BOUNDARY,</a:t>
            </a:r>
          </a:p>
          <a:p>
            <a:r>
              <a:rPr lang="en-US" sz="1200" dirty="0">
                <a:latin typeface="Courier"/>
                <a:cs typeface="Courier"/>
              </a:rPr>
              <a:t>                 MODEL,</a:t>
            </a:r>
          </a:p>
          <a:p>
            <a:r>
              <a:rPr lang="en-US" sz="1200" dirty="0">
                <a:latin typeface="Courier"/>
                <a:cs typeface="Courier"/>
              </a:rPr>
              <a:t>                 UNDEFINED };</a:t>
            </a:r>
          </a:p>
        </p:txBody>
      </p:sp>
    </p:spTree>
    <p:extLst>
      <p:ext uri="{BB962C8B-B14F-4D97-AF65-F5344CB8AC3E}">
        <p14:creationId xmlns:p14="http://schemas.microsoft.com/office/powerpoint/2010/main" val="6994125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1" name="Rectangle 4"/>
          <p:cNvSpPr>
            <a:spLocks noGrp="1" noChangeArrowheads="1"/>
          </p:cNvSpPr>
          <p:nvPr>
            <p:ph type="title"/>
          </p:nvPr>
        </p:nvSpPr>
        <p:spPr>
          <a:xfrm>
            <a:off x="1192213" y="120650"/>
            <a:ext cx="7723187" cy="671513"/>
          </a:xfrm>
        </p:spPr>
        <p:txBody>
          <a:bodyPr/>
          <a:lstStyle/>
          <a:p>
            <a:pPr eaLnBrk="1" hangingPunct="1"/>
            <a:r>
              <a:rPr lang="en-US" sz="2800">
                <a:latin typeface="Arial" charset="0"/>
                <a:ea typeface="ＭＳ Ｐゴシック" charset="0"/>
                <a:cs typeface="ＭＳ Ｐゴシック" charset="0"/>
              </a:rPr>
              <a:t>Finite-element finite-volume stencils</a:t>
            </a:r>
            <a:endParaRPr lang="en-GB" sz="2400">
              <a:latin typeface="Arial" charset="0"/>
              <a:ea typeface="ＭＳ Ｐゴシック" charset="0"/>
              <a:cs typeface="ＭＳ Ｐゴシック" charset="0"/>
            </a:endParaRPr>
          </a:p>
        </p:txBody>
      </p:sp>
      <p:pic>
        <p:nvPicPr>
          <p:cNvPr id="23555" name="Picture 3" descr="FVStencilPy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813" y="4000500"/>
            <a:ext cx="3160712" cy="2673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3556" name="Rectangle 6"/>
          <p:cNvSpPr>
            <a:spLocks noChangeArrowheads="1"/>
          </p:cNvSpPr>
          <p:nvPr/>
        </p:nvSpPr>
        <p:spPr bwMode="auto">
          <a:xfrm>
            <a:off x="2171700" y="1433513"/>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endParaRPr lang="en-US"/>
          </a:p>
        </p:txBody>
      </p:sp>
      <p:sp>
        <p:nvSpPr>
          <p:cNvPr id="23557" name="Rectangle 7"/>
          <p:cNvSpPr>
            <a:spLocks noChangeArrowheads="1"/>
          </p:cNvSpPr>
          <p:nvPr/>
        </p:nvSpPr>
        <p:spPr bwMode="auto">
          <a:xfrm>
            <a:off x="2220913" y="1474788"/>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endParaRPr lang="en-US"/>
          </a:p>
        </p:txBody>
      </p:sp>
      <p:pic>
        <p:nvPicPr>
          <p:cNvPr id="23558" name="Picture 8" descr="AssebledPolyMesh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3913" y="4171593"/>
            <a:ext cx="3017837" cy="21605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60" name="Picture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187575" y="828675"/>
            <a:ext cx="5440363" cy="2976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 name="TextBox 10"/>
          <p:cNvSpPr txBox="1"/>
          <p:nvPr/>
        </p:nvSpPr>
        <p:spPr>
          <a:xfrm>
            <a:off x="2801938" y="3835400"/>
            <a:ext cx="3198812" cy="339725"/>
          </a:xfrm>
          <a:prstGeom prst="rect">
            <a:avLst/>
          </a:prstGeom>
          <a:noFill/>
        </p:spPr>
        <p:txBody>
          <a:bodyPr wrap="none">
            <a:spAutoFit/>
          </a:bodyPr>
          <a:lstStyle/>
          <a:p>
            <a:pPr>
              <a:defRPr/>
            </a:pPr>
            <a:r>
              <a:rPr lang="en-US" sz="1600" i="1" dirty="0" err="1">
                <a:latin typeface="+mn-lt"/>
                <a:ea typeface="+mn-ea"/>
                <a:cs typeface="+mn-cs"/>
              </a:rPr>
              <a:t>Paluszny</a:t>
            </a:r>
            <a:r>
              <a:rPr lang="en-US" sz="1600" i="1" dirty="0">
                <a:latin typeface="+mn-lt"/>
                <a:ea typeface="+mn-ea"/>
                <a:cs typeface="+mn-cs"/>
              </a:rPr>
              <a:t> et al. (2007, </a:t>
            </a:r>
            <a:r>
              <a:rPr lang="en-US" sz="1600" i="1" dirty="0" err="1">
                <a:latin typeface="+mn-lt"/>
                <a:ea typeface="+mn-ea"/>
                <a:cs typeface="+mn-cs"/>
              </a:rPr>
              <a:t>Geofluids</a:t>
            </a:r>
            <a:r>
              <a:rPr lang="en-US" sz="1600" i="1" dirty="0">
                <a:latin typeface="+mn-lt"/>
                <a:ea typeface="+mn-ea"/>
                <a:cs typeface="+mn-cs"/>
              </a:rPr>
              <a:t>)</a:t>
            </a:r>
          </a:p>
        </p:txBody>
      </p:sp>
      <p:sp>
        <p:nvSpPr>
          <p:cNvPr id="12" name="TextBox 11"/>
          <p:cNvSpPr txBox="1"/>
          <p:nvPr/>
        </p:nvSpPr>
        <p:spPr>
          <a:xfrm>
            <a:off x="635000" y="1455738"/>
            <a:ext cx="1316038" cy="1323975"/>
          </a:xfrm>
          <a:prstGeom prst="rect">
            <a:avLst/>
          </a:prstGeom>
          <a:noFill/>
        </p:spPr>
        <p:txBody>
          <a:bodyPr>
            <a:spAutoFit/>
          </a:bodyPr>
          <a:lstStyle/>
          <a:p>
            <a:pPr>
              <a:defRPr/>
            </a:pPr>
            <a:r>
              <a:rPr lang="en-US" sz="2000" dirty="0">
                <a:solidFill>
                  <a:srgbClr val="000090"/>
                </a:solidFill>
                <a:latin typeface="Arial"/>
                <a:ea typeface="+mn-ea"/>
                <a:cs typeface="Arial"/>
              </a:rPr>
              <a:t>For </a:t>
            </a:r>
          </a:p>
          <a:p>
            <a:pPr>
              <a:defRPr/>
            </a:pPr>
            <a:r>
              <a:rPr lang="en-US" sz="2000" dirty="0">
                <a:solidFill>
                  <a:srgbClr val="000090"/>
                </a:solidFill>
                <a:latin typeface="Arial"/>
                <a:ea typeface="+mn-ea"/>
                <a:cs typeface="Arial"/>
              </a:rPr>
              <a:t>single element types </a:t>
            </a:r>
          </a:p>
        </p:txBody>
      </p:sp>
      <p:sp>
        <p:nvSpPr>
          <p:cNvPr id="13" name="TextBox 12"/>
          <p:cNvSpPr txBox="1"/>
          <p:nvPr/>
        </p:nvSpPr>
        <p:spPr>
          <a:xfrm>
            <a:off x="677863" y="4572000"/>
            <a:ext cx="1314450" cy="1631950"/>
          </a:xfrm>
          <a:prstGeom prst="rect">
            <a:avLst/>
          </a:prstGeom>
          <a:noFill/>
        </p:spPr>
        <p:txBody>
          <a:bodyPr>
            <a:spAutoFit/>
          </a:bodyPr>
          <a:lstStyle/>
          <a:p>
            <a:pPr>
              <a:defRPr/>
            </a:pPr>
            <a:r>
              <a:rPr lang="en-US" sz="2000" dirty="0">
                <a:solidFill>
                  <a:srgbClr val="000090"/>
                </a:solidFill>
                <a:latin typeface="Arial"/>
                <a:ea typeface="+mn-ea"/>
                <a:cs typeface="Arial"/>
              </a:rPr>
              <a:t>FV cells</a:t>
            </a:r>
          </a:p>
          <a:p>
            <a:pPr>
              <a:defRPr/>
            </a:pPr>
            <a:r>
              <a:rPr lang="en-US" sz="2000" dirty="0">
                <a:solidFill>
                  <a:srgbClr val="000090"/>
                </a:solidFill>
                <a:latin typeface="Arial"/>
                <a:ea typeface="+mn-ea"/>
                <a:cs typeface="Arial"/>
              </a:rPr>
              <a:t>shared by</a:t>
            </a:r>
          </a:p>
          <a:p>
            <a:pPr>
              <a:defRPr/>
            </a:pPr>
            <a:r>
              <a:rPr lang="en-US" sz="2000" dirty="0">
                <a:solidFill>
                  <a:srgbClr val="000090"/>
                </a:solidFill>
                <a:latin typeface="Arial"/>
                <a:ea typeface="+mn-ea"/>
                <a:cs typeface="Arial"/>
              </a:rPr>
              <a:t>different</a:t>
            </a:r>
          </a:p>
          <a:p>
            <a:pPr>
              <a:defRPr/>
            </a:pPr>
            <a:r>
              <a:rPr lang="en-US" sz="2000" dirty="0">
                <a:solidFill>
                  <a:srgbClr val="000090"/>
                </a:solidFill>
                <a:latin typeface="Arial"/>
                <a:ea typeface="+mn-ea"/>
                <a:cs typeface="Arial"/>
              </a:rPr>
              <a:t>element </a:t>
            </a:r>
          </a:p>
          <a:p>
            <a:pPr>
              <a:defRPr/>
            </a:pPr>
            <a:r>
              <a:rPr lang="en-US" sz="2000" dirty="0">
                <a:solidFill>
                  <a:srgbClr val="000090"/>
                </a:solidFill>
                <a:latin typeface="Arial"/>
                <a:ea typeface="+mn-ea"/>
                <a:cs typeface="Arial"/>
              </a:rPr>
              <a:t>types</a:t>
            </a:r>
          </a:p>
        </p:txBody>
      </p:sp>
      <p:sp>
        <p:nvSpPr>
          <p:cNvPr id="214018" name="Rectangle 2"/>
          <p:cNvSpPr>
            <a:spLocks noChangeArrowheads="1"/>
          </p:cNvSpPr>
          <p:nvPr/>
        </p:nvSpPr>
        <p:spPr bwMode="auto">
          <a:xfrm>
            <a:off x="2525405" y="1687037"/>
            <a:ext cx="6268508" cy="1020236"/>
          </a:xfrm>
          <a:prstGeom prst="rect">
            <a:avLst/>
          </a:prstGeom>
          <a:solidFill>
            <a:schemeClr val="bg1">
              <a:alpha val="77000"/>
            </a:schemeClr>
          </a:solidFill>
          <a:ln>
            <a:noFill/>
          </a:ln>
        </p:spPr>
        <p:txBody>
          <a:bodyPr wrap="none" anchor="ctr"/>
          <a:lstStyle/>
          <a:p>
            <a:pPr>
              <a:buFontTx/>
              <a:buChar char="•"/>
            </a:pPr>
            <a:r>
              <a:rPr lang="en-US" sz="1600" dirty="0">
                <a:solidFill>
                  <a:srgbClr val="000000"/>
                </a:solidFill>
                <a:latin typeface="Arial" charset="0"/>
              </a:rPr>
              <a:t> Finite volume mesh is not stored</a:t>
            </a:r>
          </a:p>
          <a:p>
            <a:pPr>
              <a:buFontTx/>
              <a:buChar char="•"/>
            </a:pPr>
            <a:r>
              <a:rPr lang="en-US" sz="1600" dirty="0">
                <a:solidFill>
                  <a:srgbClr val="000000"/>
                </a:solidFill>
                <a:latin typeface="Arial" charset="0"/>
              </a:rPr>
              <a:t> </a:t>
            </a:r>
            <a:r>
              <a:rPr lang="en-US" sz="1600" b="1" dirty="0" err="1">
                <a:solidFill>
                  <a:srgbClr val="000000"/>
                </a:solidFill>
                <a:latin typeface="Arial" charset="0"/>
              </a:rPr>
              <a:t>FiniteVolumeStencil</a:t>
            </a:r>
            <a:r>
              <a:rPr lang="en-US" sz="1600" dirty="0" err="1">
                <a:solidFill>
                  <a:srgbClr val="000000"/>
                </a:solidFill>
                <a:latin typeface="Arial" charset="0"/>
              </a:rPr>
              <a:t>s</a:t>
            </a:r>
            <a:r>
              <a:rPr lang="en-US" sz="1600" dirty="0">
                <a:solidFill>
                  <a:srgbClr val="000000"/>
                </a:solidFill>
                <a:latin typeface="Arial" charset="0"/>
              </a:rPr>
              <a:t> for each FE type which has a reference </a:t>
            </a:r>
          </a:p>
          <a:p>
            <a:r>
              <a:rPr lang="en-US" sz="1600" dirty="0">
                <a:solidFill>
                  <a:srgbClr val="000000"/>
                </a:solidFill>
                <a:latin typeface="Arial" charset="0"/>
              </a:rPr>
              <a:t>  representation in parametric space</a:t>
            </a:r>
          </a:p>
          <a:p>
            <a:pPr>
              <a:buFontTx/>
              <a:buChar char="•"/>
            </a:pPr>
            <a:r>
              <a:rPr lang="en-US" sz="1600" dirty="0">
                <a:solidFill>
                  <a:srgbClr val="000000"/>
                </a:solidFill>
                <a:latin typeface="Arial" charset="0"/>
              </a:rPr>
              <a:t>Jacobi transformations applied via </a:t>
            </a:r>
            <a:r>
              <a:rPr lang="en-US" sz="1600" b="1" dirty="0" err="1">
                <a:solidFill>
                  <a:srgbClr val="000000"/>
                </a:solidFill>
                <a:latin typeface="Arial" charset="0"/>
              </a:rPr>
              <a:t>FiniteVolumeTraits</a:t>
            </a:r>
            <a:r>
              <a:rPr lang="en-US" sz="1600" b="1" dirty="0">
                <a:solidFill>
                  <a:srgbClr val="000000"/>
                </a:solidFill>
                <a:latin typeface="Arial" charset="0"/>
              </a:rPr>
              <a:t> </a:t>
            </a:r>
          </a:p>
          <a:p>
            <a:r>
              <a:rPr lang="en-US" sz="1600" dirty="0">
                <a:solidFill>
                  <a:srgbClr val="000000"/>
                </a:solidFill>
                <a:latin typeface="Arial" charset="0"/>
              </a:rPr>
              <a:t>  to get physical space properties</a:t>
            </a:r>
          </a:p>
        </p:txBody>
      </p:sp>
      <p:sp>
        <p:nvSpPr>
          <p:cNvPr id="15"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16"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17"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81</a:t>
            </a:fld>
            <a:endParaRPr lang="en-US" dirty="0">
              <a:solidFill>
                <a:prstClr val="white">
                  <a:lumMod val="65000"/>
                </a:prstClr>
              </a:solidFill>
              <a:ea typeface="+mn-ea"/>
            </a:endParaRPr>
          </a:p>
        </p:txBody>
      </p:sp>
    </p:spTree>
    <p:extLst>
      <p:ext uri="{BB962C8B-B14F-4D97-AF65-F5344CB8AC3E}">
        <p14:creationId xmlns:p14="http://schemas.microsoft.com/office/powerpoint/2010/main" val="41394611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4018">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401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401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401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4018">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40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457200" y="83560"/>
            <a:ext cx="8229600" cy="442856"/>
          </a:xfrm>
        </p:spPr>
        <p:txBody>
          <a:bodyPr>
            <a:noAutofit/>
          </a:bodyPr>
          <a:lstStyle/>
          <a:p>
            <a:pPr eaLnBrk="1" hangingPunct="1"/>
            <a:r>
              <a:rPr lang="en-US" sz="2800" dirty="0"/>
              <a:t>Access to </a:t>
            </a:r>
            <a:r>
              <a:rPr lang="en-US" sz="2800" dirty="0" err="1"/>
              <a:t>FiniteVolume</a:t>
            </a:r>
            <a:r>
              <a:rPr lang="en-US" sz="2800" dirty="0"/>
              <a:t> properties / parameters</a:t>
            </a:r>
            <a:endParaRPr lang="en-GB" sz="2800" dirty="0"/>
          </a:p>
        </p:txBody>
      </p:sp>
      <p:sp>
        <p:nvSpPr>
          <p:cNvPr id="2" name="Content Placeholder 1"/>
          <p:cNvSpPr>
            <a:spLocks noGrp="1"/>
          </p:cNvSpPr>
          <p:nvPr>
            <p:ph idx="1"/>
          </p:nvPr>
        </p:nvSpPr>
        <p:spPr>
          <a:xfrm>
            <a:off x="457199" y="605243"/>
            <a:ext cx="8413791" cy="890443"/>
          </a:xfrm>
        </p:spPr>
        <p:txBody>
          <a:bodyPr>
            <a:normAutofit fontScale="85000" lnSpcReduction="10000"/>
          </a:bodyPr>
          <a:lstStyle/>
          <a:p>
            <a:pPr marL="0" indent="0">
              <a:buNone/>
            </a:pPr>
            <a:r>
              <a:rPr lang="en-US" dirty="0"/>
              <a:t>through </a:t>
            </a:r>
            <a:r>
              <a:rPr lang="en-US" b="1" dirty="0" err="1"/>
              <a:t>FiniteVolumeTrait</a:t>
            </a:r>
            <a:r>
              <a:rPr lang="en-US" dirty="0" err="1"/>
              <a:t>s</a:t>
            </a:r>
            <a:r>
              <a:rPr lang="en-US" dirty="0"/>
              <a:t> added to Element / Face / Interface:</a:t>
            </a:r>
          </a:p>
          <a:p>
            <a:r>
              <a:rPr lang="en-US" dirty="0"/>
              <a:t>Methods are fast, but it is better to store computed values if used repeatedly</a:t>
            </a:r>
          </a:p>
        </p:txBody>
      </p:sp>
      <p:grpSp>
        <p:nvGrpSpPr>
          <p:cNvPr id="7" name="Group 6"/>
          <p:cNvGrpSpPr/>
          <p:nvPr/>
        </p:nvGrpSpPr>
        <p:grpSpPr>
          <a:xfrm>
            <a:off x="2699641" y="4134045"/>
            <a:ext cx="3340100" cy="2332038"/>
            <a:chOff x="2699641" y="3975281"/>
            <a:chExt cx="3340100" cy="2332038"/>
          </a:xfrm>
        </p:grpSpPr>
        <p:sp>
          <p:nvSpPr>
            <p:cNvPr id="33802" name="Text Box 8"/>
            <p:cNvSpPr txBox="1">
              <a:spLocks noChangeArrowheads="1"/>
            </p:cNvSpPr>
            <p:nvPr/>
          </p:nvSpPr>
          <p:spPr bwMode="auto">
            <a:xfrm>
              <a:off x="4036316" y="4859519"/>
              <a:ext cx="1993900"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dirty="0" err="1">
                  <a:solidFill>
                    <a:prstClr val="black"/>
                  </a:solidFill>
                  <a:latin typeface="Arial" charset="0"/>
                  <a:ea typeface="+mn-ea"/>
                  <a:cs typeface="+mn-cs"/>
                </a:rPr>
                <a:t>FiniteVolumeStencil</a:t>
              </a:r>
              <a:endParaRPr lang="en-GB" sz="1600" dirty="0">
                <a:solidFill>
                  <a:prstClr val="black"/>
                </a:solidFill>
                <a:latin typeface="Arial" charset="0"/>
                <a:ea typeface="+mn-ea"/>
                <a:cs typeface="+mn-cs"/>
              </a:endParaRPr>
            </a:p>
          </p:txBody>
        </p:sp>
        <p:sp>
          <p:nvSpPr>
            <p:cNvPr id="33803" name="Text Box 9"/>
            <p:cNvSpPr txBox="1">
              <a:spLocks noChangeArrowheads="1"/>
            </p:cNvSpPr>
            <p:nvPr/>
          </p:nvSpPr>
          <p:spPr bwMode="auto">
            <a:xfrm>
              <a:off x="2713929" y="5407206"/>
              <a:ext cx="2795587"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FiniteVolumeStencilManager</a:t>
              </a:r>
              <a:endParaRPr lang="en-GB" sz="1600">
                <a:solidFill>
                  <a:prstClr val="black"/>
                </a:solidFill>
                <a:latin typeface="Arial" charset="0"/>
                <a:ea typeface="+mn-ea"/>
                <a:cs typeface="+mn-cs"/>
              </a:endParaRPr>
            </a:p>
          </p:txBody>
        </p:sp>
        <p:sp>
          <p:nvSpPr>
            <p:cNvPr id="33804" name="Text Box 10"/>
            <p:cNvSpPr txBox="1">
              <a:spLocks noChangeArrowheads="1"/>
            </p:cNvSpPr>
            <p:nvPr/>
          </p:nvSpPr>
          <p:spPr bwMode="auto">
            <a:xfrm>
              <a:off x="2777429" y="5951719"/>
              <a:ext cx="3192462"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FV_IntegrationPointsAndWeights</a:t>
              </a:r>
              <a:endParaRPr lang="en-GB" sz="1600">
                <a:solidFill>
                  <a:prstClr val="black"/>
                </a:solidFill>
                <a:latin typeface="Arial" charset="0"/>
                <a:ea typeface="+mn-ea"/>
                <a:cs typeface="+mn-cs"/>
              </a:endParaRPr>
            </a:p>
          </p:txBody>
        </p:sp>
        <p:sp>
          <p:nvSpPr>
            <p:cNvPr id="33805" name="Text Box 12"/>
            <p:cNvSpPr txBox="1">
              <a:spLocks noChangeArrowheads="1"/>
            </p:cNvSpPr>
            <p:nvPr/>
          </p:nvSpPr>
          <p:spPr bwMode="auto">
            <a:xfrm>
              <a:off x="4047429" y="3975281"/>
              <a:ext cx="1893887" cy="355600"/>
            </a:xfrm>
            <a:prstGeom prst="rect">
              <a:avLst/>
            </a:prstGeom>
            <a:noFill/>
            <a:ln w="19050">
              <a:solidFill>
                <a:schemeClr val="tx1"/>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prstClr val="black"/>
                  </a:solidFill>
                  <a:latin typeface="Arial" charset="0"/>
                  <a:ea typeface="+mn-ea"/>
                  <a:cs typeface="+mn-cs"/>
                </a:rPr>
                <a:t>FiniteVolumeTraits</a:t>
              </a:r>
              <a:endParaRPr lang="en-GB" sz="1600">
                <a:solidFill>
                  <a:prstClr val="black"/>
                </a:solidFill>
                <a:latin typeface="Arial" charset="0"/>
                <a:ea typeface="+mn-ea"/>
                <a:cs typeface="+mn-cs"/>
              </a:endParaRPr>
            </a:p>
          </p:txBody>
        </p:sp>
        <p:sp>
          <p:nvSpPr>
            <p:cNvPr id="33806" name="Text Box 13"/>
            <p:cNvSpPr txBox="1">
              <a:spLocks noChangeArrowheads="1"/>
            </p:cNvSpPr>
            <p:nvPr/>
          </p:nvSpPr>
          <p:spPr bwMode="auto">
            <a:xfrm>
              <a:off x="2709166" y="4857931"/>
              <a:ext cx="947738" cy="355600"/>
            </a:xfrm>
            <a:prstGeom prst="rect">
              <a:avLst/>
            </a:prstGeom>
            <a:noFill/>
            <a:ln w="19050">
              <a:solidFill>
                <a:srgbClr val="B2B2B2"/>
              </a:solidFill>
              <a:miter lim="800000"/>
              <a:headEnd/>
              <a:tailEnd/>
            </a:ln>
          </p:spPr>
          <p:txBody>
            <a:bodyPr wrap="none">
              <a:prstTxWarp prst="textNoShape">
                <a:avLst/>
              </a:prstTxWarp>
              <a:spAutoFit/>
            </a:bodyPr>
            <a:lstStyle/>
            <a:p>
              <a:pPr defTabSz="457200" fontAlgn="auto">
                <a:spcBef>
                  <a:spcPts val="0"/>
                </a:spcBef>
                <a:spcAft>
                  <a:spcPts val="0"/>
                </a:spcAft>
              </a:pPr>
              <a:r>
                <a:rPr lang="en-US" sz="1600">
                  <a:solidFill>
                    <a:srgbClr val="B2B2B2"/>
                  </a:solidFill>
                  <a:latin typeface="Arial" charset="0"/>
                  <a:ea typeface="+mn-ea"/>
                  <a:cs typeface="+mn-cs"/>
                </a:rPr>
                <a:t>Element</a:t>
              </a:r>
              <a:endParaRPr lang="en-GB" sz="1600">
                <a:solidFill>
                  <a:srgbClr val="B2B2B2"/>
                </a:solidFill>
                <a:latin typeface="Arial" charset="0"/>
                <a:ea typeface="+mn-ea"/>
                <a:cs typeface="+mn-cs"/>
              </a:endParaRPr>
            </a:p>
          </p:txBody>
        </p:sp>
        <p:sp>
          <p:nvSpPr>
            <p:cNvPr id="33811" name="Rectangle 18"/>
            <p:cNvSpPr>
              <a:spLocks noChangeArrowheads="1"/>
            </p:cNvSpPr>
            <p:nvPr/>
          </p:nvSpPr>
          <p:spPr bwMode="auto">
            <a:xfrm>
              <a:off x="2810766" y="4302306"/>
              <a:ext cx="2513013" cy="244475"/>
            </a:xfrm>
            <a:prstGeom prst="rect">
              <a:avLst/>
            </a:prstGeom>
            <a:noFill/>
            <a:ln w="9525">
              <a:noFill/>
              <a:miter lim="800000"/>
              <a:headEnd/>
              <a:tailEnd/>
            </a:ln>
          </p:spPr>
          <p:txBody>
            <a:bodyPr wrap="none">
              <a:prstTxWarp prst="textNoShape">
                <a:avLst/>
              </a:prstTxWarp>
              <a:spAutoFit/>
            </a:bodyPr>
            <a:lstStyle/>
            <a:p>
              <a:pPr defTabSz="457200" fontAlgn="auto">
                <a:spcBef>
                  <a:spcPts val="0"/>
                </a:spcBef>
                <a:spcAft>
                  <a:spcPts val="0"/>
                </a:spcAft>
              </a:pPr>
              <a:r>
                <a:rPr lang="en-US" sz="1000" dirty="0">
                  <a:solidFill>
                    <a:prstClr val="black"/>
                  </a:solidFill>
                  <a:latin typeface="Arial" charset="0"/>
                  <a:ea typeface="+mn-ea"/>
                  <a:cs typeface="+mn-cs"/>
                </a:rPr>
                <a:t>additional FV functionality for the Element</a:t>
              </a:r>
              <a:endParaRPr lang="en-GB" sz="1000" dirty="0">
                <a:solidFill>
                  <a:prstClr val="black"/>
                </a:solidFill>
                <a:latin typeface="Arial" charset="0"/>
                <a:ea typeface="+mn-ea"/>
                <a:cs typeface="+mn-cs"/>
              </a:endParaRPr>
            </a:p>
          </p:txBody>
        </p:sp>
        <p:cxnSp>
          <p:nvCxnSpPr>
            <p:cNvPr id="33817" name="AutoShape 24"/>
            <p:cNvCxnSpPr>
              <a:cxnSpLocks noChangeShapeType="1"/>
              <a:stCxn id="33806" idx="3"/>
              <a:endCxn id="33802" idx="1"/>
            </p:cNvCxnSpPr>
            <p:nvPr/>
          </p:nvCxnSpPr>
          <p:spPr bwMode="auto">
            <a:xfrm>
              <a:off x="3666429" y="5035731"/>
              <a:ext cx="360362" cy="1588"/>
            </a:xfrm>
            <a:prstGeom prst="straightConnector1">
              <a:avLst/>
            </a:prstGeom>
            <a:noFill/>
            <a:ln w="19050">
              <a:solidFill>
                <a:schemeClr val="tx1"/>
              </a:solidFill>
              <a:miter lim="800000"/>
              <a:headEnd/>
              <a:tailEnd/>
            </a:ln>
          </p:spPr>
        </p:cxnSp>
        <p:cxnSp>
          <p:nvCxnSpPr>
            <p:cNvPr id="33818" name="AutoShape 25"/>
            <p:cNvCxnSpPr>
              <a:cxnSpLocks noChangeShapeType="1"/>
              <a:stCxn id="33805" idx="1"/>
              <a:endCxn id="33806" idx="1"/>
            </p:cNvCxnSpPr>
            <p:nvPr/>
          </p:nvCxnSpPr>
          <p:spPr bwMode="auto">
            <a:xfrm rot="10800000" flipV="1">
              <a:off x="2699641" y="4153081"/>
              <a:ext cx="1338263" cy="882650"/>
            </a:xfrm>
            <a:prstGeom prst="bentConnector3">
              <a:avLst>
                <a:gd name="adj1" fmla="val 116370"/>
              </a:avLst>
            </a:prstGeom>
            <a:noFill/>
            <a:ln w="19050">
              <a:solidFill>
                <a:schemeClr val="tx1"/>
              </a:solidFill>
              <a:miter lim="800000"/>
              <a:headEnd/>
              <a:tailEnd/>
            </a:ln>
          </p:spPr>
        </p:cxnSp>
        <p:cxnSp>
          <p:nvCxnSpPr>
            <p:cNvPr id="33819" name="AutoShape 26"/>
            <p:cNvCxnSpPr>
              <a:cxnSpLocks noChangeShapeType="1"/>
              <a:stCxn id="33802" idx="3"/>
              <a:endCxn id="33803" idx="3"/>
            </p:cNvCxnSpPr>
            <p:nvPr/>
          </p:nvCxnSpPr>
          <p:spPr bwMode="auto">
            <a:xfrm flipH="1">
              <a:off x="5519041" y="5037319"/>
              <a:ext cx="520700" cy="547687"/>
            </a:xfrm>
            <a:prstGeom prst="bentConnector3">
              <a:avLst>
                <a:gd name="adj1" fmla="val -42074"/>
              </a:avLst>
            </a:prstGeom>
            <a:noFill/>
            <a:ln w="19050">
              <a:solidFill>
                <a:schemeClr val="tx1"/>
              </a:solidFill>
              <a:miter lim="800000"/>
              <a:headEnd/>
              <a:tailEnd/>
            </a:ln>
          </p:spPr>
        </p:cxnSp>
        <p:cxnSp>
          <p:nvCxnSpPr>
            <p:cNvPr id="33820" name="AutoShape 27"/>
            <p:cNvCxnSpPr>
              <a:cxnSpLocks noChangeShapeType="1"/>
              <a:stCxn id="33803" idx="2"/>
              <a:endCxn id="33804" idx="0"/>
            </p:cNvCxnSpPr>
            <p:nvPr/>
          </p:nvCxnSpPr>
          <p:spPr bwMode="auto">
            <a:xfrm rot="16200000" flipH="1">
              <a:off x="4158553" y="5726294"/>
              <a:ext cx="169863" cy="261938"/>
            </a:xfrm>
            <a:prstGeom prst="bentConnector3">
              <a:avLst>
                <a:gd name="adj1" fmla="val 49532"/>
              </a:avLst>
            </a:prstGeom>
            <a:noFill/>
            <a:ln w="19050">
              <a:solidFill>
                <a:schemeClr val="tx1"/>
              </a:solidFill>
              <a:miter lim="800000"/>
              <a:headEnd/>
              <a:tailEnd/>
            </a:ln>
          </p:spPr>
        </p:cxnSp>
      </p:grpSp>
      <p:sp>
        <p:nvSpPr>
          <p:cNvPr id="6" name="Rectangle 5"/>
          <p:cNvSpPr/>
          <p:nvPr/>
        </p:nvSpPr>
        <p:spPr>
          <a:xfrm>
            <a:off x="71814" y="1313988"/>
            <a:ext cx="9063840" cy="2492990"/>
          </a:xfrm>
          <a:prstGeom prst="rect">
            <a:avLst/>
          </a:prstGeom>
        </p:spPr>
        <p:txBody>
          <a:bodyPr wrap="square">
            <a:spAutoFit/>
          </a:bodyPr>
          <a:lstStyle/>
          <a:p>
            <a:r>
              <a:rPr lang="en-US" sz="1200" dirty="0">
                <a:latin typeface="Courier"/>
                <a:cs typeface="Courier"/>
              </a:rPr>
              <a:t>double64   </a:t>
            </a:r>
            <a:r>
              <a:rPr lang="en-US" sz="1200" dirty="0" err="1">
                <a:latin typeface="Courier"/>
                <a:cs typeface="Courier"/>
              </a:rPr>
              <a:t>SectorVolume</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FacetArea</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latin typeface="Courier"/>
                <a:cs typeface="Courier"/>
              </a:rPr>
              <a:t>Point&lt;3U&gt;  </a:t>
            </a:r>
            <a:r>
              <a:rPr lang="en-US" sz="1200" dirty="0" err="1">
                <a:latin typeface="Courier"/>
                <a:cs typeface="Courier"/>
              </a:rPr>
              <a:t>FacetNormal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latin typeface="Courier"/>
                <a:cs typeface="Courier"/>
              </a:rPr>
              <a:t>double64   </a:t>
            </a:r>
            <a:r>
              <a:rPr lang="en-US" sz="1200" dirty="0" err="1">
                <a:latin typeface="Courier"/>
                <a:cs typeface="Courier"/>
              </a:rPr>
              <a:t>FacetIntegral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SectorIntegral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PropertyValueAtFacetIntegrationPoint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PropertyValueAtSectorIntegrationPoint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a:latin typeface="Courier"/>
                <a:cs typeface="Courier"/>
              </a:rPr>
              <a:t>Index&amp;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double64   </a:t>
            </a:r>
            <a:r>
              <a:rPr lang="en-US" sz="1200" dirty="0" err="1">
                <a:latin typeface="Courier"/>
                <a:cs typeface="Courier"/>
              </a:rPr>
              <a:t>ProjectionOnFacetNormal</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solidFill>
                  <a:srgbClr val="0000FF"/>
                </a:solidFill>
                <a:latin typeface="Courier"/>
                <a:cs typeface="Courier"/>
              </a:rPr>
              <a:t>const</a:t>
            </a:r>
            <a:r>
              <a:rPr lang="en-US" sz="1200" dirty="0">
                <a:solidFill>
                  <a:srgbClr val="0000FF"/>
                </a:solidFill>
                <a:latin typeface="Courier"/>
                <a:cs typeface="Courier"/>
              </a:rPr>
              <a:t> </a:t>
            </a:r>
            <a:r>
              <a:rPr lang="en-US" sz="1200" dirty="0" err="1">
                <a:latin typeface="Courier"/>
                <a:cs typeface="Courier"/>
              </a:rPr>
              <a:t>VectorVariable</a:t>
            </a:r>
            <a:r>
              <a:rPr lang="en-US" sz="1200" dirty="0">
                <a:latin typeface="Courier"/>
                <a:cs typeface="Courier"/>
              </a:rPr>
              <a:t>&lt;3U&gt;&amp; ) </a:t>
            </a:r>
            <a:r>
              <a:rPr lang="en-US" sz="1200" dirty="0" err="1">
                <a:solidFill>
                  <a:srgbClr val="0000FF"/>
                </a:solidFill>
                <a:latin typeface="Courier"/>
                <a:cs typeface="Courier"/>
              </a:rPr>
              <a:t>const</a:t>
            </a:r>
            <a:r>
              <a:rPr lang="en-US" sz="1200" dirty="0">
                <a:latin typeface="Courier"/>
                <a:cs typeface="Courier"/>
              </a:rPr>
              <a:t>;</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N_AtFacetIntegrationPoint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iFacet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ip</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N_AtSectorIntegrationPoint</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iSector</a:t>
            </a:r>
            <a:r>
              <a:rPr lang="en-US" sz="1200" dirty="0">
                <a:latin typeface="Courier"/>
                <a:cs typeface="Courier"/>
              </a:rPr>
              <a:t>, </a:t>
            </a:r>
            <a:r>
              <a:rPr lang="en-US" sz="1200" dirty="0" err="1">
                <a:latin typeface="Courier"/>
                <a:cs typeface="Courier"/>
              </a:rPr>
              <a:t>size_t</a:t>
            </a:r>
            <a:r>
              <a:rPr lang="en-US" sz="1200" dirty="0">
                <a:latin typeface="Courier"/>
                <a:cs typeface="Courier"/>
              </a:rPr>
              <a:t> </a:t>
            </a:r>
            <a:r>
              <a:rPr lang="en-US" sz="1200" dirty="0" err="1">
                <a:latin typeface="Courier"/>
                <a:cs typeface="Courier"/>
              </a:rPr>
              <a:t>ip</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 </a:t>
            </a:r>
          </a:p>
          <a:p>
            <a:r>
              <a:rPr lang="en-US" sz="1200" dirty="0">
                <a:solidFill>
                  <a:srgbClr val="0000FF"/>
                </a:solidFill>
                <a:latin typeface="Courier"/>
                <a:cs typeface="Courier"/>
              </a:rPr>
              <a:t>void</a:t>
            </a:r>
            <a:r>
              <a:rPr lang="en-US" sz="1200" dirty="0">
                <a:latin typeface="Courier"/>
                <a:cs typeface="Courier"/>
              </a:rPr>
              <a:t>       </a:t>
            </a:r>
            <a:r>
              <a:rPr lang="en-US" sz="1200" dirty="0" err="1">
                <a:latin typeface="Courier"/>
                <a:cs typeface="Courier"/>
              </a:rPr>
              <a:t>N_At</a:t>
            </a:r>
            <a:r>
              <a:rPr lang="en-US" sz="1200" dirty="0">
                <a:latin typeface="Courier"/>
                <a:cs typeface="Courier"/>
              </a:rPr>
              <a:t>( </a:t>
            </a:r>
            <a:r>
              <a:rPr lang="en-US" sz="1200" dirty="0" err="1">
                <a:latin typeface="Courier"/>
                <a:cs typeface="Courier"/>
              </a:rPr>
              <a:t>const</a:t>
            </a:r>
            <a:r>
              <a:rPr lang="en-US" sz="1200" dirty="0">
                <a:latin typeface="Courier"/>
                <a:cs typeface="Courier"/>
              </a:rPr>
              <a:t> Point&lt;3U&gt;&amp; </a:t>
            </a:r>
            <a:r>
              <a:rPr lang="en-US" sz="1200" dirty="0" err="1">
                <a:latin typeface="Courier"/>
                <a:cs typeface="Courier"/>
              </a:rPr>
              <a:t>rst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Point&lt;3U&gt;  </a:t>
            </a:r>
            <a:r>
              <a:rPr lang="en-US" sz="1200" dirty="0" err="1">
                <a:latin typeface="Courier"/>
                <a:cs typeface="Courier"/>
              </a:rPr>
              <a:t>RstToXYZ</a:t>
            </a:r>
            <a:r>
              <a:rPr lang="en-US" sz="1200" dirty="0">
                <a:latin typeface="Courier"/>
                <a:cs typeface="Courier"/>
              </a:rPr>
              <a:t>( </a:t>
            </a:r>
            <a:r>
              <a:rPr lang="en-US" sz="1200" dirty="0" err="1">
                <a:latin typeface="Courier"/>
                <a:cs typeface="Courier"/>
              </a:rPr>
              <a:t>const</a:t>
            </a:r>
            <a:r>
              <a:rPr lang="en-US" sz="1200" dirty="0">
                <a:latin typeface="Courier"/>
                <a:cs typeface="Courier"/>
              </a:rPr>
              <a:t> Point&lt;3U&gt;&amp; </a:t>
            </a:r>
            <a:r>
              <a:rPr lang="en-US" sz="1200" dirty="0" err="1">
                <a:latin typeface="Courier"/>
                <a:cs typeface="Courier"/>
              </a:rPr>
              <a:t>rst</a:t>
            </a:r>
            <a:r>
              <a:rPr lang="en-US" sz="1200" dirty="0">
                <a:latin typeface="Courier"/>
                <a:cs typeface="Courier"/>
              </a:rPr>
              <a:t> ) </a:t>
            </a:r>
            <a:r>
              <a:rPr lang="en-US" sz="1200" dirty="0" err="1">
                <a:solidFill>
                  <a:srgbClr val="0000FF"/>
                </a:solidFill>
                <a:latin typeface="Courier"/>
                <a:cs typeface="Courier"/>
              </a:rPr>
              <a:t>const</a:t>
            </a:r>
            <a:r>
              <a:rPr lang="en-US" sz="1200" dirty="0">
                <a:latin typeface="Courier"/>
                <a:cs typeface="Courier"/>
              </a:rPr>
              <a:t>;</a:t>
            </a:r>
          </a:p>
          <a:p>
            <a:r>
              <a:rPr lang="en-US" sz="1200" dirty="0">
                <a:latin typeface="Courier"/>
                <a:cs typeface="Courier"/>
              </a:rPr>
              <a:t>etc.</a:t>
            </a:r>
          </a:p>
        </p:txBody>
      </p:sp>
      <p:sp>
        <p:nvSpPr>
          <p:cNvPr id="8" name="TextBox 7"/>
          <p:cNvSpPr txBox="1"/>
          <p:nvPr/>
        </p:nvSpPr>
        <p:spPr>
          <a:xfrm>
            <a:off x="6454283" y="3577402"/>
            <a:ext cx="2494983" cy="1077218"/>
          </a:xfrm>
          <a:prstGeom prst="rect">
            <a:avLst/>
          </a:prstGeom>
          <a:noFill/>
        </p:spPr>
        <p:txBody>
          <a:bodyPr wrap="square" rtlCol="0">
            <a:spAutoFit/>
          </a:bodyPr>
          <a:lstStyle/>
          <a:p>
            <a:r>
              <a:rPr lang="en-US" sz="1600" i="1" dirty="0">
                <a:latin typeface="Arial"/>
                <a:cs typeface="Arial"/>
              </a:rPr>
              <a:t>To learn how these computations are done, look at </a:t>
            </a:r>
            <a:r>
              <a:rPr lang="en-US" sz="1600" i="1" dirty="0" err="1">
                <a:latin typeface="Arial"/>
                <a:cs typeface="Arial"/>
              </a:rPr>
              <a:t>Paluszny</a:t>
            </a:r>
            <a:r>
              <a:rPr lang="en-US" sz="1600" i="1" dirty="0">
                <a:latin typeface="Arial"/>
                <a:cs typeface="Arial"/>
              </a:rPr>
              <a:t> et al. (2007, </a:t>
            </a:r>
            <a:r>
              <a:rPr lang="en-US" sz="1600" i="1" dirty="0" err="1">
                <a:latin typeface="Arial"/>
                <a:cs typeface="Arial"/>
              </a:rPr>
              <a:t>Geofluids</a:t>
            </a:r>
            <a:r>
              <a:rPr lang="en-US" sz="1600" i="1" dirty="0">
                <a:latin typeface="Arial"/>
                <a:cs typeface="Arial"/>
              </a:rPr>
              <a:t>)</a:t>
            </a:r>
          </a:p>
        </p:txBody>
      </p:sp>
      <p:sp>
        <p:nvSpPr>
          <p:cNvPr id="39" name="Date Placeholder 3"/>
          <p:cNvSpPr>
            <a:spLocks noGrp="1"/>
          </p:cNvSpPr>
          <p:nvPr>
            <p:ph type="dt" sz="half" idx="4294967295"/>
          </p:nvPr>
        </p:nvSpPr>
        <p:spPr>
          <a:xfrm>
            <a:off x="35496" y="6492875"/>
            <a:ext cx="2133600" cy="365125"/>
          </a:xfrm>
          <a:prstGeom prst="rect">
            <a:avLst/>
          </a:prstGeom>
        </p:spPr>
        <p:txBody>
          <a:bodyPr vert="horz" lIns="91440" tIns="45720" rIns="91440" bIns="45720" rtlCol="0" anchor="ctr"/>
          <a:lstStyle>
            <a:lvl1pPr algn="l">
              <a:defRPr sz="1200">
                <a:solidFill>
                  <a:schemeClr val="bg1">
                    <a:lumMod val="65000"/>
                  </a:schemeClr>
                </a:solidFill>
                <a:latin typeface="Arial"/>
                <a:cs typeface="Arial"/>
              </a:defRPr>
            </a:lvl1pPr>
          </a:lstStyle>
          <a:p>
            <a:pPr defTabSz="457200" fontAlgn="auto">
              <a:spcBef>
                <a:spcPts val="0"/>
              </a:spcBef>
              <a:spcAft>
                <a:spcPts val="0"/>
              </a:spcAft>
            </a:pPr>
            <a:fld id="{57951F7C-CFBF-8144-A102-5B4CA8E4DF9C}" type="datetime1">
              <a:rPr lang="en-US" smtClean="0">
                <a:solidFill>
                  <a:prstClr val="white">
                    <a:lumMod val="65000"/>
                  </a:prstClr>
                </a:solidFill>
                <a:ea typeface="+mn-ea"/>
              </a:rPr>
              <a:pPr defTabSz="457200" fontAlgn="auto">
                <a:spcBef>
                  <a:spcPts val="0"/>
                </a:spcBef>
                <a:spcAft>
                  <a:spcPts val="0"/>
                </a:spcAft>
              </a:pPr>
              <a:t>3/17/19</a:t>
            </a:fld>
            <a:endParaRPr lang="en-US" dirty="0">
              <a:solidFill>
                <a:prstClr val="white">
                  <a:lumMod val="65000"/>
                </a:prstClr>
              </a:solidFill>
              <a:ea typeface="+mn-ea"/>
            </a:endParaRPr>
          </a:p>
        </p:txBody>
      </p:sp>
      <p:sp>
        <p:nvSpPr>
          <p:cNvPr id="40" name="Footer Placeholder 4"/>
          <p:cNvSpPr>
            <a:spLocks noGrp="1"/>
          </p:cNvSpPr>
          <p:nvPr>
            <p:ph type="ftr" sz="quarter" idx="4294967295"/>
          </p:nvPr>
        </p:nvSpPr>
        <p:spPr>
          <a:xfrm>
            <a:off x="3124200" y="6492875"/>
            <a:ext cx="2895600" cy="365125"/>
          </a:xfrm>
          <a:prstGeom prst="rect">
            <a:avLst/>
          </a:prstGeom>
        </p:spPr>
        <p:txBody>
          <a:bodyPr vert="horz" lIns="91440" tIns="45720" rIns="91440" bIns="45720" rtlCol="0" anchor="ctr"/>
          <a:lstStyle>
            <a:lvl1pPr algn="ct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CSMP Generic Transport Scheme</a:t>
            </a:r>
          </a:p>
        </p:txBody>
      </p:sp>
      <p:sp>
        <p:nvSpPr>
          <p:cNvPr id="41" name="Slide Number Placeholder 5"/>
          <p:cNvSpPr>
            <a:spLocks noGrp="1"/>
          </p:cNvSpPr>
          <p:nvPr>
            <p:ph type="sldNum" sz="quarter" idx="4294967295"/>
          </p:nvPr>
        </p:nvSpPr>
        <p:spPr>
          <a:xfrm>
            <a:off x="6974904" y="6492875"/>
            <a:ext cx="2133600" cy="365125"/>
          </a:xfrm>
          <a:prstGeom prst="rect">
            <a:avLst/>
          </a:prstGeom>
        </p:spPr>
        <p:txBody>
          <a:bodyPr vert="horz" lIns="91440" tIns="45720" rIns="91440" bIns="45720" rtlCol="0" anchor="ctr"/>
          <a:lstStyle>
            <a:lvl1pPr algn="r">
              <a:defRPr sz="1200">
                <a:solidFill>
                  <a:schemeClr val="bg1">
                    <a:lumMod val="65000"/>
                  </a:schemeClr>
                </a:solidFill>
                <a:latin typeface="Arial"/>
                <a:cs typeface="Arial"/>
              </a:defRPr>
            </a:lvl1pPr>
          </a:lstStyle>
          <a:p>
            <a:pPr defTabSz="457200" fontAlgn="auto">
              <a:spcBef>
                <a:spcPts val="0"/>
              </a:spcBef>
              <a:spcAft>
                <a:spcPts val="0"/>
              </a:spcAft>
            </a:pPr>
            <a:r>
              <a:rPr lang="en-US" dirty="0">
                <a:solidFill>
                  <a:prstClr val="white">
                    <a:lumMod val="65000"/>
                  </a:prstClr>
                </a:solidFill>
                <a:ea typeface="+mn-ea"/>
              </a:rPr>
              <a:t>  </a:t>
            </a:r>
            <a:fld id="{223FD816-CC6A-BF43-8241-637E3E7EAA5A}" type="slidenum">
              <a:rPr lang="en-US" smtClean="0">
                <a:solidFill>
                  <a:prstClr val="white">
                    <a:lumMod val="65000"/>
                  </a:prstClr>
                </a:solidFill>
                <a:ea typeface="+mn-ea"/>
              </a:rPr>
              <a:pPr defTabSz="457200" fontAlgn="auto">
                <a:spcBef>
                  <a:spcPts val="0"/>
                </a:spcBef>
                <a:spcAft>
                  <a:spcPts val="0"/>
                </a:spcAft>
              </a:pPr>
              <a:t>82</a:t>
            </a:fld>
            <a:endParaRPr lang="en-US" dirty="0">
              <a:solidFill>
                <a:prstClr val="white">
                  <a:lumMod val="65000"/>
                </a:prstClr>
              </a:solidFill>
              <a:ea typeface="+mn-ea"/>
            </a:endParaRPr>
          </a:p>
        </p:txBody>
      </p:sp>
      <p:sp>
        <p:nvSpPr>
          <p:cNvPr id="9" name="TextBox 8"/>
          <p:cNvSpPr txBox="1"/>
          <p:nvPr/>
        </p:nvSpPr>
        <p:spPr>
          <a:xfrm>
            <a:off x="808204" y="4810943"/>
            <a:ext cx="1472083" cy="1200329"/>
          </a:xfrm>
          <a:prstGeom prst="rect">
            <a:avLst/>
          </a:prstGeom>
          <a:noFill/>
        </p:spPr>
        <p:txBody>
          <a:bodyPr wrap="square" rtlCol="0">
            <a:spAutoFit/>
          </a:bodyPr>
          <a:lstStyle/>
          <a:p>
            <a:r>
              <a:rPr lang="en-US" i="1" dirty="0">
                <a:latin typeface="Arial"/>
                <a:cs typeface="Arial"/>
              </a:rPr>
              <a:t>Framework provided through Model</a:t>
            </a:r>
          </a:p>
        </p:txBody>
      </p:sp>
      <p:sp>
        <p:nvSpPr>
          <p:cNvPr id="43" name="TextBox 42"/>
          <p:cNvSpPr txBox="1"/>
          <p:nvPr/>
        </p:nvSpPr>
        <p:spPr>
          <a:xfrm>
            <a:off x="6117710" y="6002507"/>
            <a:ext cx="1472083" cy="523220"/>
          </a:xfrm>
          <a:prstGeom prst="rect">
            <a:avLst/>
          </a:prstGeom>
          <a:noFill/>
        </p:spPr>
        <p:txBody>
          <a:bodyPr wrap="square" rtlCol="0">
            <a:spAutoFit/>
          </a:bodyPr>
          <a:lstStyle/>
          <a:p>
            <a:r>
              <a:rPr lang="en-US" sz="1400" i="1" dirty="0">
                <a:latin typeface="Arial"/>
                <a:cs typeface="Arial"/>
              </a:rPr>
              <a:t>data container for </a:t>
            </a:r>
            <a:r>
              <a:rPr lang="en-US" sz="1400" i="1" dirty="0" err="1">
                <a:latin typeface="Arial"/>
                <a:cs typeface="Arial"/>
              </a:rPr>
              <a:t>initialisation</a:t>
            </a:r>
            <a:endParaRPr lang="en-US" sz="1400" i="1" dirty="0">
              <a:latin typeface="Arial"/>
              <a:cs typeface="Arial"/>
            </a:endParaRPr>
          </a:p>
        </p:txBody>
      </p:sp>
      <p:sp>
        <p:nvSpPr>
          <p:cNvPr id="44" name="TextBox 43"/>
          <p:cNvSpPr txBox="1"/>
          <p:nvPr/>
        </p:nvSpPr>
        <p:spPr>
          <a:xfrm>
            <a:off x="6366633" y="5520487"/>
            <a:ext cx="1864198" cy="523220"/>
          </a:xfrm>
          <a:prstGeom prst="rect">
            <a:avLst/>
          </a:prstGeom>
          <a:noFill/>
        </p:spPr>
        <p:txBody>
          <a:bodyPr wrap="square" rtlCol="0">
            <a:spAutoFit/>
          </a:bodyPr>
          <a:lstStyle/>
          <a:p>
            <a:r>
              <a:rPr lang="en-US" sz="1400" i="1" dirty="0">
                <a:latin typeface="Arial"/>
                <a:cs typeface="Arial"/>
              </a:rPr>
              <a:t>Container of available stencils</a:t>
            </a:r>
          </a:p>
        </p:txBody>
      </p:sp>
      <p:sp>
        <p:nvSpPr>
          <p:cNvPr id="45" name="TextBox 44"/>
          <p:cNvSpPr txBox="1"/>
          <p:nvPr/>
        </p:nvSpPr>
        <p:spPr>
          <a:xfrm>
            <a:off x="6369419" y="4930176"/>
            <a:ext cx="1864198" cy="523220"/>
          </a:xfrm>
          <a:prstGeom prst="rect">
            <a:avLst/>
          </a:prstGeom>
          <a:noFill/>
        </p:spPr>
        <p:txBody>
          <a:bodyPr wrap="square" rtlCol="0">
            <a:spAutoFit/>
          </a:bodyPr>
          <a:lstStyle/>
          <a:p>
            <a:r>
              <a:rPr lang="en-US" sz="1400" i="1" dirty="0">
                <a:latin typeface="Arial"/>
                <a:cs typeface="Arial"/>
              </a:rPr>
              <a:t>FV in parametric space representation</a:t>
            </a:r>
          </a:p>
        </p:txBody>
      </p:sp>
      <p:sp>
        <p:nvSpPr>
          <p:cNvPr id="46" name="TextBox 45"/>
          <p:cNvSpPr txBox="1"/>
          <p:nvPr/>
        </p:nvSpPr>
        <p:spPr>
          <a:xfrm>
            <a:off x="2815823" y="3822466"/>
            <a:ext cx="3603450" cy="307777"/>
          </a:xfrm>
          <a:prstGeom prst="rect">
            <a:avLst/>
          </a:prstGeom>
          <a:noFill/>
        </p:spPr>
        <p:txBody>
          <a:bodyPr wrap="square" rtlCol="0">
            <a:spAutoFit/>
          </a:bodyPr>
          <a:lstStyle/>
          <a:p>
            <a:r>
              <a:rPr lang="en-US" sz="1400" i="1" dirty="0">
                <a:latin typeface="Arial"/>
                <a:cs typeface="Arial"/>
              </a:rPr>
              <a:t>FV interface of element, face or interface</a:t>
            </a:r>
          </a:p>
        </p:txBody>
      </p:sp>
      <p:sp>
        <p:nvSpPr>
          <p:cNvPr id="47" name="TextBox 46"/>
          <p:cNvSpPr txBox="1"/>
          <p:nvPr/>
        </p:nvSpPr>
        <p:spPr>
          <a:xfrm>
            <a:off x="120270" y="3820914"/>
            <a:ext cx="3603450" cy="307777"/>
          </a:xfrm>
          <a:prstGeom prst="rect">
            <a:avLst/>
          </a:prstGeom>
          <a:noFill/>
        </p:spPr>
        <p:txBody>
          <a:bodyPr wrap="square" rtlCol="0">
            <a:spAutoFit/>
          </a:bodyPr>
          <a:lstStyle/>
          <a:p>
            <a:r>
              <a:rPr lang="en-US" sz="1400" dirty="0" err="1">
                <a:latin typeface="Arial"/>
                <a:cs typeface="Arial"/>
              </a:rPr>
              <a:t>finiteVolumeAuxiliaryFunctions</a:t>
            </a:r>
            <a:r>
              <a:rPr lang="en-US" sz="1400" dirty="0">
                <a:latin typeface="Arial"/>
                <a:cs typeface="Arial"/>
              </a:rPr>
              <a:t>  +</a:t>
            </a:r>
          </a:p>
        </p:txBody>
      </p:sp>
    </p:spTree>
    <p:extLst>
      <p:ext uri="{BB962C8B-B14F-4D97-AF65-F5344CB8AC3E}">
        <p14:creationId xmlns:p14="http://schemas.microsoft.com/office/powerpoint/2010/main" val="20409062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5086"/>
            <a:ext cx="8229600" cy="914400"/>
          </a:xfrm>
        </p:spPr>
        <p:txBody>
          <a:bodyPr>
            <a:normAutofit/>
          </a:bodyPr>
          <a:lstStyle/>
          <a:p>
            <a:r>
              <a:rPr lang="en-US" dirty="0" err="1"/>
              <a:t>NodeCenteredFiniteVolumeTransport</a:t>
            </a:r>
            <a:endParaRPr lang="en-US" dirty="0"/>
          </a:p>
        </p:txBody>
      </p:sp>
      <p:sp>
        <p:nvSpPr>
          <p:cNvPr id="3" name="Content Placeholder 2"/>
          <p:cNvSpPr>
            <a:spLocks noGrp="1"/>
          </p:cNvSpPr>
          <p:nvPr>
            <p:ph idx="1"/>
          </p:nvPr>
        </p:nvSpPr>
        <p:spPr>
          <a:xfrm>
            <a:off x="461830" y="1039485"/>
            <a:ext cx="8197504" cy="4549755"/>
          </a:xfrm>
        </p:spPr>
        <p:txBody>
          <a:bodyPr>
            <a:normAutofit/>
          </a:bodyPr>
          <a:lstStyle/>
          <a:p>
            <a:r>
              <a:rPr lang="en-US" dirty="0"/>
              <a:t>In collaboration with </a:t>
            </a:r>
            <a:r>
              <a:rPr lang="en-US" b="1" dirty="0" err="1"/>
              <a:t>NodeCenteredFiniteVolumeAlgorithm</a:t>
            </a:r>
            <a:r>
              <a:rPr lang="en-US" dirty="0"/>
              <a:t>, </a:t>
            </a:r>
            <a:r>
              <a:rPr lang="en-US" b="1" dirty="0" err="1"/>
              <a:t>StencilProcessor</a:t>
            </a:r>
            <a:r>
              <a:rPr lang="en-US" dirty="0"/>
              <a:t>, and </a:t>
            </a:r>
            <a:r>
              <a:rPr lang="en-US" b="1" dirty="0" err="1"/>
              <a:t>finiteVolumeAuxiliaryFunctions</a:t>
            </a:r>
            <a:r>
              <a:rPr lang="en-US" dirty="0"/>
              <a:t> (limiters etc.) calculations are done.</a:t>
            </a:r>
          </a:p>
          <a:p>
            <a:r>
              <a:rPr lang="en-US" dirty="0"/>
              <a:t>Base class NCFVT implements different schemes for single phase transport and CFL calculation.</a:t>
            </a:r>
          </a:p>
          <a:p>
            <a:r>
              <a:rPr lang="en-US" dirty="0"/>
              <a:t>Subclasses implement implicit and explicit transport schemes for slightly compressible two-phase flow</a:t>
            </a:r>
          </a:p>
        </p:txBody>
      </p:sp>
      <p:sp>
        <p:nvSpPr>
          <p:cNvPr id="4" name="Date Placeholder 3"/>
          <p:cNvSpPr>
            <a:spLocks noGrp="1"/>
          </p:cNvSpPr>
          <p:nvPr>
            <p:ph type="dt" sz="half" idx="10"/>
          </p:nvPr>
        </p:nvSpPr>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5" name="Footer Placeholder 4"/>
          <p:cNvSpPr>
            <a:spLocks noGrp="1"/>
          </p:cNvSpPr>
          <p:nvPr>
            <p:ph type="ftr" sz="quarter" idx="11"/>
          </p:nvPr>
        </p:nvSpPr>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6" name="Slide Number Placeholder 5"/>
          <p:cNvSpPr>
            <a:spLocks noGrp="1"/>
          </p:cNvSpPr>
          <p:nvPr>
            <p:ph type="sldNum" sz="quarter" idx="12"/>
          </p:nvPr>
        </p:nvSpPr>
        <p:spPr/>
        <p:txBody>
          <a:bodyPr/>
          <a:lstStyle/>
          <a:p>
            <a:fld id="{223FD816-CC6A-BF43-8241-637E3E7EAA5A}" type="slidenum">
              <a:rPr lang="en-US" smtClean="0">
                <a:solidFill>
                  <a:prstClr val="white">
                    <a:lumMod val="65000"/>
                  </a:prstClr>
                </a:solidFill>
              </a:rPr>
              <a:pPr/>
              <a:t>83</a:t>
            </a:fld>
            <a:endParaRPr lang="en-US">
              <a:solidFill>
                <a:prstClr val="white">
                  <a:lumMod val="65000"/>
                </a:prstClr>
              </a:solidFill>
            </a:endParaRPr>
          </a:p>
        </p:txBody>
      </p:sp>
      <p:sp>
        <p:nvSpPr>
          <p:cNvPr id="7" name="Text Box 12"/>
          <p:cNvSpPr txBox="1">
            <a:spLocks noChangeArrowheads="1"/>
          </p:cNvSpPr>
          <p:nvPr/>
        </p:nvSpPr>
        <p:spPr bwMode="auto">
          <a:xfrm>
            <a:off x="899592" y="3958317"/>
            <a:ext cx="3575819" cy="338554"/>
          </a:xfrm>
          <a:prstGeom prst="rect">
            <a:avLst/>
          </a:prstGeom>
          <a:noFill/>
          <a:ln w="19050">
            <a:solidFill>
              <a:schemeClr val="tx1"/>
            </a:solidFill>
            <a:miter lim="800000"/>
            <a:headEnd/>
            <a:tailEnd/>
          </a:ln>
        </p:spPr>
        <p:txBody>
          <a:bodyPr wrap="none">
            <a:prstTxWarp prst="textNoShape">
              <a:avLst/>
            </a:prstTxWarp>
            <a:spAutoFit/>
          </a:bodyPr>
          <a:lstStyle/>
          <a:p>
            <a:r>
              <a:rPr lang="en-US" sz="1600" dirty="0" err="1">
                <a:latin typeface="Arial" charset="0"/>
              </a:rPr>
              <a:t>NodeCenteredFiniteVolumeTransport</a:t>
            </a:r>
            <a:endParaRPr lang="en-GB" sz="1600" dirty="0">
              <a:latin typeface="Arial" charset="0"/>
            </a:endParaRPr>
          </a:p>
        </p:txBody>
      </p:sp>
      <p:sp>
        <p:nvSpPr>
          <p:cNvPr id="8" name="Text Box 12"/>
          <p:cNvSpPr txBox="1">
            <a:spLocks noChangeArrowheads="1"/>
          </p:cNvSpPr>
          <p:nvPr/>
        </p:nvSpPr>
        <p:spPr bwMode="auto">
          <a:xfrm>
            <a:off x="4932040" y="3958317"/>
            <a:ext cx="3572012" cy="338554"/>
          </a:xfrm>
          <a:prstGeom prst="rect">
            <a:avLst/>
          </a:prstGeom>
          <a:noFill/>
          <a:ln w="19050">
            <a:solidFill>
              <a:schemeClr val="tx1"/>
            </a:solidFill>
            <a:miter lim="800000"/>
            <a:headEnd/>
            <a:tailEnd/>
          </a:ln>
        </p:spPr>
        <p:txBody>
          <a:bodyPr wrap="none">
            <a:prstTxWarp prst="textNoShape">
              <a:avLst/>
            </a:prstTxWarp>
            <a:spAutoFit/>
          </a:bodyPr>
          <a:lstStyle/>
          <a:p>
            <a:r>
              <a:rPr lang="en-US" sz="1600" dirty="0" err="1">
                <a:latin typeface="Arial" charset="0"/>
              </a:rPr>
              <a:t>NodeCenteredFiniteVolumeAlgorithm</a:t>
            </a:r>
            <a:endParaRPr lang="en-GB" sz="1600" dirty="0">
              <a:latin typeface="Arial" charset="0"/>
            </a:endParaRPr>
          </a:p>
        </p:txBody>
      </p:sp>
      <p:sp>
        <p:nvSpPr>
          <p:cNvPr id="12" name="Text Box 12"/>
          <p:cNvSpPr txBox="1">
            <a:spLocks noChangeArrowheads="1"/>
          </p:cNvSpPr>
          <p:nvPr/>
        </p:nvSpPr>
        <p:spPr bwMode="auto">
          <a:xfrm>
            <a:off x="3331743" y="5985044"/>
            <a:ext cx="5172309" cy="338554"/>
          </a:xfrm>
          <a:prstGeom prst="rect">
            <a:avLst/>
          </a:prstGeom>
          <a:noFill/>
          <a:ln w="19050">
            <a:solidFill>
              <a:schemeClr val="tx1"/>
            </a:solidFill>
            <a:miter lim="800000"/>
            <a:headEnd/>
            <a:tailEnd/>
          </a:ln>
        </p:spPr>
        <p:txBody>
          <a:bodyPr wrap="none">
            <a:prstTxWarp prst="textNoShape">
              <a:avLst/>
            </a:prstTxWarp>
            <a:spAutoFit/>
          </a:bodyPr>
          <a:lstStyle/>
          <a:p>
            <a:r>
              <a:rPr lang="en-US" sz="1600" dirty="0" err="1">
                <a:latin typeface="Arial" charset="0"/>
              </a:rPr>
              <a:t>TwoPhaseImplicitNodeCenteredFiniteVolumeTransport</a:t>
            </a:r>
            <a:endParaRPr lang="en-GB" sz="1600" dirty="0">
              <a:latin typeface="Arial" charset="0"/>
            </a:endParaRPr>
          </a:p>
        </p:txBody>
      </p:sp>
      <p:cxnSp>
        <p:nvCxnSpPr>
          <p:cNvPr id="14" name="Elbow Connector 13"/>
          <p:cNvCxnSpPr>
            <a:stCxn id="10" idx="0"/>
            <a:endCxn id="7" idx="2"/>
          </p:cNvCxnSpPr>
          <p:nvPr/>
        </p:nvCxnSpPr>
        <p:spPr>
          <a:xfrm rot="5400000" flipH="1" flipV="1">
            <a:off x="2238878" y="4420537"/>
            <a:ext cx="572289" cy="324959"/>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Elbow Connector 17"/>
          <p:cNvCxnSpPr>
            <a:stCxn id="11" idx="0"/>
            <a:endCxn id="7" idx="2"/>
          </p:cNvCxnSpPr>
          <p:nvPr/>
        </p:nvCxnSpPr>
        <p:spPr>
          <a:xfrm rot="16200000" flipV="1">
            <a:off x="2483923" y="4500450"/>
            <a:ext cx="1123092" cy="715933"/>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Elbow Connector 19"/>
          <p:cNvCxnSpPr>
            <a:stCxn id="12" idx="0"/>
            <a:endCxn id="7" idx="1"/>
          </p:cNvCxnSpPr>
          <p:nvPr/>
        </p:nvCxnSpPr>
        <p:spPr>
          <a:xfrm rot="16200000" flipV="1">
            <a:off x="2480020" y="2547166"/>
            <a:ext cx="1857450" cy="5018306"/>
          </a:xfrm>
          <a:prstGeom prst="bentConnector4">
            <a:avLst>
              <a:gd name="adj1" fmla="val 45443"/>
              <a:gd name="adj2" fmla="val 104555"/>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 Box 12"/>
          <p:cNvSpPr txBox="1">
            <a:spLocks noChangeArrowheads="1"/>
          </p:cNvSpPr>
          <p:nvPr/>
        </p:nvSpPr>
        <p:spPr bwMode="auto">
          <a:xfrm>
            <a:off x="249675" y="4869160"/>
            <a:ext cx="4225736" cy="338554"/>
          </a:xfrm>
          <a:prstGeom prst="rect">
            <a:avLst/>
          </a:prstGeom>
          <a:solidFill>
            <a:schemeClr val="bg1"/>
          </a:solidFill>
          <a:ln w="19050">
            <a:solidFill>
              <a:schemeClr val="tx1"/>
            </a:solidFill>
            <a:miter lim="800000"/>
            <a:headEnd/>
            <a:tailEnd/>
          </a:ln>
        </p:spPr>
        <p:txBody>
          <a:bodyPr wrap="none">
            <a:prstTxWarp prst="textNoShape">
              <a:avLst/>
            </a:prstTxWarp>
            <a:spAutoFit/>
          </a:bodyPr>
          <a:lstStyle/>
          <a:p>
            <a:r>
              <a:rPr lang="en-US" sz="1600" dirty="0" err="1">
                <a:latin typeface="Arial" charset="0"/>
              </a:rPr>
              <a:t>ExplicitNodeCenteredFiniteVolumeTransport</a:t>
            </a:r>
            <a:endParaRPr lang="en-GB" sz="1600" dirty="0">
              <a:latin typeface="Arial" charset="0"/>
            </a:endParaRPr>
          </a:p>
        </p:txBody>
      </p:sp>
      <p:sp>
        <p:nvSpPr>
          <p:cNvPr id="11" name="Text Box 12"/>
          <p:cNvSpPr txBox="1">
            <a:spLocks noChangeArrowheads="1"/>
          </p:cNvSpPr>
          <p:nvPr/>
        </p:nvSpPr>
        <p:spPr bwMode="auto">
          <a:xfrm>
            <a:off x="811519" y="5419963"/>
            <a:ext cx="5183831" cy="338554"/>
          </a:xfrm>
          <a:prstGeom prst="rect">
            <a:avLst/>
          </a:prstGeom>
          <a:solidFill>
            <a:schemeClr val="bg1"/>
          </a:solidFill>
          <a:ln w="19050">
            <a:solidFill>
              <a:schemeClr val="tx1"/>
            </a:solidFill>
            <a:miter lim="800000"/>
            <a:headEnd/>
            <a:tailEnd/>
          </a:ln>
        </p:spPr>
        <p:txBody>
          <a:bodyPr wrap="none">
            <a:prstTxWarp prst="textNoShape">
              <a:avLst/>
            </a:prstTxWarp>
            <a:spAutoFit/>
          </a:bodyPr>
          <a:lstStyle/>
          <a:p>
            <a:r>
              <a:rPr lang="en-US" sz="1600" dirty="0" err="1">
                <a:latin typeface="Arial" charset="0"/>
              </a:rPr>
              <a:t>TwoPhaseExplicitNodeCenteredFiniteVolumeTransport</a:t>
            </a:r>
            <a:endParaRPr lang="en-GB" sz="1600" dirty="0">
              <a:latin typeface="Arial" charset="0"/>
            </a:endParaRPr>
          </a:p>
        </p:txBody>
      </p:sp>
      <p:cxnSp>
        <p:nvCxnSpPr>
          <p:cNvPr id="22" name="Straight Connector 21"/>
          <p:cNvCxnSpPr>
            <a:stCxn id="8" idx="1"/>
            <a:endCxn id="7" idx="3"/>
          </p:cNvCxnSpPr>
          <p:nvPr/>
        </p:nvCxnSpPr>
        <p:spPr>
          <a:xfrm flipH="1">
            <a:off x="4475411" y="4127594"/>
            <a:ext cx="45662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48577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327129" y="315198"/>
            <a:ext cx="8816871" cy="519112"/>
          </a:xfrm>
        </p:spPr>
        <p:txBody>
          <a:bodyPr>
            <a:normAutofit fontScale="90000"/>
          </a:bodyPr>
          <a:lstStyle/>
          <a:p>
            <a:pPr eaLnBrk="1" hangingPunct="1"/>
            <a:r>
              <a:rPr lang="en-US" sz="2800" dirty="0"/>
              <a:t>What currently happens when the NCFV transport is instantiated</a:t>
            </a:r>
            <a:endParaRPr lang="en-GB" sz="2800" dirty="0"/>
          </a:p>
        </p:txBody>
      </p:sp>
      <p:sp>
        <p:nvSpPr>
          <p:cNvPr id="35845" name="Rectangle 3"/>
          <p:cNvSpPr>
            <a:spLocks noGrp="1" noChangeArrowheads="1"/>
          </p:cNvSpPr>
          <p:nvPr>
            <p:ph type="body" idx="1"/>
          </p:nvPr>
        </p:nvSpPr>
        <p:spPr>
          <a:xfrm>
            <a:off x="441325" y="1196752"/>
            <a:ext cx="8308975" cy="5288111"/>
          </a:xfrm>
        </p:spPr>
        <p:txBody>
          <a:bodyPr>
            <a:normAutofit/>
          </a:bodyPr>
          <a:lstStyle/>
          <a:p>
            <a:pPr eaLnBrk="1" hangingPunct="1">
              <a:lnSpc>
                <a:spcPct val="90000"/>
              </a:lnSpc>
              <a:spcAft>
                <a:spcPct val="85000"/>
              </a:spcAft>
            </a:pPr>
            <a:r>
              <a:rPr lang="en-US" sz="2000" dirty="0"/>
              <a:t>Finite volume stencil class instances of  </a:t>
            </a:r>
            <a:r>
              <a:rPr lang="en-US" sz="2000" b="1" dirty="0" err="1"/>
              <a:t>FiniteVolumeStencil</a:t>
            </a:r>
            <a:r>
              <a:rPr lang="en-US" sz="2000" b="1" dirty="0"/>
              <a:t> </a:t>
            </a:r>
            <a:r>
              <a:rPr lang="en-US" sz="2000" dirty="0"/>
              <a:t>are constructed and initialized with data from </a:t>
            </a:r>
            <a:r>
              <a:rPr lang="en-US" sz="2000" b="1" dirty="0" err="1"/>
              <a:t>FV_IntegrationPointAnd</a:t>
            </a:r>
            <a:r>
              <a:rPr lang="en-US" b="1" dirty="0" err="1"/>
              <a:t>Weights</a:t>
            </a:r>
            <a:r>
              <a:rPr lang="en-US" dirty="0"/>
              <a:t> </a:t>
            </a:r>
            <a:r>
              <a:rPr lang="en-US" sz="2000" dirty="0"/>
              <a:t>for the different finite element types</a:t>
            </a:r>
          </a:p>
          <a:p>
            <a:pPr eaLnBrk="1" hangingPunct="1">
              <a:lnSpc>
                <a:spcPct val="90000"/>
              </a:lnSpc>
              <a:spcAft>
                <a:spcPct val="85000"/>
              </a:spcAft>
            </a:pPr>
            <a:r>
              <a:rPr lang="en-US" sz="2000" dirty="0"/>
              <a:t>Specific stencils are associated with corresponding elements as managed by the </a:t>
            </a:r>
            <a:r>
              <a:rPr lang="en-US" sz="2000" b="1" dirty="0" err="1"/>
              <a:t>FiniteVolumeStencilManager</a:t>
            </a:r>
            <a:endParaRPr lang="en-US" sz="2000" b="1" dirty="0"/>
          </a:p>
          <a:p>
            <a:pPr>
              <a:lnSpc>
                <a:spcPct val="90000"/>
              </a:lnSpc>
              <a:spcAft>
                <a:spcPct val="85000"/>
              </a:spcAft>
            </a:pPr>
            <a:r>
              <a:rPr lang="en-US" sz="2000" b="1" dirty="0" err="1"/>
              <a:t>FV_Parameter</a:t>
            </a:r>
            <a:r>
              <a:rPr lang="en-US" sz="2000" b="1" dirty="0"/>
              <a:t> </a:t>
            </a:r>
            <a:r>
              <a:rPr lang="en-US" sz="2000" dirty="0"/>
              <a:t>instances are initialized doing computations </a:t>
            </a:r>
            <a:r>
              <a:rPr lang="en-US" dirty="0"/>
              <a:t>with the </a:t>
            </a:r>
            <a:r>
              <a:rPr lang="en-US" b="1" dirty="0" err="1"/>
              <a:t>FiniteVolumeStencil</a:t>
            </a:r>
            <a:r>
              <a:rPr lang="en-US" b="1" dirty="0"/>
              <a:t> </a:t>
            </a:r>
            <a:r>
              <a:rPr lang="en-US" dirty="0"/>
              <a:t>objects and are </a:t>
            </a:r>
            <a:r>
              <a:rPr lang="en-US" sz="2000" dirty="0"/>
              <a:t>stored in the STENCIL_DATA vector inside of the </a:t>
            </a:r>
            <a:r>
              <a:rPr lang="en-US" sz="2000" b="1" dirty="0" err="1"/>
              <a:t>NodeCenteredFiniteVolumeTransport</a:t>
            </a:r>
            <a:r>
              <a:rPr lang="en-US" sz="2000" b="1" dirty="0"/>
              <a:t>. </a:t>
            </a:r>
            <a:r>
              <a:rPr lang="en-US" dirty="0"/>
              <a:t>I</a:t>
            </a:r>
            <a:r>
              <a:rPr lang="en-US" sz="2000" dirty="0"/>
              <a:t>nitialized are with facet </a:t>
            </a:r>
            <a:r>
              <a:rPr lang="en-US" sz="2000" dirty="0" err="1"/>
              <a:t>normals</a:t>
            </a:r>
            <a:r>
              <a:rPr lang="en-US" sz="2000" dirty="0"/>
              <a:t>, facet areas, and sector volumes for accelerated lookup and projections during run.  </a:t>
            </a:r>
          </a:p>
          <a:p>
            <a:pPr eaLnBrk="1" hangingPunct="1">
              <a:lnSpc>
                <a:spcPct val="90000"/>
              </a:lnSpc>
              <a:spcAft>
                <a:spcPct val="85000"/>
              </a:spcAft>
            </a:pPr>
            <a:r>
              <a:rPr lang="en-US" sz="2000" dirty="0"/>
              <a:t>FV-pore volumes and flux balance arrays are also computed. For higher order accurate transport schemes, a node connectivity graph and SMINMAX array values are initialized for the limiting, see Matthai et al. (2010, TIPM).</a:t>
            </a:r>
            <a:endParaRPr lang="en-GB" sz="2000" dirty="0"/>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84</a:t>
            </a:fld>
            <a:endParaRPr lang="en-US">
              <a:solidFill>
                <a:prstClr val="white">
                  <a:lumMod val="65000"/>
                </a:prstClr>
              </a:solidFill>
            </a:endParaRPr>
          </a:p>
        </p:txBody>
      </p:sp>
    </p:spTree>
    <p:extLst>
      <p:ext uri="{BB962C8B-B14F-4D97-AF65-F5344CB8AC3E}">
        <p14:creationId xmlns:p14="http://schemas.microsoft.com/office/powerpoint/2010/main" val="16512949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228600" y="201285"/>
            <a:ext cx="8162925" cy="579437"/>
          </a:xfrm>
        </p:spPr>
        <p:txBody>
          <a:bodyPr/>
          <a:lstStyle/>
          <a:p>
            <a:pPr eaLnBrk="1" hangingPunct="1"/>
            <a:r>
              <a:rPr lang="en-US" dirty="0"/>
              <a:t>CFL calculation</a:t>
            </a:r>
            <a:endParaRPr lang="en-GB" dirty="0"/>
          </a:p>
        </p:txBody>
      </p:sp>
      <p:sp>
        <p:nvSpPr>
          <p:cNvPr id="37893" name="Rectangle 3"/>
          <p:cNvSpPr>
            <a:spLocks noGrp="1" noChangeArrowheads="1"/>
          </p:cNvSpPr>
          <p:nvPr>
            <p:ph type="body" idx="1"/>
          </p:nvPr>
        </p:nvSpPr>
        <p:spPr>
          <a:xfrm>
            <a:off x="228600" y="838200"/>
            <a:ext cx="8804274" cy="4953000"/>
          </a:xfrm>
        </p:spPr>
        <p:txBody>
          <a:bodyPr>
            <a:noAutofit/>
          </a:bodyPr>
          <a:lstStyle/>
          <a:p>
            <a:pPr eaLnBrk="1" hangingPunct="1">
              <a:spcAft>
                <a:spcPct val="50000"/>
              </a:spcAft>
            </a:pPr>
            <a:r>
              <a:rPr lang="en-US" dirty="0"/>
              <a:t>CFL is currently calculated using the element length in the direction of flow, see NCFVT::</a:t>
            </a:r>
            <a:r>
              <a:rPr lang="en-US" b="1" dirty="0" err="1"/>
              <a:t>AnisotropicCourantIncrement</a:t>
            </a:r>
            <a:r>
              <a:rPr lang="en-US" b="1" dirty="0"/>
              <a:t>()</a:t>
            </a:r>
            <a:r>
              <a:rPr lang="en-US" dirty="0"/>
              <a:t>. This only considers viscous and gravitationally driven flow since capillary spreading is computed with the FE method.</a:t>
            </a:r>
          </a:p>
          <a:p>
            <a:pPr>
              <a:spcAft>
                <a:spcPct val="50000"/>
              </a:spcAft>
            </a:pPr>
            <a:r>
              <a:rPr lang="en-US" dirty="0"/>
              <a:t>A limiting value is specified by the user for the case when there is no flow.</a:t>
            </a:r>
            <a:endParaRPr lang="en-GB" dirty="0"/>
          </a:p>
          <a:p>
            <a:pPr eaLnBrk="1" hangingPunct="1">
              <a:spcAft>
                <a:spcPct val="50000"/>
              </a:spcAft>
            </a:pPr>
            <a:r>
              <a:rPr lang="en-US" dirty="0"/>
              <a:t>For explicit calculations, </a:t>
            </a:r>
            <a:r>
              <a:rPr lang="en-US" i="1" dirty="0" err="1"/>
              <a:t>df/ds</a:t>
            </a:r>
            <a:r>
              <a:rPr lang="en-US" i="1" baseline="-25000" dirty="0" err="1"/>
              <a:t>max</a:t>
            </a:r>
            <a:r>
              <a:rPr lang="en-US" dirty="0"/>
              <a:t> is used in the calculation of the 2-phase CFL limit because the resulting step size will be sufficiently small even when </a:t>
            </a:r>
            <a:r>
              <a:rPr lang="en-US" i="1" dirty="0" err="1"/>
              <a:t>df/ds</a:t>
            </a:r>
            <a:r>
              <a:rPr lang="en-US" dirty="0"/>
              <a:t> increases from the current to subsequent iterations. For implicit calculations this is not necessary and the virtual CFL method should be overloaded in such schemes to be less restrictive.</a:t>
            </a:r>
          </a:p>
          <a:p>
            <a:pPr eaLnBrk="1" hangingPunct="1">
              <a:spcAft>
                <a:spcPct val="50000"/>
              </a:spcAft>
            </a:pPr>
            <a:r>
              <a:rPr lang="en-US" dirty="0"/>
              <a:t>To use </a:t>
            </a:r>
            <a:r>
              <a:rPr lang="en-US" dirty="0" err="1"/>
              <a:t>explit</a:t>
            </a:r>
            <a:r>
              <a:rPr lang="en-US" dirty="0"/>
              <a:t> schemes CFL calculation must simultaneously address viscous, gravitational, and capillary terms CFL = max( </a:t>
            </a:r>
            <a:r>
              <a:rPr lang="en-US" dirty="0" err="1"/>
              <a:t>visc_CFL</a:t>
            </a:r>
            <a:r>
              <a:rPr lang="en-US" dirty="0"/>
              <a:t>…) so that even if one of these is zero a meaningful value is established.</a:t>
            </a:r>
          </a:p>
          <a:p>
            <a:pPr eaLnBrk="1" hangingPunct="1">
              <a:spcAft>
                <a:spcPct val="50000"/>
              </a:spcAft>
            </a:pPr>
            <a:r>
              <a:rPr lang="en-US" dirty="0"/>
              <a:t>For these reasons the CFL methods are virtual so that they can be </a:t>
            </a:r>
            <a:r>
              <a:rPr lang="en-US" dirty="0" err="1"/>
              <a:t>overriden</a:t>
            </a:r>
            <a:r>
              <a:rPr lang="en-US" dirty="0"/>
              <a:t> in the subclasses.</a:t>
            </a:r>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85</a:t>
            </a:fld>
            <a:endParaRPr lang="en-US">
              <a:solidFill>
                <a:prstClr val="white">
                  <a:lumMod val="65000"/>
                </a:prstClr>
              </a:solidFill>
            </a:endParaRPr>
          </a:p>
        </p:txBody>
      </p:sp>
    </p:spTree>
    <p:extLst>
      <p:ext uri="{BB962C8B-B14F-4D97-AF65-F5344CB8AC3E}">
        <p14:creationId xmlns:p14="http://schemas.microsoft.com/office/powerpoint/2010/main" val="1876247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166688" y="314325"/>
            <a:ext cx="8154987" cy="457200"/>
          </a:xfrm>
        </p:spPr>
        <p:txBody>
          <a:bodyPr/>
          <a:lstStyle/>
          <a:p>
            <a:pPr eaLnBrk="1" hangingPunct="1"/>
            <a:r>
              <a:rPr lang="en-US" sz="2400" dirty="0">
                <a:latin typeface="Arial" charset="0"/>
                <a:ea typeface="ＭＳ Ｐゴシック" charset="0"/>
                <a:cs typeface="ＭＳ Ｐゴシック" charset="0"/>
              </a:rPr>
              <a:t>Node-centered CVFE scheme: participating classes</a:t>
            </a:r>
            <a:endParaRPr lang="en-GB" sz="2400" dirty="0">
              <a:latin typeface="Arial" charset="0"/>
              <a:ea typeface="ＭＳ Ｐゴシック" charset="0"/>
              <a:cs typeface="ＭＳ Ｐゴシック" charset="0"/>
            </a:endParaRPr>
          </a:p>
        </p:txBody>
      </p:sp>
      <p:sp>
        <p:nvSpPr>
          <p:cNvPr id="44036" name="Text Box 3"/>
          <p:cNvSpPr txBox="1">
            <a:spLocks noChangeArrowheads="1"/>
          </p:cNvSpPr>
          <p:nvPr/>
        </p:nvSpPr>
        <p:spPr bwMode="auto">
          <a:xfrm>
            <a:off x="258763" y="1987550"/>
            <a:ext cx="4216400"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ExplicitNodeCenteredFiniteVolumeTransport</a:t>
            </a:r>
            <a:endParaRPr lang="en-GB" sz="1600">
              <a:latin typeface="Arial" charset="0"/>
            </a:endParaRPr>
          </a:p>
        </p:txBody>
      </p:sp>
      <p:sp>
        <p:nvSpPr>
          <p:cNvPr id="44037" name="Text Box 4"/>
          <p:cNvSpPr txBox="1">
            <a:spLocks noChangeArrowheads="1"/>
          </p:cNvSpPr>
          <p:nvPr/>
        </p:nvSpPr>
        <p:spPr bwMode="auto">
          <a:xfrm>
            <a:off x="4383088" y="2932113"/>
            <a:ext cx="3562350"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NodeCenteredFiniteVolumeAlgorithm</a:t>
            </a:r>
            <a:endParaRPr lang="en-GB" sz="1600">
              <a:latin typeface="Arial" charset="0"/>
            </a:endParaRPr>
          </a:p>
        </p:txBody>
      </p:sp>
      <p:sp>
        <p:nvSpPr>
          <p:cNvPr id="44038" name="Text Box 5"/>
          <p:cNvSpPr txBox="1">
            <a:spLocks noChangeArrowheads="1"/>
          </p:cNvSpPr>
          <p:nvPr/>
        </p:nvSpPr>
        <p:spPr bwMode="auto">
          <a:xfrm>
            <a:off x="4391025" y="3971925"/>
            <a:ext cx="1725613"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StencilProcessor</a:t>
            </a:r>
            <a:endParaRPr lang="en-GB" sz="1600">
              <a:latin typeface="Arial" charset="0"/>
            </a:endParaRPr>
          </a:p>
        </p:txBody>
      </p:sp>
      <p:sp>
        <p:nvSpPr>
          <p:cNvPr id="44039" name="Text Box 6"/>
          <p:cNvSpPr txBox="1">
            <a:spLocks noChangeArrowheads="1"/>
          </p:cNvSpPr>
          <p:nvPr/>
        </p:nvSpPr>
        <p:spPr bwMode="auto">
          <a:xfrm>
            <a:off x="2667000" y="1047750"/>
            <a:ext cx="3575050"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NodeCenteredFiniteVolumeTransport</a:t>
            </a:r>
            <a:endParaRPr lang="en-GB" sz="1600">
              <a:latin typeface="Arial" charset="0"/>
            </a:endParaRPr>
          </a:p>
        </p:txBody>
      </p:sp>
      <p:sp>
        <p:nvSpPr>
          <p:cNvPr id="44040" name="Text Box 7"/>
          <p:cNvSpPr txBox="1">
            <a:spLocks noChangeArrowheads="1"/>
          </p:cNvSpPr>
          <p:nvPr/>
        </p:nvSpPr>
        <p:spPr bwMode="auto">
          <a:xfrm>
            <a:off x="4676775" y="1989138"/>
            <a:ext cx="4240213"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TwoPhaseImplicitNodeCenteredFVTransport</a:t>
            </a:r>
            <a:endParaRPr lang="en-GB" sz="1600">
              <a:latin typeface="Arial" charset="0"/>
            </a:endParaRPr>
          </a:p>
        </p:txBody>
      </p:sp>
      <p:sp>
        <p:nvSpPr>
          <p:cNvPr id="44041" name="Text Box 8"/>
          <p:cNvSpPr txBox="1">
            <a:spLocks noChangeArrowheads="1"/>
          </p:cNvSpPr>
          <p:nvPr/>
        </p:nvSpPr>
        <p:spPr bwMode="auto">
          <a:xfrm>
            <a:off x="1638300" y="4633913"/>
            <a:ext cx="1993900"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FiniteVolumeStencil</a:t>
            </a:r>
            <a:endParaRPr lang="en-GB" sz="1600">
              <a:latin typeface="Arial" charset="0"/>
            </a:endParaRPr>
          </a:p>
        </p:txBody>
      </p:sp>
      <p:sp>
        <p:nvSpPr>
          <p:cNvPr id="44042" name="Text Box 9"/>
          <p:cNvSpPr txBox="1">
            <a:spLocks noChangeArrowheads="1"/>
          </p:cNvSpPr>
          <p:nvPr/>
        </p:nvSpPr>
        <p:spPr bwMode="auto">
          <a:xfrm>
            <a:off x="315913" y="5181600"/>
            <a:ext cx="2795587"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FiniteVolumeStencilManager</a:t>
            </a:r>
            <a:endParaRPr lang="en-GB" sz="1600">
              <a:latin typeface="Arial" charset="0"/>
            </a:endParaRPr>
          </a:p>
        </p:txBody>
      </p:sp>
      <p:sp>
        <p:nvSpPr>
          <p:cNvPr id="44043" name="Text Box 10"/>
          <p:cNvSpPr txBox="1">
            <a:spLocks noChangeArrowheads="1"/>
          </p:cNvSpPr>
          <p:nvPr/>
        </p:nvSpPr>
        <p:spPr bwMode="auto">
          <a:xfrm>
            <a:off x="379413" y="5726113"/>
            <a:ext cx="3192462"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FV_IntegrationPointsAndWeights</a:t>
            </a:r>
            <a:endParaRPr lang="en-GB" sz="1600">
              <a:latin typeface="Arial" charset="0"/>
            </a:endParaRPr>
          </a:p>
        </p:txBody>
      </p:sp>
      <p:sp>
        <p:nvSpPr>
          <p:cNvPr id="44044" name="Text Box 12"/>
          <p:cNvSpPr txBox="1">
            <a:spLocks noChangeArrowheads="1"/>
          </p:cNvSpPr>
          <p:nvPr/>
        </p:nvSpPr>
        <p:spPr bwMode="auto">
          <a:xfrm>
            <a:off x="1649413" y="3749675"/>
            <a:ext cx="1918113" cy="338554"/>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dirty="0" err="1">
                <a:latin typeface="Arial" charset="0"/>
              </a:rPr>
              <a:t>FiniteVolumePolicy</a:t>
            </a:r>
            <a:endParaRPr lang="en-GB" sz="1600" dirty="0">
              <a:latin typeface="Arial" charset="0"/>
            </a:endParaRPr>
          </a:p>
        </p:txBody>
      </p:sp>
      <p:sp>
        <p:nvSpPr>
          <p:cNvPr id="44045" name="Text Box 13"/>
          <p:cNvSpPr txBox="1">
            <a:spLocks noChangeArrowheads="1"/>
          </p:cNvSpPr>
          <p:nvPr/>
        </p:nvSpPr>
        <p:spPr bwMode="auto">
          <a:xfrm>
            <a:off x="311150" y="4632325"/>
            <a:ext cx="947738" cy="355600"/>
          </a:xfrm>
          <a:prstGeom prst="rect">
            <a:avLst/>
          </a:prstGeom>
          <a:noFill/>
          <a:ln w="19050">
            <a:solidFill>
              <a:srgbClr val="B2B2B2"/>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solidFill>
                  <a:srgbClr val="B2B2B2"/>
                </a:solidFill>
                <a:latin typeface="Arial" charset="0"/>
              </a:rPr>
              <a:t>Element</a:t>
            </a:r>
            <a:endParaRPr lang="en-GB" sz="1600">
              <a:solidFill>
                <a:srgbClr val="B2B2B2"/>
              </a:solidFill>
              <a:latin typeface="Arial" charset="0"/>
            </a:endParaRPr>
          </a:p>
        </p:txBody>
      </p:sp>
      <p:sp>
        <p:nvSpPr>
          <p:cNvPr id="44046" name="Rectangle 14"/>
          <p:cNvSpPr>
            <a:spLocks noChangeArrowheads="1"/>
          </p:cNvSpPr>
          <p:nvPr/>
        </p:nvSpPr>
        <p:spPr bwMode="auto">
          <a:xfrm>
            <a:off x="4267200" y="4402138"/>
            <a:ext cx="4741863"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000">
                <a:latin typeface="Arial" charset="0"/>
              </a:rPr>
              <a:t>e</a:t>
            </a:r>
            <a:r>
              <a:rPr lang="en-GB" sz="1000">
                <a:latin typeface="Arial" charset="0"/>
              </a:rPr>
              <a:t>.ConnectedFiniteVolumeStencil()-&gt;SurfaceEdge( i, inside_node, outside_node );</a:t>
            </a:r>
          </a:p>
        </p:txBody>
      </p:sp>
      <p:sp>
        <p:nvSpPr>
          <p:cNvPr id="44047" name="Text Box 15"/>
          <p:cNvSpPr txBox="1">
            <a:spLocks noChangeArrowheads="1"/>
          </p:cNvSpPr>
          <p:nvPr/>
        </p:nvSpPr>
        <p:spPr bwMode="auto">
          <a:xfrm>
            <a:off x="4360863" y="4921250"/>
            <a:ext cx="1712912"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TwoPhaseModel</a:t>
            </a:r>
            <a:endParaRPr lang="en-GB" sz="1600">
              <a:latin typeface="Arial" charset="0"/>
            </a:endParaRPr>
          </a:p>
        </p:txBody>
      </p:sp>
      <p:sp>
        <p:nvSpPr>
          <p:cNvPr id="44048" name="Text Box 16"/>
          <p:cNvSpPr txBox="1">
            <a:spLocks noChangeArrowheads="1"/>
          </p:cNvSpPr>
          <p:nvPr/>
        </p:nvSpPr>
        <p:spPr bwMode="auto">
          <a:xfrm>
            <a:off x="500063" y="2936875"/>
            <a:ext cx="1524000"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FV_Parameter</a:t>
            </a:r>
            <a:endParaRPr lang="en-GB" sz="1600">
              <a:latin typeface="Arial" charset="0"/>
            </a:endParaRPr>
          </a:p>
        </p:txBody>
      </p:sp>
      <p:sp>
        <p:nvSpPr>
          <p:cNvPr id="44049" name="Rectangle 17"/>
          <p:cNvSpPr>
            <a:spLocks noChangeArrowheads="1"/>
          </p:cNvSpPr>
          <p:nvPr/>
        </p:nvSpPr>
        <p:spPr bwMode="auto">
          <a:xfrm>
            <a:off x="4371975" y="3400425"/>
            <a:ext cx="3413125"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000">
                <a:latin typeface="Arial" charset="0"/>
              </a:rPr>
              <a:t>assembly and solution of FV matrix equations, SAMG etc.</a:t>
            </a:r>
            <a:endParaRPr lang="en-GB" sz="1000">
              <a:latin typeface="Arial" charset="0"/>
            </a:endParaRPr>
          </a:p>
        </p:txBody>
      </p:sp>
      <p:sp>
        <p:nvSpPr>
          <p:cNvPr id="44050" name="Rectangle 18"/>
          <p:cNvSpPr>
            <a:spLocks noChangeArrowheads="1"/>
          </p:cNvSpPr>
          <p:nvPr/>
        </p:nvSpPr>
        <p:spPr bwMode="auto">
          <a:xfrm>
            <a:off x="412750" y="4076700"/>
            <a:ext cx="2513013"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000">
                <a:latin typeface="Arial" charset="0"/>
              </a:rPr>
              <a:t>additional FV functionality for the Element</a:t>
            </a:r>
            <a:endParaRPr lang="en-GB" sz="1000">
              <a:latin typeface="Arial" charset="0"/>
            </a:endParaRPr>
          </a:p>
        </p:txBody>
      </p:sp>
      <p:sp>
        <p:nvSpPr>
          <p:cNvPr id="44051" name="Rectangle 19"/>
          <p:cNvSpPr>
            <a:spLocks noChangeArrowheads="1"/>
          </p:cNvSpPr>
          <p:nvPr/>
        </p:nvSpPr>
        <p:spPr bwMode="auto">
          <a:xfrm>
            <a:off x="4249738" y="5262563"/>
            <a:ext cx="4270375"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000">
                <a:latin typeface="Arial" charset="0"/>
              </a:rPr>
              <a:t>two-phase flow properties etc., advection, diffusion and gravity multipliers</a:t>
            </a:r>
            <a:endParaRPr lang="en-GB" sz="1000">
              <a:latin typeface="Arial" charset="0"/>
            </a:endParaRPr>
          </a:p>
        </p:txBody>
      </p:sp>
      <p:cxnSp>
        <p:nvCxnSpPr>
          <p:cNvPr id="44052" name="AutoShape 20"/>
          <p:cNvCxnSpPr>
            <a:cxnSpLocks noChangeShapeType="1"/>
            <a:stCxn id="44039" idx="2"/>
            <a:endCxn id="44036" idx="0"/>
          </p:cNvCxnSpPr>
          <p:nvPr/>
        </p:nvCxnSpPr>
        <p:spPr bwMode="auto">
          <a:xfrm rot="5400000">
            <a:off x="3128169" y="651669"/>
            <a:ext cx="565150" cy="2087562"/>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3" name="AutoShape 21"/>
          <p:cNvCxnSpPr>
            <a:cxnSpLocks noChangeShapeType="1"/>
            <a:stCxn id="44039" idx="2"/>
            <a:endCxn id="44040" idx="0"/>
          </p:cNvCxnSpPr>
          <p:nvPr/>
        </p:nvCxnSpPr>
        <p:spPr bwMode="auto">
          <a:xfrm rot="16200000" flipH="1">
            <a:off x="5342731" y="524669"/>
            <a:ext cx="566738" cy="2343150"/>
          </a:xfrm>
          <a:prstGeom prst="bentConnector3">
            <a:avLst>
              <a:gd name="adj1" fmla="val 49861"/>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4" name="AutoShape 22"/>
          <p:cNvCxnSpPr>
            <a:cxnSpLocks noChangeShapeType="1"/>
            <a:stCxn id="44036" idx="2"/>
            <a:endCxn id="44048" idx="3"/>
          </p:cNvCxnSpPr>
          <p:nvPr/>
        </p:nvCxnSpPr>
        <p:spPr bwMode="auto">
          <a:xfrm rot="5400000">
            <a:off x="1819276" y="2566987"/>
            <a:ext cx="762000" cy="333375"/>
          </a:xfrm>
          <a:prstGeom prst="bentConnector2">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5" name="AutoShape 23"/>
          <p:cNvCxnSpPr>
            <a:cxnSpLocks noChangeShapeType="1"/>
            <a:stCxn id="44036" idx="2"/>
            <a:endCxn id="44044" idx="0"/>
          </p:cNvCxnSpPr>
          <p:nvPr/>
        </p:nvCxnSpPr>
        <p:spPr bwMode="auto">
          <a:xfrm rot="16200000" flipH="1">
            <a:off x="1784454" y="2925658"/>
            <a:ext cx="1406525" cy="241507"/>
          </a:xfrm>
          <a:prstGeom prst="bentConnector3">
            <a:avLst>
              <a:gd name="adj1" fmla="val 50000"/>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6" name="AutoShape 24"/>
          <p:cNvCxnSpPr>
            <a:cxnSpLocks noChangeShapeType="1"/>
            <a:stCxn id="44045" idx="3"/>
            <a:endCxn id="44041" idx="1"/>
          </p:cNvCxnSpPr>
          <p:nvPr/>
        </p:nvCxnSpPr>
        <p:spPr bwMode="auto">
          <a:xfrm>
            <a:off x="1268413" y="4810125"/>
            <a:ext cx="360362" cy="1588"/>
          </a:xfrm>
          <a:prstGeom prst="straightConnector1">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7" name="AutoShape 25"/>
          <p:cNvCxnSpPr>
            <a:cxnSpLocks noChangeShapeType="1"/>
            <a:stCxn id="44044" idx="1"/>
            <a:endCxn id="44045" idx="1"/>
          </p:cNvCxnSpPr>
          <p:nvPr/>
        </p:nvCxnSpPr>
        <p:spPr bwMode="auto">
          <a:xfrm rot="10800000" flipV="1">
            <a:off x="311151" y="3918951"/>
            <a:ext cx="1338263" cy="891173"/>
          </a:xfrm>
          <a:prstGeom prst="bentConnector3">
            <a:avLst>
              <a:gd name="adj1" fmla="val 117082"/>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8" name="AutoShape 26"/>
          <p:cNvCxnSpPr>
            <a:cxnSpLocks noChangeShapeType="1"/>
            <a:stCxn id="44041" idx="3"/>
            <a:endCxn id="44042" idx="3"/>
          </p:cNvCxnSpPr>
          <p:nvPr/>
        </p:nvCxnSpPr>
        <p:spPr bwMode="auto">
          <a:xfrm flipH="1">
            <a:off x="3121025" y="4811713"/>
            <a:ext cx="520700" cy="547687"/>
          </a:xfrm>
          <a:prstGeom prst="bentConnector3">
            <a:avLst>
              <a:gd name="adj1" fmla="val -42074"/>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4059" name="AutoShape 27"/>
          <p:cNvCxnSpPr>
            <a:cxnSpLocks noChangeShapeType="1"/>
            <a:stCxn id="44042" idx="2"/>
            <a:endCxn id="44043" idx="0"/>
          </p:cNvCxnSpPr>
          <p:nvPr/>
        </p:nvCxnSpPr>
        <p:spPr bwMode="auto">
          <a:xfrm rot="16200000" flipH="1">
            <a:off x="1760537" y="5500688"/>
            <a:ext cx="169863" cy="261938"/>
          </a:xfrm>
          <a:prstGeom prst="bentConnector3">
            <a:avLst>
              <a:gd name="adj1" fmla="val 49532"/>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sp>
        <p:nvSpPr>
          <p:cNvPr id="44060" name="Text Box 28"/>
          <p:cNvSpPr txBox="1">
            <a:spLocks noChangeArrowheads="1"/>
          </p:cNvSpPr>
          <p:nvPr/>
        </p:nvSpPr>
        <p:spPr bwMode="auto">
          <a:xfrm>
            <a:off x="255588" y="2422525"/>
            <a:ext cx="4249737" cy="355600"/>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TwoPhaseExplicitNodeCenteredFVTransport</a:t>
            </a:r>
            <a:endParaRPr lang="en-GB" sz="1600">
              <a:latin typeface="Arial" charset="0"/>
            </a:endParaRPr>
          </a:p>
        </p:txBody>
      </p:sp>
      <p:sp>
        <p:nvSpPr>
          <p:cNvPr id="44061" name="Text Box 29"/>
          <p:cNvSpPr txBox="1">
            <a:spLocks noChangeArrowheads="1"/>
          </p:cNvSpPr>
          <p:nvPr/>
        </p:nvSpPr>
        <p:spPr bwMode="auto">
          <a:xfrm>
            <a:off x="6354763" y="3970338"/>
            <a:ext cx="2366962" cy="355600"/>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600">
                <a:latin typeface="Arial" charset="0"/>
              </a:rPr>
              <a:t>ExplicitStencilProcessor</a:t>
            </a:r>
            <a:endParaRPr lang="en-GB" sz="1600">
              <a:latin typeface="Arial" charset="0"/>
            </a:endParaRPr>
          </a:p>
        </p:txBody>
      </p:sp>
      <p:sp>
        <p:nvSpPr>
          <p:cNvPr id="31"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32"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33"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86</a:t>
            </a:fld>
            <a:endParaRPr lang="en-US">
              <a:solidFill>
                <a:prstClr val="white">
                  <a:lumMod val="65000"/>
                </a:prstClr>
              </a:solidFill>
            </a:endParaRPr>
          </a:p>
        </p:txBody>
      </p:sp>
    </p:spTree>
    <p:extLst>
      <p:ext uri="{BB962C8B-B14F-4D97-AF65-F5344CB8AC3E}">
        <p14:creationId xmlns:p14="http://schemas.microsoft.com/office/powerpoint/2010/main" val="41650741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158750" y="142875"/>
            <a:ext cx="7412038" cy="366713"/>
          </a:xfrm>
        </p:spPr>
        <p:txBody>
          <a:bodyPr/>
          <a:lstStyle/>
          <a:p>
            <a:pPr eaLnBrk="1" hangingPunct="1"/>
            <a:r>
              <a:rPr lang="en-US" sz="1800">
                <a:latin typeface="Arial" charset="0"/>
                <a:ea typeface="ＭＳ Ｐゴシック" charset="0"/>
                <a:cs typeface="ＭＳ Ｐゴシック" charset="0"/>
              </a:rPr>
              <a:t>Node-centered CVFE scheme</a:t>
            </a:r>
            <a:endParaRPr lang="en-GB" sz="1800">
              <a:latin typeface="Arial" charset="0"/>
              <a:ea typeface="ＭＳ Ｐゴシック" charset="0"/>
              <a:cs typeface="ＭＳ Ｐゴシック" charset="0"/>
            </a:endParaRPr>
          </a:p>
        </p:txBody>
      </p:sp>
      <p:sp>
        <p:nvSpPr>
          <p:cNvPr id="46084" name="Text Box 3"/>
          <p:cNvSpPr txBox="1">
            <a:spLocks noChangeArrowheads="1"/>
          </p:cNvSpPr>
          <p:nvPr/>
        </p:nvSpPr>
        <p:spPr bwMode="auto">
          <a:xfrm>
            <a:off x="730250" y="1558925"/>
            <a:ext cx="3206750" cy="293688"/>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ExplicitNodeCenteredFiniteVolumeTransport</a:t>
            </a:r>
            <a:endParaRPr lang="en-GB" sz="1200">
              <a:latin typeface="Arial" charset="0"/>
            </a:endParaRPr>
          </a:p>
        </p:txBody>
      </p:sp>
      <p:sp>
        <p:nvSpPr>
          <p:cNvPr id="46085" name="Text Box 4"/>
          <p:cNvSpPr txBox="1">
            <a:spLocks noChangeArrowheads="1"/>
          </p:cNvSpPr>
          <p:nvPr/>
        </p:nvSpPr>
        <p:spPr bwMode="auto">
          <a:xfrm>
            <a:off x="3163888" y="2654300"/>
            <a:ext cx="2716212" cy="293688"/>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NodeCenteredFiniteVolumeAlgorithm</a:t>
            </a:r>
            <a:endParaRPr lang="en-GB" sz="1200">
              <a:latin typeface="Arial" charset="0"/>
            </a:endParaRPr>
          </a:p>
        </p:txBody>
      </p:sp>
      <p:sp>
        <p:nvSpPr>
          <p:cNvPr id="46086" name="Text Box 5"/>
          <p:cNvSpPr txBox="1">
            <a:spLocks noChangeArrowheads="1"/>
          </p:cNvSpPr>
          <p:nvPr/>
        </p:nvSpPr>
        <p:spPr bwMode="auto">
          <a:xfrm>
            <a:off x="5794375" y="3128963"/>
            <a:ext cx="1343025"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StencilProcessor</a:t>
            </a:r>
            <a:endParaRPr lang="en-GB" sz="1200">
              <a:latin typeface="Arial" charset="0"/>
            </a:endParaRPr>
          </a:p>
        </p:txBody>
      </p:sp>
      <p:sp>
        <p:nvSpPr>
          <p:cNvPr id="46087" name="Text Box 6"/>
          <p:cNvSpPr txBox="1">
            <a:spLocks noChangeArrowheads="1"/>
          </p:cNvSpPr>
          <p:nvPr/>
        </p:nvSpPr>
        <p:spPr bwMode="auto">
          <a:xfrm>
            <a:off x="3821113" y="906463"/>
            <a:ext cx="2725737"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NodeCenteredFiniteVolumeTransport</a:t>
            </a:r>
            <a:endParaRPr lang="en-GB" sz="1200">
              <a:latin typeface="Arial" charset="0"/>
            </a:endParaRPr>
          </a:p>
        </p:txBody>
      </p:sp>
      <p:sp>
        <p:nvSpPr>
          <p:cNvPr id="46088" name="Text Box 7"/>
          <p:cNvSpPr txBox="1">
            <a:spLocks noChangeArrowheads="1"/>
          </p:cNvSpPr>
          <p:nvPr/>
        </p:nvSpPr>
        <p:spPr bwMode="auto">
          <a:xfrm>
            <a:off x="4787900" y="1906588"/>
            <a:ext cx="3225800"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TwoPhaseImplicitNodeCenteredFVTransport</a:t>
            </a:r>
            <a:endParaRPr lang="en-GB" sz="1200">
              <a:latin typeface="Arial" charset="0"/>
            </a:endParaRPr>
          </a:p>
        </p:txBody>
      </p:sp>
      <p:sp>
        <p:nvSpPr>
          <p:cNvPr id="46089" name="Text Box 14"/>
          <p:cNvSpPr txBox="1">
            <a:spLocks noChangeArrowheads="1"/>
          </p:cNvSpPr>
          <p:nvPr/>
        </p:nvSpPr>
        <p:spPr bwMode="auto">
          <a:xfrm>
            <a:off x="5226050" y="5481638"/>
            <a:ext cx="1333500"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TwoPhaseModel</a:t>
            </a:r>
            <a:endParaRPr lang="en-GB" sz="1200">
              <a:latin typeface="Arial" charset="0"/>
            </a:endParaRPr>
          </a:p>
        </p:txBody>
      </p:sp>
      <p:cxnSp>
        <p:nvCxnSpPr>
          <p:cNvPr id="46090" name="AutoShape 19"/>
          <p:cNvCxnSpPr>
            <a:cxnSpLocks noChangeShapeType="1"/>
            <a:stCxn id="46087" idx="2"/>
            <a:endCxn id="46084" idx="0"/>
          </p:cNvCxnSpPr>
          <p:nvPr/>
        </p:nvCxnSpPr>
        <p:spPr bwMode="auto">
          <a:xfrm rot="5400000">
            <a:off x="3589337" y="-46037"/>
            <a:ext cx="339725" cy="2851150"/>
          </a:xfrm>
          <a:prstGeom prst="bentConnector3">
            <a:avLst>
              <a:gd name="adj1" fmla="val 49532"/>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6091" name="AutoShape 20"/>
          <p:cNvCxnSpPr>
            <a:cxnSpLocks noChangeShapeType="1"/>
            <a:stCxn id="46087" idx="2"/>
            <a:endCxn id="46088" idx="0"/>
          </p:cNvCxnSpPr>
          <p:nvPr/>
        </p:nvCxnSpPr>
        <p:spPr bwMode="auto">
          <a:xfrm rot="16200000" flipH="1">
            <a:off x="5449094" y="945356"/>
            <a:ext cx="687388" cy="1216025"/>
          </a:xfrm>
          <a:prstGeom prst="bentConnector3">
            <a:avLst>
              <a:gd name="adj1" fmla="val 49884"/>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sp>
        <p:nvSpPr>
          <p:cNvPr id="46092" name="AutoShape 32"/>
          <p:cNvSpPr>
            <a:spLocks noChangeArrowheads="1"/>
          </p:cNvSpPr>
          <p:nvPr/>
        </p:nvSpPr>
        <p:spPr bwMode="auto">
          <a:xfrm>
            <a:off x="2220913" y="1447800"/>
            <a:ext cx="231775" cy="107950"/>
          </a:xfrm>
          <a:prstGeom prst="triangle">
            <a:avLst>
              <a:gd name="adj" fmla="val 50000"/>
            </a:avLst>
          </a:prstGeom>
          <a:solidFill>
            <a:schemeClr val="tx1"/>
          </a:solidFill>
          <a:ln w="9525">
            <a:solidFill>
              <a:schemeClr val="tx1"/>
            </a:solidFill>
            <a:miter lim="800000"/>
            <a:headEnd/>
            <a:tailEnd/>
          </a:ln>
        </p:spPr>
        <p:txBody>
          <a:bodyPr wrap="none" anchor="ctr"/>
          <a:lstStyle/>
          <a:p>
            <a:endParaRPr lang="en-GB"/>
          </a:p>
        </p:txBody>
      </p:sp>
      <p:sp>
        <p:nvSpPr>
          <p:cNvPr id="46093" name="AutoShape 33"/>
          <p:cNvSpPr>
            <a:spLocks noChangeArrowheads="1"/>
          </p:cNvSpPr>
          <p:nvPr/>
        </p:nvSpPr>
        <p:spPr bwMode="auto">
          <a:xfrm>
            <a:off x="6273800" y="1800225"/>
            <a:ext cx="231775" cy="107950"/>
          </a:xfrm>
          <a:prstGeom prst="triangle">
            <a:avLst>
              <a:gd name="adj" fmla="val 50000"/>
            </a:avLst>
          </a:prstGeom>
          <a:solidFill>
            <a:schemeClr val="tx1"/>
          </a:solidFill>
          <a:ln w="9525">
            <a:solidFill>
              <a:schemeClr val="tx1"/>
            </a:solidFill>
            <a:miter lim="800000"/>
            <a:headEnd/>
            <a:tailEnd/>
          </a:ln>
        </p:spPr>
        <p:txBody>
          <a:bodyPr wrap="none" anchor="ctr"/>
          <a:lstStyle/>
          <a:p>
            <a:endParaRPr lang="en-GB"/>
          </a:p>
        </p:txBody>
      </p:sp>
      <p:cxnSp>
        <p:nvCxnSpPr>
          <p:cNvPr id="46094" name="AutoShape 34"/>
          <p:cNvCxnSpPr>
            <a:cxnSpLocks noChangeShapeType="1"/>
            <a:stCxn id="46088" idx="1"/>
            <a:endCxn id="46085" idx="0"/>
          </p:cNvCxnSpPr>
          <p:nvPr/>
        </p:nvCxnSpPr>
        <p:spPr bwMode="auto">
          <a:xfrm rot="10800000" flipV="1">
            <a:off x="4522788" y="2054225"/>
            <a:ext cx="255587" cy="590550"/>
          </a:xfrm>
          <a:prstGeom prst="bentConnector2">
            <a:avLst/>
          </a:prstGeom>
          <a:noFill/>
          <a:ln w="19050">
            <a:solidFill>
              <a:schemeClr val="tx1"/>
            </a:solidFill>
            <a:miter lim="800000"/>
            <a:headEnd/>
            <a:tailEnd type="arrow" w="med" len="med"/>
          </a:ln>
          <a:extLst>
            <a:ext uri="{909E8E84-426E-40dd-AFC4-6F175D3DCCD1}">
              <a14:hiddenFill xmlns:a14="http://schemas.microsoft.com/office/drawing/2010/main" xmlns="">
                <a:noFill/>
              </a14:hiddenFill>
            </a:ext>
          </a:extLst>
        </p:spPr>
      </p:cxnSp>
      <p:cxnSp>
        <p:nvCxnSpPr>
          <p:cNvPr id="46095" name="AutoShape 35"/>
          <p:cNvCxnSpPr>
            <a:cxnSpLocks noChangeShapeType="1"/>
            <a:stCxn id="46084" idx="3"/>
            <a:endCxn id="46085" idx="1"/>
          </p:cNvCxnSpPr>
          <p:nvPr/>
        </p:nvCxnSpPr>
        <p:spPr bwMode="auto">
          <a:xfrm flipH="1">
            <a:off x="3154363" y="1706563"/>
            <a:ext cx="792162" cy="1095375"/>
          </a:xfrm>
          <a:prstGeom prst="bentConnector5">
            <a:avLst>
              <a:gd name="adj1" fmla="val -27657"/>
              <a:gd name="adj2" fmla="val 49856"/>
              <a:gd name="adj3" fmla="val 127657"/>
            </a:avLst>
          </a:prstGeom>
          <a:noFill/>
          <a:ln w="19050">
            <a:solidFill>
              <a:schemeClr val="tx1"/>
            </a:solidFill>
            <a:prstDash val="sysDot"/>
            <a:miter lim="800000"/>
            <a:headEnd/>
            <a:tailEnd type="arrow" w="med" len="med"/>
          </a:ln>
          <a:extLst>
            <a:ext uri="{909E8E84-426E-40dd-AFC4-6F175D3DCCD1}">
              <a14:hiddenFill xmlns:a14="http://schemas.microsoft.com/office/drawing/2010/main" xmlns="">
                <a:noFill/>
              </a14:hiddenFill>
            </a:ext>
          </a:extLst>
        </p:spPr>
      </p:cxnSp>
      <p:sp>
        <p:nvSpPr>
          <p:cNvPr id="46096" name="Text Box 36"/>
          <p:cNvSpPr txBox="1">
            <a:spLocks noChangeArrowheads="1"/>
          </p:cNvSpPr>
          <p:nvPr/>
        </p:nvSpPr>
        <p:spPr bwMode="auto">
          <a:xfrm>
            <a:off x="5665788" y="3513138"/>
            <a:ext cx="3236912" cy="173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900"/>
              <a:t>    InitializeFirstOrder();</a:t>
            </a:r>
          </a:p>
          <a:p>
            <a:pPr eaLnBrk="1" hangingPunct="1"/>
            <a:r>
              <a:rPr lang="en-US" sz="900"/>
              <a:t>    InitializeSecondOrder();</a:t>
            </a:r>
          </a:p>
          <a:p>
            <a:pPr eaLnBrk="1" hangingPunct="1"/>
            <a:r>
              <a:rPr lang="en-US" sz="900"/>
              <a:t>    InitializeAdvectedVariableValues();</a:t>
            </a:r>
          </a:p>
          <a:p>
            <a:pPr eaLnBrk="1" hangingPunct="1"/>
            <a:r>
              <a:rPr lang="en-US" sz="900"/>
              <a:t>    InitializeLimitedDiffusiveFluxes();</a:t>
            </a:r>
          </a:p>
          <a:p>
            <a:pPr eaLnBrk="1" hangingPunct="1"/>
            <a:r>
              <a:rPr lang="en-US" sz="900"/>
              <a:t>    IsotropicallyLimitTransportProperties();</a:t>
            </a:r>
          </a:p>
          <a:p>
            <a:pPr eaLnBrk="1" hangingPunct="1"/>
            <a:r>
              <a:rPr lang="en-US" sz="900"/>
              <a:t>    LimitExplicitSourceTerm();</a:t>
            </a:r>
          </a:p>
          <a:p>
            <a:pPr eaLnBrk="1" hangingPunct="1"/>
            <a:r>
              <a:rPr lang="en-US" sz="900"/>
              <a:t>    EvaluateThetaValues();</a:t>
            </a:r>
          </a:p>
          <a:p>
            <a:pPr eaLnBrk="1" hangingPunct="1"/>
            <a:r>
              <a:rPr lang="en-US" sz="900"/>
              <a:t>    AccumulateImplicitTwoPhaseSolution1();</a:t>
            </a:r>
          </a:p>
          <a:p>
            <a:pPr eaLnBrk="1" hangingPunct="1"/>
            <a:r>
              <a:rPr lang="en-US" sz="900"/>
              <a:t>    AccumulateExplicitAdvectionSolution2(); </a:t>
            </a:r>
          </a:p>
          <a:p>
            <a:pPr eaLnBrk="1" hangingPunct="1"/>
            <a:r>
              <a:rPr lang="en-US" sz="900"/>
              <a:t>    AccumulateExplicitAdvectionDiffusionSolution2(); </a:t>
            </a:r>
          </a:p>
          <a:p>
            <a:pPr eaLnBrk="1" hangingPunct="1"/>
            <a:r>
              <a:rPr lang="en-US" sz="900"/>
              <a:t>    AccumulateExplicitTwoPhaseSolution1(); </a:t>
            </a:r>
          </a:p>
          <a:p>
            <a:pPr eaLnBrk="1" hangingPunct="1"/>
            <a:r>
              <a:rPr lang="en-US" sz="900"/>
              <a:t>    AccumulateExplicitTwoPhaseSolution2();</a:t>
            </a:r>
          </a:p>
        </p:txBody>
      </p:sp>
      <p:grpSp>
        <p:nvGrpSpPr>
          <p:cNvPr id="46097" name="Group 38"/>
          <p:cNvGrpSpPr>
            <a:grpSpLocks/>
          </p:cNvGrpSpPr>
          <p:nvPr/>
        </p:nvGrpSpPr>
        <p:grpSpPr bwMode="auto">
          <a:xfrm>
            <a:off x="7627938" y="1279525"/>
            <a:ext cx="1249362" cy="352425"/>
            <a:chOff x="279" y="1881"/>
            <a:chExt cx="787" cy="222"/>
          </a:xfrm>
          <a:solidFill>
            <a:srgbClr val="FFFFFF"/>
          </a:solidFill>
        </p:grpSpPr>
        <p:sp>
          <p:nvSpPr>
            <p:cNvPr id="46123" name="Text Box 15"/>
            <p:cNvSpPr txBox="1">
              <a:spLocks noChangeArrowheads="1"/>
            </p:cNvSpPr>
            <p:nvPr/>
          </p:nvSpPr>
          <p:spPr bwMode="auto">
            <a:xfrm>
              <a:off x="315" y="1881"/>
              <a:ext cx="751" cy="185"/>
            </a:xfrm>
            <a:prstGeom prst="rect">
              <a:avLst/>
            </a:prstGeom>
            <a:grpFill/>
            <a:ln w="19050">
              <a:solidFill>
                <a:schemeClr val="tx1"/>
              </a:solidFill>
              <a:miter lim="800000"/>
              <a:headEnd/>
              <a:tailEnd/>
            </a:ln>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FV_Parameter</a:t>
              </a:r>
              <a:endParaRPr lang="en-GB" sz="1200">
                <a:latin typeface="Arial" charset="0"/>
              </a:endParaRPr>
            </a:p>
          </p:txBody>
        </p:sp>
        <p:sp>
          <p:nvSpPr>
            <p:cNvPr id="46124" name="Text Box 37"/>
            <p:cNvSpPr txBox="1">
              <a:spLocks noChangeArrowheads="1"/>
            </p:cNvSpPr>
            <p:nvPr/>
          </p:nvSpPr>
          <p:spPr bwMode="auto">
            <a:xfrm>
              <a:off x="279" y="1918"/>
              <a:ext cx="751" cy="185"/>
            </a:xfrm>
            <a:prstGeom prst="rect">
              <a:avLst/>
            </a:prstGeom>
            <a:grp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FV_Parameter</a:t>
              </a:r>
              <a:endParaRPr lang="en-GB" sz="1200">
                <a:latin typeface="Arial" charset="0"/>
              </a:endParaRPr>
            </a:p>
          </p:txBody>
        </p:sp>
      </p:grpSp>
      <p:sp>
        <p:nvSpPr>
          <p:cNvPr id="46098" name="Text Box 8"/>
          <p:cNvSpPr txBox="1">
            <a:spLocks noChangeArrowheads="1"/>
          </p:cNvSpPr>
          <p:nvPr/>
        </p:nvSpPr>
        <p:spPr bwMode="auto">
          <a:xfrm>
            <a:off x="2282825" y="4699000"/>
            <a:ext cx="1544638" cy="293688"/>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FiniteVolumeStencil</a:t>
            </a:r>
            <a:endParaRPr lang="en-GB" sz="1200">
              <a:latin typeface="Arial" charset="0"/>
            </a:endParaRPr>
          </a:p>
        </p:txBody>
      </p:sp>
      <p:sp>
        <p:nvSpPr>
          <p:cNvPr id="46099" name="Text Box 9"/>
          <p:cNvSpPr txBox="1">
            <a:spLocks noChangeArrowheads="1"/>
          </p:cNvSpPr>
          <p:nvPr/>
        </p:nvSpPr>
        <p:spPr bwMode="auto">
          <a:xfrm>
            <a:off x="1349375" y="5246688"/>
            <a:ext cx="2143125"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FiniteVolumeStencilManager</a:t>
            </a:r>
            <a:endParaRPr lang="en-GB" sz="1200">
              <a:latin typeface="Arial" charset="0"/>
            </a:endParaRPr>
          </a:p>
        </p:txBody>
      </p:sp>
      <p:sp>
        <p:nvSpPr>
          <p:cNvPr id="46100" name="Text Box 10"/>
          <p:cNvSpPr txBox="1">
            <a:spLocks noChangeArrowheads="1"/>
          </p:cNvSpPr>
          <p:nvPr/>
        </p:nvSpPr>
        <p:spPr bwMode="auto">
          <a:xfrm>
            <a:off x="1023938" y="5894388"/>
            <a:ext cx="2441575"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FV_IntegrationPointsAndWeights</a:t>
            </a:r>
            <a:endParaRPr lang="en-GB" sz="1200">
              <a:latin typeface="Arial" charset="0"/>
            </a:endParaRPr>
          </a:p>
        </p:txBody>
      </p:sp>
      <p:sp>
        <p:nvSpPr>
          <p:cNvPr id="46101" name="Text Box 11"/>
          <p:cNvSpPr txBox="1">
            <a:spLocks noChangeArrowheads="1"/>
          </p:cNvSpPr>
          <p:nvPr/>
        </p:nvSpPr>
        <p:spPr bwMode="auto">
          <a:xfrm>
            <a:off x="1289050" y="4129088"/>
            <a:ext cx="1470025"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FiniteVolumeTraits</a:t>
            </a:r>
            <a:endParaRPr lang="en-GB" sz="1200">
              <a:latin typeface="Arial" charset="0"/>
            </a:endParaRPr>
          </a:p>
        </p:txBody>
      </p:sp>
      <p:sp>
        <p:nvSpPr>
          <p:cNvPr id="46102" name="Text Box 12"/>
          <p:cNvSpPr txBox="1">
            <a:spLocks noChangeArrowheads="1"/>
          </p:cNvSpPr>
          <p:nvPr/>
        </p:nvSpPr>
        <p:spPr bwMode="auto">
          <a:xfrm>
            <a:off x="955675" y="4697413"/>
            <a:ext cx="760413"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Element</a:t>
            </a:r>
            <a:endParaRPr lang="en-GB" sz="1200">
              <a:latin typeface="Arial" charset="0"/>
            </a:endParaRPr>
          </a:p>
        </p:txBody>
      </p:sp>
      <p:cxnSp>
        <p:nvCxnSpPr>
          <p:cNvPr id="46103" name="AutoShape 23"/>
          <p:cNvCxnSpPr>
            <a:cxnSpLocks noChangeShapeType="1"/>
            <a:stCxn id="46102" idx="3"/>
            <a:endCxn id="46098" idx="1"/>
          </p:cNvCxnSpPr>
          <p:nvPr/>
        </p:nvCxnSpPr>
        <p:spPr bwMode="auto">
          <a:xfrm>
            <a:off x="1725613" y="4845050"/>
            <a:ext cx="547687" cy="1588"/>
          </a:xfrm>
          <a:prstGeom prst="straightConnector1">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6104" name="AutoShape 24"/>
          <p:cNvCxnSpPr>
            <a:cxnSpLocks noChangeShapeType="1"/>
            <a:stCxn id="46101" idx="1"/>
            <a:endCxn id="46102" idx="1"/>
          </p:cNvCxnSpPr>
          <p:nvPr/>
        </p:nvCxnSpPr>
        <p:spPr bwMode="auto">
          <a:xfrm rot="10800000" flipV="1">
            <a:off x="946150" y="4276725"/>
            <a:ext cx="333375" cy="568325"/>
          </a:xfrm>
          <a:prstGeom prst="bentConnector3">
            <a:avLst>
              <a:gd name="adj1" fmla="val 165713"/>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6105" name="AutoShape 25"/>
          <p:cNvCxnSpPr>
            <a:cxnSpLocks noChangeShapeType="1"/>
            <a:stCxn id="46098" idx="3"/>
            <a:endCxn id="46099" idx="3"/>
          </p:cNvCxnSpPr>
          <p:nvPr/>
        </p:nvCxnSpPr>
        <p:spPr bwMode="auto">
          <a:xfrm flipH="1">
            <a:off x="3502025" y="4846638"/>
            <a:ext cx="334963" cy="547687"/>
          </a:xfrm>
          <a:prstGeom prst="bentConnector3">
            <a:avLst>
              <a:gd name="adj1" fmla="val -64931"/>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6106" name="AutoShape 26"/>
          <p:cNvCxnSpPr>
            <a:cxnSpLocks noChangeShapeType="1"/>
            <a:stCxn id="46099" idx="2"/>
            <a:endCxn id="46100" idx="0"/>
          </p:cNvCxnSpPr>
          <p:nvPr/>
        </p:nvCxnSpPr>
        <p:spPr bwMode="auto">
          <a:xfrm rot="5400000">
            <a:off x="2165350" y="5629275"/>
            <a:ext cx="334963" cy="176213"/>
          </a:xfrm>
          <a:prstGeom prst="bentConnector3">
            <a:avLst>
              <a:gd name="adj1" fmla="val 49764"/>
            </a:avLst>
          </a:prstGeom>
          <a:noFill/>
          <a:ln w="19050">
            <a:solidFill>
              <a:schemeClr val="tx1"/>
            </a:solidFill>
            <a:miter lim="800000"/>
            <a:headEnd/>
            <a:tailEnd type="arrow" w="med" len="med"/>
          </a:ln>
          <a:extLst>
            <a:ext uri="{909E8E84-426E-40dd-AFC4-6F175D3DCCD1}">
              <a14:hiddenFill xmlns:a14="http://schemas.microsoft.com/office/drawing/2010/main" xmlns="">
                <a:noFill/>
              </a14:hiddenFill>
            </a:ext>
          </a:extLst>
        </p:spPr>
      </p:cxnSp>
      <p:sp>
        <p:nvSpPr>
          <p:cNvPr id="46107" name="AutoShape 41"/>
          <p:cNvSpPr>
            <a:spLocks noChangeArrowheads="1"/>
          </p:cNvSpPr>
          <p:nvPr/>
        </p:nvSpPr>
        <p:spPr bwMode="auto">
          <a:xfrm>
            <a:off x="3513138" y="5330825"/>
            <a:ext cx="255587" cy="131763"/>
          </a:xfrm>
          <a:prstGeom prst="diamond">
            <a:avLst/>
          </a:prstGeom>
          <a:solidFill>
            <a:schemeClr val="tx1"/>
          </a:solidFill>
          <a:ln w="9525">
            <a:solidFill>
              <a:schemeClr val="tx1"/>
            </a:solidFill>
            <a:miter lim="800000"/>
            <a:headEnd/>
            <a:tailEnd/>
          </a:ln>
        </p:spPr>
        <p:txBody>
          <a:bodyPr wrap="none" anchor="ctr"/>
          <a:lstStyle/>
          <a:p>
            <a:endParaRPr lang="en-GB"/>
          </a:p>
        </p:txBody>
      </p:sp>
      <p:sp>
        <p:nvSpPr>
          <p:cNvPr id="46108" name="AutoShape 42"/>
          <p:cNvSpPr>
            <a:spLocks noChangeArrowheads="1"/>
          </p:cNvSpPr>
          <p:nvPr/>
        </p:nvSpPr>
        <p:spPr bwMode="auto">
          <a:xfrm>
            <a:off x="1719263" y="4781550"/>
            <a:ext cx="255587" cy="131763"/>
          </a:xfrm>
          <a:prstGeom prst="diamond">
            <a:avLst/>
          </a:prstGeom>
          <a:solidFill>
            <a:schemeClr val="accent1"/>
          </a:solidFill>
          <a:ln w="12700">
            <a:solidFill>
              <a:schemeClr val="tx1"/>
            </a:solidFill>
            <a:miter lim="800000"/>
            <a:headEnd/>
            <a:tailEnd/>
          </a:ln>
        </p:spPr>
        <p:txBody>
          <a:bodyPr wrap="none" anchor="ctr"/>
          <a:lstStyle/>
          <a:p>
            <a:endParaRPr lang="en-GB"/>
          </a:p>
        </p:txBody>
      </p:sp>
      <p:sp>
        <p:nvSpPr>
          <p:cNvPr id="46109" name="Text Box 43"/>
          <p:cNvSpPr txBox="1">
            <a:spLocks noChangeArrowheads="1"/>
          </p:cNvSpPr>
          <p:nvPr/>
        </p:nvSpPr>
        <p:spPr bwMode="auto">
          <a:xfrm>
            <a:off x="893763" y="4770438"/>
            <a:ext cx="760412" cy="293687"/>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Element</a:t>
            </a:r>
            <a:endParaRPr lang="en-GB" sz="1200">
              <a:latin typeface="Arial" charset="0"/>
            </a:endParaRPr>
          </a:p>
        </p:txBody>
      </p:sp>
      <p:sp>
        <p:nvSpPr>
          <p:cNvPr id="46110" name="Text Box 45"/>
          <p:cNvSpPr txBox="1">
            <a:spLocks noChangeArrowheads="1"/>
          </p:cNvSpPr>
          <p:nvPr/>
        </p:nvSpPr>
        <p:spPr bwMode="auto">
          <a:xfrm>
            <a:off x="3168650" y="3194050"/>
            <a:ext cx="633413" cy="293688"/>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Solver</a:t>
            </a:r>
            <a:endParaRPr lang="en-GB" sz="1200">
              <a:latin typeface="Arial" charset="0"/>
            </a:endParaRPr>
          </a:p>
        </p:txBody>
      </p:sp>
      <p:cxnSp>
        <p:nvCxnSpPr>
          <p:cNvPr id="46111" name="AutoShape 46"/>
          <p:cNvCxnSpPr>
            <a:cxnSpLocks noChangeShapeType="1"/>
            <a:stCxn id="46085" idx="2"/>
            <a:endCxn id="46110" idx="0"/>
          </p:cNvCxnSpPr>
          <p:nvPr/>
        </p:nvCxnSpPr>
        <p:spPr bwMode="auto">
          <a:xfrm rot="5400000">
            <a:off x="3890963" y="2552700"/>
            <a:ext cx="227012" cy="1036638"/>
          </a:xfrm>
          <a:prstGeom prst="bentConnector3">
            <a:avLst>
              <a:gd name="adj1" fmla="val 49648"/>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sp>
        <p:nvSpPr>
          <p:cNvPr id="46112" name="AutoShape 47"/>
          <p:cNvSpPr>
            <a:spLocks noChangeArrowheads="1"/>
          </p:cNvSpPr>
          <p:nvPr/>
        </p:nvSpPr>
        <p:spPr bwMode="auto">
          <a:xfrm>
            <a:off x="4197350" y="3008313"/>
            <a:ext cx="255588" cy="131762"/>
          </a:xfrm>
          <a:prstGeom prst="diamond">
            <a:avLst/>
          </a:prstGeom>
          <a:solidFill>
            <a:schemeClr val="tx1"/>
          </a:solidFill>
          <a:ln w="9525">
            <a:solidFill>
              <a:schemeClr val="tx1"/>
            </a:solidFill>
            <a:miter lim="800000"/>
            <a:headEnd/>
            <a:tailEnd/>
          </a:ln>
        </p:spPr>
        <p:txBody>
          <a:bodyPr wrap="none" anchor="ctr"/>
          <a:lstStyle/>
          <a:p>
            <a:endParaRPr lang="en-GB"/>
          </a:p>
        </p:txBody>
      </p:sp>
      <p:cxnSp>
        <p:nvCxnSpPr>
          <p:cNvPr id="46113" name="AutoShape 48"/>
          <p:cNvCxnSpPr>
            <a:cxnSpLocks noChangeShapeType="1"/>
            <a:stCxn id="46086" idx="3"/>
            <a:endCxn id="46124" idx="2"/>
          </p:cNvCxnSpPr>
          <p:nvPr/>
        </p:nvCxnSpPr>
        <p:spPr bwMode="auto">
          <a:xfrm flipV="1">
            <a:off x="7146925" y="1641475"/>
            <a:ext cx="1077913" cy="1635125"/>
          </a:xfrm>
          <a:prstGeom prst="bentConnector2">
            <a:avLst/>
          </a:prstGeom>
          <a:noFill/>
          <a:ln w="19050">
            <a:solidFill>
              <a:srgbClr val="0000FF"/>
            </a:solidFill>
            <a:miter lim="800000"/>
            <a:headEnd/>
            <a:tailEnd type="arrow" w="med" len="med"/>
          </a:ln>
          <a:extLst>
            <a:ext uri="{909E8E84-426E-40dd-AFC4-6F175D3DCCD1}">
              <a14:hiddenFill xmlns:a14="http://schemas.microsoft.com/office/drawing/2010/main" xmlns="">
                <a:noFill/>
              </a14:hiddenFill>
            </a:ext>
          </a:extLst>
        </p:spPr>
      </p:cxnSp>
      <p:cxnSp>
        <p:nvCxnSpPr>
          <p:cNvPr id="46114" name="AutoShape 49"/>
          <p:cNvCxnSpPr>
            <a:cxnSpLocks noChangeShapeType="1"/>
            <a:stCxn id="46086" idx="1"/>
            <a:endCxn id="46089" idx="1"/>
          </p:cNvCxnSpPr>
          <p:nvPr/>
        </p:nvCxnSpPr>
        <p:spPr bwMode="auto">
          <a:xfrm rot="10800000" flipV="1">
            <a:off x="5216525" y="3276600"/>
            <a:ext cx="568325" cy="2352675"/>
          </a:xfrm>
          <a:prstGeom prst="bentConnector3">
            <a:avLst>
              <a:gd name="adj1" fmla="val 138546"/>
            </a:avLst>
          </a:prstGeom>
          <a:noFill/>
          <a:ln w="19050">
            <a:solidFill>
              <a:srgbClr val="0000FF"/>
            </a:solidFill>
            <a:miter lim="800000"/>
            <a:headEnd/>
            <a:tailEnd type="arrow" w="med" len="med"/>
          </a:ln>
          <a:extLst>
            <a:ext uri="{909E8E84-426E-40dd-AFC4-6F175D3DCCD1}">
              <a14:hiddenFill xmlns:a14="http://schemas.microsoft.com/office/drawing/2010/main" xmlns="">
                <a:noFill/>
              </a14:hiddenFill>
            </a:ext>
          </a:extLst>
        </p:spPr>
      </p:cxnSp>
      <p:cxnSp>
        <p:nvCxnSpPr>
          <p:cNvPr id="46115" name="AutoShape 50"/>
          <p:cNvCxnSpPr>
            <a:cxnSpLocks noChangeShapeType="1"/>
            <a:stCxn id="46086" idx="1"/>
            <a:endCxn id="46101" idx="3"/>
          </p:cNvCxnSpPr>
          <p:nvPr/>
        </p:nvCxnSpPr>
        <p:spPr bwMode="auto">
          <a:xfrm rot="10800000" flipV="1">
            <a:off x="2768600" y="3276600"/>
            <a:ext cx="3016250" cy="1000125"/>
          </a:xfrm>
          <a:prstGeom prst="bentConnector3">
            <a:avLst>
              <a:gd name="adj1" fmla="val 50000"/>
            </a:avLst>
          </a:prstGeom>
          <a:noFill/>
          <a:ln w="19050">
            <a:solidFill>
              <a:srgbClr val="0000FF"/>
            </a:solidFill>
            <a:miter lim="800000"/>
            <a:headEnd/>
            <a:tailEnd type="arrow" w="med" len="med"/>
          </a:ln>
          <a:extLst>
            <a:ext uri="{909E8E84-426E-40dd-AFC4-6F175D3DCCD1}">
              <a14:hiddenFill xmlns:a14="http://schemas.microsoft.com/office/drawing/2010/main" xmlns="">
                <a:noFill/>
              </a14:hiddenFill>
            </a:ext>
          </a:extLst>
        </p:spPr>
      </p:cxnSp>
      <p:cxnSp>
        <p:nvCxnSpPr>
          <p:cNvPr id="46116" name="AutoShape 51"/>
          <p:cNvCxnSpPr>
            <a:cxnSpLocks noChangeShapeType="1"/>
            <a:stCxn id="46088" idx="2"/>
            <a:endCxn id="46086" idx="0"/>
          </p:cNvCxnSpPr>
          <p:nvPr/>
        </p:nvCxnSpPr>
        <p:spPr bwMode="auto">
          <a:xfrm rot="16200000" flipH="1">
            <a:off x="5978525" y="2632075"/>
            <a:ext cx="909638" cy="65088"/>
          </a:xfrm>
          <a:prstGeom prst="bentConnector3">
            <a:avLst>
              <a:gd name="adj1" fmla="val 49912"/>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cxnSp>
        <p:nvCxnSpPr>
          <p:cNvPr id="46117" name="AutoShape 52"/>
          <p:cNvCxnSpPr>
            <a:cxnSpLocks noChangeShapeType="1"/>
            <a:stCxn id="46084" idx="2"/>
          </p:cNvCxnSpPr>
          <p:nvPr/>
        </p:nvCxnSpPr>
        <p:spPr bwMode="auto">
          <a:xfrm rot="16200000" flipH="1">
            <a:off x="4054475" y="141288"/>
            <a:ext cx="615950" cy="4057650"/>
          </a:xfrm>
          <a:prstGeom prst="bentConnector2">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sp>
        <p:nvSpPr>
          <p:cNvPr id="46118" name="Text Box 53"/>
          <p:cNvSpPr txBox="1">
            <a:spLocks noChangeArrowheads="1"/>
          </p:cNvSpPr>
          <p:nvPr/>
        </p:nvSpPr>
        <p:spPr bwMode="auto">
          <a:xfrm>
            <a:off x="5227638" y="5954713"/>
            <a:ext cx="1443037"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solidFill>
                  <a:srgbClr val="0000FF"/>
                </a:solidFill>
                <a:latin typeface="Arial" charset="0"/>
              </a:rPr>
              <a:t>ThreePhaseModel</a:t>
            </a:r>
            <a:endParaRPr lang="en-GB" sz="1200">
              <a:solidFill>
                <a:srgbClr val="0000FF"/>
              </a:solidFill>
              <a:latin typeface="Arial" charset="0"/>
            </a:endParaRPr>
          </a:p>
        </p:txBody>
      </p:sp>
      <p:sp>
        <p:nvSpPr>
          <p:cNvPr id="46119" name="AutoShape 54"/>
          <p:cNvSpPr>
            <a:spLocks noChangeArrowheads="1"/>
          </p:cNvSpPr>
          <p:nvPr/>
        </p:nvSpPr>
        <p:spPr bwMode="auto">
          <a:xfrm>
            <a:off x="6300788" y="2206625"/>
            <a:ext cx="173037" cy="188913"/>
          </a:xfrm>
          <a:prstGeom prst="diamond">
            <a:avLst/>
          </a:prstGeom>
          <a:solidFill>
            <a:schemeClr val="accent1"/>
          </a:solidFill>
          <a:ln w="12700">
            <a:solidFill>
              <a:schemeClr val="tx1"/>
            </a:solidFill>
            <a:miter lim="800000"/>
            <a:headEnd/>
            <a:tailEnd/>
          </a:ln>
        </p:spPr>
        <p:txBody>
          <a:bodyPr wrap="none" anchor="ctr"/>
          <a:lstStyle/>
          <a:p>
            <a:endParaRPr lang="en-GB"/>
          </a:p>
        </p:txBody>
      </p:sp>
      <p:sp>
        <p:nvSpPr>
          <p:cNvPr id="46120" name="AutoShape 55"/>
          <p:cNvSpPr>
            <a:spLocks noChangeArrowheads="1"/>
          </p:cNvSpPr>
          <p:nvPr/>
        </p:nvSpPr>
        <p:spPr bwMode="auto">
          <a:xfrm>
            <a:off x="2249488" y="1870075"/>
            <a:ext cx="173037" cy="188913"/>
          </a:xfrm>
          <a:prstGeom prst="diamond">
            <a:avLst/>
          </a:prstGeom>
          <a:solidFill>
            <a:schemeClr val="accent1"/>
          </a:solidFill>
          <a:ln w="12700">
            <a:solidFill>
              <a:schemeClr val="tx1"/>
            </a:solidFill>
            <a:miter lim="800000"/>
            <a:headEnd/>
            <a:tailEnd/>
          </a:ln>
        </p:spPr>
        <p:txBody>
          <a:bodyPr wrap="none" anchor="ctr"/>
          <a:lstStyle/>
          <a:p>
            <a:endParaRPr lang="en-GB"/>
          </a:p>
        </p:txBody>
      </p:sp>
      <p:sp>
        <p:nvSpPr>
          <p:cNvPr id="46121" name="Text Box 7"/>
          <p:cNvSpPr txBox="1">
            <a:spLocks noChangeArrowheads="1"/>
          </p:cNvSpPr>
          <p:nvPr/>
        </p:nvSpPr>
        <p:spPr bwMode="auto">
          <a:xfrm>
            <a:off x="195263" y="641350"/>
            <a:ext cx="3233737" cy="293688"/>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TwoPhaseExplicitNodeCenteredFVTransport</a:t>
            </a:r>
            <a:endParaRPr lang="en-GB" sz="1200">
              <a:latin typeface="Arial" charset="0"/>
            </a:endParaRPr>
          </a:p>
        </p:txBody>
      </p:sp>
      <p:sp>
        <p:nvSpPr>
          <p:cNvPr id="46122" name="Text Box 5"/>
          <p:cNvSpPr txBox="1">
            <a:spLocks noChangeArrowheads="1"/>
          </p:cNvSpPr>
          <p:nvPr/>
        </p:nvSpPr>
        <p:spPr bwMode="auto">
          <a:xfrm>
            <a:off x="201613" y="992188"/>
            <a:ext cx="1824037" cy="293687"/>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200">
                <a:latin typeface="Arial" charset="0"/>
              </a:rPr>
              <a:t>ExplicitStencilProcessor</a:t>
            </a:r>
            <a:endParaRPr lang="en-GB" sz="1200">
              <a:latin typeface="Arial" charset="0"/>
            </a:endParaRPr>
          </a:p>
        </p:txBody>
      </p:sp>
      <p:sp>
        <p:nvSpPr>
          <p:cNvPr id="46"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47"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48"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87</a:t>
            </a:fld>
            <a:endParaRPr lang="en-US">
              <a:solidFill>
                <a:prstClr val="white">
                  <a:lumMod val="65000"/>
                </a:prstClr>
              </a:solidFill>
            </a:endParaRPr>
          </a:p>
        </p:txBody>
      </p:sp>
    </p:spTree>
    <p:extLst>
      <p:ext uri="{BB962C8B-B14F-4D97-AF65-F5344CB8AC3E}">
        <p14:creationId xmlns:p14="http://schemas.microsoft.com/office/powerpoint/2010/main" val="326190643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ChangeArrowheads="1"/>
          </p:cNvSpPr>
          <p:nvPr/>
        </p:nvSpPr>
        <p:spPr bwMode="auto">
          <a:xfrm>
            <a:off x="1868488" y="2874963"/>
            <a:ext cx="1038225" cy="276225"/>
          </a:xfrm>
          <a:prstGeom prst="rect">
            <a:avLst/>
          </a:prstGeom>
          <a:solidFill>
            <a:srgbClr val="FFFFFF"/>
          </a:solidFill>
          <a:ln w="19050">
            <a:solidFill>
              <a:schemeClr val="tx1"/>
            </a:solidFill>
            <a:miter lim="800000"/>
            <a:headEnd/>
            <a:tailEnd/>
          </a:ln>
        </p:spPr>
        <p:txBody>
          <a:bodyPr wrap="none" anchor="ctr"/>
          <a:lstStyle/>
          <a:p>
            <a:endParaRPr lang="en-GB"/>
          </a:p>
        </p:txBody>
      </p:sp>
      <p:sp>
        <p:nvSpPr>
          <p:cNvPr id="48133" name="Freeform 3"/>
          <p:cNvSpPr>
            <a:spLocks/>
          </p:cNvSpPr>
          <p:nvPr/>
        </p:nvSpPr>
        <p:spPr bwMode="auto">
          <a:xfrm>
            <a:off x="5307013" y="2001838"/>
            <a:ext cx="95250" cy="4241800"/>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GB"/>
          </a:p>
        </p:txBody>
      </p:sp>
      <p:sp>
        <p:nvSpPr>
          <p:cNvPr id="48134" name="Rectangle 4"/>
          <p:cNvSpPr>
            <a:spLocks noChangeArrowheads="1"/>
          </p:cNvSpPr>
          <p:nvPr/>
        </p:nvSpPr>
        <p:spPr bwMode="auto">
          <a:xfrm>
            <a:off x="5178425" y="3144838"/>
            <a:ext cx="666750" cy="282575"/>
          </a:xfrm>
          <a:prstGeom prst="rect">
            <a:avLst/>
          </a:prstGeom>
          <a:solidFill>
            <a:srgbClr val="FFFFFF"/>
          </a:solidFill>
          <a:ln w="19050">
            <a:solidFill>
              <a:schemeClr val="tx1"/>
            </a:solidFill>
            <a:miter lim="800000"/>
            <a:headEnd/>
            <a:tailEnd/>
          </a:ln>
        </p:spPr>
        <p:txBody>
          <a:bodyPr wrap="none" anchor="ctr"/>
          <a:lstStyle/>
          <a:p>
            <a:endParaRPr lang="en-GB"/>
          </a:p>
        </p:txBody>
      </p:sp>
      <p:sp>
        <p:nvSpPr>
          <p:cNvPr id="48135" name="Rectangle 5"/>
          <p:cNvSpPr>
            <a:spLocks noGrp="1" noChangeArrowheads="1"/>
          </p:cNvSpPr>
          <p:nvPr>
            <p:ph type="title"/>
          </p:nvPr>
        </p:nvSpPr>
        <p:spPr>
          <a:xfrm>
            <a:off x="447675" y="246063"/>
            <a:ext cx="5110163" cy="579437"/>
          </a:xfrm>
        </p:spPr>
        <p:txBody>
          <a:bodyPr/>
          <a:lstStyle/>
          <a:p>
            <a:pPr eaLnBrk="1" hangingPunct="1"/>
            <a:r>
              <a:rPr lang="en-US">
                <a:latin typeface="Arial" charset="0"/>
                <a:ea typeface="ＭＳ Ｐゴシック" charset="0"/>
                <a:cs typeface="ＭＳ Ｐゴシック" charset="0"/>
              </a:rPr>
              <a:t>Sequence diagram</a:t>
            </a:r>
            <a:endParaRPr lang="en-GB">
              <a:latin typeface="Arial" charset="0"/>
              <a:ea typeface="ＭＳ Ｐゴシック" charset="0"/>
              <a:cs typeface="ＭＳ Ｐゴシック" charset="0"/>
            </a:endParaRPr>
          </a:p>
        </p:txBody>
      </p:sp>
      <p:sp>
        <p:nvSpPr>
          <p:cNvPr id="48136" name="Text Box 6"/>
          <p:cNvSpPr txBox="1">
            <a:spLocks noChangeArrowheads="1"/>
          </p:cNvSpPr>
          <p:nvPr/>
        </p:nvSpPr>
        <p:spPr bwMode="auto">
          <a:xfrm>
            <a:off x="592138" y="1393825"/>
            <a:ext cx="2705100" cy="263525"/>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ExplicitNodeCenteredFiniteVolumeTransport</a:t>
            </a:r>
            <a:endParaRPr lang="en-GB" sz="1000">
              <a:latin typeface="Arial" charset="0"/>
            </a:endParaRPr>
          </a:p>
        </p:txBody>
      </p:sp>
      <p:sp>
        <p:nvSpPr>
          <p:cNvPr id="48137" name="Text Box 7"/>
          <p:cNvSpPr txBox="1">
            <a:spLocks noChangeArrowheads="1"/>
          </p:cNvSpPr>
          <p:nvPr/>
        </p:nvSpPr>
        <p:spPr bwMode="auto">
          <a:xfrm>
            <a:off x="1890713" y="4037013"/>
            <a:ext cx="2573337" cy="263525"/>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StencilProcessor, ExplicitStencilProcessor</a:t>
            </a:r>
            <a:endParaRPr lang="en-GB" sz="1000">
              <a:latin typeface="Arial" charset="0"/>
            </a:endParaRPr>
          </a:p>
        </p:txBody>
      </p:sp>
      <p:sp>
        <p:nvSpPr>
          <p:cNvPr id="48138" name="Text Box 8"/>
          <p:cNvSpPr txBox="1">
            <a:spLocks noChangeArrowheads="1"/>
          </p:cNvSpPr>
          <p:nvPr/>
        </p:nvSpPr>
        <p:spPr bwMode="auto">
          <a:xfrm>
            <a:off x="1817688" y="1746250"/>
            <a:ext cx="2303462" cy="263525"/>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NodeCenteredFiniteVolumeTransport</a:t>
            </a:r>
            <a:endParaRPr lang="en-GB" sz="1000">
              <a:latin typeface="Arial" charset="0"/>
            </a:endParaRPr>
          </a:p>
        </p:txBody>
      </p:sp>
      <p:sp>
        <p:nvSpPr>
          <p:cNvPr id="48139" name="Text Box 9"/>
          <p:cNvSpPr txBox="1">
            <a:spLocks noChangeArrowheads="1"/>
          </p:cNvSpPr>
          <p:nvPr/>
        </p:nvSpPr>
        <p:spPr bwMode="auto">
          <a:xfrm>
            <a:off x="5122863" y="3205163"/>
            <a:ext cx="666750"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Element</a:t>
            </a:r>
            <a:endParaRPr lang="en-GB" sz="1000">
              <a:latin typeface="Arial" charset="0"/>
            </a:endParaRPr>
          </a:p>
        </p:txBody>
      </p:sp>
      <p:sp>
        <p:nvSpPr>
          <p:cNvPr id="48140" name="Text Box 10"/>
          <p:cNvSpPr txBox="1">
            <a:spLocks noChangeArrowheads="1"/>
          </p:cNvSpPr>
          <p:nvPr/>
        </p:nvSpPr>
        <p:spPr bwMode="auto">
          <a:xfrm>
            <a:off x="6908800" y="965200"/>
            <a:ext cx="1144588" cy="263525"/>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TwoPhaseModel</a:t>
            </a:r>
            <a:endParaRPr lang="en-GB" sz="1000">
              <a:latin typeface="Arial" charset="0"/>
            </a:endParaRPr>
          </a:p>
        </p:txBody>
      </p:sp>
      <p:sp>
        <p:nvSpPr>
          <p:cNvPr id="48141" name="Freeform 13"/>
          <p:cNvSpPr>
            <a:spLocks/>
          </p:cNvSpPr>
          <p:nvPr/>
        </p:nvSpPr>
        <p:spPr bwMode="auto">
          <a:xfrm>
            <a:off x="1646238" y="1655763"/>
            <a:ext cx="88900" cy="4745037"/>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GB"/>
          </a:p>
        </p:txBody>
      </p:sp>
      <p:sp>
        <p:nvSpPr>
          <p:cNvPr id="48142" name="Text Box 14"/>
          <p:cNvSpPr txBox="1">
            <a:spLocks noChangeArrowheads="1"/>
          </p:cNvSpPr>
          <p:nvPr/>
        </p:nvSpPr>
        <p:spPr bwMode="auto">
          <a:xfrm>
            <a:off x="1820863" y="2827338"/>
            <a:ext cx="1025525"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FV_Parameter</a:t>
            </a:r>
            <a:endParaRPr lang="en-GB" sz="1000">
              <a:latin typeface="Arial" charset="0"/>
            </a:endParaRPr>
          </a:p>
        </p:txBody>
      </p:sp>
      <p:sp>
        <p:nvSpPr>
          <p:cNvPr id="48143" name="Text Box 15"/>
          <p:cNvSpPr txBox="1">
            <a:spLocks noChangeArrowheads="1"/>
          </p:cNvSpPr>
          <p:nvPr/>
        </p:nvSpPr>
        <p:spPr bwMode="auto">
          <a:xfrm>
            <a:off x="5597525" y="965200"/>
            <a:ext cx="1066800" cy="263525"/>
          </a:xfrm>
          <a:prstGeom prst="rect">
            <a:avLst/>
          </a:prstGeom>
          <a:noFill/>
          <a:ln w="1905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Model</a:t>
            </a:r>
            <a:endParaRPr lang="en-GB" sz="1000">
              <a:latin typeface="Arial" charset="0"/>
            </a:endParaRPr>
          </a:p>
        </p:txBody>
      </p:sp>
      <p:sp>
        <p:nvSpPr>
          <p:cNvPr id="48144" name="Freeform 16"/>
          <p:cNvSpPr>
            <a:spLocks/>
          </p:cNvSpPr>
          <p:nvPr/>
        </p:nvSpPr>
        <p:spPr bwMode="auto">
          <a:xfrm>
            <a:off x="6062663" y="1223963"/>
            <a:ext cx="88900" cy="4991100"/>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GB"/>
          </a:p>
        </p:txBody>
      </p:sp>
      <p:sp>
        <p:nvSpPr>
          <p:cNvPr id="48145" name="Text Box 17"/>
          <p:cNvSpPr txBox="1">
            <a:spLocks noChangeArrowheads="1"/>
          </p:cNvSpPr>
          <p:nvPr/>
        </p:nvSpPr>
        <p:spPr bwMode="auto">
          <a:xfrm>
            <a:off x="4895850" y="1747838"/>
            <a:ext cx="1819275"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FiniteVolumeStencilManager</a:t>
            </a:r>
            <a:endParaRPr lang="en-GB" sz="1000">
              <a:latin typeface="Arial" charset="0"/>
            </a:endParaRPr>
          </a:p>
        </p:txBody>
      </p:sp>
      <p:sp>
        <p:nvSpPr>
          <p:cNvPr id="48146" name="Freeform 18"/>
          <p:cNvSpPr>
            <a:spLocks/>
          </p:cNvSpPr>
          <p:nvPr/>
        </p:nvSpPr>
        <p:spPr bwMode="auto">
          <a:xfrm>
            <a:off x="7426325" y="1223963"/>
            <a:ext cx="88900" cy="4991100"/>
          </a:xfrm>
          <a:custGeom>
            <a:avLst/>
            <a:gdLst>
              <a:gd name="T0" fmla="*/ 0 w 56"/>
              <a:gd name="T1" fmla="*/ 2147483647 h 3144"/>
              <a:gd name="T2" fmla="*/ 0 w 56"/>
              <a:gd name="T3" fmla="*/ 2147483647 h 3144"/>
              <a:gd name="T4" fmla="*/ 2147483647 w 56"/>
              <a:gd name="T5" fmla="*/ 2147483647 h 3144"/>
              <a:gd name="T6" fmla="*/ 2147483647 w 56"/>
              <a:gd name="T7" fmla="*/ 0 h 3144"/>
              <a:gd name="T8" fmla="*/ 0 60000 65536"/>
              <a:gd name="T9" fmla="*/ 0 60000 65536"/>
              <a:gd name="T10" fmla="*/ 0 60000 65536"/>
              <a:gd name="T11" fmla="*/ 0 60000 65536"/>
              <a:gd name="T12" fmla="*/ 0 w 56"/>
              <a:gd name="T13" fmla="*/ 0 h 3144"/>
              <a:gd name="T14" fmla="*/ 56 w 56"/>
              <a:gd name="T15" fmla="*/ 3144 h 3144"/>
            </a:gdLst>
            <a:ahLst/>
            <a:cxnLst>
              <a:cxn ang="T8">
                <a:pos x="T0" y="T1"/>
              </a:cxn>
              <a:cxn ang="T9">
                <a:pos x="T2" y="T3"/>
              </a:cxn>
              <a:cxn ang="T10">
                <a:pos x="T4" y="T5"/>
              </a:cxn>
              <a:cxn ang="T11">
                <a:pos x="T6" y="T7"/>
              </a:cxn>
            </a:cxnLst>
            <a:rect l="T12" t="T13" r="T14" b="T15"/>
            <a:pathLst>
              <a:path w="56" h="3144">
                <a:moveTo>
                  <a:pt x="0" y="4"/>
                </a:moveTo>
                <a:lnTo>
                  <a:pt x="0" y="3144"/>
                </a:lnTo>
                <a:lnTo>
                  <a:pt x="56" y="3144"/>
                </a:lnTo>
                <a:lnTo>
                  <a:pt x="56" y="0"/>
                </a:lnTo>
              </a:path>
            </a:pathLst>
          </a:cu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lstStyle/>
          <a:p>
            <a:endParaRPr lang="en-GB"/>
          </a:p>
        </p:txBody>
      </p:sp>
      <p:sp>
        <p:nvSpPr>
          <p:cNvPr id="48147" name="Line 19"/>
          <p:cNvSpPr>
            <a:spLocks noChangeShapeType="1"/>
          </p:cNvSpPr>
          <p:nvPr/>
        </p:nvSpPr>
        <p:spPr bwMode="auto">
          <a:xfrm flipV="1">
            <a:off x="5648325" y="3476625"/>
            <a:ext cx="0" cy="557213"/>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GB"/>
          </a:p>
        </p:txBody>
      </p:sp>
      <p:sp>
        <p:nvSpPr>
          <p:cNvPr id="48148" name="Text Box 20"/>
          <p:cNvSpPr txBox="1">
            <a:spLocks noChangeArrowheads="1"/>
          </p:cNvSpPr>
          <p:nvPr/>
        </p:nvSpPr>
        <p:spPr bwMode="auto">
          <a:xfrm>
            <a:off x="6313488" y="2195513"/>
            <a:ext cx="2062162"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FV_IntegrationPointsAndWeights</a:t>
            </a:r>
            <a:endParaRPr lang="en-GB" sz="1000">
              <a:latin typeface="Arial" charset="0"/>
            </a:endParaRPr>
          </a:p>
        </p:txBody>
      </p:sp>
      <p:cxnSp>
        <p:nvCxnSpPr>
          <p:cNvPr id="48149" name="AutoShape 21"/>
          <p:cNvCxnSpPr>
            <a:cxnSpLocks noChangeShapeType="1"/>
            <a:stCxn id="48145" idx="3"/>
            <a:endCxn id="48148" idx="0"/>
          </p:cNvCxnSpPr>
          <p:nvPr/>
        </p:nvCxnSpPr>
        <p:spPr bwMode="auto">
          <a:xfrm>
            <a:off x="6724650" y="1879600"/>
            <a:ext cx="620713" cy="306388"/>
          </a:xfrm>
          <a:prstGeom prst="bentConnector2">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cxnSp>
        <p:nvCxnSpPr>
          <p:cNvPr id="48150" name="AutoShape 22"/>
          <p:cNvCxnSpPr>
            <a:cxnSpLocks noChangeShapeType="1"/>
            <a:stCxn id="48148" idx="1"/>
            <a:endCxn id="48152" idx="3"/>
          </p:cNvCxnSpPr>
          <p:nvPr/>
        </p:nvCxnSpPr>
        <p:spPr bwMode="auto">
          <a:xfrm flipH="1">
            <a:off x="5942013" y="2327275"/>
            <a:ext cx="361950" cy="4763"/>
          </a:xfrm>
          <a:prstGeom prst="straightConnector1">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51" name="Rectangle 23"/>
          <p:cNvSpPr>
            <a:spLocks noChangeArrowheads="1"/>
          </p:cNvSpPr>
          <p:nvPr/>
        </p:nvSpPr>
        <p:spPr bwMode="auto">
          <a:xfrm>
            <a:off x="4548188" y="2273300"/>
            <a:ext cx="1285875" cy="247650"/>
          </a:xfrm>
          <a:prstGeom prst="rect">
            <a:avLst/>
          </a:prstGeom>
          <a:solidFill>
            <a:srgbClr val="FFFFFF"/>
          </a:solidFill>
          <a:ln w="19050">
            <a:solidFill>
              <a:schemeClr val="tx1"/>
            </a:solidFill>
            <a:miter lim="800000"/>
            <a:headEnd/>
            <a:tailEnd/>
          </a:ln>
        </p:spPr>
        <p:txBody>
          <a:bodyPr wrap="none" anchor="ctr"/>
          <a:lstStyle/>
          <a:p>
            <a:endParaRPr lang="en-GB"/>
          </a:p>
        </p:txBody>
      </p:sp>
      <p:sp>
        <p:nvSpPr>
          <p:cNvPr id="48152" name="Text Box 24"/>
          <p:cNvSpPr txBox="1">
            <a:spLocks noChangeArrowheads="1"/>
          </p:cNvSpPr>
          <p:nvPr/>
        </p:nvSpPr>
        <p:spPr bwMode="auto">
          <a:xfrm>
            <a:off x="4611688" y="2200275"/>
            <a:ext cx="1320800"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FiniteVolumeStencil</a:t>
            </a:r>
            <a:endParaRPr lang="en-GB" sz="1000">
              <a:latin typeface="Arial" charset="0"/>
            </a:endParaRPr>
          </a:p>
        </p:txBody>
      </p:sp>
      <p:cxnSp>
        <p:nvCxnSpPr>
          <p:cNvPr id="48153" name="AutoShape 25"/>
          <p:cNvCxnSpPr>
            <a:cxnSpLocks noChangeShapeType="1"/>
            <a:stCxn id="48139" idx="0"/>
            <a:endCxn id="48151" idx="2"/>
          </p:cNvCxnSpPr>
          <p:nvPr/>
        </p:nvCxnSpPr>
        <p:spPr bwMode="auto">
          <a:xfrm rot="5400000" flipH="1">
            <a:off x="4991100" y="2730500"/>
            <a:ext cx="665163" cy="265113"/>
          </a:xfrm>
          <a:prstGeom prst="bentConnector3">
            <a:avLst>
              <a:gd name="adj1" fmla="val 49880"/>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54" name="Rectangle 26"/>
          <p:cNvSpPr>
            <a:spLocks noChangeArrowheads="1"/>
          </p:cNvSpPr>
          <p:nvPr/>
        </p:nvSpPr>
        <p:spPr bwMode="auto">
          <a:xfrm>
            <a:off x="1703388" y="3241675"/>
            <a:ext cx="1168400"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000" u="sng">
                <a:latin typeface="Arial" charset="0"/>
              </a:rPr>
              <a:t>TransportPhase()</a:t>
            </a:r>
            <a:endParaRPr lang="en-GB" sz="1000" u="sng">
              <a:latin typeface="Arial" charset="0"/>
            </a:endParaRPr>
          </a:p>
        </p:txBody>
      </p:sp>
      <p:sp>
        <p:nvSpPr>
          <p:cNvPr id="48155" name="Text Box 27"/>
          <p:cNvSpPr txBox="1">
            <a:spLocks noChangeArrowheads="1"/>
          </p:cNvSpPr>
          <p:nvPr/>
        </p:nvSpPr>
        <p:spPr bwMode="auto">
          <a:xfrm>
            <a:off x="5243513" y="4041775"/>
            <a:ext cx="1258887"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FiniteVolumeTraits</a:t>
            </a:r>
            <a:endParaRPr lang="en-GB" sz="1000">
              <a:latin typeface="Arial" charset="0"/>
            </a:endParaRPr>
          </a:p>
        </p:txBody>
      </p:sp>
      <p:sp>
        <p:nvSpPr>
          <p:cNvPr id="48156" name="Rectangle 28"/>
          <p:cNvSpPr>
            <a:spLocks noChangeArrowheads="1"/>
          </p:cNvSpPr>
          <p:nvPr/>
        </p:nvSpPr>
        <p:spPr bwMode="auto">
          <a:xfrm>
            <a:off x="1838325" y="3452813"/>
            <a:ext cx="31273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GB" sz="1000">
                <a:latin typeface="Arial" charset="0"/>
              </a:rPr>
              <a:t>SolveNonConservativeTransportEquation1stOrder</a:t>
            </a:r>
            <a:r>
              <a:rPr lang="en-US" sz="1000">
                <a:latin typeface="Arial" charset="0"/>
              </a:rPr>
              <a:t>()</a:t>
            </a:r>
          </a:p>
          <a:p>
            <a:r>
              <a:rPr lang="en-GB" sz="1000">
                <a:latin typeface="Arial" charset="0"/>
              </a:rPr>
              <a:t>SolveNonConservativeTransportEquation</a:t>
            </a:r>
            <a:r>
              <a:rPr lang="en-US" sz="1000">
                <a:latin typeface="Arial" charset="0"/>
              </a:rPr>
              <a:t>2nd</a:t>
            </a:r>
            <a:r>
              <a:rPr lang="en-GB" sz="1000">
                <a:latin typeface="Arial" charset="0"/>
              </a:rPr>
              <a:t>Order</a:t>
            </a:r>
            <a:r>
              <a:rPr lang="en-US" sz="1000">
                <a:latin typeface="Arial" charset="0"/>
              </a:rPr>
              <a:t>()</a:t>
            </a:r>
            <a:endParaRPr lang="en-GB" sz="1000">
              <a:latin typeface="Arial" charset="0"/>
            </a:endParaRPr>
          </a:p>
        </p:txBody>
      </p:sp>
      <p:cxnSp>
        <p:nvCxnSpPr>
          <p:cNvPr id="48157" name="AutoShape 29"/>
          <p:cNvCxnSpPr>
            <a:cxnSpLocks noChangeShapeType="1"/>
            <a:stCxn id="48155" idx="1"/>
            <a:endCxn id="48137" idx="3"/>
          </p:cNvCxnSpPr>
          <p:nvPr/>
        </p:nvCxnSpPr>
        <p:spPr bwMode="auto">
          <a:xfrm flipH="1" flipV="1">
            <a:off x="4473575" y="4168775"/>
            <a:ext cx="760413" cy="4763"/>
          </a:xfrm>
          <a:prstGeom prst="straightConnector1">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58" name="Rectangle 30"/>
          <p:cNvSpPr>
            <a:spLocks noChangeArrowheads="1"/>
          </p:cNvSpPr>
          <p:nvPr/>
        </p:nvSpPr>
        <p:spPr bwMode="auto">
          <a:xfrm>
            <a:off x="2471738" y="5113338"/>
            <a:ext cx="1895475" cy="1311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000">
                <a:latin typeface="Arial" charset="0"/>
              </a:rPr>
              <a:t>AccumulateLHS()</a:t>
            </a:r>
          </a:p>
          <a:p>
            <a:r>
              <a:rPr lang="en-US" sz="1000">
                <a:latin typeface="Arial" charset="0"/>
              </a:rPr>
              <a:t>AccumulateRHS()</a:t>
            </a:r>
          </a:p>
          <a:p>
            <a:r>
              <a:rPr lang="en-US" sz="1000">
                <a:latin typeface="Arial" charset="0"/>
              </a:rPr>
              <a:t>AccumulateHigherOrderRHS()</a:t>
            </a:r>
          </a:p>
          <a:p>
            <a:r>
              <a:rPr lang="en-US" sz="1000">
                <a:latin typeface="Arial" charset="0"/>
              </a:rPr>
              <a:t>AddToRHS()</a:t>
            </a:r>
          </a:p>
          <a:p>
            <a:r>
              <a:rPr lang="en-US" sz="1000">
                <a:latin typeface="Arial" charset="0"/>
              </a:rPr>
              <a:t>SolveMatrixEquation()</a:t>
            </a:r>
          </a:p>
          <a:p>
            <a:r>
              <a:rPr lang="en-US" sz="1000" u="sng">
                <a:latin typeface="Arial" charset="0"/>
              </a:rPr>
              <a:t>OutputResults()</a:t>
            </a:r>
          </a:p>
          <a:p>
            <a:r>
              <a:rPr lang="en-US" sz="1000">
                <a:latin typeface="Arial" charset="0"/>
              </a:rPr>
              <a:t>ResetLHS()</a:t>
            </a:r>
          </a:p>
          <a:p>
            <a:r>
              <a:rPr lang="en-US" sz="1000">
                <a:latin typeface="Arial" charset="0"/>
              </a:rPr>
              <a:t>ResetRHS()</a:t>
            </a:r>
            <a:endParaRPr lang="en-GB" sz="1000">
              <a:latin typeface="Arial" charset="0"/>
            </a:endParaRPr>
          </a:p>
        </p:txBody>
      </p:sp>
      <p:cxnSp>
        <p:nvCxnSpPr>
          <p:cNvPr id="48159" name="AutoShape 31"/>
          <p:cNvCxnSpPr>
            <a:cxnSpLocks noChangeShapeType="1"/>
            <a:stCxn id="48158" idx="3"/>
          </p:cNvCxnSpPr>
          <p:nvPr/>
        </p:nvCxnSpPr>
        <p:spPr bwMode="auto">
          <a:xfrm flipV="1">
            <a:off x="4367213" y="5759450"/>
            <a:ext cx="1679575" cy="9525"/>
          </a:xfrm>
          <a:prstGeom prst="straightConnector1">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60" name="Rectangle 32"/>
          <p:cNvSpPr>
            <a:spLocks noChangeArrowheads="1"/>
          </p:cNvSpPr>
          <p:nvPr/>
        </p:nvSpPr>
        <p:spPr bwMode="auto">
          <a:xfrm>
            <a:off x="1970088" y="4314825"/>
            <a:ext cx="2384425" cy="244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GB" sz="1000">
                <a:latin typeface="Arial" charset="0"/>
              </a:rPr>
              <a:t>AccumulateExplicitTwoPhaseSolution</a:t>
            </a:r>
            <a:r>
              <a:rPr lang="en-US" sz="1000">
                <a:latin typeface="Arial" charset="0"/>
              </a:rPr>
              <a:t>()</a:t>
            </a:r>
            <a:endParaRPr lang="en-GB" sz="1000">
              <a:latin typeface="Arial" charset="0"/>
            </a:endParaRPr>
          </a:p>
        </p:txBody>
      </p:sp>
      <p:cxnSp>
        <p:nvCxnSpPr>
          <p:cNvPr id="48161" name="AutoShape 33"/>
          <p:cNvCxnSpPr>
            <a:cxnSpLocks noChangeShapeType="1"/>
            <a:stCxn id="48160" idx="2"/>
            <a:endCxn id="48167" idx="0"/>
          </p:cNvCxnSpPr>
          <p:nvPr/>
        </p:nvCxnSpPr>
        <p:spPr bwMode="auto">
          <a:xfrm flipH="1">
            <a:off x="2401888" y="4559300"/>
            <a:ext cx="760412" cy="211138"/>
          </a:xfrm>
          <a:prstGeom prst="straightConnector1">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62" name="Line 34"/>
          <p:cNvSpPr>
            <a:spLocks noChangeShapeType="1"/>
          </p:cNvSpPr>
          <p:nvPr/>
        </p:nvSpPr>
        <p:spPr bwMode="auto">
          <a:xfrm flipH="1">
            <a:off x="4286250" y="4451350"/>
            <a:ext cx="3141663"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GB"/>
          </a:p>
        </p:txBody>
      </p:sp>
      <p:sp>
        <p:nvSpPr>
          <p:cNvPr id="48163" name="Text Box 35"/>
          <p:cNvSpPr txBox="1">
            <a:spLocks noChangeArrowheads="1"/>
          </p:cNvSpPr>
          <p:nvPr/>
        </p:nvSpPr>
        <p:spPr bwMode="auto">
          <a:xfrm>
            <a:off x="5267325" y="1358900"/>
            <a:ext cx="1397000" cy="263525"/>
          </a:xfrm>
          <a:prstGeom prst="rect">
            <a:avLst/>
          </a:prstGeom>
          <a:solidFill>
            <a:srgbClr val="FFFFFF"/>
          </a:solidFill>
          <a:ln w="19050">
            <a:solidFill>
              <a:schemeClr val="tx1"/>
            </a:solidFill>
            <a:miter lim="800000"/>
            <a:headEnd/>
            <a:tailEnd/>
          </a:ln>
        </p:spPr>
        <p:txBody>
          <a:bodyPr>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Mesh</a:t>
            </a:r>
            <a:endParaRPr lang="en-GB" sz="1000">
              <a:latin typeface="Arial" charset="0"/>
            </a:endParaRPr>
          </a:p>
        </p:txBody>
      </p:sp>
      <p:cxnSp>
        <p:nvCxnSpPr>
          <p:cNvPr id="48164" name="AutoShape 36"/>
          <p:cNvCxnSpPr>
            <a:cxnSpLocks noChangeShapeType="1"/>
            <a:stCxn id="48155" idx="0"/>
            <a:endCxn id="48132" idx="3"/>
          </p:cNvCxnSpPr>
          <p:nvPr/>
        </p:nvCxnSpPr>
        <p:spPr bwMode="auto">
          <a:xfrm rot="5400000" flipH="1">
            <a:off x="3885406" y="2043907"/>
            <a:ext cx="1019175" cy="2957512"/>
          </a:xfrm>
          <a:prstGeom prst="bentConnector2">
            <a:avLst/>
          </a:prstGeom>
          <a:noFill/>
          <a:ln w="19050">
            <a:solidFill>
              <a:schemeClr val="tx1"/>
            </a:solidFill>
            <a:miter lim="800000"/>
            <a:headEnd/>
            <a:tailEnd type="triangle" w="med" len="med"/>
          </a:ln>
          <a:extLst>
            <a:ext uri="{909E8E84-426E-40dd-AFC4-6F175D3DCCD1}">
              <a14:hiddenFill xmlns:a14="http://schemas.microsoft.com/office/drawing/2010/main" xmlns="">
                <a:noFill/>
              </a14:hiddenFill>
            </a:ext>
          </a:extLst>
        </p:spPr>
      </p:cxnSp>
      <p:sp>
        <p:nvSpPr>
          <p:cNvPr id="48165" name="Rectangle 37"/>
          <p:cNvSpPr>
            <a:spLocks noChangeArrowheads="1"/>
          </p:cNvSpPr>
          <p:nvPr/>
        </p:nvSpPr>
        <p:spPr bwMode="auto">
          <a:xfrm>
            <a:off x="444500" y="1751013"/>
            <a:ext cx="1158875"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1000" u="sng">
                <a:latin typeface="Arial" charset="0"/>
              </a:rPr>
              <a:t>Constructor()</a:t>
            </a:r>
          </a:p>
          <a:p>
            <a:r>
              <a:rPr lang="en-US" sz="1000" i="1">
                <a:latin typeface="Arial" charset="0"/>
              </a:rPr>
              <a:t>decision whether 1</a:t>
            </a:r>
            <a:r>
              <a:rPr lang="en-US" sz="1000" i="1" baseline="30000">
                <a:latin typeface="Arial" charset="0"/>
              </a:rPr>
              <a:t>st</a:t>
            </a:r>
            <a:r>
              <a:rPr lang="en-US" sz="1000" i="1">
                <a:latin typeface="Arial" charset="0"/>
              </a:rPr>
              <a:t> or higher order</a:t>
            </a:r>
            <a:endParaRPr lang="en-GB" sz="1000" i="1">
              <a:latin typeface="Arial" charset="0"/>
            </a:endParaRPr>
          </a:p>
        </p:txBody>
      </p:sp>
      <p:cxnSp>
        <p:nvCxnSpPr>
          <p:cNvPr id="48166" name="AutoShape 38"/>
          <p:cNvCxnSpPr>
            <a:cxnSpLocks noChangeShapeType="1"/>
            <a:stCxn id="48138" idx="3"/>
            <a:endCxn id="48136" idx="3"/>
          </p:cNvCxnSpPr>
          <p:nvPr/>
        </p:nvCxnSpPr>
        <p:spPr bwMode="auto">
          <a:xfrm flipH="1" flipV="1">
            <a:off x="3306763" y="1525588"/>
            <a:ext cx="823912" cy="352425"/>
          </a:xfrm>
          <a:prstGeom prst="bentConnector3">
            <a:avLst>
              <a:gd name="adj1" fmla="val -26588"/>
            </a:avLst>
          </a:prstGeom>
          <a:noFill/>
          <a:ln w="19050">
            <a:solidFill>
              <a:schemeClr val="tx1"/>
            </a:solidFill>
            <a:miter lim="800000"/>
            <a:headEnd/>
            <a:tailEnd/>
          </a:ln>
          <a:extLst>
            <a:ext uri="{909E8E84-426E-40dd-AFC4-6F175D3DCCD1}">
              <a14:hiddenFill xmlns:a14="http://schemas.microsoft.com/office/drawing/2010/main" xmlns="">
                <a:noFill/>
              </a14:hiddenFill>
            </a:ext>
          </a:extLst>
        </p:spPr>
      </p:cxnSp>
      <p:sp>
        <p:nvSpPr>
          <p:cNvPr id="48167" name="Text Box 39"/>
          <p:cNvSpPr txBox="1">
            <a:spLocks noChangeArrowheads="1"/>
          </p:cNvSpPr>
          <p:nvPr/>
        </p:nvSpPr>
        <p:spPr bwMode="auto">
          <a:xfrm>
            <a:off x="1252538" y="4779963"/>
            <a:ext cx="2297112" cy="263525"/>
          </a:xfrm>
          <a:prstGeom prst="rect">
            <a:avLst/>
          </a:prstGeom>
          <a:solidFill>
            <a:srgbClr val="FFFFFF"/>
          </a:solidFill>
          <a:ln w="19050">
            <a:solidFill>
              <a:schemeClr val="tx1"/>
            </a:solidFill>
            <a:miter lim="800000"/>
            <a:headEnd/>
            <a:tailEnd/>
          </a:ln>
        </p:spPr>
        <p:txBody>
          <a:bodyPr wrap="none">
            <a:spAutoFit/>
          </a:bodyPr>
          <a:lstStyle>
            <a:lvl1pPr eaLnBrk="0" hangingPunct="0">
              <a:defRPr sz="2400">
                <a:solidFill>
                  <a:schemeClr val="tx1"/>
                </a:solidFill>
                <a:latin typeface="Verdana" charset="0"/>
                <a:ea typeface="ＭＳ Ｐゴシック" charset="0"/>
                <a:cs typeface="ＭＳ Ｐゴシック" charset="0"/>
              </a:defRPr>
            </a:lvl1pPr>
            <a:lvl2pPr marL="742950" indent="-285750" eaLnBrk="0" hangingPunct="0">
              <a:defRPr sz="2400">
                <a:solidFill>
                  <a:schemeClr val="tx1"/>
                </a:solidFill>
                <a:latin typeface="Verdana" charset="0"/>
                <a:ea typeface="ＭＳ Ｐゴシック" charset="0"/>
              </a:defRPr>
            </a:lvl2pPr>
            <a:lvl3pPr marL="1143000" indent="-228600" eaLnBrk="0" hangingPunct="0">
              <a:defRPr sz="2400">
                <a:solidFill>
                  <a:schemeClr val="tx1"/>
                </a:solidFill>
                <a:latin typeface="Verdana" charset="0"/>
                <a:ea typeface="ＭＳ Ｐゴシック" charset="0"/>
              </a:defRPr>
            </a:lvl3pPr>
            <a:lvl4pPr marL="1600200" indent="-228600" eaLnBrk="0" hangingPunct="0">
              <a:defRPr sz="2400">
                <a:solidFill>
                  <a:schemeClr val="tx1"/>
                </a:solidFill>
                <a:latin typeface="Verdana" charset="0"/>
                <a:ea typeface="ＭＳ Ｐゴシック" charset="0"/>
              </a:defRPr>
            </a:lvl4pPr>
            <a:lvl5pPr marL="2057400" indent="-228600" eaLnBrk="0" hangingPunct="0">
              <a:defRPr sz="2400">
                <a:solidFill>
                  <a:schemeClr val="tx1"/>
                </a:solidFill>
                <a:latin typeface="Verdana" charset="0"/>
                <a:ea typeface="ＭＳ Ｐゴシック" charset="0"/>
              </a:defRPr>
            </a:lvl5pPr>
            <a:lvl6pPr marL="2514600" indent="-228600" eaLnBrk="0" fontAlgn="base" hangingPunct="0">
              <a:spcBef>
                <a:spcPct val="0"/>
              </a:spcBef>
              <a:spcAft>
                <a:spcPct val="0"/>
              </a:spcAft>
              <a:defRPr sz="2400">
                <a:solidFill>
                  <a:schemeClr val="tx1"/>
                </a:solidFill>
                <a:latin typeface="Verdana" charset="0"/>
                <a:ea typeface="ＭＳ Ｐゴシック" charset="0"/>
              </a:defRPr>
            </a:lvl6pPr>
            <a:lvl7pPr marL="2971800" indent="-228600" eaLnBrk="0" fontAlgn="base" hangingPunct="0">
              <a:spcBef>
                <a:spcPct val="0"/>
              </a:spcBef>
              <a:spcAft>
                <a:spcPct val="0"/>
              </a:spcAft>
              <a:defRPr sz="2400">
                <a:solidFill>
                  <a:schemeClr val="tx1"/>
                </a:solidFill>
                <a:latin typeface="Verdana" charset="0"/>
                <a:ea typeface="ＭＳ Ｐゴシック" charset="0"/>
              </a:defRPr>
            </a:lvl7pPr>
            <a:lvl8pPr marL="3429000" indent="-228600" eaLnBrk="0" fontAlgn="base" hangingPunct="0">
              <a:spcBef>
                <a:spcPct val="0"/>
              </a:spcBef>
              <a:spcAft>
                <a:spcPct val="0"/>
              </a:spcAft>
              <a:defRPr sz="2400">
                <a:solidFill>
                  <a:schemeClr val="tx1"/>
                </a:solidFill>
                <a:latin typeface="Verdana" charset="0"/>
                <a:ea typeface="ＭＳ Ｐゴシック" charset="0"/>
              </a:defRPr>
            </a:lvl8pPr>
            <a:lvl9pPr marL="3886200" indent="-228600" eaLnBrk="0" fontAlgn="base" hangingPunct="0">
              <a:spcBef>
                <a:spcPct val="0"/>
              </a:spcBef>
              <a:spcAft>
                <a:spcPct val="0"/>
              </a:spcAft>
              <a:defRPr sz="2400">
                <a:solidFill>
                  <a:schemeClr val="tx1"/>
                </a:solidFill>
                <a:latin typeface="Verdana" charset="0"/>
                <a:ea typeface="ＭＳ Ｐゴシック" charset="0"/>
              </a:defRPr>
            </a:lvl9pPr>
          </a:lstStyle>
          <a:p>
            <a:pPr eaLnBrk="1" hangingPunct="1"/>
            <a:r>
              <a:rPr lang="en-US" sz="1000">
                <a:latin typeface="Arial" charset="0"/>
              </a:rPr>
              <a:t>NodeCenteredFiniteVolumeAlgorithm</a:t>
            </a:r>
            <a:endParaRPr lang="en-GB" sz="1000">
              <a:latin typeface="Arial" charset="0"/>
            </a:endParaRPr>
          </a:p>
        </p:txBody>
      </p:sp>
      <p:sp>
        <p:nvSpPr>
          <p:cNvPr id="48168" name="Freeform 40"/>
          <p:cNvSpPr>
            <a:spLocks/>
          </p:cNvSpPr>
          <p:nvPr/>
        </p:nvSpPr>
        <p:spPr bwMode="auto">
          <a:xfrm>
            <a:off x="3295650" y="1462088"/>
            <a:ext cx="111125" cy="117475"/>
          </a:xfrm>
          <a:custGeom>
            <a:avLst/>
            <a:gdLst>
              <a:gd name="T0" fmla="*/ 2147483647 w 70"/>
              <a:gd name="T1" fmla="*/ 2147483647 h 74"/>
              <a:gd name="T2" fmla="*/ 2147483647 w 70"/>
              <a:gd name="T3" fmla="*/ 2147483647 h 74"/>
              <a:gd name="T4" fmla="*/ 0 w 70"/>
              <a:gd name="T5" fmla="*/ 0 h 74"/>
              <a:gd name="T6" fmla="*/ 2147483647 w 70"/>
              <a:gd name="T7" fmla="*/ 2147483647 h 74"/>
              <a:gd name="T8" fmla="*/ 0 60000 65536"/>
              <a:gd name="T9" fmla="*/ 0 60000 65536"/>
              <a:gd name="T10" fmla="*/ 0 60000 65536"/>
              <a:gd name="T11" fmla="*/ 0 60000 65536"/>
              <a:gd name="T12" fmla="*/ 0 w 70"/>
              <a:gd name="T13" fmla="*/ 0 h 74"/>
              <a:gd name="T14" fmla="*/ 70 w 70"/>
              <a:gd name="T15" fmla="*/ 74 h 74"/>
            </a:gdLst>
            <a:ahLst/>
            <a:cxnLst>
              <a:cxn ang="T8">
                <a:pos x="T0" y="T1"/>
              </a:cxn>
              <a:cxn ang="T9">
                <a:pos x="T2" y="T3"/>
              </a:cxn>
              <a:cxn ang="T10">
                <a:pos x="T4" y="T5"/>
              </a:cxn>
              <a:cxn ang="T11">
                <a:pos x="T6" y="T7"/>
              </a:cxn>
            </a:cxnLst>
            <a:rect l="T12" t="T13" r="T14" b="T15"/>
            <a:pathLst>
              <a:path w="70" h="74">
                <a:moveTo>
                  <a:pt x="5" y="74"/>
                </a:moveTo>
                <a:lnTo>
                  <a:pt x="70" y="35"/>
                </a:lnTo>
                <a:lnTo>
                  <a:pt x="0" y="0"/>
                </a:lnTo>
                <a:lnTo>
                  <a:pt x="5" y="74"/>
                </a:lnTo>
                <a:close/>
              </a:path>
            </a:pathLst>
          </a:custGeom>
          <a:solidFill>
            <a:schemeClr val="tx1"/>
          </a:solidFill>
          <a:ln w="9525">
            <a:solidFill>
              <a:schemeClr val="tx1"/>
            </a:solidFill>
            <a:miter lim="800000"/>
            <a:headEnd/>
            <a:tailEnd/>
          </a:ln>
        </p:spPr>
        <p:txBody>
          <a:bodyPr wrap="none"/>
          <a:lstStyle/>
          <a:p>
            <a:endParaRPr lang="en-GB"/>
          </a:p>
        </p:txBody>
      </p:sp>
      <p:sp>
        <p:nvSpPr>
          <p:cNvPr id="48169" name="Line 45"/>
          <p:cNvSpPr>
            <a:spLocks noChangeShapeType="1"/>
          </p:cNvSpPr>
          <p:nvPr/>
        </p:nvSpPr>
        <p:spPr bwMode="auto">
          <a:xfrm>
            <a:off x="4114800" y="1955800"/>
            <a:ext cx="779463"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xmlns="">
                <a:noFill/>
              </a14:hiddenFill>
            </a:ext>
          </a:extLst>
        </p:spPr>
        <p:txBody>
          <a:bodyPr wrap="none"/>
          <a:lstStyle/>
          <a:p>
            <a:endParaRPr lang="en-GB"/>
          </a:p>
        </p:txBody>
      </p:sp>
      <p:sp>
        <p:nvSpPr>
          <p:cNvPr id="44"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45"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46"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88</a:t>
            </a:fld>
            <a:endParaRPr lang="en-US">
              <a:solidFill>
                <a:prstClr val="white">
                  <a:lumMod val="65000"/>
                </a:prstClr>
              </a:solidFill>
            </a:endParaRPr>
          </a:p>
        </p:txBody>
      </p:sp>
    </p:spTree>
    <p:extLst>
      <p:ext uri="{BB962C8B-B14F-4D97-AF65-F5344CB8AC3E}">
        <p14:creationId xmlns:p14="http://schemas.microsoft.com/office/powerpoint/2010/main" val="228563970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p:cNvSpPr>
            <a:spLocks noGrp="1"/>
          </p:cNvSpPr>
          <p:nvPr>
            <p:ph type="title"/>
          </p:nvPr>
        </p:nvSpPr>
        <p:spPr>
          <a:xfrm>
            <a:off x="404813" y="-95598"/>
            <a:ext cx="8485187" cy="1076326"/>
          </a:xfrm>
        </p:spPr>
        <p:txBody>
          <a:bodyPr>
            <a:normAutofit/>
          </a:bodyPr>
          <a:lstStyle/>
          <a:p>
            <a:r>
              <a:rPr lang="en-GB" sz="2800" dirty="0">
                <a:latin typeface="Arial Narrow" charset="0"/>
                <a:ea typeface="ＭＳ Ｐゴシック" charset="0"/>
                <a:cs typeface="Arial Narrow" charset="0"/>
              </a:rPr>
              <a:t>Variations of the theme: </a:t>
            </a:r>
            <a:r>
              <a:rPr lang="en-GB" sz="2800" dirty="0">
                <a:latin typeface="Arial" charset="0"/>
                <a:ea typeface="ＭＳ Ｐゴシック" charset="0"/>
                <a:cs typeface="ＭＳ Ｐゴシック" charset="0"/>
              </a:rPr>
              <a:t>CSMP transport schemes</a:t>
            </a:r>
          </a:p>
        </p:txBody>
      </p:sp>
      <p:sp>
        <p:nvSpPr>
          <p:cNvPr id="5" name="Content Placeholder 4"/>
          <p:cNvSpPr>
            <a:spLocks noGrp="1"/>
          </p:cNvSpPr>
          <p:nvPr>
            <p:ph idx="1"/>
          </p:nvPr>
        </p:nvSpPr>
        <p:spPr>
          <a:xfrm>
            <a:off x="441325" y="692696"/>
            <a:ext cx="8667179" cy="5500688"/>
          </a:xfrm>
        </p:spPr>
        <p:txBody>
          <a:bodyPr>
            <a:noAutofit/>
          </a:bodyPr>
          <a:lstStyle/>
          <a:p>
            <a:pPr marL="0" indent="0">
              <a:buFont typeface="Wingdings" charset="0"/>
              <a:buNone/>
              <a:defRPr/>
            </a:pPr>
            <a:r>
              <a:rPr lang="en-GB" sz="1600" dirty="0"/>
              <a:t>Discretization approaches supported by CSMP and transport schemes we have implemented for different purposes:</a:t>
            </a:r>
          </a:p>
          <a:p>
            <a:pPr marL="0" indent="0">
              <a:buFont typeface="Wingdings" charset="0"/>
              <a:buNone/>
              <a:defRPr/>
            </a:pPr>
            <a:r>
              <a:rPr lang="en-GB" sz="1600" b="1" dirty="0"/>
              <a:t>Spatial </a:t>
            </a:r>
            <a:r>
              <a:rPr lang="en-GB" sz="1600" b="1" dirty="0" err="1"/>
              <a:t>discretizations</a:t>
            </a:r>
            <a:r>
              <a:rPr lang="en-GB" sz="1600" b="1" dirty="0"/>
              <a:t>: </a:t>
            </a:r>
            <a:r>
              <a:rPr lang="en-GB" sz="1600" dirty="0"/>
              <a:t>- CVFE, FEMFVM with embedded discontinuities, FECFVM</a:t>
            </a:r>
          </a:p>
          <a:p>
            <a:pPr marL="0" indent="0">
              <a:buFont typeface="Wingdings" charset="0"/>
              <a:buNone/>
              <a:defRPr/>
            </a:pPr>
            <a:r>
              <a:rPr lang="en-GB" sz="1600" dirty="0"/>
              <a:t>- Advection - dispersion – decay (passive transport)</a:t>
            </a:r>
          </a:p>
          <a:p>
            <a:pPr marL="0" indent="0">
              <a:buFont typeface="Wingdings" charset="0"/>
              <a:buNone/>
              <a:defRPr/>
            </a:pPr>
            <a:r>
              <a:rPr lang="en-GB" sz="1600" dirty="0"/>
              <a:t>- volume-based slightly compressible 2-phase and species transport</a:t>
            </a:r>
          </a:p>
          <a:p>
            <a:pPr marL="0" indent="0">
              <a:buFont typeface="Wingdings" charset="0"/>
              <a:buNone/>
              <a:defRPr/>
            </a:pPr>
            <a:r>
              <a:rPr lang="en-GB" sz="1600" dirty="0"/>
              <a:t>- mass-based compressible 3-phase </a:t>
            </a:r>
          </a:p>
          <a:p>
            <a:pPr>
              <a:buFontTx/>
              <a:buChar char="-"/>
              <a:defRPr/>
            </a:pPr>
            <a:r>
              <a:rPr lang="en-GB" sz="1600" dirty="0"/>
              <a:t>Black-oil</a:t>
            </a:r>
          </a:p>
          <a:p>
            <a:pPr>
              <a:buFontTx/>
              <a:buChar char="-"/>
              <a:defRPr/>
            </a:pPr>
            <a:r>
              <a:rPr lang="en-GB" sz="1600" dirty="0"/>
              <a:t>multiphase multi-component transport (C# in oil phase etc.)</a:t>
            </a:r>
          </a:p>
          <a:p>
            <a:pPr marL="0" indent="0">
              <a:buFont typeface="Wingdings" charset="0"/>
              <a:buNone/>
              <a:defRPr/>
            </a:pPr>
            <a:r>
              <a:rPr lang="en-GB" sz="1600" b="1" dirty="0"/>
              <a:t>Time-stepping &amp; flux calculation</a:t>
            </a:r>
          </a:p>
          <a:p>
            <a:pPr marL="0" indent="0">
              <a:buFont typeface="Wingdings" charset="0"/>
              <a:buNone/>
              <a:defRPr/>
            </a:pPr>
            <a:r>
              <a:rPr lang="en-GB" sz="1600" dirty="0"/>
              <a:t>- IMPES (</a:t>
            </a:r>
            <a:r>
              <a:rPr lang="en-GB" sz="1600" dirty="0" err="1"/>
              <a:t>substepping</a:t>
            </a:r>
            <a:r>
              <a:rPr lang="en-GB" sz="1600" dirty="0"/>
              <a:t>)</a:t>
            </a:r>
          </a:p>
          <a:p>
            <a:pPr marL="0" indent="0">
              <a:buFont typeface="Wingdings" charset="0"/>
              <a:buNone/>
              <a:defRPr/>
            </a:pPr>
            <a:r>
              <a:rPr lang="en-GB" sz="1600" dirty="0"/>
              <a:t>- IMPIMS</a:t>
            </a:r>
          </a:p>
          <a:p>
            <a:pPr marL="0" indent="0">
              <a:buFont typeface="Wingdings" charset="0"/>
              <a:buNone/>
              <a:defRPr/>
            </a:pPr>
            <a:r>
              <a:rPr lang="en-GB" sz="1600" dirty="0"/>
              <a:t>- higher-order methods and multi-dimensional flux limiting</a:t>
            </a:r>
          </a:p>
          <a:p>
            <a:pPr marL="0" indent="0">
              <a:buFont typeface="Wingdings" charset="0"/>
              <a:buNone/>
              <a:defRPr/>
            </a:pPr>
            <a:r>
              <a:rPr lang="en-GB" sz="1600" dirty="0"/>
              <a:t>- IMPIMS - theta-limited (2nd order in space and time)</a:t>
            </a:r>
          </a:p>
          <a:p>
            <a:pPr marL="0" indent="0">
              <a:buFont typeface="Wingdings" charset="0"/>
              <a:buNone/>
              <a:defRPr/>
            </a:pPr>
            <a:r>
              <a:rPr lang="en-GB" sz="1600" dirty="0"/>
              <a:t>- IMPIMS - large-time step linearized method (streamline alternative)</a:t>
            </a:r>
          </a:p>
          <a:p>
            <a:pPr marL="0" indent="0">
              <a:buFont typeface="Wingdings" charset="0"/>
              <a:buNone/>
              <a:defRPr/>
            </a:pPr>
            <a:r>
              <a:rPr lang="en-GB" sz="1600" dirty="0"/>
              <a:t>- line-search Newton-</a:t>
            </a:r>
            <a:r>
              <a:rPr lang="en-GB" sz="1600" dirty="0" err="1"/>
              <a:t>Raphson</a:t>
            </a:r>
            <a:r>
              <a:rPr lang="en-GB" sz="1600" dirty="0"/>
              <a:t> extension of Jenny method</a:t>
            </a:r>
          </a:p>
          <a:p>
            <a:pPr marL="0" indent="0">
              <a:buFont typeface="Wingdings" charset="0"/>
              <a:buNone/>
              <a:defRPr/>
            </a:pPr>
            <a:r>
              <a:rPr lang="en-GB" sz="1600" dirty="0"/>
              <a:t>- DES</a:t>
            </a:r>
          </a:p>
        </p:txBody>
      </p:sp>
      <p:sp>
        <p:nvSpPr>
          <p:cNvPr id="7" name="Date Placeholder 3"/>
          <p:cNvSpPr>
            <a:spLocks noGrp="1"/>
          </p:cNvSpPr>
          <p:nvPr>
            <p:ph type="dt" sz="half" idx="10"/>
          </p:nvPr>
        </p:nvSpPr>
        <p:spPr>
          <a:xfrm>
            <a:off x="35496" y="6492875"/>
            <a:ext cx="2133600" cy="365125"/>
          </a:xfrm>
        </p:spPr>
        <p:txBody>
          <a:bodyPr/>
          <a:lstStyle/>
          <a:p>
            <a:fld id="{42113430-5F54-9740-B307-5C0C53476417}" type="datetime1">
              <a:rPr lang="en-US" smtClean="0">
                <a:solidFill>
                  <a:prstClr val="white">
                    <a:lumMod val="65000"/>
                  </a:prstClr>
                </a:solidFill>
              </a:rPr>
              <a:pPr/>
              <a:t>3/17/19</a:t>
            </a:fld>
            <a:endParaRPr lang="en-US" dirty="0">
              <a:solidFill>
                <a:prstClr val="white">
                  <a:lumMod val="65000"/>
                </a:prstClr>
              </a:solidFill>
            </a:endParaRPr>
          </a:p>
        </p:txBody>
      </p:sp>
      <p:sp>
        <p:nvSpPr>
          <p:cNvPr id="8" name="Footer Placeholder 4"/>
          <p:cNvSpPr>
            <a:spLocks noGrp="1"/>
          </p:cNvSpPr>
          <p:nvPr>
            <p:ph type="ftr" sz="quarter" idx="11"/>
          </p:nvPr>
        </p:nvSpPr>
        <p:spPr>
          <a:xfrm>
            <a:off x="3124200" y="6492875"/>
            <a:ext cx="2895600" cy="365125"/>
          </a:xfrm>
        </p:spPr>
        <p:txBody>
          <a:bodyPr/>
          <a:lstStyle/>
          <a:p>
            <a:r>
              <a:rPr lang="en-US">
                <a:solidFill>
                  <a:prstClr val="white">
                    <a:lumMod val="65000"/>
                  </a:prstClr>
                </a:solidFill>
              </a:rPr>
              <a:t>CSMP Generic Transport Scheme</a:t>
            </a:r>
            <a:endParaRPr lang="en-US" dirty="0">
              <a:solidFill>
                <a:prstClr val="white">
                  <a:lumMod val="65000"/>
                </a:prstClr>
              </a:solidFill>
            </a:endParaRPr>
          </a:p>
        </p:txBody>
      </p:sp>
      <p:sp>
        <p:nvSpPr>
          <p:cNvPr id="9" name="Slide Number Placeholder 5"/>
          <p:cNvSpPr>
            <a:spLocks noGrp="1"/>
          </p:cNvSpPr>
          <p:nvPr>
            <p:ph type="sldNum" sz="quarter" idx="12"/>
          </p:nvPr>
        </p:nvSpPr>
        <p:spPr>
          <a:xfrm>
            <a:off x="6974904" y="6492875"/>
            <a:ext cx="2133600" cy="365125"/>
          </a:xfrm>
        </p:spPr>
        <p:txBody>
          <a:bodyPr/>
          <a:lstStyle/>
          <a:p>
            <a:fld id="{223FD816-CC6A-BF43-8241-637E3E7EAA5A}" type="slidenum">
              <a:rPr lang="en-US" smtClean="0">
                <a:solidFill>
                  <a:prstClr val="white">
                    <a:lumMod val="65000"/>
                  </a:prstClr>
                </a:solidFill>
              </a:rPr>
              <a:pPr/>
              <a:t>89</a:t>
            </a:fld>
            <a:endParaRPr lang="en-US">
              <a:solidFill>
                <a:prstClr val="white">
                  <a:lumMod val="65000"/>
                </a:prstClr>
              </a:solidFill>
            </a:endParaRPr>
          </a:p>
        </p:txBody>
      </p:sp>
    </p:spTree>
    <p:extLst>
      <p:ext uri="{BB962C8B-B14F-4D97-AF65-F5344CB8AC3E}">
        <p14:creationId xmlns:p14="http://schemas.microsoft.com/office/powerpoint/2010/main" val="9361514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noAutofit/>
          </a:bodyPr>
          <a:lstStyle/>
          <a:p>
            <a:pPr eaLnBrk="1" hangingPunct="1"/>
            <a:r>
              <a:rPr lang="en-US" sz="2800" dirty="0"/>
              <a:t>Classes to implement your own FVM functionality</a:t>
            </a:r>
            <a:endParaRPr lang="en-GB" sz="2800" dirty="0"/>
          </a:p>
        </p:txBody>
      </p:sp>
      <p:sp>
        <p:nvSpPr>
          <p:cNvPr id="2" name="Content Placeholder 1"/>
          <p:cNvSpPr>
            <a:spLocks noGrp="1"/>
          </p:cNvSpPr>
          <p:nvPr>
            <p:ph idx="1"/>
          </p:nvPr>
        </p:nvSpPr>
        <p:spPr/>
        <p:txBody>
          <a:bodyPr/>
          <a:lstStyle/>
          <a:p>
            <a:r>
              <a:rPr lang="en-US" dirty="0"/>
              <a:t>Elements have pointers to </a:t>
            </a:r>
            <a:r>
              <a:rPr lang="en-US" b="1" dirty="0" err="1"/>
              <a:t>FiniteVolumeStencil</a:t>
            </a:r>
            <a:r>
              <a:rPr lang="en-US" dirty="0"/>
              <a:t> instances</a:t>
            </a:r>
          </a:p>
          <a:p>
            <a:r>
              <a:rPr lang="en-US" dirty="0"/>
              <a:t>Stencils are </a:t>
            </a:r>
            <a:r>
              <a:rPr lang="en-US" dirty="0" err="1"/>
              <a:t>initialised</a:t>
            </a:r>
            <a:r>
              <a:rPr lang="en-US" dirty="0"/>
              <a:t> from data stored in </a:t>
            </a:r>
            <a:r>
              <a:rPr lang="en-US" b="1" dirty="0" err="1"/>
              <a:t>FV_IntegrationPointsAndsWeights</a:t>
            </a:r>
            <a:endParaRPr lang="en-US" b="1" dirty="0"/>
          </a:p>
          <a:p>
            <a:r>
              <a:rPr lang="en-US" dirty="0"/>
              <a:t>Stencils are stored / managed by </a:t>
            </a:r>
            <a:r>
              <a:rPr lang="en-US" b="1" dirty="0" err="1"/>
              <a:t>FiniteVolumeStencilManager</a:t>
            </a:r>
            <a:endParaRPr lang="en-US" b="1" dirty="0"/>
          </a:p>
          <a:p>
            <a:r>
              <a:rPr lang="en-US" b="1" dirty="0" err="1"/>
              <a:t>FiniteVolumeTraits</a:t>
            </a:r>
            <a:r>
              <a:rPr lang="en-US" dirty="0"/>
              <a:t> class provides high-level interface to FVM calculations. For efficiency reasons </a:t>
            </a:r>
            <a:r>
              <a:rPr lang="en-US" dirty="0" err="1"/>
              <a:t>specialisations</a:t>
            </a:r>
            <a:r>
              <a:rPr lang="en-US" dirty="0"/>
              <a:t> for 1-3D were implemented.</a:t>
            </a:r>
          </a:p>
        </p:txBody>
      </p:sp>
      <p:sp>
        <p:nvSpPr>
          <p:cNvPr id="31" name="Footer Placeholder 22"/>
          <p:cNvSpPr>
            <a:spLocks noGrp="1"/>
          </p:cNvSpPr>
          <p:nvPr>
            <p:ph type="ftr" sz="quarter" idx="11"/>
          </p:nvPr>
        </p:nvSpPr>
        <p:spPr/>
        <p:txBody>
          <a:bodyPr/>
          <a:lstStyle/>
          <a:p>
            <a:r>
              <a:rPr lang="en-US" dirty="0"/>
              <a:t>FEM-FVM framework</a:t>
            </a:r>
          </a:p>
        </p:txBody>
      </p:sp>
      <p:sp>
        <p:nvSpPr>
          <p:cNvPr id="33795" name="Slide Number Placeholder 4"/>
          <p:cNvSpPr>
            <a:spLocks noGrp="1"/>
          </p:cNvSpPr>
          <p:nvPr>
            <p:ph type="sldNum" sz="quarter" idx="12"/>
          </p:nvPr>
        </p:nvSpPr>
        <p:spPr>
          <a:noFill/>
        </p:spPr>
        <p:txBody>
          <a:bodyPr/>
          <a:lstStyle/>
          <a:p>
            <a:fld id="{722F9214-CD9A-7C4C-9874-41AEBE7A43AD}" type="slidenum">
              <a:rPr lang="en-US"/>
              <a:pPr/>
              <a:t>90</a:t>
            </a:fld>
            <a:endParaRPr lang="en-US"/>
          </a:p>
        </p:txBody>
      </p:sp>
      <p:sp>
        <p:nvSpPr>
          <p:cNvPr id="33802" name="Text Box 8"/>
          <p:cNvSpPr txBox="1">
            <a:spLocks noChangeArrowheads="1"/>
          </p:cNvSpPr>
          <p:nvPr/>
        </p:nvSpPr>
        <p:spPr bwMode="auto">
          <a:xfrm>
            <a:off x="4016700" y="4673278"/>
            <a:ext cx="1993900"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FiniteVolumeStencil</a:t>
            </a:r>
            <a:endParaRPr lang="en-GB" sz="1600">
              <a:latin typeface="Arial" charset="0"/>
            </a:endParaRPr>
          </a:p>
        </p:txBody>
      </p:sp>
      <p:sp>
        <p:nvSpPr>
          <p:cNvPr id="33803" name="Text Box 9"/>
          <p:cNvSpPr txBox="1">
            <a:spLocks noChangeArrowheads="1"/>
          </p:cNvSpPr>
          <p:nvPr/>
        </p:nvSpPr>
        <p:spPr bwMode="auto">
          <a:xfrm>
            <a:off x="2694313" y="5220965"/>
            <a:ext cx="2795587"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FiniteVolumeStencilManager</a:t>
            </a:r>
            <a:endParaRPr lang="en-GB" sz="1600">
              <a:latin typeface="Arial" charset="0"/>
            </a:endParaRPr>
          </a:p>
        </p:txBody>
      </p:sp>
      <p:sp>
        <p:nvSpPr>
          <p:cNvPr id="33804" name="Text Box 10"/>
          <p:cNvSpPr txBox="1">
            <a:spLocks noChangeArrowheads="1"/>
          </p:cNvSpPr>
          <p:nvPr/>
        </p:nvSpPr>
        <p:spPr bwMode="auto">
          <a:xfrm>
            <a:off x="2757813" y="5765478"/>
            <a:ext cx="3192462"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FV_IntegrationPointsAndWeights</a:t>
            </a:r>
            <a:endParaRPr lang="en-GB" sz="1600">
              <a:latin typeface="Arial" charset="0"/>
            </a:endParaRPr>
          </a:p>
        </p:txBody>
      </p:sp>
      <p:sp>
        <p:nvSpPr>
          <p:cNvPr id="33805" name="Text Box 12"/>
          <p:cNvSpPr txBox="1">
            <a:spLocks noChangeArrowheads="1"/>
          </p:cNvSpPr>
          <p:nvPr/>
        </p:nvSpPr>
        <p:spPr bwMode="auto">
          <a:xfrm>
            <a:off x="4027813" y="3789040"/>
            <a:ext cx="1893887" cy="355600"/>
          </a:xfrm>
          <a:prstGeom prst="rect">
            <a:avLst/>
          </a:prstGeom>
          <a:noFill/>
          <a:ln w="19050">
            <a:solidFill>
              <a:schemeClr val="tx1"/>
            </a:solidFill>
            <a:miter lim="800000"/>
            <a:headEnd/>
            <a:tailEnd/>
          </a:ln>
        </p:spPr>
        <p:txBody>
          <a:bodyPr wrap="none">
            <a:prstTxWarp prst="textNoShape">
              <a:avLst/>
            </a:prstTxWarp>
            <a:spAutoFit/>
          </a:bodyPr>
          <a:lstStyle/>
          <a:p>
            <a:r>
              <a:rPr lang="en-US" sz="1600">
                <a:latin typeface="Arial" charset="0"/>
              </a:rPr>
              <a:t>FiniteVolumeTraits</a:t>
            </a:r>
            <a:endParaRPr lang="en-GB" sz="1600">
              <a:latin typeface="Arial" charset="0"/>
            </a:endParaRPr>
          </a:p>
        </p:txBody>
      </p:sp>
      <p:sp>
        <p:nvSpPr>
          <p:cNvPr id="33806" name="Text Box 13"/>
          <p:cNvSpPr txBox="1">
            <a:spLocks noChangeArrowheads="1"/>
          </p:cNvSpPr>
          <p:nvPr/>
        </p:nvSpPr>
        <p:spPr bwMode="auto">
          <a:xfrm>
            <a:off x="2689550" y="4671690"/>
            <a:ext cx="947738" cy="355600"/>
          </a:xfrm>
          <a:prstGeom prst="rect">
            <a:avLst/>
          </a:prstGeom>
          <a:noFill/>
          <a:ln w="19050">
            <a:solidFill>
              <a:srgbClr val="B2B2B2"/>
            </a:solidFill>
            <a:miter lim="800000"/>
            <a:headEnd/>
            <a:tailEnd/>
          </a:ln>
        </p:spPr>
        <p:txBody>
          <a:bodyPr wrap="none">
            <a:prstTxWarp prst="textNoShape">
              <a:avLst/>
            </a:prstTxWarp>
            <a:spAutoFit/>
          </a:bodyPr>
          <a:lstStyle/>
          <a:p>
            <a:r>
              <a:rPr lang="en-US" sz="1600">
                <a:solidFill>
                  <a:srgbClr val="B2B2B2"/>
                </a:solidFill>
                <a:latin typeface="Arial" charset="0"/>
              </a:rPr>
              <a:t>Element</a:t>
            </a:r>
            <a:endParaRPr lang="en-GB" sz="1600">
              <a:solidFill>
                <a:srgbClr val="B2B2B2"/>
              </a:solidFill>
              <a:latin typeface="Arial" charset="0"/>
            </a:endParaRPr>
          </a:p>
        </p:txBody>
      </p:sp>
      <p:sp>
        <p:nvSpPr>
          <p:cNvPr id="33811" name="Rectangle 18"/>
          <p:cNvSpPr>
            <a:spLocks noChangeArrowheads="1"/>
          </p:cNvSpPr>
          <p:nvPr/>
        </p:nvSpPr>
        <p:spPr bwMode="auto">
          <a:xfrm>
            <a:off x="2791150" y="4116065"/>
            <a:ext cx="2513013" cy="244475"/>
          </a:xfrm>
          <a:prstGeom prst="rect">
            <a:avLst/>
          </a:prstGeom>
          <a:noFill/>
          <a:ln w="9525">
            <a:noFill/>
            <a:miter lim="800000"/>
            <a:headEnd/>
            <a:tailEnd/>
          </a:ln>
        </p:spPr>
        <p:txBody>
          <a:bodyPr wrap="none">
            <a:prstTxWarp prst="textNoShape">
              <a:avLst/>
            </a:prstTxWarp>
            <a:spAutoFit/>
          </a:bodyPr>
          <a:lstStyle/>
          <a:p>
            <a:r>
              <a:rPr lang="en-US" sz="1000">
                <a:latin typeface="Arial" charset="0"/>
              </a:rPr>
              <a:t>additional FV functionality for the Element</a:t>
            </a:r>
            <a:endParaRPr lang="en-GB" sz="1000">
              <a:latin typeface="Arial" charset="0"/>
            </a:endParaRPr>
          </a:p>
        </p:txBody>
      </p:sp>
      <p:cxnSp>
        <p:nvCxnSpPr>
          <p:cNvPr id="33817" name="AutoShape 24"/>
          <p:cNvCxnSpPr>
            <a:cxnSpLocks noChangeShapeType="1"/>
            <a:stCxn id="33806" idx="3"/>
            <a:endCxn id="33802" idx="1"/>
          </p:cNvCxnSpPr>
          <p:nvPr/>
        </p:nvCxnSpPr>
        <p:spPr bwMode="auto">
          <a:xfrm>
            <a:off x="3646813" y="4849490"/>
            <a:ext cx="360362" cy="1588"/>
          </a:xfrm>
          <a:prstGeom prst="straightConnector1">
            <a:avLst/>
          </a:prstGeom>
          <a:noFill/>
          <a:ln w="19050">
            <a:solidFill>
              <a:schemeClr val="tx1"/>
            </a:solidFill>
            <a:miter lim="800000"/>
            <a:headEnd/>
            <a:tailEnd/>
          </a:ln>
        </p:spPr>
      </p:cxnSp>
      <p:cxnSp>
        <p:nvCxnSpPr>
          <p:cNvPr id="33818" name="AutoShape 25"/>
          <p:cNvCxnSpPr>
            <a:cxnSpLocks noChangeShapeType="1"/>
            <a:stCxn id="33805" idx="1"/>
            <a:endCxn id="33806" idx="1"/>
          </p:cNvCxnSpPr>
          <p:nvPr/>
        </p:nvCxnSpPr>
        <p:spPr bwMode="auto">
          <a:xfrm rot="10800000" flipV="1">
            <a:off x="2680025" y="3966840"/>
            <a:ext cx="1338263" cy="882650"/>
          </a:xfrm>
          <a:prstGeom prst="bentConnector3">
            <a:avLst>
              <a:gd name="adj1" fmla="val 116370"/>
            </a:avLst>
          </a:prstGeom>
          <a:noFill/>
          <a:ln w="19050">
            <a:solidFill>
              <a:schemeClr val="tx1"/>
            </a:solidFill>
            <a:miter lim="800000"/>
            <a:headEnd/>
            <a:tailEnd/>
          </a:ln>
        </p:spPr>
      </p:cxnSp>
      <p:cxnSp>
        <p:nvCxnSpPr>
          <p:cNvPr id="33819" name="AutoShape 26"/>
          <p:cNvCxnSpPr>
            <a:cxnSpLocks noChangeShapeType="1"/>
            <a:stCxn id="33802" idx="3"/>
            <a:endCxn id="33803" idx="3"/>
          </p:cNvCxnSpPr>
          <p:nvPr/>
        </p:nvCxnSpPr>
        <p:spPr bwMode="auto">
          <a:xfrm flipH="1">
            <a:off x="5499425" y="4851078"/>
            <a:ext cx="520700" cy="547687"/>
          </a:xfrm>
          <a:prstGeom prst="bentConnector3">
            <a:avLst>
              <a:gd name="adj1" fmla="val -42074"/>
            </a:avLst>
          </a:prstGeom>
          <a:noFill/>
          <a:ln w="19050">
            <a:solidFill>
              <a:schemeClr val="tx1"/>
            </a:solidFill>
            <a:miter lim="800000"/>
            <a:headEnd/>
            <a:tailEnd/>
          </a:ln>
        </p:spPr>
      </p:cxnSp>
      <p:cxnSp>
        <p:nvCxnSpPr>
          <p:cNvPr id="33820" name="AutoShape 27"/>
          <p:cNvCxnSpPr>
            <a:cxnSpLocks noChangeShapeType="1"/>
            <a:stCxn id="33803" idx="2"/>
            <a:endCxn id="33804" idx="0"/>
          </p:cNvCxnSpPr>
          <p:nvPr/>
        </p:nvCxnSpPr>
        <p:spPr bwMode="auto">
          <a:xfrm rot="16200000" flipH="1">
            <a:off x="4138937" y="5540053"/>
            <a:ext cx="169863" cy="261938"/>
          </a:xfrm>
          <a:prstGeom prst="bentConnector3">
            <a:avLst>
              <a:gd name="adj1" fmla="val 49532"/>
            </a:avLst>
          </a:prstGeom>
          <a:noFill/>
          <a:ln w="19050">
            <a:solidFill>
              <a:schemeClr val="tx1"/>
            </a:solidFill>
            <a:miter lim="800000"/>
            <a:headEnd/>
            <a:tailEnd/>
          </a:ln>
        </p:spPr>
      </p:cxnSp>
      <p:sp>
        <p:nvSpPr>
          <p:cNvPr id="16" name="Date Placeholder 31"/>
          <p:cNvSpPr>
            <a:spLocks noGrp="1"/>
          </p:cNvSpPr>
          <p:nvPr>
            <p:ph type="dt" sz="half" idx="10"/>
          </p:nvPr>
        </p:nvSpPr>
        <p:spPr>
          <a:xfrm>
            <a:off x="176213" y="6428184"/>
            <a:ext cx="2881312" cy="457200"/>
          </a:xfrm>
        </p:spPr>
        <p:txBody>
          <a:bodyPr/>
          <a:lstStyle/>
          <a:p>
            <a:fld id="{6B3C9685-A190-4943-8807-66FB64A554CC}" type="datetime1">
              <a:rPr lang="en-US" smtClean="0"/>
              <a:pPr/>
              <a:t>3/17/19</a:t>
            </a:fld>
            <a:endParaRPr lang="en-US" dirty="0"/>
          </a:p>
        </p:txBody>
      </p:sp>
    </p:spTree>
    <p:extLst>
      <p:ext uri="{BB962C8B-B14F-4D97-AF65-F5344CB8AC3E}">
        <p14:creationId xmlns:p14="http://schemas.microsoft.com/office/powerpoint/2010/main" val="297807538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17.jpg"/>
          <p:cNvPicPr>
            <a:picLocks noChangeAspect="1"/>
          </p:cNvPicPr>
          <p:nvPr/>
        </p:nvPicPr>
        <p:blipFill rotWithShape="1">
          <a:blip r:embed="rId2">
            <a:extLst>
              <a:ext uri="{28A0092B-C50C-407E-A947-70E740481C1C}">
                <a14:useLocalDpi xmlns:a14="http://schemas.microsoft.com/office/drawing/2010/main" val="0"/>
              </a:ext>
            </a:extLst>
          </a:blip>
          <a:srcRect l="12629" b="31104"/>
          <a:stretch/>
        </p:blipFill>
        <p:spPr>
          <a:xfrm>
            <a:off x="0" y="0"/>
            <a:ext cx="9144000" cy="6858000"/>
          </a:xfrm>
          <a:prstGeom prst="rect">
            <a:avLst/>
          </a:prstGeom>
        </p:spPr>
      </p:pic>
      <p:sp>
        <p:nvSpPr>
          <p:cNvPr id="2" name="Title 1"/>
          <p:cNvSpPr>
            <a:spLocks noGrp="1"/>
          </p:cNvSpPr>
          <p:nvPr>
            <p:ph type="title"/>
          </p:nvPr>
        </p:nvSpPr>
        <p:spPr>
          <a:xfrm>
            <a:off x="722312" y="4406900"/>
            <a:ext cx="8170167" cy="1362075"/>
          </a:xfrm>
        </p:spPr>
        <p:txBody>
          <a:bodyPr>
            <a:normAutofit/>
          </a:bodyPr>
          <a:lstStyle/>
          <a:p>
            <a:r>
              <a:rPr lang="en-US" dirty="0"/>
              <a:t>Support FOR EMBEDDED DISCONTINUITIES</a:t>
            </a:r>
          </a:p>
        </p:txBody>
      </p:sp>
      <p:sp>
        <p:nvSpPr>
          <p:cNvPr id="3" name="Content Placeholder 2"/>
          <p:cNvSpPr>
            <a:spLocks noGrp="1"/>
          </p:cNvSpPr>
          <p:nvPr>
            <p:ph type="body" idx="1"/>
          </p:nvPr>
        </p:nvSpPr>
        <p:spPr/>
        <p:txBody>
          <a:bodyPr>
            <a:normAutofit fontScale="25000" lnSpcReduction="20000"/>
          </a:bodyPr>
          <a:lstStyle/>
          <a:p>
            <a:r>
              <a:rPr lang="en-US" dirty="0"/>
              <a:t>Resolution: Keep up the momentum and communications throughout the year</a:t>
            </a:r>
          </a:p>
          <a:p>
            <a:r>
              <a:rPr lang="en-US" dirty="0"/>
              <a:t>Regular programming exercises are important at each institution</a:t>
            </a:r>
          </a:p>
          <a:p>
            <a:r>
              <a:rPr lang="en-US" dirty="0"/>
              <a:t>Compile guides for “best ways to do this”  code snippets etc. compare and contrast different solutions.</a:t>
            </a:r>
          </a:p>
          <a:p>
            <a:r>
              <a:rPr lang="en-US" dirty="0"/>
              <a:t>Robert:  FAQ for new CSMP</a:t>
            </a:r>
          </a:p>
          <a:p>
            <a:r>
              <a:rPr lang="en-US" dirty="0"/>
              <a:t>Everybody should use Ali’s configurator</a:t>
            </a:r>
          </a:p>
          <a:p>
            <a:r>
              <a:rPr lang="en-US" dirty="0"/>
              <a:t>Feedback of what could be improved version 1.0?</a:t>
            </a:r>
          </a:p>
          <a:p>
            <a:r>
              <a:rPr lang="en-US" dirty="0"/>
              <a:t>Larger user community</a:t>
            </a:r>
          </a:p>
          <a:p>
            <a:r>
              <a:rPr lang="en-US" dirty="0"/>
              <a:t>Smooth start for new users (Quick-start guide), high-level code out of the box</a:t>
            </a:r>
          </a:p>
          <a:p>
            <a:r>
              <a:rPr lang="en-US" dirty="0"/>
              <a:t>Freeze of interfaces, focus on crucial functionality</a:t>
            </a:r>
          </a:p>
          <a:p>
            <a:r>
              <a:rPr lang="en-US" dirty="0"/>
              <a:t>Deadlines for fixing bugs or suggesting alternatives</a:t>
            </a:r>
          </a:p>
        </p:txBody>
      </p:sp>
      <p:sp>
        <p:nvSpPr>
          <p:cNvPr id="4" name="Date Placeholder 3"/>
          <p:cNvSpPr>
            <a:spLocks noGrp="1"/>
          </p:cNvSpPr>
          <p:nvPr>
            <p:ph type="dt" sz="half" idx="10"/>
          </p:nvPr>
        </p:nvSpPr>
        <p:spPr/>
        <p:txBody>
          <a:bodyPr/>
          <a:lstStyle/>
          <a:p>
            <a:fld id="{42113430-5F54-9740-B307-5C0C53476417}" type="datetime1">
              <a:rPr lang="en-US" smtClean="0"/>
              <a:pPr/>
              <a:t>3/17/19</a:t>
            </a:fld>
            <a:endParaRPr lang="en-US"/>
          </a:p>
        </p:txBody>
      </p:sp>
      <p:sp>
        <p:nvSpPr>
          <p:cNvPr id="5" name="Footer Placeholder 4"/>
          <p:cNvSpPr>
            <a:spLocks noGrp="1"/>
          </p:cNvSpPr>
          <p:nvPr>
            <p:ph type="ftr" sz="quarter" idx="11"/>
          </p:nvPr>
        </p:nvSpPr>
        <p:spPr/>
        <p:txBody>
          <a:bodyPr/>
          <a:lstStyle/>
          <a:p>
            <a:r>
              <a:rPr lang="en-US" dirty="0"/>
              <a:t>FEM-FVM framework</a:t>
            </a:r>
          </a:p>
        </p:txBody>
      </p:sp>
      <p:sp>
        <p:nvSpPr>
          <p:cNvPr id="6" name="Slide Number Placeholder 5"/>
          <p:cNvSpPr>
            <a:spLocks noGrp="1"/>
          </p:cNvSpPr>
          <p:nvPr>
            <p:ph type="sldNum" sz="quarter" idx="12"/>
          </p:nvPr>
        </p:nvSpPr>
        <p:spPr/>
        <p:txBody>
          <a:bodyPr/>
          <a:lstStyle/>
          <a:p>
            <a:fld id="{223FD816-CC6A-BF43-8241-637E3E7EAA5A}" type="slidenum">
              <a:rPr lang="en-US" smtClean="0"/>
              <a:pPr/>
              <a:t>91</a:t>
            </a:fld>
            <a:endParaRPr lang="en-US"/>
          </a:p>
        </p:txBody>
      </p:sp>
    </p:spTree>
    <p:extLst>
      <p:ext uri="{BB962C8B-B14F-4D97-AF65-F5344CB8AC3E}">
        <p14:creationId xmlns:p14="http://schemas.microsoft.com/office/powerpoint/2010/main" val="42067966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3"/>
          <p:cNvSpPr>
            <a:spLocks noGrp="1"/>
          </p:cNvSpPr>
          <p:nvPr>
            <p:ph type="sldNum" sz="quarter" idx="10"/>
          </p:nvPr>
        </p:nvSpPr>
        <p:spPr/>
        <p:txBody>
          <a:bodyPr/>
          <a:lstStyle/>
          <a:p>
            <a:fld id="{D22311B6-7BCB-114D-8A48-5353C3963DD3}" type="slidenum">
              <a:rPr lang="en-US" smtClean="0"/>
              <a:pPr/>
              <a:t>92</a:t>
            </a:fld>
            <a:endParaRPr lang="en-US" dirty="0"/>
          </a:p>
        </p:txBody>
      </p:sp>
      <p:sp>
        <p:nvSpPr>
          <p:cNvPr id="532482" name="Rectangle 2"/>
          <p:cNvSpPr>
            <a:spLocks noGrp="1" noChangeArrowheads="1"/>
          </p:cNvSpPr>
          <p:nvPr>
            <p:ph type="title"/>
          </p:nvPr>
        </p:nvSpPr>
        <p:spPr/>
        <p:txBody>
          <a:bodyPr>
            <a:normAutofit/>
          </a:bodyPr>
          <a:lstStyle/>
          <a:p>
            <a:r>
              <a:rPr lang="en-US" dirty="0"/>
              <a:t>EDS </a:t>
            </a:r>
            <a:r>
              <a:rPr lang="en-US" b="1" dirty="0" err="1"/>
              <a:t>SplitBoundary</a:t>
            </a:r>
            <a:r>
              <a:rPr lang="en-US" dirty="0"/>
              <a:t> -based </a:t>
            </a:r>
            <a:r>
              <a:rPr lang="en-US" dirty="0" err="1"/>
              <a:t>discretisation</a:t>
            </a:r>
            <a:endParaRPr lang="en-US" dirty="0"/>
          </a:p>
        </p:txBody>
      </p:sp>
      <p:sp>
        <p:nvSpPr>
          <p:cNvPr id="532483" name="Rectangle 3"/>
          <p:cNvSpPr>
            <a:spLocks noGrp="1" noChangeArrowheads="1"/>
          </p:cNvSpPr>
          <p:nvPr>
            <p:ph type="body" idx="1"/>
          </p:nvPr>
        </p:nvSpPr>
        <p:spPr>
          <a:xfrm>
            <a:off x="285750" y="906463"/>
            <a:ext cx="8605838" cy="876300"/>
          </a:xfrm>
        </p:spPr>
        <p:txBody>
          <a:bodyPr>
            <a:normAutofit/>
          </a:bodyPr>
          <a:lstStyle/>
          <a:p>
            <a:pPr>
              <a:lnSpc>
                <a:spcPct val="90000"/>
              </a:lnSpc>
            </a:pPr>
            <a:r>
              <a:rPr lang="en-US" dirty="0"/>
              <a:t>Lower dimensional </a:t>
            </a:r>
            <a:r>
              <a:rPr lang="en-US" b="1" dirty="0" err="1"/>
              <a:t>InterFace</a:t>
            </a:r>
            <a:r>
              <a:rPr lang="en-US" dirty="0"/>
              <a:t> objects connect </a:t>
            </a:r>
            <a:r>
              <a:rPr lang="en-US" dirty="0" err="1"/>
              <a:t>multiplicated</a:t>
            </a:r>
            <a:r>
              <a:rPr lang="en-US" dirty="0"/>
              <a:t> nodes.</a:t>
            </a:r>
          </a:p>
          <a:p>
            <a:pPr>
              <a:lnSpc>
                <a:spcPct val="90000"/>
              </a:lnSpc>
            </a:pPr>
            <a:r>
              <a:rPr lang="en-US" dirty="0" err="1"/>
              <a:t>InterFace</a:t>
            </a:r>
            <a:r>
              <a:rPr lang="en-US" dirty="0"/>
              <a:t> objects are used to apply transfer terms.</a:t>
            </a:r>
          </a:p>
        </p:txBody>
      </p:sp>
      <p:grpSp>
        <p:nvGrpSpPr>
          <p:cNvPr id="2" name="Group 22"/>
          <p:cNvGrpSpPr>
            <a:grpSpLocks/>
          </p:cNvGrpSpPr>
          <p:nvPr/>
        </p:nvGrpSpPr>
        <p:grpSpPr bwMode="auto">
          <a:xfrm>
            <a:off x="706438" y="2209800"/>
            <a:ext cx="6624637" cy="4089400"/>
            <a:chOff x="445" y="1392"/>
            <a:chExt cx="4173" cy="2576"/>
          </a:xfrm>
        </p:grpSpPr>
        <p:grpSp>
          <p:nvGrpSpPr>
            <p:cNvPr id="3" name="Group 14"/>
            <p:cNvGrpSpPr>
              <a:grpSpLocks/>
            </p:cNvGrpSpPr>
            <p:nvPr/>
          </p:nvGrpSpPr>
          <p:grpSpPr bwMode="auto">
            <a:xfrm>
              <a:off x="445" y="1392"/>
              <a:ext cx="4173" cy="2576"/>
              <a:chOff x="445" y="1527"/>
              <a:chExt cx="4173" cy="2576"/>
            </a:xfrm>
          </p:grpSpPr>
          <p:pic>
            <p:nvPicPr>
              <p:cNvPr id="532484" name="Picture 4" descr="fracture_tip"/>
              <p:cNvPicPr>
                <a:picLocks noChangeAspect="1" noChangeArrowheads="1"/>
              </p:cNvPicPr>
              <p:nvPr/>
            </p:nvPicPr>
            <p:blipFill>
              <a:blip r:embed="rId3"/>
              <a:srcRect/>
              <a:stretch>
                <a:fillRect/>
              </a:stretch>
            </p:blipFill>
            <p:spPr bwMode="auto">
              <a:xfrm>
                <a:off x="1016" y="1527"/>
                <a:ext cx="3594" cy="2300"/>
              </a:xfrm>
              <a:prstGeom prst="rect">
                <a:avLst/>
              </a:prstGeom>
              <a:noFill/>
            </p:spPr>
          </p:pic>
          <p:sp>
            <p:nvSpPr>
              <p:cNvPr id="532485" name="Text Box 5"/>
              <p:cNvSpPr txBox="1">
                <a:spLocks noChangeArrowheads="1"/>
              </p:cNvSpPr>
              <p:nvPr/>
            </p:nvSpPr>
            <p:spPr bwMode="auto">
              <a:xfrm>
                <a:off x="1583" y="3853"/>
                <a:ext cx="1894" cy="250"/>
              </a:xfrm>
              <a:prstGeom prst="rect">
                <a:avLst/>
              </a:prstGeom>
              <a:noFill/>
              <a:ln w="9525">
                <a:noFill/>
                <a:miter lim="800000"/>
                <a:headEnd/>
                <a:tailEnd/>
              </a:ln>
              <a:effectLst/>
            </p:spPr>
            <p:txBody>
              <a:bodyPr wrap="none">
                <a:prstTxWarp prst="textNoShape">
                  <a:avLst/>
                </a:prstTxWarp>
                <a:spAutoFit/>
              </a:bodyPr>
              <a:lstStyle/>
              <a:p>
                <a:r>
                  <a:rPr lang="en-US" sz="2000" dirty="0">
                    <a:latin typeface="Arial" pitchFamily="-65" charset="0"/>
                  </a:rPr>
                  <a:t>2D hybrid element model</a:t>
                </a:r>
              </a:p>
            </p:txBody>
          </p:sp>
          <p:sp>
            <p:nvSpPr>
              <p:cNvPr id="532486" name="Text Box 6"/>
              <p:cNvSpPr txBox="1">
                <a:spLocks noChangeArrowheads="1"/>
              </p:cNvSpPr>
              <p:nvPr/>
            </p:nvSpPr>
            <p:spPr bwMode="auto">
              <a:xfrm>
                <a:off x="445" y="1799"/>
                <a:ext cx="878" cy="446"/>
              </a:xfrm>
              <a:prstGeom prst="rect">
                <a:avLst/>
              </a:prstGeom>
              <a:noFill/>
              <a:ln w="9525">
                <a:noFill/>
                <a:miter lim="800000"/>
                <a:headEnd/>
                <a:tailEnd/>
              </a:ln>
              <a:effectLst/>
            </p:spPr>
            <p:txBody>
              <a:bodyPr>
                <a:prstTxWarp prst="textNoShape">
                  <a:avLst/>
                </a:prstTxWarp>
                <a:spAutoFit/>
              </a:bodyPr>
              <a:lstStyle/>
              <a:p>
                <a:pPr algn="l"/>
                <a:r>
                  <a:rPr lang="en-US" sz="2000" dirty="0" err="1">
                    <a:latin typeface="Arial" pitchFamily="-65" charset="0"/>
                  </a:rPr>
                  <a:t>InterFace</a:t>
                </a:r>
                <a:r>
                  <a:rPr lang="en-US" sz="2000" dirty="0">
                    <a:latin typeface="Arial" pitchFamily="-65" charset="0"/>
                  </a:rPr>
                  <a:t> objects</a:t>
                </a:r>
              </a:p>
            </p:txBody>
          </p:sp>
          <p:sp>
            <p:nvSpPr>
              <p:cNvPr id="532487" name="Text Box 7"/>
              <p:cNvSpPr txBox="1">
                <a:spLocks noChangeArrowheads="1"/>
              </p:cNvSpPr>
              <p:nvPr/>
            </p:nvSpPr>
            <p:spPr bwMode="auto">
              <a:xfrm>
                <a:off x="1829" y="1984"/>
                <a:ext cx="878" cy="442"/>
              </a:xfrm>
              <a:prstGeom prst="rect">
                <a:avLst/>
              </a:prstGeom>
              <a:noFill/>
              <a:ln w="9525">
                <a:noFill/>
                <a:miter lim="800000"/>
                <a:headEnd/>
                <a:tailEnd/>
              </a:ln>
              <a:effectLst/>
            </p:spPr>
            <p:txBody>
              <a:bodyPr>
                <a:prstTxWarp prst="textNoShape">
                  <a:avLst/>
                </a:prstTxWarp>
                <a:spAutoFit/>
              </a:bodyPr>
              <a:lstStyle/>
              <a:p>
                <a:pPr algn="ctr"/>
                <a:r>
                  <a:rPr lang="en-US" sz="2000" dirty="0">
                    <a:latin typeface="Arial" pitchFamily="-65" charset="0"/>
                  </a:rPr>
                  <a:t>duplicate Node</a:t>
                </a:r>
              </a:p>
            </p:txBody>
          </p:sp>
          <p:sp>
            <p:nvSpPr>
              <p:cNvPr id="532488" name="Text Box 8"/>
              <p:cNvSpPr txBox="1">
                <a:spLocks noChangeArrowheads="1"/>
              </p:cNvSpPr>
              <p:nvPr/>
            </p:nvSpPr>
            <p:spPr bwMode="auto">
              <a:xfrm>
                <a:off x="2930" y="2764"/>
                <a:ext cx="878" cy="250"/>
              </a:xfrm>
              <a:prstGeom prst="rect">
                <a:avLst/>
              </a:prstGeom>
              <a:noFill/>
              <a:ln w="9525">
                <a:noFill/>
                <a:miter lim="800000"/>
                <a:headEnd/>
                <a:tailEnd/>
              </a:ln>
              <a:effectLst/>
            </p:spPr>
            <p:txBody>
              <a:bodyPr>
                <a:prstTxWarp prst="textNoShape">
                  <a:avLst/>
                </a:prstTxWarp>
                <a:spAutoFit/>
              </a:bodyPr>
              <a:lstStyle/>
              <a:p>
                <a:pPr algn="ctr"/>
                <a:r>
                  <a:rPr lang="en-US" sz="2000" dirty="0">
                    <a:latin typeface="Arial" pitchFamily="-65" charset="0"/>
                  </a:rPr>
                  <a:t>fracture</a:t>
                </a:r>
              </a:p>
            </p:txBody>
          </p:sp>
          <p:sp>
            <p:nvSpPr>
              <p:cNvPr id="532489" name="Text Box 9"/>
              <p:cNvSpPr txBox="1">
                <a:spLocks noChangeArrowheads="1"/>
              </p:cNvSpPr>
              <p:nvPr/>
            </p:nvSpPr>
            <p:spPr bwMode="auto">
              <a:xfrm>
                <a:off x="3740" y="2334"/>
                <a:ext cx="878" cy="250"/>
              </a:xfrm>
              <a:prstGeom prst="rect">
                <a:avLst/>
              </a:prstGeom>
              <a:noFill/>
              <a:ln w="9525">
                <a:noFill/>
                <a:miter lim="800000"/>
                <a:headEnd/>
                <a:tailEnd/>
              </a:ln>
              <a:effectLst/>
            </p:spPr>
            <p:txBody>
              <a:bodyPr>
                <a:prstTxWarp prst="textNoShape">
                  <a:avLst/>
                </a:prstTxWarp>
                <a:spAutoFit/>
              </a:bodyPr>
              <a:lstStyle/>
              <a:p>
                <a:pPr algn="ctr"/>
                <a:r>
                  <a:rPr lang="en-US" sz="2000">
                    <a:solidFill>
                      <a:schemeClr val="bg1"/>
                    </a:solidFill>
                    <a:latin typeface="Arial" pitchFamily="-65" charset="0"/>
                  </a:rPr>
                  <a:t>matrix</a:t>
                </a:r>
              </a:p>
            </p:txBody>
          </p:sp>
          <p:sp>
            <p:nvSpPr>
              <p:cNvPr id="532490" name="Line 10"/>
              <p:cNvSpPr>
                <a:spLocks noChangeShapeType="1"/>
              </p:cNvSpPr>
              <p:nvPr/>
            </p:nvSpPr>
            <p:spPr bwMode="auto">
              <a:xfrm>
                <a:off x="1182" y="1971"/>
                <a:ext cx="283" cy="202"/>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sp>
            <p:nvSpPr>
              <p:cNvPr id="532491" name="Line 11"/>
              <p:cNvSpPr>
                <a:spLocks noChangeShapeType="1"/>
              </p:cNvSpPr>
              <p:nvPr/>
            </p:nvSpPr>
            <p:spPr bwMode="auto">
              <a:xfrm>
                <a:off x="839" y="2248"/>
                <a:ext cx="662" cy="233"/>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sp>
            <p:nvSpPr>
              <p:cNvPr id="532492" name="Line 12"/>
              <p:cNvSpPr>
                <a:spLocks noChangeShapeType="1"/>
              </p:cNvSpPr>
              <p:nvPr/>
            </p:nvSpPr>
            <p:spPr bwMode="auto">
              <a:xfrm flipV="1">
                <a:off x="2521" y="2228"/>
                <a:ext cx="116" cy="56"/>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sp>
            <p:nvSpPr>
              <p:cNvPr id="532493" name="Line 13"/>
              <p:cNvSpPr>
                <a:spLocks noChangeShapeType="1"/>
              </p:cNvSpPr>
              <p:nvPr/>
            </p:nvSpPr>
            <p:spPr bwMode="auto">
              <a:xfrm>
                <a:off x="2491" y="2334"/>
                <a:ext cx="50" cy="187"/>
              </a:xfrm>
              <a:prstGeom prst="line">
                <a:avLst/>
              </a:prstGeom>
              <a:noFill/>
              <a:ln w="28575">
                <a:solidFill>
                  <a:srgbClr val="FF0000"/>
                </a:solidFill>
                <a:round/>
                <a:headEnd/>
                <a:tailEnd type="triangle" w="med" len="med"/>
              </a:ln>
              <a:effectLst/>
            </p:spPr>
            <p:txBody>
              <a:bodyPr>
                <a:prstTxWarp prst="textNoShape">
                  <a:avLst/>
                </a:prstTxWarp>
              </a:bodyPr>
              <a:lstStyle/>
              <a:p>
                <a:endParaRPr lang="en-US"/>
              </a:p>
            </p:txBody>
          </p:sp>
        </p:grpSp>
        <p:graphicFrame>
          <p:nvGraphicFramePr>
            <p:cNvPr id="532495" name="Object 15"/>
            <p:cNvGraphicFramePr>
              <a:graphicFrameLocks noChangeAspect="1"/>
            </p:cNvGraphicFramePr>
            <p:nvPr/>
          </p:nvGraphicFramePr>
          <p:xfrm>
            <a:off x="1595" y="1830"/>
            <a:ext cx="255" cy="353"/>
          </p:xfrm>
          <a:graphic>
            <a:graphicData uri="http://schemas.openxmlformats.org/presentationml/2006/ole">
              <mc:AlternateContent xmlns:mc="http://schemas.openxmlformats.org/markup-compatibility/2006">
                <mc:Choice xmlns:v="urn:schemas-microsoft-com:vml" Requires="v">
                  <p:oleObj spid="_x0000_s3853" name="Equation" r:id="rId4" imgW="164880" imgH="228600" progId="Equation.3">
                    <p:embed/>
                  </p:oleObj>
                </mc:Choice>
                <mc:Fallback>
                  <p:oleObj name="Equation" r:id="rId4" imgW="16488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 y="1830"/>
                          <a:ext cx="255" cy="353"/>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532496" name="Oval 16"/>
            <p:cNvSpPr>
              <a:spLocks noChangeArrowheads="1"/>
            </p:cNvSpPr>
            <p:nvPr/>
          </p:nvSpPr>
          <p:spPr bwMode="auto">
            <a:xfrm>
              <a:off x="2617" y="2041"/>
              <a:ext cx="91" cy="76"/>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sp>
          <p:nvSpPr>
            <p:cNvPr id="532499" name="Oval 19"/>
            <p:cNvSpPr>
              <a:spLocks noChangeArrowheads="1"/>
            </p:cNvSpPr>
            <p:nvPr/>
          </p:nvSpPr>
          <p:spPr bwMode="auto">
            <a:xfrm>
              <a:off x="2480" y="2425"/>
              <a:ext cx="91" cy="76"/>
            </a:xfrm>
            <a:prstGeom prst="ellipse">
              <a:avLst/>
            </a:prstGeom>
            <a:solidFill>
              <a:schemeClr val="accent1"/>
            </a:solidFill>
            <a:ln w="9525">
              <a:solidFill>
                <a:schemeClr val="tx1"/>
              </a:solidFill>
              <a:round/>
              <a:headEnd/>
              <a:tailEnd/>
            </a:ln>
            <a:effectLst/>
          </p:spPr>
          <p:txBody>
            <a:bodyPr wrap="none" anchor="ctr">
              <a:prstTxWarp prst="textNoShape">
                <a:avLst/>
              </a:prstTxWarp>
            </a:bodyPr>
            <a:lstStyle/>
            <a:p>
              <a:endParaRPr lang="en-US"/>
            </a:p>
          </p:txBody>
        </p:sp>
        <p:sp>
          <p:nvSpPr>
            <p:cNvPr id="532500" name="Oval 20"/>
            <p:cNvSpPr>
              <a:spLocks noChangeArrowheads="1"/>
            </p:cNvSpPr>
            <p:nvPr/>
          </p:nvSpPr>
          <p:spPr bwMode="auto">
            <a:xfrm>
              <a:off x="2444" y="2536"/>
              <a:ext cx="91" cy="76"/>
            </a:xfrm>
            <a:prstGeom prst="ellipse">
              <a:avLst/>
            </a:prstGeom>
            <a:solidFill>
              <a:schemeClr val="accent1"/>
            </a:solidFill>
            <a:ln w="9525">
              <a:solidFill>
                <a:schemeClr val="tx1"/>
              </a:solidFill>
              <a:round/>
              <a:headEnd/>
              <a:tailEnd/>
            </a:ln>
            <a:effectLst/>
          </p:spPr>
          <p:txBody>
            <a:bodyPr wrap="none" anchor="ctr">
              <a:prstTxWarp prst="textNoShape">
                <a:avLst/>
              </a:prstTxWarp>
            </a:bodyPr>
            <a:lstStyle/>
            <a:p>
              <a:endParaRPr lang="en-US"/>
            </a:p>
          </p:txBody>
        </p:sp>
        <p:sp>
          <p:nvSpPr>
            <p:cNvPr id="532501" name="Oval 21"/>
            <p:cNvSpPr>
              <a:spLocks noChangeArrowheads="1"/>
            </p:cNvSpPr>
            <p:nvPr/>
          </p:nvSpPr>
          <p:spPr bwMode="auto">
            <a:xfrm>
              <a:off x="2362" y="2879"/>
              <a:ext cx="91" cy="76"/>
            </a:xfrm>
            <a:prstGeom prst="ellipse">
              <a:avLst/>
            </a:prstGeom>
            <a:solidFill>
              <a:schemeClr val="accent2"/>
            </a:solidFill>
            <a:ln w="9525">
              <a:solidFill>
                <a:schemeClr val="tx1"/>
              </a:solidFill>
              <a:round/>
              <a:headEnd/>
              <a:tailEnd/>
            </a:ln>
            <a:effectLst/>
          </p:spPr>
          <p:txBody>
            <a:bodyPr wrap="none" anchor="ctr">
              <a:prstTxWarp prst="textNoShape">
                <a:avLst/>
              </a:prstTxWarp>
            </a:bodyPr>
            <a:lstStyle/>
            <a:p>
              <a:endParaRPr lang="en-US"/>
            </a:p>
          </p:txBody>
        </p:sp>
      </p:grpSp>
      <p:sp>
        <p:nvSpPr>
          <p:cNvPr id="22" name="Date Placeholder 21"/>
          <p:cNvSpPr>
            <a:spLocks noGrp="1"/>
          </p:cNvSpPr>
          <p:nvPr>
            <p:ph type="dt" sz="half" idx="10"/>
          </p:nvPr>
        </p:nvSpPr>
        <p:spPr/>
        <p:txBody>
          <a:bodyPr/>
          <a:lstStyle/>
          <a:p>
            <a:fld id="{785E1565-2DE9-024A-94A8-6E2D50DCA9EC}" type="datetime1">
              <a:rPr lang="en-US" smtClean="0"/>
              <a:pPr/>
              <a:t>3/17/19</a:t>
            </a:fld>
            <a:endParaRPr lang="en-US"/>
          </a:p>
        </p:txBody>
      </p:sp>
      <p:sp>
        <p:nvSpPr>
          <p:cNvPr id="23" name="Footer Placeholder 22"/>
          <p:cNvSpPr>
            <a:spLocks noGrp="1"/>
          </p:cNvSpPr>
          <p:nvPr>
            <p:ph type="ftr" sz="quarter" idx="11"/>
          </p:nvPr>
        </p:nvSpPr>
        <p:spPr/>
        <p:txBody>
          <a:bodyPr/>
          <a:lstStyle/>
          <a:p>
            <a:r>
              <a:rPr lang="en-US" dirty="0"/>
              <a:t>FEM-FVM framework</a:t>
            </a:r>
          </a:p>
        </p:txBody>
      </p:sp>
      <p:sp>
        <p:nvSpPr>
          <p:cNvPr id="24" name="Slide Number Placeholder 4"/>
          <p:cNvSpPr>
            <a:spLocks noGrp="1"/>
          </p:cNvSpPr>
          <p:nvPr>
            <p:ph type="sldNum" sz="quarter" idx="4294967295"/>
          </p:nvPr>
        </p:nvSpPr>
        <p:spPr>
          <a:xfrm>
            <a:off x="6858000" y="6477000"/>
            <a:ext cx="2133600" cy="365125"/>
          </a:xfrm>
          <a:prstGeom prst="rect">
            <a:avLst/>
          </a:prstGeom>
        </p:spPr>
        <p:txBody>
          <a:bodyPr/>
          <a:lstStyle/>
          <a:p>
            <a:pPr algn="r"/>
            <a:fld id="{223FD816-CC6A-BF43-8241-637E3E7EAA5A}" type="slidenum">
              <a:rPr lang="en-US" sz="1400" smtClean="0">
                <a:solidFill>
                  <a:schemeClr val="bg1">
                    <a:lumMod val="65000"/>
                  </a:schemeClr>
                </a:solidFill>
                <a:latin typeface="Arial"/>
                <a:cs typeface="Arial"/>
              </a:rPr>
              <a:pPr algn="r"/>
              <a:t>92</a:t>
            </a:fld>
            <a:endParaRPr lang="en-US" sz="1400" dirty="0">
              <a:solidFill>
                <a:schemeClr val="bg1">
                  <a:lumMod val="65000"/>
                </a:schemeClr>
              </a:solidFill>
              <a:latin typeface="Arial"/>
              <a:cs typeface="Arial"/>
            </a:endParaRPr>
          </a:p>
        </p:txBody>
      </p:sp>
    </p:spTree>
    <p:extLst>
      <p:ext uri="{BB962C8B-B14F-4D97-AF65-F5344CB8AC3E}">
        <p14:creationId xmlns:p14="http://schemas.microsoft.com/office/powerpoint/2010/main" val="26341941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3464" name="Picture 8"/>
          <p:cNvPicPr>
            <a:picLocks noChangeAspect="1" noChangeArrowheads="1"/>
          </p:cNvPicPr>
          <p:nvPr/>
        </p:nvPicPr>
        <p:blipFill>
          <a:blip r:embed="rId3"/>
          <a:srcRect/>
          <a:stretch>
            <a:fillRect/>
          </a:stretch>
        </p:blipFill>
        <p:spPr bwMode="auto">
          <a:xfrm>
            <a:off x="1320271" y="4077072"/>
            <a:ext cx="5903912" cy="674687"/>
          </a:xfrm>
          <a:prstGeom prst="rect">
            <a:avLst/>
          </a:prstGeom>
          <a:noFill/>
          <a:ln w="9525">
            <a:noFill/>
            <a:miter lim="800000"/>
            <a:headEnd/>
            <a:tailEnd/>
          </a:ln>
          <a:effectLst/>
        </p:spPr>
      </p:pic>
      <p:sp>
        <p:nvSpPr>
          <p:cNvPr id="9" name="Slide Number Placeholder 3"/>
          <p:cNvSpPr>
            <a:spLocks noGrp="1"/>
          </p:cNvSpPr>
          <p:nvPr>
            <p:ph type="sldNum" sz="quarter" idx="10"/>
          </p:nvPr>
        </p:nvSpPr>
        <p:spPr/>
        <p:txBody>
          <a:bodyPr/>
          <a:lstStyle/>
          <a:p>
            <a:fld id="{473A43D5-C301-074F-BFB8-EFE21F2161E5}" type="slidenum">
              <a:rPr lang="da-DK"/>
              <a:pPr/>
              <a:t>93</a:t>
            </a:fld>
            <a:endParaRPr lang="da-DK"/>
          </a:p>
        </p:txBody>
      </p:sp>
      <p:sp>
        <p:nvSpPr>
          <p:cNvPr id="403458" name="Rectangle 2"/>
          <p:cNvSpPr>
            <a:spLocks noGrp="1" noChangeArrowheads="1"/>
          </p:cNvSpPr>
          <p:nvPr>
            <p:ph type="body" idx="1"/>
          </p:nvPr>
        </p:nvSpPr>
        <p:spPr/>
        <p:txBody>
          <a:bodyPr/>
          <a:lstStyle/>
          <a:p>
            <a:endParaRPr lang="en-GB" dirty="0"/>
          </a:p>
          <a:p>
            <a:endParaRPr lang="en-GB" dirty="0"/>
          </a:p>
          <a:p>
            <a:endParaRPr lang="en-GB" dirty="0"/>
          </a:p>
        </p:txBody>
      </p:sp>
      <p:sp>
        <p:nvSpPr>
          <p:cNvPr id="403459" name="Rectangle 3"/>
          <p:cNvSpPr>
            <a:spLocks noGrp="1" noChangeArrowheads="1"/>
          </p:cNvSpPr>
          <p:nvPr>
            <p:ph type="title"/>
          </p:nvPr>
        </p:nvSpPr>
        <p:spPr>
          <a:xfrm>
            <a:off x="342900" y="324379"/>
            <a:ext cx="7810500" cy="638175"/>
          </a:xfrm>
        </p:spPr>
        <p:txBody>
          <a:bodyPr>
            <a:normAutofit/>
          </a:bodyPr>
          <a:lstStyle/>
          <a:p>
            <a:r>
              <a:rPr lang="en-US" sz="2800" dirty="0"/>
              <a:t>EDF integrals in implicit FEFVM solution </a:t>
            </a:r>
            <a:endParaRPr lang="en-GB" sz="2800" dirty="0"/>
          </a:p>
        </p:txBody>
      </p:sp>
      <p:sp>
        <p:nvSpPr>
          <p:cNvPr id="403460" name="Rectangle 4"/>
          <p:cNvSpPr>
            <a:spLocks noGrp="1" noChangeArrowheads="1"/>
          </p:cNvSpPr>
          <p:nvPr>
            <p:ph type="body" idx="1"/>
          </p:nvPr>
        </p:nvSpPr>
        <p:spPr>
          <a:xfrm>
            <a:off x="334434" y="1124479"/>
            <a:ext cx="7694613" cy="4968875"/>
          </a:xfrm>
          <a:noFill/>
          <a:ln/>
        </p:spPr>
        <p:txBody>
          <a:bodyPr/>
          <a:lstStyle/>
          <a:p>
            <a:pPr lvl="1">
              <a:buNone/>
            </a:pPr>
            <a:r>
              <a:rPr lang="en-US" dirty="0"/>
              <a:t>Pressure equation (FE)</a:t>
            </a:r>
          </a:p>
          <a:p>
            <a:pPr lvl="1">
              <a:buFontTx/>
              <a:buNone/>
            </a:pPr>
            <a:endParaRPr lang="en-US" dirty="0"/>
          </a:p>
          <a:p>
            <a:pPr lvl="1">
              <a:buFontTx/>
              <a:buNone/>
            </a:pPr>
            <a:endParaRPr lang="en-US" dirty="0"/>
          </a:p>
          <a:p>
            <a:pPr lvl="1">
              <a:buFontTx/>
              <a:buNone/>
            </a:pPr>
            <a:endParaRPr lang="en-US" dirty="0"/>
          </a:p>
          <a:p>
            <a:pPr lvl="1">
              <a:buFontTx/>
              <a:buNone/>
            </a:pPr>
            <a:endParaRPr lang="en-US" dirty="0"/>
          </a:p>
          <a:p>
            <a:pPr lvl="1">
              <a:buFontTx/>
              <a:buNone/>
            </a:pPr>
            <a:r>
              <a:rPr lang="en-US" dirty="0" err="1"/>
              <a:t>Advective</a:t>
            </a:r>
            <a:r>
              <a:rPr lang="en-US" dirty="0"/>
              <a:t> and diffusive transfer modeled via operator splitting:</a:t>
            </a:r>
          </a:p>
          <a:p>
            <a:pPr lvl="1"/>
            <a:r>
              <a:rPr lang="en-US" dirty="0"/>
              <a:t>Advection (FV-Implicit)</a:t>
            </a:r>
          </a:p>
          <a:p>
            <a:pPr lvl="1">
              <a:buFontTx/>
              <a:buNone/>
            </a:pPr>
            <a:endParaRPr lang="en-US" dirty="0"/>
          </a:p>
          <a:p>
            <a:pPr lvl="1"/>
            <a:r>
              <a:rPr lang="en-US" dirty="0"/>
              <a:t>Diffusion (FE-Implicit)</a:t>
            </a:r>
          </a:p>
          <a:p>
            <a:pPr lvl="1">
              <a:buFontTx/>
              <a:buNone/>
            </a:pPr>
            <a:endParaRPr lang="en-US" dirty="0"/>
          </a:p>
          <a:p>
            <a:pPr lvl="1" algn="just"/>
            <a:endParaRPr lang="en-US" dirty="0"/>
          </a:p>
        </p:txBody>
      </p:sp>
      <p:pic>
        <p:nvPicPr>
          <p:cNvPr id="403462" name="Picture 6" descr="StencilSplitNode"/>
          <p:cNvPicPr>
            <a:picLocks noChangeAspect="1" noChangeArrowheads="1"/>
          </p:cNvPicPr>
          <p:nvPr/>
        </p:nvPicPr>
        <p:blipFill>
          <a:blip r:embed="rId4"/>
          <a:srcRect/>
          <a:stretch>
            <a:fillRect/>
          </a:stretch>
        </p:blipFill>
        <p:spPr bwMode="auto">
          <a:xfrm>
            <a:off x="7019925" y="188913"/>
            <a:ext cx="1800225" cy="1795462"/>
          </a:xfrm>
          <a:prstGeom prst="rect">
            <a:avLst/>
          </a:prstGeom>
          <a:noFill/>
        </p:spPr>
      </p:pic>
      <p:pic>
        <p:nvPicPr>
          <p:cNvPr id="403463" name="Picture 7"/>
          <p:cNvPicPr>
            <a:picLocks noChangeAspect="1" noChangeArrowheads="1"/>
          </p:cNvPicPr>
          <p:nvPr/>
        </p:nvPicPr>
        <p:blipFill>
          <a:blip r:embed="rId5"/>
          <a:srcRect/>
          <a:stretch>
            <a:fillRect/>
          </a:stretch>
        </p:blipFill>
        <p:spPr bwMode="auto">
          <a:xfrm>
            <a:off x="1100138" y="1761067"/>
            <a:ext cx="5761037" cy="1252538"/>
          </a:xfrm>
          <a:prstGeom prst="rect">
            <a:avLst/>
          </a:prstGeom>
          <a:noFill/>
          <a:ln w="9525">
            <a:noFill/>
            <a:miter lim="800000"/>
            <a:headEnd/>
            <a:tailEnd/>
          </a:ln>
          <a:effectLst/>
        </p:spPr>
      </p:pic>
      <p:pic>
        <p:nvPicPr>
          <p:cNvPr id="403465" name="Picture 9"/>
          <p:cNvPicPr>
            <a:picLocks noChangeAspect="1" noChangeArrowheads="1"/>
          </p:cNvPicPr>
          <p:nvPr/>
        </p:nvPicPr>
        <p:blipFill>
          <a:blip r:embed="rId6"/>
          <a:srcRect/>
          <a:stretch>
            <a:fillRect/>
          </a:stretch>
        </p:blipFill>
        <p:spPr bwMode="auto">
          <a:xfrm>
            <a:off x="1285346" y="5085184"/>
            <a:ext cx="5689600" cy="581025"/>
          </a:xfrm>
          <a:prstGeom prst="rect">
            <a:avLst/>
          </a:prstGeom>
          <a:noFill/>
          <a:ln w="9525">
            <a:noFill/>
            <a:miter lim="800000"/>
            <a:headEnd/>
            <a:tailEnd/>
          </a:ln>
          <a:effectLst/>
        </p:spPr>
      </p:pic>
      <p:sp>
        <p:nvSpPr>
          <p:cNvPr id="10" name="Date Placeholder 9"/>
          <p:cNvSpPr>
            <a:spLocks noGrp="1"/>
          </p:cNvSpPr>
          <p:nvPr>
            <p:ph type="dt" sz="half" idx="10"/>
          </p:nvPr>
        </p:nvSpPr>
        <p:spPr/>
        <p:txBody>
          <a:bodyPr/>
          <a:lstStyle/>
          <a:p>
            <a:fld id="{7A2108F6-103A-CB48-BA02-170BDAAC6AC4}" type="datetime1">
              <a:rPr lang="en-US" smtClean="0"/>
              <a:pPr/>
              <a:t>3/17/19</a:t>
            </a:fld>
            <a:endParaRPr lang="en-US"/>
          </a:p>
        </p:txBody>
      </p:sp>
      <p:sp>
        <p:nvSpPr>
          <p:cNvPr id="11" name="Footer Placeholder 10"/>
          <p:cNvSpPr>
            <a:spLocks noGrp="1"/>
          </p:cNvSpPr>
          <p:nvPr>
            <p:ph type="ftr" sz="quarter" idx="11"/>
          </p:nvPr>
        </p:nvSpPr>
        <p:spPr/>
        <p:txBody>
          <a:bodyPr/>
          <a:lstStyle/>
          <a:p>
            <a:r>
              <a:rPr lang="en-US" dirty="0"/>
              <a:t>FEM-FVM framework</a:t>
            </a:r>
          </a:p>
        </p:txBody>
      </p:sp>
      <p:sp>
        <p:nvSpPr>
          <p:cNvPr id="12" name="Slide Number Placeholder 4"/>
          <p:cNvSpPr>
            <a:spLocks noGrp="1"/>
          </p:cNvSpPr>
          <p:nvPr>
            <p:ph type="sldNum" sz="quarter" idx="4294967295"/>
          </p:nvPr>
        </p:nvSpPr>
        <p:spPr>
          <a:xfrm>
            <a:off x="6858000" y="6416675"/>
            <a:ext cx="2133600" cy="365125"/>
          </a:xfrm>
          <a:prstGeom prst="rect">
            <a:avLst/>
          </a:prstGeom>
        </p:spPr>
        <p:txBody>
          <a:bodyPr/>
          <a:lstStyle/>
          <a:p>
            <a:pPr algn="r"/>
            <a:fld id="{223FD816-CC6A-BF43-8241-637E3E7EAA5A}" type="slidenum">
              <a:rPr lang="en-US" sz="1400" smtClean="0">
                <a:solidFill>
                  <a:schemeClr val="bg1">
                    <a:lumMod val="65000"/>
                  </a:schemeClr>
                </a:solidFill>
                <a:latin typeface="Arial"/>
                <a:cs typeface="Arial"/>
              </a:rPr>
              <a:pPr algn="r"/>
              <a:t>93</a:t>
            </a:fld>
            <a:endParaRPr lang="en-US" sz="1400" dirty="0">
              <a:solidFill>
                <a:schemeClr val="bg1">
                  <a:lumMod val="65000"/>
                </a:schemeClr>
              </a:solidFill>
              <a:latin typeface="Arial"/>
              <a:cs typeface="Arial"/>
            </a:endParaRPr>
          </a:p>
        </p:txBody>
      </p:sp>
      <p:sp>
        <p:nvSpPr>
          <p:cNvPr id="2" name="TextBox 1"/>
          <p:cNvSpPr txBox="1"/>
          <p:nvPr/>
        </p:nvSpPr>
        <p:spPr>
          <a:xfrm>
            <a:off x="4716016" y="5877272"/>
            <a:ext cx="3822721" cy="369332"/>
          </a:xfrm>
          <a:prstGeom prst="rect">
            <a:avLst/>
          </a:prstGeom>
          <a:noFill/>
        </p:spPr>
        <p:txBody>
          <a:bodyPr wrap="none" rtlCol="0">
            <a:spAutoFit/>
          </a:bodyPr>
          <a:lstStyle/>
          <a:p>
            <a:r>
              <a:rPr lang="en-US" i="1" dirty="0">
                <a:latin typeface="Arial"/>
                <a:cs typeface="Arial"/>
              </a:rPr>
              <a:t>see Nick and Matthai (2011, V.Z.J.)</a:t>
            </a:r>
          </a:p>
        </p:txBody>
      </p:sp>
    </p:spTree>
    <p:extLst>
      <p:ext uri="{BB962C8B-B14F-4D97-AF65-F5344CB8AC3E}">
        <p14:creationId xmlns:p14="http://schemas.microsoft.com/office/powerpoint/2010/main" val="11220942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228600" y="304800"/>
            <a:ext cx="8305799" cy="736600"/>
          </a:xfrm>
        </p:spPr>
        <p:txBody>
          <a:bodyPr>
            <a:normAutofit fontScale="90000"/>
          </a:bodyPr>
          <a:lstStyle/>
          <a:p>
            <a:r>
              <a:rPr lang="en-US" dirty="0"/>
              <a:t>Bridging </a:t>
            </a:r>
            <a:r>
              <a:rPr lang="en-US" dirty="0" err="1"/>
              <a:t>SplitBoundarys</a:t>
            </a:r>
            <a:r>
              <a:rPr lang="en-US" dirty="0"/>
              <a:t> using </a:t>
            </a:r>
            <a:r>
              <a:rPr lang="en-US" dirty="0" err="1"/>
              <a:t>InterFace</a:t>
            </a:r>
            <a:r>
              <a:rPr lang="en-US" dirty="0"/>
              <a:t> elements in implicit fluid pressure computation</a:t>
            </a:r>
          </a:p>
        </p:txBody>
      </p:sp>
      <p:sp>
        <p:nvSpPr>
          <p:cNvPr id="543747" name="Rectangle 3"/>
          <p:cNvSpPr>
            <a:spLocks noGrp="1" noChangeArrowheads="1"/>
          </p:cNvSpPr>
          <p:nvPr>
            <p:ph type="body" idx="1"/>
          </p:nvPr>
        </p:nvSpPr>
        <p:spPr>
          <a:xfrm>
            <a:off x="285750" y="1196752"/>
            <a:ext cx="8605838" cy="1268412"/>
          </a:xfrm>
        </p:spPr>
        <p:txBody>
          <a:bodyPr/>
          <a:lstStyle/>
          <a:p>
            <a:r>
              <a:rPr lang="en-US" dirty="0"/>
              <a:t>To treat </a:t>
            </a:r>
            <a:r>
              <a:rPr lang="en-US" dirty="0" err="1"/>
              <a:t>multiplicated</a:t>
            </a:r>
            <a:r>
              <a:rPr lang="en-US" dirty="0"/>
              <a:t> interface nodes as one, the duplicates receive unity entries in diagonal of solution matrix</a:t>
            </a:r>
          </a:p>
          <a:p>
            <a:r>
              <a:rPr lang="en-US" dirty="0"/>
              <a:t>Interface nodes are then coupled with minus 1 off-diagonal terms:</a:t>
            </a:r>
          </a:p>
        </p:txBody>
      </p:sp>
      <p:graphicFrame>
        <p:nvGraphicFramePr>
          <p:cNvPr id="543748" name="Object 4"/>
          <p:cNvGraphicFramePr>
            <a:graphicFrameLocks noChangeAspect="1"/>
          </p:cNvGraphicFramePr>
          <p:nvPr/>
        </p:nvGraphicFramePr>
        <p:xfrm>
          <a:off x="708025" y="2808288"/>
          <a:ext cx="3957638" cy="2895600"/>
        </p:xfrm>
        <a:graphic>
          <a:graphicData uri="http://schemas.openxmlformats.org/presentationml/2006/ole">
            <mc:AlternateContent xmlns:mc="http://schemas.openxmlformats.org/markup-compatibility/2006">
              <mc:Choice xmlns:v="urn:schemas-microsoft-com:vml" Requires="v">
                <p:oleObj spid="_x0000_s1766" name="Equation" r:id="rId3" imgW="1562040" imgH="1143000" progId="Equation.3">
                  <p:embed/>
                </p:oleObj>
              </mc:Choice>
              <mc:Fallback>
                <p:oleObj name="Equation" r:id="rId3" imgW="1562040" imgH="1143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025" y="2808288"/>
                        <a:ext cx="3957638" cy="2895600"/>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grpSp>
        <p:nvGrpSpPr>
          <p:cNvPr id="2" name="Group 17"/>
          <p:cNvGrpSpPr>
            <a:grpSpLocks/>
          </p:cNvGrpSpPr>
          <p:nvPr/>
        </p:nvGrpSpPr>
        <p:grpSpPr bwMode="auto">
          <a:xfrm>
            <a:off x="5341938" y="2487613"/>
            <a:ext cx="2806700" cy="3487737"/>
            <a:chOff x="3445" y="1348"/>
            <a:chExt cx="1768" cy="2197"/>
          </a:xfrm>
        </p:grpSpPr>
        <p:sp>
          <p:nvSpPr>
            <p:cNvPr id="543749" name="Freeform 5"/>
            <p:cNvSpPr>
              <a:spLocks/>
            </p:cNvSpPr>
            <p:nvPr/>
          </p:nvSpPr>
          <p:spPr bwMode="auto">
            <a:xfrm>
              <a:off x="3499" y="1632"/>
              <a:ext cx="805" cy="784"/>
            </a:xfrm>
            <a:custGeom>
              <a:avLst/>
              <a:gdLst/>
              <a:ahLst/>
              <a:cxnLst>
                <a:cxn ang="0">
                  <a:pos x="0" y="0"/>
                </a:cxn>
                <a:cxn ang="0">
                  <a:pos x="474" y="320"/>
                </a:cxn>
                <a:cxn ang="0">
                  <a:pos x="805" y="784"/>
                </a:cxn>
              </a:cxnLst>
              <a:rect l="0" t="0" r="r" b="b"/>
              <a:pathLst>
                <a:path w="805" h="784">
                  <a:moveTo>
                    <a:pt x="0" y="0"/>
                  </a:moveTo>
                  <a:lnTo>
                    <a:pt x="474" y="320"/>
                  </a:lnTo>
                  <a:lnTo>
                    <a:pt x="805" y="784"/>
                  </a:lnTo>
                </a:path>
              </a:pathLst>
            </a:custGeom>
            <a:noFill/>
            <a:ln w="28575" cmpd="sng">
              <a:solidFill>
                <a:schemeClr val="tx1"/>
              </a:solidFill>
              <a:round/>
              <a:headEnd/>
              <a:tailEnd/>
            </a:ln>
            <a:effectLst/>
          </p:spPr>
          <p:txBody>
            <a:bodyPr>
              <a:prstTxWarp prst="textNoShape">
                <a:avLst/>
              </a:prstTxWarp>
            </a:bodyPr>
            <a:lstStyle/>
            <a:p>
              <a:endParaRPr lang="en-US"/>
            </a:p>
          </p:txBody>
        </p:sp>
        <p:sp>
          <p:nvSpPr>
            <p:cNvPr id="543750" name="Line 6"/>
            <p:cNvSpPr>
              <a:spLocks noChangeShapeType="1"/>
            </p:cNvSpPr>
            <p:nvPr/>
          </p:nvSpPr>
          <p:spPr bwMode="auto">
            <a:xfrm>
              <a:off x="4331" y="2480"/>
              <a:ext cx="592" cy="912"/>
            </a:xfrm>
            <a:prstGeom prst="line">
              <a:avLst/>
            </a:prstGeom>
            <a:noFill/>
            <a:ln w="28575">
              <a:solidFill>
                <a:schemeClr val="tx1"/>
              </a:solidFill>
              <a:round/>
              <a:headEnd/>
              <a:tailEnd/>
            </a:ln>
            <a:effectLst/>
          </p:spPr>
          <p:txBody>
            <a:bodyPr>
              <a:prstTxWarp prst="textNoShape">
                <a:avLst/>
              </a:prstTxWarp>
            </a:bodyPr>
            <a:lstStyle/>
            <a:p>
              <a:endParaRPr lang="en-US"/>
            </a:p>
          </p:txBody>
        </p:sp>
        <p:sp>
          <p:nvSpPr>
            <p:cNvPr id="543751" name="Oval 7"/>
            <p:cNvSpPr>
              <a:spLocks noChangeArrowheads="1"/>
            </p:cNvSpPr>
            <p:nvPr/>
          </p:nvSpPr>
          <p:spPr bwMode="auto">
            <a:xfrm>
              <a:off x="3445" y="1568"/>
              <a:ext cx="123" cy="128"/>
            </a:xfrm>
            <a:prstGeom prst="ellipse">
              <a:avLst/>
            </a:prstGeom>
            <a:solidFill>
              <a:schemeClr val="bg2"/>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2" name="Oval 8"/>
            <p:cNvSpPr>
              <a:spLocks noChangeArrowheads="1"/>
            </p:cNvSpPr>
            <p:nvPr/>
          </p:nvSpPr>
          <p:spPr bwMode="auto">
            <a:xfrm>
              <a:off x="3906" y="1880"/>
              <a:ext cx="123" cy="128"/>
            </a:xfrm>
            <a:prstGeom prst="ellipse">
              <a:avLst/>
            </a:prstGeom>
            <a:solidFill>
              <a:schemeClr val="bg2"/>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3" name="Oval 9"/>
            <p:cNvSpPr>
              <a:spLocks noChangeArrowheads="1"/>
            </p:cNvSpPr>
            <p:nvPr/>
          </p:nvSpPr>
          <p:spPr bwMode="auto">
            <a:xfrm>
              <a:off x="4207" y="2304"/>
              <a:ext cx="123" cy="128"/>
            </a:xfrm>
            <a:prstGeom prst="ellipse">
              <a:avLst/>
            </a:prstGeom>
            <a:solidFill>
              <a:schemeClr val="bg2"/>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4" name="Oval 10"/>
            <p:cNvSpPr>
              <a:spLocks noChangeArrowheads="1"/>
            </p:cNvSpPr>
            <p:nvPr/>
          </p:nvSpPr>
          <p:spPr bwMode="auto">
            <a:xfrm>
              <a:off x="4289" y="2456"/>
              <a:ext cx="123" cy="128"/>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5" name="Oval 11"/>
            <p:cNvSpPr>
              <a:spLocks noChangeArrowheads="1"/>
            </p:cNvSpPr>
            <p:nvPr/>
          </p:nvSpPr>
          <p:spPr bwMode="auto">
            <a:xfrm>
              <a:off x="4862" y="3317"/>
              <a:ext cx="123" cy="128"/>
            </a:xfrm>
            <a:prstGeom prst="ellipse">
              <a:avLst/>
            </a:prstGeom>
            <a:solidFill>
              <a:srgbClr val="FFFF00"/>
            </a:solidFill>
            <a:ln w="9525">
              <a:solidFill>
                <a:schemeClr val="tx1"/>
              </a:solidFill>
              <a:round/>
              <a:headEnd/>
              <a:tailEnd/>
            </a:ln>
            <a:effectLst/>
          </p:spPr>
          <p:txBody>
            <a:bodyPr wrap="none" anchor="ctr">
              <a:prstTxWarp prst="textNoShape">
                <a:avLst/>
              </a:prstTxWarp>
            </a:bodyPr>
            <a:lstStyle/>
            <a:p>
              <a:pPr algn="ctr"/>
              <a:endParaRPr lang="en-US">
                <a:solidFill>
                  <a:srgbClr val="FFFF00"/>
                </a:solidFill>
              </a:endParaRPr>
            </a:p>
          </p:txBody>
        </p:sp>
        <p:sp>
          <p:nvSpPr>
            <p:cNvPr id="543756" name="Text Box 12"/>
            <p:cNvSpPr txBox="1">
              <a:spLocks noChangeArrowheads="1"/>
            </p:cNvSpPr>
            <p:nvPr/>
          </p:nvSpPr>
          <p:spPr bwMode="auto">
            <a:xfrm>
              <a:off x="3512" y="1348"/>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a</a:t>
              </a:r>
            </a:p>
          </p:txBody>
        </p:sp>
        <p:sp>
          <p:nvSpPr>
            <p:cNvPr id="543757" name="Text Box 13"/>
            <p:cNvSpPr txBox="1">
              <a:spLocks noChangeArrowheads="1"/>
            </p:cNvSpPr>
            <p:nvPr/>
          </p:nvSpPr>
          <p:spPr bwMode="auto">
            <a:xfrm>
              <a:off x="4016" y="1666"/>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b</a:t>
              </a:r>
            </a:p>
          </p:txBody>
        </p:sp>
        <p:sp>
          <p:nvSpPr>
            <p:cNvPr id="543758" name="Text Box 14"/>
            <p:cNvSpPr txBox="1">
              <a:spLocks noChangeArrowheads="1"/>
            </p:cNvSpPr>
            <p:nvPr/>
          </p:nvSpPr>
          <p:spPr bwMode="auto">
            <a:xfrm>
              <a:off x="4307" y="2095"/>
              <a:ext cx="212"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c</a:t>
              </a:r>
            </a:p>
          </p:txBody>
        </p:sp>
        <p:sp>
          <p:nvSpPr>
            <p:cNvPr id="543759" name="Text Box 15"/>
            <p:cNvSpPr txBox="1">
              <a:spLocks noChangeArrowheads="1"/>
            </p:cNvSpPr>
            <p:nvPr/>
          </p:nvSpPr>
          <p:spPr bwMode="auto">
            <a:xfrm>
              <a:off x="4422" y="2326"/>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d</a:t>
              </a:r>
            </a:p>
          </p:txBody>
        </p:sp>
        <p:sp>
          <p:nvSpPr>
            <p:cNvPr id="543760" name="Text Box 16"/>
            <p:cNvSpPr txBox="1">
              <a:spLocks noChangeArrowheads="1"/>
            </p:cNvSpPr>
            <p:nvPr/>
          </p:nvSpPr>
          <p:spPr bwMode="auto">
            <a:xfrm>
              <a:off x="4990" y="3257"/>
              <a:ext cx="223" cy="288"/>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e</a:t>
              </a:r>
            </a:p>
          </p:txBody>
        </p:sp>
      </p:grpSp>
      <p:sp>
        <p:nvSpPr>
          <p:cNvPr id="543762" name="Rectangle 18"/>
          <p:cNvSpPr>
            <a:spLocks noChangeArrowheads="1"/>
          </p:cNvSpPr>
          <p:nvPr/>
        </p:nvSpPr>
        <p:spPr bwMode="auto">
          <a:xfrm>
            <a:off x="6561138" y="3232150"/>
            <a:ext cx="1404937" cy="457200"/>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1D mesh</a:t>
            </a:r>
          </a:p>
        </p:txBody>
      </p:sp>
      <p:sp>
        <p:nvSpPr>
          <p:cNvPr id="543763" name="Line 19"/>
          <p:cNvSpPr>
            <a:spLocks noChangeShapeType="1"/>
          </p:cNvSpPr>
          <p:nvPr/>
        </p:nvSpPr>
        <p:spPr bwMode="auto">
          <a:xfrm flipH="1">
            <a:off x="6278563" y="3997325"/>
            <a:ext cx="873125" cy="449263"/>
          </a:xfrm>
          <a:prstGeom prst="line">
            <a:avLst/>
          </a:prstGeom>
          <a:noFill/>
          <a:ln w="19050">
            <a:solidFill>
              <a:schemeClr val="tx1"/>
            </a:solidFill>
            <a:prstDash val="sysDot"/>
            <a:round/>
            <a:headEnd/>
            <a:tailEnd/>
          </a:ln>
          <a:effectLst/>
        </p:spPr>
        <p:txBody>
          <a:bodyPr>
            <a:prstTxWarp prst="textNoShape">
              <a:avLst/>
            </a:prstTxWarp>
          </a:bodyPr>
          <a:lstStyle/>
          <a:p>
            <a:endParaRPr lang="en-US"/>
          </a:p>
        </p:txBody>
      </p:sp>
      <p:sp>
        <p:nvSpPr>
          <p:cNvPr id="543764" name="Rectangle 20"/>
          <p:cNvSpPr>
            <a:spLocks noChangeArrowheads="1"/>
          </p:cNvSpPr>
          <p:nvPr/>
        </p:nvSpPr>
        <p:spPr bwMode="auto">
          <a:xfrm>
            <a:off x="5500688" y="4341813"/>
            <a:ext cx="1354137" cy="457200"/>
          </a:xfrm>
          <a:prstGeom prst="rect">
            <a:avLst/>
          </a:prstGeom>
          <a:noFill/>
          <a:ln w="9525">
            <a:noFill/>
            <a:miter lim="800000"/>
            <a:headEnd/>
            <a:tailEnd/>
          </a:ln>
          <a:effectLst/>
        </p:spPr>
        <p:txBody>
          <a:bodyPr wrap="none">
            <a:prstTxWarp prst="textNoShape">
              <a:avLst/>
            </a:prstTxWarp>
            <a:spAutoFit/>
          </a:bodyPr>
          <a:lstStyle/>
          <a:p>
            <a:r>
              <a:rPr lang="en-US">
                <a:latin typeface="Arial" pitchFamily="-65" charset="0"/>
              </a:rPr>
              <a:t>interface</a:t>
            </a:r>
          </a:p>
        </p:txBody>
      </p:sp>
      <p:sp>
        <p:nvSpPr>
          <p:cNvPr id="543765" name="Rectangle 21"/>
          <p:cNvSpPr>
            <a:spLocks noChangeArrowheads="1"/>
          </p:cNvSpPr>
          <p:nvPr/>
        </p:nvSpPr>
        <p:spPr bwMode="auto">
          <a:xfrm>
            <a:off x="4922838" y="2392363"/>
            <a:ext cx="466725" cy="457200"/>
          </a:xfrm>
          <a:prstGeom prst="rect">
            <a:avLst/>
          </a:prstGeom>
          <a:noFill/>
          <a:ln w="9525">
            <a:noFill/>
            <a:miter lim="800000"/>
            <a:headEnd/>
            <a:tailEnd/>
          </a:ln>
          <a:effectLst/>
        </p:spPr>
        <p:txBody>
          <a:bodyPr wrap="none">
            <a:prstTxWarp prst="textNoShape">
              <a:avLst/>
            </a:prstTxWarp>
            <a:spAutoFit/>
          </a:bodyPr>
          <a:lstStyle/>
          <a:p>
            <a:r>
              <a:rPr lang="en-US" i="1">
                <a:latin typeface="Arial" pitchFamily="-65" charset="0"/>
              </a:rPr>
              <a:t>p</a:t>
            </a:r>
            <a:r>
              <a:rPr lang="en-US" i="1" baseline="-25000">
                <a:latin typeface="Arial" pitchFamily="-65" charset="0"/>
              </a:rPr>
              <a:t>1</a:t>
            </a:r>
          </a:p>
        </p:txBody>
      </p:sp>
      <p:sp>
        <p:nvSpPr>
          <p:cNvPr id="543766" name="Rectangle 22"/>
          <p:cNvSpPr>
            <a:spLocks noChangeArrowheads="1"/>
          </p:cNvSpPr>
          <p:nvPr/>
        </p:nvSpPr>
        <p:spPr bwMode="auto">
          <a:xfrm>
            <a:off x="7473950" y="5754688"/>
            <a:ext cx="466725" cy="457200"/>
          </a:xfrm>
          <a:prstGeom prst="rect">
            <a:avLst/>
          </a:prstGeom>
          <a:noFill/>
          <a:ln w="9525">
            <a:noFill/>
            <a:miter lim="800000"/>
            <a:headEnd/>
            <a:tailEnd/>
          </a:ln>
          <a:effectLst/>
        </p:spPr>
        <p:txBody>
          <a:bodyPr wrap="none">
            <a:prstTxWarp prst="textNoShape">
              <a:avLst/>
            </a:prstTxWarp>
            <a:spAutoFit/>
          </a:bodyPr>
          <a:lstStyle/>
          <a:p>
            <a:r>
              <a:rPr lang="en-US" i="1">
                <a:latin typeface="Arial" pitchFamily="-65" charset="0"/>
              </a:rPr>
              <a:t>p</a:t>
            </a:r>
            <a:r>
              <a:rPr lang="en-US" i="1" baseline="-25000">
                <a:latin typeface="Arial" pitchFamily="-65" charset="0"/>
              </a:rPr>
              <a:t>2</a:t>
            </a:r>
          </a:p>
        </p:txBody>
      </p:sp>
      <p:sp>
        <p:nvSpPr>
          <p:cNvPr id="23" name="Slide Number Placeholder 22"/>
          <p:cNvSpPr>
            <a:spLocks noGrp="1"/>
          </p:cNvSpPr>
          <p:nvPr>
            <p:ph type="sldNum" sz="quarter" idx="12"/>
          </p:nvPr>
        </p:nvSpPr>
        <p:spPr/>
        <p:txBody>
          <a:bodyPr/>
          <a:lstStyle/>
          <a:p>
            <a:fld id="{223FD816-CC6A-BF43-8241-637E3E7EAA5A}" type="slidenum">
              <a:rPr lang="en-US" smtClean="0"/>
              <a:pPr/>
              <a:t>94</a:t>
            </a:fld>
            <a:endParaRPr lang="en-US"/>
          </a:p>
        </p:txBody>
      </p:sp>
      <p:sp>
        <p:nvSpPr>
          <p:cNvPr id="24" name="Date Placeholder 23"/>
          <p:cNvSpPr>
            <a:spLocks noGrp="1"/>
          </p:cNvSpPr>
          <p:nvPr>
            <p:ph type="dt" sz="half" idx="10"/>
          </p:nvPr>
        </p:nvSpPr>
        <p:spPr/>
        <p:txBody>
          <a:bodyPr/>
          <a:lstStyle/>
          <a:p>
            <a:fld id="{8BD55A80-09C5-8649-A699-560A07E05973}" type="datetime1">
              <a:rPr lang="en-US" smtClean="0"/>
              <a:pPr/>
              <a:t>3/17/19</a:t>
            </a:fld>
            <a:endParaRPr lang="en-US"/>
          </a:p>
        </p:txBody>
      </p:sp>
      <p:sp>
        <p:nvSpPr>
          <p:cNvPr id="25" name="Footer Placeholder 24"/>
          <p:cNvSpPr>
            <a:spLocks noGrp="1"/>
          </p:cNvSpPr>
          <p:nvPr>
            <p:ph type="ftr" sz="quarter" idx="11"/>
          </p:nvPr>
        </p:nvSpPr>
        <p:spPr/>
        <p:txBody>
          <a:bodyPr/>
          <a:lstStyle/>
          <a:p>
            <a:endParaRPr lang="en-US" dirty="0"/>
          </a:p>
          <a:p>
            <a:r>
              <a:rPr lang="en-US" dirty="0"/>
              <a:t>FEM-FVM framework</a:t>
            </a:r>
          </a:p>
          <a:p>
            <a:endParaRPr lang="en-US" dirty="0"/>
          </a:p>
        </p:txBody>
      </p:sp>
    </p:spTree>
    <p:extLst>
      <p:ext uri="{BB962C8B-B14F-4D97-AF65-F5344CB8AC3E}">
        <p14:creationId xmlns:p14="http://schemas.microsoft.com/office/powerpoint/2010/main" val="391698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154570</TotalTime>
  <Words>7694</Words>
  <Application>Microsoft Macintosh PowerPoint</Application>
  <PresentationFormat>On-screen Show (4:3)</PresentationFormat>
  <Paragraphs>1358</Paragraphs>
  <Slides>94</Slides>
  <Notes>45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94</vt:i4>
      </vt:variant>
    </vt:vector>
  </HeadingPairs>
  <TitlesOfParts>
    <vt:vector size="107" baseType="lpstr">
      <vt:lpstr>Arial</vt:lpstr>
      <vt:lpstr>Arial Narrow</vt:lpstr>
      <vt:lpstr>Calibri</vt:lpstr>
      <vt:lpstr>Cambria Math</vt:lpstr>
      <vt:lpstr>Courier</vt:lpstr>
      <vt:lpstr>Helvetica</vt:lpstr>
      <vt:lpstr>Symbol</vt:lpstr>
      <vt:lpstr>Times</vt:lpstr>
      <vt:lpstr>Verdana</vt:lpstr>
      <vt:lpstr>Wingdings</vt:lpstr>
      <vt:lpstr>Office Theme</vt:lpstr>
      <vt:lpstr>Equation</vt:lpstr>
      <vt:lpstr>Equation.DSMT4</vt:lpstr>
      <vt:lpstr>The Complex Systems Modelling Platform  (CSMP++ )</vt:lpstr>
      <vt:lpstr>Outline</vt:lpstr>
      <vt:lpstr>PowerPoint Presentation</vt:lpstr>
      <vt:lpstr>Back to the basics of compressible flow</vt:lpstr>
      <vt:lpstr>Introducing saturations</vt:lpstr>
      <vt:lpstr>Introducing phase composition</vt:lpstr>
      <vt:lpstr>In depth review:          pressure equation from conservation of fluid mass </vt:lpstr>
      <vt:lpstr>Governing equations: Conservation of salt / CO2</vt:lpstr>
      <vt:lpstr>Governing equations: Conservation of energy</vt:lpstr>
      <vt:lpstr>Solution strategy</vt:lpstr>
      <vt:lpstr>Outline</vt:lpstr>
      <vt:lpstr>Variable placement (Barycentric formulation)</vt:lpstr>
      <vt:lpstr>Variable placement  (integration-point based  formulation)</vt:lpstr>
      <vt:lpstr>Current implementation</vt:lpstr>
      <vt:lpstr>Computation of saturations at new time level</vt:lpstr>
      <vt:lpstr>If necessary: predictor-corrector time-stepping</vt:lpstr>
      <vt:lpstr>Outline</vt:lpstr>
      <vt:lpstr>Interface supporting FEM-FVM framework</vt:lpstr>
      <vt:lpstr>General design considerations</vt:lpstr>
      <vt:lpstr>PowerPoint Presentation</vt:lpstr>
      <vt:lpstr>Initialisation and storage of variables</vt:lpstr>
      <vt:lpstr>What happens in old (2nd-order) explicit 2-phase flow calculation?</vt:lpstr>
      <vt:lpstr>CFL calculation</vt:lpstr>
      <vt:lpstr>Constitutive relationships – Refactoring done!</vt:lpstr>
      <vt:lpstr>Outline</vt:lpstr>
      <vt:lpstr>Placement of material properties on the elements; why?</vt:lpstr>
      <vt:lpstr>Variable storage needs</vt:lpstr>
      <vt:lpstr>Outline</vt:lpstr>
      <vt:lpstr>New goal: phase-by-phase component transport scheme with support for component exchange among phases</vt:lpstr>
      <vt:lpstr>Implemented vs. conceptual functionality</vt:lpstr>
      <vt:lpstr>Efficiency considerations</vt:lpstr>
      <vt:lpstr>Outline</vt:lpstr>
      <vt:lpstr>Layout 1 (class diagram)</vt:lpstr>
      <vt:lpstr>Layout 2</vt:lpstr>
      <vt:lpstr>Layout 3: Assembly of FVM equations</vt:lpstr>
      <vt:lpstr>(New) classes?</vt:lpstr>
      <vt:lpstr>Classes – envisaged at Colleoli Workshop</vt:lpstr>
      <vt:lpstr>PowerPoint Presentation</vt:lpstr>
      <vt:lpstr>FiniteVolumeVariableGradient</vt:lpstr>
      <vt:lpstr>SaturationFunction</vt:lpstr>
      <vt:lpstr>FluidProperties</vt:lpstr>
      <vt:lpstr>FlowFunctions</vt:lpstr>
      <vt:lpstr>FacetFlux</vt:lpstr>
      <vt:lpstr>Upstream direction vs. Inside-Outside nodes</vt:lpstr>
      <vt:lpstr>Finding the upstream direction</vt:lpstr>
      <vt:lpstr>Upstream direction calculation algorithms</vt:lpstr>
      <vt:lpstr>FluxEvaluator</vt:lpstr>
      <vt:lpstr>FluxEvaluator (for the entire region)</vt:lpstr>
      <vt:lpstr>TransferStepEvaluator</vt:lpstr>
      <vt:lpstr>The classes that carry out the transport</vt:lpstr>
      <vt:lpstr>Capillary spreading (solved with FEM method)</vt:lpstr>
      <vt:lpstr>LHS_Accumulator  and  RHS_Accumulator</vt:lpstr>
      <vt:lpstr>Operator options</vt:lpstr>
      <vt:lpstr>TimeStepEvaluator</vt:lpstr>
      <vt:lpstr>ExplicitTransport    and    ImplicitTransport</vt:lpstr>
      <vt:lpstr>Simulation steps (big picture)</vt:lpstr>
      <vt:lpstr>PowerPoint Presentation</vt:lpstr>
      <vt:lpstr>To do</vt:lpstr>
      <vt:lpstr>PowerPoint Presentation</vt:lpstr>
      <vt:lpstr>Improvements</vt:lpstr>
      <vt:lpstr>Keeping support functionality from NodeCenteredFiniteVolumeTransport ?</vt:lpstr>
      <vt:lpstr>Scope for improvement: FiniteVolumeTraits</vt:lpstr>
      <vt:lpstr>PowerPoint Presentation</vt:lpstr>
      <vt:lpstr>PowerPoint Presentation</vt:lpstr>
      <vt:lpstr>FE-FVM Discretisation Different requirements seem to exist here:  (ETHZ wants material properties on the nodes, MUL on the elements)</vt:lpstr>
      <vt:lpstr>Volume vs. Surface Integration</vt:lpstr>
      <vt:lpstr>Single-phase transport variables</vt:lpstr>
      <vt:lpstr>First-Order Implicit FV Solution of Transport Equation</vt:lpstr>
      <vt:lpstr>Inclusion of diffusive fluxes in FV framework NB: we do this with the FEM now</vt:lpstr>
      <vt:lpstr>PowerPoint Presentation</vt:lpstr>
      <vt:lpstr>PowerPoint Presentation</vt:lpstr>
      <vt:lpstr>PowerPoint Presentation</vt:lpstr>
      <vt:lpstr>PowerPoint Presentation</vt:lpstr>
      <vt:lpstr>Theta Time Differencing</vt:lpstr>
      <vt:lpstr>Averting Divergence-Related Negative Contributions to Solution Matrix</vt:lpstr>
      <vt:lpstr>Bijective-Mapping between FV &amp; FEM Discretisation</vt:lpstr>
      <vt:lpstr>Computational procedure</vt:lpstr>
      <vt:lpstr>A typical calculation operator-splitting calculation</vt:lpstr>
      <vt:lpstr>Two-dimensional FE discretization of pressure equation</vt:lpstr>
      <vt:lpstr>Implementation: Basic terminology</vt:lpstr>
      <vt:lpstr>Finite-element finite-volume stencils</vt:lpstr>
      <vt:lpstr>Access to FiniteVolume properties / parameters</vt:lpstr>
      <vt:lpstr>NodeCenteredFiniteVolumeTransport</vt:lpstr>
      <vt:lpstr>What currently happens when the NCFV transport is instantiated</vt:lpstr>
      <vt:lpstr>CFL calculation</vt:lpstr>
      <vt:lpstr>Node-centered CVFE scheme: participating classes</vt:lpstr>
      <vt:lpstr>Node-centered CVFE scheme</vt:lpstr>
      <vt:lpstr>Sequence diagram</vt:lpstr>
      <vt:lpstr>Variations of the theme: CSMP transport schemes</vt:lpstr>
      <vt:lpstr>Classes to implement your own FVM functionality</vt:lpstr>
      <vt:lpstr>Support FOR EMBEDDED DISCONTINUITIES</vt:lpstr>
      <vt:lpstr>EDS SplitBoundary -based discretisation</vt:lpstr>
      <vt:lpstr>EDF integrals in implicit FEFVM solution </vt:lpstr>
      <vt:lpstr>Bridging SplitBoundarys using InterFace elements in implicit fluid pressure computation</vt:lpstr>
    </vt:vector>
  </TitlesOfParts>
  <Company>Imperial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Stephan Matthai</dc:creator>
  <cp:lastModifiedBy>Stephan Matthai</cp:lastModifiedBy>
  <cp:revision>1009</cp:revision>
  <cp:lastPrinted>2015-06-12T00:56:46Z</cp:lastPrinted>
  <dcterms:created xsi:type="dcterms:W3CDTF">2011-02-07T13:57:38Z</dcterms:created>
  <dcterms:modified xsi:type="dcterms:W3CDTF">2019-03-17T06:01:46Z</dcterms:modified>
</cp:coreProperties>
</file>