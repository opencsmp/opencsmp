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embeddings/oleObject5.bin" ContentType="application/vnd.openxmlformats-officedocument.oleObject"/>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embeddings/oleObject10.bin" ContentType="application/vnd.openxmlformats-officedocument.oleObject"/>
  <Override PartName="/ppt/notesSlides/notesSlide21.xml" ContentType="application/vnd.openxmlformats-officedocument.presentationml.notesSlide+xml"/>
  <Override PartName="/ppt/embeddings/oleObject11.bin" ContentType="application/vnd.openxmlformats-officedocument.oleObject"/>
  <Override PartName="/ppt/notesSlides/notesSlide22.xml" ContentType="application/vnd.openxmlformats-officedocument.presentationml.notesSlide+xml"/>
  <Override PartName="/ppt/embeddings/oleObject12.bin" ContentType="application/vnd.openxmlformats-officedocument.oleObject"/>
  <Override PartName="/ppt/embeddings/oleObject13.bin" ContentType="application/vnd.openxmlformats-officedocument.oleObject"/>
  <Override PartName="/ppt/notesSlides/notesSlide23.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24.xml" ContentType="application/vnd.openxmlformats-officedocument.presentationml.notesSlide+xml"/>
  <Override PartName="/ppt/embeddings/oleObject18.bin" ContentType="application/vnd.openxmlformats-officedocument.oleObject"/>
  <Override PartName="/ppt/notesSlides/notesSlide25.xml" ContentType="application/vnd.openxmlformats-officedocument.presentationml.notesSlide+xml"/>
  <Override PartName="/ppt/embeddings/oleObject19.bin" ContentType="application/vnd.openxmlformats-officedocument.oleObject"/>
  <Override PartName="/ppt/notesSlides/notesSlide26.xml" ContentType="application/vnd.openxmlformats-officedocument.presentationml.notesSlide+xml"/>
  <Override PartName="/ppt/embeddings/oleObject20.bin" ContentType="application/vnd.openxmlformats-officedocument.oleObject"/>
  <Override PartName="/ppt/notesSlides/notesSlide27.xml" ContentType="application/vnd.openxmlformats-officedocument.presentationml.notesSlide+xml"/>
  <Override PartName="/ppt/embeddings/oleObject21.bin" ContentType="application/vnd.openxmlformats-officedocument.oleObject"/>
  <Override PartName="/ppt/notesSlides/notesSlide28.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notesSlides/notesSlide29.xml" ContentType="application/vnd.openxmlformats-officedocument.presentationml.notesSlide+xml"/>
  <Override PartName="/ppt/embeddings/oleObject25.bin" ContentType="application/vnd.openxmlformats-officedocument.oleObject"/>
  <Override PartName="/ppt/embeddings/oleObject26.bin" ContentType="application/vnd.openxmlformats-officedocument.oleObject"/>
  <Override PartName="/ppt/notesSlides/notesSlide30.xml" ContentType="application/vnd.openxmlformats-officedocument.presentationml.notesSlide+xml"/>
  <Override PartName="/ppt/embeddings/oleObject27.bin" ContentType="application/vnd.openxmlformats-officedocument.oleObject"/>
  <Override PartName="/ppt/notesSlides/notesSlide31.xml" ContentType="application/vnd.openxmlformats-officedocument.presentationml.notesSlide+xml"/>
  <Override PartName="/ppt/embeddings/oleObject28.bin" ContentType="application/vnd.openxmlformats-officedocument.oleObject"/>
  <Override PartName="/ppt/embeddings/oleObject29.bin" ContentType="application/vnd.openxmlformats-officedocument.oleObject"/>
  <Override PartName="/ppt/embeddings/oleObject30.bin" ContentType="application/vnd.openxmlformats-officedocument.oleObject"/>
  <Override PartName="/ppt/notesSlides/notesSlide32.xml" ContentType="application/vnd.openxmlformats-officedocument.presentationml.notesSlide+xml"/>
  <Override PartName="/ppt/notesSlides/notesSlide33.xml" ContentType="application/vnd.openxmlformats-officedocument.presentationml.notesSlide+xml"/>
  <Override PartName="/ppt/embeddings/oleObject31.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embeddings/oleObject32.bin" ContentType="application/vnd.openxmlformats-officedocument.oleObject"/>
  <Override PartName="/ppt/notesSlides/notesSlide43.xml" ContentType="application/vnd.openxmlformats-officedocument.presentationml.notesSlide+xml"/>
  <Override PartName="/ppt/embeddings/oleObject33.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handoutMasterIdLst>
    <p:handoutMasterId r:id="rId84"/>
  </p:handoutMasterIdLst>
  <p:sldIdLst>
    <p:sldId id="256" r:id="rId2"/>
    <p:sldId id="640" r:id="rId3"/>
    <p:sldId id="607" r:id="rId4"/>
    <p:sldId id="634" r:id="rId5"/>
    <p:sldId id="635" r:id="rId6"/>
    <p:sldId id="637" r:id="rId7"/>
    <p:sldId id="611" r:id="rId8"/>
    <p:sldId id="612" r:id="rId9"/>
    <p:sldId id="613" r:id="rId10"/>
    <p:sldId id="614" r:id="rId11"/>
    <p:sldId id="615" r:id="rId12"/>
    <p:sldId id="605" r:id="rId13"/>
    <p:sldId id="606" r:id="rId14"/>
    <p:sldId id="616" r:id="rId15"/>
    <p:sldId id="641" r:id="rId16"/>
    <p:sldId id="617" r:id="rId17"/>
    <p:sldId id="618" r:id="rId18"/>
    <p:sldId id="619" r:id="rId19"/>
    <p:sldId id="620" r:id="rId20"/>
    <p:sldId id="642" r:id="rId21"/>
    <p:sldId id="643" r:id="rId22"/>
    <p:sldId id="644" r:id="rId23"/>
    <p:sldId id="621" r:id="rId24"/>
    <p:sldId id="622" r:id="rId25"/>
    <p:sldId id="636" r:id="rId26"/>
    <p:sldId id="645" r:id="rId27"/>
    <p:sldId id="624" r:id="rId28"/>
    <p:sldId id="623" r:id="rId29"/>
    <p:sldId id="625" r:id="rId30"/>
    <p:sldId id="626" r:id="rId31"/>
    <p:sldId id="653" r:id="rId32"/>
    <p:sldId id="648" r:id="rId33"/>
    <p:sldId id="649" r:id="rId34"/>
    <p:sldId id="646" r:id="rId35"/>
    <p:sldId id="630" r:id="rId36"/>
    <p:sldId id="647" r:id="rId37"/>
    <p:sldId id="627" r:id="rId38"/>
    <p:sldId id="651" r:id="rId39"/>
    <p:sldId id="628" r:id="rId40"/>
    <p:sldId id="629" r:id="rId41"/>
    <p:sldId id="631" r:id="rId42"/>
    <p:sldId id="632" r:id="rId43"/>
    <p:sldId id="650" r:id="rId44"/>
    <p:sldId id="652" r:id="rId45"/>
    <p:sldId id="654" r:id="rId46"/>
    <p:sldId id="604" r:id="rId47"/>
    <p:sldId id="639" r:id="rId48"/>
    <p:sldId id="609" r:id="rId49"/>
    <p:sldId id="608" r:id="rId50"/>
    <p:sldId id="638" r:id="rId51"/>
    <p:sldId id="633" r:id="rId52"/>
    <p:sldId id="580" r:id="rId53"/>
    <p:sldId id="588" r:id="rId54"/>
    <p:sldId id="589" r:id="rId55"/>
    <p:sldId id="590" r:id="rId56"/>
    <p:sldId id="591" r:id="rId57"/>
    <p:sldId id="592" r:id="rId58"/>
    <p:sldId id="593" r:id="rId59"/>
    <p:sldId id="594" r:id="rId60"/>
    <p:sldId id="595" r:id="rId61"/>
    <p:sldId id="596" r:id="rId62"/>
    <p:sldId id="597" r:id="rId63"/>
    <p:sldId id="598" r:id="rId64"/>
    <p:sldId id="538" r:id="rId65"/>
    <p:sldId id="599" r:id="rId66"/>
    <p:sldId id="579" r:id="rId67"/>
    <p:sldId id="581" r:id="rId68"/>
    <p:sldId id="582" r:id="rId69"/>
    <p:sldId id="583" r:id="rId70"/>
    <p:sldId id="585" r:id="rId71"/>
    <p:sldId id="586" r:id="rId72"/>
    <p:sldId id="587" r:id="rId73"/>
    <p:sldId id="600" r:id="rId74"/>
    <p:sldId id="601" r:id="rId75"/>
    <p:sldId id="602" r:id="rId76"/>
    <p:sldId id="603" r:id="rId77"/>
    <p:sldId id="560" r:id="rId78"/>
    <p:sldId id="561" r:id="rId79"/>
    <p:sldId id="523" r:id="rId80"/>
    <p:sldId id="539" r:id="rId81"/>
    <p:sldId id="540" r:id="rId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724" autoAdjust="0"/>
    <p:restoredTop sz="90955" autoAdjust="0"/>
  </p:normalViewPr>
  <p:slideViewPr>
    <p:cSldViewPr snapToObjects="1">
      <p:cViewPr varScale="1">
        <p:scale>
          <a:sx n="194" d="100"/>
          <a:sy n="194" d="100"/>
        </p:scale>
        <p:origin x="-504" y="-112"/>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handoutMaster" Target="handoutMasters/handoutMaster1.xml"/><Relationship Id="rId85" Type="http://schemas.openxmlformats.org/officeDocument/2006/relationships/printerSettings" Target="printerSettings/printerSettings1.bin"/><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8.emf"/><Relationship Id="rId2"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5.wmf"/><Relationship Id="rId4" Type="http://schemas.openxmlformats.org/officeDocument/2006/relationships/image" Target="../media/image26.emf"/><Relationship Id="rId1" Type="http://schemas.openxmlformats.org/officeDocument/2006/relationships/image" Target="../media/image23.emf"/><Relationship Id="rId2" Type="http://schemas.openxmlformats.org/officeDocument/2006/relationships/image" Target="../media/image2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33.emf"/><Relationship Id="rId4" Type="http://schemas.openxmlformats.org/officeDocument/2006/relationships/image" Target="../media/image34.wmf"/><Relationship Id="rId1" Type="http://schemas.openxmlformats.org/officeDocument/2006/relationships/image" Target="../media/image31.emf"/><Relationship Id="rId2" Type="http://schemas.openxmlformats.org/officeDocument/2006/relationships/image" Target="../media/image3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8.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9.wmf"/><Relationship Id="rId2" Type="http://schemas.openxmlformats.org/officeDocument/2006/relationships/image" Target="../media/image40.wmf"/><Relationship Id="rId3" Type="http://schemas.openxmlformats.org/officeDocument/2006/relationships/image" Target="../media/image41.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43.wmf"/><Relationship Id="rId2" Type="http://schemas.openxmlformats.org/officeDocument/2006/relationships/image" Target="../media/image44.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45.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47.wmf"/><Relationship Id="rId2" Type="http://schemas.openxmlformats.org/officeDocument/2006/relationships/image" Target="../media/image48.wmf"/><Relationship Id="rId3" Type="http://schemas.openxmlformats.org/officeDocument/2006/relationships/image" Target="../media/image49.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56.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6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19/01/18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19/01/18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negative concentrations</a:t>
            </a:r>
            <a:r>
              <a:rPr lang="en-US" baseline="0" dirty="0" smtClean="0"/>
              <a:t> may be possible in some mathematical models</a:t>
            </a:r>
          </a:p>
          <a:p>
            <a:endParaRPr lang="en-US" baseline="0" dirty="0" smtClean="0"/>
          </a:p>
          <a:p>
            <a:r>
              <a:rPr lang="en-US" baseline="0" dirty="0" smtClean="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7</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interface needs to be cleaned up – I</a:t>
            </a:r>
            <a:r>
              <a:rPr lang="en-US" baseline="0" dirty="0" smtClean="0"/>
              <a:t> do not know who introduced all this duplicate functions!</a:t>
            </a:r>
          </a:p>
          <a:p>
            <a:r>
              <a:rPr lang="en-US" baseline="0" dirty="0" smtClean="0"/>
              <a:t>----- Meeting Notes (10/3/12 18:44) -----</a:t>
            </a:r>
          </a:p>
          <a:p>
            <a:r>
              <a:rPr lang="en-US" baseline="0" dirty="0" smtClean="0"/>
              <a:t>Action is needed!</a:t>
            </a:r>
          </a:p>
          <a:p>
            <a:r>
              <a:rPr lang="en-US" baseline="0" dirty="0" smtClean="0"/>
              <a:t>- rename into SaturationFunctions </a:t>
            </a:r>
          </a:p>
          <a:p>
            <a:r>
              <a:rPr lang="en-US" baseline="0" dirty="0" smtClean="0"/>
              <a:t>2-phase model does things it should not do:</a:t>
            </a:r>
          </a:p>
          <a:p>
            <a:r>
              <a:rPr lang="en-US" baseline="0" dirty="0" smtClean="0"/>
              <a:t>- calculate concentrations in phases</a:t>
            </a:r>
          </a:p>
          <a:p>
            <a:r>
              <a:rPr lang="en-US" baseline="0" dirty="0" smtClean="0"/>
              <a:t>It should do:</a:t>
            </a:r>
          </a:p>
          <a:p>
            <a:r>
              <a:rPr lang="en-US" baseline="0" dirty="0" smtClean="0"/>
              <a:t>- relative permeabilities, capillary pressure, fractional flows etc.</a:t>
            </a:r>
          </a:p>
          <a:p>
            <a:r>
              <a:rPr lang="en-US" baseline="0" dirty="0" smtClean="0"/>
              <a:t>- talk to EOS, fluid properties,  and other things</a:t>
            </a:r>
          </a:p>
          <a:p>
            <a:r>
              <a:rPr lang="en-US" baseline="0" dirty="0" smtClean="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9</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11</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smtClean="0"/>
              <a:t>GenericPropertyLimiter</a:t>
            </a:r>
            <a:r>
              <a:rPr lang="en-US" dirty="0" smtClean="0"/>
              <a:t>      - compare these to the ones CSMP can calculate by</a:t>
            </a:r>
            <a:r>
              <a:rPr lang="en-US" baseline="0" dirty="0" smtClean="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14</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16</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smtClean="0"/>
              <a:t>restrict </a:t>
            </a:r>
            <a:r>
              <a:rPr lang="en-US" dirty="0"/>
              <a:t>dependencies to the things that are stored on </a:t>
            </a:r>
            <a:r>
              <a:rPr lang="en-US" dirty="0" smtClean="0"/>
              <a:t>model</a:t>
            </a:r>
          </a:p>
          <a:p>
            <a:pPr marL="168758" indent="-168758">
              <a:buFontTx/>
              <a:buChar char="-"/>
            </a:pPr>
            <a:endParaRPr lang="en-US" dirty="0" smtClean="0"/>
          </a:p>
          <a:p>
            <a:pPr marL="168758" indent="-168758">
              <a:buFontTx/>
              <a:buChar char="-"/>
            </a:pPr>
            <a:r>
              <a:rPr lang="en-US" dirty="0" smtClean="0"/>
              <a:t>Components</a:t>
            </a:r>
            <a:r>
              <a:rPr lang="en-US" baseline="0" dirty="0" smtClean="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23</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30</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smtClean="0">
                <a:solidFill>
                  <a:schemeClr val="tx1"/>
                </a:solidFill>
                <a:effectLst/>
                <a:latin typeface="+mn-lt"/>
                <a:ea typeface="+mn-ea"/>
                <a:cs typeface="+mn-cs"/>
              </a:rPr>
              <a:t>After calculating the total facet</a:t>
            </a:r>
            <a:r>
              <a:rPr lang="en-US" sz="1200" kern="1200" baseline="0" dirty="0" smtClean="0">
                <a:solidFill>
                  <a:schemeClr val="tx1"/>
                </a:solidFill>
                <a:effectLst/>
                <a:latin typeface="+mn-lt"/>
                <a:ea typeface="+mn-ea"/>
                <a:cs typeface="+mn-cs"/>
              </a:rPr>
              <a:t>-normal</a:t>
            </a:r>
            <a:r>
              <a:rPr lang="en-US" sz="1200" kern="1200" dirty="0" smtClean="0">
                <a:solidFill>
                  <a:schemeClr val="tx1"/>
                </a:solidFill>
                <a:effectLst/>
                <a:latin typeface="+mn-lt"/>
                <a:ea typeface="+mn-ea"/>
                <a:cs typeface="+mn-cs"/>
              </a:rPr>
              <a:t> flux one</a:t>
            </a:r>
            <a:r>
              <a:rPr lang="en-US" sz="1200" kern="1200" baseline="0" dirty="0" smtClean="0">
                <a:solidFill>
                  <a:schemeClr val="tx1"/>
                </a:solidFill>
                <a:effectLst/>
                <a:latin typeface="+mn-lt"/>
                <a:ea typeface="+mn-ea"/>
                <a:cs typeface="+mn-cs"/>
              </a:rPr>
              <a:t> needs to find the </a:t>
            </a:r>
            <a:r>
              <a:rPr lang="en-US" sz="1200" kern="1200" dirty="0" smtClean="0">
                <a:solidFill>
                  <a:schemeClr val="tx1"/>
                </a:solidFill>
                <a:effectLst/>
                <a:latin typeface="+mn-lt"/>
                <a:ea typeface="+mn-ea"/>
                <a:cs typeface="+mn-cs"/>
              </a:rPr>
              <a:t>upstream direction for each phase in order to use upstream </a:t>
            </a:r>
            <a:r>
              <a:rPr lang="en-US" sz="1200" kern="1200" dirty="0" err="1" smtClean="0">
                <a:solidFill>
                  <a:schemeClr val="tx1"/>
                </a:solidFill>
                <a:effectLst/>
                <a:latin typeface="+mn-lt"/>
                <a:ea typeface="+mn-ea"/>
                <a:cs typeface="+mn-cs"/>
              </a:rPr>
              <a:t>mobilities</a:t>
            </a:r>
            <a:r>
              <a:rPr lang="en-US" sz="1200" kern="1200" dirty="0" smtClean="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smtClean="0">
                <a:solidFill>
                  <a:schemeClr val="tx1"/>
                </a:solidFill>
                <a:effectLst/>
                <a:latin typeface="+mn-lt"/>
                <a:ea typeface="+mn-ea"/>
                <a:cs typeface="+mn-cs"/>
              </a:rPr>
              <a:t>uz</a:t>
            </a:r>
            <a:r>
              <a:rPr lang="en-US" sz="1200" b="1" i="1"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is the vertical unit vector.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32</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Is this class</a:t>
            </a:r>
            <a:r>
              <a:rPr lang="en-US" baseline="0" dirty="0" smtClean="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37</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38</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39</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44</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45</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48</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49</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52</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53</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54</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55</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56</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57</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58</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59</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60</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61</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62</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63</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64</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66</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67</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68</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69</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71</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72</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73</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74</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75</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80</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F4CE236-F476-7D45-A04C-BCA8DF3CE6EA}"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43091C7-3FB2-4A45-A50D-CFD735226A6E}" type="datetime1">
              <a:rPr lang="en-US" smtClean="0"/>
              <a:pPr/>
              <a:t>19/01/18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A470369-F10D-D240-AC49-5A4BBB2B8696}" type="datetime1">
              <a:rPr lang="en-US" smtClean="0"/>
              <a:pPr/>
              <a:t>19/01/18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1762EE7-3E26-8344-9AFB-A62088F617B5}" type="datetime1">
              <a:rPr lang="en-US" smtClean="0"/>
              <a:pPr/>
              <a:t>19/01/18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19/01/18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19/01/18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19/01/18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A7FA85F-2E60-0949-952F-74F57104584F}"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0685D27-41E8-0044-B40C-AFB14955B22D}"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Text Placeholder 2"/>
          <p:cNvSpPr>
            <a:spLocks noGrp="1"/>
          </p:cNvSpPr>
          <p:nvPr>
            <p:ph type="body" sz="half" idx="1"/>
          </p:nvPr>
        </p:nvSpPr>
        <p:spPr>
          <a:xfrm>
            <a:off x="441325" y="1085850"/>
            <a:ext cx="4078288" cy="499586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19/01/18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SmartArt Placeholder 2"/>
          <p:cNvSpPr>
            <a:spLocks noGrp="1"/>
          </p:cNvSpPr>
          <p:nvPr>
            <p:ph type="dgm" idx="1"/>
          </p:nvPr>
        </p:nvSpPr>
        <p:spPr>
          <a:xfrm>
            <a:off x="441325" y="1085850"/>
            <a:ext cx="8308975" cy="4995863"/>
          </a:xfrm>
        </p:spPr>
        <p:txBody>
          <a:bodyPr/>
          <a:lstStyle/>
          <a:p>
            <a:pPr lvl="0"/>
            <a:endParaRPr lang="en-US" noProof="0" smtClean="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19/01/18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smtClean="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4" Type="http://schemas.openxmlformats.org/officeDocument/2006/relationships/image" Target="../media/image4.emf"/><Relationship Id="rId5" Type="http://schemas.openxmlformats.org/officeDocument/2006/relationships/image" Target="../media/image5.emf"/><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oleObject" Target="../embeddings/oleObject2.bin"/><Relationship Id="rId6" Type="http://schemas.openxmlformats.org/officeDocument/2006/relationships/image" Target="../media/image7.emf"/><Relationship Id="rId1" Type="http://schemas.openxmlformats.org/officeDocument/2006/relationships/vmlDrawing" Target="../drawings/vmlDrawing1.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3.bin"/><Relationship Id="rId4" Type="http://schemas.openxmlformats.org/officeDocument/2006/relationships/image" Target="../media/image8.emf"/><Relationship Id="rId5" Type="http://schemas.openxmlformats.org/officeDocument/2006/relationships/oleObject" Target="../embeddings/oleObject4.bin"/><Relationship Id="rId6" Type="http://schemas.openxmlformats.org/officeDocument/2006/relationships/image" Target="../media/image9.emf"/><Relationship Id="rId1" Type="http://schemas.openxmlformats.org/officeDocument/2006/relationships/vmlDrawing" Target="../drawings/vmlDrawing2.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emf"/><Relationship Id="rId3" Type="http://schemas.openxmlformats.org/officeDocument/2006/relationships/image" Target="../media/image1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emf"/><Relationship Id="rId4" Type="http://schemas.openxmlformats.org/officeDocument/2006/relationships/image" Target="../media/image19.emf"/><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14.xml"/><Relationship Id="rId4" Type="http://schemas.openxmlformats.org/officeDocument/2006/relationships/oleObject" Target="../embeddings/oleObject5.bin"/><Relationship Id="rId5" Type="http://schemas.openxmlformats.org/officeDocument/2006/relationships/image" Target="../media/image20.wmf"/><Relationship Id="rId1" Type="http://schemas.openxmlformats.org/officeDocument/2006/relationships/vmlDrawing" Target="../drawings/vmlDrawing3.vml"/><Relationship Id="rId2"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6.bin"/><Relationship Id="rId5" Type="http://schemas.openxmlformats.org/officeDocument/2006/relationships/image" Target="../media/image23.emf"/><Relationship Id="rId6" Type="http://schemas.openxmlformats.org/officeDocument/2006/relationships/oleObject" Target="../embeddings/oleObject7.bin"/><Relationship Id="rId7" Type="http://schemas.openxmlformats.org/officeDocument/2006/relationships/image" Target="../media/image24.emf"/><Relationship Id="rId8" Type="http://schemas.openxmlformats.org/officeDocument/2006/relationships/oleObject" Target="../embeddings/oleObject8.bin"/><Relationship Id="rId9" Type="http://schemas.openxmlformats.org/officeDocument/2006/relationships/image" Target="../media/image25.wmf"/><Relationship Id="rId10" Type="http://schemas.openxmlformats.org/officeDocument/2006/relationships/oleObject" Target="../embeddings/oleObject9.bin"/><Relationship Id="rId11" Type="http://schemas.openxmlformats.org/officeDocument/2006/relationships/image" Target="../media/image26.emf"/><Relationship Id="rId1" Type="http://schemas.openxmlformats.org/officeDocument/2006/relationships/vmlDrawing" Target="../drawings/vmlDrawing4.vml"/><Relationship Id="rId2"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20.xml"/><Relationship Id="rId4" Type="http://schemas.openxmlformats.org/officeDocument/2006/relationships/oleObject" Target="../embeddings/oleObject10.bin"/><Relationship Id="rId5" Type="http://schemas.openxmlformats.org/officeDocument/2006/relationships/image" Target="../media/image27.wmf"/><Relationship Id="rId1" Type="http://schemas.openxmlformats.org/officeDocument/2006/relationships/vmlDrawing" Target="../drawings/vmlDrawing5.vml"/><Relationship Id="rId2"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21.xml"/><Relationship Id="rId4" Type="http://schemas.openxmlformats.org/officeDocument/2006/relationships/oleObject" Target="../embeddings/oleObject11.bin"/><Relationship Id="rId5" Type="http://schemas.openxmlformats.org/officeDocument/2006/relationships/image" Target="../media/image28.w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2.bin"/><Relationship Id="rId5" Type="http://schemas.openxmlformats.org/officeDocument/2006/relationships/image" Target="../media/image29.wmf"/><Relationship Id="rId6" Type="http://schemas.openxmlformats.org/officeDocument/2006/relationships/oleObject" Target="../embeddings/oleObject13.bin"/><Relationship Id="rId7" Type="http://schemas.openxmlformats.org/officeDocument/2006/relationships/image" Target="../media/image30.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4.bin"/><Relationship Id="rId5" Type="http://schemas.openxmlformats.org/officeDocument/2006/relationships/image" Target="../media/image31.emf"/><Relationship Id="rId6" Type="http://schemas.openxmlformats.org/officeDocument/2006/relationships/oleObject" Target="../embeddings/oleObject15.bin"/><Relationship Id="rId7" Type="http://schemas.openxmlformats.org/officeDocument/2006/relationships/image" Target="../media/image32.emf"/><Relationship Id="rId8" Type="http://schemas.openxmlformats.org/officeDocument/2006/relationships/oleObject" Target="../embeddings/oleObject16.bin"/><Relationship Id="rId9" Type="http://schemas.openxmlformats.org/officeDocument/2006/relationships/image" Target="../media/image33.emf"/><Relationship Id="rId10" Type="http://schemas.openxmlformats.org/officeDocument/2006/relationships/oleObject" Target="../embeddings/oleObject17.bin"/><Relationship Id="rId11" Type="http://schemas.openxmlformats.org/officeDocument/2006/relationships/image" Target="../media/image34.wmf"/><Relationship Id="rId1" Type="http://schemas.openxmlformats.org/officeDocument/2006/relationships/vmlDrawing" Target="../drawings/vmlDrawing8.vml"/><Relationship Id="rId2"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18.bin"/><Relationship Id="rId5" Type="http://schemas.openxmlformats.org/officeDocument/2006/relationships/image" Target="../media/image35.wmf"/><Relationship Id="rId1" Type="http://schemas.openxmlformats.org/officeDocument/2006/relationships/vmlDrawing" Target="../drawings/vmlDrawing9.vml"/><Relationship Id="rId2"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19.bin"/><Relationship Id="rId5" Type="http://schemas.openxmlformats.org/officeDocument/2006/relationships/image" Target="../media/image36.wmf"/><Relationship Id="rId1" Type="http://schemas.openxmlformats.org/officeDocument/2006/relationships/vmlDrawing" Target="../drawings/vmlDrawing10.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0.bin"/><Relationship Id="rId5" Type="http://schemas.openxmlformats.org/officeDocument/2006/relationships/image" Target="../media/image37.wmf"/><Relationship Id="rId1" Type="http://schemas.openxmlformats.org/officeDocument/2006/relationships/vmlDrawing" Target="../drawings/vmlDrawing11.vml"/><Relationship Id="rId2"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1.bin"/><Relationship Id="rId5" Type="http://schemas.openxmlformats.org/officeDocument/2006/relationships/image" Target="../media/image38.wmf"/><Relationship Id="rId1" Type="http://schemas.openxmlformats.org/officeDocument/2006/relationships/vmlDrawing" Target="../drawings/vmlDrawing12.vml"/><Relationship Id="rId2"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2.bin"/><Relationship Id="rId5" Type="http://schemas.openxmlformats.org/officeDocument/2006/relationships/image" Target="../media/image39.wmf"/><Relationship Id="rId6" Type="http://schemas.openxmlformats.org/officeDocument/2006/relationships/oleObject" Target="../embeddings/oleObject23.bin"/><Relationship Id="rId7" Type="http://schemas.openxmlformats.org/officeDocument/2006/relationships/image" Target="../media/image40.wmf"/><Relationship Id="rId8" Type="http://schemas.openxmlformats.org/officeDocument/2006/relationships/oleObject" Target="../embeddings/oleObject24.bin"/><Relationship Id="rId9" Type="http://schemas.openxmlformats.org/officeDocument/2006/relationships/image" Target="../media/image41.wmf"/><Relationship Id="rId10" Type="http://schemas.openxmlformats.org/officeDocument/2006/relationships/image" Target="../media/image42.emf"/><Relationship Id="rId1" Type="http://schemas.openxmlformats.org/officeDocument/2006/relationships/vmlDrawing" Target="../drawings/vmlDrawing13.vml"/><Relationship Id="rId2"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5.bin"/><Relationship Id="rId5" Type="http://schemas.openxmlformats.org/officeDocument/2006/relationships/image" Target="../media/image43.wmf"/><Relationship Id="rId6" Type="http://schemas.openxmlformats.org/officeDocument/2006/relationships/oleObject" Target="../embeddings/oleObject26.bin"/><Relationship Id="rId7" Type="http://schemas.openxmlformats.org/officeDocument/2006/relationships/image" Target="../media/image44.wmf"/><Relationship Id="rId1" Type="http://schemas.openxmlformats.org/officeDocument/2006/relationships/vmlDrawing" Target="../drawings/vmlDrawing14.vml"/><Relationship Id="rId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27.bin"/><Relationship Id="rId5" Type="http://schemas.openxmlformats.org/officeDocument/2006/relationships/image" Target="../media/image45.wmf"/><Relationship Id="rId6" Type="http://schemas.openxmlformats.org/officeDocument/2006/relationships/image" Target="../media/image46.jpeg"/><Relationship Id="rId1" Type="http://schemas.openxmlformats.org/officeDocument/2006/relationships/vmlDrawing" Target="../drawings/vmlDrawing15.vml"/><Relationship Id="rId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28.bin"/><Relationship Id="rId5" Type="http://schemas.openxmlformats.org/officeDocument/2006/relationships/image" Target="../media/image47.wmf"/><Relationship Id="rId6" Type="http://schemas.openxmlformats.org/officeDocument/2006/relationships/oleObject" Target="../embeddings/oleObject29.bin"/><Relationship Id="rId7" Type="http://schemas.openxmlformats.org/officeDocument/2006/relationships/image" Target="../media/image48.wmf"/><Relationship Id="rId8" Type="http://schemas.openxmlformats.org/officeDocument/2006/relationships/oleObject" Target="../embeddings/oleObject30.bin"/><Relationship Id="rId9" Type="http://schemas.openxmlformats.org/officeDocument/2006/relationships/image" Target="../media/image49.wmf"/><Relationship Id="rId1" Type="http://schemas.openxmlformats.org/officeDocument/2006/relationships/vmlDrawing" Target="../drawings/vmlDrawing16.vml"/><Relationship Id="rId2"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1.bin"/><Relationship Id="rId5" Type="http://schemas.openxmlformats.org/officeDocument/2006/relationships/image" Target="../media/image50.wmf"/><Relationship Id="rId1" Type="http://schemas.openxmlformats.org/officeDocument/2006/relationships/vmlDrawing" Target="../drawings/vmlDrawing17.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51.png"/></Relationships>
</file>

<file path=ppt/slides/_rels/slide68.xml.rels><?xml version="1.0" encoding="UTF-8" standalone="yes"?>
<Relationships xmlns="http://schemas.openxmlformats.org/package/2006/relationships"><Relationship Id="rId3" Type="http://schemas.openxmlformats.org/officeDocument/2006/relationships/image" Target="../media/image52.jpeg"/><Relationship Id="rId4" Type="http://schemas.openxmlformats.org/officeDocument/2006/relationships/image" Target="../media/image53.jpeg"/><Relationship Id="rId5" Type="http://schemas.openxmlformats.org/officeDocument/2006/relationships/image" Target="../media/image54.png"/><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jpg"/></Relationships>
</file>

<file path=ppt/slides/_rels/slide79.xml.rels><?xml version="1.0" encoding="UTF-8" standalone="yes"?>
<Relationships xmlns="http://schemas.openxmlformats.org/package/2006/relationships"><Relationship Id="rId3" Type="http://schemas.openxmlformats.org/officeDocument/2006/relationships/image" Target="../media/image57.png"/><Relationship Id="rId4" Type="http://schemas.openxmlformats.org/officeDocument/2006/relationships/oleObject" Target="../embeddings/oleObject32.bin"/><Relationship Id="rId5" Type="http://schemas.openxmlformats.org/officeDocument/2006/relationships/image" Target="../media/image56.wmf"/><Relationship Id="rId1" Type="http://schemas.openxmlformats.org/officeDocument/2006/relationships/vmlDrawing" Target="../drawings/vmlDrawing18.vml"/><Relationship Id="rId2"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wmf"/><Relationship Id="rId6" Type="http://schemas.openxmlformats.org/officeDocument/2006/relationships/image" Target="../media/image61.wmf"/><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33.bin"/><Relationship Id="rId4" Type="http://schemas.openxmlformats.org/officeDocument/2006/relationships/image" Target="../media/image62.wmf"/><Relationship Id="rId1" Type="http://schemas.openxmlformats.org/officeDocument/2006/relationships/vmlDrawing" Target="../drawings/vmlDrawing19.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smtClean="0"/>
              <a:t>The Complex Systems </a:t>
            </a:r>
            <a:r>
              <a:rPr lang="en-US" sz="4400" dirty="0" err="1" smtClean="0"/>
              <a:t>Modelling</a:t>
            </a:r>
            <a:r>
              <a:rPr lang="en-US" sz="4400" dirty="0" smtClean="0"/>
              <a:t> Platform </a:t>
            </a:r>
            <a:br>
              <a:rPr lang="en-US" sz="4400" dirty="0" smtClean="0"/>
            </a:br>
            <a:r>
              <a:rPr lang="en-US" sz="4400" dirty="0" smtClean="0"/>
              <a:t>(CSMP++ )</a:t>
            </a:r>
            <a:endParaRPr lang="en-US" sz="4400" dirty="0"/>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smtClean="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19/01/18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smtClean="0">
                <a:solidFill>
                  <a:schemeClr val="bg1"/>
                </a:solidFill>
                <a:latin typeface="Arial"/>
                <a:cs typeface="Arial"/>
              </a:rPr>
              <a:t>by Stephan K. Matthai</a:t>
            </a:r>
            <a:endParaRPr lang="en-US" sz="2000" dirty="0">
              <a:solidFill>
                <a:schemeClr val="bg1"/>
              </a:solidFill>
              <a:latin typeface="Arial"/>
              <a:cs typeface="Arial"/>
            </a:endParaRPr>
          </a:p>
        </p:txBody>
      </p:sp>
    </p:spTree>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smtClean="0"/>
              <a:t>Element / </a:t>
            </a:r>
            <a:r>
              <a:rPr lang="en-US" dirty="0"/>
              <a:t>Face / </a:t>
            </a:r>
            <a:r>
              <a:rPr lang="en-US" dirty="0" smtClean="0"/>
              <a:t>Interface policy: </a:t>
            </a:r>
            <a:r>
              <a:rPr lang="en-US" b="1" dirty="0" err="1" smtClean="0"/>
              <a:t>FiniteVolumePolicy</a:t>
            </a:r>
            <a:r>
              <a:rPr lang="en-US" dirty="0" smtClean="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smtClean="0">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 class</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339907326"/>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 design considerations</a:t>
            </a:r>
            <a:endParaRPr lang="en-US" dirty="0"/>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a:t>
            </a:r>
            <a:r>
              <a:rPr lang="en-US" sz="1600" dirty="0" smtClean="0"/>
              <a:t>ransport scheme has two parts:</a:t>
            </a:r>
            <a:endParaRPr lang="en-US" sz="1600" b="1" dirty="0" smtClean="0"/>
          </a:p>
          <a:p>
            <a:pPr marL="800100" lvl="1" indent="-342900">
              <a:buFont typeface="+mj-lt"/>
              <a:buAutoNum type="arabicPeriod"/>
            </a:pPr>
            <a:r>
              <a:rPr lang="en-US" sz="1600" b="1" dirty="0" smtClean="0"/>
              <a:t>manages the transport of a single phase</a:t>
            </a:r>
            <a:r>
              <a:rPr lang="en-US" sz="1600" dirty="0" smtClean="0"/>
              <a:t> including its components and the physics of advection, diffusion, mechanical dispersion and reaction (sorption, decay and chemical reactions), and </a:t>
            </a:r>
            <a:endParaRPr lang="en-US" sz="1600" b="1" dirty="0" smtClean="0"/>
          </a:p>
          <a:p>
            <a:pPr marL="800100" lvl="1" indent="-342900">
              <a:buFont typeface="+mj-lt"/>
              <a:buAutoNum type="arabicPeriod"/>
            </a:pPr>
            <a:r>
              <a:rPr lang="en-US" sz="1600" b="1" dirty="0" smtClean="0"/>
              <a:t>manages </a:t>
            </a:r>
            <a:r>
              <a:rPr lang="en-US" sz="1600" b="1" dirty="0"/>
              <a:t>the </a:t>
            </a:r>
            <a:r>
              <a:rPr lang="en-US" sz="1600" b="1" dirty="0" smtClean="0"/>
              <a:t>multiplicity of phases</a:t>
            </a:r>
          </a:p>
          <a:p>
            <a:r>
              <a:rPr lang="en-US" sz="1600" dirty="0" smtClean="0"/>
              <a:t>All computations are done in parametric space; tensor permeability is considered</a:t>
            </a:r>
          </a:p>
          <a:p>
            <a:r>
              <a:rPr lang="en-US" sz="1600" dirty="0" smtClean="0"/>
              <a:t>Transfer among phases is accomplished by EOS objects</a:t>
            </a:r>
          </a:p>
          <a:p>
            <a:r>
              <a:rPr lang="en-US" sz="1600" dirty="0" smtClean="0"/>
              <a:t>Rather than having variable storage in the transport schemes classes, all variables are stored as integration point properties inside the </a:t>
            </a:r>
            <a:r>
              <a:rPr lang="en-US" sz="1600" b="1" dirty="0" err="1" smtClean="0"/>
              <a:t>LocalVariableStorage</a:t>
            </a:r>
            <a:r>
              <a:rPr lang="en-US" sz="1600" b="1" dirty="0" smtClean="0"/>
              <a:t> </a:t>
            </a:r>
            <a:r>
              <a:rPr lang="en-US" sz="1600" dirty="0" smtClean="0"/>
              <a:t>class</a:t>
            </a:r>
          </a:p>
          <a:p>
            <a:r>
              <a:rPr lang="en-US" sz="1600" dirty="0" smtClean="0"/>
              <a:t>Multi-species or component transport relies on </a:t>
            </a:r>
            <a:r>
              <a:rPr lang="en-US" sz="1600" b="1" dirty="0" err="1" smtClean="0"/>
              <a:t>ArrayVariable</a:t>
            </a:r>
            <a:r>
              <a:rPr lang="en-US" sz="1600" dirty="0" smtClean="0"/>
              <a:t> objects that encapsulate entire chemical systems; array elements are labeled by </a:t>
            </a:r>
            <a:r>
              <a:rPr lang="en-US" sz="1600" dirty="0" err="1" smtClean="0"/>
              <a:t>enums</a:t>
            </a:r>
            <a:r>
              <a:rPr lang="en-US" sz="1600" dirty="0" smtClean="0"/>
              <a:t>.</a:t>
            </a:r>
          </a:p>
          <a:p>
            <a:pPr marL="0" indent="0">
              <a:buNone/>
            </a:pPr>
            <a:r>
              <a:rPr lang="en-US" sz="1600" b="1" dirty="0" smtClean="0"/>
              <a:t>Conditions / limitations</a:t>
            </a:r>
          </a:p>
          <a:p>
            <a:r>
              <a:rPr lang="en-US" sz="1600" dirty="0" smtClean="0"/>
              <a:t>Needs flexibility to define a chemical system during a running simulation</a:t>
            </a:r>
          </a:p>
          <a:p>
            <a:r>
              <a:rPr lang="en-US" sz="1600" dirty="0" smtClean="0"/>
              <a:t>Diffusion may need to consider species, advection may not have to</a:t>
            </a:r>
          </a:p>
          <a:p>
            <a:r>
              <a:rPr lang="en-US" sz="1600" dirty="0" smtClean="0"/>
              <a:t>Saturation functions must be redesigned</a:t>
            </a:r>
          </a:p>
          <a:p>
            <a:r>
              <a:rPr lang="en-US" sz="1600" dirty="0" smtClean="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4</a:t>
            </a:fld>
            <a:endParaRPr lang="de-CH"/>
          </a:p>
        </p:txBody>
      </p:sp>
    </p:spTree>
    <p:extLst>
      <p:ext uri="{BB962C8B-B14F-4D97-AF65-F5344CB8AC3E}">
        <p14:creationId xmlns:p14="http://schemas.microsoft.com/office/powerpoint/2010/main" val="1361463273"/>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 1 </a:t>
            </a:r>
          </a:p>
          <a:p>
            <a:pPr marL="285750" indent="-285750">
              <a:spcBef>
                <a:spcPts val="300"/>
              </a:spcBef>
              <a:spcAft>
                <a:spcPts val="200"/>
              </a:spcAft>
              <a:buFontTx/>
              <a:buChar char="-"/>
            </a:pPr>
            <a:r>
              <a:rPr lang="en-US" sz="1600" dirty="0" smtClean="0">
                <a:latin typeface="Arial"/>
                <a:cs typeface="Arial"/>
              </a:rPr>
              <a:t>Calculating and updating (if geometry and-or pore volume changes):</a:t>
            </a:r>
            <a:r>
              <a:rPr lang="en-US" sz="1600" dirty="0">
                <a:latin typeface="Arial"/>
                <a:cs typeface="Arial"/>
              </a:rPr>
              <a:t> </a:t>
            </a:r>
            <a:r>
              <a:rPr lang="en-US" sz="1600" dirty="0" smtClean="0">
                <a:latin typeface="Arial"/>
                <a:cs typeface="Arial"/>
              </a:rPr>
              <a:t>sector (pore) volume, facet area, and normal</a:t>
            </a:r>
          </a:p>
          <a:p>
            <a:pPr marL="285750" indent="-285750">
              <a:spcBef>
                <a:spcPts val="300"/>
              </a:spcBef>
              <a:spcAft>
                <a:spcPts val="200"/>
              </a:spcAft>
              <a:buFontTx/>
              <a:buChar char="-"/>
            </a:pPr>
            <a:r>
              <a:rPr lang="en-US" sz="1600" dirty="0" smtClean="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smtClean="0">
                <a:latin typeface="Arial"/>
                <a:cs typeface="Arial"/>
              </a:rPr>
              <a:t>Node-to-node connectivity graph for upstream </a:t>
            </a:r>
            <a:r>
              <a:rPr lang="en-US" sz="1600" dirty="0" err="1" smtClean="0">
                <a:latin typeface="Arial"/>
                <a:cs typeface="Arial"/>
              </a:rPr>
              <a:t>extrema</a:t>
            </a:r>
            <a:r>
              <a:rPr lang="en-US" sz="1600" dirty="0" smtClean="0">
                <a:latin typeface="Arial"/>
                <a:cs typeface="Arial"/>
              </a:rPr>
              <a:t> calculations</a:t>
            </a:r>
          </a:p>
          <a:p>
            <a:pPr marL="285750" indent="-285750">
              <a:spcBef>
                <a:spcPts val="300"/>
              </a:spcBef>
              <a:spcAft>
                <a:spcPts val="200"/>
              </a:spcAft>
              <a:buFontTx/>
              <a:buChar char="-"/>
            </a:pPr>
            <a:r>
              <a:rPr lang="en-US" sz="1600" dirty="0" smtClean="0">
                <a:latin typeface="Arial"/>
                <a:cs typeface="Arial"/>
              </a:rPr>
              <a:t>Projections – finite volume auxiliary functions</a:t>
            </a:r>
          </a:p>
          <a:p>
            <a:pPr marL="285750" indent="-285750">
              <a:spcBef>
                <a:spcPts val="300"/>
              </a:spcBef>
              <a:spcAft>
                <a:spcPts val="200"/>
              </a:spcAft>
              <a:buFontTx/>
              <a:buChar char="-"/>
            </a:pPr>
            <a:r>
              <a:rPr lang="en-US" sz="1600" dirty="0" smtClean="0">
                <a:latin typeface="Arial"/>
                <a:cs typeface="Arial"/>
              </a:rPr>
              <a:t>Compute and </a:t>
            </a:r>
            <a:r>
              <a:rPr lang="en-US" sz="1600" dirty="0">
                <a:latin typeface="Arial"/>
                <a:cs typeface="Arial"/>
              </a:rPr>
              <a:t>store facet fluxes</a:t>
            </a:r>
          </a:p>
          <a:p>
            <a:pPr marL="285750" indent="-285750">
              <a:spcBef>
                <a:spcPts val="300"/>
              </a:spcBef>
              <a:spcAft>
                <a:spcPts val="200"/>
              </a:spcAft>
              <a:buFontTx/>
              <a:buChar char="-"/>
            </a:pPr>
            <a:r>
              <a:rPr lang="en-US" sz="1600" dirty="0" smtClean="0">
                <a:latin typeface="Arial"/>
                <a:cs typeface="Arial"/>
              </a:rPr>
              <a:t>Calculate </a:t>
            </a:r>
            <a:r>
              <a:rPr lang="en-US" sz="1600" dirty="0">
                <a:latin typeface="Arial"/>
                <a:cs typeface="Arial"/>
              </a:rPr>
              <a:t>CFL</a:t>
            </a:r>
          </a:p>
          <a:p>
            <a:pPr marL="285750" indent="-285750">
              <a:spcBef>
                <a:spcPts val="300"/>
              </a:spcBef>
              <a:spcAft>
                <a:spcPts val="200"/>
              </a:spcAft>
              <a:buFontTx/>
              <a:buChar char="-"/>
            </a:pPr>
            <a:r>
              <a:rPr lang="en-US" sz="1600" dirty="0" smtClean="0">
                <a:latin typeface="Arial"/>
                <a:cs typeface="Arial"/>
              </a:rPr>
              <a:t>Range </a:t>
            </a:r>
            <a:r>
              <a:rPr lang="en-US" sz="1600" dirty="0">
                <a:latin typeface="Arial"/>
                <a:cs typeface="Arial"/>
              </a:rPr>
              <a:t>checking of </a:t>
            </a:r>
            <a:r>
              <a:rPr lang="en-US" sz="1600" dirty="0" smtClean="0">
                <a:latin typeface="Arial"/>
                <a:cs typeface="Arial"/>
              </a:rPr>
              <a:t>inputs (range of applicability) and outputs</a:t>
            </a:r>
            <a:endParaRPr lang="en-US" sz="1600" dirty="0">
              <a:latin typeface="Arial"/>
              <a:cs typeface="Arial"/>
            </a:endParaRPr>
          </a:p>
          <a:p>
            <a:pPr marL="285750" indent="-285750">
              <a:spcBef>
                <a:spcPts val="300"/>
              </a:spcBef>
              <a:spcAft>
                <a:spcPts val="200"/>
              </a:spcAft>
              <a:buFontTx/>
              <a:buChar char="-"/>
            </a:pPr>
            <a:r>
              <a:rPr lang="en-US" sz="1600" dirty="0" smtClean="0">
                <a:latin typeface="Arial"/>
                <a:cs typeface="Arial"/>
              </a:rPr>
              <a:t>Mass balance calculations / mass based transport</a:t>
            </a:r>
          </a:p>
          <a:p>
            <a:pPr marL="285750" indent="-285750">
              <a:spcBef>
                <a:spcPts val="300"/>
              </a:spcBef>
              <a:spcAft>
                <a:spcPts val="200"/>
              </a:spcAft>
              <a:buFontTx/>
              <a:buChar char="-"/>
            </a:pPr>
            <a:r>
              <a:rPr lang="en-US" sz="1600" dirty="0" smtClean="0">
                <a:latin typeface="Arial"/>
                <a:cs typeface="Arial"/>
              </a:rPr>
              <a:t>Accumulation of fluxes</a:t>
            </a:r>
          </a:p>
          <a:p>
            <a:pPr marL="285750" indent="-285750">
              <a:spcBef>
                <a:spcPts val="300"/>
              </a:spcBef>
              <a:spcAft>
                <a:spcPts val="200"/>
              </a:spcAft>
              <a:buFontTx/>
              <a:buChar char="-"/>
            </a:pPr>
            <a:r>
              <a:rPr lang="en-US" sz="1600" dirty="0" smtClean="0">
                <a:latin typeface="Arial"/>
                <a:cs typeface="Arial"/>
              </a:rPr>
              <a:t>Time-discretization (implicit, explicit, first/second order)</a:t>
            </a:r>
          </a:p>
          <a:p>
            <a:pPr marL="285750" indent="-285750">
              <a:spcBef>
                <a:spcPts val="300"/>
              </a:spcBef>
              <a:spcAft>
                <a:spcPts val="200"/>
              </a:spcAft>
              <a:buFontTx/>
              <a:buChar char="-"/>
            </a:pPr>
            <a:r>
              <a:rPr lang="en-US" sz="1600" dirty="0" smtClean="0">
                <a:latin typeface="Arial"/>
                <a:cs typeface="Arial"/>
              </a:rPr>
              <a:t>Iterations in nonlinear schemes (e.g. Newton)</a:t>
            </a:r>
          </a:p>
          <a:p>
            <a:pPr marL="285750" indent="-285750">
              <a:spcBef>
                <a:spcPts val="300"/>
              </a:spcBef>
              <a:spcAft>
                <a:spcPts val="200"/>
              </a:spcAft>
              <a:buFontTx/>
              <a:buChar char="-"/>
            </a:pPr>
            <a:r>
              <a:rPr lang="en-US" sz="1600" dirty="0" smtClean="0">
                <a:latin typeface="Arial"/>
                <a:cs typeface="Arial"/>
              </a:rPr>
              <a:t>Higher-order in space</a:t>
            </a:r>
          </a:p>
          <a:p>
            <a:pPr marL="285750" indent="-285750">
              <a:spcBef>
                <a:spcPts val="300"/>
              </a:spcBef>
              <a:spcAft>
                <a:spcPts val="200"/>
              </a:spcAft>
              <a:buFontTx/>
              <a:buChar char="-"/>
            </a:pPr>
            <a:r>
              <a:rPr lang="en-US" sz="1600" dirty="0" smtClean="0">
                <a:latin typeface="Arial"/>
                <a:cs typeface="Arial"/>
              </a:rPr>
              <a:t>Limiting</a:t>
            </a:r>
          </a:p>
          <a:p>
            <a:pPr marL="285750" indent="-285750">
              <a:spcBef>
                <a:spcPts val="300"/>
              </a:spcBef>
              <a:spcAft>
                <a:spcPts val="200"/>
              </a:spcAft>
              <a:buFontTx/>
              <a:buChar char="-"/>
            </a:pPr>
            <a:r>
              <a:rPr lang="en-US" sz="1600" dirty="0" smtClean="0">
                <a:latin typeface="Arial"/>
                <a:cs typeface="Arial"/>
              </a:rPr>
              <a:t>Additional physics/chemistry</a:t>
            </a:r>
          </a:p>
          <a:p>
            <a:pPr marL="285750" indent="-285750">
              <a:spcBef>
                <a:spcPts val="300"/>
              </a:spcBef>
              <a:spcAft>
                <a:spcPts val="200"/>
              </a:spcAft>
              <a:buFontTx/>
              <a:buChar char="-"/>
            </a:pPr>
            <a:r>
              <a:rPr lang="en-US" sz="1600" dirty="0" smtClean="0">
                <a:latin typeface="Arial"/>
                <a:cs typeface="Arial"/>
              </a:rPr>
              <a:t>Boundary conditions and flux balances</a:t>
            </a: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5</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a:t>
            </a:r>
            <a:r>
              <a:rPr lang="en-US" b="1" dirty="0">
                <a:latin typeface="Arial"/>
                <a:cs typeface="Arial"/>
              </a:rPr>
              <a:t> </a:t>
            </a:r>
            <a:r>
              <a:rPr lang="en-US" b="1" dirty="0" smtClean="0">
                <a:latin typeface="Arial"/>
                <a:cs typeface="Arial"/>
              </a:rPr>
              <a:t>2</a:t>
            </a:r>
          </a:p>
          <a:p>
            <a:pPr marL="285750" indent="-285750">
              <a:spcBef>
                <a:spcPts val="300"/>
              </a:spcBef>
              <a:spcAft>
                <a:spcPts val="200"/>
              </a:spcAft>
              <a:buFontTx/>
              <a:buChar char="-"/>
            </a:pPr>
            <a:r>
              <a:rPr lang="en-US" sz="1600" dirty="0" smtClean="0">
                <a:latin typeface="Arial"/>
                <a:cs typeface="Arial"/>
              </a:rPr>
              <a:t>Calculate min/max for </a:t>
            </a:r>
            <a:r>
              <a:rPr lang="en-US" sz="1600" dirty="0">
                <a:latin typeface="Arial"/>
                <a:cs typeface="Arial"/>
              </a:rPr>
              <a:t>upstream </a:t>
            </a:r>
            <a:r>
              <a:rPr lang="en-US" sz="1600" dirty="0" smtClean="0">
                <a:latin typeface="Arial"/>
                <a:cs typeface="Arial"/>
              </a:rPr>
              <a:t>nodes</a:t>
            </a:r>
          </a:p>
          <a:p>
            <a:pPr marL="285750" indent="-285750">
              <a:spcBef>
                <a:spcPts val="300"/>
              </a:spcBef>
              <a:spcAft>
                <a:spcPts val="200"/>
              </a:spcAft>
              <a:buFontTx/>
              <a:buChar char="-"/>
            </a:pPr>
            <a:r>
              <a:rPr lang="en-US" sz="1600" dirty="0" smtClean="0">
                <a:latin typeface="Arial"/>
                <a:cs typeface="Arial"/>
              </a:rPr>
              <a:t>Scaling of </a:t>
            </a:r>
            <a:r>
              <a:rPr lang="en-US" sz="1600" i="1" dirty="0" smtClean="0">
                <a:latin typeface="Arial"/>
                <a:cs typeface="Arial"/>
              </a:rPr>
              <a:t>n</a:t>
            </a:r>
            <a:r>
              <a:rPr lang="en-US" sz="1600" dirty="0" smtClean="0">
                <a:latin typeface="Arial"/>
                <a:cs typeface="Arial"/>
              </a:rPr>
              <a:t> </a:t>
            </a:r>
            <a:r>
              <a:rPr lang="en-US" sz="1600" dirty="0">
                <a:latin typeface="Arial"/>
                <a:cs typeface="Arial"/>
              </a:rPr>
              <a:t>and </a:t>
            </a:r>
            <a:r>
              <a:rPr lang="en-US" sz="1600" i="1" dirty="0" smtClean="0">
                <a:latin typeface="Arial"/>
                <a:cs typeface="Arial"/>
              </a:rPr>
              <a:t>m</a:t>
            </a:r>
            <a:r>
              <a:rPr lang="en-US" sz="1600" dirty="0" smtClean="0">
                <a:latin typeface="Arial"/>
                <a:cs typeface="Arial"/>
              </a:rPr>
              <a:t> in matrix equation dependent on number of components used</a:t>
            </a:r>
          </a:p>
          <a:p>
            <a:pPr marL="285750" indent="-285750">
              <a:spcBef>
                <a:spcPts val="300"/>
              </a:spcBef>
              <a:spcAft>
                <a:spcPts val="200"/>
              </a:spcAft>
              <a:buFontTx/>
              <a:buChar char="-"/>
            </a:pPr>
            <a:r>
              <a:rPr lang="en-US" sz="1600" dirty="0" smtClean="0">
                <a:latin typeface="Arial"/>
                <a:cs typeface="Arial"/>
              </a:rPr>
              <a:t>Parametric space computations,</a:t>
            </a:r>
          </a:p>
          <a:p>
            <a:pPr marL="285750" indent="-285750">
              <a:spcBef>
                <a:spcPts val="300"/>
              </a:spcBef>
              <a:spcAft>
                <a:spcPts val="200"/>
              </a:spcAft>
              <a:buFontTx/>
              <a:buChar char="-"/>
            </a:pPr>
            <a:r>
              <a:rPr lang="en-US" sz="1600" dirty="0" smtClean="0">
                <a:latin typeface="Arial"/>
                <a:cs typeface="Arial"/>
              </a:rPr>
              <a:t>Tests of flux balances for poly-element type meshes</a:t>
            </a:r>
          </a:p>
          <a:p>
            <a:pPr marL="285750" indent="-285750">
              <a:spcBef>
                <a:spcPts val="300"/>
              </a:spcBef>
              <a:spcAft>
                <a:spcPts val="200"/>
              </a:spcAft>
              <a:buFontTx/>
              <a:buChar char="-"/>
            </a:pPr>
            <a:r>
              <a:rPr lang="en-US" sz="1600" dirty="0" smtClean="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smtClean="0">
                <a:latin typeface="Arial"/>
                <a:cs typeface="Arial"/>
              </a:rPr>
              <a:t>Bijective</a:t>
            </a:r>
            <a:r>
              <a:rPr lang="en-US" sz="1600" dirty="0" smtClean="0">
                <a:latin typeface="Arial"/>
                <a:cs typeface="Arial"/>
              </a:rPr>
              <a:t> mapping from FV to FEM scheme</a:t>
            </a:r>
            <a:endParaRPr lang="en-US" sz="1600" dirty="0">
              <a:latin typeface="Arial"/>
              <a:cs typeface="Arial"/>
            </a:endParaRPr>
          </a:p>
          <a:p>
            <a:pPr marL="285750" indent="-285750">
              <a:spcBef>
                <a:spcPts val="300"/>
              </a:spcBef>
              <a:spcAft>
                <a:spcPts val="200"/>
              </a:spcAft>
              <a:buFontTx/>
              <a:buChar char="-"/>
            </a:pPr>
            <a:endParaRPr lang="en-US" sz="1600" dirty="0" smtClean="0">
              <a:latin typeface="Arial"/>
              <a:cs typeface="Arial"/>
            </a:endParaRPr>
          </a:p>
        </p:txBody>
      </p:sp>
    </p:spTree>
    <p:extLst>
      <p:ext uri="{BB962C8B-B14F-4D97-AF65-F5344CB8AC3E}">
        <p14:creationId xmlns:p14="http://schemas.microsoft.com/office/powerpoint/2010/main" val="2122840963"/>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Initialisation</a:t>
            </a:r>
            <a:r>
              <a:rPr lang="en-US" dirty="0" smtClean="0"/>
              <a:t> and storage of variables</a:t>
            </a:r>
            <a:endParaRPr lang="en-US" dirty="0"/>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smtClean="0"/>
              <a:t>Utilizing storage at SECTOR and FACET_INTEGRATION_POINT reached from the parent elements</a:t>
            </a:r>
            <a:endParaRPr lang="en-US" sz="1600" dirty="0"/>
          </a:p>
        </p:txBody>
      </p:sp>
      <p:sp>
        <p:nvSpPr>
          <p:cNvPr id="3" name="Date Placeholder 2"/>
          <p:cNvSpPr>
            <a:spLocks noGrp="1"/>
          </p:cNvSpPr>
          <p:nvPr>
            <p:ph type="dt" sz="half" idx="10"/>
          </p:nvPr>
        </p:nvSpPr>
        <p:spPr/>
        <p:txBody>
          <a:bodyPr/>
          <a:lstStyle/>
          <a:p>
            <a:fld id="{C1762EE7-3E26-8344-9AFB-A62088F617B5}" type="datetime1">
              <a:rPr lang="en-US" smtClean="0"/>
              <a:pPr/>
              <a:t>19/01/18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6</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smtClean="0"/>
              <a:t>What happens in an (2</a:t>
            </a:r>
            <a:r>
              <a:rPr lang="en-US" sz="2400" baseline="30000" dirty="0" smtClean="0"/>
              <a:t>nd</a:t>
            </a:r>
            <a:r>
              <a:rPr lang="en-US" sz="2400" dirty="0" smtClean="0"/>
              <a:t>-order) explicit 2-phase flow calculation?</a:t>
            </a:r>
            <a:endParaRPr lang="en-US" sz="2400" dirty="0"/>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smtClean="0"/>
              <a:t>For the transport region, calculate CFL ( / time-stepping criterion) </a:t>
            </a:r>
          </a:p>
          <a:p>
            <a:pPr lvl="1">
              <a:spcBef>
                <a:spcPts val="100"/>
              </a:spcBef>
              <a:spcAft>
                <a:spcPts val="300"/>
              </a:spcAft>
            </a:pPr>
            <a:r>
              <a:rPr lang="en-US" sz="1400" dirty="0"/>
              <a:t>E</a:t>
            </a:r>
            <a:r>
              <a:rPr lang="en-US" sz="1400" dirty="0" smtClean="0"/>
              <a:t>lement-by-element: from phase velocity based on combined viscous-gravitational-capillary phase velocity, but not sources</a:t>
            </a:r>
          </a:p>
          <a:p>
            <a:pPr lvl="1">
              <a:spcBef>
                <a:spcPts val="100"/>
              </a:spcBef>
              <a:spcAft>
                <a:spcPts val="300"/>
              </a:spcAft>
            </a:pPr>
            <a:r>
              <a:rPr lang="en-US" sz="1400" dirty="0" smtClean="0">
                <a:solidFill>
                  <a:srgbClr val="FF0000"/>
                </a:solidFill>
              </a:rPr>
              <a:t>Decision needed: compute only once using shock speed, vs. </a:t>
            </a:r>
            <a:r>
              <a:rPr lang="en-US" sz="1400" dirty="0" err="1" smtClean="0">
                <a:solidFill>
                  <a:srgbClr val="FF0000"/>
                </a:solidFill>
              </a:rPr>
              <a:t>recompute</a:t>
            </a:r>
            <a:r>
              <a:rPr lang="en-US" sz="1400" dirty="0" smtClean="0">
                <a:solidFill>
                  <a:srgbClr val="FF0000"/>
                </a:solidFill>
              </a:rPr>
              <a:t> for each transport increment</a:t>
            </a:r>
            <a:endParaRPr lang="en-US" sz="1400" dirty="0">
              <a:solidFill>
                <a:srgbClr val="FF0000"/>
              </a:solidFill>
            </a:endParaRPr>
          </a:p>
          <a:p>
            <a:pPr marL="0" indent="0">
              <a:buNone/>
            </a:pPr>
            <a:r>
              <a:rPr lang="en-US" sz="1600" b="1" dirty="0" smtClean="0"/>
              <a:t>2. Compute FV centered saturations gradients </a:t>
            </a:r>
            <a:r>
              <a:rPr lang="en-US" sz="1600" b="1" dirty="0" smtClean="0">
                <a:solidFill>
                  <a:schemeClr val="bg1">
                    <a:lumMod val="75000"/>
                  </a:schemeClr>
                </a:solidFill>
              </a:rPr>
              <a:t>using Karen’s method</a:t>
            </a:r>
          </a:p>
          <a:p>
            <a:pPr marL="0" indent="0">
              <a:buNone/>
            </a:pPr>
            <a:r>
              <a:rPr lang="en-US" sz="1600" b="1" dirty="0" smtClean="0"/>
              <a:t>3. For (second order in space), find </a:t>
            </a:r>
            <a:r>
              <a:rPr lang="en-US" sz="1600" b="1" dirty="0" err="1" smtClean="0"/>
              <a:t>smin</a:t>
            </a:r>
            <a:r>
              <a:rPr lang="en-US" sz="1600" b="1" dirty="0" smtClean="0"/>
              <a:t> / </a:t>
            </a:r>
            <a:r>
              <a:rPr lang="en-US" sz="1600" b="1" dirty="0" err="1" smtClean="0"/>
              <a:t>smax</a:t>
            </a:r>
            <a:r>
              <a:rPr lang="en-US" sz="1600" b="1" dirty="0" smtClean="0"/>
              <a:t> upstream of </a:t>
            </a:r>
            <a:r>
              <a:rPr lang="en-US" sz="1600" b="1" dirty="0"/>
              <a:t>each </a:t>
            </a:r>
            <a:r>
              <a:rPr lang="en-US" sz="1600" b="1" dirty="0" smtClean="0"/>
              <a:t>FV facet</a:t>
            </a:r>
            <a:endParaRPr lang="en-US" sz="1600" b="1" dirty="0"/>
          </a:p>
          <a:p>
            <a:pPr marL="0" indent="0">
              <a:buNone/>
            </a:pPr>
            <a:r>
              <a:rPr lang="en-US" sz="1600" dirty="0"/>
              <a:t>	</a:t>
            </a:r>
            <a:r>
              <a:rPr lang="en-US" sz="1400" dirty="0" err="1" smtClean="0"/>
              <a:t>MinMaxAdvectedProperty</a:t>
            </a:r>
            <a:r>
              <a:rPr lang="en-US" sz="1400" dirty="0"/>
              <a:t>()</a:t>
            </a:r>
            <a:r>
              <a:rPr lang="en-US" sz="1400" dirty="0" smtClean="0"/>
              <a:t>;   using node-to-node connectivity</a:t>
            </a:r>
            <a:endParaRPr lang="en-US" sz="1400" dirty="0"/>
          </a:p>
          <a:p>
            <a:pPr marL="0" indent="0">
              <a:spcBef>
                <a:spcPts val="100"/>
              </a:spcBef>
              <a:spcAft>
                <a:spcPts val="300"/>
              </a:spcAft>
              <a:buNone/>
            </a:pPr>
            <a:r>
              <a:rPr lang="en-US" sz="1600" b="1" dirty="0" smtClean="0"/>
              <a:t>3. Loop over all elements of the transport region to accumulate fluxes / sources</a:t>
            </a:r>
          </a:p>
          <a:p>
            <a:pPr lvl="1">
              <a:spcBef>
                <a:spcPts val="100"/>
              </a:spcBef>
              <a:spcAft>
                <a:spcPts val="300"/>
              </a:spcAft>
            </a:pPr>
            <a:r>
              <a:rPr lang="en-US" sz="1400" dirty="0" smtClean="0"/>
              <a:t>stencil_</a:t>
            </a:r>
            <a:r>
              <a:rPr lang="en-US" sz="1400" dirty="0"/>
              <a:t>.AccumulateExplicitAdvectionSolution2( this-&gt;SMINMAX</a:t>
            </a:r>
            <a:r>
              <a:rPr lang="en-US" sz="1400" dirty="0" smtClean="0"/>
              <a:t>, </a:t>
            </a:r>
            <a:r>
              <a:rPr lang="de-DE" sz="1400" dirty="0" smtClean="0"/>
              <a:t>(</a:t>
            </a:r>
            <a:r>
              <a:rPr lang="de-DE" sz="1400" dirty="0"/>
              <a:t>*</a:t>
            </a:r>
            <a:r>
              <a:rPr lang="de-DE" sz="1400" dirty="0" err="1"/>
              <a:t>fvt</a:t>
            </a:r>
            <a:r>
              <a:rPr lang="de-DE" sz="1400" dirty="0"/>
              <a:t>), *(*</a:t>
            </a:r>
            <a:r>
              <a:rPr lang="de-DE" sz="1400" dirty="0" err="1"/>
              <a:t>eit</a:t>
            </a:r>
            <a:r>
              <a:rPr lang="de-DE" sz="1400" dirty="0"/>
              <a:t>), RESULT ); </a:t>
            </a:r>
            <a:endParaRPr lang="de-DE" sz="1400" dirty="0" smtClean="0"/>
          </a:p>
          <a:p>
            <a:pPr lvl="1">
              <a:spcBef>
                <a:spcPts val="100"/>
              </a:spcBef>
              <a:spcAft>
                <a:spcPts val="300"/>
              </a:spcAft>
            </a:pPr>
            <a:r>
              <a:rPr lang="de-DE" sz="1400" dirty="0" err="1"/>
              <a:t>c</a:t>
            </a:r>
            <a:r>
              <a:rPr lang="de-DE" sz="1400" dirty="0" err="1" smtClean="0"/>
              <a:t>ompute</a:t>
            </a:r>
            <a:r>
              <a:rPr lang="de-DE" sz="1400" dirty="0" smtClean="0"/>
              <a:t> </a:t>
            </a:r>
            <a:r>
              <a:rPr lang="de-DE" sz="1400" dirty="0" err="1" smtClean="0"/>
              <a:t>limiter</a:t>
            </a:r>
            <a:r>
              <a:rPr lang="de-DE" sz="1400" dirty="0" smtClean="0"/>
              <a:t> </a:t>
            </a:r>
            <a:r>
              <a:rPr lang="de-DE" sz="1400" dirty="0" err="1" smtClean="0"/>
              <a:t>values</a:t>
            </a:r>
            <a:r>
              <a:rPr lang="de-DE" sz="1600" dirty="0"/>
              <a:t>	     </a:t>
            </a:r>
          </a:p>
          <a:p>
            <a:pPr marL="0" indent="0">
              <a:buNone/>
            </a:pPr>
            <a:r>
              <a:rPr lang="de-DE" sz="1600" b="1" dirty="0" smtClean="0"/>
              <a:t>4. Accumulate </a:t>
            </a:r>
            <a:r>
              <a:rPr lang="de-DE" sz="1600" b="1" dirty="0" err="1" smtClean="0"/>
              <a:t>boundary</a:t>
            </a:r>
            <a:r>
              <a:rPr lang="de-DE" sz="1600" b="1" dirty="0" smtClean="0"/>
              <a:t> </a:t>
            </a:r>
            <a:r>
              <a:rPr lang="de-DE" sz="1600" b="1" dirty="0" err="1" smtClean="0"/>
              <a:t>terms</a:t>
            </a:r>
            <a:r>
              <a:rPr lang="de-DE" sz="1600" b="1" dirty="0" smtClean="0"/>
              <a:t>, </a:t>
            </a:r>
            <a:r>
              <a:rPr lang="de-DE" sz="1600" b="1" dirty="0" err="1" smtClean="0"/>
              <a:t>compensating</a:t>
            </a:r>
            <a:r>
              <a:rPr lang="de-DE" sz="1600" b="1" dirty="0" smtClean="0"/>
              <a:t> </a:t>
            </a:r>
            <a:r>
              <a:rPr lang="de-DE" sz="1600" b="1" dirty="0" err="1"/>
              <a:t>for</a:t>
            </a:r>
            <a:r>
              <a:rPr lang="de-DE" sz="1600" b="1" dirty="0"/>
              <a:t> </a:t>
            </a:r>
            <a:r>
              <a:rPr lang="de-DE" sz="1600" b="1" dirty="0" err="1" smtClean="0"/>
              <a:t>inflow</a:t>
            </a:r>
            <a:r>
              <a:rPr lang="de-DE" sz="1600" b="1" dirty="0" smtClean="0"/>
              <a:t> </a:t>
            </a:r>
            <a:r>
              <a:rPr lang="de-DE" sz="1600" b="1" dirty="0" err="1"/>
              <a:t>and</a:t>
            </a:r>
            <a:r>
              <a:rPr lang="de-DE" sz="1600" b="1" dirty="0"/>
              <a:t> </a:t>
            </a:r>
            <a:r>
              <a:rPr lang="de-DE" sz="1600" b="1" dirty="0" err="1" smtClean="0"/>
              <a:t>outflow</a:t>
            </a:r>
            <a:endParaRPr lang="de-DE" sz="1600" b="1" dirty="0"/>
          </a:p>
          <a:p>
            <a:pPr marL="0" indent="0">
              <a:buNone/>
            </a:pPr>
            <a:r>
              <a:rPr lang="de-DE" sz="1600" dirty="0"/>
              <a:t>	</a:t>
            </a:r>
            <a:r>
              <a:rPr lang="de-DE" sz="1400" dirty="0" err="1" smtClean="0"/>
              <a:t>AssignFluxBoundaryConditions</a:t>
            </a:r>
            <a:r>
              <a:rPr lang="de-DE" sz="1400" dirty="0"/>
              <a:t>();</a:t>
            </a:r>
          </a:p>
          <a:p>
            <a:pPr marL="0" indent="0">
              <a:buNone/>
            </a:pPr>
            <a:r>
              <a:rPr lang="de-DE" sz="1600" b="1" dirty="0" smtClean="0"/>
              <a:t>5. </a:t>
            </a:r>
            <a:r>
              <a:rPr lang="sk-SK" sz="1600" b="1" dirty="0" smtClean="0"/>
              <a:t>Compose solution  </a:t>
            </a:r>
          </a:p>
          <a:p>
            <a:pPr marL="0" indent="0">
              <a:buNone/>
            </a:pPr>
            <a:endParaRPr lang="sk-SK" sz="1600" b="1" dirty="0" smtClean="0"/>
          </a:p>
          <a:p>
            <a:pPr marL="0" indent="0">
              <a:buNone/>
            </a:pPr>
            <a:endParaRPr lang="sk-SK" sz="1600" b="1" dirty="0"/>
          </a:p>
          <a:p>
            <a:pPr marL="0" indent="0">
              <a:buNone/>
            </a:pPr>
            <a:r>
              <a:rPr lang="sk-SK" sz="1600" b="1" dirty="0" smtClean="0"/>
              <a:t>6. Save computed saturations to FV</a:t>
            </a:r>
            <a:endParaRPr lang="sk-SK" sz="1600" b="1" dirty="0"/>
          </a:p>
          <a:p>
            <a:pPr marL="0" indent="0">
              <a:buNone/>
            </a:pPr>
            <a:r>
              <a:rPr lang="sk-SK" sz="1600" dirty="0"/>
              <a:t>	</a:t>
            </a:r>
            <a:r>
              <a:rPr lang="sk-SK" sz="1400" dirty="0" smtClean="0"/>
              <a:t>OutputResults</a:t>
            </a:r>
            <a:r>
              <a:rPr lang="sk-SK" sz="1400" dirty="0"/>
              <a:t>(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smtClean="0">
                  <a:latin typeface="Arial"/>
                  <a:cs typeface="Arial"/>
                </a:rPr>
                <a:t>viscous flow</a:t>
              </a:r>
              <a:endParaRPr lang="en-US" sz="1400" dirty="0">
                <a:latin typeface="Arial"/>
                <a:cs typeface="Arial"/>
              </a:endParaRP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smtClean="0">
                  <a:latin typeface="Arial"/>
                  <a:cs typeface="Arial"/>
                </a:rPr>
                <a:t>sources &amp; sinks</a:t>
              </a:r>
              <a:endParaRPr lang="en-US" sz="1400" dirty="0">
                <a:latin typeface="Arial"/>
                <a:cs typeface="Arial"/>
              </a:endParaRP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smtClean="0">
                  <a:latin typeface="Arial"/>
                  <a:cs typeface="Arial"/>
                </a:rPr>
                <a:t>capillary spreading</a:t>
              </a:r>
              <a:endParaRPr lang="en-US" sz="1400" dirty="0">
                <a:latin typeface="Arial"/>
                <a:cs typeface="Arial"/>
              </a:endParaRP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smtClean="0">
                  <a:latin typeface="Arial"/>
                  <a:cs typeface="Arial"/>
                </a:rPr>
                <a:t>gravitational </a:t>
              </a:r>
              <a:r>
                <a:rPr lang="en-US" sz="1400" dirty="0" err="1" smtClean="0">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a:t>
            </a:r>
            <a:r>
              <a:rPr lang="en-US" sz="1600" dirty="0" smtClean="0"/>
              <a:t>currently calculated </a:t>
            </a:r>
            <a:r>
              <a:rPr lang="en-US" sz="1600" dirty="0"/>
              <a:t>using </a:t>
            </a:r>
            <a:r>
              <a:rPr lang="en-US" sz="1600" dirty="0" smtClean="0"/>
              <a:t>element length in </a:t>
            </a:r>
            <a:r>
              <a:rPr lang="en-US" sz="1600" dirty="0"/>
              <a:t>the direction of </a:t>
            </a:r>
            <a:r>
              <a:rPr lang="en-US" sz="1600" dirty="0" smtClean="0"/>
              <a:t>flow (</a:t>
            </a:r>
            <a:r>
              <a:rPr lang="en-US" sz="1600" dirty="0"/>
              <a:t>as opposed to FV</a:t>
            </a:r>
            <a:r>
              <a:rPr lang="en-US" sz="1600" dirty="0" smtClean="0"/>
              <a:t>), see NCFVT::</a:t>
            </a:r>
            <a:r>
              <a:rPr lang="en-US" sz="1600" b="1" dirty="0" err="1"/>
              <a:t>AnisotropicCourantIncrement</a:t>
            </a:r>
            <a:r>
              <a:rPr lang="en-US" sz="1600" b="1" dirty="0"/>
              <a:t>(</a:t>
            </a:r>
            <a:r>
              <a:rPr lang="en-US" sz="1600" b="1" dirty="0" smtClean="0"/>
              <a:t>)</a:t>
            </a:r>
            <a:r>
              <a:rPr lang="en-US" sz="1600" dirty="0" smtClean="0"/>
              <a:t>. </a:t>
            </a:r>
            <a:r>
              <a:rPr lang="en-US" sz="1600" dirty="0"/>
              <a:t>O</a:t>
            </a:r>
            <a:r>
              <a:rPr lang="en-US" sz="1600" dirty="0" smtClean="0"/>
              <a:t>nly viscous and gravitationally driven flow are considered for the FV scheme because capillary spreading is computed with the FE method (has a different time constraint).</a:t>
            </a:r>
          </a:p>
          <a:p>
            <a:pPr marL="182563" indent="-182563">
              <a:spcAft>
                <a:spcPct val="50000"/>
              </a:spcAft>
            </a:pPr>
            <a:r>
              <a:rPr lang="en-US" sz="1600" dirty="0" smtClean="0"/>
              <a:t>An upper limit value must be specified in case there is no flow.</a:t>
            </a:r>
            <a:endParaRPr lang="en-GB" sz="1600" dirty="0" smtClean="0"/>
          </a:p>
          <a:p>
            <a:pPr marL="182563" indent="-182563" eaLnBrk="1" hangingPunct="1">
              <a:spcAft>
                <a:spcPct val="50000"/>
              </a:spcAft>
            </a:pPr>
            <a:r>
              <a:rPr lang="en-US" sz="1600" dirty="0" smtClean="0"/>
              <a:t>For </a:t>
            </a:r>
            <a:r>
              <a:rPr lang="en-US" sz="1600" dirty="0"/>
              <a:t>explicit calculations, </a:t>
            </a:r>
            <a:r>
              <a:rPr lang="en-US" sz="1600" i="1" dirty="0" err="1"/>
              <a:t>df</a:t>
            </a:r>
            <a:r>
              <a:rPr lang="en-US" sz="1600" i="1" dirty="0"/>
              <a:t>/</a:t>
            </a:r>
            <a:r>
              <a:rPr lang="en-US" sz="1600" i="1" dirty="0" err="1"/>
              <a:t>ds</a:t>
            </a:r>
            <a:r>
              <a:rPr lang="en-US" sz="1600" i="1" baseline="-25000" dirty="0" err="1"/>
              <a:t>max</a:t>
            </a:r>
            <a:r>
              <a:rPr lang="en-US" sz="1600" dirty="0"/>
              <a:t> </a:t>
            </a:r>
            <a:r>
              <a:rPr lang="en-US" sz="1600" dirty="0" smtClean="0"/>
              <a:t>suffices for the </a:t>
            </a:r>
            <a:r>
              <a:rPr lang="en-US" sz="1600" dirty="0"/>
              <a:t>calculation of </a:t>
            </a:r>
            <a:r>
              <a:rPr lang="en-US" sz="1600" dirty="0" smtClean="0"/>
              <a:t>CFL because </a:t>
            </a:r>
            <a:r>
              <a:rPr lang="en-US" sz="1600" dirty="0"/>
              <a:t>the resulting step size </a:t>
            </a:r>
            <a:r>
              <a:rPr lang="en-US" sz="1600" dirty="0" smtClean="0"/>
              <a:t>is small enough even </a:t>
            </a:r>
            <a:r>
              <a:rPr lang="en-US" sz="1600" dirty="0"/>
              <a:t>when </a:t>
            </a:r>
            <a:r>
              <a:rPr lang="en-US" sz="1600" i="1" dirty="0" err="1"/>
              <a:t>df</a:t>
            </a:r>
            <a:r>
              <a:rPr lang="en-US" sz="1600" i="1" dirty="0"/>
              <a:t>/ds</a:t>
            </a:r>
            <a:r>
              <a:rPr lang="en-US" sz="1600" dirty="0"/>
              <a:t> increases </a:t>
            </a:r>
            <a:r>
              <a:rPr lang="en-US" sz="1600" dirty="0" smtClean="0"/>
              <a:t>during iteration.</a:t>
            </a:r>
          </a:p>
          <a:p>
            <a:pPr marL="182563" indent="-182563" eaLnBrk="1" hangingPunct="1">
              <a:spcAft>
                <a:spcPct val="50000"/>
              </a:spcAft>
            </a:pPr>
            <a:r>
              <a:rPr lang="en-US" sz="1600" dirty="0" smtClean="0"/>
              <a:t>For </a:t>
            </a:r>
            <a:r>
              <a:rPr lang="en-US" sz="1600" dirty="0"/>
              <a:t>implicit </a:t>
            </a:r>
            <a:r>
              <a:rPr lang="en-US" sz="1600" dirty="0" smtClean="0"/>
              <a:t>calculations an exact CFL is </a:t>
            </a:r>
            <a:r>
              <a:rPr lang="en-US" sz="1600" dirty="0"/>
              <a:t>not </a:t>
            </a:r>
            <a:r>
              <a:rPr lang="en-US" sz="1600" dirty="0" smtClean="0"/>
              <a:t>necessary.</a:t>
            </a:r>
          </a:p>
          <a:p>
            <a:pPr marL="182563" indent="-182563" eaLnBrk="1" hangingPunct="1">
              <a:spcAft>
                <a:spcPct val="50000"/>
              </a:spcAft>
            </a:pPr>
            <a:r>
              <a:rPr lang="en-US" sz="1600" dirty="0" smtClean="0"/>
              <a:t>Experience shows that CFL should not be linked to pressure time-step calculation</a:t>
            </a:r>
          </a:p>
          <a:p>
            <a:pPr marL="182563" indent="-182563" eaLnBrk="1" hangingPunct="1">
              <a:spcAft>
                <a:spcPct val="50000"/>
              </a:spcAft>
            </a:pPr>
            <a:r>
              <a:rPr lang="en-US" sz="1600" dirty="0" smtClean="0"/>
              <a:t>When simultaneously addressing </a:t>
            </a:r>
            <a:r>
              <a:rPr lang="en-US" sz="1600" dirty="0"/>
              <a:t>viscous, gravitational, and capillary terms </a:t>
            </a:r>
            <a:r>
              <a:rPr lang="en-US" sz="1600" dirty="0" smtClean="0"/>
              <a:t>CFL should not be based on the addition of these components but their max values; this way, even </a:t>
            </a:r>
            <a:r>
              <a:rPr lang="en-US" sz="1600" dirty="0"/>
              <a:t>if one of these is zero a meaningful value </a:t>
            </a:r>
            <a:r>
              <a:rPr lang="en-US" sz="1600" dirty="0" smtClean="0"/>
              <a:t>is established.</a:t>
            </a:r>
          </a:p>
          <a:p>
            <a:pPr marL="182563" indent="-182563" eaLnBrk="1" hangingPunct="1">
              <a:spcAft>
                <a:spcPct val="50000"/>
              </a:spcAft>
            </a:pPr>
            <a:r>
              <a:rPr lang="en-US" sz="1600" dirty="0" smtClean="0"/>
              <a:t>Note: CFL methods should be virtual so that they can be </a:t>
            </a:r>
            <a:r>
              <a:rPr lang="en-US" sz="1600" dirty="0" err="1" smtClean="0"/>
              <a:t>overriden</a:t>
            </a:r>
            <a:endParaRPr lang="en-US" sz="1600" dirty="0" smtClean="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smtClean="0">
                  <a:latin typeface="Arial"/>
                  <a:cs typeface="Arial"/>
                </a:rPr>
                <a:t>max distance over which information can be propagated in a single advection step (undefined if strong sources/sinks or elliptic problem)</a:t>
              </a:r>
              <a:endParaRPr lang="en-US" sz="1200" dirty="0">
                <a:latin typeface="Arial"/>
                <a:cs typeface="Arial"/>
              </a:endParaRP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smtClean="0">
                  <a:solidFill>
                    <a:srgbClr val="FF0000"/>
                  </a:solidFill>
                  <a:latin typeface="Arial"/>
                  <a:cs typeface="Arial"/>
                </a:rPr>
                <a:t>flow velocity</a:t>
              </a:r>
              <a:endParaRPr lang="en-US" sz="1400" dirty="0">
                <a:solidFill>
                  <a:srgbClr val="FF0000"/>
                </a:solidFill>
                <a:latin typeface="Arial"/>
                <a:cs typeface="Arial"/>
              </a:endParaRPr>
            </a:p>
          </p:txBody>
        </p:sp>
      </p:grpSp>
    </p:spTree>
    <p:extLst>
      <p:ext uri="{BB962C8B-B14F-4D97-AF65-F5344CB8AC3E}">
        <p14:creationId xmlns:p14="http://schemas.microsoft.com/office/powerpoint/2010/main" val="8601514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lstStyle/>
          <a:p>
            <a:r>
              <a:rPr lang="en-US" dirty="0" smtClean="0"/>
              <a:t>Constitutive relationships – Refactoring!</a:t>
            </a:r>
            <a:endParaRPr lang="en-US" dirty="0"/>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smtClean="0"/>
              <a:t>Break up computations involving fluid properties from those that are supposed to be material parameters (careful because of interactions)</a:t>
            </a:r>
          </a:p>
          <a:p>
            <a:pPr marL="182563" indent="-182563"/>
            <a:r>
              <a:rPr lang="en-US" dirty="0" smtClean="0"/>
              <a:t>Implement using static polymorphism</a:t>
            </a:r>
          </a:p>
          <a:p>
            <a:pPr marL="182563" indent="-182563"/>
            <a:r>
              <a:rPr lang="en-US" dirty="0" smtClean="0"/>
              <a:t>Saturation functions are currently recovered from subclasses of the </a:t>
            </a:r>
            <a:r>
              <a:rPr lang="en-US" b="1" dirty="0" err="1" smtClean="0"/>
              <a:t>TwoPhaseModel</a:t>
            </a:r>
            <a:r>
              <a:rPr lang="en-US" dirty="0" smtClean="0"/>
              <a:t> (here we need extensions for 3-phase and perhaps for compressible flow)</a:t>
            </a:r>
          </a:p>
          <a:p>
            <a:pPr marL="182563" indent="-182563"/>
            <a:r>
              <a:rPr lang="en-US" dirty="0" smtClean="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9</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smtClean="0">
                <a:latin typeface="Arial"/>
                <a:cs typeface="Arial"/>
              </a:rPr>
              <a:t>What methods do we really need?</a:t>
            </a:r>
            <a:endParaRPr lang="en-US" i="1" dirty="0">
              <a:latin typeface="Arial"/>
              <a:cs typeface="Arial"/>
            </a:endParaRPr>
          </a:p>
        </p:txBody>
      </p:sp>
    </p:spTree>
    <p:extLst>
      <p:ext uri="{BB962C8B-B14F-4D97-AF65-F5344CB8AC3E}">
        <p14:creationId xmlns:p14="http://schemas.microsoft.com/office/powerpoint/2010/main" val="1876224224"/>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10</a:t>
            </a:fld>
            <a:endParaRPr lang="en-US"/>
          </a:p>
        </p:txBody>
      </p:sp>
    </p:spTree>
    <p:extLst>
      <p:ext uri="{BB962C8B-B14F-4D97-AF65-F5344CB8AC3E}">
        <p14:creationId xmlns:p14="http://schemas.microsoft.com/office/powerpoint/2010/main" val="4120260897"/>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smtClean="0"/>
              <a:t>Placement of material properties on the elements; why?</a:t>
            </a:r>
            <a:endParaRPr lang="en-US" dirty="0"/>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smtClean="0"/>
              <a:t>Element</a:t>
            </a:r>
          </a:p>
          <a:p>
            <a:r>
              <a:rPr lang="en-US" sz="1900" dirty="0" smtClean="0"/>
              <a:t>FE mesh can be used to represent material boundaries</a:t>
            </a:r>
          </a:p>
          <a:p>
            <a:r>
              <a:rPr lang="en-US" sz="1900" dirty="0" smtClean="0"/>
              <a:t>Saturation at material interfaces makes no physical sense (discontinuities can only be represented with Split Boundaries or FECFVM scheme)</a:t>
            </a:r>
          </a:p>
          <a:p>
            <a:r>
              <a:rPr lang="en-US" sz="1900" dirty="0" smtClean="0"/>
              <a:t>For element-centered saturation, upwind direction does not matter</a:t>
            </a:r>
            <a:endParaRPr lang="en-US" sz="1900" dirty="0"/>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smtClean="0"/>
              <a:t>Node</a:t>
            </a:r>
          </a:p>
          <a:p>
            <a:r>
              <a:rPr lang="en-US" sz="1900" dirty="0" smtClean="0"/>
              <a:t>Material boundaries are blurred and domain volumes cannot be estimated accurately</a:t>
            </a:r>
          </a:p>
          <a:p>
            <a:r>
              <a:rPr lang="en-US" sz="1900" dirty="0" smtClean="0"/>
              <a:t>Saturation is physically meaningful even where sharp property gradients exist</a:t>
            </a:r>
          </a:p>
          <a:p>
            <a:r>
              <a:rPr lang="en-US" sz="1900" dirty="0" smtClean="0"/>
              <a:t>Transmissibility multipliers are non-physical if different flow laws exist in different domains</a:t>
            </a:r>
            <a:endParaRPr lang="en-US" sz="1900" dirty="0"/>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smtClean="0">
                <a:latin typeface="Arial"/>
                <a:cs typeface="Arial"/>
              </a:rPr>
              <a:t>= Fractured reservoir simulation needs element-based material properties</a:t>
            </a:r>
            <a:endParaRPr lang="en-US" i="1" dirty="0">
              <a:latin typeface="Arial"/>
              <a:cs typeface="Arial"/>
            </a:endParaRP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11</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Variable placement (</a:t>
            </a:r>
            <a:r>
              <a:rPr lang="en-US" dirty="0" err="1" smtClean="0"/>
              <a:t>Barycentric</a:t>
            </a:r>
            <a:r>
              <a:rPr lang="en-US" dirty="0" smtClean="0"/>
              <a:t>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19/01/18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smtClean="0"/>
              <a:t>x</a:t>
            </a:r>
            <a:endParaRPr lang="en-US" sz="2400" b="1" dirty="0"/>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8949"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8950"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smtClean="0"/>
              <a:t>Variable placement </a:t>
            </a:r>
            <a:br>
              <a:rPr lang="en-US" dirty="0" smtClean="0"/>
            </a:br>
            <a:r>
              <a:rPr lang="en-US" dirty="0" smtClean="0"/>
              <a:t>(integration-point based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19/01/18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smtClean="0"/>
              <a:t>x</a:t>
            </a:r>
            <a:endParaRPr lang="en-US" dirty="0"/>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smtClean="0"/>
              <a:t>x</a:t>
            </a:r>
            <a:endParaRPr lang="en-US" dirty="0"/>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29973"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29974"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smtClean="0"/>
              <a:t>Variable storage needs</a:t>
            </a:r>
            <a:endParaRPr lang="en-US" dirty="0"/>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smtClean="0"/>
              <a:t>For higher order store at different time levels (in one step or by repeated accumulation):</a:t>
            </a:r>
          </a:p>
          <a:p>
            <a:pPr>
              <a:spcBef>
                <a:spcPts val="100"/>
              </a:spcBef>
              <a:spcAft>
                <a:spcPts val="600"/>
              </a:spcAft>
            </a:pPr>
            <a:r>
              <a:rPr lang="en-US" sz="1600" dirty="0" smtClean="0">
                <a:solidFill>
                  <a:srgbClr val="000090"/>
                </a:solidFill>
              </a:rPr>
              <a:t>finite volumes (placement NODE):</a:t>
            </a:r>
          </a:p>
          <a:p>
            <a:pPr lvl="1">
              <a:spcBef>
                <a:spcPts val="100"/>
              </a:spcBef>
              <a:spcAft>
                <a:spcPts val="600"/>
              </a:spcAft>
            </a:pPr>
            <a:r>
              <a:rPr lang="en-US" sz="1600" dirty="0" smtClean="0"/>
              <a:t>Integrated pore volume -&gt; SCALAR</a:t>
            </a:r>
          </a:p>
          <a:p>
            <a:pPr lvl="1">
              <a:spcBef>
                <a:spcPts val="100"/>
              </a:spcBef>
              <a:spcAft>
                <a:spcPts val="600"/>
              </a:spcAft>
            </a:pPr>
            <a:r>
              <a:rPr lang="en-US" sz="1600" dirty="0" smtClean="0"/>
              <a:t>Divergence of total velocity </a:t>
            </a:r>
            <a:r>
              <a:rPr lang="en-US" sz="1600" dirty="0"/>
              <a:t>-&gt; </a:t>
            </a:r>
            <a:r>
              <a:rPr lang="en-US" sz="1600" dirty="0" smtClean="0"/>
              <a:t>SCALAR</a:t>
            </a:r>
          </a:p>
          <a:p>
            <a:pPr lvl="1">
              <a:spcBef>
                <a:spcPts val="100"/>
              </a:spcBef>
              <a:spcAft>
                <a:spcPts val="600"/>
              </a:spcAft>
            </a:pPr>
            <a:r>
              <a:rPr lang="en-US" sz="1600" dirty="0"/>
              <a:t>Sources or </a:t>
            </a:r>
            <a:r>
              <a:rPr lang="en-US" sz="1600" dirty="0" smtClean="0"/>
              <a:t>sinks -</a:t>
            </a:r>
            <a:r>
              <a:rPr lang="en-US" sz="1600" dirty="0"/>
              <a:t>&gt; </a:t>
            </a:r>
            <a:r>
              <a:rPr lang="en-US" sz="1600" dirty="0" smtClean="0"/>
              <a:t>SCALAR</a:t>
            </a:r>
          </a:p>
          <a:p>
            <a:pPr lvl="1">
              <a:spcBef>
                <a:spcPts val="100"/>
              </a:spcBef>
              <a:spcAft>
                <a:spcPts val="600"/>
              </a:spcAft>
            </a:pPr>
            <a:r>
              <a:rPr lang="en-US" sz="1600" dirty="0" smtClean="0"/>
              <a:t>Saturations / concentrations -&gt; ARRAY</a:t>
            </a:r>
            <a:endParaRPr lang="en-US" sz="1600" dirty="0"/>
          </a:p>
          <a:p>
            <a:pPr lvl="1">
              <a:spcBef>
                <a:spcPts val="100"/>
              </a:spcBef>
              <a:spcAft>
                <a:spcPts val="600"/>
              </a:spcAft>
            </a:pPr>
            <a:r>
              <a:rPr lang="en-US" sz="1600" dirty="0"/>
              <a:t>Saturation </a:t>
            </a:r>
            <a:r>
              <a:rPr lang="en-US" sz="1600" dirty="0" smtClean="0"/>
              <a:t>gradient (for higher order scheme) -&gt; VECTOR</a:t>
            </a:r>
            <a:endParaRPr lang="en-US" sz="1600" dirty="0"/>
          </a:p>
          <a:p>
            <a:pPr lvl="1">
              <a:spcBef>
                <a:spcPts val="100"/>
              </a:spcBef>
              <a:spcAft>
                <a:spcPts val="600"/>
              </a:spcAft>
            </a:pPr>
            <a:r>
              <a:rPr lang="en-US" sz="1600" dirty="0" smtClean="0"/>
              <a:t>Inflow versus outflow in the presence of sources and sinks -&gt; SCALAR</a:t>
            </a:r>
          </a:p>
          <a:p>
            <a:pPr lvl="1">
              <a:spcBef>
                <a:spcPts val="100"/>
              </a:spcBef>
              <a:spcAft>
                <a:spcPts val="600"/>
              </a:spcAft>
            </a:pPr>
            <a:r>
              <a:rPr lang="en-US" sz="1600" dirty="0" smtClean="0"/>
              <a:t>CFL ?</a:t>
            </a:r>
          </a:p>
          <a:p>
            <a:pPr>
              <a:spcBef>
                <a:spcPts val="100"/>
              </a:spcBef>
              <a:spcAft>
                <a:spcPts val="600"/>
              </a:spcAft>
            </a:pPr>
            <a:r>
              <a:rPr lang="en-US" sz="1600" dirty="0" smtClean="0">
                <a:solidFill>
                  <a:srgbClr val="000090"/>
                </a:solidFill>
              </a:rPr>
              <a:t>facets:</a:t>
            </a:r>
          </a:p>
          <a:p>
            <a:pPr lvl="1">
              <a:spcBef>
                <a:spcPts val="100"/>
              </a:spcBef>
              <a:spcAft>
                <a:spcPts val="600"/>
              </a:spcAft>
            </a:pPr>
            <a:r>
              <a:rPr lang="en-US" sz="1600" dirty="0" smtClean="0"/>
              <a:t>combined phase and components fluxes</a:t>
            </a:r>
          </a:p>
          <a:p>
            <a:pPr lvl="1">
              <a:spcBef>
                <a:spcPts val="100"/>
              </a:spcBef>
              <a:spcAft>
                <a:spcPts val="600"/>
              </a:spcAft>
            </a:pPr>
            <a:r>
              <a:rPr lang="en-US" sz="1600" dirty="0" smtClean="0"/>
              <a:t>phase velocities  </a:t>
            </a:r>
          </a:p>
          <a:p>
            <a:pPr>
              <a:spcBef>
                <a:spcPts val="100"/>
              </a:spcBef>
              <a:spcAft>
                <a:spcPts val="600"/>
              </a:spcAft>
            </a:pPr>
            <a:r>
              <a:rPr lang="en-US" sz="1600" dirty="0" smtClean="0">
                <a:solidFill>
                  <a:srgbClr val="000090"/>
                </a:solidFill>
              </a:rPr>
              <a:t>elements:</a:t>
            </a:r>
          </a:p>
          <a:p>
            <a:pPr lvl="1">
              <a:spcBef>
                <a:spcPts val="100"/>
              </a:spcBef>
              <a:spcAft>
                <a:spcPts val="600"/>
              </a:spcAft>
            </a:pPr>
            <a:r>
              <a:rPr lang="en-US" sz="1600" dirty="0" smtClean="0"/>
              <a:t>total velocity -&gt; VECTOR</a:t>
            </a:r>
          </a:p>
          <a:p>
            <a:pPr lvl="1">
              <a:spcBef>
                <a:spcPts val="100"/>
              </a:spcBef>
              <a:spcAft>
                <a:spcPts val="600"/>
              </a:spcAft>
            </a:pPr>
            <a:r>
              <a:rPr lang="en-US" sz="1600" dirty="0" smtClean="0"/>
              <a:t>diffusivities</a:t>
            </a:r>
          </a:p>
          <a:p>
            <a:pPr lvl="1">
              <a:spcBef>
                <a:spcPts val="100"/>
              </a:spcBef>
              <a:spcAft>
                <a:spcPts val="600"/>
              </a:spcAft>
            </a:pPr>
            <a:r>
              <a:rPr lang="en-US" sz="1600" dirty="0" smtClean="0"/>
              <a:t>sector porosity and pore volumes</a:t>
            </a:r>
          </a:p>
          <a:p>
            <a:pPr lvl="1">
              <a:spcBef>
                <a:spcPts val="100"/>
              </a:spcBef>
              <a:spcAft>
                <a:spcPts val="600"/>
              </a:spcAft>
            </a:pPr>
            <a:r>
              <a:rPr lang="en-US" sz="1600" dirty="0" smtClean="0"/>
              <a:t>sector source terms (for FEM equations)</a:t>
            </a:r>
          </a:p>
          <a:p>
            <a:pPr lvl="1">
              <a:spcBef>
                <a:spcPts val="100"/>
              </a:spcBef>
              <a:spcAft>
                <a:spcPts val="600"/>
              </a:spcAft>
            </a:pPr>
            <a:r>
              <a:rPr lang="en-US" sz="1600" dirty="0" smtClean="0"/>
              <a:t>constitutive relationships</a:t>
            </a:r>
            <a:endParaRPr lang="en-US" sz="16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14</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Tree>
    <p:extLst>
      <p:ext uri="{BB962C8B-B14F-4D97-AF65-F5344CB8AC3E}">
        <p14:creationId xmlns:p14="http://schemas.microsoft.com/office/powerpoint/2010/main" val="750890297"/>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b="1" dirty="0" smtClean="0"/>
              <a:t>Phase by phase transport</a:t>
            </a:r>
          </a:p>
          <a:p>
            <a:pPr marL="514350" indent="-514350">
              <a:spcBef>
                <a:spcPts val="800"/>
              </a:spcBef>
              <a:spcAft>
                <a:spcPts val="1800"/>
              </a:spcAft>
              <a:buFont typeface="+mj-lt"/>
              <a:buAutoNum type="arabicPeriod"/>
            </a:pPr>
            <a:r>
              <a:rPr lang="en-US" sz="2400" dirty="0" smtClean="0"/>
              <a:t>Design prototyping: classes and use-cases</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15</a:t>
            </a:fld>
            <a:endParaRPr lang="en-US"/>
          </a:p>
        </p:txBody>
      </p:sp>
    </p:spTree>
    <p:extLst>
      <p:ext uri="{BB962C8B-B14F-4D97-AF65-F5344CB8AC3E}">
        <p14:creationId xmlns:p14="http://schemas.microsoft.com/office/powerpoint/2010/main" val="570150278"/>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smtClean="0"/>
              <a:t>New goal: phase-by-phase component transport scheme with support for component exchange among phases</a:t>
            </a:r>
            <a:endParaRPr lang="en-US" sz="2400" dirty="0"/>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smtClean="0"/>
              <a:t>(Isochoric transfer </a:t>
            </a:r>
            <a:r>
              <a:rPr lang="en-US" sz="1800" dirty="0"/>
              <a:t>among phases is accomplished by EOS </a:t>
            </a:r>
            <a:r>
              <a:rPr lang="en-US" sz="1800" dirty="0" smtClean="0"/>
              <a:t>classes; diffusion terms are computed by finite element operators accumulated into same solution matrix as terms from implicit version of transport scheme)</a:t>
            </a:r>
          </a:p>
          <a:p>
            <a:r>
              <a:rPr lang="en-US" sz="1800" dirty="0" smtClean="0"/>
              <a:t>Computations needed (first and second-order in space):</a:t>
            </a:r>
          </a:p>
          <a:p>
            <a:pPr lvl="1"/>
            <a:r>
              <a:rPr lang="en-US" sz="1800" dirty="0" smtClean="0"/>
              <a:t>CFL time increment or else whichever applicable; else predictor-corrector saturation change or inflow vs. outflow (for instance, when source terms dominate)</a:t>
            </a:r>
          </a:p>
          <a:p>
            <a:pPr lvl="1"/>
            <a:r>
              <a:rPr lang="en-US" sz="1800" dirty="0" smtClean="0"/>
              <a:t>upwind direction (combined: </a:t>
            </a:r>
            <a:r>
              <a:rPr lang="en-US" sz="1800" dirty="0" err="1" smtClean="0"/>
              <a:t>capillary+diffusion+transport</a:t>
            </a:r>
            <a:r>
              <a:rPr lang="en-US" sz="1800" dirty="0" smtClean="0"/>
              <a:t>)</a:t>
            </a:r>
          </a:p>
          <a:p>
            <a:pPr lvl="1"/>
            <a:r>
              <a:rPr lang="en-US" sz="1800" dirty="0" smtClean="0"/>
              <a:t>upwind saturation range </a:t>
            </a:r>
          </a:p>
          <a:p>
            <a:pPr lvl="1"/>
            <a:r>
              <a:rPr lang="en-US" sz="1800" dirty="0" smtClean="0"/>
              <a:t>advection terms</a:t>
            </a:r>
          </a:p>
          <a:p>
            <a:pPr lvl="1"/>
            <a:r>
              <a:rPr lang="en-US" sz="1800" dirty="0" smtClean="0"/>
              <a:t>node-centered saturation gradients (or </a:t>
            </a:r>
            <a:r>
              <a:rPr lang="en-US" sz="1800" dirty="0" err="1" smtClean="0"/>
              <a:t>bijective</a:t>
            </a:r>
            <a:r>
              <a:rPr lang="en-US" sz="1800" dirty="0" smtClean="0"/>
              <a:t> mapping (Matthai et al. 2009, TIPM; check!)</a:t>
            </a:r>
          </a:p>
          <a:p>
            <a:pPr lvl="1"/>
            <a:r>
              <a:rPr lang="en-US" sz="1800" dirty="0" smtClean="0"/>
              <a:t>source terms (</a:t>
            </a:r>
            <a:r>
              <a:rPr lang="en-US" sz="1800" dirty="0" err="1" smtClean="0"/>
              <a:t>upwinded</a:t>
            </a:r>
            <a:r>
              <a:rPr lang="en-US" sz="1800" dirty="0" smtClean="0"/>
              <a:t> or not)</a:t>
            </a:r>
          </a:p>
          <a:p>
            <a:pPr lvl="1"/>
            <a:r>
              <a:rPr lang="en-US" sz="1800" dirty="0" smtClean="0"/>
              <a:t>storage terms</a:t>
            </a:r>
          </a:p>
          <a:p>
            <a:pPr lvl="1"/>
            <a:r>
              <a:rPr lang="en-US" sz="1800" dirty="0" smtClean="0"/>
              <a:t>limiter(s)</a:t>
            </a:r>
            <a:endParaRPr lang="en-US" sz="18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16</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smtClean="0"/>
              <a:t>Implemented vs. conceptual functionality</a:t>
            </a:r>
            <a:endParaRPr lang="en-US" sz="2800" dirty="0"/>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smtClean="0">
                <a:solidFill>
                  <a:srgbClr val="008000"/>
                </a:solidFill>
              </a:rPr>
              <a:t>Calculating </a:t>
            </a:r>
            <a:r>
              <a:rPr lang="en-US" sz="1600" dirty="0">
                <a:solidFill>
                  <a:srgbClr val="008000"/>
                </a:solidFill>
              </a:rPr>
              <a:t>and updating </a:t>
            </a:r>
            <a:r>
              <a:rPr lang="en-US" sz="1600" dirty="0" smtClean="0">
                <a:solidFill>
                  <a:srgbClr val="008000"/>
                </a:solidFill>
              </a:rPr>
              <a:t>porosity, pore volume, facet </a:t>
            </a:r>
            <a:r>
              <a:rPr lang="en-US" sz="1600" dirty="0">
                <a:solidFill>
                  <a:srgbClr val="008000"/>
                </a:solidFill>
              </a:rPr>
              <a:t>area and </a:t>
            </a:r>
            <a:r>
              <a:rPr lang="en-US" sz="1600" dirty="0" smtClean="0">
                <a:solidFill>
                  <a:srgbClr val="008000"/>
                </a:solidFill>
              </a:rPr>
              <a:t>normal </a:t>
            </a:r>
          </a:p>
          <a:p>
            <a:pPr marL="182563" indent="-182563">
              <a:spcBef>
                <a:spcPts val="100"/>
              </a:spcBef>
              <a:spcAft>
                <a:spcPts val="500"/>
              </a:spcAft>
            </a:pPr>
            <a:r>
              <a:rPr lang="en-US" sz="1600" dirty="0" smtClean="0">
                <a:solidFill>
                  <a:srgbClr val="008000"/>
                </a:solidFill>
              </a:rPr>
              <a:t>Read / store / range check / projections of </a:t>
            </a:r>
            <a:r>
              <a:rPr lang="en-US" sz="1600" dirty="0">
                <a:solidFill>
                  <a:srgbClr val="008000"/>
                </a:solidFill>
              </a:rPr>
              <a:t>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a:t>
            </a:r>
            <a:r>
              <a:rPr lang="en-US" sz="1600" dirty="0" smtClean="0">
                <a:solidFill>
                  <a:srgbClr val="008000"/>
                </a:solidFill>
              </a:rPr>
              <a:t>CFL </a:t>
            </a:r>
            <a:r>
              <a:rPr lang="en-US" sz="1600" dirty="0" smtClean="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a:t>
            </a:r>
            <a:r>
              <a:rPr lang="en-US" sz="1600" dirty="0" smtClean="0">
                <a:solidFill>
                  <a:srgbClr val="008000"/>
                </a:solidFill>
              </a:rPr>
              <a:t>balance</a:t>
            </a:r>
            <a:endParaRPr lang="en-US" sz="1600" dirty="0">
              <a:solidFill>
                <a:srgbClr val="008000"/>
              </a:solidFill>
            </a:endParaRPr>
          </a:p>
          <a:p>
            <a:pPr marL="182563" indent="-182563">
              <a:spcBef>
                <a:spcPts val="100"/>
              </a:spcBef>
              <a:spcAft>
                <a:spcPts val="500"/>
              </a:spcAft>
            </a:pPr>
            <a:r>
              <a:rPr lang="en-US" sz="1600" dirty="0" smtClean="0"/>
              <a:t>Scaling n components </a:t>
            </a:r>
            <a:r>
              <a:rPr lang="en-US" sz="1600" dirty="0"/>
              <a:t>and </a:t>
            </a:r>
            <a:r>
              <a:rPr lang="en-US" sz="1600" dirty="0" smtClean="0"/>
              <a:t>m phases</a:t>
            </a:r>
            <a:endParaRPr lang="en-US" sz="1600" dirty="0"/>
          </a:p>
          <a:p>
            <a:pPr marL="182563" indent="-182563">
              <a:spcBef>
                <a:spcPts val="100"/>
              </a:spcBef>
              <a:spcAft>
                <a:spcPts val="500"/>
              </a:spcAft>
            </a:pPr>
            <a:r>
              <a:rPr lang="en-US" sz="1600" dirty="0" smtClean="0"/>
              <a:t>Calculating </a:t>
            </a:r>
            <a:r>
              <a:rPr lang="en-US" sz="1600" dirty="0"/>
              <a:t>components</a:t>
            </a:r>
          </a:p>
          <a:p>
            <a:pPr marL="182563" indent="-182563">
              <a:spcBef>
                <a:spcPts val="100"/>
              </a:spcBef>
              <a:spcAft>
                <a:spcPts val="500"/>
              </a:spcAft>
            </a:pPr>
            <a:r>
              <a:rPr lang="en-US" sz="1600" dirty="0" smtClean="0">
                <a:solidFill>
                  <a:srgbClr val="FF6600"/>
                </a:solidFill>
              </a:rPr>
              <a:t>Determine </a:t>
            </a:r>
            <a:r>
              <a:rPr lang="en-US" sz="1600" dirty="0">
                <a:solidFill>
                  <a:srgbClr val="FF6600"/>
                </a:solidFill>
              </a:rPr>
              <a:t>and store facet </a:t>
            </a:r>
            <a:r>
              <a:rPr lang="en-US" sz="1600" dirty="0" smtClean="0">
                <a:solidFill>
                  <a:srgbClr val="FF6600"/>
                </a:solidFill>
              </a:rPr>
              <a:t>fluxes</a:t>
            </a:r>
          </a:p>
          <a:p>
            <a:pPr marL="182563" indent="-182563">
              <a:spcBef>
                <a:spcPts val="100"/>
              </a:spcBef>
              <a:spcAft>
                <a:spcPts val="500"/>
              </a:spcAft>
            </a:pPr>
            <a:r>
              <a:rPr lang="en-US" sz="1600" dirty="0" smtClean="0">
                <a:solidFill>
                  <a:srgbClr val="FF6600"/>
                </a:solidFill>
              </a:rPr>
              <a:t>Sector-based volume source and sink terms, stored on sector integration points</a:t>
            </a:r>
            <a:endParaRPr lang="en-US" sz="1600" dirty="0">
              <a:solidFill>
                <a:srgbClr val="FF6600"/>
              </a:solidFill>
            </a:endParaRPr>
          </a:p>
          <a:p>
            <a:pPr marL="182563" indent="-182563">
              <a:spcBef>
                <a:spcPts val="100"/>
              </a:spcBef>
              <a:spcAft>
                <a:spcPts val="500"/>
              </a:spcAft>
            </a:pPr>
            <a:r>
              <a:rPr lang="en-US" sz="1600" dirty="0">
                <a:solidFill>
                  <a:srgbClr val="FF6600"/>
                </a:solidFill>
              </a:rPr>
              <a:t>Accumulation of </a:t>
            </a:r>
            <a:r>
              <a:rPr lang="en-US" sz="1600" dirty="0" smtClean="0">
                <a:solidFill>
                  <a:srgbClr val="FF6600"/>
                </a:solidFill>
              </a:rPr>
              <a:t>fluxes</a:t>
            </a:r>
          </a:p>
          <a:p>
            <a:pPr marL="182563" indent="-182563">
              <a:spcBef>
                <a:spcPts val="100"/>
              </a:spcBef>
              <a:spcAft>
                <a:spcPts val="500"/>
              </a:spcAft>
            </a:pPr>
            <a:r>
              <a:rPr lang="en-US" sz="1600" dirty="0" err="1" smtClean="0">
                <a:solidFill>
                  <a:srgbClr val="FF6600"/>
                </a:solidFill>
              </a:rPr>
              <a:t>SaturationFunction</a:t>
            </a:r>
            <a:r>
              <a:rPr lang="en-US" sz="1600" dirty="0" smtClean="0">
                <a:solidFill>
                  <a:srgbClr val="FF6600"/>
                </a:solidFill>
              </a:rPr>
              <a:t> should be made specific to Region instances</a:t>
            </a:r>
            <a:endParaRPr lang="en-US" sz="1600" dirty="0">
              <a:solidFill>
                <a:srgbClr val="FF6600"/>
              </a:solidFill>
            </a:endParaRP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smtClean="0">
                <a:solidFill>
                  <a:srgbClr val="FF6600"/>
                </a:solidFill>
              </a:rPr>
              <a:t>Limiting</a:t>
            </a:r>
          </a:p>
          <a:p>
            <a:pPr marL="182563" indent="-182563">
              <a:spcBef>
                <a:spcPts val="100"/>
              </a:spcBef>
              <a:spcAft>
                <a:spcPts val="500"/>
              </a:spcAft>
            </a:pPr>
            <a:r>
              <a:rPr lang="en-US" sz="1600" b="1" dirty="0" smtClean="0">
                <a:solidFill>
                  <a:srgbClr val="0000FF"/>
                </a:solidFill>
              </a:rPr>
              <a:t>Transport calculations in parametric space !!!</a:t>
            </a:r>
            <a:endParaRPr lang="en-US" sz="1600" b="1" dirty="0">
              <a:solidFill>
                <a:srgbClr val="0000FF"/>
              </a:solidFill>
            </a:endParaRP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smtClean="0"/>
              <a:t>Additional </a:t>
            </a:r>
            <a:r>
              <a:rPr lang="en-US" sz="1600" dirty="0"/>
              <a:t>physics/</a:t>
            </a:r>
            <a:r>
              <a:rPr lang="en-US" sz="1600" dirty="0" smtClean="0"/>
              <a:t>chemistry</a:t>
            </a:r>
          </a:p>
          <a:p>
            <a:pPr marL="182563" indent="-182563">
              <a:spcBef>
                <a:spcPts val="100"/>
              </a:spcBef>
              <a:spcAft>
                <a:spcPts val="500"/>
              </a:spcAft>
            </a:pPr>
            <a:r>
              <a:rPr lang="en-US" sz="1600" dirty="0" smtClean="0"/>
              <a:t>Access and configuration of the </a:t>
            </a:r>
            <a:r>
              <a:rPr lang="en-US" sz="1600" dirty="0" err="1" smtClean="0"/>
              <a:t>SAMG_Solver</a:t>
            </a:r>
            <a:r>
              <a:rPr lang="en-US" sz="1600" dirty="0" smtClean="0"/>
              <a:t> from the outside</a:t>
            </a:r>
            <a:endParaRPr lang="en-US" sz="1600" dirty="0"/>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17</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Efficiency considerations</a:t>
            </a:r>
            <a:endParaRPr lang="en-US" dirty="0"/>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smtClean="0"/>
              <a:t>Whatever we do on the facets and FVs has a great impact on speed!</a:t>
            </a:r>
          </a:p>
          <a:p>
            <a:r>
              <a:rPr lang="en-US" dirty="0"/>
              <a:t>To avoid iffy code, interior domains should be visited first, then their </a:t>
            </a:r>
            <a:r>
              <a:rPr lang="en-US" dirty="0" smtClean="0"/>
              <a:t>boundaries separately</a:t>
            </a:r>
          </a:p>
          <a:p>
            <a:r>
              <a:rPr lang="en-US" dirty="0" smtClean="0"/>
              <a:t>Formulation should be extensible for DES implementation</a:t>
            </a:r>
          </a:p>
          <a:p>
            <a:r>
              <a:rPr lang="en-US" dirty="0" smtClean="0"/>
              <a:t>FV visitation mode has a great impact on speed: element-by-element means that facets are only visited once, but may not be possible in higher-order scheme when node-centered saturation gradients are used in the flux approximation</a:t>
            </a:r>
          </a:p>
          <a:p>
            <a:r>
              <a:rPr lang="en-US" dirty="0" smtClean="0"/>
              <a:t>Facet flux computations should be </a:t>
            </a:r>
            <a:r>
              <a:rPr lang="en-US" dirty="0" err="1" smtClean="0"/>
              <a:t>dissassembled</a:t>
            </a:r>
            <a:r>
              <a:rPr lang="en-US" dirty="0" smtClean="0"/>
              <a:t> and </a:t>
            </a:r>
            <a:r>
              <a:rPr lang="en-US" dirty="0" err="1" smtClean="0"/>
              <a:t>recombineable</a:t>
            </a:r>
            <a:r>
              <a:rPr lang="en-US" dirty="0" smtClean="0"/>
              <a:t> in a flexible way</a:t>
            </a:r>
          </a:p>
          <a:p>
            <a:r>
              <a:rPr lang="en-US" dirty="0" smtClean="0"/>
              <a:t>The framework should be flexible enough to quickly implement all kinds of methods</a:t>
            </a:r>
          </a:p>
          <a:p>
            <a:r>
              <a:rPr lang="en-US" dirty="0" smtClean="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b="1" dirty="0" smtClean="0"/>
              <a:t>Design prototype: classes and use-case</a:t>
            </a:r>
            <a:endParaRPr lang="en-US" sz="2400" b="1"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19</a:t>
            </a:fld>
            <a:endParaRPr lang="en-US"/>
          </a:p>
        </p:txBody>
      </p:sp>
    </p:spTree>
    <p:extLst>
      <p:ext uri="{BB962C8B-B14F-4D97-AF65-F5344CB8AC3E}">
        <p14:creationId xmlns:p14="http://schemas.microsoft.com/office/powerpoint/2010/main" val="1709892303"/>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smtClean="0"/>
              <a:t>Layout 1 (class diagram)</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19/01/18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20</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Layout 2</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19/01/18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smtClean="0"/>
              <a:t>Layout 3: Assembly of FVM equations</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19/01/18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22</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smtClean="0">
                <a:latin typeface="Arial"/>
                <a:cs typeface="Arial"/>
              </a:rPr>
              <a:t>LHS</a:t>
            </a:r>
            <a:endParaRPr lang="en-US" sz="2400" dirty="0">
              <a:latin typeface="Arial"/>
              <a:cs typeface="Arial"/>
            </a:endParaRP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smtClean="0">
                <a:latin typeface="Arial"/>
                <a:cs typeface="Arial"/>
              </a:rPr>
              <a:t>RHS</a:t>
            </a:r>
            <a:endParaRPr lang="en-US" sz="2400" dirty="0">
              <a:latin typeface="Arial"/>
              <a:cs typeface="Arial"/>
            </a:endParaRPr>
          </a:p>
        </p:txBody>
      </p:sp>
    </p:spTree>
    <p:extLst>
      <p:ext uri="{BB962C8B-B14F-4D97-AF65-F5344CB8AC3E}">
        <p14:creationId xmlns:p14="http://schemas.microsoft.com/office/powerpoint/2010/main" val="2212040172"/>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classes?</a:t>
            </a:r>
            <a:endParaRPr lang="en-US" dirty="0"/>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smtClean="0">
                <a:latin typeface="Arial"/>
                <a:cs typeface="Arial"/>
              </a:rPr>
              <a:t>FiniteVolumeManager</a:t>
            </a:r>
            <a:endParaRPr lang="en-US" sz="1600" b="1" dirty="0" smtClean="0">
              <a:latin typeface="Arial"/>
              <a:cs typeface="Arial"/>
            </a:endParaRPr>
          </a:p>
          <a:p>
            <a:endParaRPr lang="en-US" sz="1600" b="1" dirty="0" smtClean="0">
              <a:latin typeface="Arial"/>
              <a:cs typeface="Arial"/>
            </a:endParaRPr>
          </a:p>
          <a:p>
            <a:r>
              <a:rPr lang="en-US" sz="1600" b="1" dirty="0" err="1" smtClean="0">
                <a:latin typeface="Arial"/>
                <a:cs typeface="Arial"/>
              </a:rPr>
              <a:t>SaturationFunctions</a:t>
            </a:r>
            <a:endParaRPr lang="en-US" sz="1600" b="1" dirty="0" smtClean="0">
              <a:latin typeface="Arial"/>
              <a:cs typeface="Arial"/>
            </a:endParaRPr>
          </a:p>
          <a:p>
            <a:pPr marL="285750" indent="-285750">
              <a:buFont typeface="Arial" pitchFamily="34" charset="0"/>
              <a:buChar char="•"/>
            </a:pPr>
            <a:r>
              <a:rPr lang="en-US" sz="1600" dirty="0" err="1" smtClean="0">
                <a:latin typeface="Arial"/>
                <a:cs typeface="Arial"/>
              </a:rPr>
              <a:t>relperms</a:t>
            </a:r>
            <a:r>
              <a:rPr lang="en-US" sz="1600" dirty="0" smtClean="0">
                <a:latin typeface="Arial"/>
                <a:cs typeface="Arial"/>
              </a:rPr>
              <a:t>, etc.</a:t>
            </a:r>
            <a:endParaRPr lang="en-US" sz="1600" dirty="0">
              <a:latin typeface="Arial"/>
              <a:cs typeface="Arial"/>
            </a:endParaRPr>
          </a:p>
          <a:p>
            <a:pPr marL="285750" indent="-285750">
              <a:buFont typeface="Arial" pitchFamily="34" charset="0"/>
              <a:buChar char="•"/>
            </a:pPr>
            <a:r>
              <a:rPr lang="en-US" sz="1600" dirty="0" err="1" smtClean="0">
                <a:latin typeface="Arial"/>
                <a:cs typeface="Arial"/>
              </a:rPr>
              <a:t>mobilities</a:t>
            </a:r>
            <a:endParaRPr lang="en-US" sz="1600" dirty="0" smtClean="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smtClean="0">
                <a:latin typeface="Arial"/>
                <a:cs typeface="Arial"/>
              </a:rPr>
              <a:t>Fluid Properties</a:t>
            </a:r>
          </a:p>
          <a:p>
            <a:endParaRPr lang="en-US" sz="1600" b="1" dirty="0">
              <a:latin typeface="Arial"/>
              <a:cs typeface="Arial"/>
            </a:endParaRPr>
          </a:p>
          <a:p>
            <a:r>
              <a:rPr lang="en-US" sz="1600" b="1" dirty="0" err="1" smtClean="0">
                <a:latin typeface="Arial"/>
                <a:cs typeface="Arial"/>
              </a:rPr>
              <a:t>GenericGradientCalculator</a:t>
            </a:r>
            <a:endParaRPr lang="en-US" sz="1600" b="1" dirty="0" smtClean="0">
              <a:latin typeface="Arial"/>
              <a:cs typeface="Arial"/>
            </a:endParaRPr>
          </a:p>
          <a:p>
            <a:endParaRPr lang="en-US" sz="1600" dirty="0">
              <a:latin typeface="Arial"/>
              <a:cs typeface="Arial"/>
            </a:endParaRPr>
          </a:p>
          <a:p>
            <a:r>
              <a:rPr lang="en-US" sz="1600" b="1" dirty="0" err="1" smtClean="0">
                <a:latin typeface="Arial"/>
                <a:cs typeface="Arial"/>
              </a:rPr>
              <a:t>TimeIncrement</a:t>
            </a:r>
            <a:r>
              <a:rPr lang="en-US" sz="1600" dirty="0" smtClean="0">
                <a:latin typeface="Arial"/>
                <a:cs typeface="Arial"/>
              </a:rPr>
              <a:t> </a:t>
            </a:r>
            <a:r>
              <a:rPr lang="en-US" sz="1600" dirty="0">
                <a:latin typeface="Arial"/>
                <a:cs typeface="Arial"/>
              </a:rPr>
              <a:t>c</a:t>
            </a:r>
            <a:r>
              <a:rPr lang="en-US" sz="1600" dirty="0" smtClean="0">
                <a:latin typeface="Arial"/>
                <a:cs typeface="Arial"/>
              </a:rPr>
              <a:t>lass</a:t>
            </a:r>
          </a:p>
          <a:p>
            <a:pPr marL="285750" indent="-285750">
              <a:buFont typeface="Arial" pitchFamily="34" charset="0"/>
              <a:buChar char="•"/>
            </a:pPr>
            <a:r>
              <a:rPr lang="en-US" sz="1600" dirty="0" smtClean="0">
                <a:latin typeface="Arial"/>
                <a:cs typeface="Arial"/>
              </a:rPr>
              <a:t>Calculate CFL or other criteria</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smtClean="0">
                <a:latin typeface="Arial"/>
                <a:cs typeface="Arial"/>
              </a:rPr>
              <a:t>To be carried out and managed by </a:t>
            </a:r>
            <a:r>
              <a:rPr lang="en-US" sz="1600" b="1" i="1" dirty="0" smtClean="0">
                <a:latin typeface="Arial"/>
                <a:cs typeface="Arial"/>
              </a:rPr>
              <a:t>Model</a:t>
            </a:r>
          </a:p>
          <a:p>
            <a:pPr marL="285750" indent="-285750">
              <a:buFont typeface="Arial" pitchFamily="34" charset="0"/>
              <a:buChar char="•"/>
            </a:pPr>
            <a:r>
              <a:rPr lang="en-US" sz="1600" dirty="0" smtClean="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smtClean="0">
                <a:latin typeface="Arial"/>
                <a:cs typeface="Arial"/>
              </a:rPr>
              <a:t>EOS </a:t>
            </a:r>
          </a:p>
          <a:p>
            <a:endParaRPr lang="en-US" sz="1600" dirty="0" smtClean="0">
              <a:latin typeface="Arial"/>
              <a:cs typeface="Arial"/>
            </a:endParaRPr>
          </a:p>
          <a:p>
            <a:r>
              <a:rPr lang="en-US" sz="1600" dirty="0" smtClean="0">
                <a:latin typeface="Arial"/>
                <a:cs typeface="Arial"/>
              </a:rPr>
              <a:t>Additional physics/chemistry</a:t>
            </a:r>
          </a:p>
          <a:p>
            <a:endParaRPr lang="en-US" sz="1600" dirty="0" smtClean="0">
              <a:latin typeface="Arial"/>
              <a:cs typeface="Arial"/>
            </a:endParaRPr>
          </a:p>
          <a:p>
            <a:r>
              <a:rPr lang="en-US" sz="1600" b="1" dirty="0" err="1" smtClean="0">
                <a:latin typeface="Arial"/>
                <a:cs typeface="Arial"/>
              </a:rPr>
              <a:t>InteriorProcessor</a:t>
            </a:r>
            <a:r>
              <a:rPr lang="en-US" sz="1600" dirty="0" smtClean="0">
                <a:latin typeface="Arial"/>
                <a:cs typeface="Arial"/>
              </a:rPr>
              <a:t> (base class)</a:t>
            </a:r>
          </a:p>
          <a:p>
            <a:r>
              <a:rPr lang="en-US" sz="1600" dirty="0" smtClean="0">
                <a:latin typeface="Arial"/>
                <a:cs typeface="Arial"/>
              </a:rPr>
              <a:t>Accumulation (LHS?)</a:t>
            </a:r>
          </a:p>
          <a:p>
            <a:r>
              <a:rPr lang="en-US" sz="1600" b="1" dirty="0" err="1" smtClean="0">
                <a:latin typeface="Arial"/>
                <a:cs typeface="Arial"/>
              </a:rPr>
              <a:t>BoundaryProcessor</a:t>
            </a:r>
            <a:r>
              <a:rPr lang="en-US" sz="1600" dirty="0" smtClean="0">
                <a:latin typeface="Arial"/>
                <a:cs typeface="Arial"/>
              </a:rPr>
              <a:t> (base class)</a:t>
            </a:r>
          </a:p>
          <a:p>
            <a:r>
              <a:rPr lang="en-US" sz="1600" dirty="0" smtClean="0">
                <a:latin typeface="Arial"/>
                <a:cs typeface="Arial"/>
              </a:rPr>
              <a:t>Accumulation (RHS?)</a:t>
            </a:r>
          </a:p>
          <a:p>
            <a:endParaRPr lang="en-US" sz="1600" b="1" dirty="0" smtClean="0">
              <a:latin typeface="Arial"/>
              <a:cs typeface="Arial"/>
            </a:endParaRPr>
          </a:p>
          <a:p>
            <a:r>
              <a:rPr lang="en-US" sz="1600" b="1" dirty="0" err="1" smtClean="0">
                <a:latin typeface="Arial"/>
                <a:cs typeface="Arial"/>
              </a:rPr>
              <a:t>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r>
              <a:rPr lang="en-US" sz="1600" dirty="0" smtClean="0">
                <a:latin typeface="Arial"/>
                <a:cs typeface="Arial"/>
              </a:rPr>
              <a:t> (RHS vs. LHS accumulations)</a:t>
            </a:r>
          </a:p>
          <a:p>
            <a:pPr marL="285750" indent="-285750">
              <a:buFont typeface="Arial" pitchFamily="34" charset="0"/>
              <a:buChar char="•"/>
            </a:pPr>
            <a:r>
              <a:rPr lang="en-US" sz="1600" dirty="0" smtClean="0">
                <a:latin typeface="Arial"/>
                <a:cs typeface="Arial"/>
              </a:rPr>
              <a:t>Accumulation order</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23</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Classes – envisaged at </a:t>
            </a:r>
            <a:r>
              <a:rPr lang="en-US" dirty="0" err="1" smtClean="0"/>
              <a:t>Colleoli</a:t>
            </a:r>
            <a:r>
              <a:rPr lang="en-US" dirty="0" smtClean="0"/>
              <a:t> Workshop</a:t>
            </a:r>
            <a:endParaRPr lang="en-US" dirty="0"/>
          </a:p>
        </p:txBody>
      </p:sp>
      <p:sp>
        <p:nvSpPr>
          <p:cNvPr id="3" name="Content Placeholder 2"/>
          <p:cNvSpPr>
            <a:spLocks noGrp="1"/>
          </p:cNvSpPr>
          <p:nvPr>
            <p:ph idx="1"/>
          </p:nvPr>
        </p:nvSpPr>
        <p:spPr/>
        <p:txBody>
          <a:bodyPr>
            <a:normAutofit/>
          </a:bodyPr>
          <a:lstStyle/>
          <a:p>
            <a:r>
              <a:rPr lang="en-US" dirty="0" err="1" smtClean="0"/>
              <a:t>SaturationFunction</a:t>
            </a:r>
            <a:r>
              <a:rPr lang="en-US" dirty="0" smtClean="0"/>
              <a:t> – relative permeability and capillary pressure</a:t>
            </a:r>
          </a:p>
          <a:p>
            <a:r>
              <a:rPr lang="en-US" dirty="0" err="1" smtClean="0"/>
              <a:t>FluidProperties</a:t>
            </a:r>
            <a:r>
              <a:rPr lang="en-US" dirty="0" smtClean="0"/>
              <a:t> – fluid properties, speciation, phases, components</a:t>
            </a:r>
          </a:p>
          <a:p>
            <a:r>
              <a:rPr lang="en-US" dirty="0" err="1" smtClean="0"/>
              <a:t>GenericPropertyGradient</a:t>
            </a:r>
            <a:r>
              <a:rPr lang="en-US" dirty="0" smtClean="0"/>
              <a:t> – FV centered gradients</a:t>
            </a:r>
          </a:p>
          <a:p>
            <a:r>
              <a:rPr lang="en-US" dirty="0" err="1" smtClean="0"/>
              <a:t>FlowFunctions</a:t>
            </a:r>
            <a:r>
              <a:rPr lang="en-US" dirty="0" smtClean="0"/>
              <a:t> – fractional flows, derivatives etc.</a:t>
            </a:r>
          </a:p>
          <a:p>
            <a:r>
              <a:rPr lang="en-US" dirty="0" err="1" smtClean="0"/>
              <a:t>FacetFlux</a:t>
            </a:r>
            <a:r>
              <a:rPr lang="en-US" dirty="0" smtClean="0"/>
              <a:t> – upwind directions and facet fluxes computed stencil by stencil</a:t>
            </a:r>
          </a:p>
          <a:p>
            <a:r>
              <a:rPr lang="en-US" dirty="0" err="1" smtClean="0"/>
              <a:t>FluxEvaluator</a:t>
            </a:r>
            <a:r>
              <a:rPr lang="en-US" dirty="0" smtClean="0"/>
              <a:t> – flux computations for entire region of computation</a:t>
            </a:r>
          </a:p>
          <a:p>
            <a:r>
              <a:rPr lang="en-US" dirty="0" smtClean="0"/>
              <a:t>Accumulator – assembling LHS and RHS operators </a:t>
            </a:r>
          </a:p>
          <a:p>
            <a:r>
              <a:rPr lang="en-US" dirty="0" err="1" smtClean="0"/>
              <a:t>VectorOperator</a:t>
            </a:r>
            <a:r>
              <a:rPr lang="en-US" dirty="0" smtClean="0"/>
              <a:t> – base class for RHS integrals and BCs</a:t>
            </a:r>
          </a:p>
          <a:p>
            <a:r>
              <a:rPr lang="en-US" dirty="0" err="1" smtClean="0"/>
              <a:t>MatrixOperator</a:t>
            </a:r>
            <a:r>
              <a:rPr lang="en-US" dirty="0" smtClean="0"/>
              <a:t> – base class for LHS integrals</a:t>
            </a:r>
          </a:p>
          <a:p>
            <a:r>
              <a:rPr lang="en-US" dirty="0" err="1" smtClean="0"/>
              <a:t>ExplicitTransport</a:t>
            </a:r>
            <a:r>
              <a:rPr lang="en-US" dirty="0" smtClean="0"/>
              <a:t> – assembly of explicit scheme solution</a:t>
            </a:r>
          </a:p>
          <a:p>
            <a:r>
              <a:rPr lang="en-US" dirty="0" err="1" smtClean="0"/>
              <a:t>ImplicitTransport</a:t>
            </a:r>
            <a:r>
              <a:rPr lang="en-US" dirty="0" smtClean="0"/>
              <a:t> – Newton-</a:t>
            </a:r>
            <a:r>
              <a:rPr lang="en-US" dirty="0" err="1" smtClean="0"/>
              <a:t>Raphson</a:t>
            </a:r>
            <a:r>
              <a:rPr lang="en-US" dirty="0" smtClean="0"/>
              <a:t> – </a:t>
            </a:r>
            <a:r>
              <a:rPr lang="en-US" dirty="0" err="1" smtClean="0"/>
              <a:t>LineSearch</a:t>
            </a:r>
            <a:r>
              <a:rPr lang="en-US" dirty="0" smtClean="0"/>
              <a:t> accumulation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smtClean="0">
                <a:latin typeface="Arial"/>
                <a:cs typeface="Arial"/>
              </a:rPr>
              <a:t>Read Class</a:t>
            </a:r>
          </a:p>
          <a:p>
            <a:pPr marL="285750" indent="-285750">
              <a:buFont typeface="Arial" pitchFamily="34" charset="0"/>
              <a:buChar char="•"/>
            </a:pPr>
            <a:r>
              <a:rPr lang="en-US" sz="1600" dirty="0" smtClean="0">
                <a:latin typeface="Arial"/>
                <a:cs typeface="Arial"/>
              </a:rPr>
              <a:t>Reading variables</a:t>
            </a:r>
          </a:p>
          <a:p>
            <a:pPr marL="285750" indent="-285750">
              <a:buFont typeface="Arial" pitchFamily="34" charset="0"/>
              <a:buChar char="•"/>
            </a:pPr>
            <a:r>
              <a:rPr lang="en-US" sz="1600" dirty="0" smtClean="0">
                <a:latin typeface="Arial"/>
                <a:cs typeface="Arial"/>
              </a:rPr>
              <a:t>Scaling n and m</a:t>
            </a:r>
          </a:p>
          <a:p>
            <a:endParaRPr lang="en-US" sz="1600" dirty="0" smtClean="0">
              <a:latin typeface="Arial"/>
              <a:cs typeface="Arial"/>
            </a:endParaRPr>
          </a:p>
          <a:p>
            <a:r>
              <a:rPr lang="en-US" sz="1600" dirty="0" smtClean="0">
                <a:latin typeface="Arial"/>
                <a:cs typeface="Arial"/>
              </a:rPr>
              <a:t>Store Class</a:t>
            </a:r>
          </a:p>
          <a:p>
            <a:pPr marL="285750" indent="-285750">
              <a:buFont typeface="Arial" pitchFamily="34" charset="0"/>
              <a:buChar char="•"/>
            </a:pPr>
            <a:r>
              <a:rPr lang="en-US" sz="1600" dirty="0" smtClean="0">
                <a:latin typeface="Arial"/>
                <a:cs typeface="Arial"/>
              </a:rPr>
              <a:t>Range check</a:t>
            </a:r>
          </a:p>
          <a:p>
            <a:pPr marL="285750" indent="-285750">
              <a:buFont typeface="Arial" pitchFamily="34" charset="0"/>
              <a:buChar char="•"/>
            </a:pPr>
            <a:r>
              <a:rPr lang="en-US" sz="1600" dirty="0" smtClean="0">
                <a:latin typeface="Arial"/>
                <a:cs typeface="Arial"/>
              </a:rPr>
              <a:t>Storing results and </a:t>
            </a:r>
            <a:r>
              <a:rPr lang="en-US" sz="1600" dirty="0" err="1" smtClean="0">
                <a:latin typeface="Arial"/>
                <a:cs typeface="Arial"/>
              </a:rPr>
              <a:t>velocitits</a:t>
            </a:r>
            <a:endParaRPr lang="en-US" sz="1600" dirty="0" smtClean="0">
              <a:latin typeface="Arial"/>
              <a:cs typeface="Arial"/>
            </a:endParaRPr>
          </a:p>
          <a:p>
            <a:endParaRPr lang="en-US" sz="1600" b="1" dirty="0">
              <a:latin typeface="Arial"/>
              <a:cs typeface="Arial"/>
            </a:endParaRPr>
          </a:p>
          <a:p>
            <a:r>
              <a:rPr lang="en-US" sz="1600" b="1" dirty="0" smtClean="0">
                <a:latin typeface="Arial"/>
                <a:cs typeface="Arial"/>
              </a:rPr>
              <a:t>Time Increment Class</a:t>
            </a:r>
          </a:p>
          <a:p>
            <a:pPr marL="285750" indent="-285750">
              <a:buFont typeface="Arial" pitchFamily="34" charset="0"/>
              <a:buChar char="•"/>
            </a:pPr>
            <a:r>
              <a:rPr lang="en-US" sz="1600" dirty="0" smtClean="0">
                <a:latin typeface="Arial"/>
                <a:cs typeface="Arial"/>
              </a:rPr>
              <a:t>Calculate CFL</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r>
              <a:rPr lang="en-US" sz="1600" b="1" dirty="0" err="1" smtClean="0">
                <a:latin typeface="Arial"/>
                <a:cs typeface="Arial"/>
              </a:rPr>
              <a:t>UpwindDirection</a:t>
            </a:r>
            <a:r>
              <a:rPr lang="en-US" sz="1600" b="1" dirty="0" smtClean="0">
                <a:latin typeface="Arial"/>
                <a:cs typeface="Arial"/>
              </a:rPr>
              <a:t> Class</a:t>
            </a:r>
          </a:p>
          <a:p>
            <a:pPr marL="285750" indent="-285750">
              <a:buFont typeface="Arial" pitchFamily="34" charset="0"/>
              <a:buChar char="•"/>
            </a:pPr>
            <a:r>
              <a:rPr lang="en-US" sz="1600" dirty="0" smtClean="0">
                <a:latin typeface="Arial"/>
                <a:cs typeface="Arial"/>
              </a:rPr>
              <a:t>Projections</a:t>
            </a:r>
          </a:p>
          <a:p>
            <a:pPr marL="285750" indent="-285750">
              <a:buFont typeface="Arial" pitchFamily="34" charset="0"/>
              <a:buChar char="•"/>
            </a:pPr>
            <a:r>
              <a:rPr lang="en-US" sz="1600" dirty="0" smtClean="0">
                <a:latin typeface="Arial"/>
                <a:cs typeface="Arial"/>
              </a:rPr>
              <a:t>Determine upwind nodes</a:t>
            </a:r>
          </a:p>
          <a:p>
            <a:endParaRPr lang="en-US" sz="1600" dirty="0">
              <a:latin typeface="Arial"/>
              <a:cs typeface="Arial"/>
            </a:endParaRPr>
          </a:p>
          <a:p>
            <a:r>
              <a:rPr lang="en-US" sz="1600" b="1" dirty="0" smtClean="0">
                <a:latin typeface="Arial"/>
                <a:cs typeface="Arial"/>
              </a:rPr>
              <a:t>Manager Class</a:t>
            </a:r>
          </a:p>
          <a:p>
            <a:pPr marL="285750" indent="-285750">
              <a:buFont typeface="Arial" pitchFamily="34" charset="0"/>
              <a:buChar char="•"/>
            </a:pPr>
            <a:r>
              <a:rPr lang="en-US" sz="1600" dirty="0" smtClean="0">
                <a:latin typeface="Arial"/>
                <a:cs typeface="Arial"/>
              </a:rPr>
              <a:t>Calculating and updating porosity and pore volume</a:t>
            </a:r>
          </a:p>
          <a:p>
            <a:pPr marL="285750" indent="-285750">
              <a:buFont typeface="Arial" pitchFamily="34" charset="0"/>
              <a:buChar char="•"/>
            </a:pPr>
            <a:r>
              <a:rPr lang="en-US" sz="1600" dirty="0" smtClean="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smtClean="0">
                <a:latin typeface="Arial"/>
                <a:cs typeface="Arial"/>
              </a:rPr>
              <a:t>Additional physics/chemistry</a:t>
            </a:r>
          </a:p>
          <a:p>
            <a:endParaRPr lang="en-US" sz="1600" dirty="0" smtClean="0">
              <a:latin typeface="Arial"/>
              <a:cs typeface="Arial"/>
            </a:endParaRPr>
          </a:p>
          <a:p>
            <a:r>
              <a:rPr lang="en-US" sz="1600" b="1" dirty="0" smtClean="0">
                <a:latin typeface="Arial"/>
                <a:cs typeface="Arial"/>
              </a:rPr>
              <a:t>Boundary Class</a:t>
            </a:r>
          </a:p>
          <a:p>
            <a:pPr marL="285750" indent="-285750">
              <a:buFont typeface="Arial" pitchFamily="34" charset="0"/>
              <a:buChar char="•"/>
            </a:pPr>
            <a:r>
              <a:rPr lang="en-US" sz="1600" dirty="0" smtClean="0">
                <a:latin typeface="Arial"/>
                <a:cs typeface="Arial"/>
              </a:rPr>
              <a:t>Boundary conditions</a:t>
            </a:r>
          </a:p>
          <a:p>
            <a:pPr marL="285750" indent="-285750">
              <a:buFontTx/>
              <a:buChar char="-"/>
            </a:pPr>
            <a:endParaRPr lang="en-US" sz="1600" dirty="0" smtClean="0">
              <a:latin typeface="Arial"/>
              <a:cs typeface="Arial"/>
            </a:endParaRPr>
          </a:p>
          <a:p>
            <a:r>
              <a:rPr lang="en-US" sz="1600" b="1" dirty="0" err="1" smtClean="0">
                <a:latin typeface="Arial"/>
                <a:cs typeface="Arial"/>
              </a:rPr>
              <a:t>DetermineStoreFacetFlux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25</a:t>
            </a:fld>
            <a:endParaRPr lang="de-CH"/>
          </a:p>
        </p:txBody>
      </p:sp>
    </p:spTree>
    <p:extLst>
      <p:ext uri="{BB962C8B-B14F-4D97-AF65-F5344CB8AC3E}">
        <p14:creationId xmlns:p14="http://schemas.microsoft.com/office/powerpoint/2010/main" val="3985956277"/>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FiniteVolumeVariableGradient</a:t>
            </a:r>
            <a:endParaRPr lang="en-US" dirty="0"/>
          </a:p>
        </p:txBody>
      </p:sp>
      <p:sp>
        <p:nvSpPr>
          <p:cNvPr id="3" name="Content Placeholder 2"/>
          <p:cNvSpPr>
            <a:spLocks noGrp="1"/>
          </p:cNvSpPr>
          <p:nvPr>
            <p:ph idx="1"/>
          </p:nvPr>
        </p:nvSpPr>
        <p:spPr/>
        <p:txBody>
          <a:bodyPr/>
          <a:lstStyle/>
          <a:p>
            <a:r>
              <a:rPr lang="en-US" dirty="0" err="1" smtClean="0"/>
              <a:t>PropertyGradient</a:t>
            </a:r>
            <a:r>
              <a:rPr lang="en-US" dirty="0" smtClean="0"/>
              <a:t>()</a:t>
            </a:r>
          </a:p>
          <a:p>
            <a:r>
              <a:rPr lang="en-US" dirty="0" err="1" smtClean="0"/>
              <a:t>PropertyGradientLimiter</a:t>
            </a:r>
            <a:r>
              <a:rPr lang="en-US" dirty="0" smtClean="0"/>
              <a:t>() – should this be here?</a:t>
            </a:r>
          </a:p>
          <a:p>
            <a:endParaRPr lang="en-US" dirty="0" smtClean="0"/>
          </a:p>
          <a:p>
            <a:r>
              <a:rPr lang="en-US" dirty="0" smtClean="0"/>
              <a:t>For FV centered estimation of facet saturations as in Geiger et al. (2004)</a:t>
            </a:r>
          </a:p>
          <a:p>
            <a:r>
              <a:rPr lang="en-US" dirty="0" smtClean="0"/>
              <a:t>Separate treatment of model boundary versus interior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2244313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SaturationFunction</a:t>
            </a:r>
            <a:endParaRPr lang="en-US" dirty="0"/>
          </a:p>
        </p:txBody>
      </p:sp>
      <p:sp>
        <p:nvSpPr>
          <p:cNvPr id="3" name="Content Placeholder 2"/>
          <p:cNvSpPr>
            <a:spLocks noGrp="1"/>
          </p:cNvSpPr>
          <p:nvPr>
            <p:ph idx="1"/>
          </p:nvPr>
        </p:nvSpPr>
        <p:spPr/>
        <p:txBody>
          <a:bodyPr/>
          <a:lstStyle/>
          <a:p>
            <a:r>
              <a:rPr lang="en-US" dirty="0" smtClean="0"/>
              <a:t>From saturation(s) provided externally computes </a:t>
            </a:r>
            <a:r>
              <a:rPr lang="en-US" dirty="0" err="1" smtClean="0"/>
              <a:t>kri</a:t>
            </a:r>
            <a:r>
              <a:rPr lang="en-US" dirty="0" smtClean="0"/>
              <a:t>(</a:t>
            </a:r>
            <a:r>
              <a:rPr lang="en-US" dirty="0" err="1" smtClean="0"/>
              <a:t>sw</a:t>
            </a:r>
            <a:r>
              <a:rPr lang="en-US" dirty="0" smtClean="0"/>
              <a:t>), pc(</a:t>
            </a:r>
            <a:r>
              <a:rPr lang="en-US" dirty="0" err="1" smtClean="0"/>
              <a:t>sw</a:t>
            </a:r>
            <a:r>
              <a:rPr lang="en-US" dirty="0" smtClean="0"/>
              <a:t>), </a:t>
            </a:r>
            <a:r>
              <a:rPr lang="en-US" dirty="0" err="1" smtClean="0"/>
              <a:t>dpc</a:t>
            </a:r>
            <a:r>
              <a:rPr lang="en-US" dirty="0" smtClean="0"/>
              <a:t>/ds</a:t>
            </a:r>
            <a:endParaRPr lang="en-US" dirty="0"/>
          </a:p>
          <a:p>
            <a:r>
              <a:rPr lang="en-US" dirty="0" smtClean="0"/>
              <a:t>Has access to the element interface (and initializes itself there)</a:t>
            </a:r>
          </a:p>
          <a:p>
            <a:r>
              <a:rPr lang="en-US" dirty="0" smtClean="0"/>
              <a:t>relative permeability can be a function of all kinds of parameters (hysteresis, velocity dependence, etc.)</a:t>
            </a:r>
          </a:p>
          <a:p>
            <a:r>
              <a:rPr lang="en-US" dirty="0" smtClean="0"/>
              <a:t>capillary pressure function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27</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Fluid</a:t>
            </a:r>
            <a:r>
              <a:rPr lang="en-US" dirty="0" err="1" smtClean="0">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smtClean="0"/>
              <a:t>Input are P, T, X</a:t>
            </a:r>
          </a:p>
          <a:p>
            <a:r>
              <a:rPr lang="en-US" dirty="0" smtClean="0"/>
              <a:t>(Maximum) number of phases</a:t>
            </a:r>
          </a:p>
          <a:p>
            <a:r>
              <a:rPr lang="en-US" dirty="0" smtClean="0"/>
              <a:t>Number of components per phase</a:t>
            </a:r>
          </a:p>
          <a:p>
            <a:r>
              <a:rPr lang="en-US" dirty="0" smtClean="0"/>
              <a:t>Mass fractions</a:t>
            </a:r>
          </a:p>
          <a:p>
            <a:r>
              <a:rPr lang="en-US" dirty="0" smtClean="0"/>
              <a:t>Phase densities</a:t>
            </a:r>
          </a:p>
          <a:p>
            <a:r>
              <a:rPr lang="en-US" dirty="0" smtClean="0"/>
              <a:t>Phase viscosities</a:t>
            </a:r>
          </a:p>
          <a:p>
            <a:r>
              <a:rPr lang="en-US" dirty="0" smtClean="0"/>
              <a:t>Saturations (in the case of mass-fraction based scheme)</a:t>
            </a:r>
          </a:p>
          <a:p>
            <a:r>
              <a:rPr lang="en-US" dirty="0" smtClean="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28</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smtClean="0"/>
              <a:t>Compute total mobility, fractional flows, derivatives, pc-derivatives etc. from input variables computed by </a:t>
            </a:r>
            <a:r>
              <a:rPr lang="en-US" b="1" dirty="0" err="1" smtClean="0"/>
              <a:t>SaturationFunctions</a:t>
            </a:r>
            <a:r>
              <a:rPr lang="en-US" dirty="0" smtClean="0"/>
              <a:t> and </a:t>
            </a:r>
            <a:r>
              <a:rPr lang="en-US" b="1" dirty="0" err="1" smtClean="0"/>
              <a:t>FluidProperties</a:t>
            </a:r>
            <a:endParaRPr lang="en-US" b="1" dirty="0" smtClean="0"/>
          </a:p>
          <a:p>
            <a:r>
              <a:rPr lang="en-US" dirty="0" smtClean="0"/>
              <a:t>Default: all derivatives are evaluated numerically</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29</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smtClean="0"/>
              <a:t>FacetNormalPermeabilities</a:t>
            </a:r>
            <a:r>
              <a:rPr lang="en-US" dirty="0" smtClean="0"/>
              <a:t>() – method called in constructor</a:t>
            </a:r>
          </a:p>
          <a:p>
            <a:r>
              <a:rPr lang="en-US" dirty="0" err="1" smtClean="0"/>
              <a:t>FaceAndComponentFluxes</a:t>
            </a:r>
            <a:r>
              <a:rPr lang="en-US" dirty="0" smtClean="0"/>
              <a:t>()</a:t>
            </a:r>
          </a:p>
          <a:p>
            <a:r>
              <a:rPr lang="en-US" dirty="0" err="1" smtClean="0"/>
              <a:t>UpwindDirection</a:t>
            </a:r>
            <a:r>
              <a:rPr lang="en-US" dirty="0" smtClean="0"/>
              <a:t>() – prerequisite to flux </a:t>
            </a:r>
            <a:r>
              <a:rPr lang="en-US" dirty="0" err="1" smtClean="0"/>
              <a:t>calculuation</a:t>
            </a:r>
            <a:r>
              <a:rPr lang="en-US" dirty="0" smtClean="0"/>
              <a:t>; must be found for each phase</a:t>
            </a:r>
          </a:p>
          <a:p>
            <a:r>
              <a:rPr lang="en-US" dirty="0" smtClean="0"/>
              <a:t>To compute first- and </a:t>
            </a:r>
            <a:r>
              <a:rPr lang="en-US" dirty="0"/>
              <a:t>second order </a:t>
            </a:r>
            <a:r>
              <a:rPr lang="en-US" dirty="0" smtClean="0"/>
              <a:t>facet fluxes </a:t>
            </a:r>
          </a:p>
          <a:p>
            <a:r>
              <a:rPr lang="en-US" b="1" dirty="0" smtClean="0"/>
              <a:t>Operations</a:t>
            </a:r>
            <a:r>
              <a:rPr lang="en-US" dirty="0" smtClean="0"/>
              <a:t>:</a:t>
            </a:r>
          </a:p>
          <a:p>
            <a:pPr lvl="1"/>
            <a:r>
              <a:rPr lang="en-US" dirty="0"/>
              <a:t>computes total mobility and velocity if needs</a:t>
            </a:r>
          </a:p>
          <a:p>
            <a:pPr lvl="1"/>
            <a:r>
              <a:rPr lang="en-US" dirty="0"/>
              <a:t>interpolate saturation using </a:t>
            </a:r>
            <a:r>
              <a:rPr lang="en-US" b="1" dirty="0" err="1" smtClean="0"/>
              <a:t>FiniteVolumeVariableGradient</a:t>
            </a:r>
            <a:r>
              <a:rPr lang="en-US" dirty="0" smtClean="0"/>
              <a:t> </a:t>
            </a:r>
            <a:r>
              <a:rPr lang="en-US" dirty="0"/>
              <a:t>to find facet saturation</a:t>
            </a:r>
          </a:p>
          <a:p>
            <a:pPr lvl="1"/>
            <a:r>
              <a:rPr lang="en-US" dirty="0" smtClean="0"/>
              <a:t>Uses </a:t>
            </a:r>
            <a:r>
              <a:rPr lang="en-US" b="1" dirty="0" err="1" smtClean="0"/>
              <a:t>FlowFunctions</a:t>
            </a:r>
            <a:r>
              <a:rPr lang="en-US" dirty="0" smtClean="0"/>
              <a:t> to compute fractional flow, derivatives etc.</a:t>
            </a:r>
          </a:p>
          <a:p>
            <a:pPr lvl="1"/>
            <a:r>
              <a:rPr lang="en-US" dirty="0" smtClean="0"/>
              <a:t>find </a:t>
            </a:r>
            <a:r>
              <a:rPr lang="en-US" i="1" dirty="0" smtClean="0"/>
              <a:t>phase </a:t>
            </a:r>
            <a:r>
              <a:rPr lang="en-US" i="1" dirty="0" err="1" smtClean="0"/>
              <a:t>velocit</a:t>
            </a:r>
            <a:r>
              <a:rPr lang="en-US" i="1" dirty="0" smtClean="0"/>
              <a:t>(</a:t>
            </a:r>
            <a:r>
              <a:rPr lang="en-US" i="1" dirty="0" err="1" smtClean="0"/>
              <a:t>ies</a:t>
            </a:r>
            <a:r>
              <a:rPr lang="en-US" i="1" dirty="0" smtClean="0"/>
              <a:t>) </a:t>
            </a:r>
            <a:r>
              <a:rPr lang="en-US" dirty="0"/>
              <a:t>(viscous, gravitational and capillary</a:t>
            </a:r>
            <a:r>
              <a:rPr lang="en-US" dirty="0" smtClean="0"/>
              <a:t>) at the barycenter to determine the upwind directions for all facets</a:t>
            </a:r>
          </a:p>
          <a:p>
            <a:pPr lvl="1"/>
            <a:r>
              <a:rPr lang="en-US" dirty="0" smtClean="0"/>
              <a:t>evaluate </a:t>
            </a:r>
            <a:r>
              <a:rPr lang="en-US" dirty="0" err="1" smtClean="0"/>
              <a:t>relperms</a:t>
            </a:r>
            <a:r>
              <a:rPr lang="en-US" dirty="0" smtClean="0"/>
              <a:t> (using all kinds of parameters) via </a:t>
            </a:r>
            <a:r>
              <a:rPr lang="en-US" b="1" dirty="0" err="1" smtClean="0"/>
              <a:t>SaturationFunction</a:t>
            </a:r>
            <a:endParaRPr lang="en-US" b="1" dirty="0" smtClean="0"/>
          </a:p>
          <a:p>
            <a:pPr lvl="1"/>
            <a:r>
              <a:rPr lang="en-US" dirty="0" smtClean="0"/>
              <a:t>Get fluid properties (</a:t>
            </a:r>
            <a:r>
              <a:rPr lang="en-US" dirty="0" err="1" smtClean="0"/>
              <a:t>densitie</a:t>
            </a:r>
            <a:r>
              <a:rPr lang="en-US" dirty="0" smtClean="0"/>
              <a:t>(s), viscosity(s), concentrations etc.)</a:t>
            </a:r>
          </a:p>
          <a:p>
            <a:pPr lvl="1"/>
            <a:r>
              <a:rPr lang="en-US" dirty="0" smtClean="0"/>
              <a:t>Evaluate </a:t>
            </a:r>
            <a:r>
              <a:rPr lang="en-US" dirty="0" err="1" smtClean="0"/>
              <a:t>mobilities</a:t>
            </a:r>
            <a:r>
              <a:rPr lang="en-US" dirty="0" smtClean="0"/>
              <a:t> and fractional flows</a:t>
            </a:r>
          </a:p>
          <a:p>
            <a:pPr lvl="1"/>
            <a:r>
              <a:rPr lang="en-US" dirty="0" smtClean="0"/>
              <a:t>Compute facet fluxes</a:t>
            </a:r>
          </a:p>
          <a:p>
            <a:pPr lvl="1"/>
            <a:r>
              <a:rPr lang="en-US" dirty="0" smtClean="0"/>
              <a:t>Store facet fluxes</a:t>
            </a:r>
          </a:p>
          <a:p>
            <a:pPr lvl="1"/>
            <a:r>
              <a:rPr lang="en-US" dirty="0" smtClean="0"/>
              <a:t>NO LIMITING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30</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Upstream direction vs. Inside-Outside nodes</a:t>
            </a:r>
            <a:endParaRPr lang="en-US" dirty="0"/>
          </a:p>
        </p:txBody>
      </p:sp>
      <p:sp>
        <p:nvSpPr>
          <p:cNvPr id="3" name="Content Placeholder 2"/>
          <p:cNvSpPr>
            <a:spLocks noGrp="1"/>
          </p:cNvSpPr>
          <p:nvPr>
            <p:ph idx="1"/>
          </p:nvPr>
        </p:nvSpPr>
        <p:spPr>
          <a:xfrm>
            <a:off x="457200" y="914401"/>
            <a:ext cx="8229600" cy="498376"/>
          </a:xfrm>
        </p:spPr>
        <p:txBody>
          <a:bodyPr/>
          <a:lstStyle/>
          <a:p>
            <a:r>
              <a:rPr lang="en-US" dirty="0" smtClean="0"/>
              <a:t>Keep the distinction clear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31</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a:t>
              </a:r>
              <a:r>
                <a:rPr lang="en-US" dirty="0" smtClean="0">
                  <a:solidFill>
                    <a:srgbClr val="FF6600"/>
                  </a:solidFill>
                  <a:latin typeface="Arial"/>
                  <a:cs typeface="Arial"/>
                </a:rPr>
                <a:t>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Finding the upstream direction</a:t>
            </a:r>
            <a:endParaRPr lang="en-US" dirty="0"/>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smtClean="0"/>
              <a:t>Method of </a:t>
            </a:r>
            <a:r>
              <a:rPr lang="en-US" sz="1800" dirty="0" err="1" smtClean="0"/>
              <a:t>Shaho</a:t>
            </a:r>
            <a:r>
              <a:rPr lang="en-US" sz="1800" dirty="0" smtClean="0"/>
              <a:t> for simultaneous capillary – gravitational  - viscous flows.</a:t>
            </a:r>
            <a:endParaRPr lang="en-US" sz="1800"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smtClean="0">
                <a:solidFill>
                  <a:schemeClr val="accent1">
                    <a:lumMod val="50000"/>
                  </a:schemeClr>
                </a:solidFill>
              </a:rPr>
              <a:t>average o-w mobility  </a:t>
            </a:r>
            <a:endParaRPr lang="en-US" dirty="0">
              <a:solidFill>
                <a:schemeClr val="accent1">
                  <a:lumMod val="50000"/>
                </a:schemeClr>
              </a:solidFill>
            </a:endParaRPr>
          </a:p>
        </p:txBody>
      </p:sp>
    </p:spTree>
    <p:extLst>
      <p:ext uri="{BB962C8B-B14F-4D97-AF65-F5344CB8AC3E}">
        <p14:creationId xmlns:p14="http://schemas.microsoft.com/office/powerpoint/2010/main" val="4004265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smtClean="0"/>
              <a:t>Upstream direction calculation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33</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smtClean="0">
                <a:solidFill>
                  <a:srgbClr val="0000FF"/>
                </a:solidFill>
                <a:latin typeface="Arial"/>
                <a:cs typeface="Arial"/>
              </a:rPr>
              <a:t>for an incoming flux</a:t>
            </a:r>
            <a:endParaRPr lang="en-US" sz="1600" dirty="0">
              <a:solidFill>
                <a:srgbClr val="0000FF"/>
              </a:solidFill>
              <a:latin typeface="Arial"/>
              <a:cs typeface="Arial"/>
            </a:endParaRP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smtClean="0">
                <a:solidFill>
                  <a:srgbClr val="FF0066"/>
                </a:solidFill>
                <a:latin typeface="Arial"/>
                <a:cs typeface="Arial"/>
              </a:rPr>
              <a:t>for outgoing fluxes</a:t>
            </a:r>
            <a:endParaRPr lang="en-US" sz="1600" dirty="0">
              <a:solidFill>
                <a:srgbClr val="FF0066"/>
              </a:solidFill>
              <a:latin typeface="Arial"/>
              <a:cs typeface="Arial"/>
            </a:endParaRP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smtClean="0">
                <a:latin typeface="Arial"/>
                <a:cs typeface="Arial"/>
              </a:rPr>
              <a:t>k</a:t>
            </a:r>
            <a:r>
              <a:rPr lang="en-US" baseline="30000" dirty="0" err="1" smtClean="0">
                <a:latin typeface="Arial"/>
                <a:cs typeface="Arial"/>
              </a:rPr>
              <a:t>_hat</a:t>
            </a:r>
            <a:r>
              <a:rPr lang="en-US" baseline="30000" dirty="0" smtClean="0">
                <a:latin typeface="Arial"/>
                <a:cs typeface="Arial"/>
              </a:rPr>
              <a:t> is </a:t>
            </a:r>
            <a:r>
              <a:rPr lang="en-US" baseline="30000" dirty="0">
                <a:latin typeface="Arial"/>
                <a:cs typeface="Arial"/>
              </a:rPr>
              <a:t>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smtClean="0"/>
              <a:t>FacetFluxes</a:t>
            </a:r>
            <a:r>
              <a:rPr lang="en-US" dirty="0" smtClean="0"/>
              <a:t>() – distributed and stored on facets</a:t>
            </a:r>
          </a:p>
          <a:p>
            <a:r>
              <a:rPr lang="en-US" dirty="0" err="1" smtClean="0"/>
              <a:t>FiniteVolumeFluxBalance</a:t>
            </a:r>
            <a:r>
              <a:rPr lang="en-US" dirty="0" smtClean="0"/>
              <a:t>() – stored on finite volumes</a:t>
            </a:r>
          </a:p>
          <a:p>
            <a:r>
              <a:rPr lang="en-US" dirty="0" err="1" smtClean="0"/>
              <a:t>FiniteVolumePropertyGradients</a:t>
            </a:r>
            <a:r>
              <a:rPr lang="en-US" dirty="0" smtClean="0"/>
              <a:t>()</a:t>
            </a:r>
          </a:p>
          <a:p>
            <a:r>
              <a:rPr lang="en-US" dirty="0" err="1" smtClean="0"/>
              <a:t>FluxDivergence</a:t>
            </a:r>
            <a:r>
              <a:rPr lang="en-US" dirty="0" smtClean="0"/>
              <a:t>()</a:t>
            </a:r>
          </a:p>
          <a:p>
            <a:r>
              <a:rPr lang="en-US" dirty="0" smtClean="0"/>
              <a:t>sources and sink terms computed on the sectors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smtClean="0"/>
              <a:t>Comments</a:t>
            </a:r>
          </a:p>
          <a:p>
            <a:r>
              <a:rPr lang="en-US" dirty="0" smtClean="0"/>
              <a:t>uses </a:t>
            </a:r>
            <a:r>
              <a:rPr lang="en-US" dirty="0" err="1" smtClean="0"/>
              <a:t>GenericPropertyGradient</a:t>
            </a:r>
            <a:endParaRPr lang="en-US" dirty="0" smtClean="0"/>
          </a:p>
          <a:p>
            <a:r>
              <a:rPr lang="en-US" dirty="0" smtClean="0"/>
              <a:t>uses </a:t>
            </a:r>
            <a:r>
              <a:rPr lang="en-US" dirty="0" err="1" smtClean="0"/>
              <a:t>FacetFlux</a:t>
            </a:r>
            <a:endParaRPr lang="en-US" dirty="0" smtClean="0"/>
          </a:p>
          <a:p>
            <a:pPr lvl="1"/>
            <a:r>
              <a:rPr lang="en-US" dirty="0" smtClean="0"/>
              <a:t>uses </a:t>
            </a:r>
            <a:r>
              <a:rPr lang="en-US" dirty="0" err="1" smtClean="0"/>
              <a:t>SaturationFunction</a:t>
            </a:r>
            <a:endParaRPr lang="en-US" dirty="0" smtClean="0"/>
          </a:p>
          <a:p>
            <a:pPr lvl="1"/>
            <a:r>
              <a:rPr lang="en-US" dirty="0" smtClean="0"/>
              <a:t>uses </a:t>
            </a:r>
            <a:r>
              <a:rPr lang="en-US" dirty="0" err="1" smtClean="0"/>
              <a:t>FluidProperty</a:t>
            </a:r>
            <a:endParaRPr lang="en-US" dirty="0" smtClean="0"/>
          </a:p>
          <a:p>
            <a:r>
              <a:rPr lang="en-US" i="1" dirty="0" smtClean="0"/>
              <a:t>perhaps one could also store sector flux balances</a:t>
            </a:r>
          </a:p>
          <a:p>
            <a:r>
              <a:rPr lang="en-US" i="1" dirty="0" smtClean="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r>
              <a:rPr lang="en-US" dirty="0" smtClean="0"/>
              <a:t> (for the entire region)</a:t>
            </a:r>
            <a:endParaRPr lang="en-US" dirty="0"/>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a:t>
            </a:r>
            <a:r>
              <a:rPr lang="en-US" dirty="0" smtClean="0"/>
              <a:t>fluid properties (including the saturations)</a:t>
            </a:r>
            <a:endParaRPr lang="en-US" dirty="0"/>
          </a:p>
          <a:p>
            <a:r>
              <a:rPr lang="en-US" dirty="0" smtClean="0"/>
              <a:t>If a second-order is requested, computes the finite-volume centered property gradients</a:t>
            </a:r>
          </a:p>
          <a:p>
            <a:r>
              <a:rPr lang="en-US" dirty="0" smtClean="0"/>
              <a:t>Calls </a:t>
            </a:r>
            <a:r>
              <a:rPr lang="en-US" b="1" dirty="0" err="1" smtClean="0"/>
              <a:t>FacetFlux</a:t>
            </a:r>
            <a:r>
              <a:rPr lang="en-US" dirty="0" smtClean="0"/>
              <a:t> to compute facet fluxes of phases</a:t>
            </a:r>
          </a:p>
          <a:p>
            <a:r>
              <a:rPr lang="en-US" dirty="0" smtClean="0"/>
              <a:t>Integrates total incoming versus outgoing fluxes for each finite volume</a:t>
            </a:r>
            <a:endParaRPr lang="en-US" dirty="0"/>
          </a:p>
          <a:p>
            <a:pPr marL="0" indent="0">
              <a:buNone/>
            </a:pPr>
            <a:r>
              <a:rPr lang="en-US" i="1" dirty="0" smtClean="0"/>
              <a:t>Question: Limiting should be done on the phase flux (total). What does this imply for where the limiter is called (by </a:t>
            </a:r>
            <a:r>
              <a:rPr lang="en-US" i="1" dirty="0" err="1" smtClean="0"/>
              <a:t>FacetFluxEvaluator</a:t>
            </a:r>
            <a:r>
              <a:rPr lang="en-US" i="1" dirty="0" smtClean="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35</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smtClean="0"/>
              <a:t>Criteria</a:t>
            </a:r>
            <a:r>
              <a:rPr lang="en-US" dirty="0" smtClean="0"/>
              <a:t> (keep DES implementation in mind)</a:t>
            </a:r>
          </a:p>
          <a:p>
            <a:r>
              <a:rPr lang="en-US" dirty="0" err="1" smtClean="0"/>
              <a:t>OutflowLessThanContentCriterion</a:t>
            </a:r>
            <a:r>
              <a:rPr lang="en-US" dirty="0" smtClean="0"/>
              <a:t>()</a:t>
            </a:r>
          </a:p>
          <a:p>
            <a:r>
              <a:rPr lang="en-US" dirty="0" err="1" smtClean="0"/>
              <a:t>StreamlineCFL</a:t>
            </a:r>
            <a:r>
              <a:rPr lang="en-US" dirty="0" smtClean="0"/>
              <a:t>()</a:t>
            </a:r>
          </a:p>
          <a:p>
            <a:r>
              <a:rPr lang="en-US" dirty="0" err="1" smtClean="0"/>
              <a:t>MaxStep</a:t>
            </a:r>
            <a:r>
              <a:rPr lang="en-US" dirty="0" smtClean="0"/>
              <a:t>()</a:t>
            </a:r>
          </a:p>
          <a:p>
            <a:r>
              <a:rPr lang="en-US" dirty="0" err="1" smtClean="0"/>
              <a:t>MinStep</a:t>
            </a:r>
            <a:r>
              <a:rPr lang="en-US" dirty="0" smtClean="0"/>
              <a:t>()</a:t>
            </a:r>
          </a:p>
          <a:p>
            <a:pPr marL="0" indent="0">
              <a:buNone/>
            </a:pPr>
            <a:endParaRPr lang="en-US" dirty="0" smtClean="0"/>
          </a:p>
          <a:p>
            <a:pPr marL="0" indent="0">
              <a:buNone/>
            </a:pPr>
            <a:r>
              <a:rPr lang="en-US" b="1" dirty="0" smtClean="0"/>
              <a:t>Considerations</a:t>
            </a:r>
            <a:endParaRPr lang="en-US" b="1" dirty="0"/>
          </a:p>
          <a:p>
            <a:r>
              <a:rPr lang="en-US" dirty="0" smtClean="0"/>
              <a:t>element-by-element evaluation taking into element length in direction of flow and volume of finite volumes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smtClean="0"/>
              <a:t>For Explicit- and </a:t>
            </a:r>
            <a:r>
              <a:rPr lang="en-US" i="1" dirty="0" err="1" smtClean="0"/>
              <a:t>ImplicitTransport</a:t>
            </a:r>
            <a:r>
              <a:rPr lang="en-US" i="1" dirty="0" smtClean="0"/>
              <a:t> classes and using </a:t>
            </a:r>
            <a:r>
              <a:rPr lang="en-US" i="1" dirty="0" err="1" smtClean="0"/>
              <a:t>precomputed</a:t>
            </a:r>
            <a:r>
              <a:rPr lang="en-US" i="1" dirty="0" smtClean="0"/>
              <a:t> facet fluxes</a:t>
            </a:r>
            <a:endParaRPr lang="en-US" i="1" dirty="0"/>
          </a:p>
        </p:txBody>
      </p:sp>
    </p:spTree>
    <p:extLst>
      <p:ext uri="{BB962C8B-B14F-4D97-AF65-F5344CB8AC3E}">
        <p14:creationId xmlns:p14="http://schemas.microsoft.com/office/powerpoint/2010/main" val="18747433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classes that carry out the transport</a:t>
            </a:r>
            <a:endParaRPr lang="en-US" dirty="0"/>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smtClean="0"/>
              <a:t>Combine accumulation with application of boundary conditions and machinery required to compute solutions / time-integrate transport equations</a:t>
            </a:r>
            <a:r>
              <a:rPr lang="en-US" dirty="0"/>
              <a:t> </a:t>
            </a:r>
            <a:r>
              <a:rPr lang="en-US" dirty="0" smtClean="0"/>
              <a:t>using data from </a:t>
            </a:r>
            <a:r>
              <a:rPr lang="en-US" dirty="0" err="1" smtClean="0"/>
              <a:t>timestep</a:t>
            </a:r>
            <a:r>
              <a:rPr lang="en-US" dirty="0" smtClean="0"/>
              <a:t> evaluator </a:t>
            </a:r>
          </a:p>
          <a:p>
            <a:pPr marL="0" indent="0">
              <a:buNone/>
            </a:pPr>
            <a:r>
              <a:rPr lang="en-US" b="1" dirty="0" err="1" smtClean="0"/>
              <a:t>ExplicitTransport</a:t>
            </a:r>
            <a:endParaRPr lang="en-US" b="1" dirty="0" smtClean="0"/>
          </a:p>
          <a:p>
            <a:pPr marL="0" indent="0">
              <a:buNone/>
            </a:pPr>
            <a:r>
              <a:rPr lang="en-US" dirty="0" smtClean="0"/>
              <a:t>	- In the simplest case, just writes the solution vector</a:t>
            </a:r>
          </a:p>
          <a:p>
            <a:pPr marL="0" indent="0">
              <a:buNone/>
            </a:pPr>
            <a:r>
              <a:rPr lang="en-US" b="1" dirty="0" err="1" smtClean="0"/>
              <a:t>ImplicitTransport</a:t>
            </a:r>
            <a:endParaRPr lang="en-US" b="1" dirty="0" smtClean="0"/>
          </a:p>
          <a:p>
            <a:pPr lvl="1"/>
            <a:r>
              <a:rPr lang="en-US" dirty="0" smtClean="0"/>
              <a:t>Combines accumulation into </a:t>
            </a:r>
            <a:r>
              <a:rPr lang="en-US" dirty="0" err="1" smtClean="0"/>
              <a:t>SparseMatrix</a:t>
            </a:r>
            <a:r>
              <a:rPr lang="en-US" dirty="0" smtClean="0"/>
              <a:t> with solution with solver, range checks, etc.</a:t>
            </a:r>
          </a:p>
          <a:p>
            <a:pPr lvl="1"/>
            <a:r>
              <a:rPr lang="en-US" dirty="0" smtClean="0"/>
              <a:t>Used to implement iterative solution schemes, for instance, Newton </a:t>
            </a:r>
            <a:r>
              <a:rPr lang="en-US" dirty="0" err="1" smtClean="0"/>
              <a:t>Raphson</a:t>
            </a:r>
            <a:r>
              <a:rPr lang="en-US" dirty="0" smtClean="0"/>
              <a:t> with line search a la Christine</a:t>
            </a:r>
          </a:p>
          <a:p>
            <a:pPr lvl="1"/>
            <a:r>
              <a:rPr lang="en-US" dirty="0" smtClean="0"/>
              <a:t>Manages </a:t>
            </a:r>
            <a:r>
              <a:rPr lang="en-US" dirty="0" err="1" smtClean="0"/>
              <a:t>csmp</a:t>
            </a:r>
            <a:r>
              <a:rPr lang="en-US" dirty="0" smtClean="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38</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778"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smtClean="0"/>
              <a:t>LHS_Accumulator</a:t>
            </a:r>
            <a:r>
              <a:rPr lang="en-US" sz="2800" dirty="0" smtClean="0"/>
              <a:t>  and  </a:t>
            </a:r>
            <a:r>
              <a:rPr lang="en-US" sz="2800" dirty="0" err="1" smtClean="0"/>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smtClean="0"/>
              <a:t>PDE_Integrator</a:t>
            </a:r>
            <a:r>
              <a:rPr lang="en-US" sz="1400" dirty="0" smtClean="0"/>
              <a:t> style functionality to assemble flux / source / sink etc. terms into an Ax=b   or simple vector framework so that a solution can be formed or computed: </a:t>
            </a:r>
            <a:r>
              <a:rPr lang="en-US" sz="1400" b="1" dirty="0" err="1" smtClean="0"/>
              <a:t>MatrixOperator</a:t>
            </a:r>
            <a:r>
              <a:rPr lang="en-US" sz="1400" dirty="0" smtClean="0"/>
              <a:t> and </a:t>
            </a:r>
            <a:r>
              <a:rPr lang="en-US" sz="1400" b="1" dirty="0" err="1" smtClean="0"/>
              <a:t>VectorOperator</a:t>
            </a:r>
            <a:endParaRPr lang="en-US" sz="1400" b="1" dirty="0" smtClean="0"/>
          </a:p>
          <a:p>
            <a:r>
              <a:rPr lang="en-US" sz="1400" dirty="0" smtClean="0"/>
              <a:t>Accumulation by </a:t>
            </a:r>
            <a:r>
              <a:rPr lang="en-US" sz="1400" b="1" dirty="0" err="1" smtClean="0"/>
              <a:t>MatrixOperator</a:t>
            </a:r>
            <a:r>
              <a:rPr lang="en-US" sz="1400" dirty="0" smtClean="0"/>
              <a:t> and </a:t>
            </a:r>
            <a:r>
              <a:rPr lang="en-US" sz="1400" b="1" dirty="0" err="1" smtClean="0"/>
              <a:t>VectorOperator</a:t>
            </a:r>
            <a:r>
              <a:rPr lang="en-US" sz="1400" b="1" dirty="0" smtClean="0"/>
              <a:t> </a:t>
            </a:r>
            <a:r>
              <a:rPr lang="en-US" sz="1400" dirty="0" smtClean="0"/>
              <a:t>with state variables that specify how and when they should be accumulated.</a:t>
            </a:r>
          </a:p>
          <a:p>
            <a:endParaRPr lang="en-US" sz="1400" dirty="0"/>
          </a:p>
          <a:p>
            <a:endParaRPr lang="en-US" sz="1400" dirty="0" smtClean="0"/>
          </a:p>
          <a:p>
            <a:endParaRPr lang="en-US" sz="1400" dirty="0"/>
          </a:p>
          <a:p>
            <a:pPr marL="0" indent="0">
              <a:buNone/>
            </a:pPr>
            <a:endParaRPr lang="en-US" sz="1400" dirty="0" smtClean="0"/>
          </a:p>
          <a:p>
            <a:r>
              <a:rPr lang="en-US" sz="1400" dirty="0" smtClean="0"/>
              <a:t>We need telling names for:</a:t>
            </a:r>
          </a:p>
          <a:p>
            <a:pPr lvl="1">
              <a:spcBef>
                <a:spcPts val="100"/>
              </a:spcBef>
              <a:spcAft>
                <a:spcPts val="300"/>
              </a:spcAft>
            </a:pPr>
            <a:r>
              <a:rPr lang="en-US" sz="1400" dirty="0" smtClean="0"/>
              <a:t>Pore volumes divided by </a:t>
            </a:r>
            <a:r>
              <a:rPr lang="en-US" sz="1400" dirty="0" err="1" smtClean="0"/>
              <a:t>time_increment</a:t>
            </a:r>
            <a:r>
              <a:rPr lang="en-US" sz="1400" dirty="0" smtClean="0"/>
              <a:t> into diagonal of matrix</a:t>
            </a:r>
          </a:p>
          <a:p>
            <a:pPr lvl="1">
              <a:spcBef>
                <a:spcPts val="100"/>
              </a:spcBef>
              <a:spcAft>
                <a:spcPts val="300"/>
              </a:spcAft>
            </a:pPr>
            <a:r>
              <a:rPr lang="en-US" sz="1400" dirty="0" smtClean="0"/>
              <a:t>Incoming (higher-order) fluxes coupling diagonal with off-diagonal</a:t>
            </a:r>
          </a:p>
          <a:p>
            <a:pPr lvl="1">
              <a:spcBef>
                <a:spcPts val="100"/>
              </a:spcBef>
              <a:spcAft>
                <a:spcPts val="300"/>
              </a:spcAft>
            </a:pPr>
            <a:r>
              <a:rPr lang="en-US" sz="1400" dirty="0" smtClean="0"/>
              <a:t>Outgoing</a:t>
            </a:r>
            <a:r>
              <a:rPr lang="en-US" sz="1400" dirty="0"/>
              <a:t>(higher-order) </a:t>
            </a:r>
            <a:r>
              <a:rPr lang="en-US" sz="1400" dirty="0" smtClean="0"/>
              <a:t>fluxes added to diagonal</a:t>
            </a:r>
          </a:p>
          <a:p>
            <a:pPr lvl="1">
              <a:spcBef>
                <a:spcPts val="100"/>
              </a:spcBef>
              <a:spcAft>
                <a:spcPts val="300"/>
              </a:spcAft>
            </a:pPr>
            <a:r>
              <a:rPr lang="en-US" sz="1400" dirty="0" smtClean="0"/>
              <a:t>Sources / sinks for LHS and RHS</a:t>
            </a:r>
          </a:p>
          <a:p>
            <a:pPr lvl="1">
              <a:spcBef>
                <a:spcPts val="100"/>
              </a:spcBef>
              <a:spcAft>
                <a:spcPts val="300"/>
              </a:spcAft>
            </a:pPr>
            <a:r>
              <a:rPr lang="en-US" sz="1400" dirty="0" smtClean="0"/>
              <a:t>All of the above for RHS</a:t>
            </a:r>
          </a:p>
          <a:p>
            <a:pPr lvl="1">
              <a:spcBef>
                <a:spcPts val="100"/>
              </a:spcBef>
              <a:spcAft>
                <a:spcPts val="300"/>
              </a:spcAft>
            </a:pPr>
            <a:r>
              <a:rPr lang="en-US" sz="1400" dirty="0" err="1" smtClean="0"/>
              <a:t>Jacobians</a:t>
            </a:r>
            <a:r>
              <a:rPr lang="en-US" sz="1400" dirty="0" smtClean="0"/>
              <a:t> for iterative solutions</a:t>
            </a:r>
          </a:p>
          <a:p>
            <a:pPr lvl="1">
              <a:spcBef>
                <a:spcPts val="100"/>
              </a:spcBef>
              <a:spcAft>
                <a:spcPts val="300"/>
              </a:spcAft>
            </a:pPr>
            <a:r>
              <a:rPr lang="en-US" sz="1400" dirty="0" smtClean="0"/>
              <a:t>Diffusion type FEM integral operators</a:t>
            </a:r>
          </a:p>
          <a:p>
            <a:pPr lvl="1">
              <a:spcBef>
                <a:spcPts val="100"/>
              </a:spcBef>
              <a:spcAft>
                <a:spcPts val="300"/>
              </a:spcAft>
            </a:pPr>
            <a:r>
              <a:rPr lang="en-US" sz="1400" dirty="0" smtClean="0"/>
              <a:t>Any of these at different time-levels</a:t>
            </a:r>
          </a:p>
          <a:p>
            <a:pPr lvl="1">
              <a:spcBef>
                <a:spcPts val="100"/>
              </a:spcBef>
              <a:spcAft>
                <a:spcPts val="300"/>
              </a:spcAft>
            </a:pPr>
            <a:r>
              <a:rPr lang="en-US" sz="1400" dirty="0" smtClean="0"/>
              <a:t>Theta-weighting for second-order in time method</a:t>
            </a:r>
          </a:p>
          <a:p>
            <a:pPr>
              <a:spcBef>
                <a:spcPts val="100"/>
              </a:spcBef>
              <a:spcAft>
                <a:spcPts val="300"/>
              </a:spcAft>
            </a:pPr>
            <a:r>
              <a:rPr lang="en-US" sz="1400" dirty="0" smtClean="0"/>
              <a:t>Static polymorphism for speed</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39</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smtClean="0">
                <a:solidFill>
                  <a:srgbClr val="FF0066"/>
                </a:solidFill>
                <a:latin typeface="Arial"/>
                <a:cs typeface="Arial"/>
              </a:rPr>
              <a:t>Can this be done at compile time ?</a:t>
            </a:r>
          </a:p>
          <a:p>
            <a:endParaRPr lang="en-US" i="1" dirty="0" smtClean="0">
              <a:solidFill>
                <a:srgbClr val="FF0066"/>
              </a:solidFill>
              <a:latin typeface="Arial"/>
              <a:cs typeface="Arial"/>
            </a:endParaRPr>
          </a:p>
          <a:p>
            <a:r>
              <a:rPr lang="en-US" i="1" dirty="0" smtClean="0">
                <a:solidFill>
                  <a:srgbClr val="FF0066"/>
                </a:solidFill>
                <a:latin typeface="Arial"/>
                <a:cs typeface="Arial"/>
              </a:rPr>
              <a:t>Can we use expression templates ?</a:t>
            </a:r>
            <a:endParaRPr lang="en-US" i="1" dirty="0">
              <a:solidFill>
                <a:srgbClr val="FF0066"/>
              </a:solidFill>
              <a:latin typeface="Arial"/>
              <a:cs typeface="Arial"/>
            </a:endParaRPr>
          </a:p>
        </p:txBody>
      </p:sp>
    </p:spTree>
    <p:extLst>
      <p:ext uri="{BB962C8B-B14F-4D97-AF65-F5344CB8AC3E}">
        <p14:creationId xmlns:p14="http://schemas.microsoft.com/office/powerpoint/2010/main" val="11674252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Operator options</a:t>
            </a:r>
            <a:endParaRPr lang="en-US" dirty="0"/>
          </a:p>
        </p:txBody>
      </p:sp>
      <p:sp>
        <p:nvSpPr>
          <p:cNvPr id="3" name="Content Placeholder 2"/>
          <p:cNvSpPr>
            <a:spLocks noGrp="1"/>
          </p:cNvSpPr>
          <p:nvPr>
            <p:ph idx="1"/>
          </p:nvPr>
        </p:nvSpPr>
        <p:spPr>
          <a:xfrm>
            <a:off x="457200" y="836712"/>
            <a:ext cx="8229600" cy="5211763"/>
          </a:xfrm>
        </p:spPr>
        <p:txBody>
          <a:bodyPr/>
          <a:lstStyle/>
          <a:p>
            <a:r>
              <a:rPr lang="en-US" dirty="0" smtClean="0"/>
              <a:t>Divide / multiply-with time-increment</a:t>
            </a:r>
          </a:p>
          <a:p>
            <a:r>
              <a:rPr lang="en-US" dirty="0" smtClean="0"/>
              <a:t>Add, </a:t>
            </a:r>
            <a:r>
              <a:rPr lang="en-US" dirty="0" err="1" smtClean="0"/>
              <a:t>Substract</a:t>
            </a:r>
            <a:r>
              <a:rPr lang="en-US" dirty="0" smtClean="0"/>
              <a:t>, Multiply</a:t>
            </a:r>
          </a:p>
          <a:p>
            <a:r>
              <a:rPr lang="en-US" dirty="0" smtClean="0"/>
              <a:t>Late Accumulate</a:t>
            </a:r>
          </a:p>
          <a:p>
            <a:r>
              <a:rPr lang="en-US" i="1" dirty="0" smtClean="0"/>
              <a:t>Bracket operators ? – for expressions (1 +b) c or defined by sequence in which they are added?</a:t>
            </a:r>
          </a:p>
          <a:p>
            <a:r>
              <a:rPr lang="en-US" dirty="0" smtClean="0"/>
              <a:t>Lumping for LHS only</a:t>
            </a:r>
          </a:p>
          <a:p>
            <a:r>
              <a:rPr lang="en-US" dirty="0" smtClean="0"/>
              <a:t>Theta-weighting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TimeStepEvaluator</a:t>
            </a:r>
            <a:endParaRPr lang="en-US" dirty="0"/>
          </a:p>
        </p:txBody>
      </p:sp>
      <p:sp>
        <p:nvSpPr>
          <p:cNvPr id="3" name="Content Placeholder 2"/>
          <p:cNvSpPr>
            <a:spLocks noGrp="1"/>
          </p:cNvSpPr>
          <p:nvPr>
            <p:ph idx="1"/>
          </p:nvPr>
        </p:nvSpPr>
        <p:spPr/>
        <p:txBody>
          <a:bodyPr/>
          <a:lstStyle/>
          <a:p>
            <a:r>
              <a:rPr lang="en-US" dirty="0" smtClean="0"/>
              <a:t>Computes advection step such that the amount of fluid that leaves any FV is not greater than what was in there before the step</a:t>
            </a:r>
          </a:p>
          <a:p>
            <a:r>
              <a:rPr lang="en-US" dirty="0" smtClean="0"/>
              <a:t>Writes diagnostics to FV cells, but stores min/max values internally for query at end of loop</a:t>
            </a:r>
          </a:p>
          <a:p>
            <a:r>
              <a:rPr lang="en-US" dirty="0" smtClean="0"/>
              <a:t>For accuracy, criteria must be FV cell based, but facet flux can be </a:t>
            </a:r>
            <a:r>
              <a:rPr lang="en-US" dirty="0" err="1" smtClean="0"/>
              <a:t>precomputed</a:t>
            </a:r>
            <a:r>
              <a:rPr lang="en-US" dirty="0" smtClean="0"/>
              <a:t> in an element-by-element, facet-by-facet computation</a:t>
            </a:r>
          </a:p>
          <a:p>
            <a:r>
              <a:rPr lang="en-US" dirty="0" smtClean="0"/>
              <a:t>For implicit schemes any relaxation is applied to this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ExplicitTransport</a:t>
            </a:r>
            <a:r>
              <a:rPr lang="en-US" dirty="0" smtClean="0"/>
              <a:t>    and    </a:t>
            </a:r>
            <a:r>
              <a:rPr lang="en-US" dirty="0" err="1" smtClean="0"/>
              <a:t>ImplicitTransport</a:t>
            </a:r>
            <a:endParaRPr lang="en-US" dirty="0"/>
          </a:p>
        </p:txBody>
      </p:sp>
      <p:sp>
        <p:nvSpPr>
          <p:cNvPr id="3" name="Content Placeholder 2"/>
          <p:cNvSpPr>
            <a:spLocks noGrp="1"/>
          </p:cNvSpPr>
          <p:nvPr>
            <p:ph idx="1"/>
          </p:nvPr>
        </p:nvSpPr>
        <p:spPr/>
        <p:txBody>
          <a:bodyPr/>
          <a:lstStyle/>
          <a:p>
            <a:r>
              <a:rPr lang="en-US" dirty="0" smtClean="0"/>
              <a:t>Drives </a:t>
            </a:r>
          </a:p>
          <a:p>
            <a:pPr lvl="1"/>
            <a:r>
              <a:rPr lang="en-US" dirty="0" err="1" smtClean="0"/>
              <a:t>FluxEvaluator</a:t>
            </a:r>
            <a:endParaRPr lang="en-US" dirty="0" smtClean="0"/>
          </a:p>
          <a:p>
            <a:pPr lvl="1"/>
            <a:r>
              <a:rPr lang="en-US" dirty="0" err="1" smtClean="0"/>
              <a:t>TimeStepEvaluator</a:t>
            </a:r>
            <a:endParaRPr lang="en-US" dirty="0" smtClean="0"/>
          </a:p>
          <a:p>
            <a:pPr lvl="1"/>
            <a:r>
              <a:rPr lang="en-US" dirty="0" smtClean="0"/>
              <a:t>Accumulator</a:t>
            </a:r>
          </a:p>
          <a:p>
            <a:pPr lvl="1"/>
            <a:r>
              <a:rPr lang="en-US" dirty="0" smtClean="0"/>
              <a:t>Solver</a:t>
            </a:r>
          </a:p>
          <a:p>
            <a:r>
              <a:rPr lang="en-US" dirty="0" smtClean="0"/>
              <a:t>Solution process can involve </a:t>
            </a:r>
            <a:r>
              <a:rPr lang="en-US" dirty="0" err="1" smtClean="0"/>
              <a:t>NewtonRaphson</a:t>
            </a:r>
            <a:r>
              <a:rPr lang="en-US" dirty="0" smtClean="0"/>
              <a:t> and </a:t>
            </a:r>
            <a:r>
              <a:rPr lang="en-US" dirty="0" err="1" smtClean="0"/>
              <a:t>LineSearch</a:t>
            </a:r>
            <a:r>
              <a:rPr lang="en-US" dirty="0" smtClean="0"/>
              <a:t>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smtClean="0"/>
              <a:t>Simulation steps (big picture)</a:t>
            </a:r>
            <a:endParaRPr lang="en-US" sz="2800" dirty="0"/>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a:t>
            </a:r>
            <a:r>
              <a:rPr lang="en-GB" sz="1400" dirty="0" smtClean="0">
                <a:latin typeface="Arial" charset="0"/>
              </a:rPr>
              <a:t>from </a:t>
            </a:r>
            <a:r>
              <a:rPr lang="en-GB" sz="1400" dirty="0">
                <a:latin typeface="Arial" charset="0"/>
              </a:rPr>
              <a:t>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r>
              <a:rPr lang="en-GB" sz="1400" dirty="0" smtClean="0">
                <a:latin typeface="Arial" charset="0"/>
              </a:rPr>
              <a:t>.</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43</a:t>
            </a:fld>
            <a:endParaRPr lang="en-US"/>
          </a:p>
        </p:txBody>
      </p:sp>
    </p:spTree>
    <p:extLst>
      <p:ext uri="{BB962C8B-B14F-4D97-AF65-F5344CB8AC3E}">
        <p14:creationId xmlns:p14="http://schemas.microsoft.com/office/powerpoint/2010/main" val="3467335546"/>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44</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a:t>
            </a:r>
            <a:r>
              <a:rPr lang="en-GB" sz="2400" b="1" dirty="0" smtClean="0">
                <a:solidFill>
                  <a:schemeClr val="tx2"/>
                </a:solidFill>
                <a:latin typeface="Arial" charset="0"/>
              </a:rPr>
              <a:t>slightly compressible</a:t>
            </a:r>
            <a:endParaRPr lang="en-GB" sz="2400" b="1" dirty="0">
              <a:solidFill>
                <a:schemeClr val="tx2"/>
              </a:solidFill>
              <a:latin typeface="Arial" charset="0"/>
            </a:endParaRP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2987"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a:t>
            </a:r>
            <a:r>
              <a:rPr lang="en-US" sz="1800" dirty="0" smtClean="0">
                <a:solidFill>
                  <a:srgbClr val="0E207F"/>
                </a:solidFill>
                <a:latin typeface="Arial" charset="0"/>
              </a:rPr>
              <a:t>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2988"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2989"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2990"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To do</a:t>
            </a:r>
            <a:endParaRPr lang="en-US" dirty="0"/>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smtClean="0"/>
              <a:t>Rigorous implementation of 2-phase, 2-component transport</a:t>
            </a:r>
          </a:p>
          <a:p>
            <a:pPr lvl="1"/>
            <a:r>
              <a:rPr lang="en-US" dirty="0" smtClean="0"/>
              <a:t>aqueous phase: CO2 – salt – H2O</a:t>
            </a:r>
          </a:p>
          <a:p>
            <a:pPr lvl="1"/>
            <a:r>
              <a:rPr lang="en-US" dirty="0" smtClean="0"/>
              <a:t>capture effects on density and viscosity</a:t>
            </a:r>
          </a:p>
          <a:p>
            <a:r>
              <a:rPr lang="en-US" dirty="0" smtClean="0"/>
              <a:t>Model dry out (CO2 </a:t>
            </a:r>
            <a:r>
              <a:rPr lang="en-US" dirty="0" err="1" smtClean="0"/>
              <a:t>dessication</a:t>
            </a:r>
            <a:r>
              <a:rPr lang="en-US" dirty="0" smtClean="0"/>
              <a:t>), means that water content of CO2 phase must be tracked (important for geophysical signatures)</a:t>
            </a:r>
          </a:p>
          <a:p>
            <a:r>
              <a:rPr lang="en-US" dirty="0" smtClean="0"/>
              <a:t>Capture porosity and permeability effects of salt precipitation </a:t>
            </a:r>
          </a:p>
          <a:p>
            <a:r>
              <a:rPr lang="en-US" dirty="0" smtClean="0"/>
              <a:t>Remove grid sensitivity from CO2 dissolution rates by including an equilibration time that depends on grid-block size</a:t>
            </a:r>
          </a:p>
          <a:p>
            <a:pPr lvl="1"/>
            <a:r>
              <a:rPr lang="en-US" dirty="0" smtClean="0"/>
              <a:t>Local equilibrium assumption is a can of worms!</a:t>
            </a:r>
          </a:p>
          <a:p>
            <a:r>
              <a:rPr lang="en-US" dirty="0" smtClean="0"/>
              <a:t>implement full tensor permeability transport </a:t>
            </a:r>
            <a:r>
              <a:rPr lang="en-US" dirty="0" err="1" smtClean="0"/>
              <a:t>modelling</a:t>
            </a:r>
            <a:endParaRPr lang="en-US" dirty="0" smtClean="0"/>
          </a:p>
          <a:p>
            <a:r>
              <a:rPr lang="en-US" dirty="0" smtClean="0"/>
              <a:t>test </a:t>
            </a:r>
            <a:r>
              <a:rPr lang="en-US" dirty="0" err="1" smtClean="0"/>
              <a:t>relperm</a:t>
            </a:r>
            <a:r>
              <a:rPr lang="en-US" dirty="0" smtClean="0"/>
              <a:t> hysteresis formulation</a:t>
            </a:r>
          </a:p>
          <a:p>
            <a:r>
              <a:rPr lang="en-US" dirty="0" smtClean="0"/>
              <a:t>Make sure that the subtle density changes of water due to dissolved CO2 are resolved correctly </a:t>
            </a:r>
          </a:p>
          <a:p>
            <a:r>
              <a:rPr lang="en-US" dirty="0" smtClean="0"/>
              <a:t>Work with reduced pressure and reference density (much more accurate!)   </a:t>
            </a:r>
            <a:endParaRPr lang="en-US" dirty="0"/>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45</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smtClean="0">
                <a:latin typeface="Arial"/>
                <a:cs typeface="Arial"/>
              </a:rPr>
              <a:t>Improving existing code</a:t>
            </a:r>
            <a:endParaRPr lang="en-US" sz="5400" dirty="0">
              <a:latin typeface="Arial"/>
              <a:cs typeface="Arial"/>
            </a:endParaRPr>
          </a:p>
        </p:txBody>
      </p:sp>
    </p:spTree>
    <p:extLst>
      <p:ext uri="{BB962C8B-B14F-4D97-AF65-F5344CB8AC3E}">
        <p14:creationId xmlns:p14="http://schemas.microsoft.com/office/powerpoint/2010/main" val="1947570280"/>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Improvements</a:t>
            </a:r>
            <a:endParaRPr lang="en-US" dirty="0"/>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smtClean="0"/>
              <a:t>must become Singleton</a:t>
            </a:r>
            <a:endParaRPr lang="en-US" dirty="0"/>
          </a:p>
        </p:txBody>
      </p:sp>
      <p:sp>
        <p:nvSpPr>
          <p:cNvPr id="2" name="Date Placeholder 1"/>
          <p:cNvSpPr>
            <a:spLocks noGrp="1"/>
          </p:cNvSpPr>
          <p:nvPr>
            <p:ph type="dt" sz="half" idx="10"/>
          </p:nvPr>
        </p:nvSpPr>
        <p:spPr/>
        <p:txBody>
          <a:bodyPr/>
          <a:lstStyle/>
          <a:p>
            <a:fld id="{3A2121E2-B05F-B94B-BD08-7791A84524CA}" type="datetime1">
              <a:rPr lang="en-US" smtClean="0"/>
              <a:pPr/>
              <a:t>19/01/18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47</a:t>
            </a:fld>
            <a:endParaRPr lang="en-US"/>
          </a:p>
        </p:txBody>
      </p:sp>
    </p:spTree>
    <p:extLst>
      <p:ext uri="{BB962C8B-B14F-4D97-AF65-F5344CB8AC3E}">
        <p14:creationId xmlns:p14="http://schemas.microsoft.com/office/powerpoint/2010/main" val="38060636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smtClean="0"/>
              <a:t>Keeping support functionality from </a:t>
            </a:r>
            <a:r>
              <a:rPr lang="en-US" b="1" dirty="0" err="1" smtClean="0"/>
              <a:t>NodeCenteredFiniteVolumeTransport</a:t>
            </a:r>
            <a:r>
              <a:rPr lang="en-US" b="1" dirty="0" smtClean="0"/>
              <a:t> ?</a:t>
            </a:r>
            <a:endParaRPr lang="en-US" b="1" dirty="0"/>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smtClean="0"/>
              <a:t>Class needs a rebuild, but SKM suggests that certain functions are kept:</a:t>
            </a:r>
          </a:p>
          <a:p>
            <a:r>
              <a:rPr lang="en-US" dirty="0" smtClean="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t>
            </a:r>
            <a:r>
              <a:rPr lang="en-US" dirty="0" smtClean="0"/>
              <a:t>also needed </a:t>
            </a:r>
            <a:r>
              <a:rPr lang="en-US" dirty="0"/>
              <a:t>to manage accumulations / integrations etc. </a:t>
            </a:r>
          </a:p>
          <a:p>
            <a:pPr lvl="1"/>
            <a:r>
              <a:rPr lang="en-US" dirty="0" smtClean="0"/>
              <a:t>CFL </a:t>
            </a:r>
            <a:r>
              <a:rPr lang="en-US" dirty="0"/>
              <a:t>calculations etc. could be moved to </a:t>
            </a:r>
            <a:r>
              <a:rPr lang="en-US" b="1" dirty="0" err="1"/>
              <a:t>finiteVolumeAuxiliaryFunctions</a:t>
            </a:r>
            <a:r>
              <a:rPr lang="en-US" dirty="0"/>
              <a:t> ?</a:t>
            </a:r>
          </a:p>
          <a:p>
            <a:pPr lvl="1"/>
            <a:r>
              <a:rPr lang="en-US" dirty="0" smtClean="0"/>
              <a:t>Complicated </a:t>
            </a:r>
            <a:r>
              <a:rPr lang="en-US" dirty="0"/>
              <a:t>procedure to compute nodal volume fluid source terms for </a:t>
            </a:r>
            <a:r>
              <a:rPr lang="en-US" dirty="0" err="1" smtClean="0"/>
              <a:t>PointSourceRHS</a:t>
            </a:r>
            <a:r>
              <a:rPr lang="en-US" dirty="0" smtClean="0"/>
              <a:t> in FEM </a:t>
            </a:r>
            <a:r>
              <a:rPr lang="en-US" dirty="0"/>
              <a:t>scheme should be </a:t>
            </a:r>
            <a:r>
              <a:rPr lang="en-US" dirty="0" smtClean="0"/>
              <a:t>replaced  by </a:t>
            </a:r>
            <a:r>
              <a:rPr lang="en-US" dirty="0" err="1"/>
              <a:t>pde_operators</a:t>
            </a:r>
            <a:r>
              <a:rPr lang="en-US" dirty="0"/>
              <a:t>.</a:t>
            </a:r>
          </a:p>
          <a:p>
            <a:pPr lvl="1"/>
            <a:r>
              <a:rPr lang="en-US" dirty="0" smtClean="0"/>
              <a:t>Transport variables not stored in NCFVT / </a:t>
            </a:r>
            <a:r>
              <a:rPr lang="en-US" dirty="0" err="1" smtClean="0"/>
              <a:t>FV_Parameter</a:t>
            </a:r>
            <a:r>
              <a:rPr lang="en-US" dirty="0" smtClean="0"/>
              <a:t> array, but on model</a:t>
            </a:r>
          </a:p>
          <a:p>
            <a:pPr lvl="2"/>
            <a:r>
              <a:rPr lang="en-US" dirty="0" smtClean="0"/>
              <a:t>Implication</a:t>
            </a:r>
            <a:r>
              <a:rPr lang="en-US" dirty="0"/>
              <a:t>: </a:t>
            </a:r>
            <a:r>
              <a:rPr lang="en-US" dirty="0" smtClean="0"/>
              <a:t>transport variables </a:t>
            </a:r>
            <a:r>
              <a:rPr lang="en-US" dirty="0"/>
              <a:t>exist everywhere</a:t>
            </a:r>
            <a:r>
              <a:rPr lang="en-US" dirty="0" smtClean="0"/>
              <a:t>!</a:t>
            </a:r>
            <a:endParaRPr lang="en-US" dirty="0"/>
          </a:p>
          <a:p>
            <a:pPr lvl="1"/>
            <a:r>
              <a:rPr lang="en-US" dirty="0" smtClean="0"/>
              <a:t>Single </a:t>
            </a:r>
            <a:r>
              <a:rPr lang="en-US" dirty="0"/>
              <a:t>phase transport should also be associated with a phase</a:t>
            </a:r>
            <a:r>
              <a:rPr lang="en-US" dirty="0" smtClean="0"/>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Scope for improvement: </a:t>
            </a:r>
            <a:r>
              <a:rPr lang="en-US" dirty="0" err="1" smtClean="0"/>
              <a:t>FiniteVolumeTraits</a:t>
            </a:r>
            <a:endParaRPr lang="en-US" dirty="0"/>
          </a:p>
        </p:txBody>
      </p:sp>
      <p:sp>
        <p:nvSpPr>
          <p:cNvPr id="3" name="Content Placeholder 2"/>
          <p:cNvSpPr>
            <a:spLocks noGrp="1"/>
          </p:cNvSpPr>
          <p:nvPr>
            <p:ph idx="1"/>
          </p:nvPr>
        </p:nvSpPr>
        <p:spPr/>
        <p:txBody>
          <a:bodyPr>
            <a:normAutofit/>
          </a:bodyPr>
          <a:lstStyle/>
          <a:p>
            <a:r>
              <a:rPr lang="en-US" dirty="0" smtClean="0"/>
              <a:t>Speed-up: It may be possible to carry out velocity computations entirely in parametric space, saving several </a:t>
            </a:r>
            <a:r>
              <a:rPr lang="en-US" dirty="0" err="1" smtClean="0"/>
              <a:t>Jacobian</a:t>
            </a:r>
            <a:r>
              <a:rPr lang="en-US" dirty="0" smtClean="0"/>
              <a:t> operations</a:t>
            </a:r>
          </a:p>
          <a:p>
            <a:r>
              <a:rPr lang="en-US" dirty="0" smtClean="0"/>
              <a:t>Confusing functions in interface of </a:t>
            </a:r>
            <a:r>
              <a:rPr lang="en-US" b="1" dirty="0" err="1" smtClean="0"/>
              <a:t>FiniteVolumeTraits</a:t>
            </a:r>
            <a:r>
              <a:rPr lang="en-US" dirty="0" smtClean="0"/>
              <a:t>:</a:t>
            </a:r>
          </a:p>
          <a:p>
            <a:pPr marL="0" indent="0">
              <a:buNone/>
            </a:pPr>
            <a:r>
              <a:rPr lang="en-US" dirty="0"/>
              <a:t>  </a:t>
            </a:r>
            <a:r>
              <a:rPr lang="en-US" dirty="0" smtClean="0"/>
              <a:t>	</a:t>
            </a:r>
            <a:r>
              <a:rPr lang="en-US" sz="1400" dirty="0" smtClean="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smtClean="0">
                <a:latin typeface="Courier"/>
                <a:cs typeface="Courier"/>
              </a:rPr>
              <a:t>	Point</a:t>
            </a:r>
            <a:r>
              <a:rPr lang="en-US" sz="1400" dirty="0">
                <a:latin typeface="Courier"/>
                <a:cs typeface="Courier"/>
              </a:rPr>
              <a: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a:latin typeface="Courier"/>
                <a:cs typeface="Courier"/>
              </a:rPr>
              <a:t>	</a:t>
            </a:r>
            <a:r>
              <a:rPr lang="en-US" sz="1400" dirty="0" smtClean="0">
                <a:latin typeface="Courier"/>
                <a:cs typeface="Courier"/>
              </a:rPr>
              <a:t>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endParaRPr lang="en-US" sz="1400" dirty="0" smtClean="0">
              <a:latin typeface="Courier"/>
              <a:cs typeface="Courier"/>
            </a:endParaRPr>
          </a:p>
          <a:p>
            <a:pPr marL="457200" lvl="1" indent="0">
              <a:buNone/>
            </a:pPr>
            <a:endParaRPr lang="en-US" sz="1400" dirty="0" smtClean="0"/>
          </a:p>
          <a:p>
            <a:r>
              <a:rPr lang="en-US" dirty="0" smtClean="0"/>
              <a:t>Is there an issue with velocity computations on polyhedral (multi-element type) meshes, where there appears to be a divergence in the velocity field?</a:t>
            </a:r>
          </a:p>
          <a:p>
            <a:r>
              <a:rPr lang="en-US" dirty="0" smtClean="0"/>
              <a:t>Option PYRAMID_WITH_TRIANGULAR_FACETS should be used always and flag should be removed</a:t>
            </a:r>
            <a:endParaRPr lang="en-US"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49</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smtClean="0">
                <a:latin typeface="Arial"/>
                <a:cs typeface="Arial"/>
              </a:rPr>
              <a:t>Background </a:t>
            </a:r>
          </a:p>
          <a:p>
            <a:pPr algn="ctr"/>
            <a:r>
              <a:rPr lang="en-US" sz="5400" dirty="0" smtClean="0">
                <a:latin typeface="Arial"/>
                <a:cs typeface="Arial"/>
              </a:rPr>
              <a:t>Information</a:t>
            </a:r>
            <a:endParaRPr lang="en-US" sz="5400" dirty="0">
              <a:latin typeface="Arial"/>
              <a:cs typeface="Arial"/>
            </a:endParaRPr>
          </a:p>
        </p:txBody>
      </p:sp>
    </p:spTree>
    <p:extLst>
      <p:ext uri="{BB962C8B-B14F-4D97-AF65-F5344CB8AC3E}">
        <p14:creationId xmlns:p14="http://schemas.microsoft.com/office/powerpoint/2010/main" val="1082805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smtClean="0"/>
              <a:t>Komponenten</a:t>
            </a:r>
            <a:r>
              <a:rPr lang="en-US" dirty="0" smtClean="0"/>
              <a:t>:</a:t>
            </a:r>
          </a:p>
          <a:p>
            <a:pPr marL="285750" indent="-285750">
              <a:buFontTx/>
              <a:buChar char="-"/>
            </a:pPr>
            <a:r>
              <a:rPr lang="en-US" dirty="0" err="1" smtClean="0"/>
              <a:t>Mobilities</a:t>
            </a:r>
            <a:r>
              <a:rPr lang="en-US" dirty="0" smtClean="0"/>
              <a:t> and gravity term (n)</a:t>
            </a:r>
            <a:endParaRPr lang="en-US" dirty="0"/>
          </a:p>
          <a:p>
            <a:pPr marL="742950" lvl="1" indent="-285750">
              <a:buFontTx/>
              <a:buChar char="-"/>
            </a:pPr>
            <a:r>
              <a:rPr lang="en-US" dirty="0" smtClean="0"/>
              <a:t>at integration points</a:t>
            </a:r>
          </a:p>
          <a:p>
            <a:pPr marL="742950" lvl="1" indent="-285750">
              <a:buFontTx/>
              <a:buChar char="-"/>
            </a:pPr>
            <a:r>
              <a:rPr lang="en-US" dirty="0" err="1"/>
              <a:t>u</a:t>
            </a:r>
            <a:r>
              <a:rPr lang="en-US" dirty="0" err="1" smtClean="0"/>
              <a:t>pwinded</a:t>
            </a:r>
            <a:r>
              <a:rPr lang="en-US" dirty="0" smtClean="0"/>
              <a:t> </a:t>
            </a:r>
          </a:p>
          <a:p>
            <a:pPr marL="742950" lvl="1" indent="-285750">
              <a:buFontTx/>
              <a:buChar char="-"/>
            </a:pPr>
            <a:r>
              <a:rPr lang="en-US" dirty="0" smtClean="0"/>
              <a:t>at barycenter</a:t>
            </a:r>
          </a:p>
          <a:p>
            <a:pPr marL="285750" indent="-285750">
              <a:buFontTx/>
              <a:buChar char="-"/>
            </a:pPr>
            <a:r>
              <a:rPr lang="en-US" dirty="0" smtClean="0"/>
              <a:t>Transport variables (n x m)</a:t>
            </a:r>
          </a:p>
          <a:p>
            <a:pPr marL="742950" lvl="1" indent="-285750">
              <a:buFontTx/>
              <a:buChar char="-"/>
            </a:pPr>
            <a:r>
              <a:rPr lang="en-US" dirty="0"/>
              <a:t>a</a:t>
            </a:r>
            <a:r>
              <a:rPr lang="en-US" dirty="0" smtClean="0"/>
              <a:t>t integration point</a:t>
            </a:r>
          </a:p>
          <a:p>
            <a:pPr marL="742950" lvl="1" indent="-285750">
              <a:buFontTx/>
              <a:buChar char="-"/>
            </a:pPr>
            <a:r>
              <a:rPr lang="en-US" dirty="0"/>
              <a:t>a</a:t>
            </a:r>
            <a:r>
              <a:rPr lang="en-US" dirty="0" smtClean="0"/>
              <a:t>t barycenter</a:t>
            </a:r>
          </a:p>
          <a:p>
            <a:pPr marL="742950" lvl="1" indent="-285750">
              <a:buFontTx/>
              <a:buChar char="-"/>
            </a:pPr>
            <a:r>
              <a:rPr lang="en-US" dirty="0" err="1"/>
              <a:t>u</a:t>
            </a:r>
            <a:r>
              <a:rPr lang="en-US" dirty="0" err="1" smtClean="0"/>
              <a:t>pwinded</a:t>
            </a:r>
            <a:endParaRPr lang="en-US" dirty="0" smtClean="0"/>
          </a:p>
          <a:p>
            <a:pPr marL="742950" lvl="1" indent="-285750">
              <a:buFontTx/>
              <a:buChar char="-"/>
            </a:pPr>
            <a:r>
              <a:rPr lang="en-US" dirty="0" smtClean="0"/>
              <a:t>mixed</a:t>
            </a:r>
          </a:p>
          <a:p>
            <a:pPr marL="285750" indent="-285750">
              <a:buFontTx/>
              <a:buChar char="-"/>
            </a:pPr>
            <a:r>
              <a:rPr lang="en-US" dirty="0" smtClean="0"/>
              <a:t>Source Term (n x m)</a:t>
            </a:r>
          </a:p>
          <a:p>
            <a:pPr marL="742950" lvl="1" indent="-285750">
              <a:buFontTx/>
              <a:buChar char="-"/>
            </a:pPr>
            <a:r>
              <a:rPr lang="en-US" dirty="0"/>
              <a:t>n</a:t>
            </a:r>
            <a:r>
              <a:rPr lang="en-US" dirty="0" smtClean="0"/>
              <a:t>odal, element, sector (?)</a:t>
            </a:r>
          </a:p>
          <a:p>
            <a:pPr marL="285750" indent="-285750">
              <a:buFontTx/>
              <a:buChar char="-"/>
            </a:pPr>
            <a:r>
              <a:rPr lang="en-US" dirty="0" smtClean="0"/>
              <a:t>Storage term (n x m)</a:t>
            </a:r>
          </a:p>
          <a:p>
            <a:pPr marL="742950" lvl="1" indent="-285750">
              <a:buFontTx/>
              <a:buChar char="-"/>
            </a:pPr>
            <a:r>
              <a:rPr lang="en-US" dirty="0"/>
              <a:t>n</a:t>
            </a:r>
            <a:r>
              <a:rPr lang="en-US" dirty="0" smtClean="0"/>
              <a:t>odal, element (?)</a:t>
            </a:r>
          </a:p>
          <a:p>
            <a:pPr marL="285750" indent="-285750">
              <a:buFontTx/>
              <a:buChar char="-"/>
            </a:pPr>
            <a:r>
              <a:rPr lang="en-US" dirty="0" smtClean="0"/>
              <a:t>General terms</a:t>
            </a:r>
          </a:p>
          <a:p>
            <a:pPr marL="742950" lvl="1" indent="-285750">
              <a:buFontTx/>
              <a:buChar char="-"/>
            </a:pPr>
            <a:r>
              <a:rPr lang="en-US" dirty="0" smtClean="0"/>
              <a:t>porosity / pore volume</a:t>
            </a:r>
          </a:p>
          <a:p>
            <a:pPr marL="742950" lvl="1" indent="-285750">
              <a:buFontTx/>
              <a:buChar char="-"/>
            </a:pPr>
            <a:r>
              <a:rPr lang="en-US" dirty="0"/>
              <a:t>f</a:t>
            </a:r>
            <a:r>
              <a:rPr lang="en-US" dirty="0" smtClean="0"/>
              <a:t>acet area</a:t>
            </a:r>
          </a:p>
          <a:p>
            <a:pPr marL="742950" lvl="1" indent="-285750">
              <a:buFontTx/>
              <a:buChar char="-"/>
            </a:pPr>
            <a:r>
              <a:rPr lang="en-US" dirty="0"/>
              <a:t>f</a:t>
            </a:r>
            <a:r>
              <a:rPr lang="en-US" dirty="0" smtClean="0"/>
              <a:t>acet normal x pressure gradient</a:t>
            </a:r>
          </a:p>
          <a:p>
            <a:pPr marL="285750" indent="-285750">
              <a:buFontTx/>
              <a:buChar char="-"/>
            </a:pPr>
            <a:r>
              <a:rPr lang="en-US" dirty="0" smtClean="0"/>
              <a:t>Global terms</a:t>
            </a:r>
          </a:p>
          <a:p>
            <a:pPr marL="742950" lvl="1" indent="-285750">
              <a:buFontTx/>
              <a:buChar char="-"/>
            </a:pPr>
            <a:r>
              <a:rPr lang="en-US" dirty="0" smtClean="0"/>
              <a:t>time step / CFL</a:t>
            </a:r>
          </a:p>
          <a:p>
            <a:pPr marL="742950" lvl="1" indent="-285750">
              <a:buFontTx/>
              <a:buChar char="-"/>
            </a:pPr>
            <a:endParaRPr lang="en-US" dirty="0"/>
          </a:p>
          <a:p>
            <a:pPr marL="742950" lvl="1" indent="-285750">
              <a:buFontTx/>
              <a:buChar char="-"/>
            </a:pPr>
            <a:endParaRPr lang="de-CH" dirty="0" smtClean="0"/>
          </a:p>
        </p:txBody>
      </p:sp>
      <p:sp>
        <p:nvSpPr>
          <p:cNvPr id="2" name="Slide Number Placeholder 1"/>
          <p:cNvSpPr>
            <a:spLocks noGrp="1"/>
          </p:cNvSpPr>
          <p:nvPr>
            <p:ph type="sldNum" sz="quarter" idx="12"/>
          </p:nvPr>
        </p:nvSpPr>
        <p:spPr/>
        <p:txBody>
          <a:bodyPr/>
          <a:lstStyle/>
          <a:p>
            <a:fld id="{C83A4929-569E-4284-9297-8396DF358F0B}" type="slidenum">
              <a:rPr lang="de-CH" smtClean="0"/>
              <a:t>51</a:t>
            </a:fld>
            <a:endParaRPr lang="de-CH"/>
          </a:p>
        </p:txBody>
      </p:sp>
    </p:spTree>
    <p:extLst>
      <p:ext uri="{BB962C8B-B14F-4D97-AF65-F5344CB8AC3E}">
        <p14:creationId xmlns:p14="http://schemas.microsoft.com/office/powerpoint/2010/main" val="2090748021"/>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smtClean="0">
                <a:solidFill>
                  <a:srgbClr val="FF1F98"/>
                </a:solidFill>
                <a:latin typeface="Arial" charset="0"/>
                <a:ea typeface="ＭＳ Ｐゴシック" charset="0"/>
                <a:cs typeface="ＭＳ Ｐゴシック" charset="0"/>
              </a:rPr>
              <a:t>FE-FVM </a:t>
            </a:r>
            <a:r>
              <a:rPr lang="en-US" sz="2800" dirty="0" err="1" smtClean="0">
                <a:solidFill>
                  <a:srgbClr val="FF1F98"/>
                </a:solidFill>
                <a:latin typeface="Arial" charset="0"/>
                <a:ea typeface="ＭＳ Ｐゴシック" charset="0"/>
                <a:cs typeface="ＭＳ Ｐゴシック" charset="0"/>
              </a:rPr>
              <a:t>Discretisation</a:t>
            </a:r>
            <a:r>
              <a:rPr lang="en-US" sz="2800" dirty="0" smtClean="0">
                <a:solidFill>
                  <a:srgbClr val="FF6600"/>
                </a:solidFill>
                <a:latin typeface="Arial" charset="0"/>
                <a:ea typeface="ＭＳ Ｐゴシック" charset="0"/>
                <a:cs typeface="ＭＳ Ｐゴシック" charset="0"/>
              </a:rPr>
              <a:t/>
            </a:r>
            <a:br>
              <a:rPr lang="en-US" sz="2800" dirty="0" smtClean="0">
                <a:solidFill>
                  <a:srgbClr val="FF6600"/>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Different requirements seem to exist here: </a:t>
            </a:r>
            <a:br>
              <a:rPr lang="en-US" sz="2000" dirty="0" smtClean="0">
                <a:solidFill>
                  <a:schemeClr val="tx1"/>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a:t>
            </a:r>
            <a:r>
              <a:rPr lang="en-US" sz="2000" i="1" dirty="0" smtClean="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320"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333"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smtClean="0">
                <a:latin typeface="Arial" charset="0"/>
              </a:rPr>
              <a:t>Single-phase transport </a:t>
            </a:r>
            <a:r>
              <a:rPr lang="en-US" dirty="0">
                <a:latin typeface="Arial" charset="0"/>
              </a:rPr>
              <a:t>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535"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536"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54</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1895"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1896"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1897"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1898"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55</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477"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56</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525"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573"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621"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1977"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sym typeface="Symbol" charset="0"/>
              </a:rPr>
              <a:t>ψ</a:t>
            </a:r>
            <a:r>
              <a:rPr lang="en-US" sz="1800" baseline="-25000" dirty="0" err="1" smtClean="0">
                <a:latin typeface="Arial" charset="0"/>
              </a:rPr>
              <a:t>min</a:t>
            </a:r>
            <a:r>
              <a:rPr lang="en-US" sz="1800" dirty="0" smtClean="0">
                <a:latin typeface="Arial" charset="0"/>
              </a:rPr>
              <a:t> </a:t>
            </a:r>
            <a:r>
              <a:rPr lang="en-US" sz="1800" dirty="0">
                <a:latin typeface="Arial" charset="0"/>
              </a:rPr>
              <a:t>and </a:t>
            </a:r>
            <a:r>
              <a:rPr lang="en-US" sz="1800" dirty="0" err="1" smtClean="0">
                <a:latin typeface="Arial" charset="0"/>
                <a:sym typeface="Symbol" charset="0"/>
              </a:rPr>
              <a:t>ψ</a:t>
            </a:r>
            <a:r>
              <a:rPr lang="en-US" sz="1800" baseline="-25000" dirty="0" err="1" smtClean="0">
                <a:latin typeface="Arial" charset="0"/>
              </a:rPr>
              <a:t>max</a:t>
            </a:r>
            <a:r>
              <a:rPr lang="en-US" sz="1800" dirty="0" smtClean="0">
                <a:latin typeface="Arial" charset="0"/>
              </a:rPr>
              <a:t> </a:t>
            </a:r>
            <a:r>
              <a:rPr lang="en-US" sz="1800" dirty="0">
                <a:latin typeface="Arial" charset="0"/>
              </a:rPr>
              <a:t>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1978"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1979"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3871"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3872"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765"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121"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122"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123"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19/01/18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64</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a:t>
              </a:r>
              <a:r>
                <a:rPr lang="en-US" dirty="0" smtClean="0">
                  <a:latin typeface="Arial" charset="0"/>
                </a:rPr>
                <a:t>facet fluxes</a:t>
              </a:r>
              <a:endParaRPr lang="en-US" dirty="0">
                <a:latin typeface="Arial" charset="0"/>
              </a:endParaRP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smtClean="0">
                  <a:latin typeface="Arial" charset="0"/>
                </a:rPr>
                <a:t>explicitly </a:t>
              </a:r>
              <a:r>
                <a:rPr lang="en-US" dirty="0">
                  <a:latin typeface="Arial" charset="0"/>
                </a:rPr>
                <a:t>or</a:t>
              </a:r>
            </a:p>
            <a:p>
              <a:pPr algn="ctr"/>
              <a:r>
                <a:rPr lang="en-US" dirty="0" smtClean="0">
                  <a:latin typeface="Arial" charset="0"/>
                </a:rPr>
                <a:t>implicitly </a:t>
              </a:r>
              <a:r>
                <a:rPr lang="en-US" dirty="0">
                  <a:latin typeface="Arial" charset="0"/>
                </a:rPr>
                <a:t>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smtClean="0">
                  <a:latin typeface="Arial" charset="0"/>
                </a:rPr>
                <a:t>Compute</a:t>
              </a:r>
              <a:endParaRPr lang="en-US" dirty="0">
                <a:latin typeface="Arial" charset="0"/>
              </a:endParaRP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19/01/18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smtClean="0"/>
              <a:t>Finite Element Computation</a:t>
            </a:r>
            <a:endParaRPr lang="en-US" dirty="0"/>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smtClean="0"/>
              <a:t>Finite Volume Computation</a:t>
            </a:r>
            <a:endParaRPr lang="en-US" dirty="0"/>
          </a:p>
        </p:txBody>
      </p:sp>
    </p:spTree>
    <p:extLst>
      <p:ext uri="{BB962C8B-B14F-4D97-AF65-F5344CB8AC3E}">
        <p14:creationId xmlns:p14="http://schemas.microsoft.com/office/powerpoint/2010/main" val="3541115703"/>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smtClean="0">
                <a:ea typeface="+mj-ea"/>
              </a:rPr>
              <a:t>A typical calculation operator-splitting calculation</a:t>
            </a:r>
            <a:endParaRPr lang="en-US" dirty="0">
              <a:ea typeface="+mj-ea"/>
            </a:endParaRP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smtClean="0">
                <a:ea typeface="+mn-ea"/>
              </a:rPr>
              <a:t>Compute pressure</a:t>
            </a:r>
          </a:p>
          <a:p>
            <a:pPr marL="457200" indent="-457200" fontAlgn="auto">
              <a:buFont typeface="+mj-lt"/>
              <a:buAutoNum type="arabicPeriod"/>
              <a:defRPr/>
            </a:pPr>
            <a:r>
              <a:rPr lang="en-US" dirty="0" smtClean="0">
                <a:ea typeface="+mn-ea"/>
              </a:rPr>
              <a:t>Compute total velocity etc.</a:t>
            </a:r>
          </a:p>
          <a:p>
            <a:pPr marL="457200" indent="-457200" fontAlgn="auto">
              <a:buFont typeface="+mj-lt"/>
              <a:buAutoNum type="arabicPeriod"/>
              <a:defRPr/>
            </a:pPr>
            <a:r>
              <a:rPr lang="en-US" dirty="0" smtClean="0">
                <a:ea typeface="+mn-ea"/>
              </a:rPr>
              <a:t>Update </a:t>
            </a:r>
            <a:r>
              <a:rPr lang="en-US" dirty="0">
                <a:ea typeface="+mn-ea"/>
              </a:rPr>
              <a:t>phase densities and </a:t>
            </a:r>
            <a:r>
              <a:rPr lang="en-US" dirty="0" smtClean="0">
                <a:ea typeface="+mn-ea"/>
              </a:rPr>
              <a:t>viscosities,</a:t>
            </a:r>
          </a:p>
          <a:p>
            <a:pPr marL="457200" indent="-457200" fontAlgn="auto">
              <a:buFont typeface="+mj-lt"/>
              <a:buAutoNum type="arabicPeriod"/>
              <a:defRPr/>
            </a:pPr>
            <a:r>
              <a:rPr lang="en-US" dirty="0" smtClean="0">
                <a:ea typeface="+mn-ea"/>
              </a:rPr>
              <a:t>Update multiphase flow terms / constitutive relations, </a:t>
            </a:r>
          </a:p>
          <a:p>
            <a:pPr marL="457200" indent="-457200" fontAlgn="auto">
              <a:buFont typeface="+mj-lt"/>
              <a:buAutoNum type="arabicPeriod"/>
              <a:defRPr/>
            </a:pPr>
            <a:r>
              <a:rPr lang="en-US" dirty="0" smtClean="0">
                <a:ea typeface="+mn-ea"/>
              </a:rPr>
              <a:t>Determine time increment</a:t>
            </a:r>
          </a:p>
          <a:p>
            <a:pPr marL="457200" indent="-457200" fontAlgn="auto">
              <a:buFont typeface="+mj-lt"/>
              <a:buAutoNum type="arabicPeriod"/>
              <a:defRPr/>
            </a:pPr>
            <a:r>
              <a:rPr lang="en-US" dirty="0" smtClean="0">
                <a:ea typeface="+mn-ea"/>
              </a:rPr>
              <a:t>Accumulate (higher-order) interior stencils</a:t>
            </a:r>
          </a:p>
          <a:p>
            <a:pPr marL="857250" lvl="1" indent="-457200" fontAlgn="auto">
              <a:buFont typeface="Arial"/>
              <a:buChar char="–"/>
              <a:defRPr/>
            </a:pPr>
            <a:r>
              <a:rPr lang="en-US" dirty="0" smtClean="0">
                <a:ea typeface="+mn-ea"/>
              </a:rPr>
              <a:t>Compute viscous, gravitational and capillary fluxes</a:t>
            </a:r>
          </a:p>
          <a:p>
            <a:pPr marL="857250" lvl="1" indent="-457200" fontAlgn="auto">
              <a:buFont typeface="Arial"/>
              <a:buChar char="–"/>
              <a:defRPr/>
            </a:pPr>
            <a:r>
              <a:rPr lang="en-US" dirty="0" smtClean="0">
                <a:ea typeface="+mn-ea"/>
              </a:rPr>
              <a:t>Determine upwind direction on basis of composite flux</a:t>
            </a:r>
          </a:p>
          <a:p>
            <a:pPr marL="857250" lvl="1" indent="-457200" fontAlgn="auto">
              <a:buFont typeface="Arial"/>
              <a:buChar char="–"/>
              <a:defRPr/>
            </a:pPr>
            <a:r>
              <a:rPr lang="en-US" dirty="0" smtClean="0">
                <a:ea typeface="+mn-ea"/>
              </a:rPr>
              <a:t>Establish flux balances and pressure-change dependent source / sink terms</a:t>
            </a:r>
          </a:p>
          <a:p>
            <a:pPr marL="457200" indent="-457200" fontAlgn="auto">
              <a:buFont typeface="+mj-lt"/>
              <a:buAutoNum type="arabicPeriod"/>
              <a:defRPr/>
            </a:pPr>
            <a:r>
              <a:rPr lang="en-US" dirty="0" smtClean="0">
                <a:ea typeface="+mn-ea"/>
              </a:rPr>
              <a:t>Accumulate lower order boundary stencils </a:t>
            </a:r>
          </a:p>
          <a:p>
            <a:pPr marL="457200" indent="-457200" fontAlgn="auto">
              <a:buFont typeface="+mj-lt"/>
              <a:buAutoNum type="arabicPeriod"/>
              <a:defRPr/>
            </a:pPr>
            <a:r>
              <a:rPr lang="en-US" dirty="0" smtClean="0">
                <a:ea typeface="+mn-ea"/>
              </a:rPr>
              <a:t>Solve transport problem</a:t>
            </a:r>
          </a:p>
          <a:p>
            <a:pPr marL="457200" indent="-457200" fontAlgn="auto">
              <a:buFont typeface="+mj-lt"/>
              <a:buAutoNum type="arabicPeriod"/>
              <a:defRPr/>
            </a:pPr>
            <a:r>
              <a:rPr lang="en-US" dirty="0" smtClean="0">
                <a:ea typeface="+mn-ea"/>
              </a:rPr>
              <a:t>Transfer results to model</a:t>
            </a:r>
            <a:endParaRPr lang="en-US" dirty="0">
              <a:ea typeface="+mn-ea"/>
            </a:endParaRP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19/01/18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65</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smtClean="0"/>
              <a:t>Two-dimensional FE discretization </a:t>
            </a:r>
            <a:r>
              <a:rPr lang="en-US" sz="2800" dirty="0"/>
              <a:t>of </a:t>
            </a:r>
            <a:r>
              <a:rPr lang="en-US" sz="2800" dirty="0" smtClean="0"/>
              <a:t>pressure </a:t>
            </a:r>
            <a:r>
              <a:rPr lang="en-US" sz="2800" dirty="0"/>
              <a:t>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smtClean="0">
                <a:latin typeface="Arial" charset="0"/>
              </a:rPr>
              <a:t>p</a:t>
            </a:r>
          </a:p>
          <a:p>
            <a:r>
              <a:rPr lang="en-US" dirty="0" smtClean="0">
                <a:latin typeface="Arial" charset="0"/>
              </a:rPr>
              <a:t>viscosity</a:t>
            </a:r>
            <a:r>
              <a:rPr lang="en-US" i="1" dirty="0" smtClean="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smtClean="0">
                <a:latin typeface="Arial" charset="0"/>
              </a:rPr>
              <a:t>porosity</a:t>
            </a:r>
            <a:r>
              <a:rPr lang="en-US" sz="1800" dirty="0">
                <a:latin typeface="Arial" charset="0"/>
              </a:rPr>
              <a:t>, </a:t>
            </a:r>
            <a:r>
              <a:rPr lang="en-US" sz="1800" dirty="0" err="1" smtClean="0">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smtClean="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328"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smtClean="0">
                <a:latin typeface="Arial" charset="0"/>
              </a:rPr>
              <a:t>e.g., Matthai et al.</a:t>
            </a:r>
            <a:r>
              <a:rPr lang="en-US" sz="1600" i="1" dirty="0">
                <a:latin typeface="Arial" charset="0"/>
              </a:rPr>
              <a:t> </a:t>
            </a:r>
            <a:r>
              <a:rPr lang="en-US" sz="1600" i="1" dirty="0" smtClean="0">
                <a:latin typeface="Arial" charset="0"/>
              </a:rPr>
              <a:t>(AAPG Bull. 1996)</a:t>
            </a:r>
            <a:endParaRPr lang="en-US" sz="1600" i="1" dirty="0">
              <a:latin typeface="Arial" charset="0"/>
            </a:endParaRP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smtClean="0"/>
              <a:t>Gives linear variation of pressure in element</a:t>
            </a:r>
          </a:p>
          <a:p>
            <a:r>
              <a:rPr lang="en-GB" i="1" dirty="0" smtClean="0"/>
              <a:t>and piecewise constant velocity via Darcy’s law</a:t>
            </a:r>
            <a:endParaRPr lang="en-GB" i="1" dirty="0"/>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66</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19/01/18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smtClean="0">
                <a:latin typeface="Arial" charset="0"/>
                <a:ea typeface="ＭＳ Ｐゴシック" charset="0"/>
                <a:cs typeface="ＭＳ Ｐゴシック" charset="0"/>
              </a:rPr>
              <a:t>Implementation:</a:t>
            </a:r>
            <a:br>
              <a:rPr lang="en-US" dirty="0" smtClean="0">
                <a:latin typeface="Arial" charset="0"/>
                <a:ea typeface="ＭＳ Ｐゴシック" charset="0"/>
                <a:cs typeface="ＭＳ Ｐゴシック" charset="0"/>
              </a:rPr>
            </a:br>
            <a:r>
              <a:rPr lang="en-US" dirty="0" smtClean="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smtClean="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rPr>
                <a:t>subface</a:t>
              </a:r>
              <a:r>
                <a:rPr lang="en-US" sz="1800" dirty="0" smtClean="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smtClean="0"/>
                <a:t>x</a:t>
              </a:r>
              <a:endParaRPr lang="en-US" dirty="0"/>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smtClean="0"/>
                <a:t>x</a:t>
              </a:r>
              <a:endParaRPr lang="en-US" dirty="0"/>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smtClean="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a:t>
            </a:r>
            <a:r>
              <a:rPr lang="en-US" sz="1200" dirty="0" smtClean="0">
                <a:latin typeface="Courier"/>
                <a:cs typeface="Courier"/>
              </a:rPr>
              <a:t>ELEMENT_INTEGRATION_POINT,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SECTOR_INTEGRATION_POINT,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FACET_INTEGRATION_POINT,</a:t>
            </a:r>
            <a:endParaRPr lang="en-US" sz="1200" dirty="0">
              <a:latin typeface="Courier"/>
              <a:cs typeface="Courier"/>
            </a:endParaRP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smtClean="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smtClean="0">
                <a:solidFill>
                  <a:srgbClr val="000000"/>
                </a:solidFill>
                <a:latin typeface="Arial" charset="0"/>
              </a:rPr>
              <a:t>FiniteVolumeStencil</a:t>
            </a:r>
            <a:r>
              <a:rPr lang="en-US" sz="1600" dirty="0" err="1" smtClean="0">
                <a:solidFill>
                  <a:srgbClr val="000000"/>
                </a:solidFill>
                <a:latin typeface="Arial" charset="0"/>
              </a:rPr>
              <a:t>s</a:t>
            </a:r>
            <a:r>
              <a:rPr lang="en-US" sz="1600" dirty="0" smtClean="0">
                <a:solidFill>
                  <a:srgbClr val="000000"/>
                </a:solidFill>
                <a:latin typeface="Arial" charset="0"/>
              </a:rPr>
              <a:t> for each FE type which has a reference </a:t>
            </a:r>
          </a:p>
          <a:p>
            <a:r>
              <a:rPr lang="en-US" sz="1600" dirty="0">
                <a:solidFill>
                  <a:srgbClr val="000000"/>
                </a:solidFill>
                <a:latin typeface="Arial" charset="0"/>
              </a:rPr>
              <a:t> </a:t>
            </a:r>
            <a:r>
              <a:rPr lang="en-US" sz="1600" dirty="0" smtClean="0">
                <a:solidFill>
                  <a:srgbClr val="000000"/>
                </a:solidFill>
                <a:latin typeface="Arial" charset="0"/>
              </a:rPr>
              <a:t> representation in parametric space</a:t>
            </a:r>
          </a:p>
          <a:p>
            <a:pPr>
              <a:buFontTx/>
              <a:buChar char="•"/>
            </a:pPr>
            <a:r>
              <a:rPr lang="en-US" sz="1600" dirty="0" smtClean="0">
                <a:solidFill>
                  <a:srgbClr val="000000"/>
                </a:solidFill>
                <a:latin typeface="Arial" charset="0"/>
              </a:rPr>
              <a:t>Jacobi transformations applied via </a:t>
            </a:r>
            <a:r>
              <a:rPr lang="en-US" sz="1600" b="1" dirty="0" err="1" smtClean="0">
                <a:solidFill>
                  <a:srgbClr val="000000"/>
                </a:solidFill>
                <a:latin typeface="Arial" charset="0"/>
              </a:rPr>
              <a:t>FiniteVolumeTraits</a:t>
            </a:r>
            <a:r>
              <a:rPr lang="en-US" sz="1600" b="1" dirty="0" smtClean="0">
                <a:solidFill>
                  <a:srgbClr val="000000"/>
                </a:solidFill>
                <a:latin typeface="Arial" charset="0"/>
              </a:rPr>
              <a:t> </a:t>
            </a:r>
          </a:p>
          <a:p>
            <a:r>
              <a:rPr lang="en-US" sz="1600" dirty="0" smtClean="0">
                <a:solidFill>
                  <a:srgbClr val="000000"/>
                </a:solidFill>
                <a:latin typeface="Arial" charset="0"/>
              </a:rPr>
              <a:t>  to get physical space properties</a:t>
            </a:r>
            <a:endParaRPr lang="en-US" sz="1600" dirty="0">
              <a:solidFill>
                <a:srgbClr val="000000"/>
              </a:solidFill>
              <a:latin typeface="Arial" charset="0"/>
            </a:endParaRP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Access to </a:t>
            </a:r>
            <a:r>
              <a:rPr lang="en-US" sz="2800" dirty="0" err="1" smtClean="0"/>
              <a:t>FiniteVolume</a:t>
            </a:r>
            <a:r>
              <a:rPr lang="en-US" sz="2800" dirty="0" smtClean="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smtClean="0"/>
              <a:t>through </a:t>
            </a:r>
            <a:r>
              <a:rPr lang="en-US" b="1" dirty="0" err="1" smtClean="0"/>
              <a:t>FiniteVolumeTrait</a:t>
            </a:r>
            <a:r>
              <a:rPr lang="en-US" dirty="0" err="1" smtClean="0"/>
              <a:t>s</a:t>
            </a:r>
            <a:r>
              <a:rPr lang="en-US" dirty="0" smtClean="0"/>
              <a:t> added to Element / Face / Interface:</a:t>
            </a:r>
          </a:p>
          <a:p>
            <a:r>
              <a:rPr lang="en-US" dirty="0" smtClean="0"/>
              <a:t>Methods are fast, but it is better to store computed values if used repeatedly</a:t>
            </a:r>
            <a:endParaRPr lang="en-US" dirty="0"/>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19/01/18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040906274"/>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smtClean="0"/>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smtClean="0"/>
              <a:t>In collaboration with </a:t>
            </a:r>
            <a:r>
              <a:rPr lang="en-US" b="1" dirty="0" err="1" smtClean="0"/>
              <a:t>NodeCenteredFiniteVolumeAlgorithm</a:t>
            </a:r>
            <a:r>
              <a:rPr lang="en-US" dirty="0" smtClean="0"/>
              <a:t>, </a:t>
            </a:r>
            <a:r>
              <a:rPr lang="en-US" b="1" dirty="0" err="1" smtClean="0"/>
              <a:t>StencilProcessor</a:t>
            </a:r>
            <a:r>
              <a:rPr lang="en-US" dirty="0" smtClean="0"/>
              <a:t>, and </a:t>
            </a:r>
            <a:r>
              <a:rPr lang="en-US" b="1" dirty="0" err="1" smtClean="0"/>
              <a:t>finiteVolumeAuxiliaryFunctions</a:t>
            </a:r>
            <a:r>
              <a:rPr lang="en-US" dirty="0" smtClean="0"/>
              <a:t> (limiters etc.) calculations are done.</a:t>
            </a:r>
          </a:p>
          <a:p>
            <a:r>
              <a:rPr lang="en-US" dirty="0" smtClean="0"/>
              <a:t>Base class NCFVT implements different schemes for single phase transport and CFL calculation.</a:t>
            </a:r>
          </a:p>
          <a:p>
            <a:r>
              <a:rPr lang="en-US" dirty="0" smtClean="0"/>
              <a:t>Subclasses implement implicit and explicit transport schemes for slightly compressible two-phase flow</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a:t>
            </a:r>
            <a:r>
              <a:rPr lang="en-US" sz="2800" dirty="0" smtClean="0"/>
              <a:t>currently happens </a:t>
            </a:r>
            <a:r>
              <a:rPr lang="en-US" sz="2800" dirty="0"/>
              <a:t>when</a:t>
            </a:r>
            <a:r>
              <a:rPr lang="en-US" sz="2800" dirty="0" smtClean="0"/>
              <a:t> the NCFV </a:t>
            </a:r>
            <a:r>
              <a:rPr lang="en-US" sz="2800" dirty="0"/>
              <a:t>transport</a:t>
            </a:r>
            <a:r>
              <a:rPr lang="en-US" sz="2800" dirty="0" smtClean="0"/>
              <a: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a:t>
            </a:r>
            <a:r>
              <a:rPr lang="en-US" sz="2000" dirty="0" smtClean="0"/>
              <a:t>stencil class instances of  </a:t>
            </a:r>
            <a:r>
              <a:rPr lang="en-US" sz="2000" b="1" dirty="0" err="1" smtClean="0"/>
              <a:t>FiniteVolumeStencil</a:t>
            </a:r>
            <a:r>
              <a:rPr lang="en-US" sz="2000" b="1" dirty="0" smtClean="0"/>
              <a:t> </a:t>
            </a:r>
            <a:r>
              <a:rPr lang="en-US" sz="2000" dirty="0"/>
              <a:t>are constructed</a:t>
            </a:r>
            <a:r>
              <a:rPr lang="en-US" sz="2000" dirty="0" smtClean="0"/>
              <a:t> and initialized with data from </a:t>
            </a:r>
            <a:r>
              <a:rPr lang="en-US" sz="2000" b="1" dirty="0" err="1" smtClean="0"/>
              <a:t>FV_IntegrationPointAnd</a:t>
            </a:r>
            <a:r>
              <a:rPr lang="en-US" b="1" dirty="0" err="1" smtClean="0"/>
              <a:t>Weights</a:t>
            </a:r>
            <a:r>
              <a:rPr lang="en-US" dirty="0" smtClean="0"/>
              <a:t> </a:t>
            </a:r>
            <a:r>
              <a:rPr lang="en-US" sz="2000" dirty="0" smtClean="0"/>
              <a:t>for </a:t>
            </a:r>
            <a:r>
              <a:rPr lang="en-US" sz="2000" dirty="0"/>
              <a:t>the different finite element types</a:t>
            </a:r>
          </a:p>
          <a:p>
            <a:pPr eaLnBrk="1" hangingPunct="1">
              <a:lnSpc>
                <a:spcPct val="90000"/>
              </a:lnSpc>
              <a:spcAft>
                <a:spcPct val="85000"/>
              </a:spcAft>
            </a:pPr>
            <a:r>
              <a:rPr lang="en-US" sz="2000" dirty="0"/>
              <a:t>Specific stencils are associated with corresponding elements as managed </a:t>
            </a:r>
            <a:r>
              <a:rPr lang="en-US" sz="2000" dirty="0" smtClean="0"/>
              <a:t>by the </a:t>
            </a:r>
            <a:r>
              <a:rPr lang="en-US" sz="2000" b="1" dirty="0" err="1" smtClean="0"/>
              <a:t>FiniteVolumeStencilManager</a:t>
            </a:r>
            <a:endParaRPr lang="en-US" sz="2000" b="1" dirty="0"/>
          </a:p>
          <a:p>
            <a:pPr>
              <a:lnSpc>
                <a:spcPct val="90000"/>
              </a:lnSpc>
              <a:spcAft>
                <a:spcPct val="85000"/>
              </a:spcAft>
            </a:pPr>
            <a:r>
              <a:rPr lang="en-US" sz="2000" b="1" dirty="0" err="1"/>
              <a:t>FV_Parameter</a:t>
            </a:r>
            <a:r>
              <a:rPr lang="en-US" sz="2000" b="1" dirty="0" smtClean="0"/>
              <a:t> </a:t>
            </a:r>
            <a:r>
              <a:rPr lang="en-US" sz="2000" dirty="0" smtClean="0"/>
              <a:t>instances are initialized doing computations </a:t>
            </a:r>
            <a:r>
              <a:rPr lang="en-US" dirty="0" smtClean="0"/>
              <a:t>with the </a:t>
            </a:r>
            <a:r>
              <a:rPr lang="en-US" b="1" dirty="0" err="1" smtClean="0"/>
              <a:t>FiniteVolumeStencil</a:t>
            </a:r>
            <a:r>
              <a:rPr lang="en-US" b="1" dirty="0" smtClean="0"/>
              <a:t> </a:t>
            </a:r>
            <a:r>
              <a:rPr lang="en-US" dirty="0" smtClean="0"/>
              <a:t>objects and are </a:t>
            </a:r>
            <a:r>
              <a:rPr lang="en-US" sz="2000" dirty="0" smtClean="0"/>
              <a:t>stored </a:t>
            </a:r>
            <a:r>
              <a:rPr lang="en-US" sz="2000" dirty="0"/>
              <a:t>in the STENCIL_DATA vector inside of the </a:t>
            </a:r>
            <a:r>
              <a:rPr lang="en-US" sz="2000" b="1" dirty="0" err="1" smtClean="0"/>
              <a:t>NodeCenteredFiniteVolumeTransport</a:t>
            </a:r>
            <a:r>
              <a:rPr lang="en-US" sz="2000" b="1" dirty="0" smtClean="0"/>
              <a:t>. </a:t>
            </a:r>
            <a:r>
              <a:rPr lang="en-US" dirty="0" smtClean="0"/>
              <a:t>I</a:t>
            </a:r>
            <a:r>
              <a:rPr lang="en-US" sz="2000" dirty="0" smtClean="0"/>
              <a:t>nitialized are with </a:t>
            </a:r>
            <a:r>
              <a:rPr lang="en-US" sz="2000" dirty="0"/>
              <a:t>facet </a:t>
            </a:r>
            <a:r>
              <a:rPr lang="en-US" sz="2000" dirty="0" err="1"/>
              <a:t>normals</a:t>
            </a:r>
            <a:r>
              <a:rPr lang="en-US" sz="2000" dirty="0"/>
              <a:t>, facet areas, and</a:t>
            </a:r>
            <a:r>
              <a:rPr lang="en-US" sz="2000" dirty="0" smtClean="0"/>
              <a:t> sector </a:t>
            </a:r>
            <a:r>
              <a:rPr lang="en-US" sz="2000" dirty="0"/>
              <a:t>volumes for accelerated lookup and projections during </a:t>
            </a:r>
            <a:r>
              <a:rPr lang="en-US" sz="2000" dirty="0" smtClean="0"/>
              <a:t>run.  </a:t>
            </a:r>
          </a:p>
          <a:p>
            <a:pPr eaLnBrk="1" hangingPunct="1">
              <a:lnSpc>
                <a:spcPct val="90000"/>
              </a:lnSpc>
              <a:spcAft>
                <a:spcPct val="85000"/>
              </a:spcAft>
            </a:pPr>
            <a:r>
              <a:rPr lang="en-US" sz="2000" dirty="0" smtClean="0"/>
              <a:t>FV</a:t>
            </a:r>
            <a:r>
              <a:rPr lang="en-US" sz="2000" dirty="0"/>
              <a:t>-pore volumes and flux balance arrays are</a:t>
            </a:r>
            <a:r>
              <a:rPr lang="en-US" sz="2000" dirty="0" smtClean="0"/>
              <a:t> also computed</a:t>
            </a:r>
            <a:r>
              <a:rPr lang="en-US" sz="2000" dirty="0"/>
              <a:t>. </a:t>
            </a:r>
            <a:r>
              <a:rPr lang="en-US" sz="2000" dirty="0" smtClean="0"/>
              <a:t>For higher order accurate transport schemes, </a:t>
            </a:r>
            <a:r>
              <a:rPr lang="en-US" sz="2000" dirty="0"/>
              <a:t>a node connectivity graph and SMINMAX array values are initialized for the </a:t>
            </a:r>
            <a:r>
              <a:rPr lang="en-US" sz="2000" dirty="0" smtClean="0"/>
              <a:t>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a:t>
            </a:r>
            <a:r>
              <a:rPr lang="en-US" dirty="0" smtClean="0"/>
              <a:t>currently calculated </a:t>
            </a:r>
            <a:r>
              <a:rPr lang="en-US" dirty="0"/>
              <a:t>using the element length in the direction of flow, </a:t>
            </a:r>
            <a:r>
              <a:rPr lang="en-US" dirty="0" smtClean="0"/>
              <a:t>see NCFVT::</a:t>
            </a:r>
            <a:r>
              <a:rPr lang="en-US" b="1" dirty="0" err="1"/>
              <a:t>AnisotropicCourantIncrement</a:t>
            </a:r>
            <a:r>
              <a:rPr lang="en-US" b="1" dirty="0"/>
              <a:t>(</a:t>
            </a:r>
            <a:r>
              <a:rPr lang="en-US" b="1" dirty="0" smtClean="0"/>
              <a:t>)</a:t>
            </a:r>
            <a:r>
              <a:rPr lang="en-US" dirty="0" smtClean="0"/>
              <a:t>. This only considers viscous and gravitationally driven flow since capillary spreading is computed with the FE method.</a:t>
            </a:r>
          </a:p>
          <a:p>
            <a:pPr>
              <a:spcAft>
                <a:spcPct val="50000"/>
              </a:spcAft>
            </a:pPr>
            <a:r>
              <a:rPr lang="en-US" dirty="0" smtClean="0"/>
              <a:t>A limiting value is specified by the user for the case when there is no flow.</a:t>
            </a:r>
            <a:endParaRPr lang="en-GB" dirty="0" smtClean="0"/>
          </a:p>
          <a:p>
            <a:pPr eaLnBrk="1" hangingPunct="1">
              <a:spcAft>
                <a:spcPct val="50000"/>
              </a:spcAft>
            </a:pPr>
            <a:r>
              <a:rPr lang="en-US" dirty="0" smtClean="0"/>
              <a:t>For </a:t>
            </a:r>
            <a:r>
              <a:rPr lang="en-US" dirty="0"/>
              <a:t>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endParaRPr lang="en-US" dirty="0" smtClean="0"/>
          </a:p>
          <a:p>
            <a:pPr eaLnBrk="1" hangingPunct="1">
              <a:spcAft>
                <a:spcPct val="50000"/>
              </a:spcAft>
            </a:pPr>
            <a:r>
              <a:rPr lang="en-US" dirty="0" smtClean="0"/>
              <a:t>To use </a:t>
            </a:r>
            <a:r>
              <a:rPr lang="en-US" dirty="0" err="1" smtClean="0"/>
              <a:t>explit</a:t>
            </a:r>
            <a:r>
              <a:rPr lang="en-US" dirty="0" smtClean="0"/>
              <a:t> schemes CFL </a:t>
            </a:r>
            <a:r>
              <a:rPr lang="en-US" dirty="0"/>
              <a:t>calculation must simultaneously address viscous, gravitational, and capillary terms CFL = max( </a:t>
            </a:r>
            <a:r>
              <a:rPr lang="en-US" dirty="0" err="1"/>
              <a:t>visc_CFL</a:t>
            </a:r>
            <a:r>
              <a:rPr lang="en-US" dirty="0"/>
              <a:t>…) so that even if one of these is zero a meaningful value is established</a:t>
            </a:r>
            <a:r>
              <a:rPr lang="en-US" dirty="0" smtClean="0"/>
              <a:t>.</a:t>
            </a:r>
          </a:p>
          <a:p>
            <a:pPr eaLnBrk="1" hangingPunct="1">
              <a:spcAft>
                <a:spcPct val="50000"/>
              </a:spcAft>
            </a:pPr>
            <a:r>
              <a:rPr lang="en-US" dirty="0" smtClean="0"/>
              <a:t>For these reasons the CFL methods are virtual so that they can be </a:t>
            </a:r>
            <a:r>
              <a:rPr lang="en-US" dirty="0" err="1" smtClean="0"/>
              <a:t>overriden</a:t>
            </a:r>
            <a:r>
              <a:rPr lang="en-US" dirty="0" smtClean="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8938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FiniteVolumeTraits</a:t>
            </a:r>
            <a:endParaRPr lang="en-GB" sz="160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8319" y="2931319"/>
            <a:ext cx="1387475" cy="23018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01625" y="3927475"/>
            <a:ext cx="1338263" cy="882650"/>
          </a:xfrm>
          <a:prstGeom prst="bentConnector3">
            <a:avLst>
              <a:gd name="adj1" fmla="val 11637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75</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smtClean="0"/>
              <a:t>Discretization approaches supported by CSMP and transport schemes we have implemented for different purposes:</a:t>
            </a:r>
          </a:p>
          <a:p>
            <a:pPr marL="0" indent="0">
              <a:buFont typeface="Wingdings" charset="0"/>
              <a:buNone/>
              <a:defRPr/>
            </a:pPr>
            <a:r>
              <a:rPr lang="en-GB" sz="1600" b="1" dirty="0" smtClean="0"/>
              <a:t>Spatial </a:t>
            </a:r>
            <a:r>
              <a:rPr lang="en-GB" sz="1600" b="1" dirty="0" err="1" smtClean="0"/>
              <a:t>discretizations</a:t>
            </a:r>
            <a:r>
              <a:rPr lang="en-GB" sz="1600" b="1" dirty="0" smtClean="0"/>
              <a:t>: </a:t>
            </a:r>
            <a:r>
              <a:rPr lang="en-GB" sz="1600" dirty="0" smtClean="0"/>
              <a:t>- CVFE, FEMFVM with embedded discontinuities, FECFVM</a:t>
            </a:r>
          </a:p>
          <a:p>
            <a:pPr marL="0" indent="0">
              <a:buFont typeface="Wingdings" charset="0"/>
              <a:buNone/>
              <a:defRPr/>
            </a:pPr>
            <a:r>
              <a:rPr lang="en-GB" sz="1600" dirty="0" smtClean="0"/>
              <a:t>- Advection - dispersion – decay (passive transport)</a:t>
            </a:r>
          </a:p>
          <a:p>
            <a:pPr marL="0" indent="0">
              <a:buFont typeface="Wingdings" charset="0"/>
              <a:buNone/>
              <a:defRPr/>
            </a:pPr>
            <a:r>
              <a:rPr lang="en-GB" sz="1600" dirty="0" smtClean="0"/>
              <a:t>- volume-based slightly compressible 2-phase and species transport</a:t>
            </a:r>
          </a:p>
          <a:p>
            <a:pPr marL="0" indent="0">
              <a:buFont typeface="Wingdings" charset="0"/>
              <a:buNone/>
              <a:defRPr/>
            </a:pPr>
            <a:r>
              <a:rPr lang="en-GB" sz="1600" dirty="0" smtClean="0"/>
              <a:t>- mass-based compressible 3-phase </a:t>
            </a:r>
          </a:p>
          <a:p>
            <a:pPr>
              <a:buFontTx/>
              <a:buChar char="-"/>
              <a:defRPr/>
            </a:pPr>
            <a:r>
              <a:rPr lang="en-GB" sz="1600" dirty="0" smtClean="0"/>
              <a:t>Black-oil</a:t>
            </a:r>
          </a:p>
          <a:p>
            <a:pPr>
              <a:buFontTx/>
              <a:buChar char="-"/>
              <a:defRPr/>
            </a:pPr>
            <a:r>
              <a:rPr lang="en-GB" sz="1600" dirty="0" smtClean="0"/>
              <a:t>multiphase multi-component transport (C# in oil phase etc.)</a:t>
            </a:r>
          </a:p>
          <a:p>
            <a:pPr marL="0" indent="0">
              <a:buFont typeface="Wingdings" charset="0"/>
              <a:buNone/>
              <a:defRPr/>
            </a:pPr>
            <a:r>
              <a:rPr lang="en-GB" sz="1600" b="1" dirty="0" smtClean="0"/>
              <a:t>Time-stepping &amp; flux calculation</a:t>
            </a:r>
          </a:p>
          <a:p>
            <a:pPr marL="0" indent="0">
              <a:buFont typeface="Wingdings" charset="0"/>
              <a:buNone/>
              <a:defRPr/>
            </a:pPr>
            <a:r>
              <a:rPr lang="en-GB" sz="1600" dirty="0" smtClean="0"/>
              <a:t>- IMPES (</a:t>
            </a:r>
            <a:r>
              <a:rPr lang="en-GB" sz="1600" dirty="0" err="1" smtClean="0"/>
              <a:t>substepping</a:t>
            </a:r>
            <a:r>
              <a:rPr lang="en-GB" sz="1600" dirty="0" smtClean="0"/>
              <a:t>)</a:t>
            </a:r>
          </a:p>
          <a:p>
            <a:pPr marL="0" indent="0">
              <a:buFont typeface="Wingdings" charset="0"/>
              <a:buNone/>
              <a:defRPr/>
            </a:pPr>
            <a:r>
              <a:rPr lang="en-GB" sz="1600" dirty="0" smtClean="0"/>
              <a:t>- IMPIMS</a:t>
            </a:r>
          </a:p>
          <a:p>
            <a:pPr marL="0" indent="0">
              <a:buFont typeface="Wingdings" charset="0"/>
              <a:buNone/>
              <a:defRPr/>
            </a:pPr>
            <a:r>
              <a:rPr lang="en-GB" sz="1600" dirty="0" smtClean="0"/>
              <a:t>- higher-order methods and multi-dimensional flux limiting</a:t>
            </a:r>
          </a:p>
          <a:p>
            <a:pPr marL="0" indent="0">
              <a:buFont typeface="Wingdings" charset="0"/>
              <a:buNone/>
              <a:defRPr/>
            </a:pPr>
            <a:r>
              <a:rPr lang="en-GB" sz="1600" dirty="0" smtClean="0"/>
              <a:t>- IMPIMS - theta-limited (2nd order in space and time)</a:t>
            </a:r>
          </a:p>
          <a:p>
            <a:pPr marL="0" indent="0">
              <a:buFont typeface="Wingdings" charset="0"/>
              <a:buNone/>
              <a:defRPr/>
            </a:pPr>
            <a:r>
              <a:rPr lang="en-GB" sz="1600" dirty="0" smtClean="0"/>
              <a:t>- IMPIMS - large-time step linearized method (streamline alternative)</a:t>
            </a:r>
          </a:p>
          <a:p>
            <a:pPr marL="0" indent="0">
              <a:buFont typeface="Wingdings" charset="0"/>
              <a:buNone/>
              <a:defRPr/>
            </a:pPr>
            <a:r>
              <a:rPr lang="en-GB" sz="1600" dirty="0" smtClean="0"/>
              <a:t>- line-search Newton-</a:t>
            </a:r>
            <a:r>
              <a:rPr lang="en-GB" sz="1600" dirty="0" err="1" smtClean="0"/>
              <a:t>Raphson</a:t>
            </a:r>
            <a:r>
              <a:rPr lang="en-GB" sz="1600" dirty="0" smtClean="0"/>
              <a:t> extension of Jenny method</a:t>
            </a:r>
          </a:p>
          <a:p>
            <a:pPr marL="0" indent="0">
              <a:buFont typeface="Wingdings" charset="0"/>
              <a:buNone/>
              <a:defRPr/>
            </a:pPr>
            <a:r>
              <a:rPr lang="en-GB" sz="1600" dirty="0" smtClean="0"/>
              <a:t>- DES</a:t>
            </a:r>
            <a:endParaRPr lang="en-GB"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19/01/18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76</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smtClean="0"/>
              <a:t>Classes to implement your own FVM functionality</a:t>
            </a:r>
            <a:endParaRPr lang="en-GB" sz="2800" dirty="0"/>
          </a:p>
        </p:txBody>
      </p:sp>
      <p:sp>
        <p:nvSpPr>
          <p:cNvPr id="2" name="Content Placeholder 1"/>
          <p:cNvSpPr>
            <a:spLocks noGrp="1"/>
          </p:cNvSpPr>
          <p:nvPr>
            <p:ph idx="1"/>
          </p:nvPr>
        </p:nvSpPr>
        <p:spPr/>
        <p:txBody>
          <a:bodyPr/>
          <a:lstStyle/>
          <a:p>
            <a:r>
              <a:rPr lang="en-US" dirty="0" smtClean="0"/>
              <a:t>Elements have pointers to </a:t>
            </a:r>
            <a:r>
              <a:rPr lang="en-US" b="1" dirty="0" err="1" smtClean="0"/>
              <a:t>FiniteVolume</a:t>
            </a:r>
            <a:r>
              <a:rPr lang="en-US" b="1" dirty="0" err="1"/>
              <a:t>S</a:t>
            </a:r>
            <a:r>
              <a:rPr lang="en-US" b="1" dirty="0" err="1" smtClean="0"/>
              <a:t>tencil</a:t>
            </a:r>
            <a:r>
              <a:rPr lang="en-US" dirty="0" smtClean="0"/>
              <a:t> instances</a:t>
            </a:r>
          </a:p>
          <a:p>
            <a:r>
              <a:rPr lang="en-US" dirty="0" smtClean="0"/>
              <a:t>Stencils are </a:t>
            </a:r>
            <a:r>
              <a:rPr lang="en-US" dirty="0" err="1" smtClean="0"/>
              <a:t>initialised</a:t>
            </a:r>
            <a:r>
              <a:rPr lang="en-US" dirty="0" smtClean="0"/>
              <a:t> from data stored in </a:t>
            </a:r>
            <a:r>
              <a:rPr lang="en-US" b="1" dirty="0" err="1" smtClean="0"/>
              <a:t>FV_IntegrationPointsAndsWeights</a:t>
            </a:r>
            <a:endParaRPr lang="en-US" b="1" dirty="0" smtClean="0"/>
          </a:p>
          <a:p>
            <a:r>
              <a:rPr lang="en-US" dirty="0" smtClean="0"/>
              <a:t>Stencils are stored / managed by </a:t>
            </a:r>
            <a:r>
              <a:rPr lang="en-US" b="1" dirty="0" err="1" smtClean="0"/>
              <a:t>FiniteVolumeStencilManager</a:t>
            </a:r>
            <a:endParaRPr lang="en-US" b="1" dirty="0" smtClean="0"/>
          </a:p>
          <a:p>
            <a:r>
              <a:rPr lang="en-US" b="1" dirty="0" err="1" smtClean="0"/>
              <a:t>FiniteVolumeTraits</a:t>
            </a:r>
            <a:r>
              <a:rPr lang="en-US" dirty="0" smtClean="0"/>
              <a:t> class provides high-level interface to FVM calculations. For efficiency reasons </a:t>
            </a:r>
            <a:r>
              <a:rPr lang="en-US" dirty="0" err="1" smtClean="0"/>
              <a:t>specialisations</a:t>
            </a:r>
            <a:r>
              <a:rPr lang="en-US" dirty="0" smtClean="0"/>
              <a:t> for 1-3D were implemented.</a:t>
            </a:r>
            <a:endParaRPr lang="en-US" dirty="0"/>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77</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19/01/18</a:t>
            </a:fld>
            <a:endParaRPr lang="en-US" dirty="0"/>
          </a:p>
        </p:txBody>
      </p:sp>
    </p:spTree>
    <p:extLst>
      <p:ext uri="{BB962C8B-B14F-4D97-AF65-F5344CB8AC3E}">
        <p14:creationId xmlns:p14="http://schemas.microsoft.com/office/powerpoint/2010/main" val="2978075380"/>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smtClean="0"/>
              <a:t>Support FOR EMBEDDED DISCONTINUITIES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smtClean="0"/>
              <a:t>Resolution: Keep up the momentum and communications throughout the year</a:t>
            </a:r>
          </a:p>
          <a:p>
            <a:r>
              <a:rPr lang="en-US" dirty="0" smtClean="0"/>
              <a:t>Regular programming exercises are important at each institution</a:t>
            </a:r>
          </a:p>
          <a:p>
            <a:r>
              <a:rPr lang="en-US" dirty="0" smtClean="0"/>
              <a:t>Compile guides for “best ways to do this”  code snippets etc. compare and contrast different solutions.</a:t>
            </a:r>
          </a:p>
          <a:p>
            <a:r>
              <a:rPr lang="en-US" dirty="0" smtClean="0"/>
              <a:t>Robert:  FAQ for new CSMP</a:t>
            </a:r>
          </a:p>
          <a:p>
            <a:r>
              <a:rPr lang="en-US" dirty="0" smtClean="0"/>
              <a:t>Everybody should use Ali’s configurator</a:t>
            </a:r>
          </a:p>
          <a:p>
            <a:r>
              <a:rPr lang="en-US" dirty="0" smtClean="0"/>
              <a:t>Feedback of what could be improved version 1.0?</a:t>
            </a:r>
          </a:p>
          <a:p>
            <a:r>
              <a:rPr lang="en-US" dirty="0" smtClean="0"/>
              <a:t>Larger user community</a:t>
            </a:r>
          </a:p>
          <a:p>
            <a:r>
              <a:rPr lang="en-US" dirty="0" smtClean="0"/>
              <a:t>Smooth start for new users (Quick-start guide), high-level code out of the box</a:t>
            </a:r>
          </a:p>
          <a:p>
            <a:r>
              <a:rPr lang="en-US" dirty="0" smtClean="0"/>
              <a:t>Freeze of interfaces, focus on crucial functionality</a:t>
            </a:r>
          </a:p>
          <a:p>
            <a:r>
              <a:rPr lang="en-US" dirty="0" smtClean="0"/>
              <a:t>Deadlines for fixing bugs or suggesting alternatives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19/01/18</a:t>
            </a:fld>
            <a:endParaRPr lang="en-US"/>
          </a:p>
        </p:txBody>
      </p:sp>
      <p:sp>
        <p:nvSpPr>
          <p:cNvPr id="5" name="Footer Placeholder 4"/>
          <p:cNvSpPr>
            <a:spLocks noGrp="1"/>
          </p:cNvSpPr>
          <p:nvPr>
            <p:ph type="ftr" sz="quarter" idx="11"/>
          </p:nvPr>
        </p:nvSpPr>
        <p:spPr/>
        <p:txBody>
          <a:bodyPr/>
          <a:lstStyle/>
          <a:p>
            <a:r>
              <a:rPr lang="en-US" dirty="0"/>
              <a:t>FEM-FVM </a:t>
            </a:r>
            <a:r>
              <a:rPr lang="en-US" dirty="0" smtClean="0"/>
              <a:t>framework</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78</a:t>
            </a:fld>
            <a:endParaRPr lang="en-US"/>
          </a:p>
        </p:txBody>
      </p:sp>
    </p:spTree>
    <p:extLst>
      <p:ext uri="{BB962C8B-B14F-4D97-AF65-F5344CB8AC3E}">
        <p14:creationId xmlns:p14="http://schemas.microsoft.com/office/powerpoint/2010/main" val="4206796600"/>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79</a:t>
            </a:fld>
            <a:endParaRPr lang="en-US" dirty="0"/>
          </a:p>
        </p:txBody>
      </p:sp>
      <p:sp>
        <p:nvSpPr>
          <p:cNvPr id="532482" name="Rectangle 2"/>
          <p:cNvSpPr>
            <a:spLocks noGrp="1" noChangeArrowheads="1"/>
          </p:cNvSpPr>
          <p:nvPr>
            <p:ph type="title"/>
          </p:nvPr>
        </p:nvSpPr>
        <p:spPr/>
        <p:txBody>
          <a:bodyPr>
            <a:normAutofit/>
          </a:bodyPr>
          <a:lstStyle/>
          <a:p>
            <a:r>
              <a:rPr lang="en-US" dirty="0" smtClean="0"/>
              <a:t>EDS </a:t>
            </a:r>
            <a:r>
              <a:rPr lang="en-US" b="1" dirty="0" err="1" smtClean="0"/>
              <a:t>SplitBoundary</a:t>
            </a:r>
            <a:r>
              <a:rPr lang="en-US" dirty="0" smtClean="0"/>
              <a:t> -based </a:t>
            </a:r>
            <a:r>
              <a:rPr lang="en-US" dirty="0" err="1" smtClean="0"/>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smtClean="0"/>
              <a:t>Lower </a:t>
            </a:r>
            <a:r>
              <a:rPr lang="en-US" dirty="0"/>
              <a:t>dimensional</a:t>
            </a:r>
            <a:r>
              <a:rPr lang="en-US" dirty="0" smtClean="0"/>
              <a:t> </a:t>
            </a:r>
            <a:r>
              <a:rPr lang="en-US" b="1" dirty="0" err="1" smtClean="0"/>
              <a:t>InterFace</a:t>
            </a:r>
            <a:r>
              <a:rPr lang="en-US" dirty="0" smtClean="0"/>
              <a:t> objects connect </a:t>
            </a:r>
            <a:r>
              <a:rPr lang="en-US" dirty="0" err="1" smtClean="0"/>
              <a:t>multiplicated</a:t>
            </a:r>
            <a:r>
              <a:rPr lang="en-US" dirty="0" smtClean="0"/>
              <a:t> nodes.</a:t>
            </a:r>
          </a:p>
          <a:p>
            <a:pPr>
              <a:lnSpc>
                <a:spcPct val="90000"/>
              </a:lnSpc>
            </a:pPr>
            <a:r>
              <a:rPr lang="en-US" dirty="0" err="1" smtClean="0"/>
              <a:t>InterFace</a:t>
            </a:r>
            <a:r>
              <a:rPr lang="en-US" dirty="0" smtClean="0"/>
              <a:t> objects are used to apply transfer terms.</a:t>
            </a:r>
            <a:endParaRPr lang="en-US" dirty="0"/>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smtClean="0">
                    <a:latin typeface="Arial" pitchFamily="-65" charset="0"/>
                  </a:rPr>
                  <a:t>InterFace</a:t>
                </a:r>
                <a:r>
                  <a:rPr lang="en-US" sz="2000" dirty="0" smtClean="0">
                    <a:latin typeface="Arial" pitchFamily="-65" charset="0"/>
                  </a:rPr>
                  <a:t> objects</a:t>
                </a:r>
                <a:endParaRPr lang="en-US" sz="2000" dirty="0">
                  <a:latin typeface="Arial" pitchFamily="-65" charset="0"/>
                </a:endParaRP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a:t>
                </a:r>
                <a:r>
                  <a:rPr lang="en-US" sz="2000" dirty="0" smtClean="0">
                    <a:latin typeface="Arial" pitchFamily="-65" charset="0"/>
                  </a:rPr>
                  <a:t>Node</a:t>
                </a:r>
                <a:endParaRPr lang="en-US" sz="2000" dirty="0">
                  <a:latin typeface="Arial" pitchFamily="-65" charset="0"/>
                </a:endParaRP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751"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19/01/18</a:t>
            </a:fld>
            <a:endParaRPr lang="en-US"/>
          </a:p>
        </p:txBody>
      </p:sp>
      <p:sp>
        <p:nvSpPr>
          <p:cNvPr id="23" name="Footer Placeholder 22"/>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79</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80</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smtClean="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smtClean="0"/>
              <a:t>Pressure equation </a:t>
            </a:r>
            <a:r>
              <a:rPr lang="en-US" dirty="0"/>
              <a:t>(FE)</a:t>
            </a:r>
          </a:p>
          <a:p>
            <a:pPr lvl="1">
              <a:buFontTx/>
              <a:buNone/>
            </a:pPr>
            <a:endParaRPr lang="en-US" dirty="0"/>
          </a:p>
          <a:p>
            <a:pPr lvl="1">
              <a:buFontTx/>
              <a:buNone/>
            </a:pPr>
            <a:endParaRPr lang="en-US" dirty="0"/>
          </a:p>
          <a:p>
            <a:pPr lvl="1">
              <a:buFontTx/>
              <a:buNone/>
            </a:pPr>
            <a:endParaRPr lang="en-US" dirty="0"/>
          </a:p>
          <a:p>
            <a:pPr lvl="1">
              <a:buFontTx/>
              <a:buNone/>
            </a:pPr>
            <a:endParaRPr lang="en-US" dirty="0" smtClean="0"/>
          </a:p>
          <a:p>
            <a:pPr lvl="1">
              <a:buFontTx/>
              <a:buNone/>
            </a:pPr>
            <a:r>
              <a:rPr lang="en-US" dirty="0" err="1" smtClean="0"/>
              <a:t>Advective</a:t>
            </a:r>
            <a:r>
              <a:rPr lang="en-US" dirty="0" smtClean="0"/>
              <a:t> and diffusive transfer modeled via operator splitting:</a:t>
            </a:r>
            <a:endParaRPr lang="en-US" dirty="0"/>
          </a:p>
          <a:p>
            <a:pPr lvl="1"/>
            <a:r>
              <a:rPr lang="en-US" dirty="0"/>
              <a:t>Advection (FV-Implicit)</a:t>
            </a:r>
          </a:p>
          <a:p>
            <a:pPr lvl="1">
              <a:buFontTx/>
              <a:buNone/>
            </a:pPr>
            <a:endParaRPr lang="en-US" dirty="0" smtClean="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19/01/18</a:t>
            </a:fld>
            <a:endParaRPr lang="en-US"/>
          </a:p>
        </p:txBody>
      </p:sp>
      <p:sp>
        <p:nvSpPr>
          <p:cNvPr id="11" name="Footer Placeholder 10"/>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80</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smtClean="0">
                <a:latin typeface="Arial"/>
                <a:cs typeface="Arial"/>
              </a:rPr>
              <a:t>see Nick and Matthai (2011, V.Z.J.)</a:t>
            </a:r>
            <a:endParaRPr lang="en-US" i="1" dirty="0">
              <a:latin typeface="Arial"/>
              <a:cs typeface="Arial"/>
            </a:endParaRPr>
          </a:p>
        </p:txBody>
      </p:sp>
    </p:spTree>
    <p:extLst>
      <p:ext uri="{BB962C8B-B14F-4D97-AF65-F5344CB8AC3E}">
        <p14:creationId xmlns:p14="http://schemas.microsoft.com/office/powerpoint/2010/main" val="1122094200"/>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smtClean="0"/>
              <a:t>SplitBoundarys</a:t>
            </a:r>
            <a:r>
              <a:rPr lang="en-US" dirty="0" smtClean="0"/>
              <a:t> using </a:t>
            </a:r>
            <a:r>
              <a:rPr lang="en-US" dirty="0" err="1" smtClean="0"/>
              <a:t>InterFace</a:t>
            </a:r>
            <a:r>
              <a:rPr lang="en-US" dirty="0" smtClean="0"/>
              <a:t> elements in implicit fluid </a:t>
            </a:r>
            <a:r>
              <a:rPr lang="en-US" dirty="0"/>
              <a:t>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smtClean="0"/>
              <a:t>To treat </a:t>
            </a:r>
            <a:r>
              <a:rPr lang="en-US" dirty="0" err="1" smtClean="0"/>
              <a:t>multiplicated</a:t>
            </a:r>
            <a:r>
              <a:rPr lang="en-US" dirty="0" smtClean="0"/>
              <a:t> interface nodes as one, the duplicates </a:t>
            </a:r>
            <a:r>
              <a:rPr lang="en-US" dirty="0"/>
              <a:t>receive unity entries in diagonal of solution matrix</a:t>
            </a:r>
          </a:p>
          <a:p>
            <a:r>
              <a:rPr lang="en-US" dirty="0"/>
              <a:t>Interface nodes are </a:t>
            </a:r>
            <a:r>
              <a:rPr lang="en-US" dirty="0" smtClean="0"/>
              <a:t>then coupled </a:t>
            </a:r>
            <a:r>
              <a:rPr lang="en-US" dirty="0"/>
              <a:t>with minus </a:t>
            </a:r>
            <a:r>
              <a:rPr lang="en-US" dirty="0" smtClean="0"/>
              <a:t>1 off</a:t>
            </a:r>
            <a:r>
              <a:rPr lang="en-US" dirty="0"/>
              <a:t>-diagonal </a:t>
            </a:r>
            <a:r>
              <a:rPr lang="en-US" dirty="0" smtClean="0"/>
              <a:t>terms:</a:t>
            </a:r>
            <a:endParaRPr lang="en-US" dirty="0"/>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664"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81</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19/01/18</a:t>
            </a:fld>
            <a:endParaRPr lang="en-US"/>
          </a:p>
        </p:txBody>
      </p:sp>
      <p:sp>
        <p:nvSpPr>
          <p:cNvPr id="25" name="Footer Placeholder 24"/>
          <p:cNvSpPr>
            <a:spLocks noGrp="1"/>
          </p:cNvSpPr>
          <p:nvPr>
            <p:ph type="ftr" sz="quarter" idx="11"/>
          </p:nvPr>
        </p:nvSpPr>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timing>
    <p:tnLst>
      <p:par>
        <p:cTn xmlns:p14="http://schemas.microsoft.com/office/powerpoint/2010/mai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126786</TotalTime>
  <Words>7071</Words>
  <Application>Microsoft Macintosh PowerPoint</Application>
  <PresentationFormat>On-screen Show (4:3)</PresentationFormat>
  <Paragraphs>1212</Paragraphs>
  <Slides>81</Slides>
  <Notes>43</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81</vt:i4>
      </vt:variant>
    </vt:vector>
  </HeadingPairs>
  <TitlesOfParts>
    <vt:vector size="84" baseType="lpstr">
      <vt:lpstr>Office Theme</vt:lpstr>
      <vt:lpstr>Equation</vt:lpstr>
      <vt:lpstr>MathType 6.0 Equation</vt:lpstr>
      <vt:lpstr>The Complex Systems Modelling Platform  (CSMP++ )</vt:lpstr>
      <vt:lpstr>Outline</vt:lpstr>
      <vt:lpstr>Interface supporting FEM-FVM framework</vt:lpstr>
      <vt:lpstr>General design considerations</vt:lpstr>
      <vt:lpstr>PowerPoint Presentation</vt:lpstr>
      <vt:lpstr>Initialisation and storage of variables</vt:lpstr>
      <vt:lpstr>What happens in an (2nd-order) explicit 2-phase flow calculation?</vt:lpstr>
      <vt:lpstr>CFL calculation</vt:lpstr>
      <vt:lpstr>Constitutive relationships – Refactoring!</vt:lpstr>
      <vt:lpstr>Outline</vt:lpstr>
      <vt:lpstr>Placement of material properties on the elements; why?</vt:lpstr>
      <vt:lpstr>Variable placement (Barycentric formulation)</vt:lpstr>
      <vt:lpstr>Variable placement  (integration-point based  formulation)</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922</cp:revision>
  <cp:lastPrinted>2015-06-12T00:56:46Z</cp:lastPrinted>
  <dcterms:created xsi:type="dcterms:W3CDTF">2011-02-07T13:57:38Z</dcterms:created>
  <dcterms:modified xsi:type="dcterms:W3CDTF">2018-01-31T22:08:01Z</dcterms:modified>
</cp:coreProperties>
</file>