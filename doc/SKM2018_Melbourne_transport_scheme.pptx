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5"/>
  </p:notesMasterIdLst>
  <p:handoutMasterIdLst>
    <p:handoutMasterId r:id="rId96"/>
  </p:handoutMasterIdLst>
  <p:sldIdLst>
    <p:sldId id="256" r:id="rId2"/>
    <p:sldId id="640" r:id="rId3"/>
    <p:sldId id="655" r:id="rId4"/>
    <p:sldId id="659" r:id="rId5"/>
    <p:sldId id="658" r:id="rId6"/>
    <p:sldId id="660" r:id="rId7"/>
    <p:sldId id="261" r:id="rId8"/>
    <p:sldId id="263" r:id="rId9"/>
    <p:sldId id="262" r:id="rId10"/>
    <p:sldId id="661" r:id="rId11"/>
    <p:sldId id="605" r:id="rId12"/>
    <p:sldId id="606" r:id="rId13"/>
    <p:sldId id="664" r:id="rId14"/>
    <p:sldId id="665" r:id="rId15"/>
    <p:sldId id="663" r:id="rId16"/>
    <p:sldId id="662" r:id="rId17"/>
    <p:sldId id="607" r:id="rId18"/>
    <p:sldId id="634" r:id="rId19"/>
    <p:sldId id="635" r:id="rId20"/>
    <p:sldId id="637" r:id="rId21"/>
    <p:sldId id="611" r:id="rId22"/>
    <p:sldId id="612" r:id="rId23"/>
    <p:sldId id="613" r:id="rId24"/>
    <p:sldId id="614" r:id="rId25"/>
    <p:sldId id="615" r:id="rId26"/>
    <p:sldId id="616" r:id="rId27"/>
    <p:sldId id="641" r:id="rId28"/>
    <p:sldId id="617" r:id="rId29"/>
    <p:sldId id="618" r:id="rId30"/>
    <p:sldId id="619" r:id="rId31"/>
    <p:sldId id="620" r:id="rId32"/>
    <p:sldId id="642" r:id="rId33"/>
    <p:sldId id="643" r:id="rId34"/>
    <p:sldId id="644" r:id="rId35"/>
    <p:sldId id="621" r:id="rId36"/>
    <p:sldId id="622" r:id="rId37"/>
    <p:sldId id="636" r:id="rId38"/>
    <p:sldId id="645" r:id="rId39"/>
    <p:sldId id="624" r:id="rId40"/>
    <p:sldId id="623" r:id="rId41"/>
    <p:sldId id="625" r:id="rId42"/>
    <p:sldId id="626" r:id="rId43"/>
    <p:sldId id="653" r:id="rId44"/>
    <p:sldId id="648" r:id="rId45"/>
    <p:sldId id="649" r:id="rId46"/>
    <p:sldId id="646" r:id="rId47"/>
    <p:sldId id="630" r:id="rId48"/>
    <p:sldId id="647" r:id="rId49"/>
    <p:sldId id="627" r:id="rId50"/>
    <p:sldId id="651" r:id="rId51"/>
    <p:sldId id="628" r:id="rId52"/>
    <p:sldId id="629" r:id="rId53"/>
    <p:sldId id="631" r:id="rId54"/>
    <p:sldId id="632" r:id="rId55"/>
    <p:sldId id="650" r:id="rId56"/>
    <p:sldId id="652" r:id="rId57"/>
    <p:sldId id="654" r:id="rId58"/>
    <p:sldId id="604" r:id="rId59"/>
    <p:sldId id="639" r:id="rId60"/>
    <p:sldId id="609" r:id="rId61"/>
    <p:sldId id="608" r:id="rId62"/>
    <p:sldId id="638" r:id="rId63"/>
    <p:sldId id="633" r:id="rId64"/>
    <p:sldId id="580" r:id="rId65"/>
    <p:sldId id="588" r:id="rId66"/>
    <p:sldId id="589" r:id="rId67"/>
    <p:sldId id="590" r:id="rId68"/>
    <p:sldId id="591" r:id="rId69"/>
    <p:sldId id="592" r:id="rId70"/>
    <p:sldId id="593" r:id="rId71"/>
    <p:sldId id="594" r:id="rId72"/>
    <p:sldId id="595" r:id="rId73"/>
    <p:sldId id="596" r:id="rId74"/>
    <p:sldId id="597" r:id="rId75"/>
    <p:sldId id="598" r:id="rId76"/>
    <p:sldId id="538" r:id="rId77"/>
    <p:sldId id="599" r:id="rId78"/>
    <p:sldId id="579" r:id="rId79"/>
    <p:sldId id="581" r:id="rId80"/>
    <p:sldId id="582" r:id="rId81"/>
    <p:sldId id="583" r:id="rId82"/>
    <p:sldId id="585" r:id="rId83"/>
    <p:sldId id="586" r:id="rId84"/>
    <p:sldId id="587" r:id="rId85"/>
    <p:sldId id="600" r:id="rId86"/>
    <p:sldId id="601" r:id="rId87"/>
    <p:sldId id="602" r:id="rId88"/>
    <p:sldId id="603" r:id="rId89"/>
    <p:sldId id="560" r:id="rId90"/>
    <p:sldId id="561" r:id="rId91"/>
    <p:sldId id="523" r:id="rId92"/>
    <p:sldId id="539" r:id="rId93"/>
    <p:sldId id="540" r:id="rId9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883" autoAdjust="0"/>
    <p:restoredTop sz="90900" autoAdjust="0"/>
  </p:normalViewPr>
  <p:slideViewPr>
    <p:cSldViewPr snapToObjects="1">
      <p:cViewPr varScale="1">
        <p:scale>
          <a:sx n="148" d="100"/>
          <a:sy n="148" d="100"/>
        </p:scale>
        <p:origin x="1152" y="200"/>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emf"/><Relationship Id="rId1" Type="http://schemas.openxmlformats.org/officeDocument/2006/relationships/image" Target="../media/image2.emf"/><Relationship Id="rId4" Type="http://schemas.openxmlformats.org/officeDocument/2006/relationships/image" Target="../media/image5.e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image" Target="../media/image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image" Target="../media/image36.e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image" Target="../media/image38.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54.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emf"/><Relationship Id="rId1" Type="http://schemas.openxmlformats.org/officeDocument/2006/relationships/image" Target="../media/image2.emf"/><Relationship Id="rId4" Type="http://schemas.openxmlformats.org/officeDocument/2006/relationships/image" Target="../media/image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60.wmf"/><Relationship Id="rId1" Type="http://schemas.openxmlformats.org/officeDocument/2006/relationships/image" Target="../media/image59.wmf"/></Relationships>
</file>

<file path=ppt/drawings/_rels/vmlDrawing11.v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image" Target="../media/image62.emf"/><Relationship Id="rId1" Type="http://schemas.openxmlformats.org/officeDocument/2006/relationships/image" Target="../media/image61.emf"/><Relationship Id="rId4" Type="http://schemas.openxmlformats.org/officeDocument/2006/relationships/image" Target="../media/image64.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65.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7.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68.wmf"/></Relationships>
</file>

<file path=ppt/drawings/_rels/vmlDrawing16.vml.rels><?xml version="1.0" encoding="UTF-8" standalone="yes"?>
<Relationships xmlns="http://schemas.openxmlformats.org/package/2006/relationships"><Relationship Id="rId3" Type="http://schemas.openxmlformats.org/officeDocument/2006/relationships/image" Target="../media/image71.wmf"/><Relationship Id="rId2" Type="http://schemas.openxmlformats.org/officeDocument/2006/relationships/image" Target="../media/image70.wmf"/><Relationship Id="rId1" Type="http://schemas.openxmlformats.org/officeDocument/2006/relationships/image" Target="../media/image69.wmf"/></Relationships>
</file>

<file path=ppt/drawings/_rels/vmlDrawing17.vml.rels><?xml version="1.0" encoding="UTF-8" standalone="yes"?>
<Relationships xmlns="http://schemas.openxmlformats.org/package/2006/relationships"><Relationship Id="rId2" Type="http://schemas.openxmlformats.org/officeDocument/2006/relationships/image" Target="../media/image74.wmf"/><Relationship Id="rId1" Type="http://schemas.openxmlformats.org/officeDocument/2006/relationships/image" Target="../media/image73.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79.wmf"/><Relationship Id="rId2" Type="http://schemas.openxmlformats.org/officeDocument/2006/relationships/image" Target="../media/image78.wmf"/><Relationship Id="rId1" Type="http://schemas.openxmlformats.org/officeDocument/2006/relationships/image" Target="../media/image77.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80.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9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10/2/18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10/2/18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3</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extLst>
      <p:ext uri="{BB962C8B-B14F-4D97-AF65-F5344CB8AC3E}">
        <p14:creationId xmlns:p14="http://schemas.microsoft.com/office/powerpoint/2010/main" val="9692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a16="http://schemas.microsoft.com/office/drawing/2014/main" id="{697E9553-F0EC-8340-8D37-11806C77852F}"/>
              </a:ext>
            </a:extLst>
          </p:cNvPr>
          <p:cNvSpPr>
            <a:spLocks noGrp="1" noChangeArrowheads="1"/>
          </p:cNvSpPr>
          <p:nvPr>
            <p:ph type="sldNum" sz="quarter" idx="5"/>
          </p:nvPr>
        </p:nvSpPr>
        <p:spPr>
          <a:ln/>
        </p:spPr>
        <p:txBody>
          <a:bodyPr/>
          <a:lstStyle/>
          <a:p>
            <a:fld id="{DFAD5865-2F63-E546-A532-22A6F3B2FA7B}" type="slidenum">
              <a:rPr lang="en-US" altLang="en-US"/>
              <a:pPr/>
              <a:t>7</a:t>
            </a:fld>
            <a:endParaRPr lang="en-US" altLang="en-US"/>
          </a:p>
        </p:txBody>
      </p:sp>
      <p:sp>
        <p:nvSpPr>
          <p:cNvPr id="28674" name="Rectangle 2">
            <a:extLst>
              <a:ext uri="{FF2B5EF4-FFF2-40B4-BE49-F238E27FC236}">
                <a16:creationId xmlns:a16="http://schemas.microsoft.com/office/drawing/2014/main" id="{46623933-F624-F64C-8B8A-903AE3F27A8F}"/>
              </a:ext>
            </a:extLst>
          </p:cNvPr>
          <p:cNvSpPr>
            <a:spLocks noGrp="1" noRot="1" noChangeAspect="1" noChangeArrowheads="1" noTextEdit="1"/>
          </p:cNvSpPr>
          <p:nvPr>
            <p:ph type="sldImg"/>
          </p:nvPr>
        </p:nvSpPr>
        <p:spPr>
          <a:ln/>
        </p:spPr>
      </p:sp>
      <p:sp>
        <p:nvSpPr>
          <p:cNvPr id="28675" name="Rectangle 3">
            <a:extLst>
              <a:ext uri="{FF2B5EF4-FFF2-40B4-BE49-F238E27FC236}">
                <a16:creationId xmlns:a16="http://schemas.microsoft.com/office/drawing/2014/main" id="{CA4D3599-4856-A44D-A85B-83AD1F48C147}"/>
              </a:ext>
            </a:extLst>
          </p:cNvPr>
          <p:cNvSpPr>
            <a:spLocks noGrp="1" noChangeArrowheads="1"/>
          </p:cNvSpPr>
          <p:nvPr>
            <p:ph type="body" idx="1"/>
          </p:nvPr>
        </p:nvSpPr>
        <p:spPr/>
        <p:txBody>
          <a:bodyPr/>
          <a:lstStyle/>
          <a:p>
            <a:r>
              <a:rPr lang="en-GB" altLang="en-US"/>
              <a:t>Stress that experimental relperm models can be used</a:t>
            </a:r>
            <a:endParaRPr lang="en-US" altLang="en-US"/>
          </a:p>
        </p:txBody>
      </p:sp>
    </p:spTree>
    <p:extLst>
      <p:ext uri="{BB962C8B-B14F-4D97-AF65-F5344CB8AC3E}">
        <p14:creationId xmlns:p14="http://schemas.microsoft.com/office/powerpoint/2010/main" val="1684997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17</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concentrations</a:t>
            </a:r>
            <a:r>
              <a:rPr lang="en-US" baseline="0" dirty="0"/>
              <a:t> may be possible in some mathematical models</a:t>
            </a:r>
          </a:p>
          <a:p>
            <a:endParaRPr lang="en-US" baseline="0" dirty="0"/>
          </a:p>
          <a:p>
            <a:r>
              <a:rPr lang="en-US" baseline="0" dirty="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19</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21</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22</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interface needs to be cleaned up – I</a:t>
            </a:r>
            <a:r>
              <a:rPr lang="en-US" baseline="0" dirty="0"/>
              <a:t> do not know who introduced all this duplicate functions!</a:t>
            </a:r>
          </a:p>
          <a:p>
            <a:r>
              <a:rPr lang="en-US" baseline="0" dirty="0"/>
              <a:t>----- Meeting Notes (10/3/12 18:44) -----</a:t>
            </a:r>
          </a:p>
          <a:p>
            <a:r>
              <a:rPr lang="en-US" baseline="0" dirty="0"/>
              <a:t>Action is needed!</a:t>
            </a:r>
          </a:p>
          <a:p>
            <a:r>
              <a:rPr lang="en-US" baseline="0" dirty="0"/>
              <a:t>- rename into SaturationFunctions </a:t>
            </a:r>
          </a:p>
          <a:p>
            <a:r>
              <a:rPr lang="en-US" baseline="0" dirty="0"/>
              <a:t>2-phase model does things it should not do:</a:t>
            </a:r>
          </a:p>
          <a:p>
            <a:r>
              <a:rPr lang="en-US" baseline="0" dirty="0"/>
              <a:t>- calculate concentrations in phases</a:t>
            </a:r>
          </a:p>
          <a:p>
            <a:r>
              <a:rPr lang="en-US" baseline="0" dirty="0"/>
              <a:t>It should do:</a:t>
            </a:r>
          </a:p>
          <a:p>
            <a:r>
              <a:rPr lang="en-US" baseline="0" dirty="0"/>
              <a:t>- relative permeabilities, capillary pressure, fractional flows etc.</a:t>
            </a:r>
          </a:p>
          <a:p>
            <a:r>
              <a:rPr lang="en-US" baseline="0" dirty="0"/>
              <a:t>- talk to EOS, fluid properties,  and other things</a:t>
            </a:r>
          </a:p>
          <a:p>
            <a:r>
              <a:rPr lang="en-US" baseline="0" dirty="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23</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25</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a:t>GenericPropertyLimiter</a:t>
            </a:r>
            <a:r>
              <a:rPr lang="en-US" dirty="0"/>
              <a:t>      - compare these to the ones CSMP can calculate by</a:t>
            </a:r>
            <a:r>
              <a:rPr lang="en-US" baseline="0" dirty="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26</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28</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a:t>restrict dependencies to the things that are stored on model</a:t>
            </a:r>
          </a:p>
          <a:p>
            <a:pPr marL="168758" indent="-168758">
              <a:buFontTx/>
              <a:buChar char="-"/>
            </a:pPr>
            <a:endParaRPr lang="en-US" dirty="0"/>
          </a:p>
          <a:p>
            <a:pPr marL="168758" indent="-168758">
              <a:buFontTx/>
              <a:buChar char="-"/>
            </a:pPr>
            <a:r>
              <a:rPr lang="en-US" dirty="0"/>
              <a:t>Components</a:t>
            </a:r>
            <a:r>
              <a:rPr lang="en-US" baseline="0" dirty="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35</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42</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After calculating the total facet</a:t>
            </a:r>
            <a:r>
              <a:rPr lang="en-US" sz="1200" kern="1200" baseline="0" dirty="0">
                <a:solidFill>
                  <a:schemeClr val="tx1"/>
                </a:solidFill>
                <a:effectLst/>
                <a:latin typeface="+mn-lt"/>
                <a:ea typeface="+mn-ea"/>
                <a:cs typeface="+mn-cs"/>
              </a:rPr>
              <a:t>-normal</a:t>
            </a:r>
            <a:r>
              <a:rPr lang="en-US" sz="1200" kern="1200" dirty="0">
                <a:solidFill>
                  <a:schemeClr val="tx1"/>
                </a:solidFill>
                <a:effectLst/>
                <a:latin typeface="+mn-lt"/>
                <a:ea typeface="+mn-ea"/>
                <a:cs typeface="+mn-cs"/>
              </a:rPr>
              <a:t> flux one</a:t>
            </a:r>
            <a:r>
              <a:rPr lang="en-US" sz="1200" kern="1200" baseline="0" dirty="0">
                <a:solidFill>
                  <a:schemeClr val="tx1"/>
                </a:solidFill>
                <a:effectLst/>
                <a:latin typeface="+mn-lt"/>
                <a:ea typeface="+mn-ea"/>
                <a:cs typeface="+mn-cs"/>
              </a:rPr>
              <a:t> needs to find the </a:t>
            </a:r>
            <a:r>
              <a:rPr lang="en-US" sz="1200" kern="1200" dirty="0">
                <a:solidFill>
                  <a:schemeClr val="tx1"/>
                </a:solidFill>
                <a:effectLst/>
                <a:latin typeface="+mn-lt"/>
                <a:ea typeface="+mn-ea"/>
                <a:cs typeface="+mn-cs"/>
              </a:rPr>
              <a:t>upstream direction for each phase in order to use upstream </a:t>
            </a:r>
            <a:r>
              <a:rPr lang="en-US" sz="1200" kern="1200" dirty="0" err="1">
                <a:solidFill>
                  <a:schemeClr val="tx1"/>
                </a:solidFill>
                <a:effectLst/>
                <a:latin typeface="+mn-lt"/>
                <a:ea typeface="+mn-ea"/>
                <a:cs typeface="+mn-cs"/>
              </a:rPr>
              <a:t>mobilities</a:t>
            </a:r>
            <a:r>
              <a:rPr lang="en-US" sz="1200" kern="1200" dirty="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a:solidFill>
                  <a:schemeClr val="tx1"/>
                </a:solidFill>
                <a:effectLst/>
                <a:latin typeface="+mn-lt"/>
                <a:ea typeface="+mn-ea"/>
                <a:cs typeface="+mn-cs"/>
              </a:rPr>
              <a:t>uz</a:t>
            </a:r>
            <a:r>
              <a:rPr lang="en-US" sz="1200" b="1" i="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is the vertical unit vector.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44</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class</a:t>
            </a:r>
            <a:r>
              <a:rPr lang="en-US" baseline="0" dirty="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49</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50</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51</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56</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57</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60</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61</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64</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65</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66</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67</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68</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69</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70</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71</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72</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73</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74</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75</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76</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78</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79</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80</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81</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83</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84</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85</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86</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87</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89</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92</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10/2/18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10/2/18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10/2/18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10/2/18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10/2/18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10/2/18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10/2/18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10/2/18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2.xml"/><Relationship Id="rId7" Type="http://schemas.openxmlformats.org/officeDocument/2006/relationships/image" Target="../media/image3.emf"/><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oleObject" Target="../embeddings/oleObject2.bin"/><Relationship Id="rId11" Type="http://schemas.openxmlformats.org/officeDocument/2006/relationships/image" Target="../media/image5.emf"/><Relationship Id="rId5" Type="http://schemas.openxmlformats.org/officeDocument/2006/relationships/image" Target="../media/image2.emf"/><Relationship Id="rId10" Type="http://schemas.openxmlformats.org/officeDocument/2006/relationships/oleObject" Target="../embeddings/oleObject4.bin"/><Relationship Id="rId4" Type="http://schemas.openxmlformats.org/officeDocument/2006/relationships/oleObject" Target="../embeddings/oleObject1.bin"/><Relationship Id="rId9" Type="http://schemas.openxmlformats.org/officeDocument/2006/relationships/image" Target="../media/image4.wmf"/></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oleObject" Target="../embeddings/oleObject5.bin"/><Relationship Id="rId7" Type="http://schemas.openxmlformats.org/officeDocument/2006/relationships/image" Target="../media/image8.png"/><Relationship Id="rId2" Type="http://schemas.openxmlformats.org/officeDocument/2006/relationships/slideLayout" Target="../slideLayouts/slideLayout13.xml"/><Relationship Id="rId1" Type="http://schemas.openxmlformats.org/officeDocument/2006/relationships/vmlDrawing" Target="../drawings/vmlDrawing2.vml"/><Relationship Id="rId6" Type="http://schemas.openxmlformats.org/officeDocument/2006/relationships/image" Target="../media/image7.emf"/><Relationship Id="rId5" Type="http://schemas.openxmlformats.org/officeDocument/2006/relationships/oleObject" Target="../embeddings/oleObject6.bin"/><Relationship Id="rId10" Type="http://schemas.openxmlformats.org/officeDocument/2006/relationships/image" Target="../media/image11.png"/><Relationship Id="rId4" Type="http://schemas.openxmlformats.org/officeDocument/2006/relationships/image" Target="../media/image6.wmf"/><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oleObject" Target="../embeddings/oleObject7.bin"/><Relationship Id="rId7" Type="http://schemas.openxmlformats.org/officeDocument/2006/relationships/image" Target="../media/image19.png"/><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7.emf"/></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6.xml"/><Relationship Id="rId1" Type="http://schemas.openxmlformats.org/officeDocument/2006/relationships/vmlDrawing" Target="../drawings/vmlDrawing4.vml"/><Relationship Id="rId6" Type="http://schemas.openxmlformats.org/officeDocument/2006/relationships/image" Target="../media/image37.emf"/><Relationship Id="rId5" Type="http://schemas.openxmlformats.org/officeDocument/2006/relationships/oleObject" Target="../embeddings/oleObject9.bin"/><Relationship Id="rId4" Type="http://schemas.openxmlformats.org/officeDocument/2006/relationships/image" Target="../media/image36.emf"/></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6.xml"/><Relationship Id="rId1" Type="http://schemas.openxmlformats.org/officeDocument/2006/relationships/vmlDrawing" Target="../drawings/vmlDrawing5.vml"/><Relationship Id="rId6" Type="http://schemas.openxmlformats.org/officeDocument/2006/relationships/image" Target="../media/image39.emf"/><Relationship Id="rId5" Type="http://schemas.openxmlformats.org/officeDocument/2006/relationships/oleObject" Target="../embeddings/oleObject11.bin"/><Relationship Id="rId4" Type="http://schemas.openxmlformats.org/officeDocument/2006/relationships/image" Target="../media/image38.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3.emf"/><Relationship Id="rId4" Type="http://schemas.openxmlformats.org/officeDocument/2006/relationships/image" Target="../media/image42.emf"/></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8.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1.e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3.emf"/></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vmlDrawing" Target="../drawings/vmlDrawing6.vml"/><Relationship Id="rId5" Type="http://schemas.openxmlformats.org/officeDocument/2006/relationships/image" Target="../media/image54.wmf"/><Relationship Id="rId4" Type="http://schemas.openxmlformats.org/officeDocument/2006/relationships/oleObject" Target="../embeddings/oleObject12.bin"/></Relationships>
</file>

<file path=ppt/slides/_rels/slide51.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8.xml"/><Relationship Id="rId7" Type="http://schemas.openxmlformats.org/officeDocument/2006/relationships/image" Target="../media/image3.emf"/><Relationship Id="rId2" Type="http://schemas.openxmlformats.org/officeDocument/2006/relationships/slideLayout" Target="../slideLayouts/slideLayout7.xml"/><Relationship Id="rId1" Type="http://schemas.openxmlformats.org/officeDocument/2006/relationships/vmlDrawing" Target="../drawings/vmlDrawing7.vml"/><Relationship Id="rId6" Type="http://schemas.openxmlformats.org/officeDocument/2006/relationships/oleObject" Target="../embeddings/oleObject2.bin"/><Relationship Id="rId11" Type="http://schemas.openxmlformats.org/officeDocument/2006/relationships/image" Target="../media/image5.emf"/><Relationship Id="rId5" Type="http://schemas.openxmlformats.org/officeDocument/2006/relationships/image" Target="../media/image2.emf"/><Relationship Id="rId10" Type="http://schemas.openxmlformats.org/officeDocument/2006/relationships/oleObject" Target="../embeddings/oleObject4.bin"/><Relationship Id="rId4" Type="http://schemas.openxmlformats.org/officeDocument/2006/relationships/oleObject" Target="../embeddings/oleObject1.bin"/><Relationship Id="rId9" Type="http://schemas.openxmlformats.org/officeDocument/2006/relationships/image" Target="../media/image4.wmf"/></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2.xml"/><Relationship Id="rId1" Type="http://schemas.openxmlformats.org/officeDocument/2006/relationships/vmlDrawing" Target="../drawings/vmlDrawing8.vml"/><Relationship Id="rId5" Type="http://schemas.openxmlformats.org/officeDocument/2006/relationships/image" Target="../media/image57.wmf"/><Relationship Id="rId4" Type="http://schemas.openxmlformats.org/officeDocument/2006/relationships/oleObject" Target="../embeddings/oleObject13.bin"/></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6.xml"/><Relationship Id="rId1" Type="http://schemas.openxmlformats.org/officeDocument/2006/relationships/vmlDrawing" Target="../drawings/vmlDrawing9.vml"/><Relationship Id="rId5" Type="http://schemas.openxmlformats.org/officeDocument/2006/relationships/image" Target="../media/image58.wmf"/><Relationship Id="rId4" Type="http://schemas.openxmlformats.org/officeDocument/2006/relationships/oleObject" Target="../embeddings/oleObject14.bin"/></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24.xml"/><Relationship Id="rId7" Type="http://schemas.openxmlformats.org/officeDocument/2006/relationships/image" Target="../media/image60.wmf"/><Relationship Id="rId2" Type="http://schemas.openxmlformats.org/officeDocument/2006/relationships/slideLayout" Target="../slideLayouts/slideLayout6.xml"/><Relationship Id="rId1" Type="http://schemas.openxmlformats.org/officeDocument/2006/relationships/vmlDrawing" Target="../drawings/vmlDrawing10.vml"/><Relationship Id="rId6" Type="http://schemas.openxmlformats.org/officeDocument/2006/relationships/oleObject" Target="../embeddings/oleObject16.bin"/><Relationship Id="rId5" Type="http://schemas.openxmlformats.org/officeDocument/2006/relationships/image" Target="../media/image59.wmf"/><Relationship Id="rId4" Type="http://schemas.openxmlformats.org/officeDocument/2006/relationships/oleObject" Target="../embeddings/oleObject15.bin"/></Relationships>
</file>

<file path=ppt/slides/_rels/slide67.xml.rels><?xml version="1.0" encoding="UTF-8" standalone="yes"?>
<Relationships xmlns="http://schemas.openxmlformats.org/package/2006/relationships"><Relationship Id="rId8" Type="http://schemas.openxmlformats.org/officeDocument/2006/relationships/oleObject" Target="../embeddings/oleObject19.bin"/><Relationship Id="rId3" Type="http://schemas.openxmlformats.org/officeDocument/2006/relationships/notesSlide" Target="../notesSlides/notesSlide25.xml"/><Relationship Id="rId7" Type="http://schemas.openxmlformats.org/officeDocument/2006/relationships/image" Target="../media/image62.emf"/><Relationship Id="rId2" Type="http://schemas.openxmlformats.org/officeDocument/2006/relationships/slideLayout" Target="../slideLayouts/slideLayout6.xml"/><Relationship Id="rId1" Type="http://schemas.openxmlformats.org/officeDocument/2006/relationships/vmlDrawing" Target="../drawings/vmlDrawing11.vml"/><Relationship Id="rId6" Type="http://schemas.openxmlformats.org/officeDocument/2006/relationships/oleObject" Target="../embeddings/oleObject18.bin"/><Relationship Id="rId11" Type="http://schemas.openxmlformats.org/officeDocument/2006/relationships/image" Target="../media/image64.wmf"/><Relationship Id="rId5" Type="http://schemas.openxmlformats.org/officeDocument/2006/relationships/image" Target="../media/image61.emf"/><Relationship Id="rId10" Type="http://schemas.openxmlformats.org/officeDocument/2006/relationships/oleObject" Target="../embeddings/oleObject20.bin"/><Relationship Id="rId4" Type="http://schemas.openxmlformats.org/officeDocument/2006/relationships/oleObject" Target="../embeddings/oleObject17.bin"/><Relationship Id="rId9" Type="http://schemas.openxmlformats.org/officeDocument/2006/relationships/image" Target="../media/image63.emf"/></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vmlDrawing" Target="../drawings/vmlDrawing12.vml"/><Relationship Id="rId5" Type="http://schemas.openxmlformats.org/officeDocument/2006/relationships/image" Target="../media/image65.wmf"/><Relationship Id="rId4" Type="http://schemas.openxmlformats.org/officeDocument/2006/relationships/oleObject" Target="../embeddings/oleObject21.bin"/></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vmlDrawing" Target="../drawings/vmlDrawing13.vml"/><Relationship Id="rId5" Type="http://schemas.openxmlformats.org/officeDocument/2006/relationships/image" Target="../media/image66.wmf"/><Relationship Id="rId4" Type="http://schemas.openxmlformats.org/officeDocument/2006/relationships/oleObject" Target="../embeddings/oleObject22.bin"/></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vmlDrawing" Target="../drawings/vmlDrawing14.vml"/><Relationship Id="rId5" Type="http://schemas.openxmlformats.org/officeDocument/2006/relationships/image" Target="../media/image67.wmf"/><Relationship Id="rId4" Type="http://schemas.openxmlformats.org/officeDocument/2006/relationships/oleObject" Target="../embeddings/oleObject23.bin"/></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vmlDrawing" Target="../drawings/vmlDrawing15.vml"/><Relationship Id="rId5" Type="http://schemas.openxmlformats.org/officeDocument/2006/relationships/image" Target="../media/image68.wmf"/><Relationship Id="rId4" Type="http://schemas.openxmlformats.org/officeDocument/2006/relationships/oleObject" Target="../embeddings/oleObject24.bin"/></Relationships>
</file>

<file path=ppt/slides/_rels/slide72.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notesSlide" Target="../notesSlides/notesSlide30.xml"/><Relationship Id="rId7" Type="http://schemas.openxmlformats.org/officeDocument/2006/relationships/image" Target="../media/image70.wmf"/><Relationship Id="rId2" Type="http://schemas.openxmlformats.org/officeDocument/2006/relationships/slideLayout" Target="../slideLayouts/slideLayout7.xml"/><Relationship Id="rId1" Type="http://schemas.openxmlformats.org/officeDocument/2006/relationships/vmlDrawing" Target="../drawings/vmlDrawing16.vml"/><Relationship Id="rId6" Type="http://schemas.openxmlformats.org/officeDocument/2006/relationships/oleObject" Target="../embeddings/oleObject26.bin"/><Relationship Id="rId5" Type="http://schemas.openxmlformats.org/officeDocument/2006/relationships/image" Target="../media/image69.wmf"/><Relationship Id="rId10" Type="http://schemas.openxmlformats.org/officeDocument/2006/relationships/image" Target="../media/image72.emf"/><Relationship Id="rId4" Type="http://schemas.openxmlformats.org/officeDocument/2006/relationships/oleObject" Target="../embeddings/oleObject25.bin"/><Relationship Id="rId9" Type="http://schemas.openxmlformats.org/officeDocument/2006/relationships/image" Target="../media/image71.wmf"/></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31.xml"/><Relationship Id="rId7" Type="http://schemas.openxmlformats.org/officeDocument/2006/relationships/image" Target="../media/image74.wmf"/><Relationship Id="rId2" Type="http://schemas.openxmlformats.org/officeDocument/2006/relationships/slideLayout" Target="../slideLayouts/slideLayout6.xml"/><Relationship Id="rId1" Type="http://schemas.openxmlformats.org/officeDocument/2006/relationships/vmlDrawing" Target="../drawings/vmlDrawing17.vml"/><Relationship Id="rId6" Type="http://schemas.openxmlformats.org/officeDocument/2006/relationships/oleObject" Target="../embeddings/oleObject29.bin"/><Relationship Id="rId5" Type="http://schemas.openxmlformats.org/officeDocument/2006/relationships/image" Target="../media/image73.wmf"/><Relationship Id="rId4" Type="http://schemas.openxmlformats.org/officeDocument/2006/relationships/oleObject" Target="../embeddings/oleObject28.bin"/></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6.xml"/><Relationship Id="rId1" Type="http://schemas.openxmlformats.org/officeDocument/2006/relationships/vmlDrawing" Target="../drawings/vmlDrawing18.vml"/><Relationship Id="rId6" Type="http://schemas.openxmlformats.org/officeDocument/2006/relationships/image" Target="../media/image76.jpeg"/><Relationship Id="rId5" Type="http://schemas.openxmlformats.org/officeDocument/2006/relationships/image" Target="../media/image75.wmf"/><Relationship Id="rId4" Type="http://schemas.openxmlformats.org/officeDocument/2006/relationships/oleObject" Target="../embeddings/oleObject30.bin"/></Relationships>
</file>

<file path=ppt/slides/_rels/slide75.xml.rels><?xml version="1.0" encoding="UTF-8" standalone="yes"?>
<Relationships xmlns="http://schemas.openxmlformats.org/package/2006/relationships"><Relationship Id="rId8" Type="http://schemas.openxmlformats.org/officeDocument/2006/relationships/oleObject" Target="../embeddings/oleObject33.bin"/><Relationship Id="rId3" Type="http://schemas.openxmlformats.org/officeDocument/2006/relationships/notesSlide" Target="../notesSlides/notesSlide33.xml"/><Relationship Id="rId7" Type="http://schemas.openxmlformats.org/officeDocument/2006/relationships/image" Target="../media/image78.wmf"/><Relationship Id="rId2" Type="http://schemas.openxmlformats.org/officeDocument/2006/relationships/slideLayout" Target="../slideLayouts/slideLayout6.xml"/><Relationship Id="rId1" Type="http://schemas.openxmlformats.org/officeDocument/2006/relationships/vmlDrawing" Target="../drawings/vmlDrawing19.vml"/><Relationship Id="rId6" Type="http://schemas.openxmlformats.org/officeDocument/2006/relationships/oleObject" Target="../embeddings/oleObject32.bin"/><Relationship Id="rId5" Type="http://schemas.openxmlformats.org/officeDocument/2006/relationships/image" Target="../media/image77.wmf"/><Relationship Id="rId4" Type="http://schemas.openxmlformats.org/officeDocument/2006/relationships/oleObject" Target="../embeddings/oleObject31.bin"/><Relationship Id="rId9" Type="http://schemas.openxmlformats.org/officeDocument/2006/relationships/image" Target="../media/image79.wmf"/></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6.xml"/><Relationship Id="rId1" Type="http://schemas.openxmlformats.org/officeDocument/2006/relationships/vmlDrawing" Target="../drawings/vmlDrawing20.vml"/><Relationship Id="rId5" Type="http://schemas.openxmlformats.org/officeDocument/2006/relationships/image" Target="../media/image80.wmf"/><Relationship Id="rId4" Type="http://schemas.openxmlformats.org/officeDocument/2006/relationships/oleObject" Target="../embeddings/oleObject34.bin"/></Relationships>
</file>

<file path=ppt/slides/_rels/slide7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84.png"/><Relationship Id="rId4" Type="http://schemas.openxmlformats.org/officeDocument/2006/relationships/image" Target="../media/image83.jpeg"/></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85.jpg"/><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slideLayout" Target="../slideLayouts/slideLayout2.xml"/><Relationship Id="rId1" Type="http://schemas.openxmlformats.org/officeDocument/2006/relationships/vmlDrawing" Target="../drawings/vmlDrawing21.vml"/><Relationship Id="rId5" Type="http://schemas.openxmlformats.org/officeDocument/2006/relationships/image" Target="../media/image86.wmf"/><Relationship Id="rId4" Type="http://schemas.openxmlformats.org/officeDocument/2006/relationships/oleObject" Target="../embeddings/oleObject35.bin"/></Relationships>
</file>

<file path=ppt/slides/_rels/slide9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91.wmf"/><Relationship Id="rId5" Type="http://schemas.openxmlformats.org/officeDocument/2006/relationships/image" Target="../media/image90.wmf"/><Relationship Id="rId4" Type="http://schemas.openxmlformats.org/officeDocument/2006/relationships/image" Target="../media/image89.png"/></Relationships>
</file>

<file path=ppt/slides/_rels/slide93.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Layout" Target="../slideLayouts/slideLayout2.xml"/><Relationship Id="rId1" Type="http://schemas.openxmlformats.org/officeDocument/2006/relationships/vmlDrawing" Target="../drawings/vmlDrawing22.vml"/><Relationship Id="rId4" Type="http://schemas.openxmlformats.org/officeDocument/2006/relationships/image" Target="../media/image92.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a:t>The Complex Systems </a:t>
            </a:r>
            <a:r>
              <a:rPr lang="en-US" sz="4400" dirty="0" err="1"/>
              <a:t>Modelling</a:t>
            </a:r>
            <a:r>
              <a:rPr lang="en-US" sz="4400" dirty="0"/>
              <a:t> Platform </a:t>
            </a:r>
            <a:br>
              <a:rPr lang="en-US" sz="4400" dirty="0"/>
            </a:br>
            <a:r>
              <a:rPr lang="en-US" sz="4400" dirty="0"/>
              <a:t>(CSMP++ )</a:t>
            </a:r>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10/2/18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a:solidFill>
                  <a:schemeClr val="bg1"/>
                </a:solidFill>
                <a:latin typeface="Arial"/>
                <a:cs typeface="Arial"/>
              </a:rPr>
              <a:t>by Stephan K. Matthai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3</a:t>
            </a:fld>
            <a:endParaRPr lang="en-US" sz="1400">
              <a:solidFill>
                <a:schemeClr val="bg1"/>
              </a:solidFill>
              <a:latin typeface="Arial" charset="0"/>
            </a:endParaRPr>
          </a:p>
        </p:txBody>
      </p:sp>
      <p:sp>
        <p:nvSpPr>
          <p:cNvPr id="27655" name="Rectangle 2"/>
          <p:cNvSpPr>
            <a:spLocks noChangeArrowheads="1"/>
          </p:cNvSpPr>
          <p:nvPr/>
        </p:nvSpPr>
        <p:spPr bwMode="auto">
          <a:xfrm>
            <a:off x="395288" y="159048"/>
            <a:ext cx="8162925"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Old scheme: 2-phase flow, slightly compressible</a:t>
            </a:r>
          </a:p>
        </p:txBody>
      </p:sp>
      <p:graphicFrame>
        <p:nvGraphicFramePr>
          <p:cNvPr id="27650" name="Object 2"/>
          <p:cNvGraphicFramePr>
            <a:graphicFrameLocks noChangeAspect="1"/>
          </p:cNvGraphicFramePr>
          <p:nvPr>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49477" name="Equation" r:id="rId4" imgW="4292600" imgH="558800" progId="Equation.DSMT4">
                  <p:embed/>
                </p:oleObj>
              </mc:Choice>
              <mc:Fallback>
                <p:oleObj name="Equation" r:id="rId4" imgW="4292600" imgH="558800" progId="Equation.DSMT4">
                  <p:embed/>
                  <p:pic>
                    <p:nvPicPr>
                      <p:cNvPr id="27650" name="Object 2"/>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49478" name="Equation" r:id="rId6" imgW="5283200" imgH="431800" progId="Equation.DSMT4">
                  <p:embed/>
                </p:oleObj>
              </mc:Choice>
              <mc:Fallback>
                <p:oleObj name="Equation" r:id="rId6" imgW="5283200" imgH="431800" progId="Equation.DSMT4">
                  <p:embed/>
                  <p:pic>
                    <p:nvPicPr>
                      <p:cNvPr id="27651" name="Object 3"/>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49479" name="Equation" r:id="rId8" imgW="5194080" imgH="711000" progId="Equation.3">
                  <p:embed/>
                </p:oleObj>
              </mc:Choice>
              <mc:Fallback>
                <p:oleObj name="Equation" r:id="rId8" imgW="5194080" imgH="711000" progId="Equation.3">
                  <p:embed/>
                  <p:pic>
                    <p:nvPicPr>
                      <p:cNvPr id="27652"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49480" name="Equation" r:id="rId10" imgW="3124200" imgH="1308100" progId="Equation.DSMT4">
                  <p:embed/>
                </p:oleObj>
              </mc:Choice>
              <mc:Fallback>
                <p:oleObj name="Equation" r:id="rId10" imgW="3124200" imgH="1308100" progId="Equation.DSMT4">
                  <p:embed/>
                  <p:pic>
                    <p:nvPicPr>
                      <p:cNvPr id="27653" name="Object 5"/>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132824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9E634-546F-5940-A601-83EBB68B57A3}"/>
              </a:ext>
            </a:extLst>
          </p:cNvPr>
          <p:cNvSpPr>
            <a:spLocks noGrp="1"/>
          </p:cNvSpPr>
          <p:nvPr>
            <p:ph type="title"/>
          </p:nvPr>
        </p:nvSpPr>
        <p:spPr/>
        <p:txBody>
          <a:bodyPr/>
          <a:lstStyle/>
          <a:p>
            <a:r>
              <a:rPr lang="en-US" dirty="0"/>
              <a:t>Back to the basics of compressible flow</a:t>
            </a:r>
          </a:p>
        </p:txBody>
      </p:sp>
      <p:sp>
        <p:nvSpPr>
          <p:cNvPr id="5" name="Footer Placeholder 4">
            <a:extLst>
              <a:ext uri="{FF2B5EF4-FFF2-40B4-BE49-F238E27FC236}">
                <a16:creationId xmlns:a16="http://schemas.microsoft.com/office/drawing/2014/main" id="{1381A1F4-C23D-A542-8760-8613DEFCF608}"/>
              </a:ext>
            </a:extLst>
          </p:cNvPr>
          <p:cNvSpPr>
            <a:spLocks noGrp="1"/>
          </p:cNvSpPr>
          <p:nvPr>
            <p:ph type="ftr" sz="quarter" idx="11"/>
          </p:nvPr>
        </p:nvSpPr>
        <p:spPr/>
        <p:txBody>
          <a:bodyPr/>
          <a:lstStyle/>
          <a:p>
            <a:pPr>
              <a:defRPr/>
            </a:pPr>
            <a:endParaRPr lang="en-GB"/>
          </a:p>
        </p:txBody>
      </p:sp>
      <p:sp>
        <p:nvSpPr>
          <p:cNvPr id="6" name="Slide Number Placeholder 5">
            <a:extLst>
              <a:ext uri="{FF2B5EF4-FFF2-40B4-BE49-F238E27FC236}">
                <a16:creationId xmlns:a16="http://schemas.microsoft.com/office/drawing/2014/main" id="{C77F9CC4-4BA3-364E-A5E5-50E554B6B1D9}"/>
              </a:ext>
            </a:extLst>
          </p:cNvPr>
          <p:cNvSpPr>
            <a:spLocks noGrp="1"/>
          </p:cNvSpPr>
          <p:nvPr>
            <p:ph type="sldNum" sz="quarter" idx="12"/>
          </p:nvPr>
        </p:nvSpPr>
        <p:spPr/>
        <p:txBody>
          <a:bodyPr/>
          <a:lstStyle/>
          <a:p>
            <a:pPr>
              <a:defRPr/>
            </a:pPr>
            <a:fld id="{79CCE042-F42E-624C-B7FB-6F04E028C1D8}" type="slidenum">
              <a:rPr lang="en-US" smtClean="0"/>
              <a:pPr>
                <a:defRPr/>
              </a:pPr>
              <a:t>4</a:t>
            </a:fld>
            <a:endParaRPr lang="en-US"/>
          </a:p>
        </p:txBody>
      </p:sp>
      <p:graphicFrame>
        <p:nvGraphicFramePr>
          <p:cNvPr id="7" name="Object 2">
            <a:extLst>
              <a:ext uri="{FF2B5EF4-FFF2-40B4-BE49-F238E27FC236}">
                <a16:creationId xmlns:a16="http://schemas.microsoft.com/office/drawing/2014/main" id="{26475C9D-F938-CD4B-B489-E90BA6EBA188}"/>
              </a:ext>
            </a:extLst>
          </p:cNvPr>
          <p:cNvGraphicFramePr>
            <a:graphicFrameLocks noChangeAspect="1"/>
          </p:cNvGraphicFramePr>
          <p:nvPr>
            <p:extLst>
              <p:ext uri="{D42A27DB-BD31-4B8C-83A1-F6EECF244321}">
                <p14:modId xmlns:p14="http://schemas.microsoft.com/office/powerpoint/2010/main" val="462612344"/>
              </p:ext>
            </p:extLst>
          </p:nvPr>
        </p:nvGraphicFramePr>
        <p:xfrm>
          <a:off x="7417089" y="1251870"/>
          <a:ext cx="1150649" cy="361395"/>
        </p:xfrm>
        <a:graphic>
          <a:graphicData uri="http://schemas.openxmlformats.org/presentationml/2006/ole">
            <mc:AlternateContent xmlns:mc="http://schemas.openxmlformats.org/markup-compatibility/2006">
              <mc:Choice xmlns:v="urn:schemas-microsoft-com:vml" Requires="v">
                <p:oleObj spid="_x0000_s56474" name="Equation" r:id="rId3" imgW="647419" imgH="203112" progId="Equation.3">
                  <p:embed/>
                </p:oleObj>
              </mc:Choice>
              <mc:Fallback>
                <p:oleObj name="Equation" r:id="rId3" imgW="647419" imgH="203112" progId="Equation.3">
                  <p:embed/>
                  <p:pic>
                    <p:nvPicPr>
                      <p:cNvPr id="74854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7089" y="1251870"/>
                        <a:ext cx="1150649" cy="36139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 name="TextBox 7">
            <a:extLst>
              <a:ext uri="{FF2B5EF4-FFF2-40B4-BE49-F238E27FC236}">
                <a16:creationId xmlns:a16="http://schemas.microsoft.com/office/drawing/2014/main" id="{A804D684-F6ED-E542-8A45-74E733CD3648}"/>
              </a:ext>
            </a:extLst>
          </p:cNvPr>
          <p:cNvSpPr txBox="1">
            <a:spLocks noChangeArrowheads="1"/>
          </p:cNvSpPr>
          <p:nvPr/>
        </p:nvSpPr>
        <p:spPr bwMode="auto">
          <a:xfrm>
            <a:off x="1524722" y="1219694"/>
            <a:ext cx="5981125"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Conservation of volume becomes conservation of  mass:</a:t>
            </a:r>
          </a:p>
        </p:txBody>
      </p:sp>
      <p:graphicFrame>
        <p:nvGraphicFramePr>
          <p:cNvPr id="10" name="Object 4">
            <a:extLst>
              <a:ext uri="{FF2B5EF4-FFF2-40B4-BE49-F238E27FC236}">
                <a16:creationId xmlns:a16="http://schemas.microsoft.com/office/drawing/2014/main" id="{4B40EADF-4C92-DE43-9A13-EDA9BCBDB89B}"/>
              </a:ext>
            </a:extLst>
          </p:cNvPr>
          <p:cNvGraphicFramePr>
            <a:graphicFrameLocks noChangeAspect="1"/>
          </p:cNvGraphicFramePr>
          <p:nvPr>
            <p:extLst>
              <p:ext uri="{D42A27DB-BD31-4B8C-83A1-F6EECF244321}">
                <p14:modId xmlns:p14="http://schemas.microsoft.com/office/powerpoint/2010/main" val="4266185686"/>
              </p:ext>
            </p:extLst>
          </p:nvPr>
        </p:nvGraphicFramePr>
        <p:xfrm>
          <a:off x="575048" y="1291164"/>
          <a:ext cx="947103" cy="226391"/>
        </p:xfrm>
        <a:graphic>
          <a:graphicData uri="http://schemas.openxmlformats.org/presentationml/2006/ole">
            <mc:AlternateContent xmlns:mc="http://schemas.openxmlformats.org/markup-compatibility/2006">
              <mc:Choice xmlns:v="urn:schemas-microsoft-com:vml" Requires="v">
                <p:oleObj spid="_x0000_s56475" name="Equation" r:id="rId5" imgW="533400" imgH="127000" progId="Equation.3">
                  <p:embed/>
                </p:oleObj>
              </mc:Choice>
              <mc:Fallback>
                <p:oleObj name="Equation" r:id="rId5" imgW="533400" imgH="127000" progId="Equation.3">
                  <p:embed/>
                  <p:pic>
                    <p:nvPicPr>
                      <p:cNvPr id="9"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048" y="1291164"/>
                        <a:ext cx="947103" cy="226391"/>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1" name="TextBox 9">
            <a:extLst>
              <a:ext uri="{FF2B5EF4-FFF2-40B4-BE49-F238E27FC236}">
                <a16:creationId xmlns:a16="http://schemas.microsoft.com/office/drawing/2014/main" id="{5C19C5C5-1921-E94E-98D7-FF5EDB4028D7}"/>
              </a:ext>
            </a:extLst>
          </p:cNvPr>
          <p:cNvSpPr txBox="1">
            <a:spLocks noChangeArrowheads="1"/>
          </p:cNvSpPr>
          <p:nvPr/>
        </p:nvSpPr>
        <p:spPr bwMode="auto">
          <a:xfrm>
            <a:off x="539552" y="1793874"/>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Substitution of volumetric flow rate </a:t>
            </a:r>
            <a:r>
              <a:rPr lang="en-US" sz="1800" b="1" u="sng" dirty="0">
                <a:solidFill>
                  <a:srgbClr val="0000FF"/>
                </a:solidFill>
              </a:rPr>
              <a:t>u</a:t>
            </a:r>
            <a:r>
              <a:rPr lang="en-US" sz="1800" dirty="0">
                <a:solidFill>
                  <a:srgbClr val="0000FF"/>
                </a:solidFill>
              </a:rPr>
              <a:t> by Darcy</a:t>
            </a:r>
            <a:r>
              <a:rPr lang="en-AU" sz="1800" dirty="0">
                <a:solidFill>
                  <a:srgbClr val="0000FF"/>
                </a:solidFill>
              </a:rPr>
              <a:t>’</a:t>
            </a:r>
            <a:r>
              <a:rPr lang="en-US" altLang="ja-JP" sz="1800" dirty="0">
                <a:solidFill>
                  <a:srgbClr val="0000FF"/>
                </a:solidFill>
              </a:rPr>
              <a:t>s law gives pressure equation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564D7C1-CB5D-8248-8525-14059AAE1C2E}"/>
                  </a:ext>
                </a:extLst>
              </p:cNvPr>
              <p:cNvSpPr txBox="1"/>
              <p:nvPr/>
            </p:nvSpPr>
            <p:spPr>
              <a:xfrm>
                <a:off x="2051720" y="2432548"/>
                <a:ext cx="5184576" cy="56951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8564D7C1-CB5D-8248-8525-14059AAE1C2E}"/>
                  </a:ext>
                </a:extLst>
              </p:cNvPr>
              <p:cNvSpPr txBox="1">
                <a:spLocks noRot="1" noChangeAspect="1" noMove="1" noResize="1" noEditPoints="1" noAdjustHandles="1" noChangeArrowheads="1" noChangeShapeType="1" noTextEdit="1"/>
              </p:cNvSpPr>
              <p:nvPr/>
            </p:nvSpPr>
            <p:spPr>
              <a:xfrm>
                <a:off x="2051720" y="2432548"/>
                <a:ext cx="5184576" cy="569515"/>
              </a:xfrm>
              <a:prstGeom prst="rect">
                <a:avLst/>
              </a:prstGeom>
              <a:blipFill>
                <a:blip r:embed="rId7"/>
                <a:stretch>
                  <a:fillRect t="-4545" b="-11364"/>
                </a:stretch>
              </a:blipFill>
            </p:spPr>
            <p:txBody>
              <a:bodyPr/>
              <a:lstStyle/>
              <a:p>
                <a:r>
                  <a:rPr lang="en-US">
                    <a:noFill/>
                  </a:rPr>
                  <a:t> </a:t>
                </a:r>
              </a:p>
            </p:txBody>
          </p:sp>
        </mc:Fallback>
      </mc:AlternateContent>
      <p:sp>
        <p:nvSpPr>
          <p:cNvPr id="19" name="TextBox 9">
            <a:extLst>
              <a:ext uri="{FF2B5EF4-FFF2-40B4-BE49-F238E27FC236}">
                <a16:creationId xmlns:a16="http://schemas.microsoft.com/office/drawing/2014/main" id="{685C0DFF-0C86-B548-B226-383F8C75FC69}"/>
              </a:ext>
            </a:extLst>
          </p:cNvPr>
          <p:cNvSpPr txBox="1">
            <a:spLocks noChangeArrowheads="1"/>
          </p:cNvSpPr>
          <p:nvPr/>
        </p:nvSpPr>
        <p:spPr bwMode="auto">
          <a:xfrm>
            <a:off x="590866" y="3209897"/>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Introducing time (continuity equation) / total systems compressibility, </a:t>
            </a:r>
            <a:r>
              <a:rPr lang="en-AU" sz="1800" i="1" dirty="0" err="1">
                <a:solidFill>
                  <a:srgbClr val="0000FF"/>
                </a:solidFill>
              </a:rPr>
              <a:t>c</a:t>
            </a:r>
            <a:r>
              <a:rPr lang="en-AU" sz="1800" i="1" baseline="-25000" dirty="0" err="1">
                <a:solidFill>
                  <a:srgbClr val="0000FF"/>
                </a:solidFill>
              </a:rPr>
              <a:t>t</a:t>
            </a:r>
            <a:endParaRPr lang="en-US" sz="1800" i="1" baseline="-25000"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74790AB-5FDF-B847-925A-A093CB518285}"/>
                  </a:ext>
                </a:extLst>
              </p:cNvPr>
              <p:cNvSpPr txBox="1"/>
              <p:nvPr/>
            </p:nvSpPr>
            <p:spPr>
              <a:xfrm>
                <a:off x="2007761" y="3746027"/>
                <a:ext cx="5184576" cy="5876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𝜙𝜌</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20" name="TextBox 19">
                <a:extLst>
                  <a:ext uri="{FF2B5EF4-FFF2-40B4-BE49-F238E27FC236}">
                    <a16:creationId xmlns:a16="http://schemas.microsoft.com/office/drawing/2014/main" id="{374790AB-5FDF-B847-925A-A093CB518285}"/>
                  </a:ext>
                </a:extLst>
              </p:cNvPr>
              <p:cNvSpPr txBox="1">
                <a:spLocks noRot="1" noChangeAspect="1" noMove="1" noResize="1" noEditPoints="1" noAdjustHandles="1" noChangeArrowheads="1" noChangeShapeType="1" noTextEdit="1"/>
              </p:cNvSpPr>
              <p:nvPr/>
            </p:nvSpPr>
            <p:spPr>
              <a:xfrm>
                <a:off x="2007761" y="3746027"/>
                <a:ext cx="5184576" cy="587661"/>
              </a:xfrm>
              <a:prstGeom prst="rect">
                <a:avLst/>
              </a:prstGeom>
              <a:blipFill>
                <a:blip r:embed="rId8"/>
                <a:stretch>
                  <a:fillRect t="-2128" b="-6383"/>
                </a:stretch>
              </a:blipFill>
            </p:spPr>
            <p:txBody>
              <a:bodyPr/>
              <a:lstStyle/>
              <a:p>
                <a:r>
                  <a:rPr lang="en-US">
                    <a:noFill/>
                  </a:rPr>
                  <a:t> </a:t>
                </a:r>
              </a:p>
            </p:txBody>
          </p:sp>
        </mc:Fallback>
      </mc:AlternateContent>
      <p:sp>
        <p:nvSpPr>
          <p:cNvPr id="22" name="TextBox 9">
            <a:extLst>
              <a:ext uri="{FF2B5EF4-FFF2-40B4-BE49-F238E27FC236}">
                <a16:creationId xmlns:a16="http://schemas.microsoft.com/office/drawing/2014/main" id="{A8D0106B-3892-A946-8F79-9EEE05DEF133}"/>
              </a:ext>
            </a:extLst>
          </p:cNvPr>
          <p:cNvSpPr txBox="1">
            <a:spLocks noChangeArrowheads="1"/>
          </p:cNvSpPr>
          <p:nvPr/>
        </p:nvSpPr>
        <p:spPr bwMode="auto">
          <a:xfrm>
            <a:off x="585412" y="4724042"/>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Backward-Euler FD time discretisation</a:t>
            </a:r>
            <a:endParaRPr lang="en-US" sz="1800" dirty="0">
              <a:solidFill>
                <a:srgbClr val="0000FF"/>
              </a:solidFill>
            </a:endParaRPr>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E07522FA-43C9-6A42-B61F-BF406F7415AE}"/>
                  </a:ext>
                </a:extLst>
              </p:cNvPr>
              <p:cNvSpPr txBox="1"/>
              <p:nvPr/>
            </p:nvSpPr>
            <p:spPr>
              <a:xfrm>
                <a:off x="606564" y="5320339"/>
                <a:ext cx="8124853" cy="616387"/>
              </a:xfrm>
              <a:prstGeom prst="rect">
                <a:avLst/>
              </a:prstGeom>
              <a:noFill/>
            </p:spPr>
            <p:txBody>
              <a:bodyPr wrap="none" lIns="0" tIns="0" rIns="0" bIns="0" rtlCol="0">
                <a:spAutoFit/>
              </a:bodyPr>
              <a:lstStyle/>
              <a:p>
                <a14:m>
                  <m:oMath xmlns:m="http://schemas.openxmlformats.org/officeDocument/2006/math">
                    <m:d>
                      <m:dPr>
                        <m:begChr m:val="["/>
                        <m:endChr m:val="]"/>
                        <m:ctrlPr>
                          <a:rPr lang="en-US" i="1" smtClean="0">
                            <a:latin typeface="Cambria Math" panose="02040503050406030204" pitchFamily="18" charset="0"/>
                          </a:rPr>
                        </m:ctrlPr>
                      </m:dPr>
                      <m:e>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rPr>
                          <m:t>+</m:t>
                        </m:r>
                        <m:r>
                          <a:rPr lang="en-AU" b="0" i="1" smtClean="0">
                            <a:latin typeface="Cambria Math" panose="02040503050406030204" pitchFamily="18" charset="0"/>
                          </a:rPr>
                          <m:t>𝐷𝑁</m:t>
                        </m:r>
                        <m:d>
                          <m:dPr>
                            <m:begChr m:val="["/>
                            <m:endChr m:val="]"/>
                            <m:ctrlPr>
                              <a:rPr lang="en-AU" i="1">
                                <a:latin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e>
                        </m:d>
                      </m:e>
                    </m:d>
                    <m:sSub>
                      <m:sSubPr>
                        <m:ctrlPr>
                          <a:rPr lang="en-US" i="1" smtClean="0">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b="0" i="1" smtClean="0">
                            <a:latin typeface="Cambria Math" panose="02040503050406030204" pitchFamily="18" charset="0"/>
                          </a:rPr>
                          <m:t>𝑡</m:t>
                        </m:r>
                        <m:r>
                          <a:rPr lang="en-AU" b="0" i="1" smtClean="0">
                            <a:latin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rPr>
                      <m:t>=</m:t>
                    </m:r>
                  </m:oMath>
                </a14:m>
                <a:r>
                  <a:rPr lang="en-US" dirty="0"/>
                  <a:t> </a:t>
                </a:r>
                <a14:m>
                  <m:oMath xmlns:m="http://schemas.openxmlformats.org/officeDocument/2006/math">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i="1">
                            <a:latin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𝐷𝑁𝑁</m:t>
                    </m:r>
                    <m:sSub>
                      <m:sSubPr>
                        <m:ctrlPr>
                          <a:rPr lang="en-AU" b="0" i="1" smtClean="0">
                            <a:latin typeface="Cambria Math" panose="02040503050406030204" pitchFamily="18" charset="0"/>
                            <a:ea typeface="Cambria Math" panose="02040503050406030204" pitchFamily="18" charset="0"/>
                          </a:rPr>
                        </m:ctrlPr>
                      </m:sSubPr>
                      <m:e>
                        <m:d>
                          <m:dPr>
                            <m:begChr m:val="{"/>
                            <m:endChr m:val="}"/>
                            <m:ctrlPr>
                              <a:rPr lang="en-AU" i="1">
                                <a:latin typeface="Cambria Math" panose="02040503050406030204" pitchFamily="18" charset="0"/>
                                <a:ea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r>
                              <a:rPr lang="en-AU" i="1">
                                <a:latin typeface="Cambria Math" panose="02040503050406030204" pitchFamily="18" charset="0"/>
                                <a:ea typeface="Cambria Math" panose="02040503050406030204" pitchFamily="18" charset="0"/>
                              </a:rPr>
                              <m:t>𝑔</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𝑧</m:t>
                            </m:r>
                          </m:e>
                        </m:d>
                      </m:e>
                      <m:sub>
                        <m:r>
                          <a:rPr lang="en-AU" i="1">
                            <a:latin typeface="Cambria Math" panose="02040503050406030204" pitchFamily="18" charset="0"/>
                            <a:ea typeface="Cambria Math" panose="02040503050406030204" pitchFamily="18" charset="0"/>
                          </a:rPr>
                          <m:t>𝑡</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𝑁𝑁</m:t>
                        </m:r>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𝑚</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oMath>
                </a14:m>
                <a:endParaRPr lang="en-US" dirty="0"/>
              </a:p>
            </p:txBody>
          </p:sp>
        </mc:Choice>
        <mc:Fallback>
          <p:sp>
            <p:nvSpPr>
              <p:cNvPr id="23" name="TextBox 22">
                <a:extLst>
                  <a:ext uri="{FF2B5EF4-FFF2-40B4-BE49-F238E27FC236}">
                    <a16:creationId xmlns:a16="http://schemas.microsoft.com/office/drawing/2014/main" id="{E07522FA-43C9-6A42-B61F-BF406F7415AE}"/>
                  </a:ext>
                </a:extLst>
              </p:cNvPr>
              <p:cNvSpPr txBox="1">
                <a:spLocks noRot="1" noChangeAspect="1" noMove="1" noResize="1" noEditPoints="1" noAdjustHandles="1" noChangeArrowheads="1" noChangeShapeType="1" noTextEdit="1"/>
              </p:cNvSpPr>
              <p:nvPr/>
            </p:nvSpPr>
            <p:spPr>
              <a:xfrm>
                <a:off x="606564" y="5320339"/>
                <a:ext cx="8124853" cy="616387"/>
              </a:xfrm>
              <a:prstGeom prst="rect">
                <a:avLst/>
              </a:prstGeom>
              <a:blipFill>
                <a:blip r:embed="rId9"/>
                <a:stretch>
                  <a:fillRect b="-204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FFE525A-E321-2B49-9AE7-2951FC98A66B}"/>
              </a:ext>
            </a:extLst>
          </p:cNvPr>
          <p:cNvSpPr txBox="1"/>
          <p:nvPr/>
        </p:nvSpPr>
        <p:spPr>
          <a:xfrm>
            <a:off x="1475243" y="5940763"/>
            <a:ext cx="532518" cy="369332"/>
          </a:xfrm>
          <a:prstGeom prst="rect">
            <a:avLst/>
          </a:prstGeom>
          <a:noFill/>
        </p:spPr>
        <p:txBody>
          <a:bodyPr wrap="none" rtlCol="0">
            <a:spAutoFit/>
          </a:bodyPr>
          <a:lstStyle/>
          <a:p>
            <a:r>
              <a:rPr lang="en-US" dirty="0"/>
              <a:t>LHS</a:t>
            </a:r>
          </a:p>
        </p:txBody>
      </p:sp>
      <p:sp>
        <p:nvSpPr>
          <p:cNvPr id="15" name="TextBox 14">
            <a:extLst>
              <a:ext uri="{FF2B5EF4-FFF2-40B4-BE49-F238E27FC236}">
                <a16:creationId xmlns:a16="http://schemas.microsoft.com/office/drawing/2014/main" id="{DAE441B6-9EC5-D948-B59C-6AACB5C609BB}"/>
              </a:ext>
            </a:extLst>
          </p:cNvPr>
          <p:cNvSpPr txBox="1"/>
          <p:nvPr/>
        </p:nvSpPr>
        <p:spPr>
          <a:xfrm>
            <a:off x="3916395" y="5944949"/>
            <a:ext cx="559769" cy="369332"/>
          </a:xfrm>
          <a:prstGeom prst="rect">
            <a:avLst/>
          </a:prstGeom>
          <a:noFill/>
        </p:spPr>
        <p:txBody>
          <a:bodyPr wrap="none" rtlCol="0">
            <a:spAutoFit/>
          </a:bodyPr>
          <a:lstStyle/>
          <a:p>
            <a:r>
              <a:rPr lang="en-US" dirty="0"/>
              <a:t>RHS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FC39C87-32C3-1441-AE97-EB36D73CB3AB}"/>
                  </a:ext>
                </a:extLst>
              </p:cNvPr>
              <p:cNvSpPr txBox="1"/>
              <p:nvPr/>
            </p:nvSpPr>
            <p:spPr>
              <a:xfrm>
                <a:off x="5294483" y="4379240"/>
                <a:ext cx="2198872" cy="29924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𝑓</m:t>
                          </m:r>
                        </m:sub>
                      </m:sSub>
                      <m:r>
                        <a:rPr lang="en-AU" b="0" i="0" smtClean="0">
                          <a:latin typeface="Cambria Math" panose="02040503050406030204" pitchFamily="18" charset="0"/>
                        </a:rPr>
                        <m:t>+</m:t>
                      </m:r>
                      <m:d>
                        <m:dPr>
                          <m:ctrlPr>
                            <a:rPr lang="en-AU" b="0" i="0"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p:sp>
            <p:nvSpPr>
              <p:cNvPr id="4" name="TextBox 3">
                <a:extLst>
                  <a:ext uri="{FF2B5EF4-FFF2-40B4-BE49-F238E27FC236}">
                    <a16:creationId xmlns:a16="http://schemas.microsoft.com/office/drawing/2014/main" id="{9FC39C87-32C3-1441-AE97-EB36D73CB3AB}"/>
                  </a:ext>
                </a:extLst>
              </p:cNvPr>
              <p:cNvSpPr txBox="1">
                <a:spLocks noRot="1" noChangeAspect="1" noMove="1" noResize="1" noEditPoints="1" noAdjustHandles="1" noChangeArrowheads="1" noChangeShapeType="1" noTextEdit="1"/>
              </p:cNvSpPr>
              <p:nvPr/>
            </p:nvSpPr>
            <p:spPr>
              <a:xfrm>
                <a:off x="5294483" y="4379240"/>
                <a:ext cx="2198872" cy="299249"/>
              </a:xfrm>
              <a:prstGeom prst="rect">
                <a:avLst/>
              </a:prstGeom>
              <a:blipFill>
                <a:blip r:embed="rId10"/>
                <a:stretch>
                  <a:fillRect l="-575" b="-25000"/>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143019E5-607C-724B-BAA6-1E917555960E}"/>
              </a:ext>
            </a:extLst>
          </p:cNvPr>
          <p:cNvSpPr txBox="1"/>
          <p:nvPr/>
        </p:nvSpPr>
        <p:spPr>
          <a:xfrm>
            <a:off x="395536" y="5043340"/>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1" name="TextBox 20">
            <a:extLst>
              <a:ext uri="{FF2B5EF4-FFF2-40B4-BE49-F238E27FC236}">
                <a16:creationId xmlns:a16="http://schemas.microsoft.com/office/drawing/2014/main" id="{E8F0CC0F-38B4-3E4D-8946-31B73D96801E}"/>
              </a:ext>
            </a:extLst>
          </p:cNvPr>
          <p:cNvSpPr txBox="1"/>
          <p:nvPr/>
        </p:nvSpPr>
        <p:spPr>
          <a:xfrm>
            <a:off x="3586630" y="5039228"/>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4" name="TextBox 23">
            <a:extLst>
              <a:ext uri="{FF2B5EF4-FFF2-40B4-BE49-F238E27FC236}">
                <a16:creationId xmlns:a16="http://schemas.microsoft.com/office/drawing/2014/main" id="{D6D8AAD4-782F-9A48-ACE8-4F8EF791A183}"/>
              </a:ext>
            </a:extLst>
          </p:cNvPr>
          <p:cNvSpPr txBox="1"/>
          <p:nvPr/>
        </p:nvSpPr>
        <p:spPr>
          <a:xfrm>
            <a:off x="7447013" y="5035116"/>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5" name="TextBox 24">
            <a:extLst>
              <a:ext uri="{FF2B5EF4-FFF2-40B4-BE49-F238E27FC236}">
                <a16:creationId xmlns:a16="http://schemas.microsoft.com/office/drawing/2014/main" id="{F43649B4-C0C5-7D4E-94E9-AD473A2872C8}"/>
              </a:ext>
            </a:extLst>
          </p:cNvPr>
          <p:cNvSpPr txBox="1"/>
          <p:nvPr/>
        </p:nvSpPr>
        <p:spPr>
          <a:xfrm>
            <a:off x="1740213" y="5046701"/>
            <a:ext cx="151515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conductance matrix</a:t>
            </a:r>
          </a:p>
        </p:txBody>
      </p:sp>
      <p:sp>
        <p:nvSpPr>
          <p:cNvPr id="26" name="TextBox 25">
            <a:extLst>
              <a:ext uri="{FF2B5EF4-FFF2-40B4-BE49-F238E27FC236}">
                <a16:creationId xmlns:a16="http://schemas.microsoft.com/office/drawing/2014/main" id="{88489874-9F52-A446-8896-B8382DB9ACFB}"/>
              </a:ext>
            </a:extLst>
          </p:cNvPr>
          <p:cNvSpPr txBox="1"/>
          <p:nvPr/>
        </p:nvSpPr>
        <p:spPr>
          <a:xfrm>
            <a:off x="5150575" y="5061683"/>
            <a:ext cx="137088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body-force matrix</a:t>
            </a:r>
          </a:p>
        </p:txBody>
      </p:sp>
    </p:spTree>
    <p:extLst>
      <p:ext uri="{BB962C8B-B14F-4D97-AF65-F5344CB8AC3E}">
        <p14:creationId xmlns:p14="http://schemas.microsoft.com/office/powerpoint/2010/main" val="920404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4710A-94BC-CF46-956B-DC5B5034B8BD}"/>
              </a:ext>
            </a:extLst>
          </p:cNvPr>
          <p:cNvSpPr>
            <a:spLocks noGrp="1"/>
          </p:cNvSpPr>
          <p:nvPr>
            <p:ph type="title"/>
          </p:nvPr>
        </p:nvSpPr>
        <p:spPr/>
        <p:txBody>
          <a:bodyPr/>
          <a:lstStyle/>
          <a:p>
            <a:r>
              <a:rPr lang="en-US" dirty="0"/>
              <a:t>Introducing saturations</a:t>
            </a:r>
          </a:p>
        </p:txBody>
      </p:sp>
      <p:sp>
        <p:nvSpPr>
          <p:cNvPr id="4" name="Date Placeholder 3">
            <a:extLst>
              <a:ext uri="{FF2B5EF4-FFF2-40B4-BE49-F238E27FC236}">
                <a16:creationId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a:extLst>
              <a:ext uri="{FF2B5EF4-FFF2-40B4-BE49-F238E27FC236}">
                <a16:creationId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5</a:t>
            </a:fld>
            <a:endParaRPr lang="en-US"/>
          </a:p>
        </p:txBody>
      </p:sp>
      <p:sp>
        <p:nvSpPr>
          <p:cNvPr id="8" name="Rectangle 2">
            <a:extLst>
              <a:ext uri="{FF2B5EF4-FFF2-40B4-BE49-F238E27FC236}">
                <a16:creationId xmlns:a16="http://schemas.microsoft.com/office/drawing/2014/main" id="{57B4C202-6E52-BF49-AC57-B38ED61BE168}"/>
              </a:ext>
            </a:extLst>
          </p:cNvPr>
          <p:cNvSpPr>
            <a:spLocks noChangeArrowheads="1"/>
          </p:cNvSpPr>
          <p:nvPr/>
        </p:nvSpPr>
        <p:spPr bwMode="auto">
          <a:xfrm>
            <a:off x="323528" y="4445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id="{35C8FCBF-2459-4A44-93B2-C7687BA82F9F}"/>
              </a:ext>
            </a:extLst>
          </p:cNvPr>
          <p:cNvSpPr txBox="1">
            <a:spLocks noChangeArrowheads="1"/>
          </p:cNvSpPr>
          <p:nvPr/>
        </p:nvSpPr>
        <p:spPr bwMode="auto">
          <a:xfrm>
            <a:off x="539552" y="836712"/>
            <a:ext cx="8568952"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Introduction of the extended Darcy’s law in the continuity equation</a:t>
            </a:r>
          </a:p>
          <a:p>
            <a:pPr defTabSz="457200" eaLnBrk="1" hangingPunct="1"/>
            <a:r>
              <a:rPr lang="en-AU" sz="1800" dirty="0">
                <a:solidFill>
                  <a:srgbClr val="0000FF"/>
                </a:solidFill>
              </a:rPr>
              <a:t>for a single phase, </a:t>
            </a:r>
            <a:r>
              <a:rPr lang="en-AU" sz="1800" i="1" dirty="0" err="1">
                <a:solidFill>
                  <a:srgbClr val="0000FF"/>
                </a:solidFill>
              </a:rPr>
              <a:t>i</a:t>
            </a:r>
            <a:r>
              <a:rPr lang="en-AU" sz="1800" i="1" dirty="0">
                <a:solidFill>
                  <a:srgbClr val="0000FF"/>
                </a:solidFill>
              </a:rPr>
              <a:t> </a:t>
            </a:r>
            <a:endParaRPr lang="en-US" sz="1800" i="1" dirty="0">
              <a:solidFill>
                <a:srgbClr val="0000FF"/>
              </a:solidFill>
            </a:endParaRP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5109D6D-AE31-2542-B953-C9A60208B18F}"/>
                  </a:ext>
                </a:extLst>
              </p:cNvPr>
              <p:cNvSpPr txBox="1"/>
              <p:nvPr/>
            </p:nvSpPr>
            <p:spPr>
              <a:xfrm>
                <a:off x="1403648" y="1516469"/>
                <a:ext cx="5688632" cy="6163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𝑘</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𝑟</m:t>
                                  </m:r>
                                </m:e>
                                <m:sub>
                                  <m:r>
                                    <a:rPr lang="en-AU" b="0" i="1" smtClean="0">
                                      <a:latin typeface="Cambria Math" panose="02040503050406030204" pitchFamily="18" charset="0"/>
                                      <a:ea typeface="Cambria Math" panose="02040503050406030204" pitchFamily="18" charset="0"/>
                                    </a:rPr>
                                    <m:t>𝑖</m:t>
                                  </m:r>
                                </m:sub>
                              </m:sSub>
                              <m:d>
                                <m:dPr>
                                  <m:ctrlPr>
                                    <a:rPr lang="en-AU" b="0" i="1" smtClean="0">
                                      <a:latin typeface="Cambria Math" panose="02040503050406030204" pitchFamily="18" charset="0"/>
                                      <a:ea typeface="Cambria Math" panose="02040503050406030204" pitchFamily="18" charset="0"/>
                                    </a:rPr>
                                  </m:ctrlPr>
                                </m:d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1</m:t>
                                      </m:r>
                                    </m:sub>
                                  </m:sSub>
                                </m:e>
                              </m:d>
                            </m:num>
                            <m:den>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𝜇</m:t>
                                  </m:r>
                                </m:e>
                                <m:sub>
                                  <m:r>
                                    <a:rPr lang="en-AU" b="0" i="1" smtClean="0">
                                      <a:latin typeface="Cambria Math" panose="02040503050406030204" pitchFamily="18" charset="0"/>
                                      <a:ea typeface="Cambria Math" panose="02040503050406030204" pitchFamily="18" charset="0"/>
                                    </a:rPr>
                                    <m:t>𝑖</m:t>
                                  </m:r>
                                </m:sub>
                              </m:sSub>
                            </m:den>
                          </m:f>
                          <m:r>
                            <a:rPr lang="en-AU" b="0" i="1" smtClean="0">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12" name="TextBox 11">
                <a:extLst>
                  <a:ext uri="{FF2B5EF4-FFF2-40B4-BE49-F238E27FC236}">
                    <a16:creationId xmlns:a16="http://schemas.microsoft.com/office/drawing/2014/main" id="{15109D6D-AE31-2542-B953-C9A60208B18F}"/>
                  </a:ext>
                </a:extLst>
              </p:cNvPr>
              <p:cNvSpPr txBox="1">
                <a:spLocks noRot="1" noChangeAspect="1" noMove="1" noResize="1" noEditPoints="1" noAdjustHandles="1" noChangeArrowheads="1" noChangeShapeType="1" noTextEdit="1"/>
              </p:cNvSpPr>
              <p:nvPr/>
            </p:nvSpPr>
            <p:spPr>
              <a:xfrm>
                <a:off x="1403648" y="1516469"/>
                <a:ext cx="5688632" cy="616387"/>
              </a:xfrm>
              <a:prstGeom prst="rect">
                <a:avLst/>
              </a:prstGeom>
              <a:blipFill>
                <a:blip r:embed="rId2"/>
                <a:stretch>
                  <a:fillRect b="-4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124F2F5E-A2EE-8248-A1EA-73D789AD7492}"/>
                  </a:ext>
                </a:extLst>
              </p:cNvPr>
              <p:cNvSpPr txBox="1">
                <a:spLocks noChangeArrowheads="1"/>
              </p:cNvSpPr>
              <p:nvPr/>
            </p:nvSpPr>
            <p:spPr bwMode="auto">
              <a:xfrm>
                <a:off x="539552" y="2734141"/>
                <a:ext cx="8568952" cy="369332"/>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Noting that </a:t>
                </a:r>
                <a14:m>
                  <m:oMath xmlns:m="http://schemas.openxmlformats.org/officeDocument/2006/math">
                    <m:nary>
                      <m:naryPr>
                        <m:chr m:val="∑"/>
                        <m:subHide m:val="on"/>
                        <m:supHide m:val="on"/>
                        <m:ctrlPr>
                          <a:rPr lang="en-AU" sz="1800" i="1" smtClean="0">
                            <a:solidFill>
                              <a:srgbClr val="0000FF"/>
                            </a:solidFill>
                            <a:latin typeface="Cambria Math" panose="02040503050406030204" pitchFamily="18" charset="0"/>
                          </a:rPr>
                        </m:ctrlPr>
                      </m:naryPr>
                      <m:sub/>
                      <m:sup/>
                      <m:e>
                        <m:sSub>
                          <m:sSubPr>
                            <m:ctrlPr>
                              <a:rPr lang="en-AU" sz="1800" b="0" i="1" smtClean="0">
                                <a:solidFill>
                                  <a:srgbClr val="0000FF"/>
                                </a:solidFill>
                                <a:latin typeface="Cambria Math" panose="02040503050406030204" pitchFamily="18" charset="0"/>
                              </a:rPr>
                            </m:ctrlPr>
                          </m:sSubPr>
                          <m:e>
                            <m:r>
                              <a:rPr lang="en-AU" sz="1800" b="0" i="1" smtClean="0">
                                <a:solidFill>
                                  <a:srgbClr val="0000FF"/>
                                </a:solidFill>
                                <a:latin typeface="Cambria Math" panose="02040503050406030204" pitchFamily="18" charset="0"/>
                              </a:rPr>
                              <m:t>𝑠</m:t>
                            </m:r>
                          </m:e>
                          <m:sub>
                            <m:r>
                              <a:rPr lang="en-AU" sz="1800" b="0" i="1" smtClean="0">
                                <a:solidFill>
                                  <a:srgbClr val="0000FF"/>
                                </a:solidFill>
                                <a:latin typeface="Cambria Math" panose="02040503050406030204" pitchFamily="18" charset="0"/>
                              </a:rPr>
                              <m:t>𝑖</m:t>
                            </m:r>
                          </m:sub>
                        </m:sSub>
                      </m:e>
                    </m:nary>
                    <m:r>
                      <a:rPr lang="en-AU" sz="1800" b="0" i="1" smtClean="0">
                        <a:solidFill>
                          <a:srgbClr val="0000FF"/>
                        </a:solidFill>
                        <a:latin typeface="Cambria Math" panose="02040503050406030204" pitchFamily="18" charset="0"/>
                      </a:rPr>
                      <m:t>=</m:t>
                    </m:r>
                    <m:r>
                      <a:rPr lang="en-AU" sz="1800" b="0" i="1" smtClean="0">
                        <a:solidFill>
                          <a:srgbClr val="0000FF"/>
                        </a:solidFill>
                        <a:latin typeface="Cambria Math" panose="02040503050406030204" pitchFamily="18" charset="0"/>
                      </a:rPr>
                      <m:t>1</m:t>
                    </m:r>
                    <m:r>
                      <a:rPr lang="en-AU" sz="1800" b="0" i="1" smtClean="0">
                        <a:solidFill>
                          <a:srgbClr val="0000FF"/>
                        </a:solidFill>
                        <a:latin typeface="Cambria Math" panose="02040503050406030204" pitchFamily="18" charset="0"/>
                      </a:rPr>
                      <m:t>,</m:t>
                    </m:r>
                  </m:oMath>
                </a14:m>
                <a:r>
                  <a:rPr lang="en-US" sz="1800" i="1" dirty="0">
                    <a:solidFill>
                      <a:srgbClr val="0000FF"/>
                    </a:solidFill>
                  </a:rPr>
                  <a:t> </a:t>
                </a:r>
                <a:r>
                  <a:rPr lang="en-US" sz="1800" dirty="0">
                    <a:solidFill>
                      <a:srgbClr val="0000FF"/>
                    </a:solidFill>
                  </a:rPr>
                  <a:t>which is the sum of the saturations of all phases. </a:t>
                </a:r>
              </a:p>
            </p:txBody>
          </p:sp>
        </mc:Choice>
        <mc:Fallback>
          <p:sp>
            <p:nvSpPr>
              <p:cNvPr id="13" name="TextBox 12">
                <a:extLst>
                  <a:ext uri="{FF2B5EF4-FFF2-40B4-BE49-F238E27FC236}">
                    <a16:creationId xmlns:a16="http://schemas.microsoft.com/office/drawing/2014/main" id="{124F2F5E-A2EE-8248-A1EA-73D789AD7492}"/>
                  </a:ext>
                </a:extLst>
              </p:cNvPr>
              <p:cNvSpPr txBox="1">
                <a:spLocks noRot="1" noChangeAspect="1" noMove="1" noResize="1" noEditPoints="1" noAdjustHandles="1" noChangeArrowheads="1" noChangeShapeType="1" noTextEdit="1"/>
              </p:cNvSpPr>
              <p:nvPr/>
            </p:nvSpPr>
            <p:spPr bwMode="auto">
              <a:xfrm>
                <a:off x="539552" y="2734141"/>
                <a:ext cx="8568952" cy="369332"/>
              </a:xfrm>
              <a:prstGeom prst="rect">
                <a:avLst/>
              </a:prstGeom>
              <a:blipFill>
                <a:blip r:embed="rId3"/>
                <a:stretch>
                  <a:fillRect l="-444" t="-106667" b="-170000"/>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4" name="TextBox 13">
            <a:extLst>
              <a:ext uri="{FF2B5EF4-FFF2-40B4-BE49-F238E27FC236}">
                <a16:creationId xmlns:a16="http://schemas.microsoft.com/office/drawing/2014/main" id="{8D23DE26-C076-564B-ADCF-4AF3A789795D}"/>
              </a:ext>
            </a:extLst>
          </p:cNvPr>
          <p:cNvSpPr txBox="1">
            <a:spLocks noChangeArrowheads="1"/>
          </p:cNvSpPr>
          <p:nvPr/>
        </p:nvSpPr>
        <p:spPr bwMode="auto">
          <a:xfrm>
            <a:off x="539552" y="3298901"/>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The transport equation now becomes (omitting sources and sinks):</a:t>
            </a:r>
            <a:endParaRPr lang="en-US" sz="1800" i="1" dirty="0">
              <a:solidFill>
                <a:srgbClr val="0000FF"/>
              </a:solidFill>
            </a:endParaRP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23275B98-490F-7D4B-8F7D-C80203761B91}"/>
                  </a:ext>
                </a:extLst>
              </p:cNvPr>
              <p:cNvSpPr txBox="1"/>
              <p:nvPr/>
            </p:nvSpPr>
            <p:spPr>
              <a:xfrm>
                <a:off x="573287" y="4004587"/>
                <a:ext cx="4574777" cy="6120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oMath>
                  </m:oMathPara>
                </a14:m>
                <a:endParaRPr lang="en-US" dirty="0"/>
              </a:p>
            </p:txBody>
          </p:sp>
        </mc:Choice>
        <mc:Fallback>
          <p:sp>
            <p:nvSpPr>
              <p:cNvPr id="16" name="TextBox 15">
                <a:extLst>
                  <a:ext uri="{FF2B5EF4-FFF2-40B4-BE49-F238E27FC236}">
                    <a16:creationId xmlns:a16="http://schemas.microsoft.com/office/drawing/2014/main" id="{23275B98-490F-7D4B-8F7D-C80203761B91}"/>
                  </a:ext>
                </a:extLst>
              </p:cNvPr>
              <p:cNvSpPr txBox="1">
                <a:spLocks noRot="1" noChangeAspect="1" noMove="1" noResize="1" noEditPoints="1" noAdjustHandles="1" noChangeArrowheads="1" noChangeShapeType="1" noTextEdit="1"/>
              </p:cNvSpPr>
              <p:nvPr/>
            </p:nvSpPr>
            <p:spPr>
              <a:xfrm>
                <a:off x="573287" y="4004587"/>
                <a:ext cx="4574777" cy="612091"/>
              </a:xfrm>
              <a:prstGeom prst="rect">
                <a:avLst/>
              </a:prstGeom>
              <a:blipFill>
                <a:blip r:embed="rId4"/>
                <a:stretch>
                  <a:fillRect b="-10000"/>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63010165-2AF6-854E-8E4E-110C53FFB73E}"/>
              </a:ext>
            </a:extLst>
          </p:cNvPr>
          <p:cNvSpPr txBox="1">
            <a:spLocks noChangeArrowheads="1"/>
          </p:cNvSpPr>
          <p:nvPr/>
        </p:nvSpPr>
        <p:spPr bwMode="auto">
          <a:xfrm>
            <a:off x="5467292" y="4098015"/>
            <a:ext cx="1379519"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where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753422B-9708-6540-8507-F1661E5DC396}"/>
                  </a:ext>
                </a:extLst>
              </p:cNvPr>
              <p:cNvSpPr txBox="1"/>
              <p:nvPr/>
            </p:nvSpPr>
            <p:spPr>
              <a:xfrm>
                <a:off x="6362731" y="4143086"/>
                <a:ext cx="239097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1" i="1" smtClean="0">
                              <a:latin typeface="Cambria Math" panose="02040503050406030204" pitchFamily="18" charset="0"/>
                            </a:rPr>
                            <m:t>𝒖</m:t>
                          </m:r>
                        </m:e>
                        <m:sub>
                          <m:r>
                            <a:rPr lang="en-AU" b="0" i="1" smtClean="0">
                              <a:latin typeface="Cambria Math" panose="02040503050406030204" pitchFamily="18" charset="0"/>
                            </a:rPr>
                            <m:t>𝑖</m:t>
                          </m:r>
                        </m:sub>
                      </m:sSub>
                      <m:r>
                        <a:rPr lang="en-AU" b="0" i="1" smtClean="0">
                          <a:latin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oMath>
                  </m:oMathPara>
                </a14:m>
                <a:endParaRPr lang="en-US" dirty="0"/>
              </a:p>
            </p:txBody>
          </p:sp>
        </mc:Choice>
        <mc:Fallback xmlns="">
          <p:sp>
            <p:nvSpPr>
              <p:cNvPr id="18" name="TextBox 17">
                <a:extLst>
                  <a:ext uri="{FF2B5EF4-FFF2-40B4-BE49-F238E27FC236}">
                    <a16:creationId xmlns:a16="http://schemas.microsoft.com/office/drawing/2014/main" id="{C753422B-9708-6540-8507-F1661E5DC396}"/>
                  </a:ext>
                </a:extLst>
              </p:cNvPr>
              <p:cNvSpPr txBox="1">
                <a:spLocks noRot="1" noChangeAspect="1" noMove="1" noResize="1" noEditPoints="1" noAdjustHandles="1" noChangeArrowheads="1" noChangeShapeType="1" noTextEdit="1"/>
              </p:cNvSpPr>
              <p:nvPr/>
            </p:nvSpPr>
            <p:spPr>
              <a:xfrm>
                <a:off x="6362731" y="4143086"/>
                <a:ext cx="2390976" cy="276999"/>
              </a:xfrm>
              <a:prstGeom prst="rect">
                <a:avLst/>
              </a:prstGeom>
              <a:blipFill>
                <a:blip r:embed="rId5"/>
                <a:stretch>
                  <a:fillRect l="-1058" b="-21739"/>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38F869CC-EEFB-3445-8218-B1CD53AB0FEB}"/>
              </a:ext>
            </a:extLst>
          </p:cNvPr>
          <p:cNvSpPr txBox="1">
            <a:spLocks noChangeArrowheads="1"/>
          </p:cNvSpPr>
          <p:nvPr/>
        </p:nvSpPr>
        <p:spPr bwMode="auto">
          <a:xfrm>
            <a:off x="575048" y="4959957"/>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Summing over the phases:</a:t>
            </a:r>
            <a:endParaRPr lang="en-US" sz="1800" i="1" dirty="0">
              <a:solidFill>
                <a:srgbClr val="0000FF"/>
              </a:solidFill>
            </a:endParaRPr>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D09D6E18-F122-3344-A0C3-509C37EBB453}"/>
                  </a:ext>
                </a:extLst>
              </p:cNvPr>
              <p:cNvSpPr txBox="1"/>
              <p:nvPr/>
            </p:nvSpPr>
            <p:spPr>
              <a:xfrm>
                <a:off x="580234" y="5474218"/>
                <a:ext cx="6445547" cy="7845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nary>
                        <m:naryPr>
                          <m:chr m:val="∑"/>
                          <m:ctrlPr>
                            <a:rPr lang="en-US" i="1" smtClean="0">
                              <a:latin typeface="Cambria Math" panose="02040503050406030204" pitchFamily="18" charset="0"/>
                              <a:ea typeface="Cambria Math" panose="02040503050406030204" pitchFamily="18" charset="0"/>
                            </a:rPr>
                          </m:ctrlPr>
                        </m:naryPr>
                        <m:sub>
                          <m:r>
                            <m:rPr>
                              <m:brk m:alnAt="23"/>
                            </m:rPr>
                            <a:rPr lang="en-AU" b="0" i="1" smtClean="0">
                              <a:latin typeface="Cambria Math" panose="02040503050406030204" pitchFamily="18" charset="0"/>
                              <a:ea typeface="Cambria Math" panose="02040503050406030204" pitchFamily="18" charset="0"/>
                            </a:rPr>
                            <m:t>𝑖</m:t>
                          </m:r>
                        </m:sub>
                        <m:sup>
                          <m:r>
                            <a:rPr lang="en-AU" b="0" i="1" smtClean="0">
                              <a:latin typeface="Cambria Math" panose="02040503050406030204" pitchFamily="18" charset="0"/>
                              <a:ea typeface="Cambria Math" panose="02040503050406030204" pitchFamily="18" charset="0"/>
                            </a:rPr>
                            <m:t>𝑝h𝑎𝑠𝑒𝑠</m:t>
                          </m:r>
                        </m:sup>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e>
                      </m:nary>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=0 </m:t>
                      </m:r>
                    </m:oMath>
                  </m:oMathPara>
                </a14:m>
                <a:endParaRPr lang="en-US" dirty="0"/>
              </a:p>
            </p:txBody>
          </p:sp>
        </mc:Choice>
        <mc:Fallback>
          <p:sp>
            <p:nvSpPr>
              <p:cNvPr id="20" name="TextBox 19">
                <a:extLst>
                  <a:ext uri="{FF2B5EF4-FFF2-40B4-BE49-F238E27FC236}">
                    <a16:creationId xmlns:a16="http://schemas.microsoft.com/office/drawing/2014/main" id="{D09D6E18-F122-3344-A0C3-509C37EBB453}"/>
                  </a:ext>
                </a:extLst>
              </p:cNvPr>
              <p:cNvSpPr txBox="1">
                <a:spLocks noRot="1" noChangeAspect="1" noMove="1" noResize="1" noEditPoints="1" noAdjustHandles="1" noChangeArrowheads="1" noChangeShapeType="1" noTextEdit="1"/>
              </p:cNvSpPr>
              <p:nvPr/>
            </p:nvSpPr>
            <p:spPr>
              <a:xfrm>
                <a:off x="580234" y="5474218"/>
                <a:ext cx="6445547" cy="784574"/>
              </a:xfrm>
              <a:prstGeom prst="rect">
                <a:avLst/>
              </a:prstGeom>
              <a:blipFill>
                <a:blip r:embed="rId6"/>
                <a:stretch>
                  <a:fillRect l="-1969" t="-109524" b="-16984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FC71C279-4A1E-0145-8183-8BED64D36935}"/>
              </a:ext>
            </a:extLst>
          </p:cNvPr>
          <p:cNvSpPr txBox="1"/>
          <p:nvPr/>
        </p:nvSpPr>
        <p:spPr>
          <a:xfrm>
            <a:off x="2996054" y="4559459"/>
            <a:ext cx="150393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capillary spreading </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B0ADF20B-CD2E-C649-A88B-3B3F9AECCB12}"/>
                  </a:ext>
                </a:extLst>
              </p:cNvPr>
              <p:cNvSpPr txBox="1"/>
              <p:nvPr/>
            </p:nvSpPr>
            <p:spPr>
              <a:xfrm>
                <a:off x="4152563" y="2300181"/>
                <a:ext cx="4135171"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𝐶𝑜</m:t>
                          </m:r>
                          <m:r>
                            <a:rPr lang="en-AU" b="0" i="1"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𝐶𝑂</m:t>
                          </m:r>
                          <m:r>
                            <a:rPr lang="en-AU" b="0" i="1" smtClean="0">
                              <a:latin typeface="Cambria Math" panose="02040503050406030204" pitchFamily="18" charset="0"/>
                            </a:rPr>
                            <m:t>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r>
                        <a:rPr lang="en-AU" b="0" i="0" smtClean="0">
                          <a:latin typeface="Cambria Math" panose="02040503050406030204" pitchFamily="18" charset="0"/>
                        </a:rPr>
                        <m:t>+</m:t>
                      </m:r>
                      <m:d>
                        <m:dPr>
                          <m:ctrlPr>
                            <a:rPr lang="en-AU" b="0" i="0"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p:sp>
            <p:nvSpPr>
              <p:cNvPr id="22" name="TextBox 21">
                <a:extLst>
                  <a:ext uri="{FF2B5EF4-FFF2-40B4-BE49-F238E27FC236}">
                    <a16:creationId xmlns:a16="http://schemas.microsoft.com/office/drawing/2014/main" id="{B0ADF20B-CD2E-C649-A88B-3B3F9AECCB12}"/>
                  </a:ext>
                </a:extLst>
              </p:cNvPr>
              <p:cNvSpPr txBox="1">
                <a:spLocks noRot="1" noChangeAspect="1" noMove="1" noResize="1" noEditPoints="1" noAdjustHandles="1" noChangeArrowheads="1" noChangeShapeType="1" noTextEdit="1"/>
              </p:cNvSpPr>
              <p:nvPr/>
            </p:nvSpPr>
            <p:spPr>
              <a:xfrm>
                <a:off x="4152563" y="2300181"/>
                <a:ext cx="4135171" cy="276999"/>
              </a:xfrm>
              <a:prstGeom prst="rect">
                <a:avLst/>
              </a:prstGeom>
              <a:blipFill>
                <a:blip r:embed="rId7"/>
                <a:stretch>
                  <a:fillRect l="-306" b="-30435"/>
                </a:stretch>
              </a:blipFill>
            </p:spPr>
            <p:txBody>
              <a:bodyPr/>
              <a:lstStyle/>
              <a:p>
                <a:r>
                  <a:rPr lang="en-US">
                    <a:noFill/>
                  </a:rPr>
                  <a:t> </a:t>
                </a:r>
              </a:p>
            </p:txBody>
          </p:sp>
        </mc:Fallback>
      </mc:AlternateContent>
    </p:spTree>
    <p:extLst>
      <p:ext uri="{BB962C8B-B14F-4D97-AF65-F5344CB8AC3E}">
        <p14:creationId xmlns:p14="http://schemas.microsoft.com/office/powerpoint/2010/main" val="191618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4710A-94BC-CF46-956B-DC5B5034B8BD}"/>
              </a:ext>
            </a:extLst>
          </p:cNvPr>
          <p:cNvSpPr>
            <a:spLocks noGrp="1"/>
          </p:cNvSpPr>
          <p:nvPr>
            <p:ph type="title"/>
          </p:nvPr>
        </p:nvSpPr>
        <p:spPr/>
        <p:txBody>
          <a:bodyPr/>
          <a:lstStyle/>
          <a:p>
            <a:r>
              <a:rPr lang="en-US" dirty="0"/>
              <a:t>Introducing phase composition</a:t>
            </a:r>
          </a:p>
        </p:txBody>
      </p:sp>
      <p:sp>
        <p:nvSpPr>
          <p:cNvPr id="4" name="Date Placeholder 3">
            <a:extLst>
              <a:ext uri="{FF2B5EF4-FFF2-40B4-BE49-F238E27FC236}">
                <a16:creationId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a:extLst>
              <a:ext uri="{FF2B5EF4-FFF2-40B4-BE49-F238E27FC236}">
                <a16:creationId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6</a:t>
            </a:fld>
            <a:endParaRPr lang="en-US"/>
          </a:p>
        </p:txBody>
      </p:sp>
      <p:graphicFrame>
        <p:nvGraphicFramePr>
          <p:cNvPr id="9" name="Object 8">
            <a:extLst>
              <a:ext uri="{FF2B5EF4-FFF2-40B4-BE49-F238E27FC236}">
                <a16:creationId xmlns:a16="http://schemas.microsoft.com/office/drawing/2014/main" id="{C42F25BD-B666-F04D-BACE-0DE14FFEB257}"/>
              </a:ext>
            </a:extLst>
          </p:cNvPr>
          <p:cNvGraphicFramePr>
            <a:graphicFrameLocks noChangeAspect="1"/>
          </p:cNvGraphicFramePr>
          <p:nvPr>
            <p:extLst>
              <p:ext uri="{D42A27DB-BD31-4B8C-83A1-F6EECF244321}">
                <p14:modId xmlns:p14="http://schemas.microsoft.com/office/powerpoint/2010/main" val="614405940"/>
              </p:ext>
            </p:extLst>
          </p:nvPr>
        </p:nvGraphicFramePr>
        <p:xfrm>
          <a:off x="1547664" y="5579354"/>
          <a:ext cx="5872608" cy="784428"/>
        </p:xfrm>
        <a:graphic>
          <a:graphicData uri="http://schemas.openxmlformats.org/presentationml/2006/ole">
            <mc:AlternateContent xmlns:mc="http://schemas.openxmlformats.org/markup-compatibility/2006">
              <mc:Choice xmlns:v="urn:schemas-microsoft-com:vml" Requires="v">
                <p:oleObj spid="_x0000_s57388" r:id="rId3" imgW="1758950" imgH="234950" progId="Equation.DSMT4">
                  <p:embed/>
                </p:oleObj>
              </mc:Choice>
              <mc:Fallback>
                <p:oleObj r:id="rId3" imgW="1758950" imgH="234950" progId="Equation.DSMT4">
                  <p:embed/>
                  <p:pic>
                    <p:nvPicPr>
                      <p:cNvPr id="9" name="Object 8">
                        <a:extLst>
                          <a:ext uri="{FF2B5EF4-FFF2-40B4-BE49-F238E27FC236}">
                            <a16:creationId xmlns:a16="http://schemas.microsoft.com/office/drawing/2014/main" id="{C42F25BD-B666-F04D-BACE-0DE14FFEB2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7664" y="5579354"/>
                        <a:ext cx="5872608" cy="784428"/>
                      </a:xfrm>
                      <a:prstGeom prst="rect">
                        <a:avLst/>
                      </a:prstGeom>
                      <a:noFill/>
                    </p:spPr>
                  </p:pic>
                </p:oleObj>
              </mc:Fallback>
            </mc:AlternateContent>
          </a:graphicData>
        </a:graphic>
      </p:graphicFrame>
      <p:sp>
        <p:nvSpPr>
          <p:cNvPr id="10" name="TextBox 9">
            <a:extLst>
              <a:ext uri="{FF2B5EF4-FFF2-40B4-BE49-F238E27FC236}">
                <a16:creationId xmlns:a16="http://schemas.microsoft.com/office/drawing/2014/main" id="{35C8FCBF-2459-4A44-93B2-C7687BA82F9F}"/>
              </a:ext>
            </a:extLst>
          </p:cNvPr>
          <p:cNvSpPr txBox="1">
            <a:spLocks noChangeArrowheads="1"/>
          </p:cNvSpPr>
          <p:nvPr/>
        </p:nvSpPr>
        <p:spPr bwMode="auto">
          <a:xfrm>
            <a:off x="539552" y="836712"/>
            <a:ext cx="828092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 the mass-based framework, the mass of each phase is the product of its density with its saturation and the porosity.</a:t>
            </a:r>
          </a:p>
          <a:p>
            <a:pPr defTabSz="457200" eaLnBrk="1" hangingPunct="1"/>
            <a:r>
              <a:rPr lang="en-AU" sz="1800" i="1" dirty="0">
                <a:solidFill>
                  <a:srgbClr val="0000FF"/>
                </a:solidFill>
              </a:rPr>
              <a:t>Now, </a:t>
            </a:r>
            <a:r>
              <a:rPr lang="en-AU" sz="1800" dirty="0">
                <a:solidFill>
                  <a:srgbClr val="0000FF"/>
                </a:solidFill>
              </a:rPr>
              <a:t>tracking the composition of each phase in terms of the mass fractions of its components </a:t>
            </a:r>
            <a:r>
              <a:rPr lang="en-AU" sz="1800" i="1" dirty="0">
                <a:solidFill>
                  <a:srgbClr val="0000FF"/>
                </a:solidFill>
              </a:rPr>
              <a:t>k</a:t>
            </a:r>
            <a:r>
              <a:rPr lang="en-AU" sz="1800" dirty="0">
                <a:solidFill>
                  <a:srgbClr val="0000FF"/>
                </a:solidFill>
              </a:rPr>
              <a:t>, </a:t>
            </a:r>
            <a:r>
              <a:rPr lang="en-AU" sz="1800" i="1" dirty="0" err="1">
                <a:solidFill>
                  <a:srgbClr val="0000FF"/>
                </a:solidFill>
              </a:rPr>
              <a:t>x</a:t>
            </a:r>
            <a:r>
              <a:rPr lang="en-AU" sz="1800" i="1" baseline="-25000" dirty="0" err="1">
                <a:solidFill>
                  <a:srgbClr val="0000FF"/>
                </a:solidFill>
              </a:rPr>
              <a:t>k</a:t>
            </a:r>
            <a:endParaRPr lang="en-AU" sz="1800" i="1" baseline="-25000" dirty="0">
              <a:solidFill>
                <a:srgbClr val="0000FF"/>
              </a:solidFill>
            </a:endParaRPr>
          </a:p>
          <a:p>
            <a:pPr defTabSz="457200" eaLnBrk="1" hangingPunct="1"/>
            <a:r>
              <a:rPr lang="en-US" sz="1800" dirty="0">
                <a:solidFill>
                  <a:srgbClr val="0000FF"/>
                </a:solidFill>
              </a:rPr>
              <a:t>The total mass of each component in the system, is the sum of its saturation weighted mass fractions in each phase.</a:t>
            </a:r>
          </a:p>
        </p:txBody>
      </p:sp>
      <p:sp>
        <p:nvSpPr>
          <p:cNvPr id="19" name="TextBox 18">
            <a:extLst>
              <a:ext uri="{FF2B5EF4-FFF2-40B4-BE49-F238E27FC236}">
                <a16:creationId xmlns:a16="http://schemas.microsoft.com/office/drawing/2014/main" id="{38F869CC-EEFB-3445-8218-B1CD53AB0FEB}"/>
              </a:ext>
            </a:extLst>
          </p:cNvPr>
          <p:cNvSpPr txBox="1">
            <a:spLocks noChangeArrowheads="1"/>
          </p:cNvSpPr>
          <p:nvPr/>
        </p:nvSpPr>
        <p:spPr bwMode="auto">
          <a:xfrm>
            <a:off x="522064" y="5320810"/>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Combining all this into a multiphase – multicomponent transport scheme: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BD5580C-4C09-674F-B57C-6A12E6B8B1F5}"/>
                  </a:ext>
                </a:extLst>
              </p:cNvPr>
              <p:cNvSpPr txBox="1"/>
              <p:nvPr/>
            </p:nvSpPr>
            <p:spPr>
              <a:xfrm>
                <a:off x="3704392" y="2684114"/>
                <a:ext cx="2064732" cy="7845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𝑘</m:t>
                          </m:r>
                          <m:r>
                            <a:rPr lang="en-AU" b="0" i="1" smtClean="0">
                              <a:latin typeface="Cambria Math" panose="02040503050406030204" pitchFamily="18" charset="0"/>
                            </a:rPr>
                            <m:t>,</m:t>
                          </m:r>
                          <m:r>
                            <a:rPr lang="en-AU" b="0" i="1" smtClean="0">
                              <a:latin typeface="Cambria Math" panose="02040503050406030204" pitchFamily="18" charset="0"/>
                            </a:rPr>
                            <m:t>𝑡</m:t>
                          </m:r>
                        </m:sub>
                      </m:sSub>
                      <m:r>
                        <a:rPr lang="en-AU" b="0" i="1" smtClean="0">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sub>
                        <m:sup>
                          <m:r>
                            <a:rPr lang="en-AU" b="0" i="1" smtClean="0">
                              <a:latin typeface="Cambria Math" panose="02040503050406030204" pitchFamily="18" charset="0"/>
                            </a:rPr>
                            <m:t>𝑝h𝑎𝑠𝑒𝑠</m:t>
                          </m:r>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𝑋</m:t>
                              </m:r>
                            </m:e>
                            <m: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e>
                      </m:nary>
                    </m:oMath>
                  </m:oMathPara>
                </a14:m>
                <a:endParaRPr lang="en-US" dirty="0"/>
              </a:p>
            </p:txBody>
          </p:sp>
        </mc:Choice>
        <mc:Fallback xmlns="">
          <p:sp>
            <p:nvSpPr>
              <p:cNvPr id="3" name="TextBox 2">
                <a:extLst>
                  <a:ext uri="{FF2B5EF4-FFF2-40B4-BE49-F238E27FC236}">
                    <a16:creationId xmlns:a16="http://schemas.microsoft.com/office/drawing/2014/main" id="{4BD5580C-4C09-674F-B57C-6A12E6B8B1F5}"/>
                  </a:ext>
                </a:extLst>
              </p:cNvPr>
              <p:cNvSpPr txBox="1">
                <a:spLocks noRot="1" noChangeAspect="1" noMove="1" noResize="1" noEditPoints="1" noAdjustHandles="1" noChangeArrowheads="1" noChangeShapeType="1" noTextEdit="1"/>
              </p:cNvSpPr>
              <p:nvPr/>
            </p:nvSpPr>
            <p:spPr>
              <a:xfrm>
                <a:off x="3704392" y="2684114"/>
                <a:ext cx="2064732" cy="784574"/>
              </a:xfrm>
              <a:prstGeom prst="rect">
                <a:avLst/>
              </a:prstGeom>
              <a:blipFill>
                <a:blip r:embed="rId5"/>
                <a:stretch>
                  <a:fillRect l="-1840" t="-107937" r="-613" b="-169841"/>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2811565C-A12E-FB43-9EB0-C5FC71E4CD51}"/>
              </a:ext>
            </a:extLst>
          </p:cNvPr>
          <p:cNvSpPr txBox="1">
            <a:spLocks noChangeArrowheads="1"/>
          </p:cNvSpPr>
          <p:nvPr/>
        </p:nvSpPr>
        <p:spPr bwMode="auto">
          <a:xfrm>
            <a:off x="539552" y="3501008"/>
            <a:ext cx="856895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For the components H</a:t>
            </a:r>
            <a:r>
              <a:rPr lang="en-AU" sz="1800" baseline="-25000" dirty="0">
                <a:solidFill>
                  <a:srgbClr val="0000FF"/>
                </a:solidFill>
              </a:rPr>
              <a:t>2</a:t>
            </a:r>
            <a:r>
              <a:rPr lang="en-AU" sz="1800" dirty="0">
                <a:solidFill>
                  <a:srgbClr val="0000FF"/>
                </a:solidFill>
              </a:rPr>
              <a:t>O, CO</a:t>
            </a:r>
            <a:r>
              <a:rPr lang="en-AU" sz="1800" baseline="-25000" dirty="0">
                <a:solidFill>
                  <a:srgbClr val="0000FF"/>
                </a:solidFill>
              </a:rPr>
              <a:t>2</a:t>
            </a:r>
            <a:r>
              <a:rPr lang="en-AU" sz="1800" dirty="0">
                <a:solidFill>
                  <a:srgbClr val="0000FF"/>
                </a:solidFill>
              </a:rPr>
              <a:t> and </a:t>
            </a:r>
            <a:r>
              <a:rPr lang="en-AU" sz="1800" dirty="0" err="1">
                <a:solidFill>
                  <a:srgbClr val="0000FF"/>
                </a:solidFill>
              </a:rPr>
              <a:t>NaCl</a:t>
            </a:r>
            <a:r>
              <a:rPr lang="en-AU" sz="1800" dirty="0">
                <a:solidFill>
                  <a:srgbClr val="0000FF"/>
                </a:solidFill>
              </a:rPr>
              <a:t>, (</a:t>
            </a:r>
            <a:r>
              <a:rPr lang="en-AU" sz="1800" dirty="0" err="1">
                <a:solidFill>
                  <a:srgbClr val="0000FF"/>
                </a:solidFill>
              </a:rPr>
              <a:t>usind</a:t>
            </a:r>
            <a:r>
              <a:rPr lang="en-AU" sz="1800" dirty="0">
                <a:solidFill>
                  <a:srgbClr val="0000FF"/>
                </a:solidFill>
              </a:rPr>
              <a:t> the </a:t>
            </a:r>
            <a:r>
              <a:rPr lang="en-AU" sz="1800" dirty="0" err="1">
                <a:solidFill>
                  <a:srgbClr val="0000FF"/>
                </a:solidFill>
              </a:rPr>
              <a:t>Spycher</a:t>
            </a:r>
            <a:r>
              <a:rPr lang="en-AU" sz="1800" dirty="0">
                <a:solidFill>
                  <a:srgbClr val="0000FF"/>
                </a:solidFill>
              </a:rPr>
              <a:t> EOS), we have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2959241A-6BC4-4945-91CE-5E27944401A9}"/>
                  </a:ext>
                </a:extLst>
              </p:cNvPr>
              <p:cNvSpPr/>
              <p:nvPr/>
            </p:nvSpPr>
            <p:spPr>
              <a:xfrm>
                <a:off x="522064" y="3970907"/>
                <a:ext cx="3606436" cy="3931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𝐻</m:t>
                              </m:r>
                            </m:e>
                            <m:sub>
                              <m:r>
                                <a:rPr lang="en-AU" b="0" i="1" smtClean="0">
                                  <a:latin typeface="Cambria Math" panose="02040503050406030204" pitchFamily="18" charset="0"/>
                                </a:rPr>
                                <m:t>2</m:t>
                              </m:r>
                            </m:sub>
                          </m:sSub>
                          <m:r>
                            <a:rPr lang="en-AU" b="0" i="1" smtClean="0">
                              <a:latin typeface="Cambria Math" panose="02040503050406030204" pitchFamily="18" charset="0"/>
                            </a:rPr>
                            <m:t>𝑂</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oMath>
                  </m:oMathPara>
                </a14:m>
                <a:endParaRPr lang="en-AU" b="0" dirty="0"/>
              </a:p>
            </p:txBody>
          </p:sp>
        </mc:Choice>
        <mc:Fallback xmlns="">
          <p:sp>
            <p:nvSpPr>
              <p:cNvPr id="15" name="Rectangle 14">
                <a:extLst>
                  <a:ext uri="{FF2B5EF4-FFF2-40B4-BE49-F238E27FC236}">
                    <a16:creationId xmlns:a16="http://schemas.microsoft.com/office/drawing/2014/main" id="{2959241A-6BC4-4945-91CE-5E27944401A9}"/>
                  </a:ext>
                </a:extLst>
              </p:cNvPr>
              <p:cNvSpPr>
                <a:spLocks noRot="1" noChangeAspect="1" noMove="1" noResize="1" noEditPoints="1" noAdjustHandles="1" noChangeArrowheads="1" noChangeShapeType="1" noTextEdit="1"/>
              </p:cNvSpPr>
              <p:nvPr/>
            </p:nvSpPr>
            <p:spPr>
              <a:xfrm>
                <a:off x="522064" y="3970907"/>
                <a:ext cx="3606436" cy="393121"/>
              </a:xfrm>
              <a:prstGeom prst="rect">
                <a:avLst/>
              </a:prstGeom>
              <a:blipFill>
                <a:blip r:embed="rId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BEDCD582-94FA-E348-A3F3-9CB6F08608B7}"/>
                  </a:ext>
                </a:extLst>
              </p:cNvPr>
              <p:cNvSpPr/>
              <p:nvPr/>
            </p:nvSpPr>
            <p:spPr>
              <a:xfrm>
                <a:off x="523859" y="4347193"/>
                <a:ext cx="3597523" cy="3931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𝐶𝑂</m:t>
                              </m:r>
                            </m:e>
                            <m:sub>
                              <m:r>
                                <a:rPr lang="en-AU" b="0" i="1" smtClean="0">
                                  <a:latin typeface="Cambria Math" panose="02040503050406030204" pitchFamily="18" charset="0"/>
                                </a:rPr>
                                <m:t>2</m:t>
                              </m:r>
                            </m:sub>
                          </m:sSub>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oMath>
                  </m:oMathPara>
                </a14:m>
                <a:endParaRPr lang="en-AU" b="0" dirty="0"/>
              </a:p>
            </p:txBody>
          </p:sp>
        </mc:Choice>
        <mc:Fallback xmlns="">
          <p:sp>
            <p:nvSpPr>
              <p:cNvPr id="25" name="Rectangle 24">
                <a:extLst>
                  <a:ext uri="{FF2B5EF4-FFF2-40B4-BE49-F238E27FC236}">
                    <a16:creationId xmlns:a16="http://schemas.microsoft.com/office/drawing/2014/main" id="{BEDCD582-94FA-E348-A3F3-9CB6F08608B7}"/>
                  </a:ext>
                </a:extLst>
              </p:cNvPr>
              <p:cNvSpPr>
                <a:spLocks noRot="1" noChangeAspect="1" noMove="1" noResize="1" noEditPoints="1" noAdjustHandles="1" noChangeArrowheads="1" noChangeShapeType="1" noTextEdit="1"/>
              </p:cNvSpPr>
              <p:nvPr/>
            </p:nvSpPr>
            <p:spPr>
              <a:xfrm>
                <a:off x="523859" y="4347193"/>
                <a:ext cx="3597523" cy="393121"/>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7727155E-0AD4-2F4E-93F0-F9B97821A542}"/>
                  </a:ext>
                </a:extLst>
              </p:cNvPr>
              <p:cNvSpPr/>
              <p:nvPr/>
            </p:nvSpPr>
            <p:spPr>
              <a:xfrm>
                <a:off x="535843" y="4778087"/>
                <a:ext cx="4466030" cy="3907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r>
                            <a:rPr lang="en-AU" b="0" i="1" smtClean="0">
                              <a:latin typeface="Cambria Math" panose="02040503050406030204" pitchFamily="18" charset="0"/>
                            </a:rPr>
                            <m:t>𝑁𝑎𝐶𝑙</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𝑝𝑟𝑒𝑐𝑖𝑝𝑖𝑡𝑎𝑡𝑒𝑑</m:t>
                          </m:r>
                          <m:r>
                            <a:rPr lang="en-AU" b="0" i="1" smtClean="0">
                              <a:latin typeface="Cambria Math" panose="02040503050406030204" pitchFamily="18" charset="0"/>
                            </a:rPr>
                            <m:t> </m:t>
                          </m:r>
                        </m:sub>
                      </m:sSub>
                    </m:oMath>
                  </m:oMathPara>
                </a14:m>
                <a:endParaRPr lang="en-AU" b="0" dirty="0"/>
              </a:p>
            </p:txBody>
          </p:sp>
        </mc:Choice>
        <mc:Fallback xmlns="">
          <p:sp>
            <p:nvSpPr>
              <p:cNvPr id="26" name="Rectangle 25">
                <a:extLst>
                  <a:ext uri="{FF2B5EF4-FFF2-40B4-BE49-F238E27FC236}">
                    <a16:creationId xmlns:a16="http://schemas.microsoft.com/office/drawing/2014/main" id="{7727155E-0AD4-2F4E-93F0-F9B97821A542}"/>
                  </a:ext>
                </a:extLst>
              </p:cNvPr>
              <p:cNvSpPr>
                <a:spLocks noRot="1" noChangeAspect="1" noMove="1" noResize="1" noEditPoints="1" noAdjustHandles="1" noChangeArrowheads="1" noChangeShapeType="1" noTextEdit="1"/>
              </p:cNvSpPr>
              <p:nvPr/>
            </p:nvSpPr>
            <p:spPr>
              <a:xfrm>
                <a:off x="535843" y="4778087"/>
                <a:ext cx="4466030" cy="390748"/>
              </a:xfrm>
              <a:prstGeom prst="rect">
                <a:avLst/>
              </a:prstGeom>
              <a:blipFill>
                <a:blip r:embed="rId8"/>
                <a:stretch>
                  <a:fillRect b="-6250"/>
                </a:stretch>
              </a:blipFill>
            </p:spPr>
            <p:txBody>
              <a:bodyPr/>
              <a:lstStyle/>
              <a:p>
                <a:r>
                  <a:rPr lang="en-US">
                    <a:noFill/>
                  </a:rPr>
                  <a:t> </a:t>
                </a:r>
              </a:p>
            </p:txBody>
          </p:sp>
        </mc:Fallback>
      </mc:AlternateContent>
    </p:spTree>
    <p:extLst>
      <p:ext uri="{BB962C8B-B14F-4D97-AF65-F5344CB8AC3E}">
        <p14:creationId xmlns:p14="http://schemas.microsoft.com/office/powerpoint/2010/main" val="1414288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0CB8CA34-5CDA-8E46-BD3E-320034326310}"/>
              </a:ext>
            </a:extLst>
          </p:cNvPr>
          <p:cNvSpPr>
            <a:spLocks noGrp="1" noChangeArrowheads="1"/>
          </p:cNvSpPr>
          <p:nvPr>
            <p:ph type="title"/>
          </p:nvPr>
        </p:nvSpPr>
        <p:spPr>
          <a:xfrm>
            <a:off x="152400" y="294928"/>
            <a:ext cx="8839200" cy="685800"/>
          </a:xfrm>
        </p:spPr>
        <p:txBody>
          <a:bodyPr>
            <a:normAutofit fontScale="90000"/>
          </a:bodyPr>
          <a:lstStyle/>
          <a:p>
            <a:r>
              <a:rPr lang="en-US" altLang="en-US" sz="3000" dirty="0">
                <a:latin typeface="Helvetica" pitchFamily="2" charset="0"/>
              </a:rPr>
              <a:t>In depth review: </a:t>
            </a:r>
            <a:br>
              <a:rPr lang="en-US" altLang="en-US" sz="3000" dirty="0">
                <a:latin typeface="Helvetica" pitchFamily="2" charset="0"/>
              </a:rPr>
            </a:br>
            <a:r>
              <a:rPr lang="en-US" altLang="en-US" sz="3000" dirty="0">
                <a:latin typeface="Helvetica" pitchFamily="2" charset="0"/>
              </a:rPr>
              <a:t>        pressure equation from conservation of fluid mass </a:t>
            </a:r>
          </a:p>
        </p:txBody>
      </p:sp>
      <p:grpSp>
        <p:nvGrpSpPr>
          <p:cNvPr id="12316" name="Group 28">
            <a:extLst>
              <a:ext uri="{FF2B5EF4-FFF2-40B4-BE49-F238E27FC236}">
                <a16:creationId xmlns:a16="http://schemas.microsoft.com/office/drawing/2014/main" id="{C2F38227-98DB-0046-BBE5-3A025688F6F4}"/>
              </a:ext>
            </a:extLst>
          </p:cNvPr>
          <p:cNvGrpSpPr>
            <a:grpSpLocks/>
          </p:cNvGrpSpPr>
          <p:nvPr/>
        </p:nvGrpSpPr>
        <p:grpSpPr bwMode="auto">
          <a:xfrm>
            <a:off x="152400" y="2136775"/>
            <a:ext cx="5478463" cy="571500"/>
            <a:chOff x="96" y="1346"/>
            <a:chExt cx="3451" cy="360"/>
          </a:xfrm>
        </p:grpSpPr>
        <p:pic>
          <p:nvPicPr>
            <p:cNvPr id="12295" name="Picture 7">
              <a:extLst>
                <a:ext uri="{FF2B5EF4-FFF2-40B4-BE49-F238E27FC236}">
                  <a16:creationId xmlns:a16="http://schemas.microsoft.com/office/drawing/2014/main" id="{3D6A6A7E-6464-7446-B6C5-D16D22C4B4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1346"/>
              <a:ext cx="1302"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299" name="Rectangle 11">
              <a:extLst>
                <a:ext uri="{FF2B5EF4-FFF2-40B4-BE49-F238E27FC236}">
                  <a16:creationId xmlns:a16="http://schemas.microsoft.com/office/drawing/2014/main" id="{C6643BF7-2F36-2F42-AA89-9BDD410A5B92}"/>
                </a:ext>
              </a:extLst>
            </p:cNvPr>
            <p:cNvSpPr>
              <a:spLocks noChangeArrowheads="1"/>
            </p:cNvSpPr>
            <p:nvPr/>
          </p:nvSpPr>
          <p:spPr bwMode="auto">
            <a:xfrm>
              <a:off x="96" y="1437"/>
              <a:ext cx="673"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Darcy’s law:</a:t>
              </a:r>
              <a:endParaRPr lang="en-US" altLang="en-US" sz="1200" b="1">
                <a:latin typeface="Helvetica" pitchFamily="2" charset="0"/>
              </a:endParaRPr>
            </a:p>
          </p:txBody>
        </p:sp>
      </p:grpSp>
      <p:grpSp>
        <p:nvGrpSpPr>
          <p:cNvPr id="12300" name="Group 12">
            <a:extLst>
              <a:ext uri="{FF2B5EF4-FFF2-40B4-BE49-F238E27FC236}">
                <a16:creationId xmlns:a16="http://schemas.microsoft.com/office/drawing/2014/main" id="{2447CBEF-59F3-9442-8172-B4352B27CE5C}"/>
              </a:ext>
            </a:extLst>
          </p:cNvPr>
          <p:cNvGrpSpPr>
            <a:grpSpLocks/>
          </p:cNvGrpSpPr>
          <p:nvPr/>
        </p:nvGrpSpPr>
        <p:grpSpPr bwMode="auto">
          <a:xfrm>
            <a:off x="152400" y="1219200"/>
            <a:ext cx="5967413" cy="533400"/>
            <a:chOff x="96" y="720"/>
            <a:chExt cx="3759" cy="336"/>
          </a:xfrm>
        </p:grpSpPr>
        <p:sp>
          <p:nvSpPr>
            <p:cNvPr id="12301" name="Rectangle 13">
              <a:extLst>
                <a:ext uri="{FF2B5EF4-FFF2-40B4-BE49-F238E27FC236}">
                  <a16:creationId xmlns:a16="http://schemas.microsoft.com/office/drawing/2014/main" id="{FB587745-B322-9B45-A1FD-8DB74A14C6B6}"/>
                </a:ext>
              </a:extLst>
            </p:cNvPr>
            <p:cNvSpPr>
              <a:spLocks noChangeArrowheads="1"/>
            </p:cNvSpPr>
            <p:nvPr/>
          </p:nvSpPr>
          <p:spPr bwMode="auto">
            <a:xfrm>
              <a:off x="96" y="801"/>
              <a:ext cx="1148"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Conservation of mass:</a:t>
              </a:r>
              <a:endParaRPr lang="en-US" altLang="en-US" sz="1200" b="1">
                <a:latin typeface="Helvetica" pitchFamily="2" charset="0"/>
              </a:endParaRPr>
            </a:p>
          </p:txBody>
        </p:sp>
        <p:pic>
          <p:nvPicPr>
            <p:cNvPr id="12302" name="Picture 14">
              <a:extLst>
                <a:ext uri="{FF2B5EF4-FFF2-40B4-BE49-F238E27FC236}">
                  <a16:creationId xmlns:a16="http://schemas.microsoft.com/office/drawing/2014/main" id="{29290A5A-19B9-EE43-80F9-64A352B29C5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 y="720"/>
              <a:ext cx="1950"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3" name="Group 15">
            <a:extLst>
              <a:ext uri="{FF2B5EF4-FFF2-40B4-BE49-F238E27FC236}">
                <a16:creationId xmlns:a16="http://schemas.microsoft.com/office/drawing/2014/main" id="{CBC38D4F-9E4B-6845-A502-81BF0C06BC3A}"/>
              </a:ext>
            </a:extLst>
          </p:cNvPr>
          <p:cNvGrpSpPr>
            <a:grpSpLocks/>
          </p:cNvGrpSpPr>
          <p:nvPr/>
        </p:nvGrpSpPr>
        <p:grpSpPr bwMode="auto">
          <a:xfrm>
            <a:off x="152400" y="4105275"/>
            <a:ext cx="6076950" cy="619125"/>
            <a:chOff x="96" y="2586"/>
            <a:chExt cx="3828" cy="390"/>
          </a:xfrm>
        </p:grpSpPr>
        <p:sp>
          <p:nvSpPr>
            <p:cNvPr id="12304" name="Rectangle 16">
              <a:extLst>
                <a:ext uri="{FF2B5EF4-FFF2-40B4-BE49-F238E27FC236}">
                  <a16:creationId xmlns:a16="http://schemas.microsoft.com/office/drawing/2014/main" id="{F899B680-DA53-2645-8069-232F2429E4D5}"/>
                </a:ext>
              </a:extLst>
            </p:cNvPr>
            <p:cNvSpPr>
              <a:spLocks noChangeArrowheads="1"/>
            </p:cNvSpPr>
            <p:nvPr/>
          </p:nvSpPr>
          <p:spPr bwMode="auto">
            <a:xfrm>
              <a:off x="96" y="2694"/>
              <a:ext cx="131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Thermodynamic relations:</a:t>
              </a:r>
              <a:endParaRPr lang="en-US" altLang="en-US" sz="1200" b="1">
                <a:latin typeface="Helvetica" pitchFamily="2" charset="0"/>
              </a:endParaRPr>
            </a:p>
          </p:txBody>
        </p:sp>
        <p:pic>
          <p:nvPicPr>
            <p:cNvPr id="12305" name="Picture 17">
              <a:extLst>
                <a:ext uri="{FF2B5EF4-FFF2-40B4-BE49-F238E27FC236}">
                  <a16:creationId xmlns:a16="http://schemas.microsoft.com/office/drawing/2014/main" id="{073C0A80-7DD5-CF43-9C1C-E0F79D7CB4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6" y="2586"/>
              <a:ext cx="2088" cy="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6" name="Group 18">
            <a:extLst>
              <a:ext uri="{FF2B5EF4-FFF2-40B4-BE49-F238E27FC236}">
                <a16:creationId xmlns:a16="http://schemas.microsoft.com/office/drawing/2014/main" id="{9FD5BB17-9B0B-FE43-8C7E-74C5CF335C73}"/>
              </a:ext>
            </a:extLst>
          </p:cNvPr>
          <p:cNvGrpSpPr>
            <a:grpSpLocks/>
          </p:cNvGrpSpPr>
          <p:nvPr/>
        </p:nvGrpSpPr>
        <p:grpSpPr bwMode="auto">
          <a:xfrm>
            <a:off x="152400" y="3124200"/>
            <a:ext cx="7772400" cy="542925"/>
            <a:chOff x="96" y="1989"/>
            <a:chExt cx="4896" cy="342"/>
          </a:xfrm>
        </p:grpSpPr>
        <p:sp>
          <p:nvSpPr>
            <p:cNvPr id="12307" name="Rectangle 19">
              <a:extLst>
                <a:ext uri="{FF2B5EF4-FFF2-40B4-BE49-F238E27FC236}">
                  <a16:creationId xmlns:a16="http://schemas.microsoft.com/office/drawing/2014/main" id="{85DEDAF3-6CF1-2345-9236-86CFD73C5446}"/>
                </a:ext>
              </a:extLst>
            </p:cNvPr>
            <p:cNvSpPr>
              <a:spLocks noChangeArrowheads="1"/>
            </p:cNvSpPr>
            <p:nvPr/>
          </p:nvSpPr>
          <p:spPr bwMode="auto">
            <a:xfrm>
              <a:off x="96" y="2073"/>
              <a:ext cx="736"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density:</a:t>
              </a:r>
              <a:endParaRPr lang="en-US" altLang="en-US" sz="1200" b="1">
                <a:latin typeface="Helvetica" pitchFamily="2" charset="0"/>
              </a:endParaRPr>
            </a:p>
          </p:txBody>
        </p:sp>
        <p:grpSp>
          <p:nvGrpSpPr>
            <p:cNvPr id="12308" name="Group 20">
              <a:extLst>
                <a:ext uri="{FF2B5EF4-FFF2-40B4-BE49-F238E27FC236}">
                  <a16:creationId xmlns:a16="http://schemas.microsoft.com/office/drawing/2014/main" id="{C35E413F-E30F-BF4E-9AD8-470FDD5DEF70}"/>
                </a:ext>
              </a:extLst>
            </p:cNvPr>
            <p:cNvGrpSpPr>
              <a:grpSpLocks/>
            </p:cNvGrpSpPr>
            <p:nvPr/>
          </p:nvGrpSpPr>
          <p:grpSpPr bwMode="auto">
            <a:xfrm>
              <a:off x="1206" y="1989"/>
              <a:ext cx="3786" cy="342"/>
              <a:chOff x="1206" y="1989"/>
              <a:chExt cx="3786" cy="342"/>
            </a:xfrm>
          </p:grpSpPr>
          <p:pic>
            <p:nvPicPr>
              <p:cNvPr id="12309" name="Picture 21">
                <a:extLst>
                  <a:ext uri="{FF2B5EF4-FFF2-40B4-BE49-F238E27FC236}">
                    <a16:creationId xmlns:a16="http://schemas.microsoft.com/office/drawing/2014/main" id="{3C310418-251E-4044-97B4-E856895463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66" y="1989"/>
                <a:ext cx="1926"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10" name="Picture 22">
                <a:extLst>
                  <a:ext uri="{FF2B5EF4-FFF2-40B4-BE49-F238E27FC236}">
                    <a16:creationId xmlns:a16="http://schemas.microsoft.com/office/drawing/2014/main" id="{8B19DFDF-8498-F841-8E83-5889AA33DC7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06" y="2046"/>
                <a:ext cx="1386" cy="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grpSp>
        <p:nvGrpSpPr>
          <p:cNvPr id="12311" name="Group 23">
            <a:extLst>
              <a:ext uri="{FF2B5EF4-FFF2-40B4-BE49-F238E27FC236}">
                <a16:creationId xmlns:a16="http://schemas.microsoft.com/office/drawing/2014/main" id="{DFE49F5D-73C3-8142-B5FF-E018A0A4996A}"/>
              </a:ext>
            </a:extLst>
          </p:cNvPr>
          <p:cNvGrpSpPr>
            <a:grpSpLocks/>
          </p:cNvGrpSpPr>
          <p:nvPr/>
        </p:nvGrpSpPr>
        <p:grpSpPr bwMode="auto">
          <a:xfrm>
            <a:off x="590550" y="5105400"/>
            <a:ext cx="7962900" cy="838200"/>
            <a:chOff x="408" y="3216"/>
            <a:chExt cx="5016" cy="528"/>
          </a:xfrm>
        </p:grpSpPr>
        <p:sp>
          <p:nvSpPr>
            <p:cNvPr id="12312" name="Rectangle 24">
              <a:extLst>
                <a:ext uri="{FF2B5EF4-FFF2-40B4-BE49-F238E27FC236}">
                  <a16:creationId xmlns:a16="http://schemas.microsoft.com/office/drawing/2014/main" id="{368504E5-6328-ED46-9106-44552FDAAB02}"/>
                </a:ext>
              </a:extLst>
            </p:cNvPr>
            <p:cNvSpPr>
              <a:spLocks noChangeArrowheads="1"/>
            </p:cNvSpPr>
            <p:nvPr/>
          </p:nvSpPr>
          <p:spPr bwMode="auto">
            <a:xfrm>
              <a:off x="408" y="3216"/>
              <a:ext cx="5016"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2313" name="Picture 25">
              <a:extLst>
                <a:ext uri="{FF2B5EF4-FFF2-40B4-BE49-F238E27FC236}">
                  <a16:creationId xmlns:a16="http://schemas.microsoft.com/office/drawing/2014/main" id="{B131691B-A7BB-8E4F-8F95-0EAD5437689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l="5103" t="45558" r="1701" b="44418"/>
            <a:stretch>
              <a:fillRect/>
            </a:stretch>
          </p:blipFill>
          <p:spPr bwMode="auto">
            <a:xfrm>
              <a:off x="468" y="3284"/>
              <a:ext cx="4896" cy="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2" name="TextBox 21">
            <a:extLst>
              <a:ext uri="{FF2B5EF4-FFF2-40B4-BE49-F238E27FC236}">
                <a16:creationId xmlns:a16="http://schemas.microsoft.com/office/drawing/2014/main" id="{E3A72403-3001-B849-9178-BA1E227FCB83}"/>
              </a:ext>
            </a:extLst>
          </p:cNvPr>
          <p:cNvSpPr txBox="1"/>
          <p:nvPr/>
        </p:nvSpPr>
        <p:spPr>
          <a:xfrm>
            <a:off x="2699792" y="3869551"/>
            <a:ext cx="118974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compressibility</a:t>
            </a:r>
          </a:p>
        </p:txBody>
      </p:sp>
      <p:sp>
        <p:nvSpPr>
          <p:cNvPr id="23" name="TextBox 22">
            <a:extLst>
              <a:ext uri="{FF2B5EF4-FFF2-40B4-BE49-F238E27FC236}">
                <a16:creationId xmlns:a16="http://schemas.microsoft.com/office/drawing/2014/main" id="{9C89DDAA-8D27-E242-A247-E7AA3FC755F2}"/>
              </a:ext>
            </a:extLst>
          </p:cNvPr>
          <p:cNvSpPr txBox="1"/>
          <p:nvPr/>
        </p:nvSpPr>
        <p:spPr>
          <a:xfrm>
            <a:off x="4132798" y="3875359"/>
            <a:ext cx="942887"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expansivity</a:t>
            </a:r>
          </a:p>
        </p:txBody>
      </p:sp>
      <p:sp>
        <p:nvSpPr>
          <p:cNvPr id="24" name="TextBox 23">
            <a:extLst>
              <a:ext uri="{FF2B5EF4-FFF2-40B4-BE49-F238E27FC236}">
                <a16:creationId xmlns:a16="http://schemas.microsoft.com/office/drawing/2014/main" id="{A94647D0-B0F1-E24D-8773-D6FA20F9F8C7}"/>
              </a:ext>
            </a:extLst>
          </p:cNvPr>
          <p:cNvSpPr txBox="1"/>
          <p:nvPr/>
        </p:nvSpPr>
        <p:spPr>
          <a:xfrm>
            <a:off x="5275742" y="3876210"/>
            <a:ext cx="2467342"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reaction induced volume changes</a:t>
            </a:r>
          </a:p>
        </p:txBody>
      </p:sp>
      <p:sp>
        <p:nvSpPr>
          <p:cNvPr id="25" name="TextBox 24">
            <a:extLst>
              <a:ext uri="{FF2B5EF4-FFF2-40B4-BE49-F238E27FC236}">
                <a16:creationId xmlns:a16="http://schemas.microsoft.com/office/drawing/2014/main" id="{5D29B762-8621-A249-ABE1-59715312D968}"/>
              </a:ext>
            </a:extLst>
          </p:cNvPr>
          <p:cNvSpPr txBox="1"/>
          <p:nvPr/>
        </p:nvSpPr>
        <p:spPr>
          <a:xfrm>
            <a:off x="6569154" y="5949280"/>
            <a:ext cx="2467342" cy="461665"/>
          </a:xfrm>
          <a:prstGeom prst="rect">
            <a:avLst/>
          </a:prstGeom>
          <a:noFill/>
        </p:spPr>
        <p:txBody>
          <a:bodyPr wrap="square" rtlCol="0">
            <a:spAutoFit/>
          </a:bodyPr>
          <a:lstStyle/>
          <a:p>
            <a:pPr algn="ctr"/>
            <a:r>
              <a:rPr lang="en-US" sz="1200" dirty="0">
                <a:solidFill>
                  <a:srgbClr val="FF0000"/>
                </a:solidFill>
                <a:latin typeface="Arial" panose="020B0604020202020204" pitchFamily="34" charset="0"/>
                <a:cs typeface="Arial" panose="020B0604020202020204" pitchFamily="34" charset="0"/>
              </a:rPr>
              <a:t>additional sources and sinks in the pressure equation</a:t>
            </a:r>
          </a:p>
        </p:txBody>
      </p:sp>
    </p:spTree>
    <p:extLst>
      <p:ext uri="{BB962C8B-B14F-4D97-AF65-F5344CB8AC3E}">
        <p14:creationId xmlns:p14="http://schemas.microsoft.com/office/powerpoint/2010/main" val="39069023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31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23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230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23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F8BBCFA4-1D9B-8948-B6EC-A1D55407144F}"/>
              </a:ext>
            </a:extLst>
          </p:cNvPr>
          <p:cNvSpPr>
            <a:spLocks noGrp="1" noChangeArrowheads="1"/>
          </p:cNvSpPr>
          <p:nvPr>
            <p:ph type="title"/>
          </p:nvPr>
        </p:nvSpPr>
        <p:spPr>
          <a:xfrm>
            <a:off x="152400" y="76200"/>
            <a:ext cx="8839200" cy="685800"/>
          </a:xfrm>
        </p:spPr>
        <p:txBody>
          <a:bodyPr/>
          <a:lstStyle/>
          <a:p>
            <a:r>
              <a:rPr lang="en-US" altLang="en-US" sz="3000" dirty="0">
                <a:latin typeface="Helvetica" pitchFamily="2" charset="0"/>
              </a:rPr>
              <a:t>Governing equations: Conservation of salt / CO</a:t>
            </a:r>
            <a:r>
              <a:rPr lang="en-US" altLang="en-US" sz="3000" baseline="-25000" dirty="0">
                <a:latin typeface="Helvetica" pitchFamily="2" charset="0"/>
              </a:rPr>
              <a:t>2</a:t>
            </a:r>
          </a:p>
        </p:txBody>
      </p:sp>
      <p:grpSp>
        <p:nvGrpSpPr>
          <p:cNvPr id="14341" name="Group 5">
            <a:extLst>
              <a:ext uri="{FF2B5EF4-FFF2-40B4-BE49-F238E27FC236}">
                <a16:creationId xmlns:a16="http://schemas.microsoft.com/office/drawing/2014/main" id="{1F2F5327-8361-4E42-904E-55634D10298A}"/>
              </a:ext>
            </a:extLst>
          </p:cNvPr>
          <p:cNvGrpSpPr>
            <a:grpSpLocks/>
          </p:cNvGrpSpPr>
          <p:nvPr/>
        </p:nvGrpSpPr>
        <p:grpSpPr bwMode="auto">
          <a:xfrm>
            <a:off x="708992" y="1482055"/>
            <a:ext cx="6157913" cy="581025"/>
            <a:chOff x="96" y="642"/>
            <a:chExt cx="3879" cy="366"/>
          </a:xfrm>
        </p:grpSpPr>
        <p:sp>
          <p:nvSpPr>
            <p:cNvPr id="14342" name="Rectangle 6">
              <a:extLst>
                <a:ext uri="{FF2B5EF4-FFF2-40B4-BE49-F238E27FC236}">
                  <a16:creationId xmlns:a16="http://schemas.microsoft.com/office/drawing/2014/main" id="{EB5736F9-E777-B941-8D4B-7EFD70580B88}"/>
                </a:ext>
              </a:extLst>
            </p:cNvPr>
            <p:cNvSpPr>
              <a:spLocks noChangeArrowheads="1"/>
            </p:cNvSpPr>
            <p:nvPr/>
          </p:nvSpPr>
          <p:spPr bwMode="auto">
            <a:xfrm>
              <a:off x="96" y="739"/>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4343" name="Picture 7">
              <a:extLst>
                <a:ext uri="{FF2B5EF4-FFF2-40B4-BE49-F238E27FC236}">
                  <a16:creationId xmlns:a16="http://schemas.microsoft.com/office/drawing/2014/main" id="{4C966FE5-B711-C84C-9D8A-9EA8904D7F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 y="642"/>
              <a:ext cx="2190"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4" name="Group 8">
            <a:extLst>
              <a:ext uri="{FF2B5EF4-FFF2-40B4-BE49-F238E27FC236}">
                <a16:creationId xmlns:a16="http://schemas.microsoft.com/office/drawing/2014/main" id="{FB793E25-B425-7F4D-B991-4789BFF48CDA}"/>
              </a:ext>
            </a:extLst>
          </p:cNvPr>
          <p:cNvGrpSpPr>
            <a:grpSpLocks/>
          </p:cNvGrpSpPr>
          <p:nvPr/>
        </p:nvGrpSpPr>
        <p:grpSpPr bwMode="auto">
          <a:xfrm>
            <a:off x="708992" y="3923630"/>
            <a:ext cx="5919788" cy="323850"/>
            <a:chOff x="96" y="2056"/>
            <a:chExt cx="3729" cy="204"/>
          </a:xfrm>
        </p:grpSpPr>
        <p:sp>
          <p:nvSpPr>
            <p:cNvPr id="14345" name="Rectangle 9">
              <a:extLst>
                <a:ext uri="{FF2B5EF4-FFF2-40B4-BE49-F238E27FC236}">
                  <a16:creationId xmlns:a16="http://schemas.microsoft.com/office/drawing/2014/main" id="{46B551EF-D9DE-DB49-9756-C0F6FFC76D17}"/>
                </a:ext>
              </a:extLst>
            </p:cNvPr>
            <p:cNvSpPr>
              <a:spLocks noChangeArrowheads="1"/>
            </p:cNvSpPr>
            <p:nvPr/>
          </p:nvSpPr>
          <p:spPr bwMode="auto">
            <a:xfrm>
              <a:off x="96" y="2071"/>
              <a:ext cx="94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salt content:</a:t>
              </a:r>
              <a:endParaRPr lang="en-US" altLang="en-US" sz="1200" b="1">
                <a:latin typeface="Helvetica" pitchFamily="2" charset="0"/>
              </a:endParaRPr>
            </a:p>
          </p:txBody>
        </p:sp>
        <p:pic>
          <p:nvPicPr>
            <p:cNvPr id="14346" name="Picture 10">
              <a:extLst>
                <a:ext uri="{FF2B5EF4-FFF2-40B4-BE49-F238E27FC236}">
                  <a16:creationId xmlns:a16="http://schemas.microsoft.com/office/drawing/2014/main" id="{C89D25FB-D3CF-144E-B86F-E382143306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 y="2056"/>
              <a:ext cx="1890"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7" name="Group 11">
            <a:extLst>
              <a:ext uri="{FF2B5EF4-FFF2-40B4-BE49-F238E27FC236}">
                <a16:creationId xmlns:a16="http://schemas.microsoft.com/office/drawing/2014/main" id="{E49D17DB-4443-E34F-B873-1148EFD32AE6}"/>
              </a:ext>
            </a:extLst>
          </p:cNvPr>
          <p:cNvGrpSpPr>
            <a:grpSpLocks/>
          </p:cNvGrpSpPr>
          <p:nvPr/>
        </p:nvGrpSpPr>
        <p:grpSpPr bwMode="auto">
          <a:xfrm>
            <a:off x="708992" y="2636168"/>
            <a:ext cx="6267450" cy="571500"/>
            <a:chOff x="96" y="1344"/>
            <a:chExt cx="3948" cy="360"/>
          </a:xfrm>
        </p:grpSpPr>
        <p:sp>
          <p:nvSpPr>
            <p:cNvPr id="14348" name="Rectangle 12">
              <a:extLst>
                <a:ext uri="{FF2B5EF4-FFF2-40B4-BE49-F238E27FC236}">
                  <a16:creationId xmlns:a16="http://schemas.microsoft.com/office/drawing/2014/main" id="{9C0889A7-3035-AB47-8F30-F8D64DCB822E}"/>
                </a:ext>
              </a:extLst>
            </p:cNvPr>
            <p:cNvSpPr>
              <a:spLocks noChangeArrowheads="1"/>
            </p:cNvSpPr>
            <p:nvPr/>
          </p:nvSpPr>
          <p:spPr bwMode="auto">
            <a:xfrm>
              <a:off x="96" y="1437"/>
              <a:ext cx="1040"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Dispersion in fluids:</a:t>
              </a:r>
              <a:endParaRPr lang="en-US" altLang="en-US" sz="1200" b="1">
                <a:latin typeface="Helvetica" pitchFamily="2" charset="0"/>
              </a:endParaRPr>
            </a:p>
          </p:txBody>
        </p:sp>
        <p:pic>
          <p:nvPicPr>
            <p:cNvPr id="14349" name="Picture 13">
              <a:extLst>
                <a:ext uri="{FF2B5EF4-FFF2-40B4-BE49-F238E27FC236}">
                  <a16:creationId xmlns:a16="http://schemas.microsoft.com/office/drawing/2014/main" id="{3849B3B1-8C61-A24A-A000-0C5D0D30B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 y="1344"/>
              <a:ext cx="2328"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50" name="Group 14">
            <a:extLst>
              <a:ext uri="{FF2B5EF4-FFF2-40B4-BE49-F238E27FC236}">
                <a16:creationId xmlns:a16="http://schemas.microsoft.com/office/drawing/2014/main" id="{A3F765E8-B8C2-BF4C-9517-CE68B43345DB}"/>
              </a:ext>
            </a:extLst>
          </p:cNvPr>
          <p:cNvGrpSpPr>
            <a:grpSpLocks/>
          </p:cNvGrpSpPr>
          <p:nvPr/>
        </p:nvGrpSpPr>
        <p:grpSpPr bwMode="auto">
          <a:xfrm>
            <a:off x="2156792" y="5111080"/>
            <a:ext cx="5943600" cy="838200"/>
            <a:chOff x="960" y="2736"/>
            <a:chExt cx="3744" cy="528"/>
          </a:xfrm>
        </p:grpSpPr>
        <p:sp>
          <p:nvSpPr>
            <p:cNvPr id="14351" name="Rectangle 15">
              <a:extLst>
                <a:ext uri="{FF2B5EF4-FFF2-40B4-BE49-F238E27FC236}">
                  <a16:creationId xmlns:a16="http://schemas.microsoft.com/office/drawing/2014/main" id="{6D005787-62FE-E943-8ACF-AB5BE1EC3759}"/>
                </a:ext>
              </a:extLst>
            </p:cNvPr>
            <p:cNvSpPr>
              <a:spLocks noChangeArrowheads="1"/>
            </p:cNvSpPr>
            <p:nvPr/>
          </p:nvSpPr>
          <p:spPr bwMode="auto">
            <a:xfrm>
              <a:off x="960" y="2736"/>
              <a:ext cx="3744"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4352" name="Picture 16">
              <a:extLst>
                <a:ext uri="{FF2B5EF4-FFF2-40B4-BE49-F238E27FC236}">
                  <a16:creationId xmlns:a16="http://schemas.microsoft.com/office/drawing/2014/main" id="{B46188F6-AFC2-D84A-85B8-2DD5A340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 y="2814"/>
              <a:ext cx="3636"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 name="TextBox 1">
            <a:extLst>
              <a:ext uri="{FF2B5EF4-FFF2-40B4-BE49-F238E27FC236}">
                <a16:creationId xmlns:a16="http://schemas.microsoft.com/office/drawing/2014/main" id="{C40FD395-0E49-384B-8BD6-92AAB96DABCF}"/>
              </a:ext>
            </a:extLst>
          </p:cNvPr>
          <p:cNvSpPr txBox="1"/>
          <p:nvPr/>
        </p:nvSpPr>
        <p:spPr>
          <a:xfrm>
            <a:off x="265507" y="661009"/>
            <a:ext cx="304442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see Geiger et al. 2005, JGR</a:t>
            </a:r>
          </a:p>
        </p:txBody>
      </p:sp>
    </p:spTree>
    <p:extLst>
      <p:ext uri="{BB962C8B-B14F-4D97-AF65-F5344CB8AC3E}">
        <p14:creationId xmlns:p14="http://schemas.microsoft.com/office/powerpoint/2010/main" val="39294495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34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34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7532527F-AFDB-8347-90A9-2103AC106C8C}"/>
              </a:ext>
            </a:extLst>
          </p:cNvPr>
          <p:cNvSpPr>
            <a:spLocks noGrp="1" noChangeArrowheads="1"/>
          </p:cNvSpPr>
          <p:nvPr>
            <p:ph type="title"/>
          </p:nvPr>
        </p:nvSpPr>
        <p:spPr>
          <a:xfrm>
            <a:off x="152400" y="76200"/>
            <a:ext cx="8839200" cy="685800"/>
          </a:xfrm>
        </p:spPr>
        <p:txBody>
          <a:bodyPr/>
          <a:lstStyle/>
          <a:p>
            <a:r>
              <a:rPr lang="en-US" altLang="en-US" sz="3000">
                <a:latin typeface="Helvetica" pitchFamily="2" charset="0"/>
              </a:rPr>
              <a:t>Governing equations: Conservation of energy</a:t>
            </a:r>
          </a:p>
        </p:txBody>
      </p:sp>
      <p:grpSp>
        <p:nvGrpSpPr>
          <p:cNvPr id="13317" name="Group 5">
            <a:extLst>
              <a:ext uri="{FF2B5EF4-FFF2-40B4-BE49-F238E27FC236}">
                <a16:creationId xmlns:a16="http://schemas.microsoft.com/office/drawing/2014/main" id="{EEF406C6-EDF0-2641-A80A-1D2BFEAF3F66}"/>
              </a:ext>
            </a:extLst>
          </p:cNvPr>
          <p:cNvGrpSpPr>
            <a:grpSpLocks/>
          </p:cNvGrpSpPr>
          <p:nvPr/>
        </p:nvGrpSpPr>
        <p:grpSpPr bwMode="auto">
          <a:xfrm>
            <a:off x="152400" y="1114425"/>
            <a:ext cx="6172200" cy="561975"/>
            <a:chOff x="96" y="672"/>
            <a:chExt cx="3888" cy="354"/>
          </a:xfrm>
        </p:grpSpPr>
        <p:sp>
          <p:nvSpPr>
            <p:cNvPr id="13318" name="Rectangle 6">
              <a:extLst>
                <a:ext uri="{FF2B5EF4-FFF2-40B4-BE49-F238E27FC236}">
                  <a16:creationId xmlns:a16="http://schemas.microsoft.com/office/drawing/2014/main" id="{C6B69AFA-F421-C840-8744-BBCD00480F4C}"/>
                </a:ext>
              </a:extLst>
            </p:cNvPr>
            <p:cNvSpPr>
              <a:spLocks noChangeArrowheads="1"/>
            </p:cNvSpPr>
            <p:nvPr/>
          </p:nvSpPr>
          <p:spPr bwMode="auto">
            <a:xfrm>
              <a:off x="96" y="762"/>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3319" name="Picture 7">
              <a:extLst>
                <a:ext uri="{FF2B5EF4-FFF2-40B4-BE49-F238E27FC236}">
                  <a16:creationId xmlns:a16="http://schemas.microsoft.com/office/drawing/2014/main" id="{E9E41DA2-AAE9-574A-BA34-9C1E9E2E0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0" y="672"/>
              <a:ext cx="2184" cy="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0" name="Group 8">
            <a:extLst>
              <a:ext uri="{FF2B5EF4-FFF2-40B4-BE49-F238E27FC236}">
                <a16:creationId xmlns:a16="http://schemas.microsoft.com/office/drawing/2014/main" id="{5596B204-0A7A-BE45-85AD-BA3438BC6A95}"/>
              </a:ext>
            </a:extLst>
          </p:cNvPr>
          <p:cNvGrpSpPr>
            <a:grpSpLocks/>
          </p:cNvGrpSpPr>
          <p:nvPr/>
        </p:nvGrpSpPr>
        <p:grpSpPr bwMode="auto">
          <a:xfrm>
            <a:off x="152400" y="3209925"/>
            <a:ext cx="6705600" cy="523875"/>
            <a:chOff x="96" y="1632"/>
            <a:chExt cx="4224" cy="330"/>
          </a:xfrm>
        </p:grpSpPr>
        <p:sp>
          <p:nvSpPr>
            <p:cNvPr id="13321" name="Rectangle 9">
              <a:extLst>
                <a:ext uri="{FF2B5EF4-FFF2-40B4-BE49-F238E27FC236}">
                  <a16:creationId xmlns:a16="http://schemas.microsoft.com/office/drawing/2014/main" id="{430A7778-115C-C042-BCAA-E833568D790E}"/>
                </a:ext>
              </a:extLst>
            </p:cNvPr>
            <p:cNvSpPr>
              <a:spLocks noChangeArrowheads="1"/>
            </p:cNvSpPr>
            <p:nvPr/>
          </p:nvSpPr>
          <p:spPr bwMode="auto">
            <a:xfrm>
              <a:off x="96" y="1711"/>
              <a:ext cx="1024"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Conduction in rock:</a:t>
              </a:r>
              <a:endParaRPr lang="en-US" altLang="en-US" sz="1200" b="1">
                <a:latin typeface="Helvetica" pitchFamily="2" charset="0"/>
              </a:endParaRPr>
            </a:p>
          </p:txBody>
        </p:sp>
        <p:pic>
          <p:nvPicPr>
            <p:cNvPr id="13322" name="Picture 10">
              <a:extLst>
                <a:ext uri="{FF2B5EF4-FFF2-40B4-BE49-F238E27FC236}">
                  <a16:creationId xmlns:a16="http://schemas.microsoft.com/office/drawing/2014/main" id="{8BBB0E22-4C71-8442-848A-14EBB847D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1290"/>
            <a:stretch>
              <a:fillRect/>
            </a:stretch>
          </p:blipFill>
          <p:spPr bwMode="auto">
            <a:xfrm>
              <a:off x="2598" y="1632"/>
              <a:ext cx="172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3" name="Picture 11">
              <a:extLst>
                <a:ext uri="{FF2B5EF4-FFF2-40B4-BE49-F238E27FC236}">
                  <a16:creationId xmlns:a16="http://schemas.microsoft.com/office/drawing/2014/main" id="{BE0C687A-B16B-CB41-AB60-3FD3A3D69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66" y="1692"/>
              <a:ext cx="594" cy="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4" name="Group 12">
            <a:extLst>
              <a:ext uri="{FF2B5EF4-FFF2-40B4-BE49-F238E27FC236}">
                <a16:creationId xmlns:a16="http://schemas.microsoft.com/office/drawing/2014/main" id="{90E9B958-4216-874D-8674-DBFD9F575986}"/>
              </a:ext>
            </a:extLst>
          </p:cNvPr>
          <p:cNvGrpSpPr>
            <a:grpSpLocks/>
          </p:cNvGrpSpPr>
          <p:nvPr/>
        </p:nvGrpSpPr>
        <p:grpSpPr bwMode="auto">
          <a:xfrm>
            <a:off x="152400" y="2286000"/>
            <a:ext cx="5819775" cy="352425"/>
            <a:chOff x="96" y="1200"/>
            <a:chExt cx="3666" cy="222"/>
          </a:xfrm>
        </p:grpSpPr>
        <p:sp>
          <p:nvSpPr>
            <p:cNvPr id="13325" name="Rectangle 13">
              <a:extLst>
                <a:ext uri="{FF2B5EF4-FFF2-40B4-BE49-F238E27FC236}">
                  <a16:creationId xmlns:a16="http://schemas.microsoft.com/office/drawing/2014/main" id="{3A0596A2-6840-564E-8CA9-0A5999276A03}"/>
                </a:ext>
              </a:extLst>
            </p:cNvPr>
            <p:cNvSpPr>
              <a:spLocks noChangeArrowheads="1"/>
            </p:cNvSpPr>
            <p:nvPr/>
          </p:nvSpPr>
          <p:spPr bwMode="auto">
            <a:xfrm>
              <a:off x="96" y="1224"/>
              <a:ext cx="1132"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Energy in salt phases:</a:t>
              </a:r>
              <a:endParaRPr lang="en-US" altLang="en-US" sz="1200" b="1">
                <a:latin typeface="Helvetica" pitchFamily="2" charset="0"/>
              </a:endParaRPr>
            </a:p>
          </p:txBody>
        </p:sp>
        <p:pic>
          <p:nvPicPr>
            <p:cNvPr id="13326" name="Picture 14">
              <a:extLst>
                <a:ext uri="{FF2B5EF4-FFF2-40B4-BE49-F238E27FC236}">
                  <a16:creationId xmlns:a16="http://schemas.microsoft.com/office/drawing/2014/main" id="{AC95AFD2-EFCB-F94F-B863-C25D12F336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98" y="1200"/>
              <a:ext cx="1764" cy="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7" name="Group 15">
            <a:extLst>
              <a:ext uri="{FF2B5EF4-FFF2-40B4-BE49-F238E27FC236}">
                <a16:creationId xmlns:a16="http://schemas.microsoft.com/office/drawing/2014/main" id="{6C962DE6-5EAA-B447-9A50-AA06AB71701F}"/>
              </a:ext>
            </a:extLst>
          </p:cNvPr>
          <p:cNvGrpSpPr>
            <a:grpSpLocks/>
          </p:cNvGrpSpPr>
          <p:nvPr/>
        </p:nvGrpSpPr>
        <p:grpSpPr bwMode="auto">
          <a:xfrm>
            <a:off x="1219200" y="4343400"/>
            <a:ext cx="6781800" cy="838200"/>
            <a:chOff x="768" y="2880"/>
            <a:chExt cx="4272" cy="528"/>
          </a:xfrm>
        </p:grpSpPr>
        <p:pic>
          <p:nvPicPr>
            <p:cNvPr id="13328" name="Picture 16">
              <a:extLst>
                <a:ext uri="{FF2B5EF4-FFF2-40B4-BE49-F238E27FC236}">
                  <a16:creationId xmlns:a16="http://schemas.microsoft.com/office/drawing/2014/main" id="{F1F1CDC6-BBBE-8240-8807-7D3453A1E3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4" y="2937"/>
              <a:ext cx="4140" cy="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329" name="Rectangle 17">
              <a:extLst>
                <a:ext uri="{FF2B5EF4-FFF2-40B4-BE49-F238E27FC236}">
                  <a16:creationId xmlns:a16="http://schemas.microsoft.com/office/drawing/2014/main" id="{E508560F-0899-AB4E-A384-D14D34992363}"/>
                </a:ext>
              </a:extLst>
            </p:cNvPr>
            <p:cNvSpPr>
              <a:spLocks noChangeArrowheads="1"/>
            </p:cNvSpPr>
            <p:nvPr/>
          </p:nvSpPr>
          <p:spPr bwMode="auto">
            <a:xfrm>
              <a:off x="768" y="2880"/>
              <a:ext cx="4272"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8" name="TextBox 17">
            <a:extLst>
              <a:ext uri="{FF2B5EF4-FFF2-40B4-BE49-F238E27FC236}">
                <a16:creationId xmlns:a16="http://schemas.microsoft.com/office/drawing/2014/main" id="{B4F7771D-8908-D340-AC33-94A3659B63BC}"/>
              </a:ext>
            </a:extLst>
          </p:cNvPr>
          <p:cNvSpPr txBox="1"/>
          <p:nvPr/>
        </p:nvSpPr>
        <p:spPr>
          <a:xfrm>
            <a:off x="514167" y="1742301"/>
            <a:ext cx="7948266"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Since the amount of dissolved salt (and CO2) affects fluid density, it influences the total velocity of the fluid mixture.</a:t>
            </a:r>
          </a:p>
        </p:txBody>
      </p:sp>
    </p:spTree>
    <p:extLst>
      <p:ext uri="{BB962C8B-B14F-4D97-AF65-F5344CB8AC3E}">
        <p14:creationId xmlns:p14="http://schemas.microsoft.com/office/powerpoint/2010/main" val="41070945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3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32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b="1" dirty="0" err="1"/>
              <a:t>Discretisation</a:t>
            </a:r>
            <a:endParaRPr lang="en-US" sz="2400" b="1"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10</a:t>
            </a:fld>
            <a:endParaRPr lang="en-US"/>
          </a:p>
        </p:txBody>
      </p:sp>
    </p:spTree>
    <p:extLst>
      <p:ext uri="{BB962C8B-B14F-4D97-AF65-F5344CB8AC3E}">
        <p14:creationId xmlns:p14="http://schemas.microsoft.com/office/powerpoint/2010/main" val="2239845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 (</a:t>
            </a:r>
            <a:r>
              <a:rPr lang="en-US" dirty="0" err="1"/>
              <a:t>Barycentric</a:t>
            </a:r>
            <a:r>
              <a:rPr lang="en-US" dirty="0"/>
              <a:t>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10/2/18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11</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9121"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9122"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a:t>Variable placement </a:t>
            </a:r>
            <a:br>
              <a:rPr lang="en-US" dirty="0"/>
            </a:br>
            <a:r>
              <a:rPr lang="en-US" dirty="0"/>
              <a:t>(integration-point based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10/2/18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a:t>x</a:t>
            </a:r>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30145"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30146"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03984-3C98-0648-9DAB-2E5D993F234D}"/>
              </a:ext>
            </a:extLst>
          </p:cNvPr>
          <p:cNvSpPr>
            <a:spLocks noGrp="1"/>
          </p:cNvSpPr>
          <p:nvPr>
            <p:ph type="title"/>
          </p:nvPr>
        </p:nvSpPr>
        <p:spPr/>
        <p:txBody>
          <a:bodyPr/>
          <a:lstStyle/>
          <a:p>
            <a:r>
              <a:rPr lang="en-US" altLang="en-US" dirty="0">
                <a:latin typeface="Helvetica" pitchFamily="2" charset="0"/>
              </a:rPr>
              <a:t>Current implementation</a:t>
            </a:r>
            <a:endParaRPr lang="en-US" dirty="0"/>
          </a:p>
        </p:txBody>
      </p:sp>
      <p:sp>
        <p:nvSpPr>
          <p:cNvPr id="3" name="Content Placeholder 2">
            <a:extLst>
              <a:ext uri="{FF2B5EF4-FFF2-40B4-BE49-F238E27FC236}">
                <a16:creationId xmlns:a16="http://schemas.microsoft.com/office/drawing/2014/main" id="{2D37B3C0-1045-4249-9AAA-D5B5D968BE96}"/>
              </a:ext>
            </a:extLst>
          </p:cNvPr>
          <p:cNvSpPr>
            <a:spLocks noGrp="1"/>
          </p:cNvSpPr>
          <p:nvPr>
            <p:ph idx="1"/>
          </p:nvPr>
        </p:nvSpPr>
        <p:spPr/>
        <p:txBody>
          <a:bodyPr>
            <a:normAutofit lnSpcReduction="10000"/>
          </a:bodyPr>
          <a:lstStyle/>
          <a:p>
            <a:pPr marL="0" indent="0">
              <a:buNone/>
            </a:pPr>
            <a:r>
              <a:rPr lang="en-US" dirty="0"/>
              <a:t>0. Thermal equilibration (done only once at beginning), we leave the relatively straight-forward implementation of heat transfer until later. </a:t>
            </a:r>
          </a:p>
          <a:p>
            <a:pPr marL="0" indent="0">
              <a:buNone/>
            </a:pPr>
            <a:r>
              <a:rPr lang="en-US" dirty="0"/>
              <a:t>Initial computation of flow and transport properties</a:t>
            </a:r>
          </a:p>
          <a:p>
            <a:pPr marL="0" indent="0">
              <a:buNone/>
            </a:pPr>
            <a:r>
              <a:rPr lang="en-US" dirty="0"/>
              <a:t>Time-marching loop:</a:t>
            </a:r>
          </a:p>
          <a:p>
            <a:pPr marL="457200" indent="-457200">
              <a:buFont typeface="+mj-lt"/>
              <a:buAutoNum type="arabicPeriod"/>
            </a:pPr>
            <a:r>
              <a:rPr lang="en-US" dirty="0"/>
              <a:t>Multiphase / multicomponent transfer, including dispersion of salt and convective overturn of CO</a:t>
            </a:r>
            <a:r>
              <a:rPr lang="en-US" baseline="-25000" dirty="0"/>
              <a:t>2</a:t>
            </a:r>
            <a:r>
              <a:rPr lang="en-US" dirty="0"/>
              <a:t> </a:t>
            </a:r>
          </a:p>
          <a:p>
            <a:pPr marL="457200" indent="-457200">
              <a:buFont typeface="+mj-lt"/>
              <a:buAutoNum type="arabicPeriod"/>
            </a:pPr>
            <a:r>
              <a:rPr lang="en-US" dirty="0"/>
              <a:t>EOS computation of saturations and fluid properties (densities of phases etc.)</a:t>
            </a:r>
          </a:p>
          <a:p>
            <a:pPr marL="457200" indent="-457200">
              <a:buFont typeface="+mj-lt"/>
              <a:buAutoNum type="arabicPeriod"/>
            </a:pPr>
            <a:r>
              <a:rPr lang="en-US" dirty="0"/>
              <a:t>If salt precipitation, change porosity and apply correlation to find new permeability</a:t>
            </a:r>
          </a:p>
          <a:p>
            <a:pPr marL="457200" indent="-457200">
              <a:buFont typeface="+mj-lt"/>
              <a:buAutoNum type="arabicPeriod"/>
            </a:pPr>
            <a:r>
              <a:rPr lang="en-US" dirty="0"/>
              <a:t>Computation of potential source or sink terms</a:t>
            </a:r>
          </a:p>
          <a:p>
            <a:pPr marL="457200" indent="-457200">
              <a:buFont typeface="+mj-lt"/>
              <a:buAutoNum type="arabicPeriod"/>
            </a:pPr>
            <a:r>
              <a:rPr lang="en-US" dirty="0"/>
              <a:t>Update of transport properties</a:t>
            </a:r>
          </a:p>
          <a:p>
            <a:pPr marL="457200" indent="-457200">
              <a:buFont typeface="+mj-lt"/>
              <a:buAutoNum type="arabicPeriod"/>
            </a:pPr>
            <a:r>
              <a:rPr lang="en-US" dirty="0"/>
              <a:t>Solution of pressure diffusion equation (implicit)</a:t>
            </a:r>
          </a:p>
          <a:p>
            <a:pPr marL="457200" indent="-457200">
              <a:buFont typeface="+mj-lt"/>
              <a:buAutoNum type="arabicPeriod"/>
            </a:pPr>
            <a:r>
              <a:rPr lang="en-US" dirty="0"/>
              <a:t>Post-processing of phase velocities</a:t>
            </a:r>
          </a:p>
        </p:txBody>
      </p:sp>
      <p:sp>
        <p:nvSpPr>
          <p:cNvPr id="4" name="Date Placeholder 3">
            <a:extLst>
              <a:ext uri="{FF2B5EF4-FFF2-40B4-BE49-F238E27FC236}">
                <a16:creationId xmlns:a16="http://schemas.microsoft.com/office/drawing/2014/main" id="{E152516E-1FD0-7046-8F39-DA9057880F0D}"/>
              </a:ext>
            </a:extLst>
          </p:cNvPr>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a:extLst>
              <a:ext uri="{FF2B5EF4-FFF2-40B4-BE49-F238E27FC236}">
                <a16:creationId xmlns:a16="http://schemas.microsoft.com/office/drawing/2014/main" id="{6DAB12A7-2E97-B44D-8719-A20A297E3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BAD8BA-E211-5748-A0D4-0675A1178763}"/>
              </a:ext>
            </a:extLst>
          </p:cNvPr>
          <p:cNvSpPr>
            <a:spLocks noGrp="1"/>
          </p:cNvSpPr>
          <p:nvPr>
            <p:ph type="sldNum" sz="quarter" idx="12"/>
          </p:nvPr>
        </p:nvSpPr>
        <p:spPr/>
        <p:txBody>
          <a:bodyPr/>
          <a:lstStyle/>
          <a:p>
            <a:fld id="{223FD816-CC6A-BF43-8241-637E3E7EAA5A}" type="slidenum">
              <a:rPr lang="en-US" smtClean="0"/>
              <a:pPr/>
              <a:t>13</a:t>
            </a:fld>
            <a:endParaRPr lang="en-US"/>
          </a:p>
        </p:txBody>
      </p:sp>
    </p:spTree>
    <p:extLst>
      <p:ext uri="{BB962C8B-B14F-4D97-AF65-F5344CB8AC3E}">
        <p14:creationId xmlns:p14="http://schemas.microsoft.com/office/powerpoint/2010/main" val="41924229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F611B-21D3-0F44-9374-1276FB6664CF}"/>
              </a:ext>
            </a:extLst>
          </p:cNvPr>
          <p:cNvSpPr>
            <a:spLocks noGrp="1"/>
          </p:cNvSpPr>
          <p:nvPr>
            <p:ph type="title"/>
          </p:nvPr>
        </p:nvSpPr>
        <p:spPr/>
        <p:txBody>
          <a:bodyPr/>
          <a:lstStyle/>
          <a:p>
            <a:r>
              <a:rPr lang="en-US" dirty="0"/>
              <a:t>Computation of saturations at new time level</a:t>
            </a:r>
          </a:p>
        </p:txBody>
      </p:sp>
      <p:sp>
        <p:nvSpPr>
          <p:cNvPr id="3" name="Content Placeholder 2">
            <a:extLst>
              <a:ext uri="{FF2B5EF4-FFF2-40B4-BE49-F238E27FC236}">
                <a16:creationId xmlns:a16="http://schemas.microsoft.com/office/drawing/2014/main" id="{58812E33-2967-814D-A894-74B636467D02}"/>
              </a:ext>
            </a:extLst>
          </p:cNvPr>
          <p:cNvSpPr>
            <a:spLocks noGrp="1"/>
          </p:cNvSpPr>
          <p:nvPr>
            <p:ph idx="1"/>
          </p:nvPr>
        </p:nvSpPr>
        <p:spPr/>
        <p:txBody>
          <a:bodyPr>
            <a:normAutofit fontScale="92500" lnSpcReduction="10000"/>
          </a:bodyPr>
          <a:lstStyle/>
          <a:p>
            <a:pPr marL="0" indent="0">
              <a:buNone/>
            </a:pPr>
            <a:r>
              <a:rPr lang="en-US" dirty="0"/>
              <a:t>To convert from mass fraction to volume fraction:</a:t>
            </a:r>
          </a:p>
          <a:p>
            <a:endParaRPr lang="en-US" dirty="0"/>
          </a:p>
          <a:p>
            <a:r>
              <a:rPr lang="en-US" dirty="0"/>
              <a:t>vf1 = </a:t>
            </a:r>
            <a:r>
              <a:rPr lang="en-US" dirty="0" err="1"/>
              <a:t>s</a:t>
            </a:r>
            <a:r>
              <a:rPr lang="en-US" baseline="-25000" dirty="0" err="1"/>
              <a:t>w</a:t>
            </a:r>
            <a:r>
              <a:rPr lang="en-US" dirty="0"/>
              <a:t> =  1/(1+(rho1/rho2)*(1/wf1-1))</a:t>
            </a:r>
          </a:p>
          <a:p>
            <a:r>
              <a:rPr lang="en-US" dirty="0"/>
              <a:t>vf2 = s</a:t>
            </a:r>
            <a:r>
              <a:rPr lang="en-US" baseline="-25000" dirty="0"/>
              <a:t>CO2</a:t>
            </a:r>
            <a:r>
              <a:rPr lang="en-US" dirty="0"/>
              <a:t> = 1/(1+(rho2/rho1)*(1/wf2-1))</a:t>
            </a:r>
          </a:p>
          <a:p>
            <a:endParaRPr lang="en-US" dirty="0"/>
          </a:p>
          <a:p>
            <a:r>
              <a:rPr lang="en-US" dirty="0"/>
              <a:t>where, vf1=phase 1 (H2O) volume fraction</a:t>
            </a:r>
          </a:p>
          <a:p>
            <a:r>
              <a:rPr lang="en-US" dirty="0"/>
              <a:t>vf2 = phase 2 (CO2) volume fraction</a:t>
            </a:r>
          </a:p>
          <a:p>
            <a:r>
              <a:rPr lang="en-US" dirty="0"/>
              <a:t>wf1=phase 1 mass fraction</a:t>
            </a:r>
          </a:p>
          <a:p>
            <a:r>
              <a:rPr lang="en-US" dirty="0"/>
              <a:t>wf2=phase 2 mass fraction</a:t>
            </a:r>
          </a:p>
          <a:p>
            <a:r>
              <a:rPr lang="en-US" dirty="0"/>
              <a:t>rho1=phase 1 density</a:t>
            </a:r>
          </a:p>
          <a:p>
            <a:r>
              <a:rPr lang="en-US" dirty="0"/>
              <a:t>rho2=phase 2 density</a:t>
            </a:r>
          </a:p>
          <a:p>
            <a:endParaRPr lang="en-US" dirty="0"/>
          </a:p>
          <a:p>
            <a:r>
              <a:rPr lang="en-US" dirty="0"/>
              <a:t>PS. Double check that vf1 + vf2 = 1</a:t>
            </a:r>
          </a:p>
        </p:txBody>
      </p:sp>
      <p:sp>
        <p:nvSpPr>
          <p:cNvPr id="4" name="Date Placeholder 3">
            <a:extLst>
              <a:ext uri="{FF2B5EF4-FFF2-40B4-BE49-F238E27FC236}">
                <a16:creationId xmlns:a16="http://schemas.microsoft.com/office/drawing/2014/main" id="{4F604EC7-A68A-6C45-A0CD-49A35918F418}"/>
              </a:ext>
            </a:extLst>
          </p:cNvPr>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a:extLst>
              <a:ext uri="{FF2B5EF4-FFF2-40B4-BE49-F238E27FC236}">
                <a16:creationId xmlns:a16="http://schemas.microsoft.com/office/drawing/2014/main" id="{E43AAC9F-4165-3E49-ADFB-CD6C63BE1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851CFB-3F5B-9E40-A733-65EB663D49F3}"/>
              </a:ext>
            </a:extLst>
          </p:cNvPr>
          <p:cNvSpPr>
            <a:spLocks noGrp="1"/>
          </p:cNvSpPr>
          <p:nvPr>
            <p:ph type="sldNum" sz="quarter" idx="12"/>
          </p:nvPr>
        </p:nvSpPr>
        <p:spPr/>
        <p:txBody>
          <a:bodyPr/>
          <a:lstStyle/>
          <a:p>
            <a:fld id="{223FD816-CC6A-BF43-8241-637E3E7EAA5A}" type="slidenum">
              <a:rPr lang="en-US" smtClean="0"/>
              <a:pPr/>
              <a:t>14</a:t>
            </a:fld>
            <a:endParaRPr lang="en-US"/>
          </a:p>
        </p:txBody>
      </p:sp>
    </p:spTree>
    <p:extLst>
      <p:ext uri="{BB962C8B-B14F-4D97-AF65-F5344CB8AC3E}">
        <p14:creationId xmlns:p14="http://schemas.microsoft.com/office/powerpoint/2010/main" val="2675020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C80686B3-757C-B544-857C-430B38D56094}"/>
              </a:ext>
            </a:extLst>
          </p:cNvPr>
          <p:cNvSpPr>
            <a:spLocks noGrp="1" noChangeArrowheads="1"/>
          </p:cNvSpPr>
          <p:nvPr>
            <p:ph type="title"/>
          </p:nvPr>
        </p:nvSpPr>
        <p:spPr>
          <a:xfrm>
            <a:off x="647700" y="487363"/>
            <a:ext cx="7772400" cy="685800"/>
          </a:xfrm>
        </p:spPr>
        <p:txBody>
          <a:bodyPr>
            <a:normAutofit fontScale="90000"/>
          </a:bodyPr>
          <a:lstStyle/>
          <a:p>
            <a:r>
              <a:rPr lang="en-US" altLang="en-US" sz="3000" dirty="0">
                <a:latin typeface="Helvetica" pitchFamily="2" charset="0"/>
              </a:rPr>
              <a:t>If necessary: predictor-corrector time-stepping</a:t>
            </a:r>
          </a:p>
        </p:txBody>
      </p:sp>
      <p:sp>
        <p:nvSpPr>
          <p:cNvPr id="15365" name="Rectangle 5">
            <a:extLst>
              <a:ext uri="{FF2B5EF4-FFF2-40B4-BE49-F238E27FC236}">
                <a16:creationId xmlns:a16="http://schemas.microsoft.com/office/drawing/2014/main" id="{A789B432-9957-2C43-9F4A-79B543E2CC46}"/>
              </a:ext>
            </a:extLst>
          </p:cNvPr>
          <p:cNvSpPr>
            <a:spLocks noGrp="1" noChangeArrowheads="1"/>
          </p:cNvSpPr>
          <p:nvPr>
            <p:ph type="body" idx="1"/>
          </p:nvPr>
        </p:nvSpPr>
        <p:spPr>
          <a:xfrm>
            <a:off x="1447800" y="2193925"/>
            <a:ext cx="6172200" cy="3179763"/>
          </a:xfrm>
        </p:spPr>
        <p:txBody>
          <a:bodyPr/>
          <a:lstStyle/>
          <a:p>
            <a:pPr marL="533400" indent="-533400">
              <a:lnSpc>
                <a:spcPct val="90000"/>
              </a:lnSpc>
              <a:spcBef>
                <a:spcPct val="10000"/>
              </a:spcBef>
              <a:spcAft>
                <a:spcPct val="20000"/>
              </a:spcAft>
              <a:buFontTx/>
              <a:buAutoNum type="arabicPeriod"/>
            </a:pPr>
            <a:r>
              <a:rPr lang="en-US" altLang="en-US" sz="2000" dirty="0"/>
              <a:t>Diffusion of heat (FE, implicit)</a:t>
            </a:r>
          </a:p>
          <a:p>
            <a:pPr marL="533400" indent="-533400">
              <a:lnSpc>
                <a:spcPct val="90000"/>
              </a:lnSpc>
              <a:spcBef>
                <a:spcPct val="10000"/>
              </a:spcBef>
              <a:spcAft>
                <a:spcPct val="20000"/>
              </a:spcAft>
              <a:buFontTx/>
              <a:buAutoNum type="arabicPeriod"/>
            </a:pPr>
            <a:r>
              <a:rPr lang="en-US" altLang="en-US" sz="2000" dirty="0"/>
              <a:t>Diffusion of salt and CO2 (FE, implicit)</a:t>
            </a:r>
          </a:p>
          <a:p>
            <a:pPr marL="533400" indent="-533400">
              <a:lnSpc>
                <a:spcPct val="90000"/>
              </a:lnSpc>
              <a:spcBef>
                <a:spcPct val="10000"/>
              </a:spcBef>
              <a:spcAft>
                <a:spcPct val="20000"/>
              </a:spcAft>
              <a:buFontTx/>
              <a:buAutoNum type="arabicPeriod"/>
            </a:pPr>
            <a:r>
              <a:rPr lang="en-US" altLang="en-US" sz="2000" dirty="0"/>
              <a:t>Advection of heat (FV, explicit)</a:t>
            </a:r>
          </a:p>
          <a:p>
            <a:pPr marL="533400" indent="-533400">
              <a:lnSpc>
                <a:spcPct val="90000"/>
              </a:lnSpc>
              <a:spcBef>
                <a:spcPct val="10000"/>
              </a:spcBef>
              <a:spcAft>
                <a:spcPct val="20000"/>
              </a:spcAft>
              <a:buFontTx/>
              <a:buAutoNum type="arabicPeriod"/>
            </a:pPr>
            <a:r>
              <a:rPr lang="en-US" altLang="en-US" sz="2000" dirty="0"/>
              <a:t>Advection of salt (FV, explicit)</a:t>
            </a:r>
          </a:p>
          <a:p>
            <a:pPr marL="533400" indent="-533400">
              <a:lnSpc>
                <a:spcPct val="90000"/>
              </a:lnSpc>
              <a:spcBef>
                <a:spcPct val="10000"/>
              </a:spcBef>
              <a:spcAft>
                <a:spcPct val="20000"/>
              </a:spcAft>
              <a:buFontTx/>
              <a:buAutoNum type="arabicPeriod"/>
            </a:pPr>
            <a:r>
              <a:rPr lang="en-US" altLang="en-US" sz="2000" dirty="0"/>
              <a:t>Update fluid properties (EOS)</a:t>
            </a:r>
          </a:p>
          <a:p>
            <a:pPr marL="533400" indent="-533400">
              <a:lnSpc>
                <a:spcPct val="90000"/>
              </a:lnSpc>
              <a:spcBef>
                <a:spcPct val="10000"/>
              </a:spcBef>
              <a:spcAft>
                <a:spcPct val="20000"/>
              </a:spcAft>
              <a:buFontTx/>
              <a:buAutoNum type="arabicPeriod"/>
            </a:pPr>
            <a:r>
              <a:rPr lang="en-US" altLang="en-US" sz="2000" dirty="0"/>
              <a:t>Update transport properties (e.g., </a:t>
            </a:r>
            <a:r>
              <a:rPr lang="en-US" altLang="en-US" sz="2000" i="1" dirty="0" err="1">
                <a:latin typeface="Symbol" pitchFamily="2" charset="2"/>
              </a:rPr>
              <a:t>l</a:t>
            </a:r>
            <a:r>
              <a:rPr lang="en-US" altLang="en-US" sz="2000" i="1" baseline="-25000" dirty="0" err="1"/>
              <a:t>t</a:t>
            </a:r>
            <a:r>
              <a:rPr lang="en-US" altLang="en-US" sz="2000" dirty="0"/>
              <a:t>, </a:t>
            </a:r>
            <a:r>
              <a:rPr lang="en-US" altLang="en-US" sz="2000" b="1" i="1" dirty="0"/>
              <a:t>D</a:t>
            </a:r>
            <a:r>
              <a:rPr lang="en-US" altLang="en-US" sz="2000" dirty="0"/>
              <a:t>, </a:t>
            </a:r>
            <a:r>
              <a:rPr lang="en-US" altLang="en-US" sz="2000" i="1" dirty="0">
                <a:latin typeface="Symbol" pitchFamily="2" charset="2"/>
              </a:rPr>
              <a:t>f</a:t>
            </a:r>
            <a:r>
              <a:rPr lang="en-US" altLang="en-US" sz="2000" dirty="0"/>
              <a:t>)</a:t>
            </a:r>
          </a:p>
          <a:p>
            <a:pPr marL="533400" indent="-533400">
              <a:lnSpc>
                <a:spcPct val="90000"/>
              </a:lnSpc>
              <a:spcBef>
                <a:spcPct val="10000"/>
              </a:spcBef>
              <a:spcAft>
                <a:spcPct val="20000"/>
              </a:spcAft>
              <a:buFontTx/>
              <a:buAutoNum type="arabicPeriod"/>
            </a:pPr>
            <a:r>
              <a:rPr lang="en-US" altLang="en-US" sz="2000" dirty="0"/>
              <a:t>Diffusion of fluid pressure (FE, implicit)</a:t>
            </a:r>
          </a:p>
          <a:p>
            <a:pPr marL="533400" indent="-533400">
              <a:lnSpc>
                <a:spcPct val="90000"/>
              </a:lnSpc>
              <a:spcBef>
                <a:spcPct val="10000"/>
              </a:spcBef>
              <a:spcAft>
                <a:spcPct val="20000"/>
              </a:spcAft>
              <a:buFontTx/>
              <a:buAutoNum type="arabicPeriod"/>
            </a:pPr>
            <a:r>
              <a:rPr lang="en-US" altLang="en-US" sz="2000" dirty="0"/>
              <a:t>Calculate fluid velocities</a:t>
            </a:r>
          </a:p>
          <a:p>
            <a:pPr marL="533400" indent="-533400">
              <a:lnSpc>
                <a:spcPct val="90000"/>
              </a:lnSpc>
              <a:buFontTx/>
              <a:buAutoNum type="arabicPeriod"/>
            </a:pPr>
            <a:endParaRPr lang="en-US" altLang="en-US" sz="2000" dirty="0"/>
          </a:p>
        </p:txBody>
      </p:sp>
      <p:sp>
        <p:nvSpPr>
          <p:cNvPr id="15366" name="Rectangle 6">
            <a:extLst>
              <a:ext uri="{FF2B5EF4-FFF2-40B4-BE49-F238E27FC236}">
                <a16:creationId xmlns:a16="http://schemas.microsoft.com/office/drawing/2014/main" id="{52E034F1-A617-0A4D-ADA7-A1206B80F8B5}"/>
              </a:ext>
            </a:extLst>
          </p:cNvPr>
          <p:cNvSpPr>
            <a:spLocks noChangeArrowheads="1"/>
          </p:cNvSpPr>
          <p:nvPr/>
        </p:nvSpPr>
        <p:spPr bwMode="auto">
          <a:xfrm>
            <a:off x="1447800" y="1519238"/>
            <a:ext cx="23463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a:solidFill>
                  <a:srgbClr val="CC0000"/>
                </a:solidFill>
              </a:rPr>
              <a:t>With </a:t>
            </a:r>
            <a:r>
              <a:rPr lang="en-US" altLang="en-US" sz="2000">
                <a:solidFill>
                  <a:srgbClr val="CC0000"/>
                </a:solidFill>
                <a:latin typeface="Symbol" pitchFamily="2" charset="2"/>
              </a:rPr>
              <a:t>D</a:t>
            </a:r>
            <a:r>
              <a:rPr lang="en-US" altLang="en-US" sz="2000">
                <a:solidFill>
                  <a:srgbClr val="CC0000"/>
                </a:solidFill>
              </a:rPr>
              <a:t>t = 0.5 * CFL</a:t>
            </a:r>
          </a:p>
        </p:txBody>
      </p:sp>
      <p:sp>
        <p:nvSpPr>
          <p:cNvPr id="15367" name="Rectangle 7">
            <a:extLst>
              <a:ext uri="{FF2B5EF4-FFF2-40B4-BE49-F238E27FC236}">
                <a16:creationId xmlns:a16="http://schemas.microsoft.com/office/drawing/2014/main" id="{1FEAA57C-AA55-A344-BEE4-248F527D3B67}"/>
              </a:ext>
            </a:extLst>
          </p:cNvPr>
          <p:cNvSpPr>
            <a:spLocks noChangeArrowheads="1"/>
          </p:cNvSpPr>
          <p:nvPr/>
        </p:nvSpPr>
        <p:spPr bwMode="auto">
          <a:xfrm>
            <a:off x="1447800" y="5300663"/>
            <a:ext cx="497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20000"/>
              </a:spcAft>
            </a:pPr>
            <a:r>
              <a:rPr lang="en-US" altLang="en-US" sz="2000">
                <a:solidFill>
                  <a:srgbClr val="CC0000"/>
                </a:solidFill>
              </a:rPr>
              <a:t>Repeat with </a:t>
            </a:r>
            <a:r>
              <a:rPr lang="en-US" altLang="en-US" sz="2000">
                <a:solidFill>
                  <a:srgbClr val="CC0000"/>
                </a:solidFill>
                <a:latin typeface="Symbol" pitchFamily="2" charset="2"/>
              </a:rPr>
              <a:t>D</a:t>
            </a:r>
            <a:r>
              <a:rPr lang="en-US" altLang="en-US" sz="2000">
                <a:solidFill>
                  <a:srgbClr val="CC0000"/>
                </a:solidFill>
              </a:rPr>
              <a:t>t = CFL and </a:t>
            </a:r>
            <a:r>
              <a:rPr lang="en-US" altLang="en-US" sz="2000" b="1">
                <a:solidFill>
                  <a:srgbClr val="CC0000"/>
                </a:solidFill>
              </a:rPr>
              <a:t>v</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a:t>
            </a:r>
            <a:r>
              <a:rPr lang="en-US" altLang="en-US" sz="2000">
                <a:solidFill>
                  <a:srgbClr val="CC0000"/>
                </a:solidFill>
                <a:latin typeface="Symbol" pitchFamily="2" charset="2"/>
              </a:rPr>
              <a:t>l</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etc.</a:t>
            </a:r>
          </a:p>
          <a:p>
            <a:pPr>
              <a:spcAft>
                <a:spcPct val="20000"/>
              </a:spcAft>
            </a:pPr>
            <a:r>
              <a:rPr lang="en-US" altLang="en-US" sz="2000">
                <a:solidFill>
                  <a:srgbClr val="CC0000"/>
                </a:solidFill>
              </a:rPr>
              <a:t>Error: </a:t>
            </a:r>
            <a:r>
              <a:rPr lang="en-US" altLang="en-US" sz="2000" i="1">
                <a:solidFill>
                  <a:srgbClr val="CC0000"/>
                </a:solidFill>
              </a:rPr>
              <a:t>O</a:t>
            </a:r>
            <a:r>
              <a:rPr lang="en-US" altLang="en-US" sz="2000">
                <a:solidFill>
                  <a:srgbClr val="CC0000"/>
                </a:solidFill>
                <a:latin typeface="Symbol" pitchFamily="2" charset="2"/>
              </a:rPr>
              <a:t>D</a:t>
            </a:r>
            <a:r>
              <a:rPr lang="en-US" altLang="en-US" sz="2000">
                <a:solidFill>
                  <a:srgbClr val="CC0000"/>
                </a:solidFill>
              </a:rPr>
              <a:t>t</a:t>
            </a:r>
            <a:r>
              <a:rPr lang="en-US" altLang="en-US" sz="2000" baseline="30000">
                <a:solidFill>
                  <a:srgbClr val="CC0000"/>
                </a:solidFill>
              </a:rPr>
              <a:t>2</a:t>
            </a:r>
          </a:p>
        </p:txBody>
      </p:sp>
    </p:spTree>
    <p:extLst>
      <p:ext uri="{BB962C8B-B14F-4D97-AF65-F5344CB8AC3E}">
        <p14:creationId xmlns:p14="http://schemas.microsoft.com/office/powerpoint/2010/main" val="12900412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16</a:t>
            </a:fld>
            <a:endParaRPr lang="en-US"/>
          </a:p>
        </p:txBody>
      </p:sp>
    </p:spTree>
    <p:extLst>
      <p:ext uri="{BB962C8B-B14F-4D97-AF65-F5344CB8AC3E}">
        <p14:creationId xmlns:p14="http://schemas.microsoft.com/office/powerpoint/2010/main" val="3021226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a:t>Element / Face / Interface policy: </a:t>
            </a:r>
            <a:r>
              <a:rPr lang="en-US" b="1" dirty="0" err="1"/>
              <a:t>FiniteVolumePolicy</a:t>
            </a:r>
            <a:r>
              <a:rPr lang="en-US" dirty="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17</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 class</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3399073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 design considerations</a:t>
            </a:r>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Transport scheme has two parts:</a:t>
            </a:r>
            <a:endParaRPr lang="en-US" sz="1600" b="1" dirty="0"/>
          </a:p>
          <a:p>
            <a:pPr marL="800100" lvl="1" indent="-342900">
              <a:buFont typeface="+mj-lt"/>
              <a:buAutoNum type="arabicPeriod"/>
            </a:pPr>
            <a:r>
              <a:rPr lang="en-US" sz="1600" b="1" dirty="0"/>
              <a:t>manages the transport of a single phase</a:t>
            </a:r>
            <a:r>
              <a:rPr lang="en-US" sz="1600" dirty="0"/>
              <a:t> including its components and the physics of advection, diffusion, mechanical dispersion and reaction (sorption, decay and chemical reactions), and </a:t>
            </a:r>
            <a:endParaRPr lang="en-US" sz="1600" b="1" dirty="0"/>
          </a:p>
          <a:p>
            <a:pPr marL="800100" lvl="1" indent="-342900">
              <a:buFont typeface="+mj-lt"/>
              <a:buAutoNum type="arabicPeriod"/>
            </a:pPr>
            <a:r>
              <a:rPr lang="en-US" sz="1600" b="1" dirty="0"/>
              <a:t>manages multiple phases</a:t>
            </a:r>
          </a:p>
          <a:p>
            <a:r>
              <a:rPr lang="en-US" sz="1600" dirty="0"/>
              <a:t>All computations are done in parametric space; tensor permeability is considered</a:t>
            </a:r>
          </a:p>
          <a:p>
            <a:r>
              <a:rPr lang="en-US" sz="1600" dirty="0"/>
              <a:t>Transfer among phases is accomplished by EOS objects</a:t>
            </a:r>
          </a:p>
          <a:p>
            <a:r>
              <a:rPr lang="en-US" sz="1600" dirty="0"/>
              <a:t>Rather than having variable storage in the transport schemes classes, all variables are stored as integration point properties inside the </a:t>
            </a:r>
            <a:r>
              <a:rPr lang="en-US" sz="1600" b="1" dirty="0" err="1"/>
              <a:t>LocalVariableStorage</a:t>
            </a:r>
            <a:r>
              <a:rPr lang="en-US" sz="1600" b="1" dirty="0"/>
              <a:t> </a:t>
            </a:r>
            <a:r>
              <a:rPr lang="en-US" sz="1600" dirty="0"/>
              <a:t>class</a:t>
            </a:r>
          </a:p>
          <a:p>
            <a:r>
              <a:rPr lang="en-US" sz="1600" dirty="0"/>
              <a:t>Multi-species or component transport relies on </a:t>
            </a:r>
            <a:r>
              <a:rPr lang="en-US" sz="1600" b="1" dirty="0" err="1"/>
              <a:t>ArrayVariable</a:t>
            </a:r>
            <a:r>
              <a:rPr lang="en-US" sz="1600" dirty="0"/>
              <a:t> objects that encapsulate entire chemical systems; array elements are labeled by </a:t>
            </a:r>
            <a:r>
              <a:rPr lang="en-US" sz="1600" dirty="0" err="1"/>
              <a:t>enums</a:t>
            </a:r>
            <a:r>
              <a:rPr lang="en-US" sz="1600" dirty="0"/>
              <a:t>.</a:t>
            </a:r>
          </a:p>
          <a:p>
            <a:pPr marL="0" indent="0">
              <a:buNone/>
            </a:pPr>
            <a:r>
              <a:rPr lang="en-US" sz="1600" b="1" dirty="0"/>
              <a:t>Conditions / limitations</a:t>
            </a:r>
          </a:p>
          <a:p>
            <a:r>
              <a:rPr lang="en-US" sz="1600" dirty="0"/>
              <a:t>Needs flexibility to define a chemical system during a running simulation</a:t>
            </a:r>
          </a:p>
          <a:p>
            <a:r>
              <a:rPr lang="en-US" sz="1600" dirty="0"/>
              <a:t>Diffusion may need to consider species, advection may not have to</a:t>
            </a:r>
          </a:p>
          <a:p>
            <a:r>
              <a:rPr lang="en-US" sz="1600" dirty="0"/>
              <a:t>Saturation functions must be redesigned</a:t>
            </a:r>
          </a:p>
          <a:p>
            <a:r>
              <a:rPr lang="en-US" sz="1600" dirty="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18</a:t>
            </a:fld>
            <a:endParaRPr lang="de-CH"/>
          </a:p>
        </p:txBody>
      </p:sp>
    </p:spTree>
    <p:extLst>
      <p:ext uri="{BB962C8B-B14F-4D97-AF65-F5344CB8AC3E}">
        <p14:creationId xmlns:p14="http://schemas.microsoft.com/office/powerpoint/2010/main" val="13614632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1 </a:t>
            </a:r>
          </a:p>
          <a:p>
            <a:pPr marL="285750" indent="-285750">
              <a:spcBef>
                <a:spcPts val="300"/>
              </a:spcBef>
              <a:spcAft>
                <a:spcPts val="200"/>
              </a:spcAft>
              <a:buFontTx/>
              <a:buChar char="-"/>
            </a:pPr>
            <a:r>
              <a:rPr lang="en-US" sz="1600" dirty="0">
                <a:latin typeface="Arial"/>
                <a:cs typeface="Arial"/>
              </a:rPr>
              <a:t>Calculating and updating (if geometry and-or pore volume changes): sector (pore) volume, facet area, and normal</a:t>
            </a:r>
          </a:p>
          <a:p>
            <a:pPr marL="285750" indent="-285750">
              <a:spcBef>
                <a:spcPts val="300"/>
              </a:spcBef>
              <a:spcAft>
                <a:spcPts val="200"/>
              </a:spcAft>
              <a:buFontTx/>
              <a:buChar char="-"/>
            </a:pPr>
            <a:r>
              <a:rPr lang="en-US" sz="1600" dirty="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a:latin typeface="Arial"/>
                <a:cs typeface="Arial"/>
              </a:rPr>
              <a:t>Node-to-node connectivity graph for upstream </a:t>
            </a:r>
            <a:r>
              <a:rPr lang="en-US" sz="1600" dirty="0" err="1">
                <a:latin typeface="Arial"/>
                <a:cs typeface="Arial"/>
              </a:rPr>
              <a:t>extrema</a:t>
            </a:r>
            <a:r>
              <a:rPr lang="en-US" sz="1600" dirty="0">
                <a:latin typeface="Arial"/>
                <a:cs typeface="Arial"/>
              </a:rPr>
              <a:t> calculations</a:t>
            </a:r>
          </a:p>
          <a:p>
            <a:pPr marL="285750" indent="-285750">
              <a:spcBef>
                <a:spcPts val="300"/>
              </a:spcBef>
              <a:spcAft>
                <a:spcPts val="200"/>
              </a:spcAft>
              <a:buFontTx/>
              <a:buChar char="-"/>
            </a:pPr>
            <a:r>
              <a:rPr lang="en-US" sz="1600" dirty="0">
                <a:latin typeface="Arial"/>
                <a:cs typeface="Arial"/>
              </a:rPr>
              <a:t>Projections – finite volume auxiliary functions</a:t>
            </a:r>
          </a:p>
          <a:p>
            <a:pPr marL="285750" indent="-285750">
              <a:spcBef>
                <a:spcPts val="300"/>
              </a:spcBef>
              <a:spcAft>
                <a:spcPts val="200"/>
              </a:spcAft>
              <a:buFontTx/>
              <a:buChar char="-"/>
            </a:pPr>
            <a:r>
              <a:rPr lang="en-US" sz="1600" dirty="0">
                <a:latin typeface="Arial"/>
                <a:cs typeface="Arial"/>
              </a:rPr>
              <a:t>Compute and store facet fluxes</a:t>
            </a:r>
          </a:p>
          <a:p>
            <a:pPr marL="285750" indent="-285750">
              <a:spcBef>
                <a:spcPts val="300"/>
              </a:spcBef>
              <a:spcAft>
                <a:spcPts val="200"/>
              </a:spcAft>
              <a:buFontTx/>
              <a:buChar char="-"/>
            </a:pPr>
            <a:r>
              <a:rPr lang="en-US" sz="1600" dirty="0">
                <a:latin typeface="Arial"/>
                <a:cs typeface="Arial"/>
              </a:rPr>
              <a:t>Calculate CFL</a:t>
            </a:r>
          </a:p>
          <a:p>
            <a:pPr marL="285750" indent="-285750">
              <a:spcBef>
                <a:spcPts val="300"/>
              </a:spcBef>
              <a:spcAft>
                <a:spcPts val="200"/>
              </a:spcAft>
              <a:buFontTx/>
              <a:buChar char="-"/>
            </a:pPr>
            <a:r>
              <a:rPr lang="en-US" sz="1600" dirty="0">
                <a:latin typeface="Arial"/>
                <a:cs typeface="Arial"/>
              </a:rPr>
              <a:t>Range checking of inputs (range of applicability) and outputs</a:t>
            </a:r>
          </a:p>
          <a:p>
            <a:pPr marL="285750" indent="-285750">
              <a:spcBef>
                <a:spcPts val="300"/>
              </a:spcBef>
              <a:spcAft>
                <a:spcPts val="200"/>
              </a:spcAft>
              <a:buFontTx/>
              <a:buChar char="-"/>
            </a:pPr>
            <a:r>
              <a:rPr lang="en-US" sz="1600" dirty="0">
                <a:latin typeface="Arial"/>
                <a:cs typeface="Arial"/>
              </a:rPr>
              <a:t>Mass balance calculations / mass based transport</a:t>
            </a:r>
          </a:p>
          <a:p>
            <a:pPr marL="285750" indent="-285750">
              <a:spcBef>
                <a:spcPts val="300"/>
              </a:spcBef>
              <a:spcAft>
                <a:spcPts val="200"/>
              </a:spcAft>
              <a:buFontTx/>
              <a:buChar char="-"/>
            </a:pPr>
            <a:r>
              <a:rPr lang="en-US" sz="1600" dirty="0">
                <a:latin typeface="Arial"/>
                <a:cs typeface="Arial"/>
              </a:rPr>
              <a:t>Accumulation of fluxes</a:t>
            </a:r>
          </a:p>
          <a:p>
            <a:pPr marL="285750" indent="-285750">
              <a:spcBef>
                <a:spcPts val="300"/>
              </a:spcBef>
              <a:spcAft>
                <a:spcPts val="200"/>
              </a:spcAft>
              <a:buFontTx/>
              <a:buChar char="-"/>
            </a:pPr>
            <a:r>
              <a:rPr lang="en-US" sz="1600" dirty="0">
                <a:latin typeface="Arial"/>
                <a:cs typeface="Arial"/>
              </a:rPr>
              <a:t>Time-discretization (implicit, explicit, first/second order)</a:t>
            </a:r>
          </a:p>
          <a:p>
            <a:pPr marL="285750" indent="-285750">
              <a:spcBef>
                <a:spcPts val="300"/>
              </a:spcBef>
              <a:spcAft>
                <a:spcPts val="200"/>
              </a:spcAft>
              <a:buFontTx/>
              <a:buChar char="-"/>
            </a:pPr>
            <a:r>
              <a:rPr lang="en-US" sz="1600" dirty="0">
                <a:latin typeface="Arial"/>
                <a:cs typeface="Arial"/>
              </a:rPr>
              <a:t>Iterations in nonlinear schemes (e.g. Newton)</a:t>
            </a:r>
          </a:p>
          <a:p>
            <a:pPr marL="285750" indent="-285750">
              <a:spcBef>
                <a:spcPts val="300"/>
              </a:spcBef>
              <a:spcAft>
                <a:spcPts val="200"/>
              </a:spcAft>
              <a:buFontTx/>
              <a:buChar char="-"/>
            </a:pPr>
            <a:r>
              <a:rPr lang="en-US" sz="1600" dirty="0">
                <a:latin typeface="Arial"/>
                <a:cs typeface="Arial"/>
              </a:rPr>
              <a:t>Higher-order in space</a:t>
            </a:r>
          </a:p>
          <a:p>
            <a:pPr marL="285750" indent="-285750">
              <a:spcBef>
                <a:spcPts val="300"/>
              </a:spcBef>
              <a:spcAft>
                <a:spcPts val="200"/>
              </a:spcAft>
              <a:buFontTx/>
              <a:buChar char="-"/>
            </a:pPr>
            <a:r>
              <a:rPr lang="en-US" sz="1600" dirty="0">
                <a:latin typeface="Arial"/>
                <a:cs typeface="Arial"/>
              </a:rPr>
              <a:t>Limiting</a:t>
            </a:r>
          </a:p>
          <a:p>
            <a:pPr marL="285750" indent="-285750">
              <a:spcBef>
                <a:spcPts val="300"/>
              </a:spcBef>
              <a:spcAft>
                <a:spcPts val="200"/>
              </a:spcAft>
              <a:buFontTx/>
              <a:buChar char="-"/>
            </a:pPr>
            <a:r>
              <a:rPr lang="en-US" sz="1600" dirty="0">
                <a:latin typeface="Arial"/>
                <a:cs typeface="Arial"/>
              </a:rPr>
              <a:t>Additional physics/chemistry</a:t>
            </a:r>
          </a:p>
          <a:p>
            <a:pPr marL="285750" indent="-285750">
              <a:spcBef>
                <a:spcPts val="300"/>
              </a:spcBef>
              <a:spcAft>
                <a:spcPts val="200"/>
              </a:spcAft>
              <a:buFontTx/>
              <a:buChar char="-"/>
            </a:pPr>
            <a:r>
              <a:rPr lang="en-US" sz="1600" dirty="0">
                <a:latin typeface="Arial"/>
                <a:cs typeface="Arial"/>
              </a:rPr>
              <a:t>Boundary conditions and flux balances</a:t>
            </a: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19</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2</a:t>
            </a:r>
          </a:p>
          <a:p>
            <a:pPr marL="285750" indent="-285750">
              <a:spcBef>
                <a:spcPts val="300"/>
              </a:spcBef>
              <a:spcAft>
                <a:spcPts val="200"/>
              </a:spcAft>
              <a:buFontTx/>
              <a:buChar char="-"/>
            </a:pPr>
            <a:r>
              <a:rPr lang="en-US" sz="1600" dirty="0">
                <a:latin typeface="Arial"/>
                <a:cs typeface="Arial"/>
              </a:rPr>
              <a:t>Calculate min/max for upstream nodes</a:t>
            </a:r>
          </a:p>
          <a:p>
            <a:pPr marL="285750" indent="-285750">
              <a:spcBef>
                <a:spcPts val="300"/>
              </a:spcBef>
              <a:spcAft>
                <a:spcPts val="200"/>
              </a:spcAft>
              <a:buFontTx/>
              <a:buChar char="-"/>
            </a:pPr>
            <a:r>
              <a:rPr lang="en-US" sz="1600" dirty="0">
                <a:latin typeface="Arial"/>
                <a:cs typeface="Arial"/>
              </a:rPr>
              <a:t>Scaling of </a:t>
            </a:r>
            <a:r>
              <a:rPr lang="en-US" sz="1600" i="1" dirty="0">
                <a:latin typeface="Arial"/>
                <a:cs typeface="Arial"/>
              </a:rPr>
              <a:t>n</a:t>
            </a:r>
            <a:r>
              <a:rPr lang="en-US" sz="1600" dirty="0">
                <a:latin typeface="Arial"/>
                <a:cs typeface="Arial"/>
              </a:rPr>
              <a:t> and </a:t>
            </a:r>
            <a:r>
              <a:rPr lang="en-US" sz="1600" i="1" dirty="0">
                <a:latin typeface="Arial"/>
                <a:cs typeface="Arial"/>
              </a:rPr>
              <a:t>m</a:t>
            </a:r>
            <a:r>
              <a:rPr lang="en-US" sz="1600" dirty="0">
                <a:latin typeface="Arial"/>
                <a:cs typeface="Arial"/>
              </a:rPr>
              <a:t> in matrix equation dependent on number of components used</a:t>
            </a:r>
          </a:p>
          <a:p>
            <a:pPr marL="285750" indent="-285750">
              <a:spcBef>
                <a:spcPts val="300"/>
              </a:spcBef>
              <a:spcAft>
                <a:spcPts val="200"/>
              </a:spcAft>
              <a:buFontTx/>
              <a:buChar char="-"/>
            </a:pPr>
            <a:r>
              <a:rPr lang="en-US" sz="1600" dirty="0">
                <a:latin typeface="Arial"/>
                <a:cs typeface="Arial"/>
              </a:rPr>
              <a:t>Parametric space computations,</a:t>
            </a:r>
          </a:p>
          <a:p>
            <a:pPr marL="285750" indent="-285750">
              <a:spcBef>
                <a:spcPts val="300"/>
              </a:spcBef>
              <a:spcAft>
                <a:spcPts val="200"/>
              </a:spcAft>
              <a:buFontTx/>
              <a:buChar char="-"/>
            </a:pPr>
            <a:r>
              <a:rPr lang="en-US" sz="1600" dirty="0">
                <a:latin typeface="Arial"/>
                <a:cs typeface="Arial"/>
              </a:rPr>
              <a:t>Tests of flux balances for poly-element type meshes</a:t>
            </a:r>
          </a:p>
          <a:p>
            <a:pPr marL="285750" indent="-285750">
              <a:spcBef>
                <a:spcPts val="300"/>
              </a:spcBef>
              <a:spcAft>
                <a:spcPts val="200"/>
              </a:spcAft>
              <a:buFontTx/>
              <a:buChar char="-"/>
            </a:pPr>
            <a:r>
              <a:rPr lang="en-US" sz="1600" dirty="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a:latin typeface="Arial"/>
                <a:cs typeface="Arial"/>
              </a:rPr>
              <a:t>Bijective</a:t>
            </a:r>
            <a:r>
              <a:rPr lang="en-US" sz="1600" dirty="0">
                <a:latin typeface="Arial"/>
                <a:cs typeface="Arial"/>
              </a:rPr>
              <a:t> mapping from FV to FEM scheme</a:t>
            </a:r>
          </a:p>
          <a:p>
            <a:pPr marL="285750" indent="-285750">
              <a:spcBef>
                <a:spcPts val="300"/>
              </a:spcBef>
              <a:spcAft>
                <a:spcPts val="200"/>
              </a:spcAft>
              <a:buFontTx/>
              <a:buChar char="-"/>
            </a:pPr>
            <a:endParaRPr lang="en-US" sz="1600" dirty="0">
              <a:latin typeface="Arial"/>
              <a:cs typeface="Arial"/>
            </a:endParaRPr>
          </a:p>
        </p:txBody>
      </p:sp>
    </p:spTree>
    <p:extLst>
      <p:ext uri="{BB962C8B-B14F-4D97-AF65-F5344CB8AC3E}">
        <p14:creationId xmlns:p14="http://schemas.microsoft.com/office/powerpoint/2010/main" val="21228409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Initialisation</a:t>
            </a:r>
            <a:r>
              <a:rPr lang="en-US" dirty="0"/>
              <a:t> and storage of variables</a:t>
            </a:r>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a:t>Utilizing storage at SECTOR and FACET_INTEGRATION_POINT reached from the parent elements</a:t>
            </a:r>
          </a:p>
        </p:txBody>
      </p:sp>
      <p:sp>
        <p:nvSpPr>
          <p:cNvPr id="3" name="Date Placeholder 2"/>
          <p:cNvSpPr>
            <a:spLocks noGrp="1"/>
          </p:cNvSpPr>
          <p:nvPr>
            <p:ph type="dt" sz="half" idx="10"/>
          </p:nvPr>
        </p:nvSpPr>
        <p:spPr/>
        <p:txBody>
          <a:bodyPr/>
          <a:lstStyle/>
          <a:p>
            <a:fld id="{C1762EE7-3E26-8344-9AFB-A62088F617B5}" type="datetime1">
              <a:rPr lang="en-US" smtClean="0"/>
              <a:pPr/>
              <a:t>10/2/18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20</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a:t>What happens in old (2</a:t>
            </a:r>
            <a:r>
              <a:rPr lang="en-US" sz="2400" baseline="30000" dirty="0"/>
              <a:t>nd</a:t>
            </a:r>
            <a:r>
              <a:rPr lang="en-US" sz="2400" dirty="0"/>
              <a:t>-order) explicit 2-phase flow calculation?</a:t>
            </a:r>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a:t>For the transport region, calculate CFL ( / time-stepping criterion) </a:t>
            </a:r>
          </a:p>
          <a:p>
            <a:pPr lvl="1">
              <a:spcBef>
                <a:spcPts val="100"/>
              </a:spcBef>
              <a:spcAft>
                <a:spcPts val="300"/>
              </a:spcAft>
            </a:pPr>
            <a:r>
              <a:rPr lang="en-US" sz="1400" dirty="0"/>
              <a:t>Element-by-element: from phase velocity based on combined viscous-gravitational-capillary phase velocity, but not sources</a:t>
            </a:r>
          </a:p>
          <a:p>
            <a:pPr lvl="1">
              <a:spcBef>
                <a:spcPts val="100"/>
              </a:spcBef>
              <a:spcAft>
                <a:spcPts val="300"/>
              </a:spcAft>
            </a:pPr>
            <a:r>
              <a:rPr lang="en-US" sz="1400" dirty="0">
                <a:solidFill>
                  <a:srgbClr val="FF0000"/>
                </a:solidFill>
              </a:rPr>
              <a:t>Decision needed: compute only once using shock speed, vs. </a:t>
            </a:r>
            <a:r>
              <a:rPr lang="en-US" sz="1400" dirty="0" err="1">
                <a:solidFill>
                  <a:srgbClr val="FF0000"/>
                </a:solidFill>
              </a:rPr>
              <a:t>recompute</a:t>
            </a:r>
            <a:r>
              <a:rPr lang="en-US" sz="1400" dirty="0">
                <a:solidFill>
                  <a:srgbClr val="FF0000"/>
                </a:solidFill>
              </a:rPr>
              <a:t> for each transport increment</a:t>
            </a:r>
          </a:p>
          <a:p>
            <a:pPr marL="0" indent="0">
              <a:buNone/>
            </a:pPr>
            <a:r>
              <a:rPr lang="en-US" sz="1600" b="1" dirty="0"/>
              <a:t>2. Compute FV centered saturations gradients </a:t>
            </a:r>
            <a:r>
              <a:rPr lang="en-US" sz="1600" b="1" dirty="0">
                <a:solidFill>
                  <a:schemeClr val="bg1">
                    <a:lumMod val="75000"/>
                  </a:schemeClr>
                </a:solidFill>
              </a:rPr>
              <a:t>using Karen’s method</a:t>
            </a:r>
          </a:p>
          <a:p>
            <a:pPr marL="0" indent="0">
              <a:buNone/>
            </a:pPr>
            <a:r>
              <a:rPr lang="en-US" sz="1600" b="1" dirty="0"/>
              <a:t>3. For (second order in space), find </a:t>
            </a:r>
            <a:r>
              <a:rPr lang="en-US" sz="1600" b="1" dirty="0" err="1"/>
              <a:t>s</a:t>
            </a:r>
            <a:r>
              <a:rPr lang="en-US" sz="1600" b="1" baseline="-25000" dirty="0" err="1"/>
              <a:t>min</a:t>
            </a:r>
            <a:r>
              <a:rPr lang="en-US" sz="1600" b="1" dirty="0"/>
              <a:t> / </a:t>
            </a:r>
            <a:r>
              <a:rPr lang="en-US" sz="1600" b="1" dirty="0" err="1"/>
              <a:t>s</a:t>
            </a:r>
            <a:r>
              <a:rPr lang="en-US" sz="1600" b="1" baseline="-25000" dirty="0" err="1"/>
              <a:t>max</a:t>
            </a:r>
            <a:r>
              <a:rPr lang="en-US" sz="1600" b="1" dirty="0"/>
              <a:t> upstream of each FV facet</a:t>
            </a:r>
          </a:p>
          <a:p>
            <a:pPr marL="0" indent="0">
              <a:buNone/>
            </a:pPr>
            <a:r>
              <a:rPr lang="en-US" sz="1600" dirty="0"/>
              <a:t>	</a:t>
            </a:r>
            <a:r>
              <a:rPr lang="en-US" sz="1400" dirty="0" err="1"/>
              <a:t>MinMaxAdvectedProperty</a:t>
            </a:r>
            <a:r>
              <a:rPr lang="en-US" sz="1400" dirty="0"/>
              <a:t>();   using node-to-node connectivity</a:t>
            </a:r>
          </a:p>
          <a:p>
            <a:pPr marL="0" indent="0">
              <a:spcBef>
                <a:spcPts val="100"/>
              </a:spcBef>
              <a:spcAft>
                <a:spcPts val="300"/>
              </a:spcAft>
              <a:buNone/>
            </a:pPr>
            <a:r>
              <a:rPr lang="en-US" sz="1600" b="1" dirty="0"/>
              <a:t>3. Loop over all elements of the transport region to accumulate fluxes / sources</a:t>
            </a:r>
          </a:p>
          <a:p>
            <a:pPr lvl="1">
              <a:spcBef>
                <a:spcPts val="100"/>
              </a:spcBef>
              <a:spcAft>
                <a:spcPts val="300"/>
              </a:spcAft>
            </a:pPr>
            <a:r>
              <a:rPr lang="en-US" sz="1400" dirty="0"/>
              <a:t>stencil_.AccumulateExplicitAdvectionSolution2( this-&gt;SMINMAX, </a:t>
            </a:r>
            <a:r>
              <a:rPr lang="de-DE" sz="1400" dirty="0"/>
              <a:t>(*</a:t>
            </a:r>
            <a:r>
              <a:rPr lang="de-DE" sz="1400" dirty="0" err="1"/>
              <a:t>fvt</a:t>
            </a:r>
            <a:r>
              <a:rPr lang="de-DE" sz="1400" dirty="0"/>
              <a:t>), *(*</a:t>
            </a:r>
            <a:r>
              <a:rPr lang="de-DE" sz="1400" dirty="0" err="1"/>
              <a:t>eit</a:t>
            </a:r>
            <a:r>
              <a:rPr lang="de-DE" sz="1400" dirty="0"/>
              <a:t>), RESULT ); </a:t>
            </a:r>
          </a:p>
          <a:p>
            <a:pPr lvl="1">
              <a:spcBef>
                <a:spcPts val="100"/>
              </a:spcBef>
              <a:spcAft>
                <a:spcPts val="300"/>
              </a:spcAft>
            </a:pPr>
            <a:r>
              <a:rPr lang="de-DE" sz="1400" dirty="0" err="1"/>
              <a:t>compute</a:t>
            </a:r>
            <a:r>
              <a:rPr lang="de-DE" sz="1400" dirty="0"/>
              <a:t> </a:t>
            </a:r>
            <a:r>
              <a:rPr lang="de-DE" sz="1400" dirty="0" err="1"/>
              <a:t>limiter</a:t>
            </a:r>
            <a:r>
              <a:rPr lang="de-DE" sz="1400" dirty="0"/>
              <a:t> </a:t>
            </a:r>
            <a:r>
              <a:rPr lang="de-DE" sz="1400" dirty="0" err="1"/>
              <a:t>values</a:t>
            </a:r>
            <a:r>
              <a:rPr lang="de-DE" sz="1600" dirty="0"/>
              <a:t>	     </a:t>
            </a:r>
          </a:p>
          <a:p>
            <a:pPr marL="0" indent="0">
              <a:buNone/>
            </a:pPr>
            <a:r>
              <a:rPr lang="de-DE" sz="1600" b="1" dirty="0"/>
              <a:t>4. Accumulate </a:t>
            </a:r>
            <a:r>
              <a:rPr lang="de-DE" sz="1600" b="1" dirty="0" err="1"/>
              <a:t>boundary</a:t>
            </a:r>
            <a:r>
              <a:rPr lang="de-DE" sz="1600" b="1" dirty="0"/>
              <a:t> </a:t>
            </a:r>
            <a:r>
              <a:rPr lang="de-DE" sz="1600" b="1" dirty="0" err="1"/>
              <a:t>terms</a:t>
            </a:r>
            <a:r>
              <a:rPr lang="de-DE" sz="1600" b="1" dirty="0"/>
              <a:t>, </a:t>
            </a:r>
            <a:r>
              <a:rPr lang="de-DE" sz="1600" b="1" dirty="0" err="1"/>
              <a:t>compensating</a:t>
            </a:r>
            <a:r>
              <a:rPr lang="de-DE" sz="1600" b="1" dirty="0"/>
              <a:t> </a:t>
            </a:r>
            <a:r>
              <a:rPr lang="de-DE" sz="1600" b="1" dirty="0" err="1"/>
              <a:t>for</a:t>
            </a:r>
            <a:r>
              <a:rPr lang="de-DE" sz="1600" b="1" dirty="0"/>
              <a:t> </a:t>
            </a:r>
            <a:r>
              <a:rPr lang="de-DE" sz="1600" b="1" dirty="0" err="1"/>
              <a:t>inflow</a:t>
            </a:r>
            <a:r>
              <a:rPr lang="de-DE" sz="1600" b="1" dirty="0"/>
              <a:t> </a:t>
            </a:r>
            <a:r>
              <a:rPr lang="de-DE" sz="1600" b="1" dirty="0" err="1"/>
              <a:t>and</a:t>
            </a:r>
            <a:r>
              <a:rPr lang="de-DE" sz="1600" b="1" dirty="0"/>
              <a:t> </a:t>
            </a:r>
            <a:r>
              <a:rPr lang="de-DE" sz="1600" b="1" dirty="0" err="1"/>
              <a:t>outflow</a:t>
            </a:r>
            <a:endParaRPr lang="de-DE" sz="1600" b="1" dirty="0"/>
          </a:p>
          <a:p>
            <a:pPr marL="0" indent="0">
              <a:buNone/>
            </a:pPr>
            <a:r>
              <a:rPr lang="de-DE" sz="1600" dirty="0"/>
              <a:t>	</a:t>
            </a:r>
            <a:r>
              <a:rPr lang="de-DE" sz="1400" dirty="0" err="1"/>
              <a:t>AssignFluxBoundaryConditions</a:t>
            </a:r>
            <a:r>
              <a:rPr lang="de-DE" sz="1400" dirty="0"/>
              <a:t>();</a:t>
            </a:r>
          </a:p>
          <a:p>
            <a:pPr marL="0" indent="0">
              <a:buNone/>
            </a:pPr>
            <a:r>
              <a:rPr lang="de-DE" sz="1600" b="1" dirty="0"/>
              <a:t>5. </a:t>
            </a:r>
            <a:r>
              <a:rPr lang="sk-SK" sz="1600" b="1" dirty="0"/>
              <a:t>Compose solution  </a:t>
            </a:r>
          </a:p>
          <a:p>
            <a:pPr marL="0" indent="0">
              <a:buNone/>
            </a:pPr>
            <a:endParaRPr lang="sk-SK" sz="1600" b="1" dirty="0"/>
          </a:p>
          <a:p>
            <a:pPr marL="0" indent="0">
              <a:buNone/>
            </a:pPr>
            <a:endParaRPr lang="sk-SK" sz="1600" b="1" dirty="0"/>
          </a:p>
          <a:p>
            <a:pPr marL="0" indent="0">
              <a:buNone/>
            </a:pPr>
            <a:r>
              <a:rPr lang="sk-SK" sz="1600" b="1" dirty="0"/>
              <a:t>6. Save computed saturations to FV</a:t>
            </a:r>
          </a:p>
          <a:p>
            <a:pPr marL="0" indent="0">
              <a:buNone/>
            </a:pPr>
            <a:r>
              <a:rPr lang="sk-SK" sz="1600" dirty="0"/>
              <a:t>	</a:t>
            </a:r>
            <a:r>
              <a:rPr lang="sk-SK" sz="1400" dirty="0"/>
              <a:t>OutputResults(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21</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a:latin typeface="Arial"/>
                  <a:cs typeface="Arial"/>
                </a:rPr>
                <a:t>viscous flow</a:t>
              </a: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a:latin typeface="Arial"/>
                  <a:cs typeface="Arial"/>
                </a:rPr>
                <a:t>sources &amp; sinks</a:t>
              </a: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a:latin typeface="Arial"/>
                  <a:cs typeface="Arial"/>
                </a:rPr>
                <a:t>capillary spreading</a:t>
              </a: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a:latin typeface="Arial"/>
                  <a:cs typeface="Arial"/>
                </a:rPr>
                <a:t>gravitational </a:t>
              </a:r>
              <a:r>
                <a:rPr lang="en-US" sz="1400" dirty="0" err="1">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currently calculated using element length in the direction of flow (as opposed to FV), see NCFVT::</a:t>
            </a:r>
            <a:r>
              <a:rPr lang="en-US" sz="1600" b="1" dirty="0" err="1"/>
              <a:t>AnisotropicCourantIncrement</a:t>
            </a:r>
            <a:r>
              <a:rPr lang="en-US" sz="1600" b="1" dirty="0"/>
              <a:t>()</a:t>
            </a:r>
            <a:r>
              <a:rPr lang="en-US" sz="1600" dirty="0"/>
              <a:t>. Only viscous and gravitationally driven flow are considered for the FV scheme because capillary spreading is computed with the FE method (has a different time constraint).</a:t>
            </a:r>
          </a:p>
          <a:p>
            <a:pPr marL="182563" indent="-182563">
              <a:spcAft>
                <a:spcPct val="50000"/>
              </a:spcAft>
            </a:pPr>
            <a:r>
              <a:rPr lang="en-US" sz="1600" dirty="0"/>
              <a:t>An upper limit value must be specified in case there is no flow.</a:t>
            </a:r>
            <a:endParaRPr lang="en-GB" sz="1600" dirty="0"/>
          </a:p>
          <a:p>
            <a:pPr marL="182563" indent="-182563" eaLnBrk="1" hangingPunct="1">
              <a:spcAft>
                <a:spcPct val="50000"/>
              </a:spcAft>
            </a:pPr>
            <a:r>
              <a:rPr lang="en-US" sz="1600" dirty="0"/>
              <a:t>For explicit calculations, </a:t>
            </a:r>
            <a:r>
              <a:rPr lang="en-US" sz="1600" i="1" dirty="0" err="1"/>
              <a:t>df</a:t>
            </a:r>
            <a:r>
              <a:rPr lang="en-US" sz="1600" i="1" dirty="0"/>
              <a:t>/</a:t>
            </a:r>
            <a:r>
              <a:rPr lang="en-US" sz="1600" i="1" dirty="0" err="1"/>
              <a:t>ds</a:t>
            </a:r>
            <a:r>
              <a:rPr lang="en-US" sz="1600" i="1" baseline="-25000" dirty="0" err="1"/>
              <a:t>max</a:t>
            </a:r>
            <a:r>
              <a:rPr lang="en-US" sz="1600" dirty="0"/>
              <a:t> suffices for the calculation of CFL because the resulting step size is small enough even when </a:t>
            </a:r>
            <a:r>
              <a:rPr lang="en-US" sz="1600" i="1" dirty="0" err="1"/>
              <a:t>df</a:t>
            </a:r>
            <a:r>
              <a:rPr lang="en-US" sz="1600" i="1" dirty="0"/>
              <a:t>/ds</a:t>
            </a:r>
            <a:r>
              <a:rPr lang="en-US" sz="1600" dirty="0"/>
              <a:t> increases during iteration.</a:t>
            </a:r>
          </a:p>
          <a:p>
            <a:pPr marL="182563" indent="-182563" eaLnBrk="1" hangingPunct="1">
              <a:spcAft>
                <a:spcPct val="50000"/>
              </a:spcAft>
            </a:pPr>
            <a:r>
              <a:rPr lang="en-US" sz="1600" dirty="0"/>
              <a:t>For implicit calculations an exact CFL is not necessary.</a:t>
            </a:r>
          </a:p>
          <a:p>
            <a:pPr marL="182563" indent="-182563" eaLnBrk="1" hangingPunct="1">
              <a:spcAft>
                <a:spcPct val="50000"/>
              </a:spcAft>
            </a:pPr>
            <a:r>
              <a:rPr lang="en-US" sz="1600" dirty="0"/>
              <a:t>Experience shows that CFL should not be linked to pressure time-step calculation</a:t>
            </a:r>
          </a:p>
          <a:p>
            <a:pPr marL="182563" indent="-182563" eaLnBrk="1" hangingPunct="1">
              <a:spcAft>
                <a:spcPct val="50000"/>
              </a:spcAft>
            </a:pPr>
            <a:r>
              <a:rPr lang="en-US" sz="1600" dirty="0"/>
              <a:t>When simultaneously addressing viscous, gravitational, and capillary terms CFL should not be based on the addition of these components but their max values; this way, even if one of these is zero a meaningful value is established.</a:t>
            </a:r>
          </a:p>
          <a:p>
            <a:pPr marL="182563" indent="-182563" eaLnBrk="1" hangingPunct="1">
              <a:spcAft>
                <a:spcPct val="50000"/>
              </a:spcAft>
            </a:pPr>
            <a:r>
              <a:rPr lang="en-US" sz="1600" dirty="0"/>
              <a:t>Note: CFL methods should be virtual so that they can be </a:t>
            </a:r>
            <a:r>
              <a:rPr lang="en-US" sz="1600" dirty="0" err="1"/>
              <a:t>overriden</a:t>
            </a:r>
            <a:endParaRPr lang="en-US"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22</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a:latin typeface="Arial"/>
                  <a:cs typeface="Arial"/>
                </a:rPr>
                <a:t>max distance over which information can be propagated in a single advection step (undefined if strong sources/sinks or elliptic problem)</a:t>
              </a: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a:solidFill>
                    <a:srgbClr val="FF0000"/>
                  </a:solidFill>
                  <a:latin typeface="Arial"/>
                  <a:cs typeface="Arial"/>
                </a:rPr>
                <a:t>flow velocity</a:t>
              </a:r>
            </a:p>
          </p:txBody>
        </p:sp>
      </p:grpSp>
    </p:spTree>
    <p:extLst>
      <p:ext uri="{BB962C8B-B14F-4D97-AF65-F5344CB8AC3E}">
        <p14:creationId xmlns:p14="http://schemas.microsoft.com/office/powerpoint/2010/main" val="8601514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a:t>Constitutive relationships – Refactoring done!</a:t>
            </a:r>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a:t>Break up computations involving fluid properties from those that are material parameters, i.e. the saturation functions (careful because of interactions)</a:t>
            </a:r>
          </a:p>
          <a:p>
            <a:pPr marL="182563" indent="-182563"/>
            <a:r>
              <a:rPr lang="en-US" dirty="0"/>
              <a:t>Implement scheme using static polymorphism</a:t>
            </a:r>
          </a:p>
          <a:p>
            <a:pPr marL="182563" indent="-182563"/>
            <a:r>
              <a:rPr lang="en-US" dirty="0"/>
              <a:t>Saturation functions are currently recovered from subclasses of the </a:t>
            </a:r>
            <a:r>
              <a:rPr lang="en-US" b="1" dirty="0" err="1"/>
              <a:t>TwoPhaseModel</a:t>
            </a:r>
            <a:r>
              <a:rPr lang="en-US" dirty="0"/>
              <a:t> (here we will eventually need extensions for 3-phase and perhaps for compressible flow)</a:t>
            </a:r>
          </a:p>
          <a:p>
            <a:pPr marL="182563" indent="-182563"/>
            <a:r>
              <a:rPr lang="en-US" dirty="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23</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a:latin typeface="Arial"/>
                <a:cs typeface="Arial"/>
              </a:rPr>
              <a:t>What methods do we really need?</a:t>
            </a:r>
          </a:p>
        </p:txBody>
      </p:sp>
    </p:spTree>
    <p:extLst>
      <p:ext uri="{BB962C8B-B14F-4D97-AF65-F5344CB8AC3E}">
        <p14:creationId xmlns:p14="http://schemas.microsoft.com/office/powerpoint/2010/main" val="18762242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24</a:t>
            </a:fld>
            <a:endParaRPr lang="en-US"/>
          </a:p>
        </p:txBody>
      </p:sp>
    </p:spTree>
    <p:extLst>
      <p:ext uri="{BB962C8B-B14F-4D97-AF65-F5344CB8AC3E}">
        <p14:creationId xmlns:p14="http://schemas.microsoft.com/office/powerpoint/2010/main" val="41202608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a:t>Placement of material properties on the elements; why?</a:t>
            </a:r>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a:t>Element</a:t>
            </a:r>
          </a:p>
          <a:p>
            <a:r>
              <a:rPr lang="en-US" sz="1900" dirty="0"/>
              <a:t>FE mesh can be used to represent material boundaries</a:t>
            </a:r>
          </a:p>
          <a:p>
            <a:r>
              <a:rPr lang="en-US" sz="1900" dirty="0"/>
              <a:t>Saturation at material interfaces makes no physical sense (discontinuities can only be represented with Split Boundaries or FECFVM scheme)</a:t>
            </a:r>
          </a:p>
          <a:p>
            <a:r>
              <a:rPr lang="en-US" sz="1900" dirty="0"/>
              <a:t>For element-centered saturation, upwind direction does not matter</a:t>
            </a:r>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a:t>Node</a:t>
            </a:r>
          </a:p>
          <a:p>
            <a:r>
              <a:rPr lang="en-US" sz="1900" dirty="0"/>
              <a:t>Material boundaries are blurred and domain volumes cannot be estimated accurately</a:t>
            </a:r>
          </a:p>
          <a:p>
            <a:r>
              <a:rPr lang="en-US" sz="1900" dirty="0"/>
              <a:t>Saturation is physically meaningful even where sharp property gradients exist</a:t>
            </a:r>
          </a:p>
          <a:p>
            <a:r>
              <a:rPr lang="en-US" sz="1900" dirty="0"/>
              <a:t>Transmissibility multipliers are non-physical if different flow laws exist in different domains</a:t>
            </a:r>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a:latin typeface="Arial"/>
                <a:cs typeface="Arial"/>
              </a:rPr>
              <a:t>= Fractured reservoir simulation needs element-based material properties</a:t>
            </a: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25</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a:t>Variable storage needs</a:t>
            </a:r>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a:t>For higher order store at different time levels (in one step or by repeated accumulation):</a:t>
            </a:r>
          </a:p>
          <a:p>
            <a:pPr>
              <a:spcBef>
                <a:spcPts val="100"/>
              </a:spcBef>
              <a:spcAft>
                <a:spcPts val="600"/>
              </a:spcAft>
            </a:pPr>
            <a:r>
              <a:rPr lang="en-US" sz="1600" dirty="0">
                <a:solidFill>
                  <a:srgbClr val="000090"/>
                </a:solidFill>
              </a:rPr>
              <a:t>finite volumes (placement NODE):</a:t>
            </a:r>
          </a:p>
          <a:p>
            <a:pPr lvl="1">
              <a:spcBef>
                <a:spcPts val="100"/>
              </a:spcBef>
              <a:spcAft>
                <a:spcPts val="600"/>
              </a:spcAft>
            </a:pPr>
            <a:r>
              <a:rPr lang="en-US" sz="1600" dirty="0"/>
              <a:t>Integrated pore volume -&gt; SCALAR</a:t>
            </a:r>
          </a:p>
          <a:p>
            <a:pPr lvl="1">
              <a:spcBef>
                <a:spcPts val="100"/>
              </a:spcBef>
              <a:spcAft>
                <a:spcPts val="600"/>
              </a:spcAft>
            </a:pPr>
            <a:r>
              <a:rPr lang="en-US" sz="1600" dirty="0"/>
              <a:t>Divergence of total velocity -&gt; SCALAR</a:t>
            </a:r>
          </a:p>
          <a:p>
            <a:pPr lvl="1">
              <a:spcBef>
                <a:spcPts val="100"/>
              </a:spcBef>
              <a:spcAft>
                <a:spcPts val="600"/>
              </a:spcAft>
            </a:pPr>
            <a:r>
              <a:rPr lang="en-US" sz="1600" dirty="0"/>
              <a:t>Sources or sinks -&gt; SCALAR</a:t>
            </a:r>
          </a:p>
          <a:p>
            <a:pPr lvl="1">
              <a:spcBef>
                <a:spcPts val="100"/>
              </a:spcBef>
              <a:spcAft>
                <a:spcPts val="600"/>
              </a:spcAft>
            </a:pPr>
            <a:r>
              <a:rPr lang="en-US" sz="1600" dirty="0"/>
              <a:t>Saturations / concentrations -&gt; ARRAY</a:t>
            </a:r>
          </a:p>
          <a:p>
            <a:pPr lvl="1">
              <a:spcBef>
                <a:spcPts val="100"/>
              </a:spcBef>
              <a:spcAft>
                <a:spcPts val="600"/>
              </a:spcAft>
            </a:pPr>
            <a:r>
              <a:rPr lang="en-US" sz="1600" dirty="0"/>
              <a:t>Saturation gradient (for higher order scheme) -&gt; VECTOR</a:t>
            </a:r>
          </a:p>
          <a:p>
            <a:pPr lvl="1">
              <a:spcBef>
                <a:spcPts val="100"/>
              </a:spcBef>
              <a:spcAft>
                <a:spcPts val="600"/>
              </a:spcAft>
            </a:pPr>
            <a:r>
              <a:rPr lang="en-US" sz="1600" dirty="0"/>
              <a:t>Inflow versus outflow in the presence of sources and sinks -&gt; SCALAR</a:t>
            </a:r>
          </a:p>
          <a:p>
            <a:pPr lvl="1">
              <a:spcBef>
                <a:spcPts val="100"/>
              </a:spcBef>
              <a:spcAft>
                <a:spcPts val="600"/>
              </a:spcAft>
            </a:pPr>
            <a:r>
              <a:rPr lang="en-US" sz="1600" dirty="0"/>
              <a:t>CFL ?</a:t>
            </a:r>
          </a:p>
          <a:p>
            <a:pPr>
              <a:spcBef>
                <a:spcPts val="100"/>
              </a:spcBef>
              <a:spcAft>
                <a:spcPts val="600"/>
              </a:spcAft>
            </a:pPr>
            <a:r>
              <a:rPr lang="en-US" sz="1600" dirty="0">
                <a:solidFill>
                  <a:srgbClr val="000090"/>
                </a:solidFill>
              </a:rPr>
              <a:t>facets:</a:t>
            </a:r>
          </a:p>
          <a:p>
            <a:pPr lvl="1">
              <a:spcBef>
                <a:spcPts val="100"/>
              </a:spcBef>
              <a:spcAft>
                <a:spcPts val="600"/>
              </a:spcAft>
            </a:pPr>
            <a:r>
              <a:rPr lang="en-US" sz="1600" dirty="0"/>
              <a:t>combined phase and components fluxes</a:t>
            </a:r>
          </a:p>
          <a:p>
            <a:pPr lvl="1">
              <a:spcBef>
                <a:spcPts val="100"/>
              </a:spcBef>
              <a:spcAft>
                <a:spcPts val="600"/>
              </a:spcAft>
            </a:pPr>
            <a:r>
              <a:rPr lang="en-US" sz="1600" dirty="0"/>
              <a:t>phase velocities  </a:t>
            </a:r>
          </a:p>
          <a:p>
            <a:pPr>
              <a:spcBef>
                <a:spcPts val="100"/>
              </a:spcBef>
              <a:spcAft>
                <a:spcPts val="600"/>
              </a:spcAft>
            </a:pPr>
            <a:r>
              <a:rPr lang="en-US" sz="1600" dirty="0">
                <a:solidFill>
                  <a:srgbClr val="000090"/>
                </a:solidFill>
              </a:rPr>
              <a:t>elements:</a:t>
            </a:r>
          </a:p>
          <a:p>
            <a:pPr lvl="1">
              <a:spcBef>
                <a:spcPts val="100"/>
              </a:spcBef>
              <a:spcAft>
                <a:spcPts val="600"/>
              </a:spcAft>
            </a:pPr>
            <a:r>
              <a:rPr lang="en-US" sz="1600" dirty="0"/>
              <a:t>total velocity -&gt; VECTOR</a:t>
            </a:r>
          </a:p>
          <a:p>
            <a:pPr lvl="1">
              <a:spcBef>
                <a:spcPts val="100"/>
              </a:spcBef>
              <a:spcAft>
                <a:spcPts val="600"/>
              </a:spcAft>
            </a:pPr>
            <a:r>
              <a:rPr lang="en-US" sz="1600" dirty="0"/>
              <a:t>diffusivities</a:t>
            </a:r>
          </a:p>
          <a:p>
            <a:pPr lvl="1">
              <a:spcBef>
                <a:spcPts val="100"/>
              </a:spcBef>
              <a:spcAft>
                <a:spcPts val="600"/>
              </a:spcAft>
            </a:pPr>
            <a:r>
              <a:rPr lang="en-US" sz="1600" dirty="0"/>
              <a:t>sector porosity and pore volumes</a:t>
            </a:r>
          </a:p>
          <a:p>
            <a:pPr lvl="1">
              <a:spcBef>
                <a:spcPts val="100"/>
              </a:spcBef>
              <a:spcAft>
                <a:spcPts val="600"/>
              </a:spcAft>
            </a:pPr>
            <a:r>
              <a:rPr lang="en-US" sz="1600" dirty="0"/>
              <a:t>sector source terms (for FEM equations)</a:t>
            </a:r>
          </a:p>
          <a:p>
            <a:pPr lvl="1">
              <a:spcBef>
                <a:spcPts val="100"/>
              </a:spcBef>
              <a:spcAft>
                <a:spcPts val="600"/>
              </a:spcAft>
            </a:pPr>
            <a:r>
              <a:rPr lang="en-US" sz="1600" dirty="0"/>
              <a:t>constitutive relationships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26</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Tree>
    <p:extLst>
      <p:ext uri="{BB962C8B-B14F-4D97-AF65-F5344CB8AC3E}">
        <p14:creationId xmlns:p14="http://schemas.microsoft.com/office/powerpoint/2010/main" val="7508902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b="1" dirty="0"/>
              <a:t>Phase by phase transport</a:t>
            </a:r>
          </a:p>
          <a:p>
            <a:pPr marL="514350" indent="-514350">
              <a:spcBef>
                <a:spcPts val="800"/>
              </a:spcBef>
              <a:spcAft>
                <a:spcPts val="1800"/>
              </a:spcAft>
              <a:buFont typeface="+mj-lt"/>
              <a:buAutoNum type="arabicPeriod"/>
            </a:pPr>
            <a:r>
              <a:rPr lang="en-US" sz="2400" dirty="0"/>
              <a:t>Design prototyping: classes and use-cases</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27</a:t>
            </a:fld>
            <a:endParaRPr lang="en-US"/>
          </a:p>
        </p:txBody>
      </p:sp>
    </p:spTree>
    <p:extLst>
      <p:ext uri="{BB962C8B-B14F-4D97-AF65-F5344CB8AC3E}">
        <p14:creationId xmlns:p14="http://schemas.microsoft.com/office/powerpoint/2010/main" val="5701502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a:t>New goal: phase-by-phase component transport scheme with support for component exchange among phases</a:t>
            </a:r>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a:t>(Isochoric transfer among phases is accomplished by EOS classes; diffusion terms are computed by finite element operators accumulated into same solution matrix as terms from implicit version of transport scheme)</a:t>
            </a:r>
          </a:p>
          <a:p>
            <a:r>
              <a:rPr lang="en-US" sz="1800" dirty="0"/>
              <a:t>Computations needed (first and second-order in space):</a:t>
            </a:r>
          </a:p>
          <a:p>
            <a:pPr lvl="1"/>
            <a:r>
              <a:rPr lang="en-US" sz="1800" dirty="0"/>
              <a:t>CFL time increment or else whichever applicable; else predictor-corrector saturation change or inflow vs. outflow (for instance, when source terms dominate)</a:t>
            </a:r>
          </a:p>
          <a:p>
            <a:pPr lvl="1"/>
            <a:r>
              <a:rPr lang="en-US" sz="1800" dirty="0"/>
              <a:t>upwind direction (combined: </a:t>
            </a:r>
            <a:r>
              <a:rPr lang="en-US" sz="1800" dirty="0" err="1"/>
              <a:t>capillary+diffusion+transport</a:t>
            </a:r>
            <a:r>
              <a:rPr lang="en-US" sz="1800" dirty="0"/>
              <a:t>)</a:t>
            </a:r>
          </a:p>
          <a:p>
            <a:pPr lvl="1"/>
            <a:r>
              <a:rPr lang="en-US" sz="1800" dirty="0"/>
              <a:t>upwind saturation range </a:t>
            </a:r>
          </a:p>
          <a:p>
            <a:pPr lvl="1"/>
            <a:r>
              <a:rPr lang="en-US" sz="1800" dirty="0"/>
              <a:t>advection terms</a:t>
            </a:r>
          </a:p>
          <a:p>
            <a:pPr lvl="1"/>
            <a:r>
              <a:rPr lang="en-US" sz="1800" dirty="0"/>
              <a:t>node-centered saturation gradients (or </a:t>
            </a:r>
            <a:r>
              <a:rPr lang="en-US" sz="1800" dirty="0" err="1"/>
              <a:t>bijective</a:t>
            </a:r>
            <a:r>
              <a:rPr lang="en-US" sz="1800" dirty="0"/>
              <a:t> mapping (Matthai et al. 2009, TIPM; check!)</a:t>
            </a:r>
          </a:p>
          <a:p>
            <a:pPr lvl="1"/>
            <a:r>
              <a:rPr lang="en-US" sz="1800" dirty="0"/>
              <a:t>source terms (</a:t>
            </a:r>
            <a:r>
              <a:rPr lang="en-US" sz="1800" dirty="0" err="1"/>
              <a:t>upwinded</a:t>
            </a:r>
            <a:r>
              <a:rPr lang="en-US" sz="1800" dirty="0"/>
              <a:t> or not)</a:t>
            </a:r>
          </a:p>
          <a:p>
            <a:pPr lvl="1"/>
            <a:r>
              <a:rPr lang="en-US" sz="1800" dirty="0"/>
              <a:t>storage terms</a:t>
            </a:r>
          </a:p>
          <a:p>
            <a:pPr lvl="1"/>
            <a:r>
              <a:rPr lang="en-US" sz="1800" dirty="0"/>
              <a:t>limiter(s)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28</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a:t>Implemented vs. conceptual functionality</a:t>
            </a:r>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a:solidFill>
                  <a:srgbClr val="008000"/>
                </a:solidFill>
              </a:rPr>
              <a:t>Calculating and updating porosity, pore volume, facet area and normal </a:t>
            </a:r>
          </a:p>
          <a:p>
            <a:pPr marL="182563" indent="-182563">
              <a:spcBef>
                <a:spcPts val="100"/>
              </a:spcBef>
              <a:spcAft>
                <a:spcPts val="500"/>
              </a:spcAft>
            </a:pPr>
            <a:r>
              <a:rPr lang="en-US" sz="1600" dirty="0">
                <a:solidFill>
                  <a:srgbClr val="008000"/>
                </a:solidFill>
              </a:rPr>
              <a:t>Read / store / range check / projections of 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CFL </a:t>
            </a:r>
            <a:r>
              <a:rPr lang="en-US" sz="1600" dirty="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balance</a:t>
            </a:r>
          </a:p>
          <a:p>
            <a:pPr marL="182563" indent="-182563">
              <a:spcBef>
                <a:spcPts val="100"/>
              </a:spcBef>
              <a:spcAft>
                <a:spcPts val="500"/>
              </a:spcAft>
            </a:pPr>
            <a:r>
              <a:rPr lang="en-US" sz="1600" dirty="0"/>
              <a:t>Scaling n components and m phases</a:t>
            </a:r>
          </a:p>
          <a:p>
            <a:pPr marL="182563" indent="-182563">
              <a:spcBef>
                <a:spcPts val="100"/>
              </a:spcBef>
              <a:spcAft>
                <a:spcPts val="500"/>
              </a:spcAft>
            </a:pPr>
            <a:r>
              <a:rPr lang="en-US" sz="1600" dirty="0"/>
              <a:t>Calculating components</a:t>
            </a:r>
          </a:p>
          <a:p>
            <a:pPr marL="182563" indent="-182563">
              <a:spcBef>
                <a:spcPts val="100"/>
              </a:spcBef>
              <a:spcAft>
                <a:spcPts val="500"/>
              </a:spcAft>
            </a:pPr>
            <a:r>
              <a:rPr lang="en-US" sz="1600" dirty="0">
                <a:solidFill>
                  <a:srgbClr val="FF6600"/>
                </a:solidFill>
              </a:rPr>
              <a:t>Determine and store facet fluxes</a:t>
            </a:r>
          </a:p>
          <a:p>
            <a:pPr marL="182563" indent="-182563">
              <a:spcBef>
                <a:spcPts val="100"/>
              </a:spcBef>
              <a:spcAft>
                <a:spcPts val="500"/>
              </a:spcAft>
            </a:pPr>
            <a:r>
              <a:rPr lang="en-US" sz="1600" dirty="0">
                <a:solidFill>
                  <a:srgbClr val="FF6600"/>
                </a:solidFill>
              </a:rPr>
              <a:t>Sector-based volume source and sink terms, stored on sector integration points</a:t>
            </a:r>
          </a:p>
          <a:p>
            <a:pPr marL="182563" indent="-182563">
              <a:spcBef>
                <a:spcPts val="100"/>
              </a:spcBef>
              <a:spcAft>
                <a:spcPts val="500"/>
              </a:spcAft>
            </a:pPr>
            <a:r>
              <a:rPr lang="en-US" sz="1600" dirty="0">
                <a:solidFill>
                  <a:srgbClr val="FF6600"/>
                </a:solidFill>
              </a:rPr>
              <a:t>Accumulation of fluxes</a:t>
            </a:r>
          </a:p>
          <a:p>
            <a:pPr marL="182563" indent="-182563">
              <a:spcBef>
                <a:spcPts val="100"/>
              </a:spcBef>
              <a:spcAft>
                <a:spcPts val="500"/>
              </a:spcAft>
            </a:pPr>
            <a:r>
              <a:rPr lang="en-US" sz="1600" dirty="0" err="1">
                <a:solidFill>
                  <a:srgbClr val="FF6600"/>
                </a:solidFill>
              </a:rPr>
              <a:t>SaturationFunction</a:t>
            </a:r>
            <a:r>
              <a:rPr lang="en-US" sz="1600" dirty="0">
                <a:solidFill>
                  <a:srgbClr val="FF6600"/>
                </a:solidFill>
              </a:rPr>
              <a:t> should be made specific to Region instances</a:t>
            </a: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a:solidFill>
                  <a:srgbClr val="FF6600"/>
                </a:solidFill>
              </a:rPr>
              <a:t>Limiting</a:t>
            </a:r>
          </a:p>
          <a:p>
            <a:pPr marL="182563" indent="-182563">
              <a:spcBef>
                <a:spcPts val="100"/>
              </a:spcBef>
              <a:spcAft>
                <a:spcPts val="500"/>
              </a:spcAft>
            </a:pPr>
            <a:r>
              <a:rPr lang="en-US" sz="1600" b="1" dirty="0">
                <a:solidFill>
                  <a:srgbClr val="0000FF"/>
                </a:solidFill>
              </a:rPr>
              <a:t>Transport calculations in parametric space !!!</a:t>
            </a: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a:t>Additional physics/chemistry</a:t>
            </a:r>
          </a:p>
          <a:p>
            <a:pPr marL="182563" indent="-182563">
              <a:spcBef>
                <a:spcPts val="100"/>
              </a:spcBef>
              <a:spcAft>
                <a:spcPts val="500"/>
              </a:spcAft>
            </a:pPr>
            <a:r>
              <a:rPr lang="en-US" sz="1600" dirty="0"/>
              <a:t>Access and configuration of the </a:t>
            </a:r>
            <a:r>
              <a:rPr lang="en-US" sz="1600" dirty="0" err="1"/>
              <a:t>SAMG_Solver</a:t>
            </a:r>
            <a:r>
              <a:rPr lang="en-US" sz="1600" dirty="0"/>
              <a:t> from the outside</a:t>
            </a:r>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29</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Efficiency considerations</a:t>
            </a:r>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a:t>Whatever we do on the facets and FVs has a great impact on speed!</a:t>
            </a:r>
          </a:p>
          <a:p>
            <a:r>
              <a:rPr lang="en-US" dirty="0"/>
              <a:t>To avoid iffy code, interior domains should be visited first, then their boundaries separately</a:t>
            </a:r>
          </a:p>
          <a:p>
            <a:r>
              <a:rPr lang="en-US" dirty="0"/>
              <a:t>Formulation should be extensible for DES implementation</a:t>
            </a:r>
          </a:p>
          <a:p>
            <a:r>
              <a:rPr lang="en-US" dirty="0"/>
              <a:t>FV visitation mode has a great impact on speed: element-by-element means that facets are only visited once, but may not be possible in higher-order scheme when node-centered saturation gradients are used in the flux approximation</a:t>
            </a:r>
          </a:p>
          <a:p>
            <a:r>
              <a:rPr lang="en-US" dirty="0"/>
              <a:t>Facet flux computations should be </a:t>
            </a:r>
            <a:r>
              <a:rPr lang="en-US" dirty="0" err="1"/>
              <a:t>dissassembled</a:t>
            </a:r>
            <a:r>
              <a:rPr lang="en-US" dirty="0"/>
              <a:t> and </a:t>
            </a:r>
            <a:r>
              <a:rPr lang="en-US" dirty="0" err="1"/>
              <a:t>recombineable</a:t>
            </a:r>
            <a:r>
              <a:rPr lang="en-US" dirty="0"/>
              <a:t> in a flexible way</a:t>
            </a:r>
          </a:p>
          <a:p>
            <a:r>
              <a:rPr lang="en-US" dirty="0"/>
              <a:t>The framework should be flexible enough to quickly implement all kinds of methods</a:t>
            </a:r>
          </a:p>
          <a:p>
            <a:r>
              <a:rPr lang="en-US" dirty="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30</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b="1"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31</a:t>
            </a:fld>
            <a:endParaRPr lang="en-US"/>
          </a:p>
        </p:txBody>
      </p:sp>
    </p:spTree>
    <p:extLst>
      <p:ext uri="{BB962C8B-B14F-4D97-AF65-F5344CB8AC3E}">
        <p14:creationId xmlns:p14="http://schemas.microsoft.com/office/powerpoint/2010/main" val="17098923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Layout 1 (class diagram)</a:t>
            </a:r>
          </a:p>
        </p:txBody>
      </p:sp>
      <p:sp>
        <p:nvSpPr>
          <p:cNvPr id="3" name="Date Placeholder 2"/>
          <p:cNvSpPr>
            <a:spLocks noGrp="1"/>
          </p:cNvSpPr>
          <p:nvPr>
            <p:ph type="dt" sz="half" idx="10"/>
          </p:nvPr>
        </p:nvSpPr>
        <p:spPr/>
        <p:txBody>
          <a:bodyPr/>
          <a:lstStyle/>
          <a:p>
            <a:fld id="{C1762EE7-3E26-8344-9AFB-A62088F617B5}" type="datetime1">
              <a:rPr lang="en-US" smtClean="0"/>
              <a:pPr/>
              <a:t>10/2/18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32</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Layout 2</a:t>
            </a:r>
          </a:p>
        </p:txBody>
      </p:sp>
      <p:sp>
        <p:nvSpPr>
          <p:cNvPr id="3" name="Date Placeholder 2"/>
          <p:cNvSpPr>
            <a:spLocks noGrp="1"/>
          </p:cNvSpPr>
          <p:nvPr>
            <p:ph type="dt" sz="half" idx="10"/>
          </p:nvPr>
        </p:nvSpPr>
        <p:spPr/>
        <p:txBody>
          <a:bodyPr/>
          <a:lstStyle/>
          <a:p>
            <a:fld id="{C1762EE7-3E26-8344-9AFB-A62088F617B5}" type="datetime1">
              <a:rPr lang="en-US" smtClean="0"/>
              <a:pPr/>
              <a:t>10/2/18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33</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a:t>Layout 3: Assembly of FVM equations</a:t>
            </a:r>
          </a:p>
        </p:txBody>
      </p:sp>
      <p:sp>
        <p:nvSpPr>
          <p:cNvPr id="3" name="Date Placeholder 2"/>
          <p:cNvSpPr>
            <a:spLocks noGrp="1"/>
          </p:cNvSpPr>
          <p:nvPr>
            <p:ph type="dt" sz="half" idx="10"/>
          </p:nvPr>
        </p:nvSpPr>
        <p:spPr/>
        <p:txBody>
          <a:bodyPr/>
          <a:lstStyle/>
          <a:p>
            <a:fld id="{C1762EE7-3E26-8344-9AFB-A62088F617B5}" type="datetime1">
              <a:rPr lang="en-US" smtClean="0"/>
              <a:pPr/>
              <a:t>10/2/18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34</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a:latin typeface="Arial"/>
                <a:cs typeface="Arial"/>
              </a:rPr>
              <a:t>LHS</a:t>
            </a: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a:latin typeface="Arial"/>
                <a:cs typeface="Arial"/>
              </a:rPr>
              <a:t>RHS</a:t>
            </a:r>
          </a:p>
        </p:txBody>
      </p:sp>
    </p:spTree>
    <p:extLst>
      <p:ext uri="{BB962C8B-B14F-4D97-AF65-F5344CB8AC3E}">
        <p14:creationId xmlns:p14="http://schemas.microsoft.com/office/powerpoint/2010/main" val="2212040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(New) classes?</a:t>
            </a:r>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a:latin typeface="Arial"/>
                <a:cs typeface="Arial"/>
              </a:rPr>
              <a:t>FiniteVolumeManager</a:t>
            </a:r>
            <a:endParaRPr lang="en-US" sz="1600" b="1" dirty="0">
              <a:latin typeface="Arial"/>
              <a:cs typeface="Arial"/>
            </a:endParaRPr>
          </a:p>
          <a:p>
            <a:endParaRPr lang="en-US" sz="1600" b="1" dirty="0">
              <a:latin typeface="Arial"/>
              <a:cs typeface="Arial"/>
            </a:endParaRPr>
          </a:p>
          <a:p>
            <a:r>
              <a:rPr lang="en-US" sz="1600" b="1" dirty="0" err="1">
                <a:latin typeface="Arial"/>
                <a:cs typeface="Arial"/>
              </a:rPr>
              <a:t>SaturationFunctions</a:t>
            </a:r>
            <a:endParaRPr lang="en-US" sz="1600" b="1" dirty="0">
              <a:latin typeface="Arial"/>
              <a:cs typeface="Arial"/>
            </a:endParaRPr>
          </a:p>
          <a:p>
            <a:pPr marL="285750" indent="-285750">
              <a:buFont typeface="Arial" pitchFamily="34" charset="0"/>
              <a:buChar char="•"/>
            </a:pPr>
            <a:r>
              <a:rPr lang="en-US" sz="1600" dirty="0" err="1">
                <a:latin typeface="Arial"/>
                <a:cs typeface="Arial"/>
              </a:rPr>
              <a:t>relperms</a:t>
            </a:r>
            <a:r>
              <a:rPr lang="en-US" sz="1600" dirty="0">
                <a:latin typeface="Arial"/>
                <a:cs typeface="Arial"/>
              </a:rPr>
              <a:t>, etc.</a:t>
            </a:r>
          </a:p>
          <a:p>
            <a:pPr marL="285750" indent="-285750">
              <a:buFont typeface="Arial" pitchFamily="34" charset="0"/>
              <a:buChar char="•"/>
            </a:pPr>
            <a:r>
              <a:rPr lang="en-US" sz="1600" dirty="0" err="1">
                <a:latin typeface="Arial"/>
                <a:cs typeface="Arial"/>
              </a:rPr>
              <a:t>mobilities</a:t>
            </a:r>
            <a:endParaRPr lang="en-US" sz="1600" dirty="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a:latin typeface="Arial"/>
                <a:cs typeface="Arial"/>
              </a:rPr>
              <a:t>Fluid Properties</a:t>
            </a:r>
          </a:p>
          <a:p>
            <a:endParaRPr lang="en-US" sz="1600" b="1" dirty="0">
              <a:latin typeface="Arial"/>
              <a:cs typeface="Arial"/>
            </a:endParaRPr>
          </a:p>
          <a:p>
            <a:r>
              <a:rPr lang="en-US" sz="1600" b="1" dirty="0" err="1">
                <a:latin typeface="Arial"/>
                <a:cs typeface="Arial"/>
              </a:rPr>
              <a:t>GenericGradientCalculator</a:t>
            </a:r>
            <a:endParaRPr lang="en-US" sz="1600" b="1" dirty="0">
              <a:latin typeface="Arial"/>
              <a:cs typeface="Arial"/>
            </a:endParaRPr>
          </a:p>
          <a:p>
            <a:endParaRPr lang="en-US" sz="1600" dirty="0">
              <a:latin typeface="Arial"/>
              <a:cs typeface="Arial"/>
            </a:endParaRPr>
          </a:p>
          <a:p>
            <a:r>
              <a:rPr lang="en-US" sz="1600" b="1" dirty="0" err="1">
                <a:latin typeface="Arial"/>
                <a:cs typeface="Arial"/>
              </a:rPr>
              <a:t>TimeIncrement</a:t>
            </a:r>
            <a:r>
              <a:rPr lang="en-US" sz="1600" dirty="0">
                <a:latin typeface="Arial"/>
                <a:cs typeface="Arial"/>
              </a:rPr>
              <a:t> class</a:t>
            </a:r>
          </a:p>
          <a:p>
            <a:pPr marL="285750" indent="-285750">
              <a:buFont typeface="Arial" pitchFamily="34" charset="0"/>
              <a:buChar char="•"/>
            </a:pPr>
            <a:r>
              <a:rPr lang="en-US" sz="1600" dirty="0">
                <a:latin typeface="Arial"/>
                <a:cs typeface="Arial"/>
              </a:rPr>
              <a:t>Calculate CFL or other criteria</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a:latin typeface="Arial"/>
                <a:cs typeface="Arial"/>
              </a:rPr>
              <a:t>To be carried out and managed by </a:t>
            </a:r>
            <a:r>
              <a:rPr lang="en-US" sz="1600" b="1" i="1" dirty="0">
                <a:latin typeface="Arial"/>
                <a:cs typeface="Arial"/>
              </a:rPr>
              <a:t>Model</a:t>
            </a:r>
          </a:p>
          <a:p>
            <a:pPr marL="285750" indent="-285750">
              <a:buFont typeface="Arial" pitchFamily="34" charset="0"/>
              <a:buChar char="•"/>
            </a:pPr>
            <a:r>
              <a:rPr lang="en-US" sz="1600" dirty="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a:latin typeface="Arial"/>
                <a:cs typeface="Arial"/>
              </a:rPr>
              <a:t>EOS </a:t>
            </a:r>
          </a:p>
          <a:p>
            <a:endParaRPr lang="en-US" sz="1600" dirty="0">
              <a:latin typeface="Arial"/>
              <a:cs typeface="Arial"/>
            </a:endParaRPr>
          </a:p>
          <a:p>
            <a:r>
              <a:rPr lang="en-US" sz="1600" dirty="0">
                <a:latin typeface="Arial"/>
                <a:cs typeface="Arial"/>
              </a:rPr>
              <a:t>Additional physics/chemistry</a:t>
            </a:r>
          </a:p>
          <a:p>
            <a:endParaRPr lang="en-US" sz="1600" dirty="0">
              <a:latin typeface="Arial"/>
              <a:cs typeface="Arial"/>
            </a:endParaRPr>
          </a:p>
          <a:p>
            <a:r>
              <a:rPr lang="en-US" sz="1600" b="1" dirty="0" err="1">
                <a:latin typeface="Arial"/>
                <a:cs typeface="Arial"/>
              </a:rPr>
              <a:t>InteriorProcessor</a:t>
            </a:r>
            <a:r>
              <a:rPr lang="en-US" sz="1600" dirty="0">
                <a:latin typeface="Arial"/>
                <a:cs typeface="Arial"/>
              </a:rPr>
              <a:t> (base class)</a:t>
            </a:r>
          </a:p>
          <a:p>
            <a:r>
              <a:rPr lang="en-US" sz="1600" dirty="0">
                <a:latin typeface="Arial"/>
                <a:cs typeface="Arial"/>
              </a:rPr>
              <a:t>Accumulation (LHS?)</a:t>
            </a:r>
          </a:p>
          <a:p>
            <a:r>
              <a:rPr lang="en-US" sz="1600" b="1" dirty="0" err="1">
                <a:latin typeface="Arial"/>
                <a:cs typeface="Arial"/>
              </a:rPr>
              <a:t>BoundaryProcessor</a:t>
            </a:r>
            <a:r>
              <a:rPr lang="en-US" sz="1600" dirty="0">
                <a:latin typeface="Arial"/>
                <a:cs typeface="Arial"/>
              </a:rPr>
              <a:t> (base class)</a:t>
            </a:r>
          </a:p>
          <a:p>
            <a:r>
              <a:rPr lang="en-US" sz="1600" dirty="0">
                <a:latin typeface="Arial"/>
                <a:cs typeface="Arial"/>
              </a:rPr>
              <a:t>Accumulation (RHS?)</a:t>
            </a:r>
          </a:p>
          <a:p>
            <a:endParaRPr lang="en-US" sz="1600" b="1" dirty="0">
              <a:latin typeface="Arial"/>
              <a:cs typeface="Arial"/>
            </a:endParaRPr>
          </a:p>
          <a:p>
            <a:r>
              <a:rPr lang="en-US" sz="1600" b="1" dirty="0" err="1">
                <a:latin typeface="Arial"/>
                <a:cs typeface="Arial"/>
              </a:rPr>
              <a:t>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r>
              <a:rPr lang="en-US" sz="1600" dirty="0">
                <a:latin typeface="Arial"/>
                <a:cs typeface="Arial"/>
              </a:rPr>
              <a:t> (RHS vs. LHS accumulations)</a:t>
            </a:r>
          </a:p>
          <a:p>
            <a:pPr marL="285750" indent="-285750">
              <a:buFont typeface="Arial" pitchFamily="34" charset="0"/>
              <a:buChar char="•"/>
            </a:pPr>
            <a:r>
              <a:rPr lang="en-US" sz="1600" dirty="0">
                <a:latin typeface="Arial"/>
                <a:cs typeface="Arial"/>
              </a:rPr>
              <a:t>Accumulation order</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35</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 envisaged at </a:t>
            </a:r>
            <a:r>
              <a:rPr lang="en-US" dirty="0" err="1"/>
              <a:t>Colleoli</a:t>
            </a:r>
            <a:r>
              <a:rPr lang="en-US" dirty="0"/>
              <a:t> Workshop</a:t>
            </a:r>
          </a:p>
        </p:txBody>
      </p:sp>
      <p:sp>
        <p:nvSpPr>
          <p:cNvPr id="3" name="Content Placeholder 2"/>
          <p:cNvSpPr>
            <a:spLocks noGrp="1"/>
          </p:cNvSpPr>
          <p:nvPr>
            <p:ph idx="1"/>
          </p:nvPr>
        </p:nvSpPr>
        <p:spPr/>
        <p:txBody>
          <a:bodyPr>
            <a:normAutofit/>
          </a:bodyPr>
          <a:lstStyle/>
          <a:p>
            <a:r>
              <a:rPr lang="en-US" dirty="0" err="1"/>
              <a:t>SaturationFunction</a:t>
            </a:r>
            <a:r>
              <a:rPr lang="en-US" dirty="0"/>
              <a:t> – relative permeability and capillary pressure</a:t>
            </a:r>
          </a:p>
          <a:p>
            <a:r>
              <a:rPr lang="en-US" dirty="0" err="1"/>
              <a:t>FluidProperties</a:t>
            </a:r>
            <a:r>
              <a:rPr lang="en-US" dirty="0"/>
              <a:t> – fluid properties, speciation, phases, components</a:t>
            </a:r>
          </a:p>
          <a:p>
            <a:r>
              <a:rPr lang="en-US" dirty="0" err="1"/>
              <a:t>GenericPropertyGradient</a:t>
            </a:r>
            <a:r>
              <a:rPr lang="en-US" dirty="0"/>
              <a:t> – FV centered gradients</a:t>
            </a:r>
          </a:p>
          <a:p>
            <a:r>
              <a:rPr lang="en-US" dirty="0" err="1"/>
              <a:t>FlowFunctions</a:t>
            </a:r>
            <a:r>
              <a:rPr lang="en-US" dirty="0"/>
              <a:t> – fractional flows, derivatives etc.</a:t>
            </a:r>
          </a:p>
          <a:p>
            <a:r>
              <a:rPr lang="en-US" dirty="0" err="1"/>
              <a:t>FacetFlux</a:t>
            </a:r>
            <a:r>
              <a:rPr lang="en-US" dirty="0"/>
              <a:t> – upwind directions and facet fluxes computed stencil by stencil</a:t>
            </a:r>
          </a:p>
          <a:p>
            <a:r>
              <a:rPr lang="en-US" dirty="0" err="1"/>
              <a:t>FluxEvaluator</a:t>
            </a:r>
            <a:r>
              <a:rPr lang="en-US" dirty="0"/>
              <a:t> – flux computations for entire region of computation</a:t>
            </a:r>
          </a:p>
          <a:p>
            <a:r>
              <a:rPr lang="en-US" dirty="0"/>
              <a:t>Accumulator – assembling LHS and RHS operators </a:t>
            </a:r>
          </a:p>
          <a:p>
            <a:r>
              <a:rPr lang="en-US" dirty="0" err="1"/>
              <a:t>VectorOperator</a:t>
            </a:r>
            <a:r>
              <a:rPr lang="en-US" dirty="0"/>
              <a:t> – base class for RHS integrals and BCs</a:t>
            </a:r>
          </a:p>
          <a:p>
            <a:r>
              <a:rPr lang="en-US" dirty="0" err="1"/>
              <a:t>MatrixOperator</a:t>
            </a:r>
            <a:r>
              <a:rPr lang="en-US" dirty="0"/>
              <a:t> – base class for LHS integrals</a:t>
            </a:r>
          </a:p>
          <a:p>
            <a:r>
              <a:rPr lang="en-US" dirty="0" err="1"/>
              <a:t>ExplicitTransport</a:t>
            </a:r>
            <a:r>
              <a:rPr lang="en-US" dirty="0"/>
              <a:t> – assembly of explicit scheme solution</a:t>
            </a:r>
          </a:p>
          <a:p>
            <a:r>
              <a:rPr lang="en-US" dirty="0" err="1"/>
              <a:t>ImplicitTransport</a:t>
            </a:r>
            <a:r>
              <a:rPr lang="en-US" dirty="0"/>
              <a:t> – Newton-</a:t>
            </a:r>
            <a:r>
              <a:rPr lang="en-US" dirty="0" err="1"/>
              <a:t>Raphson</a:t>
            </a:r>
            <a:r>
              <a:rPr lang="en-US" dirty="0"/>
              <a:t> – </a:t>
            </a:r>
            <a:r>
              <a:rPr lang="en-US" dirty="0" err="1"/>
              <a:t>LineSearch</a:t>
            </a:r>
            <a:r>
              <a:rPr lang="en-US" dirty="0"/>
              <a:t> accumulation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36</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a:latin typeface="Arial"/>
                <a:cs typeface="Arial"/>
              </a:rPr>
              <a:t>Read Class</a:t>
            </a:r>
          </a:p>
          <a:p>
            <a:pPr marL="285750" indent="-285750">
              <a:buFont typeface="Arial" pitchFamily="34" charset="0"/>
              <a:buChar char="•"/>
            </a:pPr>
            <a:r>
              <a:rPr lang="en-US" sz="1600" dirty="0">
                <a:latin typeface="Arial"/>
                <a:cs typeface="Arial"/>
              </a:rPr>
              <a:t>Reading variables</a:t>
            </a:r>
          </a:p>
          <a:p>
            <a:pPr marL="285750" indent="-285750">
              <a:buFont typeface="Arial" pitchFamily="34" charset="0"/>
              <a:buChar char="•"/>
            </a:pPr>
            <a:r>
              <a:rPr lang="en-US" sz="1600" dirty="0">
                <a:latin typeface="Arial"/>
                <a:cs typeface="Arial"/>
              </a:rPr>
              <a:t>Scaling n and m</a:t>
            </a:r>
          </a:p>
          <a:p>
            <a:endParaRPr lang="en-US" sz="1600" dirty="0">
              <a:latin typeface="Arial"/>
              <a:cs typeface="Arial"/>
            </a:endParaRPr>
          </a:p>
          <a:p>
            <a:r>
              <a:rPr lang="en-US" sz="1600" dirty="0">
                <a:latin typeface="Arial"/>
                <a:cs typeface="Arial"/>
              </a:rPr>
              <a:t>Store Class</a:t>
            </a:r>
          </a:p>
          <a:p>
            <a:pPr marL="285750" indent="-285750">
              <a:buFont typeface="Arial" pitchFamily="34" charset="0"/>
              <a:buChar char="•"/>
            </a:pPr>
            <a:r>
              <a:rPr lang="en-US" sz="1600" dirty="0">
                <a:latin typeface="Arial"/>
                <a:cs typeface="Arial"/>
              </a:rPr>
              <a:t>Range check</a:t>
            </a:r>
          </a:p>
          <a:p>
            <a:pPr marL="285750" indent="-285750">
              <a:buFont typeface="Arial" pitchFamily="34" charset="0"/>
              <a:buChar char="•"/>
            </a:pPr>
            <a:r>
              <a:rPr lang="en-US" sz="1600" dirty="0">
                <a:latin typeface="Arial"/>
                <a:cs typeface="Arial"/>
              </a:rPr>
              <a:t>Storing results and </a:t>
            </a:r>
            <a:r>
              <a:rPr lang="en-US" sz="1600" dirty="0" err="1">
                <a:latin typeface="Arial"/>
                <a:cs typeface="Arial"/>
              </a:rPr>
              <a:t>velocitits</a:t>
            </a:r>
            <a:endParaRPr lang="en-US" sz="1600" dirty="0">
              <a:latin typeface="Arial"/>
              <a:cs typeface="Arial"/>
            </a:endParaRPr>
          </a:p>
          <a:p>
            <a:endParaRPr lang="en-US" sz="1600" b="1" dirty="0">
              <a:latin typeface="Arial"/>
              <a:cs typeface="Arial"/>
            </a:endParaRPr>
          </a:p>
          <a:p>
            <a:r>
              <a:rPr lang="en-US" sz="1600" b="1" dirty="0">
                <a:latin typeface="Arial"/>
                <a:cs typeface="Arial"/>
              </a:rPr>
              <a:t>Time Increment Class</a:t>
            </a:r>
          </a:p>
          <a:p>
            <a:pPr marL="285750" indent="-285750">
              <a:buFont typeface="Arial" pitchFamily="34" charset="0"/>
              <a:buChar char="•"/>
            </a:pPr>
            <a:r>
              <a:rPr lang="en-US" sz="1600" dirty="0">
                <a:latin typeface="Arial"/>
                <a:cs typeface="Arial"/>
              </a:rPr>
              <a:t>Calculate CFL</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r>
              <a:rPr lang="en-US" sz="1600" b="1" dirty="0" err="1">
                <a:latin typeface="Arial"/>
                <a:cs typeface="Arial"/>
              </a:rPr>
              <a:t>UpwindDirection</a:t>
            </a:r>
            <a:r>
              <a:rPr lang="en-US" sz="1600" b="1" dirty="0">
                <a:latin typeface="Arial"/>
                <a:cs typeface="Arial"/>
              </a:rPr>
              <a:t> Class</a:t>
            </a:r>
          </a:p>
          <a:p>
            <a:pPr marL="285750" indent="-285750">
              <a:buFont typeface="Arial" pitchFamily="34" charset="0"/>
              <a:buChar char="•"/>
            </a:pPr>
            <a:r>
              <a:rPr lang="en-US" sz="1600" dirty="0">
                <a:latin typeface="Arial"/>
                <a:cs typeface="Arial"/>
              </a:rPr>
              <a:t>Projections</a:t>
            </a:r>
          </a:p>
          <a:p>
            <a:pPr marL="285750" indent="-285750">
              <a:buFont typeface="Arial" pitchFamily="34" charset="0"/>
              <a:buChar char="•"/>
            </a:pPr>
            <a:r>
              <a:rPr lang="en-US" sz="1600" dirty="0">
                <a:latin typeface="Arial"/>
                <a:cs typeface="Arial"/>
              </a:rPr>
              <a:t>Determine upwind nodes</a:t>
            </a:r>
          </a:p>
          <a:p>
            <a:endParaRPr lang="en-US" sz="1600" dirty="0">
              <a:latin typeface="Arial"/>
              <a:cs typeface="Arial"/>
            </a:endParaRPr>
          </a:p>
          <a:p>
            <a:r>
              <a:rPr lang="en-US" sz="1600" b="1" dirty="0">
                <a:latin typeface="Arial"/>
                <a:cs typeface="Arial"/>
              </a:rPr>
              <a:t>Manager Class</a:t>
            </a:r>
          </a:p>
          <a:p>
            <a:pPr marL="285750" indent="-285750">
              <a:buFont typeface="Arial" pitchFamily="34" charset="0"/>
              <a:buChar char="•"/>
            </a:pPr>
            <a:r>
              <a:rPr lang="en-US" sz="1600" dirty="0">
                <a:latin typeface="Arial"/>
                <a:cs typeface="Arial"/>
              </a:rPr>
              <a:t>Calculating and updating porosity and pore volume</a:t>
            </a:r>
          </a:p>
          <a:p>
            <a:pPr marL="285750" indent="-285750">
              <a:buFont typeface="Arial" pitchFamily="34" charset="0"/>
              <a:buChar char="•"/>
            </a:pPr>
            <a:r>
              <a:rPr lang="en-US" sz="1600" dirty="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a:latin typeface="Arial"/>
                <a:cs typeface="Arial"/>
              </a:rPr>
              <a:t>Additional physics/chemistry</a:t>
            </a:r>
          </a:p>
          <a:p>
            <a:endParaRPr lang="en-US" sz="1600" dirty="0">
              <a:latin typeface="Arial"/>
              <a:cs typeface="Arial"/>
            </a:endParaRPr>
          </a:p>
          <a:p>
            <a:r>
              <a:rPr lang="en-US" sz="1600" b="1" dirty="0">
                <a:latin typeface="Arial"/>
                <a:cs typeface="Arial"/>
              </a:rPr>
              <a:t>Boundary Class</a:t>
            </a:r>
          </a:p>
          <a:p>
            <a:pPr marL="285750" indent="-285750">
              <a:buFont typeface="Arial" pitchFamily="34" charset="0"/>
              <a:buChar char="•"/>
            </a:pPr>
            <a:r>
              <a:rPr lang="en-US" sz="1600" dirty="0">
                <a:latin typeface="Arial"/>
                <a:cs typeface="Arial"/>
              </a:rPr>
              <a:t>Boundary conditions</a:t>
            </a:r>
          </a:p>
          <a:p>
            <a:pPr marL="285750" indent="-285750">
              <a:buFontTx/>
              <a:buChar char="-"/>
            </a:pPr>
            <a:endParaRPr lang="en-US" sz="1600" dirty="0">
              <a:latin typeface="Arial"/>
              <a:cs typeface="Arial"/>
            </a:endParaRPr>
          </a:p>
          <a:p>
            <a:r>
              <a:rPr lang="en-US" sz="1600" b="1" dirty="0" err="1">
                <a:latin typeface="Arial"/>
                <a:cs typeface="Arial"/>
              </a:rPr>
              <a:t>DetermineStoreFacetFlux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37</a:t>
            </a:fld>
            <a:endParaRPr lang="de-CH"/>
          </a:p>
        </p:txBody>
      </p:sp>
    </p:spTree>
    <p:extLst>
      <p:ext uri="{BB962C8B-B14F-4D97-AF65-F5344CB8AC3E}">
        <p14:creationId xmlns:p14="http://schemas.microsoft.com/office/powerpoint/2010/main" val="3985956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FiniteVolumeVariableGradient</a:t>
            </a:r>
            <a:endParaRPr lang="en-US" dirty="0"/>
          </a:p>
        </p:txBody>
      </p:sp>
      <p:sp>
        <p:nvSpPr>
          <p:cNvPr id="3" name="Content Placeholder 2"/>
          <p:cNvSpPr>
            <a:spLocks noGrp="1"/>
          </p:cNvSpPr>
          <p:nvPr>
            <p:ph idx="1"/>
          </p:nvPr>
        </p:nvSpPr>
        <p:spPr/>
        <p:txBody>
          <a:bodyPr/>
          <a:lstStyle/>
          <a:p>
            <a:r>
              <a:rPr lang="en-US" dirty="0" err="1"/>
              <a:t>PropertyGradient</a:t>
            </a:r>
            <a:r>
              <a:rPr lang="en-US" dirty="0"/>
              <a:t>()</a:t>
            </a:r>
          </a:p>
          <a:p>
            <a:r>
              <a:rPr lang="en-US" dirty="0" err="1"/>
              <a:t>PropertyGradientLimiter</a:t>
            </a:r>
            <a:r>
              <a:rPr lang="en-US" dirty="0"/>
              <a:t>() – should this be here?</a:t>
            </a:r>
          </a:p>
          <a:p>
            <a:endParaRPr lang="en-US" dirty="0"/>
          </a:p>
          <a:p>
            <a:r>
              <a:rPr lang="en-US" dirty="0"/>
              <a:t>For FV centered estimation of facet saturations as in Geiger et al. (2004)</a:t>
            </a:r>
          </a:p>
          <a:p>
            <a:r>
              <a:rPr lang="en-US" dirty="0"/>
              <a:t>Separate treatment of model boundary versus interior</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38</a:t>
            </a:fld>
            <a:endParaRPr lang="en-US"/>
          </a:p>
        </p:txBody>
      </p:sp>
    </p:spTree>
    <p:extLst>
      <p:ext uri="{BB962C8B-B14F-4D97-AF65-F5344CB8AC3E}">
        <p14:creationId xmlns:p14="http://schemas.microsoft.com/office/powerpoint/2010/main" val="22443134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SaturationFunction</a:t>
            </a:r>
            <a:endParaRPr lang="en-US" dirty="0"/>
          </a:p>
        </p:txBody>
      </p:sp>
      <p:sp>
        <p:nvSpPr>
          <p:cNvPr id="3" name="Content Placeholder 2"/>
          <p:cNvSpPr>
            <a:spLocks noGrp="1"/>
          </p:cNvSpPr>
          <p:nvPr>
            <p:ph idx="1"/>
          </p:nvPr>
        </p:nvSpPr>
        <p:spPr/>
        <p:txBody>
          <a:bodyPr/>
          <a:lstStyle/>
          <a:p>
            <a:r>
              <a:rPr lang="en-US" dirty="0"/>
              <a:t>From saturation(s) provided externally computes </a:t>
            </a:r>
            <a:r>
              <a:rPr lang="en-US" dirty="0" err="1"/>
              <a:t>kri</a:t>
            </a:r>
            <a:r>
              <a:rPr lang="en-US" dirty="0"/>
              <a:t>(</a:t>
            </a:r>
            <a:r>
              <a:rPr lang="en-US" dirty="0" err="1"/>
              <a:t>sw</a:t>
            </a:r>
            <a:r>
              <a:rPr lang="en-US" dirty="0"/>
              <a:t>), pc(</a:t>
            </a:r>
            <a:r>
              <a:rPr lang="en-US" dirty="0" err="1"/>
              <a:t>sw</a:t>
            </a:r>
            <a:r>
              <a:rPr lang="en-US" dirty="0"/>
              <a:t>), </a:t>
            </a:r>
            <a:r>
              <a:rPr lang="en-US" dirty="0" err="1"/>
              <a:t>dpc</a:t>
            </a:r>
            <a:r>
              <a:rPr lang="en-US" dirty="0"/>
              <a:t>/ds</a:t>
            </a:r>
          </a:p>
          <a:p>
            <a:r>
              <a:rPr lang="en-US" dirty="0"/>
              <a:t>Has access to the element interface (and initializes itself there)</a:t>
            </a:r>
          </a:p>
          <a:p>
            <a:r>
              <a:rPr lang="en-US" dirty="0"/>
              <a:t>relative permeability can be a function of all kinds of parameters (hysteresis, velocity dependence, etc.)</a:t>
            </a:r>
          </a:p>
          <a:p>
            <a:r>
              <a:rPr lang="en-US" dirty="0"/>
              <a:t>capillary pressure function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39</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Fluid</a:t>
            </a:r>
            <a:r>
              <a:rPr lang="en-US" dirty="0" err="1">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a:t>Input are P, T, X</a:t>
            </a:r>
          </a:p>
          <a:p>
            <a:r>
              <a:rPr lang="en-US" dirty="0"/>
              <a:t>(Maximum) number of phases</a:t>
            </a:r>
          </a:p>
          <a:p>
            <a:r>
              <a:rPr lang="en-US" dirty="0"/>
              <a:t>Number of components per phase</a:t>
            </a:r>
          </a:p>
          <a:p>
            <a:r>
              <a:rPr lang="en-US" dirty="0"/>
              <a:t>Mass fractions</a:t>
            </a:r>
          </a:p>
          <a:p>
            <a:r>
              <a:rPr lang="en-US" dirty="0"/>
              <a:t>Phase densities</a:t>
            </a:r>
          </a:p>
          <a:p>
            <a:r>
              <a:rPr lang="en-US" dirty="0"/>
              <a:t>Phase viscosities</a:t>
            </a:r>
          </a:p>
          <a:p>
            <a:r>
              <a:rPr lang="en-US" dirty="0"/>
              <a:t>Saturations (in the case of mass-fraction based scheme)</a:t>
            </a:r>
          </a:p>
          <a:p>
            <a:r>
              <a:rPr lang="en-US" dirty="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a:t>Compute total mobility, fractional flows, derivatives, pc-derivatives etc. from input variables computed by </a:t>
            </a:r>
            <a:r>
              <a:rPr lang="en-US" b="1" dirty="0" err="1"/>
              <a:t>SaturationFunctions</a:t>
            </a:r>
            <a:r>
              <a:rPr lang="en-US" dirty="0"/>
              <a:t> and </a:t>
            </a:r>
            <a:r>
              <a:rPr lang="en-US" b="1" dirty="0" err="1"/>
              <a:t>FluidProperties</a:t>
            </a:r>
            <a:endParaRPr lang="en-US" b="1" dirty="0"/>
          </a:p>
          <a:p>
            <a:r>
              <a:rPr lang="en-US" dirty="0"/>
              <a:t>Default: all derivatives are evaluated numerically</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a:t>FacetNormalPermeabilities</a:t>
            </a:r>
            <a:r>
              <a:rPr lang="en-US" dirty="0"/>
              <a:t>() – method called in constructor</a:t>
            </a:r>
          </a:p>
          <a:p>
            <a:r>
              <a:rPr lang="en-US" dirty="0" err="1"/>
              <a:t>FaceAndComponentFluxes</a:t>
            </a:r>
            <a:r>
              <a:rPr lang="en-US" dirty="0"/>
              <a:t>()</a:t>
            </a:r>
          </a:p>
          <a:p>
            <a:r>
              <a:rPr lang="en-US" dirty="0" err="1"/>
              <a:t>UpwindDirection</a:t>
            </a:r>
            <a:r>
              <a:rPr lang="en-US" dirty="0"/>
              <a:t>() – prerequisite to flux </a:t>
            </a:r>
            <a:r>
              <a:rPr lang="en-US" dirty="0" err="1"/>
              <a:t>calculuation</a:t>
            </a:r>
            <a:r>
              <a:rPr lang="en-US" dirty="0"/>
              <a:t>; must be found for each phase</a:t>
            </a:r>
          </a:p>
          <a:p>
            <a:r>
              <a:rPr lang="en-US" dirty="0"/>
              <a:t>To compute first- and second order facet fluxes </a:t>
            </a:r>
          </a:p>
          <a:p>
            <a:r>
              <a:rPr lang="en-US" b="1" dirty="0"/>
              <a:t>Operations</a:t>
            </a:r>
            <a:r>
              <a:rPr lang="en-US" dirty="0"/>
              <a:t>:</a:t>
            </a:r>
          </a:p>
          <a:p>
            <a:pPr lvl="1"/>
            <a:r>
              <a:rPr lang="en-US" dirty="0"/>
              <a:t>computes total mobility and velocity if needs</a:t>
            </a:r>
          </a:p>
          <a:p>
            <a:pPr lvl="1"/>
            <a:r>
              <a:rPr lang="en-US" dirty="0"/>
              <a:t>interpolate saturation using </a:t>
            </a:r>
            <a:r>
              <a:rPr lang="en-US" b="1" dirty="0" err="1"/>
              <a:t>FiniteVolumeVariableGradient</a:t>
            </a:r>
            <a:r>
              <a:rPr lang="en-US" dirty="0"/>
              <a:t> to find facet saturation</a:t>
            </a:r>
          </a:p>
          <a:p>
            <a:pPr lvl="1"/>
            <a:r>
              <a:rPr lang="en-US" dirty="0"/>
              <a:t>Uses </a:t>
            </a:r>
            <a:r>
              <a:rPr lang="en-US" b="1" dirty="0" err="1"/>
              <a:t>FlowFunctions</a:t>
            </a:r>
            <a:r>
              <a:rPr lang="en-US" dirty="0"/>
              <a:t> to compute fractional flow, derivatives etc.</a:t>
            </a:r>
          </a:p>
          <a:p>
            <a:pPr lvl="1"/>
            <a:r>
              <a:rPr lang="en-US" dirty="0"/>
              <a:t>find </a:t>
            </a:r>
            <a:r>
              <a:rPr lang="en-US" i="1" dirty="0"/>
              <a:t>phase </a:t>
            </a:r>
            <a:r>
              <a:rPr lang="en-US" i="1" dirty="0" err="1"/>
              <a:t>velocit</a:t>
            </a:r>
            <a:r>
              <a:rPr lang="en-US" i="1" dirty="0"/>
              <a:t>(</a:t>
            </a:r>
            <a:r>
              <a:rPr lang="en-US" i="1" dirty="0" err="1"/>
              <a:t>ies</a:t>
            </a:r>
            <a:r>
              <a:rPr lang="en-US" i="1" dirty="0"/>
              <a:t>) </a:t>
            </a:r>
            <a:r>
              <a:rPr lang="en-US" dirty="0"/>
              <a:t>(viscous, gravitational and capillary) at the barycenter to determine the upwind directions for all facets</a:t>
            </a:r>
          </a:p>
          <a:p>
            <a:pPr lvl="1"/>
            <a:r>
              <a:rPr lang="en-US" dirty="0"/>
              <a:t>evaluate </a:t>
            </a:r>
            <a:r>
              <a:rPr lang="en-US" dirty="0" err="1"/>
              <a:t>relperms</a:t>
            </a:r>
            <a:r>
              <a:rPr lang="en-US" dirty="0"/>
              <a:t> (using all kinds of parameters) via </a:t>
            </a:r>
            <a:r>
              <a:rPr lang="en-US" b="1" dirty="0" err="1"/>
              <a:t>SaturationFunction</a:t>
            </a:r>
            <a:endParaRPr lang="en-US" b="1" dirty="0"/>
          </a:p>
          <a:p>
            <a:pPr lvl="1"/>
            <a:r>
              <a:rPr lang="en-US" dirty="0"/>
              <a:t>Get fluid properties (</a:t>
            </a:r>
            <a:r>
              <a:rPr lang="en-US" dirty="0" err="1"/>
              <a:t>densitie</a:t>
            </a:r>
            <a:r>
              <a:rPr lang="en-US" dirty="0"/>
              <a:t>(s), viscosity(s), concentrations etc.)</a:t>
            </a:r>
          </a:p>
          <a:p>
            <a:pPr lvl="1"/>
            <a:r>
              <a:rPr lang="en-US" dirty="0"/>
              <a:t>Evaluate </a:t>
            </a:r>
            <a:r>
              <a:rPr lang="en-US" dirty="0" err="1"/>
              <a:t>mobilities</a:t>
            </a:r>
            <a:r>
              <a:rPr lang="en-US" dirty="0"/>
              <a:t> and fractional flows</a:t>
            </a:r>
          </a:p>
          <a:p>
            <a:pPr lvl="1"/>
            <a:r>
              <a:rPr lang="en-US" dirty="0"/>
              <a:t>Compute facet fluxes</a:t>
            </a:r>
          </a:p>
          <a:p>
            <a:pPr lvl="1"/>
            <a:r>
              <a:rPr lang="en-US" dirty="0"/>
              <a:t>Store facet fluxes</a:t>
            </a:r>
          </a:p>
          <a:p>
            <a:pPr lvl="1"/>
            <a:r>
              <a:rPr lang="en-US" dirty="0"/>
              <a:t>NO LIMITING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Upstream direction vs. Inside-Outside nodes</a:t>
            </a:r>
          </a:p>
        </p:txBody>
      </p:sp>
      <p:sp>
        <p:nvSpPr>
          <p:cNvPr id="3" name="Content Placeholder 2"/>
          <p:cNvSpPr>
            <a:spLocks noGrp="1"/>
          </p:cNvSpPr>
          <p:nvPr>
            <p:ph idx="1"/>
          </p:nvPr>
        </p:nvSpPr>
        <p:spPr>
          <a:xfrm>
            <a:off x="457200" y="914401"/>
            <a:ext cx="8229600" cy="498376"/>
          </a:xfrm>
        </p:spPr>
        <p:txBody>
          <a:bodyPr/>
          <a:lstStyle/>
          <a:p>
            <a:r>
              <a:rPr lang="en-US" dirty="0"/>
              <a:t>Keep the distinction clear</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43</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the upstream direction</a:t>
            </a:r>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a:t>Method of </a:t>
            </a:r>
            <a:r>
              <a:rPr lang="en-US" sz="1800" dirty="0" err="1"/>
              <a:t>Shaho</a:t>
            </a:r>
            <a:r>
              <a:rPr lang="en-US" sz="1800" dirty="0"/>
              <a:t> for simultaneous capillary – gravitational  - viscous flows.</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44</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a:solidFill>
                  <a:schemeClr val="accent1">
                    <a:lumMod val="50000"/>
                  </a:schemeClr>
                </a:solidFill>
              </a:rPr>
              <a:t>average o-w mobility  </a:t>
            </a:r>
          </a:p>
        </p:txBody>
      </p:sp>
    </p:spTree>
    <p:extLst>
      <p:ext uri="{BB962C8B-B14F-4D97-AF65-F5344CB8AC3E}">
        <p14:creationId xmlns:p14="http://schemas.microsoft.com/office/powerpoint/2010/main" val="4004265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a:t>Upstream direction calculation algorithms</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45</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a:solidFill>
                  <a:srgbClr val="0000FF"/>
                </a:solidFill>
                <a:latin typeface="Arial"/>
                <a:cs typeface="Arial"/>
              </a:rPr>
              <a:t>for an incoming flux</a:t>
            </a: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a:solidFill>
                  <a:srgbClr val="FF0066"/>
                </a:solidFill>
                <a:latin typeface="Arial"/>
                <a:cs typeface="Arial"/>
              </a:rPr>
              <a:t>for outgoing fluxes</a:t>
            </a: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a:latin typeface="Arial"/>
                <a:cs typeface="Arial"/>
              </a:rPr>
              <a:t>k</a:t>
            </a:r>
            <a:r>
              <a:rPr lang="en-US" baseline="30000" dirty="0" err="1">
                <a:latin typeface="Arial"/>
                <a:cs typeface="Arial"/>
              </a:rPr>
              <a:t>_hat</a:t>
            </a:r>
            <a:r>
              <a:rPr lang="en-US" baseline="30000" dirty="0">
                <a:latin typeface="Arial"/>
                <a:cs typeface="Arial"/>
              </a:rPr>
              <a:t> is 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a:t>FacetFluxes</a:t>
            </a:r>
            <a:r>
              <a:rPr lang="en-US" dirty="0"/>
              <a:t>() – distributed and stored on facets</a:t>
            </a:r>
          </a:p>
          <a:p>
            <a:r>
              <a:rPr lang="en-US" dirty="0" err="1"/>
              <a:t>FiniteVolumeFluxBalance</a:t>
            </a:r>
            <a:r>
              <a:rPr lang="en-US" dirty="0"/>
              <a:t>() – stored on finite volumes</a:t>
            </a:r>
          </a:p>
          <a:p>
            <a:r>
              <a:rPr lang="en-US" dirty="0" err="1"/>
              <a:t>FiniteVolumePropertyGradients</a:t>
            </a:r>
            <a:r>
              <a:rPr lang="en-US" dirty="0"/>
              <a:t>()</a:t>
            </a:r>
          </a:p>
          <a:p>
            <a:r>
              <a:rPr lang="en-US" dirty="0" err="1"/>
              <a:t>FluxDivergence</a:t>
            </a:r>
            <a:r>
              <a:rPr lang="en-US" dirty="0"/>
              <a:t>()</a:t>
            </a:r>
          </a:p>
          <a:p>
            <a:r>
              <a:rPr lang="en-US" dirty="0"/>
              <a:t>sources and sink terms computed on the sectors</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Comments</a:t>
            </a:r>
          </a:p>
          <a:p>
            <a:r>
              <a:rPr lang="en-US" dirty="0"/>
              <a:t>uses </a:t>
            </a:r>
            <a:r>
              <a:rPr lang="en-US" dirty="0" err="1"/>
              <a:t>GenericPropertyGradient</a:t>
            </a:r>
            <a:endParaRPr lang="en-US" dirty="0"/>
          </a:p>
          <a:p>
            <a:r>
              <a:rPr lang="en-US" dirty="0"/>
              <a:t>uses </a:t>
            </a:r>
            <a:r>
              <a:rPr lang="en-US" dirty="0" err="1"/>
              <a:t>FacetFlux</a:t>
            </a:r>
            <a:endParaRPr lang="en-US" dirty="0"/>
          </a:p>
          <a:p>
            <a:pPr lvl="1"/>
            <a:r>
              <a:rPr lang="en-US" dirty="0"/>
              <a:t>uses </a:t>
            </a:r>
            <a:r>
              <a:rPr lang="en-US" dirty="0" err="1"/>
              <a:t>SaturationFunction</a:t>
            </a:r>
            <a:endParaRPr lang="en-US" dirty="0"/>
          </a:p>
          <a:p>
            <a:pPr lvl="1"/>
            <a:r>
              <a:rPr lang="en-US" dirty="0"/>
              <a:t>uses </a:t>
            </a:r>
            <a:r>
              <a:rPr lang="en-US" dirty="0" err="1"/>
              <a:t>FluidProperty</a:t>
            </a:r>
            <a:endParaRPr lang="en-US" dirty="0"/>
          </a:p>
          <a:p>
            <a:r>
              <a:rPr lang="en-US" i="1" dirty="0"/>
              <a:t>perhaps one could also store sector flux balances</a:t>
            </a:r>
          </a:p>
          <a:p>
            <a:r>
              <a:rPr lang="en-US" i="1" dirty="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r>
              <a:rPr lang="en-US" dirty="0"/>
              <a:t> (for the entire region)</a:t>
            </a:r>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fluid properties (including the saturations)</a:t>
            </a:r>
          </a:p>
          <a:p>
            <a:r>
              <a:rPr lang="en-US" dirty="0"/>
              <a:t>If a second-order is requested, computes the finite-volume centered property gradients</a:t>
            </a:r>
          </a:p>
          <a:p>
            <a:r>
              <a:rPr lang="en-US" dirty="0"/>
              <a:t>Calls </a:t>
            </a:r>
            <a:r>
              <a:rPr lang="en-US" b="1" dirty="0" err="1"/>
              <a:t>FacetFlux</a:t>
            </a:r>
            <a:r>
              <a:rPr lang="en-US" dirty="0"/>
              <a:t> to compute facet fluxes of phases</a:t>
            </a:r>
          </a:p>
          <a:p>
            <a:r>
              <a:rPr lang="en-US" dirty="0"/>
              <a:t>Integrates total incoming versus outgoing fluxes for each finite volume</a:t>
            </a:r>
          </a:p>
          <a:p>
            <a:pPr marL="0" indent="0">
              <a:buNone/>
            </a:pPr>
            <a:r>
              <a:rPr lang="en-US" i="1" dirty="0"/>
              <a:t>Question: Limiting should be done on the phase flux (total). What does this imply for where the limiter is called (by </a:t>
            </a:r>
            <a:r>
              <a:rPr lang="en-US" i="1" dirty="0" err="1"/>
              <a:t>FacetFluxEvaluator</a:t>
            </a:r>
            <a:r>
              <a:rPr lang="en-US" i="1" dirty="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47</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a:t>Criteria</a:t>
            </a:r>
            <a:r>
              <a:rPr lang="en-US" dirty="0"/>
              <a:t> (keep DES implementation in mind)</a:t>
            </a:r>
          </a:p>
          <a:p>
            <a:r>
              <a:rPr lang="en-US" dirty="0" err="1"/>
              <a:t>OutflowLessThanContentCriterion</a:t>
            </a:r>
            <a:r>
              <a:rPr lang="en-US" dirty="0"/>
              <a:t>()</a:t>
            </a:r>
          </a:p>
          <a:p>
            <a:r>
              <a:rPr lang="en-US" dirty="0" err="1"/>
              <a:t>StreamlineCFL</a:t>
            </a:r>
            <a:r>
              <a:rPr lang="en-US" dirty="0"/>
              <a:t>()</a:t>
            </a:r>
          </a:p>
          <a:p>
            <a:r>
              <a:rPr lang="en-US" dirty="0" err="1"/>
              <a:t>MaxStep</a:t>
            </a:r>
            <a:r>
              <a:rPr lang="en-US" dirty="0"/>
              <a:t>()</a:t>
            </a:r>
          </a:p>
          <a:p>
            <a:r>
              <a:rPr lang="en-US" dirty="0" err="1"/>
              <a:t>MinStep</a:t>
            </a:r>
            <a:r>
              <a:rPr lang="en-US" dirty="0"/>
              <a:t>()</a:t>
            </a:r>
          </a:p>
          <a:p>
            <a:pPr marL="0" indent="0">
              <a:buNone/>
            </a:pPr>
            <a:endParaRPr lang="en-US" dirty="0"/>
          </a:p>
          <a:p>
            <a:pPr marL="0" indent="0">
              <a:buNone/>
            </a:pPr>
            <a:r>
              <a:rPr lang="en-US" b="1" dirty="0"/>
              <a:t>Considerations</a:t>
            </a:r>
          </a:p>
          <a:p>
            <a:r>
              <a:rPr lang="en-US" dirty="0"/>
              <a:t>element-by-element evaluation taking into element length in direction of flow and volume of finite volumes</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48</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a:t>For Explicit- and </a:t>
            </a:r>
            <a:r>
              <a:rPr lang="en-US" i="1" dirty="0" err="1"/>
              <a:t>ImplicitTransport</a:t>
            </a:r>
            <a:r>
              <a:rPr lang="en-US" i="1" dirty="0"/>
              <a:t> classes and using </a:t>
            </a:r>
            <a:r>
              <a:rPr lang="en-US" i="1" dirty="0" err="1"/>
              <a:t>precomputed</a:t>
            </a:r>
            <a:r>
              <a:rPr lang="en-US" i="1" dirty="0"/>
              <a:t> facet fluxes</a:t>
            </a:r>
          </a:p>
        </p:txBody>
      </p:sp>
    </p:spTree>
    <p:extLst>
      <p:ext uri="{BB962C8B-B14F-4D97-AF65-F5344CB8AC3E}">
        <p14:creationId xmlns:p14="http://schemas.microsoft.com/office/powerpoint/2010/main" val="18747433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classes that carry out the transport</a:t>
            </a:r>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a:t>Combine accumulation with application of boundary conditions and machinery required to compute solutions / time-integrate transport equations using data from </a:t>
            </a:r>
            <a:r>
              <a:rPr lang="en-US" dirty="0" err="1"/>
              <a:t>timestep</a:t>
            </a:r>
            <a:r>
              <a:rPr lang="en-US" dirty="0"/>
              <a:t> evaluator </a:t>
            </a:r>
          </a:p>
          <a:p>
            <a:pPr marL="0" indent="0">
              <a:buNone/>
            </a:pPr>
            <a:r>
              <a:rPr lang="en-US" b="1" dirty="0" err="1"/>
              <a:t>ExplicitTransport</a:t>
            </a:r>
            <a:endParaRPr lang="en-US" b="1" dirty="0"/>
          </a:p>
          <a:p>
            <a:pPr marL="0" indent="0">
              <a:buNone/>
            </a:pPr>
            <a:r>
              <a:rPr lang="en-US" dirty="0"/>
              <a:t>	- In the simplest case, just writes the solution vector</a:t>
            </a:r>
          </a:p>
          <a:p>
            <a:pPr marL="0" indent="0">
              <a:buNone/>
            </a:pPr>
            <a:r>
              <a:rPr lang="en-US" b="1" dirty="0" err="1"/>
              <a:t>ImplicitTransport</a:t>
            </a:r>
            <a:endParaRPr lang="en-US" b="1" dirty="0"/>
          </a:p>
          <a:p>
            <a:pPr lvl="1"/>
            <a:r>
              <a:rPr lang="en-US" dirty="0"/>
              <a:t>Combines accumulation into </a:t>
            </a:r>
            <a:r>
              <a:rPr lang="en-US" dirty="0" err="1"/>
              <a:t>SparseMatrix</a:t>
            </a:r>
            <a:r>
              <a:rPr lang="en-US" dirty="0"/>
              <a:t> with solution with solver, range checks, etc.</a:t>
            </a:r>
          </a:p>
          <a:p>
            <a:pPr lvl="1"/>
            <a:r>
              <a:rPr lang="en-US" dirty="0"/>
              <a:t>Used to implement iterative solution schemes, for instance, Newton </a:t>
            </a:r>
            <a:r>
              <a:rPr lang="en-US" dirty="0" err="1"/>
              <a:t>Raphson</a:t>
            </a:r>
            <a:r>
              <a:rPr lang="en-US" dirty="0"/>
              <a:t> with line search a la Christine</a:t>
            </a:r>
          </a:p>
          <a:p>
            <a:pPr lvl="1"/>
            <a:r>
              <a:rPr lang="en-US" dirty="0"/>
              <a:t>Manages </a:t>
            </a:r>
            <a:r>
              <a:rPr lang="en-US" dirty="0" err="1"/>
              <a:t>csmp</a:t>
            </a:r>
            <a:r>
              <a:rPr lang="en-US" dirty="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49</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50</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865"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a:t>LHS_Accumulator</a:t>
            </a:r>
            <a:r>
              <a:rPr lang="en-US" sz="2800" dirty="0"/>
              <a:t>  and  </a:t>
            </a:r>
            <a:r>
              <a:rPr lang="en-US" sz="2800" dirty="0" err="1"/>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a:t>PDE_Integrator</a:t>
            </a:r>
            <a:r>
              <a:rPr lang="en-US" sz="1400" dirty="0"/>
              <a:t> style functionality to assemble flux / source / sink etc. terms into an Ax=b   or simple vector framework so that a solution can be formed or computed: </a:t>
            </a:r>
            <a:r>
              <a:rPr lang="en-US" sz="1400" b="1" dirty="0" err="1"/>
              <a:t>MatrixOperator</a:t>
            </a:r>
            <a:r>
              <a:rPr lang="en-US" sz="1400" dirty="0"/>
              <a:t> and </a:t>
            </a:r>
            <a:r>
              <a:rPr lang="en-US" sz="1400" b="1" dirty="0" err="1"/>
              <a:t>VectorOperator</a:t>
            </a:r>
            <a:endParaRPr lang="en-US" sz="1400" b="1" dirty="0"/>
          </a:p>
          <a:p>
            <a:r>
              <a:rPr lang="en-US" sz="1400" dirty="0"/>
              <a:t>Accumulation by </a:t>
            </a:r>
            <a:r>
              <a:rPr lang="en-US" sz="1400" b="1" dirty="0" err="1"/>
              <a:t>MatrixOperator</a:t>
            </a:r>
            <a:r>
              <a:rPr lang="en-US" sz="1400" dirty="0"/>
              <a:t> and </a:t>
            </a:r>
            <a:r>
              <a:rPr lang="en-US" sz="1400" b="1" dirty="0" err="1"/>
              <a:t>VectorOperator</a:t>
            </a:r>
            <a:r>
              <a:rPr lang="en-US" sz="1400" b="1" dirty="0"/>
              <a:t> </a:t>
            </a:r>
            <a:r>
              <a:rPr lang="en-US" sz="1400" dirty="0"/>
              <a:t>with state variables that specify how and when they should be accumulated.</a:t>
            </a:r>
          </a:p>
          <a:p>
            <a:endParaRPr lang="en-US" sz="1400" dirty="0"/>
          </a:p>
          <a:p>
            <a:endParaRPr lang="en-US" sz="1400" dirty="0"/>
          </a:p>
          <a:p>
            <a:endParaRPr lang="en-US" sz="1400" dirty="0"/>
          </a:p>
          <a:p>
            <a:pPr marL="0" indent="0">
              <a:buNone/>
            </a:pPr>
            <a:endParaRPr lang="en-US" sz="1400" dirty="0"/>
          </a:p>
          <a:p>
            <a:r>
              <a:rPr lang="en-US" sz="1400" dirty="0"/>
              <a:t>We need telling names for:</a:t>
            </a:r>
          </a:p>
          <a:p>
            <a:pPr lvl="1">
              <a:spcBef>
                <a:spcPts val="100"/>
              </a:spcBef>
              <a:spcAft>
                <a:spcPts val="300"/>
              </a:spcAft>
            </a:pPr>
            <a:r>
              <a:rPr lang="en-US" sz="1400" dirty="0"/>
              <a:t>Pore volumes divided by </a:t>
            </a:r>
            <a:r>
              <a:rPr lang="en-US" sz="1400" dirty="0" err="1"/>
              <a:t>time_increment</a:t>
            </a:r>
            <a:r>
              <a:rPr lang="en-US" sz="1400" dirty="0"/>
              <a:t> into diagonal of matrix</a:t>
            </a:r>
          </a:p>
          <a:p>
            <a:pPr lvl="1">
              <a:spcBef>
                <a:spcPts val="100"/>
              </a:spcBef>
              <a:spcAft>
                <a:spcPts val="300"/>
              </a:spcAft>
            </a:pPr>
            <a:r>
              <a:rPr lang="en-US" sz="1400" dirty="0"/>
              <a:t>Incoming (higher-order) fluxes coupling diagonal with off-diagonal</a:t>
            </a:r>
          </a:p>
          <a:p>
            <a:pPr lvl="1">
              <a:spcBef>
                <a:spcPts val="100"/>
              </a:spcBef>
              <a:spcAft>
                <a:spcPts val="300"/>
              </a:spcAft>
            </a:pPr>
            <a:r>
              <a:rPr lang="en-US" sz="1400" dirty="0"/>
              <a:t>Outgoing(higher-order) fluxes added to diagonal</a:t>
            </a:r>
          </a:p>
          <a:p>
            <a:pPr lvl="1">
              <a:spcBef>
                <a:spcPts val="100"/>
              </a:spcBef>
              <a:spcAft>
                <a:spcPts val="300"/>
              </a:spcAft>
            </a:pPr>
            <a:r>
              <a:rPr lang="en-US" sz="1400" dirty="0"/>
              <a:t>Sources / sinks for LHS and RHS</a:t>
            </a:r>
          </a:p>
          <a:p>
            <a:pPr lvl="1">
              <a:spcBef>
                <a:spcPts val="100"/>
              </a:spcBef>
              <a:spcAft>
                <a:spcPts val="300"/>
              </a:spcAft>
            </a:pPr>
            <a:r>
              <a:rPr lang="en-US" sz="1400" dirty="0"/>
              <a:t>All of the above for RHS</a:t>
            </a:r>
          </a:p>
          <a:p>
            <a:pPr lvl="1">
              <a:spcBef>
                <a:spcPts val="100"/>
              </a:spcBef>
              <a:spcAft>
                <a:spcPts val="300"/>
              </a:spcAft>
            </a:pPr>
            <a:r>
              <a:rPr lang="en-US" sz="1400" dirty="0" err="1"/>
              <a:t>Jacobians</a:t>
            </a:r>
            <a:r>
              <a:rPr lang="en-US" sz="1400" dirty="0"/>
              <a:t> for iterative solutions</a:t>
            </a:r>
          </a:p>
          <a:p>
            <a:pPr lvl="1">
              <a:spcBef>
                <a:spcPts val="100"/>
              </a:spcBef>
              <a:spcAft>
                <a:spcPts val="300"/>
              </a:spcAft>
            </a:pPr>
            <a:r>
              <a:rPr lang="en-US" sz="1400" dirty="0"/>
              <a:t>Diffusion type FEM integral operators</a:t>
            </a:r>
          </a:p>
          <a:p>
            <a:pPr lvl="1">
              <a:spcBef>
                <a:spcPts val="100"/>
              </a:spcBef>
              <a:spcAft>
                <a:spcPts val="300"/>
              </a:spcAft>
            </a:pPr>
            <a:r>
              <a:rPr lang="en-US" sz="1400" dirty="0"/>
              <a:t>Any of these at different time-levels</a:t>
            </a:r>
          </a:p>
          <a:p>
            <a:pPr lvl="1">
              <a:spcBef>
                <a:spcPts val="100"/>
              </a:spcBef>
              <a:spcAft>
                <a:spcPts val="300"/>
              </a:spcAft>
            </a:pPr>
            <a:r>
              <a:rPr lang="en-US" sz="1400" dirty="0"/>
              <a:t>Theta-weighting for second-order in time method</a:t>
            </a:r>
          </a:p>
          <a:p>
            <a:pPr>
              <a:spcBef>
                <a:spcPts val="100"/>
              </a:spcBef>
              <a:spcAft>
                <a:spcPts val="300"/>
              </a:spcAft>
            </a:pPr>
            <a:r>
              <a:rPr lang="en-US" sz="1400" dirty="0"/>
              <a:t>Static polymorphism for speed</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51</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a:solidFill>
                  <a:srgbClr val="FF0066"/>
                </a:solidFill>
                <a:latin typeface="Arial"/>
                <a:cs typeface="Arial"/>
              </a:rPr>
              <a:t>Can this be done at compile time ?</a:t>
            </a:r>
          </a:p>
          <a:p>
            <a:endParaRPr lang="en-US" i="1" dirty="0">
              <a:solidFill>
                <a:srgbClr val="FF0066"/>
              </a:solidFill>
              <a:latin typeface="Arial"/>
              <a:cs typeface="Arial"/>
            </a:endParaRPr>
          </a:p>
          <a:p>
            <a:r>
              <a:rPr lang="en-US" i="1" dirty="0">
                <a:solidFill>
                  <a:srgbClr val="FF0066"/>
                </a:solidFill>
                <a:latin typeface="Arial"/>
                <a:cs typeface="Arial"/>
              </a:rPr>
              <a:t>Can we use expression templates ?</a:t>
            </a:r>
          </a:p>
        </p:txBody>
      </p:sp>
    </p:spTree>
    <p:extLst>
      <p:ext uri="{BB962C8B-B14F-4D97-AF65-F5344CB8AC3E}">
        <p14:creationId xmlns:p14="http://schemas.microsoft.com/office/powerpoint/2010/main" val="11674252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 options</a:t>
            </a:r>
          </a:p>
        </p:txBody>
      </p:sp>
      <p:sp>
        <p:nvSpPr>
          <p:cNvPr id="3" name="Content Placeholder 2"/>
          <p:cNvSpPr>
            <a:spLocks noGrp="1"/>
          </p:cNvSpPr>
          <p:nvPr>
            <p:ph idx="1"/>
          </p:nvPr>
        </p:nvSpPr>
        <p:spPr>
          <a:xfrm>
            <a:off x="457200" y="836712"/>
            <a:ext cx="8229600" cy="5211763"/>
          </a:xfrm>
        </p:spPr>
        <p:txBody>
          <a:bodyPr/>
          <a:lstStyle/>
          <a:p>
            <a:r>
              <a:rPr lang="en-US" dirty="0"/>
              <a:t>Divide / multiply-with time-increment</a:t>
            </a:r>
          </a:p>
          <a:p>
            <a:r>
              <a:rPr lang="en-US" dirty="0"/>
              <a:t>Add, </a:t>
            </a:r>
            <a:r>
              <a:rPr lang="en-US" dirty="0" err="1"/>
              <a:t>Substract</a:t>
            </a:r>
            <a:r>
              <a:rPr lang="en-US" dirty="0"/>
              <a:t>, Multiply</a:t>
            </a:r>
          </a:p>
          <a:p>
            <a:r>
              <a:rPr lang="en-US" dirty="0"/>
              <a:t>Late Accumulate</a:t>
            </a:r>
          </a:p>
          <a:p>
            <a:r>
              <a:rPr lang="en-US" i="1" dirty="0"/>
              <a:t>Bracket operators ? – for expressions (1 +b) c or defined by sequence in which they are added?</a:t>
            </a:r>
          </a:p>
          <a:p>
            <a:r>
              <a:rPr lang="en-US" dirty="0"/>
              <a:t>Lumping for LHS only</a:t>
            </a:r>
          </a:p>
          <a:p>
            <a:r>
              <a:rPr lang="en-US" dirty="0"/>
              <a:t>Theta-weighting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52</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TimeStepEvaluator</a:t>
            </a:r>
            <a:endParaRPr lang="en-US" dirty="0"/>
          </a:p>
        </p:txBody>
      </p:sp>
      <p:sp>
        <p:nvSpPr>
          <p:cNvPr id="3" name="Content Placeholder 2"/>
          <p:cNvSpPr>
            <a:spLocks noGrp="1"/>
          </p:cNvSpPr>
          <p:nvPr>
            <p:ph idx="1"/>
          </p:nvPr>
        </p:nvSpPr>
        <p:spPr/>
        <p:txBody>
          <a:bodyPr/>
          <a:lstStyle/>
          <a:p>
            <a:r>
              <a:rPr lang="en-US" dirty="0"/>
              <a:t>Computes advection step such that the amount of fluid that leaves any FV is not greater than what was in there before the step</a:t>
            </a:r>
          </a:p>
          <a:p>
            <a:r>
              <a:rPr lang="en-US" dirty="0"/>
              <a:t>Writes diagnostics to FV cells, but stores min/max values internally for query at end of loop</a:t>
            </a:r>
          </a:p>
          <a:p>
            <a:r>
              <a:rPr lang="en-US" dirty="0"/>
              <a:t>For accuracy, criteria must be FV cell based, but facet flux can be </a:t>
            </a:r>
            <a:r>
              <a:rPr lang="en-US" dirty="0" err="1"/>
              <a:t>precomputed</a:t>
            </a:r>
            <a:r>
              <a:rPr lang="en-US" dirty="0"/>
              <a:t> in an element-by-element, facet-by-facet computation</a:t>
            </a:r>
          </a:p>
          <a:p>
            <a:r>
              <a:rPr lang="en-US" dirty="0"/>
              <a:t>For implicit schemes any relaxation is applied to this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53</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ExplicitTransport</a:t>
            </a:r>
            <a:r>
              <a:rPr lang="en-US" dirty="0"/>
              <a:t>    and    </a:t>
            </a:r>
            <a:r>
              <a:rPr lang="en-US" dirty="0" err="1"/>
              <a:t>ImplicitTransport</a:t>
            </a:r>
            <a:endParaRPr lang="en-US" dirty="0"/>
          </a:p>
        </p:txBody>
      </p:sp>
      <p:sp>
        <p:nvSpPr>
          <p:cNvPr id="3" name="Content Placeholder 2"/>
          <p:cNvSpPr>
            <a:spLocks noGrp="1"/>
          </p:cNvSpPr>
          <p:nvPr>
            <p:ph idx="1"/>
          </p:nvPr>
        </p:nvSpPr>
        <p:spPr/>
        <p:txBody>
          <a:bodyPr/>
          <a:lstStyle/>
          <a:p>
            <a:r>
              <a:rPr lang="en-US" dirty="0"/>
              <a:t>Drives </a:t>
            </a:r>
          </a:p>
          <a:p>
            <a:pPr lvl="1"/>
            <a:r>
              <a:rPr lang="en-US" dirty="0" err="1"/>
              <a:t>FluxEvaluator</a:t>
            </a:r>
            <a:endParaRPr lang="en-US" dirty="0"/>
          </a:p>
          <a:p>
            <a:pPr lvl="1"/>
            <a:r>
              <a:rPr lang="en-US" dirty="0" err="1"/>
              <a:t>TimeStepEvaluator</a:t>
            </a:r>
            <a:endParaRPr lang="en-US" dirty="0"/>
          </a:p>
          <a:p>
            <a:pPr lvl="1"/>
            <a:r>
              <a:rPr lang="en-US" dirty="0"/>
              <a:t>Accumulator</a:t>
            </a:r>
          </a:p>
          <a:p>
            <a:pPr lvl="1"/>
            <a:r>
              <a:rPr lang="en-US" dirty="0"/>
              <a:t>Solver</a:t>
            </a:r>
          </a:p>
          <a:p>
            <a:r>
              <a:rPr lang="en-US" dirty="0"/>
              <a:t>Solution process can involve </a:t>
            </a:r>
            <a:r>
              <a:rPr lang="en-US" dirty="0" err="1"/>
              <a:t>NewtonRaphson</a:t>
            </a:r>
            <a:r>
              <a:rPr lang="en-US" dirty="0"/>
              <a:t> and </a:t>
            </a:r>
            <a:r>
              <a:rPr lang="en-US" dirty="0" err="1"/>
              <a:t>LineSearch</a:t>
            </a:r>
            <a:r>
              <a:rPr lang="en-US" dirty="0"/>
              <a:t> algorithms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a:t>Simulation steps (big picture)</a:t>
            </a:r>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from 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55</a:t>
            </a:fld>
            <a:endParaRPr lang="en-US"/>
          </a:p>
        </p:txBody>
      </p:sp>
    </p:spTree>
    <p:extLst>
      <p:ext uri="{BB962C8B-B14F-4D97-AF65-F5344CB8AC3E}">
        <p14:creationId xmlns:p14="http://schemas.microsoft.com/office/powerpoint/2010/main" val="34673355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56</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slightly compressible</a:t>
            </a: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329"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330"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331"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332"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To do</a:t>
            </a:r>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a:t>Rigorous implementation of 2-phase, 2-component transport</a:t>
            </a:r>
          </a:p>
          <a:p>
            <a:pPr lvl="1"/>
            <a:r>
              <a:rPr lang="en-US" dirty="0"/>
              <a:t>aqueous phase: CO2 – salt – H2O</a:t>
            </a:r>
          </a:p>
          <a:p>
            <a:pPr lvl="1"/>
            <a:r>
              <a:rPr lang="en-US" dirty="0"/>
              <a:t>capture effects on density and viscosity</a:t>
            </a:r>
          </a:p>
          <a:p>
            <a:r>
              <a:rPr lang="en-US" dirty="0"/>
              <a:t>Model dry out (CO2 </a:t>
            </a:r>
            <a:r>
              <a:rPr lang="en-US" dirty="0" err="1"/>
              <a:t>dessication</a:t>
            </a:r>
            <a:r>
              <a:rPr lang="en-US" dirty="0"/>
              <a:t>), means that water content of CO2 phase must be tracked (important for geophysical signatures)</a:t>
            </a:r>
          </a:p>
          <a:p>
            <a:r>
              <a:rPr lang="en-US" dirty="0"/>
              <a:t>Capture porosity and permeability effects of salt precipitation </a:t>
            </a:r>
          </a:p>
          <a:p>
            <a:r>
              <a:rPr lang="en-US" dirty="0"/>
              <a:t>Remove grid sensitivity from CO2 dissolution rates by including an equilibration time that depends on grid-block size</a:t>
            </a:r>
          </a:p>
          <a:p>
            <a:pPr lvl="1"/>
            <a:r>
              <a:rPr lang="en-US" dirty="0"/>
              <a:t>Local equilibrium assumption is a can of worms!</a:t>
            </a:r>
          </a:p>
          <a:p>
            <a:r>
              <a:rPr lang="en-US" dirty="0"/>
              <a:t>implement full tensor permeability transport </a:t>
            </a:r>
            <a:r>
              <a:rPr lang="en-US" dirty="0" err="1"/>
              <a:t>modelling</a:t>
            </a:r>
            <a:endParaRPr lang="en-US" dirty="0"/>
          </a:p>
          <a:p>
            <a:r>
              <a:rPr lang="en-US" dirty="0"/>
              <a:t>test </a:t>
            </a:r>
            <a:r>
              <a:rPr lang="en-US" dirty="0" err="1"/>
              <a:t>relperm</a:t>
            </a:r>
            <a:r>
              <a:rPr lang="en-US" dirty="0"/>
              <a:t> hysteresis formulation</a:t>
            </a:r>
          </a:p>
          <a:p>
            <a:r>
              <a:rPr lang="en-US" dirty="0"/>
              <a:t>Make sure that the subtle density changes of water due to dissolved CO2 are resolved correctly </a:t>
            </a:r>
          </a:p>
          <a:p>
            <a:r>
              <a:rPr lang="en-US" dirty="0"/>
              <a:t>Work with reduced pressure and reference density (much more accurate!)   </a:t>
            </a:r>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57</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58</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a:latin typeface="Arial"/>
                <a:cs typeface="Arial"/>
              </a:rPr>
              <a:t>Improving existing code</a:t>
            </a:r>
          </a:p>
        </p:txBody>
      </p:sp>
    </p:spTree>
    <p:extLst>
      <p:ext uri="{BB962C8B-B14F-4D97-AF65-F5344CB8AC3E}">
        <p14:creationId xmlns:p14="http://schemas.microsoft.com/office/powerpoint/2010/main" val="19475702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Improvements</a:t>
            </a:r>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a:t>must become Singleton</a:t>
            </a:r>
          </a:p>
        </p:txBody>
      </p:sp>
      <p:sp>
        <p:nvSpPr>
          <p:cNvPr id="2" name="Date Placeholder 1"/>
          <p:cNvSpPr>
            <a:spLocks noGrp="1"/>
          </p:cNvSpPr>
          <p:nvPr>
            <p:ph type="dt" sz="half" idx="10"/>
          </p:nvPr>
        </p:nvSpPr>
        <p:spPr/>
        <p:txBody>
          <a:bodyPr/>
          <a:lstStyle/>
          <a:p>
            <a:fld id="{3A2121E2-B05F-B94B-BD08-7791A84524CA}" type="datetime1">
              <a:rPr lang="en-US" smtClean="0"/>
              <a:pPr/>
              <a:t>10/2/18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59</a:t>
            </a:fld>
            <a:endParaRPr lang="en-US"/>
          </a:p>
        </p:txBody>
      </p:sp>
    </p:spTree>
    <p:extLst>
      <p:ext uri="{BB962C8B-B14F-4D97-AF65-F5344CB8AC3E}">
        <p14:creationId xmlns:p14="http://schemas.microsoft.com/office/powerpoint/2010/main" val="38060636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Keeping support functionality from </a:t>
            </a:r>
            <a:r>
              <a:rPr lang="en-US" b="1" dirty="0" err="1"/>
              <a:t>NodeCenteredFiniteVolumeTransport</a:t>
            </a:r>
            <a:r>
              <a:rPr lang="en-US" b="1" dirty="0"/>
              <a:t> ?</a:t>
            </a:r>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a:t>Class needs a rebuild, but SKM suggests that certain functions are kept:</a:t>
            </a:r>
          </a:p>
          <a:p>
            <a:r>
              <a:rPr lang="en-US" dirty="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also needed to manage accumulations / integrations etc. </a:t>
            </a:r>
          </a:p>
          <a:p>
            <a:pPr lvl="1"/>
            <a:r>
              <a:rPr lang="en-US" dirty="0"/>
              <a:t>CFL calculations etc. could be moved to </a:t>
            </a:r>
            <a:r>
              <a:rPr lang="en-US" b="1" dirty="0" err="1"/>
              <a:t>finiteVolumeAuxiliaryFunctions</a:t>
            </a:r>
            <a:r>
              <a:rPr lang="en-US" dirty="0"/>
              <a:t> ?</a:t>
            </a:r>
          </a:p>
          <a:p>
            <a:pPr lvl="1"/>
            <a:r>
              <a:rPr lang="en-US" dirty="0"/>
              <a:t>Complicated procedure to compute nodal volume fluid source terms for </a:t>
            </a:r>
            <a:r>
              <a:rPr lang="en-US" dirty="0" err="1"/>
              <a:t>PointSourceRHS</a:t>
            </a:r>
            <a:r>
              <a:rPr lang="en-US" dirty="0"/>
              <a:t> in FEM scheme should be replaced  by </a:t>
            </a:r>
            <a:r>
              <a:rPr lang="en-US" dirty="0" err="1"/>
              <a:t>pde_operators</a:t>
            </a:r>
            <a:r>
              <a:rPr lang="en-US" dirty="0"/>
              <a:t>.</a:t>
            </a:r>
          </a:p>
          <a:p>
            <a:pPr lvl="1"/>
            <a:r>
              <a:rPr lang="en-US" dirty="0"/>
              <a:t>Transport variables not stored in NCFVT / </a:t>
            </a:r>
            <a:r>
              <a:rPr lang="en-US" dirty="0" err="1"/>
              <a:t>FV_Parameter</a:t>
            </a:r>
            <a:r>
              <a:rPr lang="en-US" dirty="0"/>
              <a:t> array, but on model</a:t>
            </a:r>
          </a:p>
          <a:p>
            <a:pPr lvl="2"/>
            <a:r>
              <a:rPr lang="en-US" dirty="0"/>
              <a:t>Implication: transport variables exist everywhere!</a:t>
            </a:r>
          </a:p>
          <a:p>
            <a:pPr lvl="1"/>
            <a:r>
              <a:rPr lang="en-US" dirty="0"/>
              <a:t>Single phase transport should also be associated with a phase?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60</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Scope for improvement: </a:t>
            </a:r>
            <a:r>
              <a:rPr lang="en-US" dirty="0" err="1"/>
              <a:t>FiniteVolumeTraits</a:t>
            </a:r>
            <a:endParaRPr lang="en-US" dirty="0"/>
          </a:p>
        </p:txBody>
      </p:sp>
      <p:sp>
        <p:nvSpPr>
          <p:cNvPr id="3" name="Content Placeholder 2"/>
          <p:cNvSpPr>
            <a:spLocks noGrp="1"/>
          </p:cNvSpPr>
          <p:nvPr>
            <p:ph idx="1"/>
          </p:nvPr>
        </p:nvSpPr>
        <p:spPr/>
        <p:txBody>
          <a:bodyPr>
            <a:normAutofit/>
          </a:bodyPr>
          <a:lstStyle/>
          <a:p>
            <a:r>
              <a:rPr lang="en-US" dirty="0"/>
              <a:t>Speed-up: It may be possible to carry out velocity computations entirely in parametric space, saving several </a:t>
            </a:r>
            <a:r>
              <a:rPr lang="en-US" dirty="0" err="1"/>
              <a:t>Jacobian</a:t>
            </a:r>
            <a:r>
              <a:rPr lang="en-US" dirty="0"/>
              <a:t> operations</a:t>
            </a:r>
          </a:p>
          <a:p>
            <a:r>
              <a:rPr lang="en-US" dirty="0"/>
              <a:t>Confusing functions in interface of </a:t>
            </a:r>
            <a:r>
              <a:rPr lang="en-US" b="1" dirty="0" err="1"/>
              <a:t>FiniteVolumeTraits</a:t>
            </a:r>
            <a:r>
              <a:rPr lang="en-US" dirty="0"/>
              <a:t>:</a:t>
            </a:r>
          </a:p>
          <a:p>
            <a:pPr marL="0" indent="0">
              <a:buNone/>
            </a:pPr>
            <a:r>
              <a:rPr lang="en-US" dirty="0"/>
              <a:t>  	</a:t>
            </a:r>
            <a:r>
              <a:rPr lang="en-US" sz="1400" dirty="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Point&lt;3U&gt;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457200" lvl="1" indent="0">
              <a:buNone/>
            </a:pPr>
            <a:endParaRPr lang="en-US" sz="1400" dirty="0"/>
          </a:p>
          <a:p>
            <a:r>
              <a:rPr lang="en-US" dirty="0"/>
              <a:t>Is there an issue with velocity computations on polyhedral (multi-element type) meshes, where there appears to be a divergence in the velocity field?</a:t>
            </a:r>
          </a:p>
          <a:p>
            <a:r>
              <a:rPr lang="en-US" dirty="0"/>
              <a:t>Option PYRAMID_WITH_TRIANGULAR_FACETS should be used always and flag should be removed</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62</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a:latin typeface="Arial"/>
                <a:cs typeface="Arial"/>
              </a:rPr>
              <a:t>Background </a:t>
            </a:r>
          </a:p>
          <a:p>
            <a:pPr algn="ctr"/>
            <a:r>
              <a:rPr lang="en-US" sz="5400" dirty="0">
                <a:latin typeface="Arial"/>
                <a:cs typeface="Arial"/>
              </a:rPr>
              <a:t>Information</a:t>
            </a:r>
          </a:p>
        </p:txBody>
      </p:sp>
    </p:spTree>
    <p:extLst>
      <p:ext uri="{BB962C8B-B14F-4D97-AF65-F5344CB8AC3E}">
        <p14:creationId xmlns:p14="http://schemas.microsoft.com/office/powerpoint/2010/main" val="1082805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a:t>Komponenten</a:t>
            </a:r>
            <a:r>
              <a:rPr lang="en-US" dirty="0"/>
              <a:t>:</a:t>
            </a:r>
          </a:p>
          <a:p>
            <a:pPr marL="285750" indent="-285750">
              <a:buFontTx/>
              <a:buChar char="-"/>
            </a:pPr>
            <a:r>
              <a:rPr lang="en-US" dirty="0" err="1"/>
              <a:t>Mobilities</a:t>
            </a:r>
            <a:r>
              <a:rPr lang="en-US" dirty="0"/>
              <a:t> and gravity term (n)</a:t>
            </a:r>
          </a:p>
          <a:p>
            <a:pPr marL="742950" lvl="1" indent="-285750">
              <a:buFontTx/>
              <a:buChar char="-"/>
            </a:pPr>
            <a:r>
              <a:rPr lang="en-US" dirty="0"/>
              <a:t>at integration points</a:t>
            </a:r>
          </a:p>
          <a:p>
            <a:pPr marL="742950" lvl="1" indent="-285750">
              <a:buFontTx/>
              <a:buChar char="-"/>
            </a:pPr>
            <a:r>
              <a:rPr lang="en-US" dirty="0" err="1"/>
              <a:t>upwinded</a:t>
            </a:r>
            <a:r>
              <a:rPr lang="en-US" dirty="0"/>
              <a:t> </a:t>
            </a:r>
          </a:p>
          <a:p>
            <a:pPr marL="742950" lvl="1" indent="-285750">
              <a:buFontTx/>
              <a:buChar char="-"/>
            </a:pPr>
            <a:r>
              <a:rPr lang="en-US" dirty="0"/>
              <a:t>at barycenter</a:t>
            </a:r>
          </a:p>
          <a:p>
            <a:pPr marL="285750" indent="-285750">
              <a:buFontTx/>
              <a:buChar char="-"/>
            </a:pPr>
            <a:r>
              <a:rPr lang="en-US" dirty="0"/>
              <a:t>Transport variables (n x m)</a:t>
            </a:r>
          </a:p>
          <a:p>
            <a:pPr marL="742950" lvl="1" indent="-285750">
              <a:buFontTx/>
              <a:buChar char="-"/>
            </a:pPr>
            <a:r>
              <a:rPr lang="en-US" dirty="0"/>
              <a:t>at integration point</a:t>
            </a:r>
          </a:p>
          <a:p>
            <a:pPr marL="742950" lvl="1" indent="-285750">
              <a:buFontTx/>
              <a:buChar char="-"/>
            </a:pPr>
            <a:r>
              <a:rPr lang="en-US" dirty="0"/>
              <a:t>at barycenter</a:t>
            </a:r>
          </a:p>
          <a:p>
            <a:pPr marL="742950" lvl="1" indent="-285750">
              <a:buFontTx/>
              <a:buChar char="-"/>
            </a:pPr>
            <a:r>
              <a:rPr lang="en-US" dirty="0" err="1"/>
              <a:t>upwinded</a:t>
            </a:r>
            <a:endParaRPr lang="en-US" dirty="0"/>
          </a:p>
          <a:p>
            <a:pPr marL="742950" lvl="1" indent="-285750">
              <a:buFontTx/>
              <a:buChar char="-"/>
            </a:pPr>
            <a:r>
              <a:rPr lang="en-US" dirty="0"/>
              <a:t>mixed</a:t>
            </a:r>
          </a:p>
          <a:p>
            <a:pPr marL="285750" indent="-285750">
              <a:buFontTx/>
              <a:buChar char="-"/>
            </a:pPr>
            <a:r>
              <a:rPr lang="en-US" dirty="0"/>
              <a:t>Source Term (n x m)</a:t>
            </a:r>
          </a:p>
          <a:p>
            <a:pPr marL="742950" lvl="1" indent="-285750">
              <a:buFontTx/>
              <a:buChar char="-"/>
            </a:pPr>
            <a:r>
              <a:rPr lang="en-US" dirty="0"/>
              <a:t>nodal, element, sector (?)</a:t>
            </a:r>
          </a:p>
          <a:p>
            <a:pPr marL="285750" indent="-285750">
              <a:buFontTx/>
              <a:buChar char="-"/>
            </a:pPr>
            <a:r>
              <a:rPr lang="en-US" dirty="0"/>
              <a:t>Storage term (n x m)</a:t>
            </a:r>
          </a:p>
          <a:p>
            <a:pPr marL="742950" lvl="1" indent="-285750">
              <a:buFontTx/>
              <a:buChar char="-"/>
            </a:pPr>
            <a:r>
              <a:rPr lang="en-US" dirty="0"/>
              <a:t>nodal, element (?)</a:t>
            </a:r>
          </a:p>
          <a:p>
            <a:pPr marL="285750" indent="-285750">
              <a:buFontTx/>
              <a:buChar char="-"/>
            </a:pPr>
            <a:r>
              <a:rPr lang="en-US" dirty="0"/>
              <a:t>General terms</a:t>
            </a:r>
          </a:p>
          <a:p>
            <a:pPr marL="742950" lvl="1" indent="-285750">
              <a:buFontTx/>
              <a:buChar char="-"/>
            </a:pPr>
            <a:r>
              <a:rPr lang="en-US" dirty="0"/>
              <a:t>porosity / pore volume</a:t>
            </a:r>
          </a:p>
          <a:p>
            <a:pPr marL="742950" lvl="1" indent="-285750">
              <a:buFontTx/>
              <a:buChar char="-"/>
            </a:pPr>
            <a:r>
              <a:rPr lang="en-US" dirty="0"/>
              <a:t>facet area</a:t>
            </a:r>
          </a:p>
          <a:p>
            <a:pPr marL="742950" lvl="1" indent="-285750">
              <a:buFontTx/>
              <a:buChar char="-"/>
            </a:pPr>
            <a:r>
              <a:rPr lang="en-US" dirty="0"/>
              <a:t>facet normal x pressure gradient</a:t>
            </a:r>
          </a:p>
          <a:p>
            <a:pPr marL="285750" indent="-285750">
              <a:buFontTx/>
              <a:buChar char="-"/>
            </a:pPr>
            <a:r>
              <a:rPr lang="en-US" dirty="0"/>
              <a:t>Global terms</a:t>
            </a:r>
          </a:p>
          <a:p>
            <a:pPr marL="742950" lvl="1" indent="-285750">
              <a:buFontTx/>
              <a:buChar char="-"/>
            </a:pPr>
            <a:r>
              <a:rPr lang="en-US" dirty="0"/>
              <a:t>time step / CFL</a:t>
            </a:r>
          </a:p>
          <a:p>
            <a:pPr marL="742950" lvl="1" indent="-285750">
              <a:buFontTx/>
              <a:buChar char="-"/>
            </a:pPr>
            <a:endParaRPr lang="en-US" dirty="0"/>
          </a:p>
          <a:p>
            <a:pPr marL="742950" lvl="1" indent="-285750">
              <a:buFontTx/>
              <a:buChar char="-"/>
            </a:pPr>
            <a:endParaRPr lang="de-CH" dirty="0"/>
          </a:p>
        </p:txBody>
      </p:sp>
      <p:sp>
        <p:nvSpPr>
          <p:cNvPr id="2" name="Slide Number Placeholder 1"/>
          <p:cNvSpPr>
            <a:spLocks noGrp="1"/>
          </p:cNvSpPr>
          <p:nvPr>
            <p:ph type="sldNum" sz="quarter" idx="12"/>
          </p:nvPr>
        </p:nvSpPr>
        <p:spPr/>
        <p:txBody>
          <a:bodyPr/>
          <a:lstStyle/>
          <a:p>
            <a:fld id="{C83A4929-569E-4284-9297-8396DF358F0B}" type="slidenum">
              <a:rPr lang="de-CH" smtClean="0"/>
              <a:t>63</a:t>
            </a:fld>
            <a:endParaRPr lang="de-CH"/>
          </a:p>
        </p:txBody>
      </p:sp>
    </p:spTree>
    <p:extLst>
      <p:ext uri="{BB962C8B-B14F-4D97-AF65-F5344CB8AC3E}">
        <p14:creationId xmlns:p14="http://schemas.microsoft.com/office/powerpoint/2010/main" val="20907480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407"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64</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420"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a:latin typeface="Arial" charset="0"/>
              </a:rPr>
              <a:t>Single-phase transport 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707"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708"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2237"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2238"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2239"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2240"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564"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612"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660"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70</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708"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71</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2234"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2235"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2236"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72</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4043"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4044"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73</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852"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74</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378"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379"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380"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10/2/18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75</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76</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10/2/18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10/2/18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77</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415"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78</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10/2/18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a:latin typeface="Arial" charset="0"/>
                <a:ea typeface="ＭＳ Ｐゴシック" charset="0"/>
                <a:cs typeface="ＭＳ Ｐゴシック" charset="0"/>
              </a:rPr>
              <a:t>Implementation:</a:t>
            </a:r>
            <a:br>
              <a:rPr lang="en-US" dirty="0">
                <a:latin typeface="Arial" charset="0"/>
                <a:ea typeface="ＭＳ Ｐゴシック" charset="0"/>
                <a:cs typeface="ＭＳ Ｐゴシック" charset="0"/>
              </a:rPr>
            </a:br>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79</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80</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Access to </a:t>
            </a:r>
            <a:r>
              <a:rPr lang="en-US" sz="2800" dirty="0" err="1"/>
              <a:t>FiniteVolume</a:t>
            </a:r>
            <a:r>
              <a:rPr lang="en-US" sz="2800" dirty="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through </a:t>
            </a:r>
            <a:r>
              <a:rPr lang="en-US" b="1" dirty="0" err="1"/>
              <a:t>FiniteVolumeTrait</a:t>
            </a:r>
            <a:r>
              <a:rPr lang="en-US" dirty="0" err="1"/>
              <a:t>s</a:t>
            </a:r>
            <a:r>
              <a:rPr lang="en-US" dirty="0"/>
              <a:t> added to Element / Face / Interface:</a:t>
            </a:r>
          </a:p>
          <a:p>
            <a:r>
              <a:rPr lang="en-US" dirty="0"/>
              <a:t>Methods are fast, but it is better to store computed values if used repeatedly</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10/2/18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81</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82</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83</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84</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85</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86</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87</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10/2/18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88</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to implement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89</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10/2/18</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10/2/18</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90</a:t>
            </a:fld>
            <a:endParaRPr lang="en-US"/>
          </a:p>
        </p:txBody>
      </p:sp>
    </p:spTree>
    <p:extLst>
      <p:ext uri="{BB962C8B-B14F-4D97-AF65-F5344CB8AC3E}">
        <p14:creationId xmlns:p14="http://schemas.microsoft.com/office/powerpoint/2010/main" val="42067966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91</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838"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10/2/18</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91</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92</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10/2/18</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92</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751"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93</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10/2/18</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137497</TotalTime>
  <Words>7638</Words>
  <Application>Microsoft Macintosh PowerPoint</Application>
  <PresentationFormat>On-screen Show (4:3)</PresentationFormat>
  <Paragraphs>1348</Paragraphs>
  <Slides>93</Slides>
  <Notes>45</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2</vt:i4>
      </vt:variant>
      <vt:variant>
        <vt:lpstr>Slide Titles</vt:lpstr>
      </vt:variant>
      <vt:variant>
        <vt:i4>93</vt:i4>
      </vt:variant>
    </vt:vector>
  </HeadingPairs>
  <TitlesOfParts>
    <vt:vector size="108" baseType="lpstr">
      <vt:lpstr>ＭＳ Ｐゴシック</vt:lpstr>
      <vt:lpstr>Arial</vt:lpstr>
      <vt:lpstr>Arial Narrow</vt:lpstr>
      <vt:lpstr>Calibri</vt:lpstr>
      <vt:lpstr>Cambria Math</vt:lpstr>
      <vt:lpstr>Courier</vt:lpstr>
      <vt:lpstr>Helvetica</vt:lpstr>
      <vt:lpstr>MT Extra</vt:lpstr>
      <vt:lpstr>Symbol</vt:lpstr>
      <vt:lpstr>Times</vt:lpstr>
      <vt:lpstr>Verdana</vt:lpstr>
      <vt:lpstr>Wingdings</vt:lpstr>
      <vt:lpstr>Office Theme</vt:lpstr>
      <vt:lpstr>Equation</vt:lpstr>
      <vt:lpstr>Equation.DSMT4</vt:lpstr>
      <vt:lpstr>The Complex Systems Modelling Platform  (CSMP++ )</vt:lpstr>
      <vt:lpstr>Outline</vt:lpstr>
      <vt:lpstr>PowerPoint Presentation</vt:lpstr>
      <vt:lpstr>Back to the basics of compressible flow</vt:lpstr>
      <vt:lpstr>Introducing saturations</vt:lpstr>
      <vt:lpstr>Introducing phase composition</vt:lpstr>
      <vt:lpstr>In depth review:          pressure equation from conservation of fluid mass </vt:lpstr>
      <vt:lpstr>Governing equations: Conservation of salt / CO2</vt:lpstr>
      <vt:lpstr>Governing equations: Conservation of energy</vt:lpstr>
      <vt:lpstr>Outline</vt:lpstr>
      <vt:lpstr>Variable placement (Barycentric formulation)</vt:lpstr>
      <vt:lpstr>Variable placement  (integration-point based  formulation)</vt:lpstr>
      <vt:lpstr>Current implementation</vt:lpstr>
      <vt:lpstr>Computation of saturations at new time level</vt:lpstr>
      <vt:lpstr>If necessary: predictor-corrector time-stepping</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Matthai</cp:lastModifiedBy>
  <cp:revision>1000</cp:revision>
  <cp:lastPrinted>2015-06-12T00:56:46Z</cp:lastPrinted>
  <dcterms:created xsi:type="dcterms:W3CDTF">2011-02-07T13:57:38Z</dcterms:created>
  <dcterms:modified xsi:type="dcterms:W3CDTF">2018-10-03T04:33:30Z</dcterms:modified>
</cp:coreProperties>
</file>