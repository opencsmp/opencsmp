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0"/>
    <p:restoredTop sz="70798"/>
  </p:normalViewPr>
  <p:slideViewPr>
    <p:cSldViewPr snapToGrid="0" snapToObjects="1">
      <p:cViewPr>
        <p:scale>
          <a:sx n="111" d="100"/>
          <a:sy n="111" d="100"/>
        </p:scale>
        <p:origin x="-288" y="-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4E1BC-3CD9-864F-BF79-7B44BEA57458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E335B-F28A-CF43-9B42-58B2A7087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1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Design and other 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Code design is not hierarchical: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Cornerpointgrid</a:t>
            </a:r>
            <a:r>
              <a:rPr lang="en-US" dirty="0"/>
              <a:t> does not consist of corner-point cells etc.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Difference between Polygon cell and </a:t>
            </a:r>
            <a:r>
              <a:rPr lang="en-US" dirty="0" err="1"/>
              <a:t>CornerPointCell</a:t>
            </a:r>
            <a:r>
              <a:rPr lang="en-US" dirty="0"/>
              <a:t> is not </a:t>
            </a:r>
            <a:r>
              <a:rPr lang="en-US" dirty="0" err="1"/>
              <a:t>cleare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 smtClean="0"/>
          </a:p>
          <a:p>
            <a:pPr marL="0" indent="0">
              <a:buFontTx/>
              <a:buNone/>
            </a:pPr>
            <a:r>
              <a:rPr lang="en-US" b="1" dirty="0" smtClean="0"/>
              <a:t>Questions</a:t>
            </a:r>
          </a:p>
          <a:p>
            <a:pPr marL="0" indent="0">
              <a:buFontTx/>
              <a:buNone/>
            </a:pPr>
            <a:r>
              <a:rPr lang="en-US" dirty="0" smtClean="0"/>
              <a:t>-</a:t>
            </a:r>
            <a:r>
              <a:rPr lang="en-US" baseline="0" dirty="0" smtClean="0"/>
              <a:t> where are the </a:t>
            </a:r>
            <a:r>
              <a:rPr lang="en-US" baseline="0" dirty="0" err="1" smtClean="0"/>
              <a:t>GridNode</a:t>
            </a:r>
            <a:r>
              <a:rPr lang="en-US" baseline="0" dirty="0" smtClean="0"/>
              <a:t> objects actually stored?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b="1" dirty="0"/>
              <a:t>Refactoring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create quality metrics for each</a:t>
            </a:r>
            <a:r>
              <a:rPr lang="en-US" baseline="0" dirty="0" smtClean="0"/>
              <a:t> cell, right after they are built, isolating those that are problematic or replacing them. Report diagnostics as they arise (before the </a:t>
            </a:r>
            <a:r>
              <a:rPr lang="en-US" baseline="0" dirty="0" err="1" smtClean="0"/>
              <a:t>VSet</a:t>
            </a:r>
            <a:r>
              <a:rPr lang="en-US" baseline="0" dirty="0" smtClean="0"/>
              <a:t> is build)</a:t>
            </a:r>
            <a:endParaRPr lang="en-US" dirty="0" smtClean="0"/>
          </a:p>
          <a:p>
            <a:pPr marL="171450" indent="-171450">
              <a:buFontTx/>
              <a:buChar char="-"/>
            </a:pPr>
            <a:r>
              <a:rPr lang="en-US" dirty="0" smtClean="0"/>
              <a:t>compute </a:t>
            </a:r>
            <a:r>
              <a:rPr lang="en-US" dirty="0"/>
              <a:t>code coverage to focus effort on critical </a:t>
            </a:r>
            <a:r>
              <a:rPr lang="en-US" dirty="0" smtClean="0"/>
              <a:t>methods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is</a:t>
            </a:r>
            <a:r>
              <a:rPr lang="en-US" baseline="0" dirty="0" smtClean="0"/>
              <a:t> there a need to keep property specifications in separate places? – Eclipse will always just be cell properties!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half-constructs so many dysfunctional objects 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0" indent="0">
              <a:buFontTx/>
              <a:buNone/>
            </a:pPr>
            <a:r>
              <a:rPr lang="en-US" b="1" baseline="0" dirty="0" smtClean="0"/>
              <a:t>Unit Testing Strategy</a:t>
            </a:r>
          </a:p>
          <a:p>
            <a:pPr marL="228600" indent="-228600">
              <a:buFontTx/>
              <a:buAutoNum type="arabicPeriod"/>
            </a:pPr>
            <a:r>
              <a:rPr lang="en-US" baseline="0" dirty="0" err="1" smtClean="0"/>
              <a:t>geometricCalculations</a:t>
            </a:r>
            <a:endParaRPr lang="en-US" baseline="0" dirty="0" smtClean="0"/>
          </a:p>
          <a:p>
            <a:pPr marL="228600" indent="-228600">
              <a:buFontTx/>
              <a:buAutoNum type="arabicPeriod"/>
            </a:pPr>
            <a:r>
              <a:rPr lang="en-US" baseline="0" dirty="0" smtClean="0"/>
              <a:t>classes inside of </a:t>
            </a:r>
            <a:r>
              <a:rPr lang="en-US" baseline="0" dirty="0" err="1" smtClean="0"/>
              <a:t>PolygonGrid</a:t>
            </a:r>
            <a:r>
              <a:rPr lang="en-US" baseline="0" dirty="0" smtClean="0"/>
              <a:t> (break up?)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BE335B-F28A-CF43-9B42-58B2A70878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49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COORD – grid</a:t>
            </a:r>
            <a:r>
              <a:rPr lang="en-US" baseline="0" dirty="0" smtClean="0"/>
              <a:t> top to bottom lines which become the pillars and are later subdivided by the cell corners </a:t>
            </a:r>
            <a:r>
              <a:rPr lang="en-US" baseline="0" smtClean="0"/>
              <a:t>specified in ZCORN.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“book order”, line after line until a page has been read, then the next page until all data has been read. I.e. First the top layer (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K=1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read, line by line (begin with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J=1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read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I=1,...,NX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J=2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etc.) Then repeat for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K=2,...,NZ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 </a:t>
            </a:r>
            <a:endParaRPr lang="en-US" dirty="0" smtClean="0"/>
          </a:p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x(1,1)TOP y(1,1)TOP z(1,1)TOP x(1,1)BTM y(1,1)BTM x(2,1)TOP y(2,1)TOP z(2,1)TOP x(2,1)BTM y(2,1)BTM x(3,1)TOP y(3,1)TOP z(3,1)TOP x(3,1)BTM y31,1)BTM . </a:t>
            </a:r>
            <a:endParaRPr lang="en-US" dirty="0" smtClean="0"/>
          </a:p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.x(NX+1,NY+1)TOP y(NX+1,NY+1)TOP z(NX+1,NY+1)TOP x(NX+1,NY+1)BTM y(NX+1,NY+1)BTM z(NX+1,NY+1)BTM </a:t>
            </a:r>
            <a:endParaRPr lang="en-US" dirty="0" smtClean="0"/>
          </a:p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z(1,1)BTM z(2,1)BTM z(3,1)BTM 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 smtClean="0"/>
          </a:p>
          <a:p>
            <a:r>
              <a:rPr lang="en-US" dirty="0" smtClean="0"/>
              <a:t> ZCORN</a:t>
            </a:r>
          </a:p>
          <a:p>
            <a:r>
              <a:rPr lang="en-US" dirty="0" smtClean="0"/>
              <a:t>vertical segmentation</a:t>
            </a:r>
            <a:r>
              <a:rPr lang="en-US" baseline="0" dirty="0" smtClean="0"/>
              <a:t> of the pillars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0. read the grid,</a:t>
            </a:r>
            <a:r>
              <a:rPr lang="en-US" baseline="0" dirty="0" smtClean="0"/>
              <a:t> there will be an </a:t>
            </a:r>
            <a:r>
              <a:rPr lang="en-US" baseline="0" dirty="0" err="1" smtClean="0"/>
              <a:t>i,j,k</a:t>
            </a:r>
            <a:r>
              <a:rPr lang="en-US" baseline="0" dirty="0" smtClean="0"/>
              <a:t>, for each point and a point location corresponding to it. However, some points (in dead cells) coincide, which can be collapsed into single nodes.</a:t>
            </a:r>
          </a:p>
          <a:p>
            <a:r>
              <a:rPr lang="en-US" baseline="0" dirty="0" smtClean="0"/>
              <a:t>data structure:  key(</a:t>
            </a:r>
            <a:r>
              <a:rPr lang="en-US" baseline="0" dirty="0" err="1" smtClean="0"/>
              <a:t>I,j,k</a:t>
            </a:r>
            <a:r>
              <a:rPr lang="en-US" baseline="0" dirty="0" smtClean="0"/>
              <a:t>), value uniquely numbered point (pair(</a:t>
            </a:r>
            <a:r>
              <a:rPr lang="en-US" baseline="0" dirty="0" err="1" smtClean="0"/>
              <a:t>point,idx</a:t>
            </a:r>
            <a:r>
              <a:rPr lang="en-US" baseline="0" dirty="0" smtClean="0"/>
              <a:t>)). This means that different </a:t>
            </a:r>
            <a:r>
              <a:rPr lang="en-US" baseline="0" dirty="0" err="1" smtClean="0"/>
              <a:t>I,j,k’s</a:t>
            </a:r>
            <a:r>
              <a:rPr lang="en-US" baseline="0" dirty="0" smtClean="0"/>
              <a:t> point to the same point and id.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Grid construction</a:t>
            </a:r>
            <a:r>
              <a:rPr lang="en-US" b="1" baseline="0" dirty="0" smtClean="0"/>
              <a:t> algorithm (starting with the pillars with beads)</a:t>
            </a:r>
            <a:endParaRPr lang="en-US" b="1" dirty="0" smtClean="0"/>
          </a:p>
          <a:p>
            <a:r>
              <a:rPr lang="en-US" dirty="0" smtClean="0"/>
              <a:t>1. find the locations</a:t>
            </a:r>
            <a:r>
              <a:rPr lang="en-US" baseline="0" dirty="0" smtClean="0"/>
              <a:t> (in CSMP coordinate space) of the corner-points of the Eclipse grid. Number these points. Currently, these are stored in the Pillar 2D array.</a:t>
            </a:r>
            <a:endParaRPr lang="en-US" dirty="0" smtClean="0"/>
          </a:p>
          <a:p>
            <a:r>
              <a:rPr lang="en-US" dirty="0" smtClean="0"/>
              <a:t>2. w</a:t>
            </a:r>
            <a:r>
              <a:rPr lang="en-US" baseline="0" dirty="0" smtClean="0"/>
              <a:t>alk over the corner-point grid (via pillars) mapping out which points make up the cells</a:t>
            </a:r>
          </a:p>
          <a:p>
            <a:r>
              <a:rPr lang="en-US" baseline="0" dirty="0" smtClean="0"/>
              <a:t>3. create a unique numbering for all points</a:t>
            </a:r>
          </a:p>
          <a:p>
            <a:r>
              <a:rPr lang="en-US" baseline="0" dirty="0" smtClean="0"/>
              <a:t>4. create a </a:t>
            </a:r>
            <a:r>
              <a:rPr lang="en-US" baseline="0" dirty="0" err="1" smtClean="0"/>
              <a:t>plist</a:t>
            </a:r>
            <a:r>
              <a:rPr lang="en-US" baseline="0" dirty="0" smtClean="0"/>
              <a:t> from this unique numbering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BE335B-F28A-CF43-9B42-58B2A70878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4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5B9EAF-F5C2-CC4F-A6D8-5E57AD5CD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1283FB-9E2F-0A42-9CF2-C5DE2B853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29A422-DB8D-124B-AF22-667131FC5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3AADFF0-7462-4641-9F0C-AE5A02B8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7A0EBA-04EC-F644-994E-5C46815D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7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01B2A0-7796-5746-9D1D-3370AA2E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012D8D-8E7D-334B-912E-EB7451757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7DF5D5-C3AE-1642-9482-9061DC9A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F1EBAD-FBE6-A44C-9F1C-2A0EFCA3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786D3D-E57F-8841-80ED-2A963A55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6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058B69-BEB8-324B-86E4-4983AC65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5C959C-7E00-6344-A0B1-DAA9DF78C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B7141-5064-E44F-809D-50612477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E8BD47-2E1C-D549-B849-A2426ACA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1472C8-B153-754C-9C6E-AE13EDC8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4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E2222B-574B-0A43-93D9-7A76C4DB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7815E7-563E-084E-B606-159C06943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247800E-0FD9-0447-A3FE-FA29DA62E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0148131-5496-2349-8070-6E2E2FFB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CA975E-C3F5-384C-B87C-6514226B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D8BD59C-B93E-6A4B-AF41-00A48E09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0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AA52A2-2D68-EF43-8EF1-C712F30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E0D99C-A376-3044-8D78-A0A482546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9FE095E-6071-A942-9FB5-BC69DC31F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8E2F3A4-4BAA-8041-90D2-77A2A2C27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D7E8523-3979-7A49-A4FD-E584A5F13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26E364E-4D34-7C43-9FE2-1862B7DF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5EE3771-3D74-8C41-8A15-B555B7D9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D7F9722-7CD1-AF42-BDCB-1C1121A8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0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21EAF0-11A0-074B-A567-CECEC717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4BD7B4-D6FD-7047-9884-9D796665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51B80F8-131D-D045-B7F3-14F51352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96C4884-67CE-1345-B0F9-AF331CBC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5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F9B9B4C-AA6F-9D40-886D-C9AE3D5B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E284E22-4941-AF4C-BE99-894FDB41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7259881-295C-7145-A0C4-28574035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3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253EB3-7BDC-0C40-9317-980F89B0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CD4F8F-99F4-3A48-BA0B-6BB00EF53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2AE23DF-5DB5-444A-916E-5FCD214AC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57E067E-2DE9-3847-810E-F1195B3D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186560-5E09-6B46-99DC-FAEA2122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1335311-EA11-AA4A-B604-E8DF38B7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195AA7-561F-3041-AFFC-B14307E2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8885482-AAE1-9342-9F66-F195D3DD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06BE98-8C88-D641-AC7A-DB6D1C287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530A47-790A-FA4B-94CF-34646F74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2C4A54-EDFC-BC47-93EC-15AE7714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BA8007D-9739-6B4C-9ABC-6A4755A8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3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3F498-6D38-5544-8136-AEF471E9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FC0007F-C11D-0046-9B43-E398F5D7C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41FE09-C07C-C242-AE2C-64C7FCFE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CA576F-3B5C-4C44-B77A-6E727955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DEA7A1-8E53-284D-AD2C-51DBA23E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1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58CDEB0-52DB-724B-BEF6-E6DD5F5BB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FA4CF4A-298E-EF4C-BDE7-2A0FBEFFB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0127C1-960F-8741-A88C-A08D865E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E0BEA5-D9A7-5848-859F-B8309DF6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BAF9E2-5FE6-A64D-9337-C4F728E2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7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FFF00DF-EE10-D147-AC0D-53088C6F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FF84B8-03F1-DA4A-9654-D5C6543CC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99DAAF-19A1-C044-9C82-D41084F28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F20CF-2588-EA45-96A5-9B2A2D83F5D1}" type="datetimeFigureOut">
              <a:rPr lang="en-US" smtClean="0"/>
              <a:t>19/04/18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9F16B9-9D54-8B4B-B39A-003AF957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0BEDDC-546D-DF4D-8E2D-A7AF285D0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C47EF-19C9-0A43-9C39-369520140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5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43C09B0-55B8-0C49-B33C-09C8A2FC6F36}"/>
              </a:ext>
            </a:extLst>
          </p:cNvPr>
          <p:cNvSpPr txBox="1"/>
          <p:nvPr/>
        </p:nvSpPr>
        <p:spPr>
          <a:xfrm>
            <a:off x="6060160" y="1945907"/>
            <a:ext cx="154882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CornerPointCell</a:t>
            </a:r>
            <a:endParaRPr lang="en-US" sz="1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pillar nodes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well intersections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A457497-166F-C84C-8280-AD0D7503B721}"/>
              </a:ext>
            </a:extLst>
          </p:cNvPr>
          <p:cNvSpPr txBox="1"/>
          <p:nvPr/>
        </p:nvSpPr>
        <p:spPr>
          <a:xfrm>
            <a:off x="6060160" y="3917462"/>
            <a:ext cx="2001051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CornerPointGrid</a:t>
            </a:r>
            <a:endParaRPr lang="en-US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cell activity: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pillars[][]: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cells: map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faults: map</a:t>
            </a: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wellfaces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map</a:t>
            </a: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welledges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map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axes: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well-path functions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8FD756D-EED2-7642-A1E4-6B9A34A14EF6}"/>
              </a:ext>
            </a:extLst>
          </p:cNvPr>
          <p:cNvSpPr txBox="1"/>
          <p:nvPr/>
        </p:nvSpPr>
        <p:spPr>
          <a:xfrm>
            <a:off x="6060160" y="856859"/>
            <a:ext cx="197682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PolygonCell</a:t>
            </a:r>
            <a:endParaRPr lang="en-US" sz="1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stores cell connectivity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8A101B5-C5D4-B84B-BD70-19FB4997C036}"/>
              </a:ext>
            </a:extLst>
          </p:cNvPr>
          <p:cNvSpPr txBox="1"/>
          <p:nvPr/>
        </p:nvSpPr>
        <p:spPr>
          <a:xfrm>
            <a:off x="9198250" y="4118314"/>
            <a:ext cx="185133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PolygonGrid</a:t>
            </a:r>
            <a:endParaRPr lang="en-US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GridNode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*: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deque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GridFace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*: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deque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GridElement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*: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deque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3C6BEDE-81DA-1243-B056-663EF99A20D9}"/>
              </a:ext>
            </a:extLst>
          </p:cNvPr>
          <p:cNvSpPr txBox="1"/>
          <p:nvPr/>
        </p:nvSpPr>
        <p:spPr>
          <a:xfrm>
            <a:off x="9198250" y="5487123"/>
            <a:ext cx="20185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PolygonGridManager</a:t>
            </a:r>
            <a:endParaRPr lang="en-US" sz="14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GridNode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8D40128-9724-D848-92EB-D7CA030E2A2D}"/>
              </a:ext>
            </a:extLst>
          </p:cNvPr>
          <p:cNvSpPr txBox="1"/>
          <p:nvPr/>
        </p:nvSpPr>
        <p:spPr>
          <a:xfrm>
            <a:off x="9198250" y="768873"/>
            <a:ext cx="127249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GridNode</a:t>
            </a:r>
            <a:endParaRPr lang="en-US" sz="14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xyz: Point&lt;3&gt;</a:t>
            </a: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size_t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857AF8C-95A4-B94A-A664-CACB4051BB7E}"/>
              </a:ext>
            </a:extLst>
          </p:cNvPr>
          <p:cNvSpPr txBox="1"/>
          <p:nvPr/>
        </p:nvSpPr>
        <p:spPr>
          <a:xfrm>
            <a:off x="9198250" y="1722980"/>
            <a:ext cx="175096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GridFace</a:t>
            </a:r>
            <a:endParaRPr lang="en-US" sz="14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GridNode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CSMP_FEM_TYPE 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size_t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0044490-F023-C449-82C4-D981D014E4AA}"/>
              </a:ext>
            </a:extLst>
          </p:cNvPr>
          <p:cNvSpPr txBox="1"/>
          <p:nvPr/>
        </p:nvSpPr>
        <p:spPr>
          <a:xfrm>
            <a:off x="9198250" y="2877960"/>
            <a:ext cx="188974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GridElement</a:t>
            </a:r>
            <a:endParaRPr lang="en-US" sz="14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GridNode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* 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CSMP_FEM_TYPE </a:t>
            </a: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size_t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2B8F2CB-6F45-994B-AF6C-D90DC9A06FE0}"/>
              </a:ext>
            </a:extLst>
          </p:cNvPr>
          <p:cNvSpPr txBox="1"/>
          <p:nvPr/>
        </p:nvSpPr>
        <p:spPr>
          <a:xfrm rot="5400000">
            <a:off x="10661228" y="2886910"/>
            <a:ext cx="1608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used by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PolygonGrid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xmlns="" id="{B8451113-F337-294B-A45C-A6851347EE25}"/>
              </a:ext>
            </a:extLst>
          </p:cNvPr>
          <p:cNvCxnSpPr>
            <a:cxnSpLocks/>
            <a:stCxn id="4" idx="0"/>
            <a:endCxn id="9" idx="2"/>
          </p:cNvCxnSpPr>
          <p:nvPr/>
        </p:nvCxnSpPr>
        <p:spPr>
          <a:xfrm rot="5400000" flipH="1" flipV="1">
            <a:off x="6658657" y="1555993"/>
            <a:ext cx="565828" cy="21400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850E8BC-B2D6-F54F-8D21-789F4BDD690F}"/>
              </a:ext>
            </a:extLst>
          </p:cNvPr>
          <p:cNvSpPr txBox="1"/>
          <p:nvPr/>
        </p:nvSpPr>
        <p:spPr>
          <a:xfrm>
            <a:off x="838202" y="2256531"/>
            <a:ext cx="255818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EclipseInterface</a:t>
            </a:r>
            <a:endParaRPr lang="en-US" sz="14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region-names: set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parameter/properties: map</a:t>
            </a:r>
          </a:p>
          <a:p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reader of .</a:t>
            </a:r>
            <a:r>
              <a:rPr lang="en-US" sz="14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grdecl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files</a:t>
            </a:r>
          </a:p>
          <a:p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collection of reading functions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A88C321-2161-294F-AF69-08959D5F3E4D}"/>
              </a:ext>
            </a:extLst>
          </p:cNvPr>
          <p:cNvSpPr txBox="1"/>
          <p:nvPr/>
        </p:nvSpPr>
        <p:spPr>
          <a:xfrm>
            <a:off x="838202" y="4923269"/>
            <a:ext cx="2698360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EclipseModel</a:t>
            </a:r>
            <a:endParaRPr lang="en-US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settings: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EclipseModelSettings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IJKmap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map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regions: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set:string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fault names: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set:string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well names: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set:string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6AAF7F2-9D19-3640-B651-CA6AB1E0D45F}"/>
              </a:ext>
            </a:extLst>
          </p:cNvPr>
          <p:cNvSpPr txBox="1"/>
          <p:nvPr/>
        </p:nvSpPr>
        <p:spPr>
          <a:xfrm>
            <a:off x="2355449" y="655648"/>
            <a:ext cx="313419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Pillar</a:t>
            </a: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begin,end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Point&lt;3U&gt;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attached-cell indices: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map:pair:size_t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points: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A88C321-2161-294F-AF69-08959D5F3E4D}"/>
              </a:ext>
            </a:extLst>
          </p:cNvPr>
          <p:cNvSpPr txBox="1"/>
          <p:nvPr/>
        </p:nvSpPr>
        <p:spPr>
          <a:xfrm>
            <a:off x="838202" y="3673748"/>
            <a:ext cx="230017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EclipseModelSettings</a:t>
            </a:r>
            <a:endParaRPr lang="en-US" sz="14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regions: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set:string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parameter/properties: map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2B8F2CB-6F45-994B-AF6C-D90DC9A06FE0}"/>
              </a:ext>
            </a:extLst>
          </p:cNvPr>
          <p:cNvSpPr txBox="1"/>
          <p:nvPr/>
        </p:nvSpPr>
        <p:spPr>
          <a:xfrm>
            <a:off x="3546360" y="3258249"/>
            <a:ext cx="1943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+ huge collection of functions in </a:t>
            </a:r>
            <a:r>
              <a:rPr lang="en-US" sz="12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geometricCaclulations</a:t>
            </a:r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meshingTools</a:t>
            </a:r>
            <a:endParaRPr lang="en-U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2B8F2CB-6F45-994B-AF6C-D90DC9A06FE0}"/>
              </a:ext>
            </a:extLst>
          </p:cNvPr>
          <p:cNvSpPr txBox="1"/>
          <p:nvPr/>
        </p:nvSpPr>
        <p:spPr>
          <a:xfrm>
            <a:off x="5899986" y="3426088"/>
            <a:ext cx="2420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  <a:r>
              <a:rPr lang="en-US" sz="1200" i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CreateModel</a:t>
            </a:r>
            <a:r>
              <a:rPr lang="en-US" sz="12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method!</a:t>
            </a:r>
          </a:p>
          <a:p>
            <a:r>
              <a:rPr lang="en-US" sz="12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returning </a:t>
            </a:r>
            <a:r>
              <a:rPr lang="en-US" sz="1200" i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VSet</a:t>
            </a:r>
            <a:r>
              <a:rPr lang="en-US" sz="12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i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ModelTopology</a:t>
            </a:r>
            <a:endParaRPr lang="en-US" sz="1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2B8F2CB-6F45-994B-AF6C-D90DC9A06FE0}"/>
              </a:ext>
            </a:extLst>
          </p:cNvPr>
          <p:cNvSpPr txBox="1"/>
          <p:nvPr/>
        </p:nvSpPr>
        <p:spPr>
          <a:xfrm>
            <a:off x="9005933" y="378649"/>
            <a:ext cx="194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all inside of </a:t>
            </a:r>
            <a:r>
              <a:rPr lang="en-US" sz="12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PolygonGrid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urved Connector 20"/>
          <p:cNvCxnSpPr>
            <a:stCxn id="14" idx="1"/>
            <a:endCxn id="4" idx="3"/>
          </p:cNvCxnSpPr>
          <p:nvPr/>
        </p:nvCxnSpPr>
        <p:spPr>
          <a:xfrm rot="10800000">
            <a:off x="7608982" y="2422962"/>
            <a:ext cx="1589268" cy="932053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1" idx="1"/>
          </p:cNvCxnSpPr>
          <p:nvPr/>
        </p:nvCxnSpPr>
        <p:spPr>
          <a:xfrm rot="10800000">
            <a:off x="8061212" y="984005"/>
            <a:ext cx="1137039" cy="4764728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7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191"/>
            <a:ext cx="10515600" cy="264181"/>
          </a:xfrm>
        </p:spPr>
        <p:txBody>
          <a:bodyPr>
            <a:noAutofit/>
          </a:bodyPr>
          <a:lstStyle/>
          <a:p>
            <a:r>
              <a:rPr lang="en-US" sz="1800" b="1" dirty="0" smtClean="0">
                <a:latin typeface="Arial"/>
                <a:cs typeface="Arial"/>
              </a:rPr>
              <a:t>Execution Sequence</a:t>
            </a:r>
            <a:endParaRPr lang="en-US" sz="1800" b="1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372"/>
            <a:ext cx="10515600" cy="585659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 smtClean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construct </a:t>
            </a:r>
            <a:r>
              <a:rPr lang="en-US" sz="1200" b="1" dirty="0" err="1">
                <a:latin typeface="Arial"/>
                <a:cs typeface="Arial"/>
              </a:rPr>
              <a:t>EclipseModel</a:t>
            </a:r>
            <a:endParaRPr lang="en-US" sz="1200" b="1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- </a:t>
            </a:r>
            <a:r>
              <a:rPr lang="en-US" sz="1000" dirty="0" err="1">
                <a:latin typeface="Arial"/>
                <a:cs typeface="Arial"/>
              </a:rPr>
              <a:t>EclipseModelSettings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 smtClean="0">
                <a:latin typeface="Arial"/>
                <a:cs typeface="Arial"/>
              </a:rPr>
              <a:t>EclipseModelSettings</a:t>
            </a:r>
            <a:r>
              <a:rPr lang="en-US" sz="1000" dirty="0" smtClean="0">
                <a:latin typeface="Arial"/>
                <a:cs typeface="Arial"/>
              </a:rPr>
              <a:t> - </a:t>
            </a:r>
            <a:r>
              <a:rPr lang="en-US" sz="1000" dirty="0" err="1">
                <a:latin typeface="Arial"/>
                <a:cs typeface="Arial"/>
              </a:rPr>
              <a:t>readDesiredRegions</a:t>
            </a:r>
            <a:r>
              <a:rPr lang="en-US" sz="1000" dirty="0">
                <a:latin typeface="Arial"/>
                <a:cs typeface="Arial"/>
              </a:rPr>
              <a:t> if there, else only construct MATRIX (if not empty)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- </a:t>
            </a:r>
            <a:r>
              <a:rPr lang="en-US" sz="1000" dirty="0" err="1">
                <a:latin typeface="Arial"/>
                <a:cs typeface="Arial"/>
              </a:rPr>
              <a:t>MeshSetUp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- </a:t>
            </a:r>
            <a:r>
              <a:rPr lang="en-US" sz="1000" dirty="0" err="1">
                <a:latin typeface="Arial"/>
                <a:cs typeface="Arial"/>
              </a:rPr>
              <a:t>PoroPropertySetup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- </a:t>
            </a:r>
            <a:r>
              <a:rPr lang="en-US" sz="1000" dirty="0" err="1">
                <a:latin typeface="Arial"/>
                <a:cs typeface="Arial"/>
              </a:rPr>
              <a:t>PermPropertySetup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- </a:t>
            </a:r>
            <a:r>
              <a:rPr lang="en-US" sz="1000" dirty="0" err="1" smtClean="0">
                <a:latin typeface="Arial"/>
                <a:cs typeface="Arial"/>
              </a:rPr>
              <a:t>RockNumPropertySetup</a:t>
            </a:r>
            <a:endParaRPr lang="en-US" sz="12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- </a:t>
            </a:r>
            <a:r>
              <a:rPr lang="en-US" sz="1200" b="1" dirty="0" err="1">
                <a:latin typeface="Arial"/>
                <a:cs typeface="Arial"/>
              </a:rPr>
              <a:t>EclipseModel</a:t>
            </a:r>
            <a:r>
              <a:rPr lang="en-US" sz="1200" b="1" dirty="0">
                <a:latin typeface="Arial"/>
                <a:cs typeface="Arial"/>
              </a:rPr>
              <a:t>:</a:t>
            </a:r>
            <a:r>
              <a:rPr lang="en-US" sz="1200" b="1" dirty="0" smtClean="0">
                <a:latin typeface="Arial"/>
                <a:cs typeface="Arial"/>
              </a:rPr>
              <a:t>:</a:t>
            </a:r>
            <a:r>
              <a:rPr lang="en-US" sz="1200" b="1" dirty="0" err="1" smtClean="0">
                <a:latin typeface="Arial"/>
                <a:cs typeface="Arial"/>
              </a:rPr>
              <a:t>Initialise</a:t>
            </a:r>
            <a:r>
              <a:rPr lang="en-US" sz="1200" b="1" dirty="0" smtClean="0">
                <a:latin typeface="Arial"/>
                <a:cs typeface="Arial"/>
              </a:rPr>
              <a:t>  </a:t>
            </a:r>
            <a:r>
              <a:rPr lang="en-US" sz="1200" dirty="0">
                <a:latin typeface="Arial"/>
                <a:cs typeface="Arial"/>
              </a:rPr>
              <a:t>- </a:t>
            </a:r>
            <a:r>
              <a:rPr lang="en-US" sz="1200" dirty="0" err="1">
                <a:latin typeface="Arial"/>
                <a:cs typeface="Arial"/>
              </a:rPr>
              <a:t>EclipseModel</a:t>
            </a:r>
            <a:r>
              <a:rPr lang="en-US" sz="1200" dirty="0">
                <a:latin typeface="Arial"/>
                <a:cs typeface="Arial"/>
              </a:rPr>
              <a:t>::</a:t>
            </a:r>
            <a:r>
              <a:rPr lang="en-US" sz="1200" dirty="0" err="1">
                <a:latin typeface="Arial"/>
                <a:cs typeface="Arial"/>
              </a:rPr>
              <a:t>EclipseModelSettings</a:t>
            </a:r>
            <a:r>
              <a:rPr lang="en-US" sz="1200" dirty="0">
                <a:latin typeface="Arial"/>
                <a:cs typeface="Arial"/>
              </a:rPr>
              <a:t>: regions_:</a:t>
            </a:r>
            <a:r>
              <a:rPr lang="en-US" sz="1200" dirty="0" err="1">
                <a:latin typeface="Arial"/>
                <a:cs typeface="Arial"/>
              </a:rPr>
              <a:t>std</a:t>
            </a:r>
            <a:r>
              <a:rPr lang="en-US" sz="1200" dirty="0">
                <a:latin typeface="Arial"/>
                <a:cs typeface="Arial"/>
              </a:rPr>
              <a:t>::set&lt;</a:t>
            </a:r>
            <a:r>
              <a:rPr lang="en-US" sz="1200" dirty="0" err="1">
                <a:latin typeface="Arial"/>
                <a:cs typeface="Arial"/>
              </a:rPr>
              <a:t>std</a:t>
            </a:r>
            <a:r>
              <a:rPr lang="en-US" sz="1200" dirty="0">
                <a:latin typeface="Arial"/>
                <a:cs typeface="Arial"/>
              </a:rPr>
              <a:t>::string&gt;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- </a:t>
            </a:r>
            <a:r>
              <a:rPr lang="en-US" sz="1200" dirty="0" err="1">
                <a:latin typeface="Arial"/>
                <a:cs typeface="Arial"/>
              </a:rPr>
              <a:t>EclipseInterface</a:t>
            </a:r>
            <a:r>
              <a:rPr lang="en-US" sz="1200" dirty="0">
                <a:latin typeface="Arial"/>
                <a:cs typeface="Arial"/>
              </a:rPr>
              <a:t>::</a:t>
            </a:r>
            <a:r>
              <a:rPr lang="en-US" sz="1200" dirty="0" err="1">
                <a:latin typeface="Arial"/>
                <a:cs typeface="Arial"/>
              </a:rPr>
              <a:t>ReadFile</a:t>
            </a:r>
            <a:r>
              <a:rPr lang="en-US" sz="1200" dirty="0">
                <a:latin typeface="Arial"/>
                <a:cs typeface="Arial"/>
              </a:rPr>
              <a:t>   - grid_:</a:t>
            </a:r>
            <a:r>
              <a:rPr lang="en-US" sz="1200" dirty="0" err="1">
                <a:latin typeface="Arial"/>
                <a:cs typeface="Arial"/>
              </a:rPr>
              <a:t>CornerPointGrid</a:t>
            </a:r>
            <a:endParaRPr lang="en-US" sz="12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	- </a:t>
            </a:r>
            <a:r>
              <a:rPr lang="en-US" sz="1200" b="1" dirty="0" err="1">
                <a:latin typeface="Arial"/>
                <a:cs typeface="Arial"/>
              </a:rPr>
              <a:t>EclipseInterface</a:t>
            </a:r>
            <a:r>
              <a:rPr lang="en-US" sz="1200" b="1" dirty="0">
                <a:latin typeface="Arial"/>
                <a:cs typeface="Arial"/>
              </a:rPr>
              <a:t>::</a:t>
            </a:r>
            <a:r>
              <a:rPr lang="en-US" sz="1200" b="1" dirty="0" err="1">
                <a:latin typeface="Arial"/>
                <a:cs typeface="Arial"/>
              </a:rPr>
              <a:t>ReadFile</a:t>
            </a:r>
            <a:endParaRPr lang="en-US" sz="1200" b="1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		- </a:t>
            </a:r>
            <a:r>
              <a:rPr lang="en-US" sz="1200" dirty="0" err="1">
                <a:latin typeface="Arial"/>
                <a:cs typeface="Arial"/>
              </a:rPr>
              <a:t>reader:TextFileInterface</a:t>
            </a:r>
            <a:r>
              <a:rPr lang="en-US" sz="1200" dirty="0">
                <a:latin typeface="Arial"/>
                <a:cs typeface="Arial"/>
              </a:rPr>
              <a:t>&lt;</a:t>
            </a:r>
            <a:r>
              <a:rPr lang="en-US" sz="1200" dirty="0" err="1">
                <a:latin typeface="Arial"/>
                <a:cs typeface="Arial"/>
              </a:rPr>
              <a:t>EclipseInterface</a:t>
            </a:r>
            <a:r>
              <a:rPr lang="en-US" sz="1200" dirty="0">
                <a:latin typeface="Arial"/>
                <a:cs typeface="Arial"/>
              </a:rPr>
              <a:t>&lt;dim&gt; &gt; - reads block data into </a:t>
            </a:r>
            <a:r>
              <a:rPr lang="en-US" sz="1200" dirty="0" err="1">
                <a:latin typeface="Arial"/>
                <a:cs typeface="Arial"/>
              </a:rPr>
              <a:t>EclipseInterface</a:t>
            </a:r>
            <a:endParaRPr lang="en-US" sz="12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ReadDimensions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 smtClean="0">
                <a:latin typeface="Arial"/>
                <a:cs typeface="Arial"/>
              </a:rPr>
              <a:t>				- </a:t>
            </a:r>
            <a:r>
              <a:rPr lang="en-US" sz="1000" dirty="0" err="1" smtClean="0">
                <a:latin typeface="Arial"/>
                <a:cs typeface="Arial"/>
              </a:rPr>
              <a:t>EclipseInterface</a:t>
            </a:r>
            <a:r>
              <a:rPr lang="en-US" sz="1000" dirty="0" smtClean="0">
                <a:latin typeface="Arial"/>
                <a:cs typeface="Arial"/>
              </a:rPr>
              <a:t>::</a:t>
            </a:r>
            <a:r>
              <a:rPr lang="en-US" sz="1000" dirty="0" err="1" smtClean="0">
                <a:latin typeface="Arial"/>
                <a:cs typeface="Arial"/>
              </a:rPr>
              <a:t>Read_COORD</a:t>
            </a:r>
            <a:endParaRPr lang="en-US" sz="1000" dirty="0" smtClean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Read_ZCORN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ReadFaultsData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ReadActiveCells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ReadScalarProperty</a:t>
            </a:r>
            <a:r>
              <a:rPr lang="en-US" sz="1000" dirty="0">
                <a:latin typeface="Arial"/>
                <a:cs typeface="Arial"/>
              </a:rPr>
              <a:t> (porosity)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ReadTensorProperty</a:t>
            </a:r>
            <a:r>
              <a:rPr lang="en-US" sz="1000" dirty="0">
                <a:latin typeface="Arial"/>
                <a:cs typeface="Arial"/>
              </a:rPr>
              <a:t> (permeability)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EclipseInterface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ReadWellSpecs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	- </a:t>
            </a:r>
            <a:r>
              <a:rPr lang="en-US" sz="1200" b="1" dirty="0" err="1">
                <a:latin typeface="Arial"/>
                <a:cs typeface="Arial"/>
              </a:rPr>
              <a:t>CornerPointGrid</a:t>
            </a:r>
            <a:r>
              <a:rPr lang="en-US" sz="1200" b="1" dirty="0">
                <a:latin typeface="Arial"/>
                <a:cs typeface="Arial"/>
              </a:rPr>
              <a:t>::</a:t>
            </a:r>
            <a:r>
              <a:rPr lang="en-US" sz="1200" b="1" dirty="0" err="1" smtClean="0">
                <a:latin typeface="Arial"/>
                <a:cs typeface="Arial"/>
              </a:rPr>
              <a:t>CreateModel</a:t>
            </a:r>
            <a:r>
              <a:rPr lang="en-US" sz="1200" b="1" dirty="0" smtClean="0">
                <a:latin typeface="Arial"/>
                <a:cs typeface="Arial"/>
              </a:rPr>
              <a:t> – </a:t>
            </a:r>
            <a:r>
              <a:rPr lang="en-US" sz="1200" b="1" dirty="0" smtClean="0">
                <a:solidFill>
                  <a:srgbClr val="FF0000"/>
                </a:solidFill>
                <a:latin typeface="Arial"/>
                <a:cs typeface="Arial"/>
              </a:rPr>
              <a:t>most of the action is here</a:t>
            </a:r>
            <a:endParaRPr lang="en-US" sz="12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- </a:t>
            </a:r>
            <a:r>
              <a:rPr lang="en-US" sz="1000" dirty="0" err="1">
                <a:latin typeface="Arial"/>
                <a:cs typeface="Arial"/>
              </a:rPr>
              <a:t>Initialise</a:t>
            </a:r>
            <a:r>
              <a:rPr lang="en-US" sz="1000" dirty="0">
                <a:latin typeface="Arial"/>
                <a:cs typeface="Arial"/>
              </a:rPr>
              <a:t> grid specs and map between pillar and cell nodes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- </a:t>
            </a:r>
            <a:r>
              <a:rPr lang="en-US" sz="1000" b="1" dirty="0">
                <a:latin typeface="Arial"/>
                <a:cs typeface="Arial"/>
              </a:rPr>
              <a:t>Initialize polyhedral cells </a:t>
            </a:r>
            <a:r>
              <a:rPr lang="en-US" sz="1000" dirty="0">
                <a:latin typeface="Arial"/>
                <a:cs typeface="Arial"/>
              </a:rPr>
              <a:t>(including cells with wells)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- Assign cell data to </a:t>
            </a:r>
            <a:r>
              <a:rPr lang="en-US" sz="1000" dirty="0" err="1">
                <a:latin typeface="Arial"/>
                <a:cs typeface="Arial"/>
              </a:rPr>
              <a:t>VSet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processing non degenerate cells only meaning that there will be no </a:t>
            </a:r>
            <a:r>
              <a:rPr lang="en-US" sz="1000" dirty="0" err="1">
                <a:latin typeface="Arial"/>
                <a:cs typeface="Arial"/>
              </a:rPr>
              <a:t>tetrahedra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processing degenerate cells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- Assign node coordinates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- Establishing Model Topology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CornerPointGrid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EstablishActiveDomain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CornerPointGrid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EstablishFaultRegions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CornerPointGrid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EstablishWellRegions</a:t>
            </a:r>
            <a:endParaRPr lang="en-US" sz="1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- Reporting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/>
                <a:cs typeface="Arial"/>
              </a:rPr>
              <a:t>				- </a:t>
            </a:r>
            <a:r>
              <a:rPr lang="en-US" sz="1000" dirty="0" err="1">
                <a:latin typeface="Arial"/>
                <a:cs typeface="Arial"/>
              </a:rPr>
              <a:t>CornerPointGrid</a:t>
            </a:r>
            <a:r>
              <a:rPr lang="en-US" sz="1000" dirty="0">
                <a:latin typeface="Arial"/>
                <a:cs typeface="Arial"/>
              </a:rPr>
              <a:t>::</a:t>
            </a:r>
            <a:r>
              <a:rPr lang="en-US" sz="1000" dirty="0" err="1">
                <a:latin typeface="Arial"/>
                <a:cs typeface="Arial"/>
              </a:rPr>
              <a:t>CreateModel</a:t>
            </a:r>
            <a:r>
              <a:rPr lang="en-US" sz="1000" dirty="0">
                <a:latin typeface="Arial"/>
                <a:cs typeface="Arial"/>
              </a:rPr>
              <a:t>: </a:t>
            </a:r>
            <a:r>
              <a:rPr lang="en-US" sz="1000" dirty="0" err="1">
                <a:latin typeface="Arial"/>
                <a:cs typeface="Arial"/>
              </a:rPr>
              <a:t>VSet</a:t>
            </a:r>
            <a:r>
              <a:rPr lang="en-US" sz="1000" dirty="0">
                <a:latin typeface="Arial"/>
                <a:cs typeface="Arial"/>
              </a:rPr>
              <a:t> resulting from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	 - </a:t>
            </a:r>
            <a:r>
              <a:rPr lang="en-US" sz="1200" b="1" dirty="0" err="1">
                <a:latin typeface="Arial"/>
                <a:cs typeface="Arial"/>
              </a:rPr>
              <a:t>EclipseInterface</a:t>
            </a:r>
            <a:r>
              <a:rPr lang="en-US" sz="1200" b="1" dirty="0">
                <a:latin typeface="Arial"/>
                <a:cs typeface="Arial"/>
              </a:rPr>
              <a:t>::</a:t>
            </a:r>
            <a:r>
              <a:rPr lang="en-US" sz="1200" b="1" dirty="0" err="1">
                <a:latin typeface="Arial"/>
                <a:cs typeface="Arial"/>
              </a:rPr>
              <a:t>WritePropertiesToVSet</a:t>
            </a:r>
            <a:endParaRPr lang="en-US" sz="1200" b="1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  	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     branch-point in model building: continue with 1) or without 2) region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- assigning regions, faults, and wells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- checking that properties exist in CSMP model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Arial"/>
                <a:cs typeface="Arial"/>
              </a:rPr>
              <a:t>	- </a:t>
            </a:r>
            <a:r>
              <a:rPr lang="en-US" sz="1200" b="1" dirty="0">
                <a:latin typeface="Arial"/>
                <a:cs typeface="Arial"/>
              </a:rPr>
              <a:t>Model&lt;dim&gt;::Initialize</a:t>
            </a:r>
            <a:r>
              <a:rPr lang="en-US" sz="1200" dirty="0">
                <a:latin typeface="Arial"/>
                <a:cs typeface="Arial"/>
              </a:rPr>
              <a:t>:  with or without </a:t>
            </a:r>
            <a:r>
              <a:rPr lang="en-US" sz="1200" dirty="0" err="1">
                <a:latin typeface="Arial"/>
                <a:cs typeface="Arial"/>
              </a:rPr>
              <a:t>ModelTopology</a:t>
            </a:r>
            <a:r>
              <a:rPr lang="en-US" sz="1200" dirty="0">
                <a:latin typeface="Arial"/>
                <a:cs typeface="Arial"/>
              </a:rPr>
              <a:t> data		 	</a:t>
            </a:r>
          </a:p>
        </p:txBody>
      </p:sp>
    </p:spTree>
    <p:extLst>
      <p:ext uri="{BB962C8B-B14F-4D97-AF65-F5344CB8AC3E}">
        <p14:creationId xmlns:p14="http://schemas.microsoft.com/office/powerpoint/2010/main" val="250392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57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latin typeface="Arial"/>
                <a:cs typeface="Arial"/>
              </a:rPr>
              <a:t>What happens inside </a:t>
            </a:r>
            <a:r>
              <a:rPr lang="en-US" sz="1800" b="1" dirty="0" err="1" smtClean="0">
                <a:latin typeface="Arial"/>
                <a:cs typeface="Arial"/>
              </a:rPr>
              <a:t>CornerPointGrid</a:t>
            </a:r>
            <a:r>
              <a:rPr lang="en-US" sz="1800" b="1" dirty="0" smtClean="0">
                <a:latin typeface="Arial"/>
                <a:cs typeface="Arial"/>
              </a:rPr>
              <a:t>::</a:t>
            </a:r>
            <a:r>
              <a:rPr lang="en-US" sz="1800" b="1" dirty="0" err="1" smtClean="0">
                <a:latin typeface="Arial"/>
                <a:cs typeface="Arial"/>
              </a:rPr>
              <a:t>CreateModel</a:t>
            </a:r>
            <a:endParaRPr lang="en-US" sz="1800" b="1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4005"/>
            <a:ext cx="10515600" cy="5192958"/>
          </a:xfrm>
        </p:spPr>
        <p:txBody>
          <a:bodyPr/>
          <a:lstStyle/>
          <a:p>
            <a:pPr marL="0" indent="0">
              <a:buNone/>
            </a:pPr>
            <a:r>
              <a:rPr lang="en-US" sz="1400" i="1" dirty="0" smtClean="0">
                <a:latin typeface="Arial"/>
                <a:cs typeface="Arial"/>
              </a:rPr>
              <a:t>Coming from </a:t>
            </a:r>
            <a:r>
              <a:rPr lang="en-US" sz="1400" i="1" dirty="0" err="1" smtClean="0">
                <a:latin typeface="Arial"/>
                <a:cs typeface="Arial"/>
              </a:rPr>
              <a:t>BuildModel</a:t>
            </a:r>
            <a:r>
              <a:rPr lang="en-US" sz="1400" i="1" dirty="0" smtClean="0">
                <a:latin typeface="Arial"/>
                <a:cs typeface="Arial"/>
              </a:rPr>
              <a:t>()-&gt;</a:t>
            </a:r>
            <a:r>
              <a:rPr lang="en-US" sz="1400" i="1" dirty="0" err="1" smtClean="0">
                <a:latin typeface="Arial"/>
                <a:cs typeface="Arial"/>
              </a:rPr>
              <a:t>ReadFile</a:t>
            </a:r>
            <a:r>
              <a:rPr lang="en-US" sz="1400" i="1" dirty="0" smtClean="0">
                <a:latin typeface="Arial"/>
                <a:cs typeface="Arial"/>
              </a:rPr>
              <a:t>()-&gt;</a:t>
            </a:r>
            <a:r>
              <a:rPr lang="en-US" sz="1400" i="1" dirty="0" err="1" smtClean="0">
                <a:latin typeface="Arial"/>
                <a:cs typeface="Arial"/>
              </a:rPr>
              <a:t>ReadFile</a:t>
            </a:r>
            <a:r>
              <a:rPr lang="en-US" sz="1400" i="1" dirty="0" smtClean="0">
                <a:latin typeface="Arial"/>
                <a:cs typeface="Arial"/>
              </a:rPr>
              <a:t>() – </a:t>
            </a:r>
            <a:r>
              <a:rPr lang="en-US" sz="1400" i="1" dirty="0" err="1" smtClean="0">
                <a:latin typeface="Arial"/>
                <a:cs typeface="Arial"/>
              </a:rPr>
              <a:t>EclipseInterface</a:t>
            </a:r>
            <a:r>
              <a:rPr lang="en-US" sz="1400" i="1" dirty="0" smtClean="0">
                <a:latin typeface="Arial"/>
                <a:cs typeface="Arial"/>
              </a:rPr>
              <a:t>::</a:t>
            </a:r>
            <a:r>
              <a:rPr lang="en-US" sz="1400" i="1" dirty="0" err="1" smtClean="0">
                <a:latin typeface="Arial"/>
                <a:cs typeface="Arial"/>
              </a:rPr>
              <a:t>ReadBlock</a:t>
            </a:r>
            <a:r>
              <a:rPr lang="en-US" sz="1400" i="1" dirty="0" smtClean="0">
                <a:latin typeface="Arial"/>
                <a:cs typeface="Arial"/>
              </a:rPr>
              <a:t>() – </a:t>
            </a:r>
            <a:r>
              <a:rPr lang="en-US" sz="1400" i="1" dirty="0" err="1" smtClean="0">
                <a:latin typeface="Arial"/>
                <a:cs typeface="Arial"/>
              </a:rPr>
              <a:t>Read_COORD</a:t>
            </a:r>
            <a:r>
              <a:rPr lang="en-US" sz="1400" i="1" dirty="0" smtClean="0">
                <a:latin typeface="Arial"/>
                <a:cs typeface="Arial"/>
              </a:rPr>
              <a:t> etc.  – stuffing the data into different objects.</a:t>
            </a:r>
          </a:p>
          <a:p>
            <a:r>
              <a:rPr lang="en-US" sz="1400" dirty="0" err="1" smtClean="0">
                <a:latin typeface="Arial"/>
                <a:cs typeface="Arial"/>
              </a:rPr>
              <a:t>InitializeGridSpecs</a:t>
            </a:r>
            <a:r>
              <a:rPr lang="en-US" sz="1400" dirty="0" smtClean="0">
                <a:latin typeface="Arial"/>
                <a:cs typeface="Arial"/>
              </a:rPr>
              <a:t>() – just assigns the dimensions</a:t>
            </a:r>
          </a:p>
          <a:p>
            <a:r>
              <a:rPr lang="en-US" sz="1400" dirty="0" err="1" smtClean="0">
                <a:latin typeface="Arial"/>
                <a:cs typeface="Arial"/>
              </a:rPr>
              <a:t>ProcessPillars</a:t>
            </a:r>
            <a:r>
              <a:rPr lang="en-US" sz="1400" dirty="0" smtClean="0">
                <a:latin typeface="Arial"/>
                <a:cs typeface="Arial"/>
              </a:rPr>
              <a:t>() – seems to calculate which grid-points will define each FE cell</a:t>
            </a:r>
          </a:p>
          <a:p>
            <a:r>
              <a:rPr lang="en-US" sz="1400" dirty="0">
                <a:latin typeface="Arial"/>
                <a:cs typeface="Arial"/>
              </a:rPr>
              <a:t>Initialize polyhedral cells</a:t>
            </a:r>
            <a:endParaRPr lang="en-US" sz="1400" dirty="0" smtClean="0">
              <a:latin typeface="Arial"/>
              <a:cs typeface="Arial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886" y="2505780"/>
            <a:ext cx="4133608" cy="311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10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560</Words>
  <Application>Microsoft Macintosh PowerPoint</Application>
  <PresentationFormat>Custom</PresentationFormat>
  <Paragraphs>140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Execution Sequence</vt:lpstr>
      <vt:lpstr>What happens inside CornerPointGrid::CreateModel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 Matthai</dc:creator>
  <cp:lastModifiedBy>Stephan Matthaei</cp:lastModifiedBy>
  <cp:revision>67</cp:revision>
  <dcterms:created xsi:type="dcterms:W3CDTF">2018-04-18T22:44:14Z</dcterms:created>
  <dcterms:modified xsi:type="dcterms:W3CDTF">2018-04-20T04:49:37Z</dcterms:modified>
</cp:coreProperties>
</file>