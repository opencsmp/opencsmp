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9"/>
  </p:notesMasterIdLst>
  <p:handoutMasterIdLst>
    <p:handoutMasterId r:id="rId100"/>
  </p:handoutMasterIdLst>
  <p:sldIdLst>
    <p:sldId id="614" r:id="rId2"/>
    <p:sldId id="473" r:id="rId3"/>
    <p:sldId id="491" r:id="rId4"/>
    <p:sldId id="607" r:id="rId5"/>
    <p:sldId id="615" r:id="rId6"/>
    <p:sldId id="616" r:id="rId7"/>
    <p:sldId id="580" r:id="rId8"/>
    <p:sldId id="617" r:id="rId9"/>
    <p:sldId id="610" r:id="rId10"/>
    <p:sldId id="608" r:id="rId11"/>
    <p:sldId id="570" r:id="rId12"/>
    <p:sldId id="605" r:id="rId13"/>
    <p:sldId id="618" r:id="rId14"/>
    <p:sldId id="495" r:id="rId15"/>
    <p:sldId id="530" r:id="rId16"/>
    <p:sldId id="619" r:id="rId17"/>
    <p:sldId id="506" r:id="rId18"/>
    <p:sldId id="604" r:id="rId19"/>
    <p:sldId id="527" r:id="rId20"/>
    <p:sldId id="507" r:id="rId21"/>
    <p:sldId id="558" r:id="rId22"/>
    <p:sldId id="525" r:id="rId23"/>
    <p:sldId id="569" r:id="rId24"/>
    <p:sldId id="571" r:id="rId25"/>
    <p:sldId id="529" r:id="rId26"/>
    <p:sldId id="497" r:id="rId27"/>
    <p:sldId id="502" r:id="rId28"/>
    <p:sldId id="499" r:id="rId29"/>
    <p:sldId id="500" r:id="rId30"/>
    <p:sldId id="531" r:id="rId31"/>
    <p:sldId id="481" r:id="rId32"/>
    <p:sldId id="483" r:id="rId33"/>
    <p:sldId id="487" r:id="rId34"/>
    <p:sldId id="482" r:id="rId35"/>
    <p:sldId id="484" r:id="rId36"/>
    <p:sldId id="532" r:id="rId37"/>
    <p:sldId id="485" r:id="rId38"/>
    <p:sldId id="490" r:id="rId39"/>
    <p:sldId id="568" r:id="rId40"/>
    <p:sldId id="486" r:id="rId41"/>
    <p:sldId id="572" r:id="rId42"/>
    <p:sldId id="534" r:id="rId43"/>
    <p:sldId id="576" r:id="rId44"/>
    <p:sldId id="577" r:id="rId45"/>
    <p:sldId id="579" r:id="rId46"/>
    <p:sldId id="578" r:id="rId47"/>
    <p:sldId id="550" r:id="rId48"/>
    <p:sldId id="557" r:id="rId49"/>
    <p:sldId id="611" r:id="rId50"/>
    <p:sldId id="535" r:id="rId51"/>
    <p:sldId id="581" r:id="rId52"/>
    <p:sldId id="582" r:id="rId53"/>
    <p:sldId id="583" r:id="rId54"/>
    <p:sldId id="585" r:id="rId55"/>
    <p:sldId id="612" r:id="rId56"/>
    <p:sldId id="613" r:id="rId57"/>
    <p:sldId id="589" r:id="rId58"/>
    <p:sldId id="590" r:id="rId59"/>
    <p:sldId id="591" r:id="rId60"/>
    <p:sldId id="592" r:id="rId61"/>
    <p:sldId id="593" r:id="rId62"/>
    <p:sldId id="594" r:id="rId63"/>
    <p:sldId id="595" r:id="rId64"/>
    <p:sldId id="596" r:id="rId65"/>
    <p:sldId id="597" r:id="rId66"/>
    <p:sldId id="598" r:id="rId67"/>
    <p:sldId id="599" r:id="rId68"/>
    <p:sldId id="538" r:id="rId69"/>
    <p:sldId id="586" r:id="rId70"/>
    <p:sldId id="587" r:id="rId71"/>
    <p:sldId id="600" r:id="rId72"/>
    <p:sldId id="601" r:id="rId73"/>
    <p:sldId id="602" r:id="rId74"/>
    <p:sldId id="603" r:id="rId75"/>
    <p:sldId id="560" r:id="rId76"/>
    <p:sldId id="561" r:id="rId77"/>
    <p:sldId id="523" r:id="rId78"/>
    <p:sldId id="539" r:id="rId79"/>
    <p:sldId id="540" r:id="rId80"/>
    <p:sldId id="573" r:id="rId81"/>
    <p:sldId id="548" r:id="rId82"/>
    <p:sldId id="549" r:id="rId83"/>
    <p:sldId id="510" r:id="rId84"/>
    <p:sldId id="552" r:id="rId85"/>
    <p:sldId id="553" r:id="rId86"/>
    <p:sldId id="565" r:id="rId87"/>
    <p:sldId id="556" r:id="rId88"/>
    <p:sldId id="551" r:id="rId89"/>
    <p:sldId id="547" r:id="rId90"/>
    <p:sldId id="514" r:id="rId91"/>
    <p:sldId id="562" r:id="rId92"/>
    <p:sldId id="574" r:id="rId93"/>
    <p:sldId id="524" r:id="rId94"/>
    <p:sldId id="563" r:id="rId95"/>
    <p:sldId id="575" r:id="rId96"/>
    <p:sldId id="528" r:id="rId97"/>
    <p:sldId id="480" r:id="rId9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432F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9" autoAdjust="0"/>
    <p:restoredTop sz="91786" autoAdjust="0"/>
  </p:normalViewPr>
  <p:slideViewPr>
    <p:cSldViewPr snapToObjects="1">
      <p:cViewPr varScale="1">
        <p:scale>
          <a:sx n="118" d="100"/>
          <a:sy n="118" d="100"/>
        </p:scale>
        <p:origin x="2072" y="200"/>
      </p:cViewPr>
      <p:guideLst>
        <p:guide orient="horz" pos="2160"/>
        <p:guide pos="2880"/>
      </p:guideLst>
    </p:cSldViewPr>
  </p:slideViewPr>
  <p:notesTextViewPr>
    <p:cViewPr>
      <p:scale>
        <a:sx n="100" d="100"/>
        <a:sy n="100" d="100"/>
      </p:scale>
      <p:origin x="0" y="0"/>
    </p:cViewPr>
  </p:notesTextViewPr>
  <p:sorterViewPr>
    <p:cViewPr>
      <p:scale>
        <a:sx n="120" d="100"/>
        <a:sy n="120" d="100"/>
      </p:scale>
      <p:origin x="0" y="1273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AEA79E-3780-954A-9514-1C100FD8E738}" type="datetimeFigureOut">
              <a:rPr lang="en-US" smtClean="0"/>
              <a:pPr/>
              <a:t>5/2/24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EE66AB-E1EB-4E41-868C-4CF35CC2DAE5}" type="slidenum">
              <a:rPr lang="en-US" smtClean="0"/>
              <a:pPr/>
              <a:t>‹#›</a:t>
            </a:fld>
            <a:endParaRPr lang="en-US"/>
          </a:p>
        </p:txBody>
      </p:sp>
    </p:spTree>
    <p:extLst>
      <p:ext uri="{BB962C8B-B14F-4D97-AF65-F5344CB8AC3E}">
        <p14:creationId xmlns:p14="http://schemas.microsoft.com/office/powerpoint/2010/main" val="23176377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E92DA7-79C0-5A46-A8B5-90ACC4B4893F}" type="datetimeFigureOut">
              <a:rPr lang="en-US" smtClean="0"/>
              <a:pPr/>
              <a:t>5/2/24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1A5846-1793-6F4A-93C8-9FD4F1C1591E}" type="slidenum">
              <a:rPr lang="en-US" smtClean="0"/>
              <a:pPr/>
              <a:t>‹#›</a:t>
            </a:fld>
            <a:endParaRPr lang="en-US"/>
          </a:p>
        </p:txBody>
      </p:sp>
    </p:spTree>
    <p:extLst>
      <p:ext uri="{BB962C8B-B14F-4D97-AF65-F5344CB8AC3E}">
        <p14:creationId xmlns:p14="http://schemas.microsoft.com/office/powerpoint/2010/main" val="416299003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Singleton</a:t>
            </a:r>
            <a:r>
              <a:rPr lang="en-US" baseline="0" dirty="0"/>
              <a:t>s :  finite elements(specifications)</a:t>
            </a:r>
          </a:p>
          <a:p>
            <a:r>
              <a:rPr lang="en-US" baseline="0" dirty="0"/>
              <a:t>Working data: for serial and parallel computations</a:t>
            </a:r>
          </a:p>
          <a:p>
            <a:r>
              <a:rPr lang="en-US" baseline="0" dirty="0"/>
              <a:t>Multiples:  Element, Node etc.</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Jens </a:t>
            </a:r>
            <a:r>
              <a:rPr lang="en-US" dirty="0" err="1"/>
              <a:t>Reindels</a:t>
            </a:r>
            <a:r>
              <a:rPr lang="en-US" dirty="0"/>
              <a:t> modifications?</a:t>
            </a:r>
          </a:p>
        </p:txBody>
      </p:sp>
      <p:sp>
        <p:nvSpPr>
          <p:cNvPr id="4" name="Slide Number Placeholder 3"/>
          <p:cNvSpPr>
            <a:spLocks noGrp="1"/>
          </p:cNvSpPr>
          <p:nvPr>
            <p:ph type="sldNum" sz="quarter" idx="10"/>
          </p:nvPr>
        </p:nvSpPr>
        <p:spPr/>
        <p:txBody>
          <a:bodyPr/>
          <a:lstStyle/>
          <a:p>
            <a:fld id="{FA1A5846-1793-6F4A-93C8-9FD4F1C1591E}" type="slidenum">
              <a:rPr lang="en-US" smtClean="0"/>
              <a:pPr/>
              <a:t>2</a:t>
            </a:fld>
            <a:endParaRPr lang="en-US"/>
          </a:p>
        </p:txBody>
      </p:sp>
    </p:spTree>
    <p:extLst>
      <p:ext uri="{BB962C8B-B14F-4D97-AF65-F5344CB8AC3E}">
        <p14:creationId xmlns:p14="http://schemas.microsoft.com/office/powerpoint/2010/main" val="2890211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illustrate these</a:t>
            </a:r>
          </a:p>
        </p:txBody>
      </p:sp>
      <p:sp>
        <p:nvSpPr>
          <p:cNvPr id="4" name="Slide Number Placeholder 3"/>
          <p:cNvSpPr>
            <a:spLocks noGrp="1"/>
          </p:cNvSpPr>
          <p:nvPr>
            <p:ph type="sldNum" sz="quarter" idx="10"/>
          </p:nvPr>
        </p:nvSpPr>
        <p:spPr/>
        <p:txBody>
          <a:bodyPr/>
          <a:lstStyle/>
          <a:p>
            <a:fld id="{FA1A5846-1793-6F4A-93C8-9FD4F1C1591E}" type="slidenum">
              <a:rPr lang="en-US" smtClean="0"/>
              <a:pPr/>
              <a:t>3</a:t>
            </a:fld>
            <a:endParaRPr lang="en-US"/>
          </a:p>
        </p:txBody>
      </p:sp>
    </p:spTree>
    <p:extLst>
      <p:ext uri="{BB962C8B-B14F-4D97-AF65-F5344CB8AC3E}">
        <p14:creationId xmlns:p14="http://schemas.microsoft.com/office/powerpoint/2010/main" val="2154574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There is </a:t>
            </a:r>
            <a:r>
              <a:rPr lang="en-US" dirty="0" err="1"/>
              <a:t>OpenFOAM</a:t>
            </a:r>
            <a:r>
              <a:rPr lang="en-US" dirty="0"/>
              <a:t>, </a:t>
            </a:r>
            <a:r>
              <a:rPr lang="en-US" dirty="0" err="1"/>
              <a:t>DiffPack</a:t>
            </a:r>
            <a:r>
              <a:rPr lang="en-US" dirty="0"/>
              <a:t>, </a:t>
            </a:r>
            <a:r>
              <a:rPr lang="en-US" dirty="0" err="1"/>
              <a:t>Comsol</a:t>
            </a:r>
            <a:r>
              <a:rPr lang="en-US" dirty="0"/>
              <a:t> </a:t>
            </a:r>
            <a:r>
              <a:rPr lang="en-US" dirty="0" err="1"/>
              <a:t>Multiphysics</a:t>
            </a:r>
            <a:r>
              <a:rPr lang="en-US" dirty="0"/>
              <a:t>, Deal2, </a:t>
            </a:r>
            <a:r>
              <a:rPr lang="en-US" dirty="0" err="1"/>
              <a:t>FEMLab</a:t>
            </a:r>
            <a:r>
              <a:rPr lang="en-US" dirty="0"/>
              <a:t> etc., why is there a need for CSMP?</a:t>
            </a:r>
          </a:p>
          <a:p>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76354EB-93D9-1341-9432-F2D0E987B0A2}" type="slidenum">
              <a:rPr lang="en-GB" sz="1200"/>
              <a:pPr eaLnBrk="1" hangingPunct="1"/>
              <a:t>7</a:t>
            </a:fld>
            <a:endParaRPr lang="en-GB" sz="12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ea typeface="ＭＳ Ｐゴシック" charset="0"/>
                <a:cs typeface="ＭＳ Ｐゴシック" charset="0"/>
              </a:rPr>
              <a:t>Integration of properties is required</a:t>
            </a:r>
            <a:endParaRPr lang="en-GB">
              <a:ea typeface="ＭＳ Ｐゴシック" charset="0"/>
              <a:cs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7DF868-B2CB-8B43-8FAD-32D4DAA86BE2}" type="slidenum">
              <a:rPr lang="en-GB"/>
              <a:pPr/>
              <a:t>8</a:t>
            </a:fld>
            <a:endParaRPr lang="en-GB"/>
          </a:p>
        </p:txBody>
      </p:sp>
      <p:sp>
        <p:nvSpPr>
          <p:cNvPr id="629762" name="Rectangle 2"/>
          <p:cNvSpPr>
            <a:spLocks noGrp="1" noRot="1" noChangeAspect="1" noChangeArrowheads="1" noTextEdit="1"/>
          </p:cNvSpPr>
          <p:nvPr>
            <p:ph type="sldImg"/>
          </p:nvPr>
        </p:nvSpPr>
        <p:spPr>
          <a:ln/>
        </p:spPr>
      </p:sp>
      <p:sp>
        <p:nvSpPr>
          <p:cNvPr id="629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Jens </a:t>
            </a:r>
            <a:r>
              <a:rPr lang="en-US" dirty="0" err="1"/>
              <a:t>Reindels</a:t>
            </a:r>
            <a:r>
              <a:rPr lang="en-US" dirty="0"/>
              <a:t> modifications?</a:t>
            </a:r>
          </a:p>
        </p:txBody>
      </p:sp>
      <p:sp>
        <p:nvSpPr>
          <p:cNvPr id="4" name="Slide Number Placeholder 3"/>
          <p:cNvSpPr>
            <a:spLocks noGrp="1"/>
          </p:cNvSpPr>
          <p:nvPr>
            <p:ph type="sldNum" sz="quarter" idx="10"/>
          </p:nvPr>
        </p:nvSpPr>
        <p:spPr/>
        <p:txBody>
          <a:bodyPr/>
          <a:lstStyle/>
          <a:p>
            <a:fld id="{FA1A5846-1793-6F4A-93C8-9FD4F1C1591E}" type="slidenum">
              <a:rPr lang="en-US" smtClean="0"/>
              <a:pPr/>
              <a:t>11</a:t>
            </a:fld>
            <a:endParaRPr lang="en-US"/>
          </a:p>
        </p:txBody>
      </p:sp>
    </p:spTree>
    <p:extLst>
      <p:ext uri="{BB962C8B-B14F-4D97-AF65-F5344CB8AC3E}">
        <p14:creationId xmlns:p14="http://schemas.microsoft.com/office/powerpoint/2010/main" val="2890211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36FB231F-0254-2941-AF71-E0E919A2DBE1}" type="slidenum">
              <a:rPr lang="en-US"/>
              <a:pPr/>
              <a:t>13</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r>
              <a:rPr lang="en-US" dirty="0"/>
              <a:t>Use visitors inside</a:t>
            </a:r>
            <a:r>
              <a:rPr lang="en-US" baseline="0" dirty="0"/>
              <a:t> the </a:t>
            </a:r>
            <a:r>
              <a:rPr lang="en-US" baseline="0" dirty="0" err="1"/>
              <a:t>PropertyHandle</a:t>
            </a:r>
            <a:r>
              <a:rPr lang="en-US" baseline="0" dirty="0"/>
              <a:t> to carry out calculations </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1"/>
                </a:solidFill>
              </a:rPr>
              <a:t>Resolution: Keep up the momentum and communications throughout the year</a:t>
            </a:r>
          </a:p>
          <a:p>
            <a:r>
              <a:rPr lang="en-US" dirty="0">
                <a:solidFill>
                  <a:schemeClr val="tx1"/>
                </a:solidFill>
              </a:rPr>
              <a:t>Regular programming exercises are important at each institution</a:t>
            </a:r>
          </a:p>
          <a:p>
            <a:r>
              <a:rPr lang="en-US" dirty="0">
                <a:solidFill>
                  <a:schemeClr val="tx1"/>
                </a:solidFill>
              </a:rPr>
              <a:t>Compile guides for “best ways to do this”  code snippets etc. compare and contrast different solutions.</a:t>
            </a:r>
          </a:p>
          <a:p>
            <a:r>
              <a:rPr lang="en-US" dirty="0">
                <a:solidFill>
                  <a:schemeClr val="tx1"/>
                </a:solidFill>
              </a:rPr>
              <a:t>Robert:  FAQ for new CSMP</a:t>
            </a:r>
          </a:p>
          <a:p>
            <a:r>
              <a:rPr lang="en-US" dirty="0">
                <a:solidFill>
                  <a:schemeClr val="tx1"/>
                </a:solidFill>
              </a:rPr>
              <a:t>Everybody should use Ali’s configurator</a:t>
            </a:r>
          </a:p>
          <a:p>
            <a:r>
              <a:rPr lang="en-US" dirty="0">
                <a:solidFill>
                  <a:schemeClr val="tx1"/>
                </a:solidFill>
              </a:rPr>
              <a:t>Feedback of what could be improved version 1.0?</a:t>
            </a:r>
          </a:p>
          <a:p>
            <a:r>
              <a:rPr lang="en-US" dirty="0">
                <a:solidFill>
                  <a:schemeClr val="tx1"/>
                </a:solidFill>
              </a:rPr>
              <a:t>Larger user community</a:t>
            </a:r>
          </a:p>
          <a:p>
            <a:r>
              <a:rPr lang="en-US" dirty="0">
                <a:solidFill>
                  <a:schemeClr val="tx1"/>
                </a:solidFill>
              </a:rPr>
              <a:t>Smooth start for new users (Quick-start guide), high-level code out of the box</a:t>
            </a:r>
          </a:p>
          <a:p>
            <a:r>
              <a:rPr lang="en-US" dirty="0">
                <a:solidFill>
                  <a:schemeClr val="tx1"/>
                </a:solidFill>
              </a:rPr>
              <a:t>Freeze of interfaces, focus on crucial functionality</a:t>
            </a:r>
          </a:p>
          <a:p>
            <a:r>
              <a:rPr lang="en-US" dirty="0">
                <a:solidFill>
                  <a:schemeClr val="tx1"/>
                </a:solidFill>
              </a:rPr>
              <a:t>Deadlines for fixing bugs or suggesting alternatives</a:t>
            </a:r>
          </a:p>
          <a:p>
            <a:endParaRPr lang="en-US" dirty="0"/>
          </a:p>
        </p:txBody>
      </p:sp>
      <p:sp>
        <p:nvSpPr>
          <p:cNvPr id="4" name="Slide Number Placeholder 3"/>
          <p:cNvSpPr>
            <a:spLocks noGrp="1"/>
          </p:cNvSpPr>
          <p:nvPr>
            <p:ph type="sldNum" sz="quarter" idx="5"/>
          </p:nvPr>
        </p:nvSpPr>
        <p:spPr/>
        <p:txBody>
          <a:bodyPr/>
          <a:lstStyle/>
          <a:p>
            <a:fld id="{FA1A5846-1793-6F4A-93C8-9FD4F1C1591E}" type="slidenum">
              <a:rPr lang="en-US" smtClean="0"/>
              <a:pPr/>
              <a:t>15</a:t>
            </a:fld>
            <a:endParaRPr lang="en-US"/>
          </a:p>
        </p:txBody>
      </p:sp>
    </p:spTree>
    <p:extLst>
      <p:ext uri="{BB962C8B-B14F-4D97-AF65-F5344CB8AC3E}">
        <p14:creationId xmlns:p14="http://schemas.microsoft.com/office/powerpoint/2010/main" val="1993689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07389DF2-11E0-7E4F-9F2F-3D9A070764F7}" type="slidenum">
              <a:rPr lang="en-US"/>
              <a:pPr/>
              <a:t>16</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DA851276-70F6-4C48-B92C-4B378F97F710}" type="slidenum">
              <a:rPr lang="en-US"/>
              <a:pPr/>
              <a:t>17</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t>
            </a:r>
            <a:r>
              <a:rPr lang="en-US" baseline="0" dirty="0"/>
              <a:t> you spot the change?</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19</a:t>
            </a:fld>
            <a:endParaRPr lang="en-US"/>
          </a:p>
        </p:txBody>
      </p:sp>
    </p:spTree>
    <p:extLst>
      <p:ext uri="{BB962C8B-B14F-4D97-AF65-F5344CB8AC3E}">
        <p14:creationId xmlns:p14="http://schemas.microsoft.com/office/powerpoint/2010/main" val="2462170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61F1C525-809E-7A40-BCCB-96CDBFA864EF}" type="slidenum">
              <a:rPr lang="en-US"/>
              <a:pPr/>
              <a:t>20</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t>
            </a:r>
            <a:r>
              <a:rPr lang="en-US" baseline="0" dirty="0"/>
              <a:t> the name still correct</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21</a:t>
            </a:fld>
            <a:endParaRPr lang="en-US"/>
          </a:p>
        </p:txBody>
      </p:sp>
    </p:spTree>
    <p:extLst>
      <p:ext uri="{BB962C8B-B14F-4D97-AF65-F5344CB8AC3E}">
        <p14:creationId xmlns:p14="http://schemas.microsoft.com/office/powerpoint/2010/main" val="14882382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Jens </a:t>
            </a:r>
            <a:r>
              <a:rPr lang="en-US" dirty="0" err="1"/>
              <a:t>Reindels</a:t>
            </a:r>
            <a:r>
              <a:rPr lang="en-US" dirty="0"/>
              <a:t> modifications?</a:t>
            </a:r>
          </a:p>
        </p:txBody>
      </p:sp>
      <p:sp>
        <p:nvSpPr>
          <p:cNvPr id="4" name="Slide Number Placeholder 3"/>
          <p:cNvSpPr>
            <a:spLocks noGrp="1"/>
          </p:cNvSpPr>
          <p:nvPr>
            <p:ph type="sldNum" sz="quarter" idx="10"/>
          </p:nvPr>
        </p:nvSpPr>
        <p:spPr/>
        <p:txBody>
          <a:bodyPr/>
          <a:lstStyle/>
          <a:p>
            <a:fld id="{FA1A5846-1793-6F4A-93C8-9FD4F1C1591E}" type="slidenum">
              <a:rPr lang="en-US" smtClean="0"/>
              <a:pPr/>
              <a:t>24</a:t>
            </a:fld>
            <a:endParaRPr lang="en-US"/>
          </a:p>
        </p:txBody>
      </p:sp>
    </p:spTree>
    <p:extLst>
      <p:ext uri="{BB962C8B-B14F-4D97-AF65-F5344CB8AC3E}">
        <p14:creationId xmlns:p14="http://schemas.microsoft.com/office/powerpoint/2010/main" val="2890211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FiniteElements</a:t>
            </a:r>
            <a:r>
              <a:rPr lang="en-US" baseline="0" dirty="0"/>
              <a:t>  exist only once (even if there were many Models) – thus they could be represented as </a:t>
            </a:r>
            <a:r>
              <a:rPr lang="en-US" b="1" baseline="0" dirty="0"/>
              <a:t>Singleton</a:t>
            </a:r>
            <a:endParaRPr lang="en-US" b="1"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26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Issue:</a:t>
            </a:r>
            <a:r>
              <a:rPr lang="en-US" baseline="0" dirty="0"/>
              <a:t> level of smart pointers to use?   - pointer and the </a:t>
            </a:r>
            <a:r>
              <a:rPr lang="en-US" baseline="0" dirty="0" err="1"/>
              <a:t>pointee</a:t>
            </a:r>
            <a:endParaRPr lang="en-US" baseline="0" dirty="0"/>
          </a:p>
          <a:p>
            <a:r>
              <a:rPr lang="en-US" baseline="0" dirty="0"/>
              <a:t>element to node: Element owns the pointer and Node is the </a:t>
            </a:r>
            <a:r>
              <a:rPr lang="en-US" baseline="0" dirty="0" err="1"/>
              <a:t>pointee</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28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9A3FF9D4-B58B-0F47-8123-FBE69BF52AF3}" type="slidenum">
              <a:rPr lang="en-US"/>
              <a:pPr/>
              <a:t>29</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40C10149-AFDA-5946-92BA-E8977FAF1B12}" type="slidenum">
              <a:rPr lang="en-US"/>
              <a:pPr/>
              <a:t>31</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r>
              <a:rPr lang="en-US" dirty="0"/>
              <a:t>Note</a:t>
            </a:r>
            <a:r>
              <a:rPr lang="en-US" baseline="0" dirty="0"/>
              <a:t> non-unique regions -&gt; consider implications for Region-based properties</a:t>
            </a:r>
          </a:p>
          <a:p>
            <a:pPr eaLnBrk="1" hangingPunct="1"/>
            <a:r>
              <a:rPr lang="en-US" baseline="0" dirty="0"/>
              <a:t>Making groups via </a:t>
            </a:r>
            <a:r>
              <a:rPr lang="en-US" baseline="0" dirty="0" err="1"/>
              <a:t>PropertyConstraints</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77B82E87-D647-994D-A167-29A2DA5AE60F}" type="slidenum">
              <a:rPr lang="en-US"/>
              <a:pPr/>
              <a:t>33</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template – template parameter:</a:t>
            </a:r>
            <a:r>
              <a:rPr lang="en-US" baseline="0" dirty="0"/>
              <a:t>  </a:t>
            </a:r>
            <a:r>
              <a:rPr lang="en-US" dirty="0"/>
              <a:t>Demonstration&lt;</a:t>
            </a:r>
            <a:r>
              <a:rPr lang="en-US" dirty="0" err="1"/>
              <a:t>typename</a:t>
            </a:r>
            <a:r>
              <a:rPr lang="en-US" baseline="0" dirty="0"/>
              <a:t> </a:t>
            </a:r>
            <a:r>
              <a:rPr lang="en-US" baseline="0" dirty="0" err="1"/>
              <a:t>T,template</a:t>
            </a:r>
            <a:r>
              <a:rPr lang="en-US" baseline="0" dirty="0"/>
              <a:t>&lt;T&gt; class S, template&lt;S,T&gt; class...&gt;</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34</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Jens </a:t>
            </a:r>
            <a:r>
              <a:rPr lang="en-US" dirty="0" err="1"/>
              <a:t>Reindels</a:t>
            </a:r>
            <a:r>
              <a:rPr lang="en-US" dirty="0"/>
              <a:t> modifications?</a:t>
            </a:r>
          </a:p>
        </p:txBody>
      </p:sp>
      <p:sp>
        <p:nvSpPr>
          <p:cNvPr id="4" name="Slide Number Placeholder 3"/>
          <p:cNvSpPr>
            <a:spLocks noGrp="1"/>
          </p:cNvSpPr>
          <p:nvPr>
            <p:ph type="sldNum" sz="quarter" idx="10"/>
          </p:nvPr>
        </p:nvSpPr>
        <p:spPr/>
        <p:txBody>
          <a:bodyPr/>
          <a:lstStyle/>
          <a:p>
            <a:fld id="{FA1A5846-1793-6F4A-93C8-9FD4F1C1591E}" type="slidenum">
              <a:rPr lang="en-US" smtClean="0"/>
              <a:pPr/>
              <a:t>41</a:t>
            </a:fld>
            <a:endParaRPr lang="en-US"/>
          </a:p>
        </p:txBody>
      </p:sp>
    </p:spTree>
    <p:extLst>
      <p:ext uri="{BB962C8B-B14F-4D97-AF65-F5344CB8AC3E}">
        <p14:creationId xmlns:p14="http://schemas.microsoft.com/office/powerpoint/2010/main" val="2890211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CD2860B3-4FB7-3B46-82D1-90A3E9322EB6}" type="slidenum">
              <a:rPr lang="en-US"/>
              <a:pPr/>
              <a:t>43</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endParaRPr lang="en-US" dirty="0"/>
          </a:p>
          <a:p>
            <a:pPr eaLnBrk="1" hangingPunct="1"/>
            <a:r>
              <a:rPr lang="en-US" dirty="0"/>
              <a:t>----- Meeting Notes (12/12/14 15:20) -----</a:t>
            </a:r>
          </a:p>
          <a:p>
            <a:pPr eaLnBrk="1" hangingPunct="1"/>
            <a:r>
              <a:rPr lang="en-US" dirty="0"/>
              <a:t>lamda functions try as an extension Standard function</a:t>
            </a:r>
          </a:p>
          <a:p>
            <a:pPr eaLnBrk="1" hangingPunct="1"/>
            <a:r>
              <a:rPr lang="en-US" dirty="0"/>
              <a:t>Nagra reports complemented by BGR reports (those contain all the geomechanics stuff)</a:t>
            </a:r>
          </a:p>
          <a:p>
            <a:pPr eaLnBrk="1" hangingPunct="1"/>
            <a:r>
              <a:rPr lang="en-US" dirty="0"/>
              <a:t>dissected shear zone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D14BB7-79F6-9644-A587-191A77E06F3A}" type="slidenum">
              <a:rPr lang="en-GB"/>
              <a:pPr/>
              <a:t>44</a:t>
            </a:fld>
            <a:endParaRPr lang="en-GB"/>
          </a:p>
        </p:txBody>
      </p:sp>
      <p:sp>
        <p:nvSpPr>
          <p:cNvPr id="13547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5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FBEB67-826D-A847-95F6-983960470AB2}" type="slidenum">
              <a:rPr lang="en-GB"/>
              <a:pPr/>
              <a:t>45</a:t>
            </a:fld>
            <a:endParaRPr lang="en-GB"/>
          </a:p>
        </p:txBody>
      </p:sp>
      <p:sp>
        <p:nvSpPr>
          <p:cNvPr id="13568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5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027A53-5A38-1F4F-B6D0-1D0774B725D7}" type="slidenum">
              <a:rPr lang="en-GB"/>
              <a:pPr/>
              <a:t>46</a:t>
            </a:fld>
            <a:endParaRPr lang="en-GB"/>
          </a:p>
        </p:txBody>
      </p:sp>
      <p:sp>
        <p:nvSpPr>
          <p:cNvPr id="1358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58851" name="Rectangle 3"/>
          <p:cNvSpPr>
            <a:spLocks noGrp="1" noChangeArrowheads="1"/>
          </p:cNvSpPr>
          <p:nvPr>
            <p:ph type="body" idx="1"/>
          </p:nvPr>
        </p:nvSpPr>
        <p:spPr/>
        <p:txBody>
          <a:bodyPr/>
          <a:lstStyle/>
          <a:p>
            <a:r>
              <a:rPr lang="en-GB"/>
              <a:t>Zienkiewicz OC. and Taylor RL. The Finite Element Method, Volume 1, The Basis, Fifth Edition. Oxford: Butterworth-Heinemann, (2000).</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look at the Eigen</a:t>
            </a:r>
            <a:r>
              <a:rPr lang="en-US" baseline="0" dirty="0"/>
              <a:t> library (not part of Boost)</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47</a:t>
            </a:fld>
            <a:endParaRPr lang="en-US"/>
          </a:p>
        </p:txBody>
      </p:sp>
    </p:spTree>
    <p:extLst>
      <p:ext uri="{BB962C8B-B14F-4D97-AF65-F5344CB8AC3E}">
        <p14:creationId xmlns:p14="http://schemas.microsoft.com/office/powerpoint/2010/main" val="1464472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t>
            </a:r>
            <a:r>
              <a:rPr lang="en-US" dirty="0" err="1"/>
              <a:t>std</a:t>
            </a:r>
            <a:r>
              <a:rPr lang="en-US" dirty="0"/>
              <a:t>::function</a:t>
            </a:r>
          </a:p>
        </p:txBody>
      </p:sp>
      <p:sp>
        <p:nvSpPr>
          <p:cNvPr id="4" name="Slide Number Placeholder 3"/>
          <p:cNvSpPr>
            <a:spLocks noGrp="1"/>
          </p:cNvSpPr>
          <p:nvPr>
            <p:ph type="sldNum" sz="quarter" idx="10"/>
          </p:nvPr>
        </p:nvSpPr>
        <p:spPr/>
        <p:txBody>
          <a:bodyPr/>
          <a:lstStyle/>
          <a:p>
            <a:fld id="{FA1A5846-1793-6F4A-93C8-9FD4F1C1591E}" type="slidenum">
              <a:rPr lang="en-US" smtClean="0"/>
              <a:pPr/>
              <a:t>48</a:t>
            </a:fld>
            <a:endParaRPr lang="en-US"/>
          </a:p>
        </p:txBody>
      </p:sp>
    </p:spTree>
    <p:extLst>
      <p:ext uri="{BB962C8B-B14F-4D97-AF65-F5344CB8AC3E}">
        <p14:creationId xmlns:p14="http://schemas.microsoft.com/office/powerpoint/2010/main" val="1877666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B32117C7-677F-ED4E-A368-A6201A1788C3}" type="slidenum">
              <a:rPr lang="en-US" sz="1200"/>
              <a:pPr eaLnBrk="1" hangingPunct="1"/>
              <a:t>51</a:t>
            </a:fld>
            <a:endParaRPr lang="en-US" sz="120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ea typeface="ＭＳ Ｐゴシック" charset="0"/>
              <a:cs typeface="ＭＳ Ｐゴシック"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6C3A456C-3B7F-C34E-9315-C9B92A617917}" type="slidenum">
              <a:rPr lang="en-GB" sz="1200"/>
              <a:pPr eaLnBrk="1" hangingPunct="1"/>
              <a:t>52</a:t>
            </a:fld>
            <a:endParaRPr lang="en-GB" sz="12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ea typeface="ＭＳ Ｐゴシック" charset="0"/>
              <a:cs typeface="ＭＳ Ｐゴシック"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37697B9D-347E-5644-B490-C43AC6FEB2B3}" type="slidenum">
              <a:rPr lang="en-US">
                <a:solidFill>
                  <a:prstClr val="black"/>
                </a:solidFill>
                <a:latin typeface="Calibri"/>
              </a:rPr>
              <a:pPr/>
              <a:t>53</a:t>
            </a:fld>
            <a:endParaRPr lang="en-US">
              <a:solidFill>
                <a:prstClr val="black"/>
              </a:solidFill>
              <a:latin typeface="Calibri"/>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BF2F506E-116C-B64E-A6F6-83B72AB05F5E}" type="slidenum">
              <a:rPr lang="en-GB" sz="1200"/>
              <a:pPr eaLnBrk="1" hangingPunct="1"/>
              <a:t>55</a:t>
            </a:fld>
            <a:endParaRPr lang="en-GB" sz="1200"/>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xfrm>
            <a:off x="916478" y="4343400"/>
            <a:ext cx="5025044"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ea typeface="ＭＳ Ｐゴシック" charset="0"/>
                <a:cs typeface="ＭＳ Ｐゴシック" charset="0"/>
              </a:rPr>
              <a:t>accompanying derivation is in Maple worksheet Helmig-p107-vs-CSP.mws</a:t>
            </a:r>
          </a:p>
          <a:p>
            <a:pPr eaLnBrk="1" hangingPunct="1"/>
            <a:r>
              <a:rPr lang="en-US">
                <a:ea typeface="ＭＳ Ｐゴシック" charset="0"/>
                <a:cs typeface="ＭＳ Ｐゴシック" charset="0"/>
              </a:rPr>
              <a:t>NB: It is a problem that advection etc multpliers depend in their form on the way the equations are being solved -&gt; remove?</a:t>
            </a:r>
          </a:p>
          <a:p>
            <a:pPr eaLnBrk="1" hangingPunct="1"/>
            <a:r>
              <a:rPr lang="en-US">
                <a:ea typeface="ＭＳ Ｐゴシック" charset="0"/>
                <a:cs typeface="ＭＳ Ｐゴシック" charset="0"/>
              </a:rPr>
              <a:t>Notice also that if the permeability is a tensor, only the vertical component will have to be considered in the calculation of the gravitational spreading</a:t>
            </a:r>
            <a:endParaRPr lang="en-GB">
              <a:ea typeface="ＭＳ Ｐゴシック" charset="0"/>
              <a:cs typeface="ＭＳ Ｐゴシック"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888AD9A3-D535-AD44-B26B-EB0BB32E52CF}" type="slidenum">
              <a:rPr lang="en-GB" sz="1200"/>
              <a:pPr eaLnBrk="1" hangingPunct="1"/>
              <a:t>56</a:t>
            </a:fld>
            <a:endParaRPr lang="en-GB" sz="120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xfrm>
            <a:off x="916478" y="4343400"/>
            <a:ext cx="5025044"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ea typeface="ＭＳ Ｐゴシック" charset="0"/>
                <a:cs typeface="ＭＳ Ｐゴシック" charset="0"/>
              </a:rPr>
              <a:t>accompanying derivation is in Maple worksheet Helmig-p107-vs-CSP.mws</a:t>
            </a:r>
          </a:p>
          <a:p>
            <a:pPr eaLnBrk="1" hangingPunct="1"/>
            <a:r>
              <a:rPr lang="en-US">
                <a:ea typeface="ＭＳ Ｐゴシック" charset="0"/>
                <a:cs typeface="ＭＳ Ｐゴシック" charset="0"/>
              </a:rPr>
              <a:t>NB: It is a problem that advection etc multpliers depend in their form on the way the equations are being solved -&gt; remove?</a:t>
            </a:r>
          </a:p>
          <a:p>
            <a:pPr eaLnBrk="1" hangingPunct="1"/>
            <a:r>
              <a:rPr lang="en-US">
                <a:ea typeface="ＭＳ Ｐゴシック" charset="0"/>
                <a:cs typeface="ＭＳ Ｐゴシック" charset="0"/>
              </a:rPr>
              <a:t>Notice also that if the permeability is a tensor, only the vertical component will have to be considered in the calculation of the gravitational spreading</a:t>
            </a:r>
            <a:endParaRPr lang="en-GB">
              <a:ea typeface="ＭＳ Ｐゴシック" charset="0"/>
              <a:cs typeface="ＭＳ Ｐゴシック"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A3A12130-C48B-2C4B-88A4-2ED1AFBA28AA}" type="slidenum">
              <a:rPr lang="en-US" sz="1200"/>
              <a:pPr eaLnBrk="1" hangingPunct="1"/>
              <a:t>57</a:t>
            </a:fld>
            <a:endParaRPr lang="en-US" sz="12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CB9C0E5-98B1-714D-A774-D938EE7E4040}" type="slidenum">
              <a:rPr lang="en-US" sz="1200"/>
              <a:pPr eaLnBrk="1" hangingPunct="1"/>
              <a:t>58</a:t>
            </a:fld>
            <a:endParaRPr lang="en-US"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AD23029F-CAC7-BE4A-835C-945069671B6D}" type="slidenum">
              <a:rPr lang="en-US" sz="1200"/>
              <a:pPr eaLnBrk="1" hangingPunct="1"/>
              <a:t>59</a:t>
            </a:fld>
            <a:endParaRPr lang="en-US" sz="120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467A251-E57D-2B4C-B596-280670C3CFC9}" type="slidenum">
              <a:rPr lang="en-US" sz="1200"/>
              <a:pPr eaLnBrk="1" hangingPunct="1"/>
              <a:t>60</a:t>
            </a:fld>
            <a:endParaRPr lang="en-US"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t>Since the lefthandside already contains the first-order solution, it will cancel out upon progressive iteration</a:t>
            </a:r>
          </a:p>
          <a:p>
            <a:pPr eaLnBrk="1" hangingPunct="1"/>
            <a:r>
              <a:rPr lang="en-US"/>
              <a:t>And the higher-order solution will be left</a:t>
            </a:r>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21E1FF75-4701-0C48-A03B-6FE1757659A7}" type="slidenum">
              <a:rPr lang="en-US" sz="1200"/>
              <a:pPr eaLnBrk="1" hangingPunct="1"/>
              <a:t>61</a:t>
            </a:fld>
            <a:endParaRPr lang="en-US" sz="1200"/>
          </a:p>
        </p:txBody>
      </p:sp>
      <p:sp>
        <p:nvSpPr>
          <p:cNvPr id="61443" name="Rectangle 1026"/>
          <p:cNvSpPr>
            <a:spLocks noGrp="1" noRot="1" noChangeAspect="1" noChangeArrowheads="1" noTextEdit="1"/>
          </p:cNvSpPr>
          <p:nvPr>
            <p:ph type="sldImg"/>
          </p:nvPr>
        </p:nvSpPr>
        <p:spPr>
          <a:solidFill>
            <a:srgbClr val="FFFFFF"/>
          </a:solidFill>
          <a:ln/>
        </p:spPr>
      </p:sp>
      <p:sp>
        <p:nvSpPr>
          <p:cNvPr id="61444" name="Rectangle 1027"/>
          <p:cNvSpPr>
            <a:spLocks noGrp="1" noChangeArrowheads="1"/>
          </p:cNvSpPr>
          <p:nvPr>
            <p:ph type="body" idx="1"/>
          </p:nvPr>
        </p:nvSpPr>
        <p:spPr>
          <a:solidFill>
            <a:srgbClr val="FFFFFF"/>
          </a:solidFill>
          <a:ln>
            <a:solidFill>
              <a:srgbClr val="000000"/>
            </a:solidFill>
          </a:ln>
        </p:spPr>
        <p:txBody>
          <a:bodyPr/>
          <a:lstStyle/>
          <a:p>
            <a:pPr eaLnBrk="1" hangingPunct="1"/>
            <a:r>
              <a:rPr lang="en-US"/>
              <a:t>Since the lefthandside already contains the first-order solution, it will cancel out upon progressive iteration</a:t>
            </a:r>
          </a:p>
          <a:p>
            <a:pPr eaLnBrk="1" hangingPunct="1"/>
            <a:r>
              <a:rPr lang="en-US"/>
              <a:t>And the higher-order solution will be left</a:t>
            </a:r>
            <a:endParaRPr 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7A7FA0F2-1AB8-9440-A6B3-C30FD0DFD5CF}" type="slidenum">
              <a:rPr lang="en-US" sz="1200"/>
              <a:pPr eaLnBrk="1" hangingPunct="1"/>
              <a:t>62</a:t>
            </a:fld>
            <a:endParaRPr lang="en-US" sz="1200"/>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t>Since the lefthandside already contains the first-order solution, it will cancel out upon progressive iteration</a:t>
            </a:r>
          </a:p>
          <a:p>
            <a:pPr eaLnBrk="1" hangingPunct="1"/>
            <a:r>
              <a:rPr lang="en-US"/>
              <a:t>And the higher-order solution will be left</a:t>
            </a:r>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9F263585-3A53-814D-B9B6-EBE30C2556DB}" type="slidenum">
              <a:rPr lang="en-US" sz="1200"/>
              <a:pPr eaLnBrk="1" hangingPunct="1"/>
              <a:t>63</a:t>
            </a:fld>
            <a:endParaRPr 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92B35233-050D-6D4D-B56F-56B149ABA6CE}" type="slidenum">
              <a:rPr lang="en-US" sz="1200"/>
              <a:pPr eaLnBrk="1" hangingPunct="1"/>
              <a:t>64</a:t>
            </a:fld>
            <a:endParaRPr lang="en-US" sz="12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3B4B3FB-C8EB-1348-B455-A26AA2CB40A1}" type="slidenum">
              <a:rPr lang="en-US" sz="1200"/>
              <a:pPr eaLnBrk="1" hangingPunct="1"/>
              <a:t>65</a:t>
            </a:fld>
            <a:endParaRPr lang="en-US" sz="1200"/>
          </a:p>
        </p:txBody>
      </p:sp>
      <p:sp>
        <p:nvSpPr>
          <p:cNvPr id="69635" name="Rectangle 2"/>
          <p:cNvSpPr>
            <a:spLocks noGrp="1" noRot="1" noChangeAspect="1" noChangeArrowheads="1" noTextEdit="1"/>
          </p:cNvSpPr>
          <p:nvPr>
            <p:ph type="sldImg"/>
          </p:nvPr>
        </p:nvSpPr>
        <p:spPr>
          <a:solidFill>
            <a:srgbClr val="FFFFFF"/>
          </a:solidFill>
          <a:ln/>
        </p:spPr>
      </p:sp>
      <p:sp>
        <p:nvSpPr>
          <p:cNvPr id="6963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t>This term also needs to be added to the RHS: (1 – omega) psi( surface integral!)</a:t>
            </a:r>
          </a:p>
          <a:p>
            <a:pPr eaLnBrk="1" hangingPunct="1"/>
            <a:r>
              <a:rPr lang="en-US"/>
              <a:t>Similar approach for sources and sinks</a:t>
            </a:r>
            <a:endParaRPr 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92262AA0-23CE-B443-8185-FD6645442EA2}" type="slidenum">
              <a:rPr lang="en-US" sz="1200"/>
              <a:pPr eaLnBrk="1" hangingPunct="1"/>
              <a:t>66</a:t>
            </a:fld>
            <a:endParaRPr 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F352EAC1-7C22-0045-B483-17A973085A08}" type="slidenum">
              <a:rPr lang="en-GB"/>
              <a:pPr/>
              <a:t>68</a:t>
            </a:fld>
            <a:endParaRPr lang="en-GB"/>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xfrm>
            <a:off x="916478" y="4343400"/>
            <a:ext cx="5025044" cy="4114800"/>
          </a:xfrm>
          <a:noFill/>
          <a:ln/>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69CF149C-0C6B-0D4E-8BDF-05185F2416B1}" type="slidenum">
              <a:rPr lang="en-US">
                <a:solidFill>
                  <a:prstClr val="black"/>
                </a:solidFill>
                <a:latin typeface="Calibri"/>
              </a:rPr>
              <a:pPr/>
              <a:t>69</a:t>
            </a:fld>
            <a:endParaRPr lang="en-US">
              <a:solidFill>
                <a:prstClr val="black"/>
              </a:solidFill>
              <a:latin typeface="Calibri"/>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E31339D-3957-0A4C-B460-33C1FAC07BC6}" type="slidenum">
              <a:rPr lang="en-US">
                <a:solidFill>
                  <a:prstClr val="black"/>
                </a:solidFill>
                <a:latin typeface="Calibri"/>
              </a:rPr>
              <a:pPr/>
              <a:t>70</a:t>
            </a:fld>
            <a:endParaRPr lang="en-US">
              <a:solidFill>
                <a:prstClr val="black"/>
              </a:solidFill>
              <a:latin typeface="Calibri"/>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61C88375-F662-E24F-AB5A-B435E9370645}" type="slidenum">
              <a:rPr lang="en-US" sz="1200"/>
              <a:pPr eaLnBrk="1" hangingPunct="1"/>
              <a:t>71</a:t>
            </a:fld>
            <a:endParaRPr lang="en-US" sz="1200"/>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GB">
              <a:ea typeface="ＭＳ Ｐゴシック" charset="0"/>
              <a:cs typeface="ＭＳ Ｐゴシック"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83A82C72-1189-9F41-AE83-305460A4A92B}" type="slidenum">
              <a:rPr lang="en-US" sz="1200"/>
              <a:pPr eaLnBrk="1" hangingPunct="1"/>
              <a:t>72</a:t>
            </a:fld>
            <a:endParaRPr lang="en-US" sz="120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GB">
              <a:ea typeface="ＭＳ Ｐゴシック" charset="0"/>
              <a:cs typeface="ＭＳ Ｐゴシック"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48735947-94C8-4C4C-957D-2808FDE92DFD}" type="slidenum">
              <a:rPr lang="en-US" sz="1200"/>
              <a:pPr eaLnBrk="1" hangingPunct="1"/>
              <a:t>73</a:t>
            </a:fld>
            <a:endParaRPr lang="en-US" sz="1200"/>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GB">
              <a:ea typeface="ＭＳ Ｐゴシック" charset="0"/>
              <a:cs typeface="ＭＳ Ｐゴシック"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37697B9D-347E-5644-B490-C43AC6FEB2B3}" type="slidenum">
              <a:rPr lang="en-US"/>
              <a:pPr/>
              <a:t>75</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0E416AEF-C55E-6142-A363-82809E83ED3C}" type="slidenum">
              <a:rPr lang="da-DK"/>
              <a:pPr/>
              <a:t>78</a:t>
            </a:fld>
            <a:endParaRPr lang="da-DK"/>
          </a:p>
        </p:txBody>
      </p:sp>
      <p:sp>
        <p:nvSpPr>
          <p:cNvPr id="404482" name="Rectangle 2"/>
          <p:cNvSpPr>
            <a:spLocks noGrp="1" noRot="1" noChangeAspect="1" noChangeArrowheads="1" noTextEdit="1"/>
          </p:cNvSpPr>
          <p:nvPr>
            <p:ph type="sldImg"/>
          </p:nvPr>
        </p:nvSpPr>
        <p:spPr>
          <a:ln/>
        </p:spPr>
      </p:sp>
      <p:sp>
        <p:nvSpPr>
          <p:cNvPr id="40448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Jens </a:t>
            </a:r>
            <a:r>
              <a:rPr lang="en-US" dirty="0" err="1"/>
              <a:t>Reindels</a:t>
            </a:r>
            <a:r>
              <a:rPr lang="en-US" dirty="0"/>
              <a:t> modifications?</a:t>
            </a:r>
          </a:p>
        </p:txBody>
      </p:sp>
      <p:sp>
        <p:nvSpPr>
          <p:cNvPr id="4" name="Slide Number Placeholder 3"/>
          <p:cNvSpPr>
            <a:spLocks noGrp="1"/>
          </p:cNvSpPr>
          <p:nvPr>
            <p:ph type="sldNum" sz="quarter" idx="10"/>
          </p:nvPr>
        </p:nvSpPr>
        <p:spPr/>
        <p:txBody>
          <a:bodyPr/>
          <a:lstStyle/>
          <a:p>
            <a:fld id="{FA1A5846-1793-6F4A-93C8-9FD4F1C1591E}" type="slidenum">
              <a:rPr lang="en-US" smtClean="0"/>
              <a:pPr/>
              <a:t>80</a:t>
            </a:fld>
            <a:endParaRPr lang="en-US"/>
          </a:p>
        </p:txBody>
      </p:sp>
    </p:spTree>
    <p:extLst>
      <p:ext uri="{BB962C8B-B14F-4D97-AF65-F5344CB8AC3E}">
        <p14:creationId xmlns:p14="http://schemas.microsoft.com/office/powerpoint/2010/main" val="28902118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New ones</a:t>
            </a:r>
            <a:r>
              <a:rPr lang="en-US" baseline="0" dirty="0"/>
              <a:t> are to be derived from the base </a:t>
            </a:r>
            <a:r>
              <a:rPr lang="en-US" baseline="0" dirty="0" err="1"/>
              <a:t>clase</a:t>
            </a:r>
            <a:r>
              <a:rPr lang="en-US" baseline="0" dirty="0"/>
              <a:t> as is demonstrated in the </a:t>
            </a:r>
            <a:r>
              <a:rPr lang="en-US" baseline="0" dirty="0" err="1"/>
              <a:t>ReservoirSimulator</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81</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B2631A21-FAFF-2748-9976-26BF9600E6B4}" type="slidenum">
              <a:rPr lang="en-US"/>
              <a:pPr/>
              <a:t>82</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F09BA5E3-33F2-6046-8295-A2E17611C518}" type="slidenum">
              <a:rPr lang="en-US"/>
              <a:pPr/>
              <a:t>83</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EDC9F402-8BC5-614F-AC28-E8FFE5211A72}" type="slidenum">
              <a:rPr lang="en-US"/>
              <a:pPr/>
              <a:t>84</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3E67E560-8AD6-5F4F-AD52-B50A873FBB7C}" type="slidenum">
              <a:rPr lang="en-US"/>
              <a:pPr/>
              <a:t>90</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Jens </a:t>
            </a:r>
            <a:r>
              <a:rPr lang="en-US" dirty="0" err="1"/>
              <a:t>Reindels</a:t>
            </a:r>
            <a:r>
              <a:rPr lang="en-US" dirty="0"/>
              <a:t> modifications?</a:t>
            </a:r>
          </a:p>
        </p:txBody>
      </p:sp>
      <p:sp>
        <p:nvSpPr>
          <p:cNvPr id="4" name="Slide Number Placeholder 3"/>
          <p:cNvSpPr>
            <a:spLocks noGrp="1"/>
          </p:cNvSpPr>
          <p:nvPr>
            <p:ph type="sldNum" sz="quarter" idx="10"/>
          </p:nvPr>
        </p:nvSpPr>
        <p:spPr/>
        <p:txBody>
          <a:bodyPr/>
          <a:lstStyle/>
          <a:p>
            <a:fld id="{FA1A5846-1793-6F4A-93C8-9FD4F1C1591E}" type="slidenum">
              <a:rPr lang="en-US" smtClean="0"/>
              <a:pPr/>
              <a:t>92</a:t>
            </a:fld>
            <a:endParaRPr lang="en-US"/>
          </a:p>
        </p:txBody>
      </p:sp>
    </p:spTree>
    <p:extLst>
      <p:ext uri="{BB962C8B-B14F-4D97-AF65-F5344CB8AC3E}">
        <p14:creationId xmlns:p14="http://schemas.microsoft.com/office/powerpoint/2010/main" val="28902118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F220853C-ADE1-8148-A313-69CFD26B3E75}" type="slidenum">
              <a:rPr lang="en-US"/>
              <a:pPr/>
              <a:t>93</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Jens </a:t>
            </a:r>
            <a:r>
              <a:rPr lang="en-US" dirty="0" err="1"/>
              <a:t>Reindels</a:t>
            </a:r>
            <a:r>
              <a:rPr lang="en-US" dirty="0"/>
              <a:t> modifications?</a:t>
            </a:r>
          </a:p>
        </p:txBody>
      </p:sp>
      <p:sp>
        <p:nvSpPr>
          <p:cNvPr id="4" name="Slide Number Placeholder 3"/>
          <p:cNvSpPr>
            <a:spLocks noGrp="1"/>
          </p:cNvSpPr>
          <p:nvPr>
            <p:ph type="sldNum" sz="quarter" idx="10"/>
          </p:nvPr>
        </p:nvSpPr>
        <p:spPr/>
        <p:txBody>
          <a:bodyPr/>
          <a:lstStyle/>
          <a:p>
            <a:fld id="{FA1A5846-1793-6F4A-93C8-9FD4F1C1591E}" type="slidenum">
              <a:rPr lang="en-US" smtClean="0"/>
              <a:pPr/>
              <a:t>95</a:t>
            </a:fld>
            <a:endParaRPr lang="en-US"/>
          </a:p>
        </p:txBody>
      </p:sp>
    </p:spTree>
    <p:extLst>
      <p:ext uri="{BB962C8B-B14F-4D97-AF65-F5344CB8AC3E}">
        <p14:creationId xmlns:p14="http://schemas.microsoft.com/office/powerpoint/2010/main" val="28902118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97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F4CE236-F476-7D45-A04C-BCA8DF3CE6EA}" type="datetime1">
              <a:rPr lang="en-US" smtClean="0"/>
              <a:pPr/>
              <a:t>5/2/24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5F3FFD-9B2C-A54A-9AAE-847814E2D763}" type="datetime1">
              <a:rPr lang="en-US" smtClean="0"/>
              <a:pPr/>
              <a:t>5/2/24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3091C7-3FB2-4A45-A50D-CFD735226A6E}" type="datetime1">
              <a:rPr lang="en-US" smtClean="0"/>
              <a:pPr/>
              <a:t>5/2/24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470369-F10D-D240-AC49-5A4BBB2B8696}" type="datetime1">
              <a:rPr lang="en-US" smtClean="0"/>
              <a:pPr/>
              <a:t>5/2/24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762EE7-3E26-8344-9AFB-A62088F617B5}" type="datetime1">
              <a:rPr lang="en-US" smtClean="0"/>
              <a:pPr/>
              <a:t>5/2/24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2121E2-B05F-B94B-BD08-7791A84524CA}" type="datetime1">
              <a:rPr lang="en-US" smtClean="0"/>
              <a:pPr/>
              <a:t>5/2/24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837DA5-A14A-E946-B9A8-A3DDDB028895}" type="datetime1">
              <a:rPr lang="en-US" smtClean="0"/>
              <a:pPr/>
              <a:t>5/2/24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BE7938-D108-814E-BC30-791B297BDDCF}" type="datetime1">
              <a:rPr lang="en-US" smtClean="0"/>
              <a:pPr/>
              <a:t>5/2/24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FA85F-2E60-0949-952F-74F57104584F}" type="datetime1">
              <a:rPr lang="en-US" smtClean="0"/>
              <a:pPr/>
              <a:t>5/2/24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685D27-41E8-0044-B40C-AFB14955B22D}" type="datetime1">
              <a:rPr lang="en-US" smtClean="0"/>
              <a:pPr/>
              <a:t>5/2/24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04813" y="300038"/>
            <a:ext cx="8162925" cy="579437"/>
          </a:xfrm>
        </p:spPr>
        <p:txBody>
          <a:bodyPr/>
          <a:lstStyle/>
          <a:p>
            <a:r>
              <a:rPr lang="en-US"/>
              <a:t>Click to edit Master title style</a:t>
            </a:r>
          </a:p>
        </p:txBody>
      </p:sp>
      <p:sp>
        <p:nvSpPr>
          <p:cNvPr id="3" name="Text Placeholder 2"/>
          <p:cNvSpPr>
            <a:spLocks noGrp="1"/>
          </p:cNvSpPr>
          <p:nvPr>
            <p:ph type="body" sz="half" idx="1"/>
          </p:nvPr>
        </p:nvSpPr>
        <p:spPr>
          <a:xfrm>
            <a:off x="441325" y="1085850"/>
            <a:ext cx="4078288" cy="4995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672013" y="1085850"/>
            <a:ext cx="4078287" cy="4995863"/>
          </a:xfrm>
        </p:spPr>
        <p:txBody>
          <a:bodyPr/>
          <a:lstStyle/>
          <a:p>
            <a:endParaRPr lang="en-US"/>
          </a:p>
        </p:txBody>
      </p:sp>
      <p:sp>
        <p:nvSpPr>
          <p:cNvPr id="5" name="Date Placeholder 4"/>
          <p:cNvSpPr>
            <a:spLocks noGrp="1"/>
          </p:cNvSpPr>
          <p:nvPr>
            <p:ph type="dt" sz="half" idx="10"/>
          </p:nvPr>
        </p:nvSpPr>
        <p:spPr>
          <a:xfrm>
            <a:off x="176213" y="6286500"/>
            <a:ext cx="2881312" cy="457200"/>
          </a:xfrm>
        </p:spPr>
        <p:txBody>
          <a:bodyPr/>
          <a:lstStyle>
            <a:lvl1pPr algn="l">
              <a:defRPr smtClean="0"/>
            </a:lvl1pPr>
          </a:lstStyle>
          <a:p>
            <a:fld id="{8D11BE96-3744-5646-BAC8-E5987086E798}" type="datetime1">
              <a:rPr lang="en-US" smtClean="0"/>
              <a:pPr/>
              <a:t>5/2/24</a:t>
            </a:fld>
            <a:endParaRPr lang="en-US"/>
          </a:p>
        </p:txBody>
      </p:sp>
      <p:sp>
        <p:nvSpPr>
          <p:cNvPr id="6" name="Footer Placeholder 5"/>
          <p:cNvSpPr>
            <a:spLocks noGrp="1"/>
          </p:cNvSpPr>
          <p:nvPr>
            <p:ph type="ftr" sz="quarter" idx="11"/>
          </p:nvPr>
        </p:nvSpPr>
        <p:spPr>
          <a:xfrm>
            <a:off x="3590925" y="6286500"/>
            <a:ext cx="2895600" cy="457200"/>
          </a:xfrm>
        </p:spPr>
        <p:txBody>
          <a:bodyPr/>
          <a:lstStyle>
            <a:lvl1pPr>
              <a:defRPr/>
            </a:lvl1pPr>
          </a:lstStyle>
          <a:p>
            <a:endParaRPr lang="en-GB"/>
          </a:p>
        </p:txBody>
      </p:sp>
      <p:sp>
        <p:nvSpPr>
          <p:cNvPr id="7" name="Slide Number Placeholder 6"/>
          <p:cNvSpPr>
            <a:spLocks noGrp="1"/>
          </p:cNvSpPr>
          <p:nvPr>
            <p:ph type="sldNum" sz="quarter" idx="12"/>
          </p:nvPr>
        </p:nvSpPr>
        <p:spPr>
          <a:xfrm>
            <a:off x="7019925" y="6286500"/>
            <a:ext cx="1905000" cy="457200"/>
          </a:xfrm>
        </p:spPr>
        <p:txBody>
          <a:bodyPr/>
          <a:lstStyle>
            <a:lvl1pPr>
              <a:defRPr smtClean="0"/>
            </a:lvl1pPr>
          </a:lstStyle>
          <a:p>
            <a:fld id="{D85D7429-E0B0-F747-9618-8B51FA155C3D}" type="slidenum">
              <a:rPr lang="en-US"/>
              <a:pPr/>
              <a:t>‹#›</a:t>
            </a:fld>
            <a:endParaRPr lang="en-US"/>
          </a:p>
        </p:txBody>
      </p:sp>
    </p:spTree>
    <p:extLst>
      <p:ext uri="{BB962C8B-B14F-4D97-AF65-F5344CB8AC3E}">
        <p14:creationId xmlns:p14="http://schemas.microsoft.com/office/powerpoint/2010/main" val="455879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04813" y="300038"/>
            <a:ext cx="8162925" cy="579437"/>
          </a:xfrm>
        </p:spPr>
        <p:txBody>
          <a:bodyPr/>
          <a:lstStyle/>
          <a:p>
            <a:r>
              <a:rPr lang="en-US"/>
              <a:t>Click to edit Master title style</a:t>
            </a:r>
          </a:p>
        </p:txBody>
      </p:sp>
      <p:sp>
        <p:nvSpPr>
          <p:cNvPr id="3" name="SmartArt Placeholder 2"/>
          <p:cNvSpPr>
            <a:spLocks noGrp="1"/>
          </p:cNvSpPr>
          <p:nvPr>
            <p:ph type="dgm" idx="1"/>
          </p:nvPr>
        </p:nvSpPr>
        <p:spPr>
          <a:xfrm>
            <a:off x="441325" y="1085850"/>
            <a:ext cx="8308975" cy="4995863"/>
          </a:xfrm>
        </p:spPr>
        <p:txBody>
          <a:bodyPr/>
          <a:lstStyle/>
          <a:p>
            <a:pPr lvl="0"/>
            <a:endParaRPr lang="en-US" noProof="0"/>
          </a:p>
        </p:txBody>
      </p:sp>
      <p:sp>
        <p:nvSpPr>
          <p:cNvPr id="4" name="Date Placeholder 3"/>
          <p:cNvSpPr>
            <a:spLocks noGrp="1"/>
          </p:cNvSpPr>
          <p:nvPr>
            <p:ph type="dt" sz="half" idx="10"/>
          </p:nvPr>
        </p:nvSpPr>
        <p:spPr/>
        <p:txBody>
          <a:bodyPr/>
          <a:lstStyle>
            <a:lvl1pPr algn="l">
              <a:defRPr/>
            </a:lvl1pPr>
          </a:lstStyle>
          <a:p>
            <a:pPr>
              <a:defRPr/>
            </a:pPr>
            <a:endParaRPr lang="en-US"/>
          </a:p>
          <a:p>
            <a:pPr>
              <a:defRPr/>
            </a:pPr>
            <a:r>
              <a:rPr lang="en-US"/>
              <a:t>S.K. Matthai &amp; A. Burri 6/04</a:t>
            </a:r>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9CCE042-F42E-624C-B7FB-6F04E028C1D8}" type="slidenum">
              <a:rPr lang="en-US"/>
              <a:pPr>
                <a:defRPr/>
              </a:pPr>
              <a:t>‹#›</a:t>
            </a:fld>
            <a:endParaRPr lang="en-US"/>
          </a:p>
        </p:txBody>
      </p:sp>
    </p:spTree>
    <p:extLst>
      <p:ext uri="{BB962C8B-B14F-4D97-AF65-F5344CB8AC3E}">
        <p14:creationId xmlns:p14="http://schemas.microsoft.com/office/powerpoint/2010/main" val="17863204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981200"/>
            <a:ext cx="3810000" cy="4114800"/>
          </a:xfrm>
        </p:spPr>
        <p:txBody>
          <a:bodyPr/>
          <a:lstStyle/>
          <a:p>
            <a:pPr lvl="0"/>
            <a:endParaRPr lang="en-US" noProof="0"/>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fld id="{CC1DA338-81E2-CE43-934A-D1C6A672F5D1}" type="datetime1">
              <a:rPr lang="en-US"/>
              <a:pPr/>
              <a:t>5/2/24</a:t>
            </a:fld>
            <a:endParaRPr 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a:prstGeom prst="rect">
            <a:avLst/>
          </a:prstGeom>
        </p:spPr>
        <p:txBody>
          <a:bodyPr/>
          <a:lstStyle>
            <a:lvl1pPr>
              <a:defRPr/>
            </a:lvl1pPr>
          </a:lstStyle>
          <a:p>
            <a:r>
              <a:rPr lang="en-US"/>
              <a:t>IP-SKM2001</a:t>
            </a:r>
            <a:r>
              <a:rPr lang="en-US">
                <a:latin typeface="Times New Roman" charset="0"/>
              </a:rPr>
              <a:t> </a:t>
            </a:r>
            <a:fld id="{503582CB-C19F-DE4D-B8EC-FBEA3632AC80}" type="slidenum">
              <a:rPr lang="en-US">
                <a:latin typeface="Times New Roman" charset="0"/>
              </a:rPr>
              <a:pPr/>
              <a:t>‹#›</a:t>
            </a:fld>
            <a:endParaRPr lang="en-US">
              <a:latin typeface="Times New Roman" charset="0"/>
            </a:endParaRPr>
          </a:p>
        </p:txBody>
      </p:sp>
    </p:spTree>
    <p:extLst>
      <p:ext uri="{BB962C8B-B14F-4D97-AF65-F5344CB8AC3E}">
        <p14:creationId xmlns:p14="http://schemas.microsoft.com/office/powerpoint/2010/main" val="334253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9144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914400"/>
            <a:ext cx="8229600" cy="5211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fld id="{57951F7C-CFBF-8144-A102-5B4CA8E4DF9C}" type="datetime1">
              <a:rPr lang="en-US" smtClean="0"/>
              <a:pPr/>
              <a:t>5/2/24</a:t>
            </a:fld>
            <a:endParaRPr lang="en-US" dirty="0"/>
          </a:p>
        </p:txBody>
      </p:sp>
      <p:sp>
        <p:nvSpPr>
          <p:cNvPr id="5" name="Footer Placeholder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endParaRPr lang="en-US" dirty="0"/>
          </a:p>
        </p:txBody>
      </p:sp>
      <p:sp>
        <p:nvSpPr>
          <p:cNvPr id="6" name="Slide Number Placeholder 5"/>
          <p:cNvSpPr>
            <a:spLocks noGrp="1"/>
          </p:cNvSpPr>
          <p:nvPr>
            <p:ph type="sldNum" sz="quarter" idx="4"/>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r>
              <a:rPr lang="en-US" dirty="0"/>
              <a:t>  </a:t>
            </a:r>
            <a:fld id="{223FD816-CC6A-BF43-8241-637E3E7EAA5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lvl1pPr algn="l" defTabSz="457200" rtl="0" eaLnBrk="1" latinLnBrk="0" hangingPunct="1">
        <a:spcBef>
          <a:spcPct val="0"/>
        </a:spcBef>
        <a:buNone/>
        <a:defRPr sz="3200" kern="1200">
          <a:solidFill>
            <a:srgbClr val="FF0066"/>
          </a:solidFill>
          <a:latin typeface="Arial"/>
          <a:ea typeface="+mj-ea"/>
          <a:cs typeface="Arial"/>
        </a:defRPr>
      </a:lvl1pPr>
    </p:titleStyle>
    <p:bodyStyle>
      <a:lvl1pPr marL="342900" indent="-3429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1pPr>
      <a:lvl2pPr marL="742950" indent="-28575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3pPr>
      <a:lvl4pPr marL="16002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8.wmf"/></Relationships>
</file>

<file path=ppt/slides/_rels/slide46.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23.wmf"/><Relationship Id="rId2" Type="http://schemas.openxmlformats.org/officeDocument/2006/relationships/notesSlide" Target="../notesSlides/notesSlide26.xml"/><Relationship Id="rId16" Type="http://schemas.openxmlformats.org/officeDocument/2006/relationships/image" Target="../media/image25.wmf"/><Relationship Id="rId1" Type="http://schemas.openxmlformats.org/officeDocument/2006/relationships/slideLayout" Target="../slideLayouts/slideLayout6.xml"/><Relationship Id="rId6" Type="http://schemas.openxmlformats.org/officeDocument/2006/relationships/image" Target="../media/image20.w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22.emf"/><Relationship Id="rId4" Type="http://schemas.openxmlformats.org/officeDocument/2006/relationships/image" Target="../media/image19.wmf"/><Relationship Id="rId9" Type="http://schemas.openxmlformats.org/officeDocument/2006/relationships/oleObject" Target="../embeddings/oleObject6.bin"/><Relationship Id="rId14" Type="http://schemas.openxmlformats.org/officeDocument/2006/relationships/image" Target="../media/image24.wmf"/></Relationships>
</file>

<file path=ppt/slides/_rels/slide4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35.wmf"/><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2.e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13.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16.bin"/><Relationship Id="rId4" Type="http://schemas.openxmlformats.org/officeDocument/2006/relationships/image" Target="../media/image36.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38.wmf"/><Relationship Id="rId5" Type="http://schemas.openxmlformats.org/officeDocument/2006/relationships/oleObject" Target="../embeddings/oleObject18.bin"/><Relationship Id="rId4" Type="http://schemas.openxmlformats.org/officeDocument/2006/relationships/image" Target="../media/image37.wmf"/></Relationships>
</file>

<file path=ppt/slides/_rels/slide58.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40.wmf"/><Relationship Id="rId5" Type="http://schemas.openxmlformats.org/officeDocument/2006/relationships/oleObject" Target="../embeddings/oleObject20.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2.bin"/></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43.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4.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45.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46.wmf"/></Relationships>
</file>

<file path=ppt/slides/_rels/slide63.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48.wmf"/><Relationship Id="rId5" Type="http://schemas.openxmlformats.org/officeDocument/2006/relationships/oleObject" Target="../embeddings/oleObject28.bin"/><Relationship Id="rId4" Type="http://schemas.openxmlformats.org/officeDocument/2006/relationships/image" Target="../media/image47.wmf"/><Relationship Id="rId9" Type="http://schemas.openxmlformats.org/officeDocument/2006/relationships/image" Target="../media/image50.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52.wmf"/><Relationship Id="rId5" Type="http://schemas.openxmlformats.org/officeDocument/2006/relationships/oleObject" Target="../embeddings/oleObject31.bin"/><Relationship Id="rId4" Type="http://schemas.openxmlformats.org/officeDocument/2006/relationships/image" Target="../media/image51.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42.xml"/><Relationship Id="rId1" Type="http://schemas.openxmlformats.org/officeDocument/2006/relationships/slideLayout" Target="../slideLayouts/slideLayout6.xml"/><Relationship Id="rId5" Type="http://schemas.openxmlformats.org/officeDocument/2006/relationships/image" Target="../media/image54.jpeg"/><Relationship Id="rId4" Type="http://schemas.openxmlformats.org/officeDocument/2006/relationships/image" Target="../media/image53.wmf"/></Relationships>
</file>

<file path=ppt/slides/_rels/slide66.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56.wmf"/><Relationship Id="rId5" Type="http://schemas.openxmlformats.org/officeDocument/2006/relationships/oleObject" Target="../embeddings/oleObject34.bin"/><Relationship Id="rId4" Type="http://schemas.openxmlformats.org/officeDocument/2006/relationships/image" Target="../media/image55.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59.wmf"/></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png"/></Relationships>
</file>

<file path=ppt/slides/_rels/slide79.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37.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496" y="20960"/>
            <a:ext cx="9108504" cy="1515590"/>
          </a:xfrm>
        </p:spPr>
        <p:txBody>
          <a:bodyPr>
            <a:noAutofit/>
          </a:bodyPr>
          <a:lstStyle/>
          <a:p>
            <a:pPr algn="ctr"/>
            <a:r>
              <a:rPr lang="en-US" sz="4400" dirty="0"/>
              <a:t>The Complex Systems Modelling Platform (</a:t>
            </a:r>
            <a:r>
              <a:rPr lang="en-US" sz="4400" dirty="0" err="1"/>
              <a:t>OpenCSMP</a:t>
            </a:r>
            <a:r>
              <a:rPr lang="en-US" sz="4400" dirty="0"/>
              <a:t>)</a:t>
            </a:r>
          </a:p>
        </p:txBody>
      </p:sp>
      <p:sp>
        <p:nvSpPr>
          <p:cNvPr id="3" name="Subtitle 2"/>
          <p:cNvSpPr>
            <a:spLocks noGrp="1"/>
          </p:cNvSpPr>
          <p:nvPr>
            <p:ph type="subTitle" idx="1"/>
          </p:nvPr>
        </p:nvSpPr>
        <p:spPr>
          <a:xfrm>
            <a:off x="1371600" y="5450160"/>
            <a:ext cx="6400800" cy="1219200"/>
          </a:xfrm>
        </p:spPr>
        <p:txBody>
          <a:bodyPr>
            <a:normAutofit/>
          </a:bodyPr>
          <a:lstStyle/>
          <a:p>
            <a:r>
              <a:rPr lang="en-US" sz="4400" dirty="0">
                <a:solidFill>
                  <a:schemeClr val="bg1">
                    <a:lumMod val="50000"/>
                  </a:schemeClr>
                </a:solidFill>
              </a:rPr>
              <a:t>Introduction</a:t>
            </a:r>
          </a:p>
        </p:txBody>
      </p:sp>
      <p:sp>
        <p:nvSpPr>
          <p:cNvPr id="4" name="TextBox 3"/>
          <p:cNvSpPr txBox="1"/>
          <p:nvPr/>
        </p:nvSpPr>
        <p:spPr>
          <a:xfrm>
            <a:off x="899592" y="6252563"/>
            <a:ext cx="6994298" cy="400110"/>
          </a:xfrm>
          <a:prstGeom prst="rect">
            <a:avLst/>
          </a:prstGeom>
          <a:noFill/>
        </p:spPr>
        <p:txBody>
          <a:bodyPr wrap="none" rtlCol="0">
            <a:spAutoFit/>
          </a:bodyPr>
          <a:lstStyle/>
          <a:p>
            <a:pPr algn="ctr"/>
            <a:r>
              <a:rPr lang="en-US" sz="2000" dirty="0">
                <a:solidFill>
                  <a:schemeClr val="bg1">
                    <a:lumMod val="65000"/>
                  </a:schemeClr>
                </a:solidFill>
                <a:latin typeface="Arial"/>
                <a:cs typeface="Arial"/>
              </a:rPr>
              <a:t>Stephan K. </a:t>
            </a:r>
            <a:r>
              <a:rPr lang="en-US" sz="2000" dirty="0" err="1">
                <a:solidFill>
                  <a:schemeClr val="bg1">
                    <a:lumMod val="65000"/>
                  </a:schemeClr>
                </a:solidFill>
                <a:latin typeface="Arial"/>
                <a:cs typeface="Arial"/>
              </a:rPr>
              <a:t>Matthai</a:t>
            </a:r>
            <a:r>
              <a:rPr lang="en-US" sz="2000" dirty="0">
                <a:solidFill>
                  <a:schemeClr val="bg1">
                    <a:lumMod val="65000"/>
                  </a:schemeClr>
                </a:solidFill>
                <a:latin typeface="Arial"/>
                <a:cs typeface="Arial"/>
              </a:rPr>
              <a:t>, The University of Melbourne, Australia</a:t>
            </a:r>
          </a:p>
        </p:txBody>
      </p:sp>
      <p:pic>
        <p:nvPicPr>
          <p:cNvPr id="9" name="Picture 8" descr="doimoi_shear_s&amp;pf_in_box.pn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70319" y="1792849"/>
            <a:ext cx="4523581" cy="3402944"/>
          </a:xfrm>
          <a:prstGeom prst="rect">
            <a:avLst/>
          </a:prstGeom>
        </p:spPr>
      </p:pic>
      <p:sp>
        <p:nvSpPr>
          <p:cNvPr id="10" name="TextBox 9"/>
          <p:cNvSpPr txBox="1"/>
          <p:nvPr/>
        </p:nvSpPr>
        <p:spPr>
          <a:xfrm>
            <a:off x="5790263" y="1484784"/>
            <a:ext cx="3390249"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1" u="none" strike="noStrike" kern="0" cap="none" spc="0" normalizeH="0" baseline="0" noProof="0" dirty="0" err="1">
                <a:ln>
                  <a:noFill/>
                </a:ln>
                <a:effectLst/>
                <a:uLnTx/>
                <a:uFillTx/>
                <a:latin typeface="Arial"/>
                <a:cs typeface="Arial"/>
              </a:rPr>
              <a:t>OpenCSMP</a:t>
            </a:r>
            <a:r>
              <a:rPr kumimoji="0" lang="en-US" sz="1400" b="0" i="1" u="none" strike="noStrike" kern="0" cap="none" spc="0" normalizeH="0" baseline="0" noProof="0" dirty="0">
                <a:ln>
                  <a:noFill/>
                </a:ln>
                <a:effectLst/>
                <a:uLnTx/>
                <a:uFillTx/>
                <a:latin typeface="Arial"/>
                <a:cs typeface="Arial"/>
              </a:rPr>
              <a:t> water-flood model of fractured Monterey </a:t>
            </a:r>
            <a:r>
              <a:rPr kumimoji="0" lang="en-US" sz="1400" b="0" i="1" u="none" strike="noStrike" kern="0" cap="none" spc="0" normalizeH="0" baseline="0" noProof="0" dirty="0" err="1">
                <a:ln>
                  <a:noFill/>
                </a:ln>
                <a:effectLst/>
                <a:uLnTx/>
                <a:uFillTx/>
                <a:latin typeface="Arial"/>
                <a:cs typeface="Arial"/>
              </a:rPr>
              <a:t>Fmt</a:t>
            </a:r>
            <a:r>
              <a:rPr kumimoji="0" lang="en-US" sz="1400" b="0" i="1" u="none" strike="noStrike" kern="0" cap="none" spc="0" normalizeH="0" baseline="0" noProof="0" dirty="0">
                <a:ln>
                  <a:noFill/>
                </a:ln>
                <a:effectLst/>
                <a:uLnTx/>
                <a:uFillTx/>
                <a:latin typeface="Arial"/>
                <a:cs typeface="Arial"/>
              </a:rPr>
              <a:t>, 0.2 x 1 x 1km </a:t>
            </a:r>
          </a:p>
        </p:txBody>
      </p:sp>
      <p:pic>
        <p:nvPicPr>
          <p:cNvPr id="11" name="Picture 3" descr="FRAC2000_saturation150000iso_srf"/>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900320" y="1965188"/>
            <a:ext cx="4243680" cy="3297411"/>
          </a:xfrm>
          <a:prstGeom prst="rect">
            <a:avLst/>
          </a:prstGeom>
          <a:noFill/>
          <a:ln w="9525">
            <a:noFill/>
            <a:miter lim="800000"/>
            <a:headEnd/>
            <a:tailEnd/>
          </a:ln>
        </p:spPr>
      </p:pic>
      <p:sp>
        <p:nvSpPr>
          <p:cNvPr id="12" name="TextBox 11"/>
          <p:cNvSpPr txBox="1"/>
          <p:nvPr/>
        </p:nvSpPr>
        <p:spPr>
          <a:xfrm>
            <a:off x="352405" y="5229200"/>
            <a:ext cx="3139476" cy="523220"/>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i="1" kern="0" dirty="0">
                <a:latin typeface="Arial"/>
                <a:cs typeface="Arial"/>
              </a:rPr>
              <a:t>Shear stress on faults in </a:t>
            </a:r>
            <a:r>
              <a:rPr kumimoji="0" lang="en-US" sz="1400" b="0" i="1" u="none" strike="noStrike" kern="0" cap="none" spc="0" normalizeH="0" baseline="0" noProof="0" dirty="0">
                <a:ln>
                  <a:noFill/>
                </a:ln>
                <a:effectLst/>
                <a:uLnTx/>
                <a:uFillTx/>
                <a:latin typeface="Arial"/>
                <a:cs typeface="Arial"/>
              </a:rPr>
              <a:t>Vietnamese basement oil reservoir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1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0" y="-1"/>
            <a:ext cx="9177959" cy="6886407"/>
          </a:xfrm>
          <a:prstGeom prst="rect">
            <a:avLst/>
          </a:prstGeom>
        </p:spPr>
      </p:pic>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457200" y="914400"/>
            <a:ext cx="8229600" cy="5578475"/>
          </a:xfrm>
        </p:spPr>
        <p:txBody>
          <a:bodyPr>
            <a:normAutofit/>
          </a:bodyPr>
          <a:lstStyle/>
          <a:p>
            <a:pPr marL="457200" indent="-457200">
              <a:spcBef>
                <a:spcPts val="1300"/>
              </a:spcBef>
              <a:spcAft>
                <a:spcPts val="1800"/>
              </a:spcAft>
              <a:buFont typeface="+mj-lt"/>
              <a:buAutoNum type="arabicPeriod"/>
            </a:pPr>
            <a:r>
              <a:rPr lang="en-US" sz="2400" dirty="0">
                <a:solidFill>
                  <a:srgbClr val="FFFF00"/>
                </a:solidFill>
              </a:rPr>
              <a:t>Introduction</a:t>
            </a:r>
          </a:p>
          <a:p>
            <a:pPr marL="457200" indent="-457200">
              <a:spcBef>
                <a:spcPts val="1300"/>
              </a:spcBef>
              <a:spcAft>
                <a:spcPts val="1800"/>
              </a:spcAft>
              <a:buFont typeface="+mj-lt"/>
              <a:buAutoNum type="arabicPeriod"/>
            </a:pPr>
            <a:r>
              <a:rPr lang="en-US" sz="2400" dirty="0"/>
              <a:t>CSMP variable types and their management</a:t>
            </a:r>
          </a:p>
          <a:p>
            <a:pPr marL="457200" indent="-457200">
              <a:spcBef>
                <a:spcPts val="1300"/>
              </a:spcBef>
              <a:spcAft>
                <a:spcPts val="1800"/>
              </a:spcAft>
              <a:buFont typeface="+mj-lt"/>
              <a:buAutoNum type="arabicPeriod"/>
            </a:pPr>
            <a:r>
              <a:rPr lang="en-US" sz="2400" dirty="0"/>
              <a:t>The Model, its Regions and Boundaries</a:t>
            </a:r>
          </a:p>
          <a:p>
            <a:pPr marL="457200" indent="-457200">
              <a:spcBef>
                <a:spcPts val="1300"/>
              </a:spcBef>
              <a:spcAft>
                <a:spcPts val="1800"/>
              </a:spcAft>
              <a:buFont typeface="+mj-lt"/>
              <a:buAutoNum type="arabicPeriod"/>
            </a:pPr>
            <a:r>
              <a:rPr lang="en-US" sz="2400" dirty="0"/>
              <a:t>Hybrid finite element – finite volume discretization</a:t>
            </a:r>
          </a:p>
          <a:p>
            <a:pPr marL="457200" indent="-457200">
              <a:spcBef>
                <a:spcPts val="1300"/>
              </a:spcBef>
              <a:spcAft>
                <a:spcPts val="1800"/>
              </a:spcAft>
              <a:buFont typeface="+mj-lt"/>
              <a:buAutoNum type="arabicPeriod"/>
            </a:pPr>
            <a:r>
              <a:rPr lang="en-US" sz="2400" dirty="0"/>
              <a:t>Solving PDE’s: the </a:t>
            </a:r>
            <a:r>
              <a:rPr lang="en-US" sz="2400" dirty="0" err="1"/>
              <a:t>PDE_Integrator</a:t>
            </a:r>
            <a:r>
              <a:rPr lang="en-US" sz="2400" dirty="0"/>
              <a:t> framework</a:t>
            </a:r>
          </a:p>
          <a:p>
            <a:pPr marL="457200" indent="-457200">
              <a:spcBef>
                <a:spcPts val="1300"/>
              </a:spcBef>
              <a:spcAft>
                <a:spcPts val="1800"/>
              </a:spcAft>
              <a:buFont typeface="+mj-lt"/>
              <a:buAutoNum type="arabicPeriod"/>
            </a:pPr>
            <a:r>
              <a:rPr lang="en-US" sz="2400" dirty="0"/>
              <a:t>Constitutive relationships: Visitors etc.</a:t>
            </a:r>
          </a:p>
          <a:p>
            <a:pPr marL="457200" indent="-457200">
              <a:spcBef>
                <a:spcPts val="1300"/>
              </a:spcBef>
              <a:spcAft>
                <a:spcPts val="1800"/>
              </a:spcAft>
              <a:buFont typeface="+mj-lt"/>
              <a:buAutoNum type="arabicPeriod"/>
            </a:pPr>
            <a:r>
              <a:rPr lang="en-US" sz="2400" dirty="0"/>
              <a:t>Advanced topics</a:t>
            </a:r>
          </a:p>
          <a:p>
            <a:pPr marL="457200" indent="-457200">
              <a:spcBef>
                <a:spcPts val="1300"/>
              </a:spcBef>
              <a:spcAft>
                <a:spcPts val="1800"/>
              </a:spcAft>
              <a:buFont typeface="+mj-lt"/>
              <a:buAutoNum type="arabicPeriod"/>
            </a:pPr>
            <a:endParaRPr lang="en-US" sz="2400"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a:xfrm>
            <a:off x="3124200" y="6492875"/>
            <a:ext cx="3464024" cy="365125"/>
          </a:xfrm>
        </p:spPr>
        <p:txBody>
          <a:bodyPr/>
          <a:lstStyle/>
          <a:p>
            <a:r>
              <a:rPr lang="en-US" dirty="0"/>
              <a:t>CSMP++ API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2</a:t>
            </a:fld>
            <a:endParaRPr lang="en-US"/>
          </a:p>
        </p:txBody>
      </p:sp>
    </p:spTree>
    <p:extLst>
      <p:ext uri="{BB962C8B-B14F-4D97-AF65-F5344CB8AC3E}">
        <p14:creationId xmlns:p14="http://schemas.microsoft.com/office/powerpoint/2010/main" val="3846574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CSMP++ ?</a:t>
            </a:r>
          </a:p>
        </p:txBody>
      </p:sp>
      <p:sp>
        <p:nvSpPr>
          <p:cNvPr id="3" name="Content Placeholder 2"/>
          <p:cNvSpPr>
            <a:spLocks noGrp="1"/>
          </p:cNvSpPr>
          <p:nvPr>
            <p:ph idx="1"/>
          </p:nvPr>
        </p:nvSpPr>
        <p:spPr>
          <a:xfrm>
            <a:off x="457200" y="914400"/>
            <a:ext cx="8229600" cy="5682952"/>
          </a:xfrm>
        </p:spPr>
        <p:txBody>
          <a:bodyPr>
            <a:normAutofit/>
          </a:bodyPr>
          <a:lstStyle/>
          <a:p>
            <a:pPr>
              <a:spcBef>
                <a:spcPts val="600"/>
              </a:spcBef>
              <a:spcAft>
                <a:spcPts val="1200"/>
              </a:spcAft>
            </a:pPr>
            <a:r>
              <a:rPr lang="en-US" dirty="0"/>
              <a:t>C++17 standard compliant Application Programmer Interface (API),</a:t>
            </a:r>
          </a:p>
          <a:p>
            <a:pPr>
              <a:spcBef>
                <a:spcPts val="600"/>
              </a:spcBef>
              <a:spcAft>
                <a:spcPts val="1200"/>
              </a:spcAft>
            </a:pPr>
            <a:r>
              <a:rPr lang="en-US" dirty="0"/>
              <a:t>Polygonal distributed data model,</a:t>
            </a:r>
          </a:p>
          <a:p>
            <a:pPr>
              <a:spcBef>
                <a:spcPts val="600"/>
              </a:spcBef>
              <a:spcAft>
                <a:spcPts val="1200"/>
              </a:spcAft>
            </a:pPr>
            <a:r>
              <a:rPr lang="en-US" dirty="0"/>
              <a:t>Finite Element (FEM) - Finite Volume (FVM) partial differential equation solver,</a:t>
            </a:r>
          </a:p>
          <a:p>
            <a:pPr>
              <a:spcBef>
                <a:spcPts val="600"/>
              </a:spcBef>
              <a:spcAft>
                <a:spcPts val="1200"/>
              </a:spcAft>
            </a:pPr>
            <a:r>
              <a:rPr lang="en-US" dirty="0"/>
              <a:t>Collection of tools for integrated simulation of THMC processes in geometrically complex models resolving multiple length scales,</a:t>
            </a:r>
          </a:p>
          <a:p>
            <a:pPr>
              <a:spcBef>
                <a:spcPts val="600"/>
              </a:spcBef>
              <a:spcAft>
                <a:spcPts val="1200"/>
              </a:spcAft>
            </a:pPr>
            <a:r>
              <a:rPr lang="en-US" dirty="0"/>
              <a:t>Implementation of: </a:t>
            </a:r>
          </a:p>
          <a:p>
            <a:pPr lvl="1">
              <a:spcBef>
                <a:spcPts val="600"/>
              </a:spcBef>
              <a:spcAft>
                <a:spcPts val="1200"/>
              </a:spcAft>
            </a:pPr>
            <a:r>
              <a:rPr lang="en-US" dirty="0"/>
              <a:t>Constitutive relationships for THMC processes</a:t>
            </a:r>
          </a:p>
          <a:p>
            <a:pPr lvl="1">
              <a:spcBef>
                <a:spcPts val="600"/>
              </a:spcBef>
              <a:spcAft>
                <a:spcPts val="1200"/>
              </a:spcAft>
            </a:pPr>
            <a:r>
              <a:rPr lang="en-US" dirty="0"/>
              <a:t>Range of equations of state</a:t>
            </a:r>
          </a:p>
          <a:p>
            <a:pPr>
              <a:spcBef>
                <a:spcPts val="600"/>
              </a:spcBef>
              <a:spcAft>
                <a:spcPts val="1200"/>
              </a:spcAft>
            </a:pPr>
            <a:r>
              <a:rPr lang="en-US" dirty="0"/>
              <a:t>Basis of a variety of forward simulation programs ranging from reservoir simulation to geophysical </a:t>
            </a:r>
            <a:r>
              <a:rPr lang="en-US" dirty="0" err="1"/>
              <a:t>modelling</a:t>
            </a:r>
            <a:r>
              <a:rPr lang="en-US" dirty="0"/>
              <a:t>. </a:t>
            </a:r>
          </a:p>
          <a:p>
            <a:pPr>
              <a:spcBef>
                <a:spcPts val="600"/>
              </a:spcBef>
              <a:spcAft>
                <a:spcPts val="1200"/>
              </a:spcAft>
            </a:pPr>
            <a:endParaRPr lang="en-US" dirty="0"/>
          </a:p>
        </p:txBody>
      </p:sp>
      <p:sp>
        <p:nvSpPr>
          <p:cNvPr id="5" name="Slide Number Placeholder 4"/>
          <p:cNvSpPr>
            <a:spLocks noGrp="1"/>
          </p:cNvSpPr>
          <p:nvPr>
            <p:ph type="sldNum" sz="quarter" idx="12"/>
          </p:nvPr>
        </p:nvSpPr>
        <p:spPr/>
        <p:txBody>
          <a:bodyPr/>
          <a:lstStyle/>
          <a:p>
            <a:fld id="{223FD816-CC6A-BF43-8241-637E3E7EAA5A}" type="slidenum">
              <a:rPr lang="en-US" smtClean="0"/>
              <a:pPr/>
              <a:t>3</a:t>
            </a:fld>
            <a:endParaRPr lang="en-US" dirty="0"/>
          </a:p>
        </p:txBody>
      </p:sp>
      <p:sp>
        <p:nvSpPr>
          <p:cNvPr id="6" name="Date Placeholder 5"/>
          <p:cNvSpPr>
            <a:spLocks noGrp="1"/>
          </p:cNvSpPr>
          <p:nvPr>
            <p:ph type="dt" sz="half" idx="10"/>
          </p:nvPr>
        </p:nvSpPr>
        <p:spPr/>
        <p:txBody>
          <a:bodyPr/>
          <a:lstStyle/>
          <a:p>
            <a:fld id="{A3B7F5B4-1321-C948-BBDF-A976BE99BD7E}" type="datetime1">
              <a:rPr lang="en-US" smtClean="0"/>
              <a:pPr/>
              <a:t>5/2/24</a:t>
            </a:fld>
            <a:endParaRPr lang="en-US"/>
          </a:p>
        </p:txBody>
      </p:sp>
      <p:sp>
        <p:nvSpPr>
          <p:cNvPr id="7" name="Footer Placeholder 6"/>
          <p:cNvSpPr>
            <a:spLocks noGrp="1"/>
          </p:cNvSpPr>
          <p:nvPr>
            <p:ph type="ftr" sz="quarter" idx="11"/>
          </p:nvPr>
        </p:nvSpPr>
        <p:spPr/>
        <p:txBody>
          <a:bodyPr/>
          <a:lstStyle/>
          <a:p>
            <a:r>
              <a:rPr lang="en-US" dirty="0"/>
              <a:t>Overview</a:t>
            </a:r>
          </a:p>
        </p:txBody>
      </p:sp>
    </p:spTree>
    <p:extLst>
      <p:ext uri="{BB962C8B-B14F-4D97-AF65-F5344CB8AC3E}">
        <p14:creationId xmlns:p14="http://schemas.microsoft.com/office/powerpoint/2010/main" val="253035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352"/>
            <a:ext cx="8229600" cy="914400"/>
          </a:xfrm>
        </p:spPr>
        <p:txBody>
          <a:bodyPr/>
          <a:lstStyle/>
          <a:p>
            <a:r>
              <a:rPr lang="en-US" dirty="0"/>
              <a:t>What could it do?</a:t>
            </a:r>
          </a:p>
        </p:txBody>
      </p:sp>
      <p:sp>
        <p:nvSpPr>
          <p:cNvPr id="3" name="Content Placeholder 2"/>
          <p:cNvSpPr>
            <a:spLocks noGrp="1"/>
          </p:cNvSpPr>
          <p:nvPr>
            <p:ph idx="1"/>
          </p:nvPr>
        </p:nvSpPr>
        <p:spPr>
          <a:xfrm>
            <a:off x="457200" y="1124744"/>
            <a:ext cx="8229600" cy="5368131"/>
          </a:xfrm>
        </p:spPr>
        <p:txBody>
          <a:bodyPr>
            <a:normAutofit/>
          </a:bodyPr>
          <a:lstStyle/>
          <a:p>
            <a:pPr marL="0" indent="0">
              <a:buNone/>
            </a:pPr>
            <a:r>
              <a:rPr lang="en-US" i="1" dirty="0"/>
              <a:t>Most important features that have been demonstrated on conferences and in publications, but are currently not available in the API library (including CSP code that has not been ported to CSMP yet):</a:t>
            </a:r>
          </a:p>
          <a:p>
            <a:r>
              <a:rPr lang="en-US" dirty="0"/>
              <a:t>fracture propagation using J-function integral approach (Adriana </a:t>
            </a:r>
            <a:r>
              <a:rPr lang="en-US" dirty="0" err="1"/>
              <a:t>Paluszny</a:t>
            </a:r>
            <a:r>
              <a:rPr lang="en-US" dirty="0"/>
              <a:t>); this involves </a:t>
            </a:r>
            <a:r>
              <a:rPr lang="en-US" dirty="0" err="1"/>
              <a:t>remeshing</a:t>
            </a:r>
            <a:r>
              <a:rPr lang="en-US" dirty="0"/>
              <a:t> and feature tracking using deformable NURBS</a:t>
            </a:r>
          </a:p>
          <a:p>
            <a:r>
              <a:rPr lang="en-US" dirty="0"/>
              <a:t>asynchronous time stepping with a discrete event simulation method (DES, Roman </a:t>
            </a:r>
            <a:r>
              <a:rPr lang="en-US" dirty="0" err="1"/>
              <a:t>Manasipov</a:t>
            </a:r>
            <a:r>
              <a:rPr lang="en-US" dirty="0"/>
              <a:t> &amp; Julian </a:t>
            </a:r>
            <a:r>
              <a:rPr lang="en-US" dirty="0" err="1"/>
              <a:t>Mindel</a:t>
            </a:r>
            <a:r>
              <a:rPr lang="en-US" dirty="0"/>
              <a:t>)</a:t>
            </a:r>
          </a:p>
          <a:p>
            <a:r>
              <a:rPr lang="en-US" dirty="0"/>
              <a:t>Multiphase flow on models with full-tensor permeability (SKM)</a:t>
            </a:r>
          </a:p>
          <a:p>
            <a:r>
              <a:rPr lang="en-US" dirty="0"/>
              <a:t>Black-Oil multi-component multiphase transport model (Sebastian Geiger); correlation-based HC properties etc. (</a:t>
            </a:r>
            <a:r>
              <a:rPr lang="en-US" dirty="0" err="1"/>
              <a:t>Leoben</a:t>
            </a:r>
            <a:r>
              <a:rPr lang="en-US" dirty="0"/>
              <a:t> team)</a:t>
            </a:r>
          </a:p>
          <a:p>
            <a:r>
              <a:rPr lang="en-US" dirty="0"/>
              <a:t>Reactive transport in combination with GEMS (PSI / ETHZ)</a:t>
            </a:r>
          </a:p>
          <a:p>
            <a:r>
              <a:rPr lang="en-US" dirty="0"/>
              <a:t>Pore-scale fluid flow and transport (various approaches)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Overview</a:t>
            </a:r>
          </a:p>
        </p:txBody>
      </p:sp>
      <p:sp>
        <p:nvSpPr>
          <p:cNvPr id="6" name="Slide Number Placeholder 5"/>
          <p:cNvSpPr>
            <a:spLocks noGrp="1"/>
          </p:cNvSpPr>
          <p:nvPr>
            <p:ph type="sldNum" sz="quarter" idx="12"/>
          </p:nvPr>
        </p:nvSpPr>
        <p:spPr/>
        <p:txBody>
          <a:bodyPr/>
          <a:lstStyle/>
          <a:p>
            <a:fld id="{223FD816-CC6A-BF43-8241-637E3E7EAA5A}" type="slidenum">
              <a:rPr lang="en-US" smtClean="0"/>
              <a:pPr/>
              <a:t>4</a:t>
            </a:fld>
            <a:endParaRPr lang="en-US"/>
          </a:p>
        </p:txBody>
      </p:sp>
    </p:spTree>
    <p:extLst>
      <p:ext uri="{BB962C8B-B14F-4D97-AF65-F5344CB8AC3E}">
        <p14:creationId xmlns:p14="http://schemas.microsoft.com/office/powerpoint/2010/main" val="2811730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a:t>
            </a:r>
            <a:r>
              <a:rPr lang="en-US" dirty="0" err="1"/>
              <a:t>OpenCSMP</a:t>
            </a:r>
            <a:r>
              <a:rPr lang="en-US" dirty="0"/>
              <a:t> unique?</a:t>
            </a:r>
          </a:p>
        </p:txBody>
      </p:sp>
      <p:sp>
        <p:nvSpPr>
          <p:cNvPr id="3" name="Content Placeholder 2"/>
          <p:cNvSpPr>
            <a:spLocks noGrp="1"/>
          </p:cNvSpPr>
          <p:nvPr>
            <p:ph idx="1"/>
          </p:nvPr>
        </p:nvSpPr>
        <p:spPr>
          <a:xfrm>
            <a:off x="457200" y="869181"/>
            <a:ext cx="8229600" cy="5728171"/>
          </a:xfrm>
        </p:spPr>
        <p:txBody>
          <a:bodyPr>
            <a:normAutofit/>
          </a:bodyPr>
          <a:lstStyle/>
          <a:p>
            <a:pPr marL="176213" indent="-176213"/>
            <a:r>
              <a:rPr lang="en-US" dirty="0"/>
              <a:t>CSMP facilitates multi-domain simulations where different physics can be simulated in different model regions</a:t>
            </a:r>
          </a:p>
          <a:p>
            <a:pPr marL="176213" indent="-176213"/>
            <a:r>
              <a:rPr lang="en-US" dirty="0"/>
              <a:t>CSMP is a THMC simulator that capitalizes on the geometric flexibility offered by unstructured hybrid element meshing</a:t>
            </a:r>
          </a:p>
          <a:p>
            <a:pPr marL="176213" indent="-176213"/>
            <a:r>
              <a:rPr lang="en-US" dirty="0"/>
              <a:t>CSMP implements embedded discontinuities into continuum models</a:t>
            </a:r>
          </a:p>
          <a:p>
            <a:pPr marL="176213" indent="-176213"/>
            <a:r>
              <a:rPr lang="en-US" dirty="0"/>
              <a:t>CSMP supports dynamic space-time (mesh) adaptivity: </a:t>
            </a:r>
          </a:p>
          <a:p>
            <a:pPr marL="576263" lvl="1" indent="-176213"/>
            <a:r>
              <a:rPr lang="en-US" dirty="0"/>
              <a:t>Computational domains can evolve over time</a:t>
            </a:r>
          </a:p>
          <a:p>
            <a:pPr marL="576263" lvl="1" indent="-176213"/>
            <a:r>
              <a:rPr lang="en-US" dirty="0"/>
              <a:t>Storage neither relies on arrays nor on global cell numbers</a:t>
            </a:r>
          </a:p>
          <a:p>
            <a:pPr marL="576263" lvl="1" indent="-176213"/>
            <a:r>
              <a:rPr lang="en-US" dirty="0"/>
              <a:t>Material properties and dependent variables are directly associated with the underlying mesh entities (nodes, elements…)</a:t>
            </a:r>
          </a:p>
          <a:p>
            <a:pPr marL="576263" lvl="1" indent="-176213"/>
            <a:r>
              <a:rPr lang="en-US" dirty="0"/>
              <a:t>A tree structure multi-directionally connects mesh entities supporting local time-stepping methods = time adaptivity</a:t>
            </a:r>
          </a:p>
          <a:p>
            <a:pPr marL="176213" indent="-176213"/>
            <a:r>
              <a:rPr lang="en-US" dirty="0"/>
              <a:t>CSMP leads in the field of Discrete Fracture and Matrix simulation </a:t>
            </a:r>
          </a:p>
          <a:p>
            <a:pPr marL="176213" indent="-176213"/>
            <a:r>
              <a:rPr lang="en-US" dirty="0"/>
              <a:t>CSMP supports goal-based simulation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5</a:t>
            </a:fld>
            <a:endParaRPr lang="en-US" dirty="0"/>
          </a:p>
        </p:txBody>
      </p:sp>
      <p:sp>
        <p:nvSpPr>
          <p:cNvPr id="5" name="Date Placeholder 4"/>
          <p:cNvSpPr>
            <a:spLocks noGrp="1"/>
          </p:cNvSpPr>
          <p:nvPr>
            <p:ph type="dt" sz="half" idx="10"/>
          </p:nvPr>
        </p:nvSpPr>
        <p:spPr/>
        <p:txBody>
          <a:bodyPr/>
          <a:lstStyle/>
          <a:p>
            <a:fld id="{30F8A9F6-8131-5446-9DCB-C29EF6D21359}" type="datetime1">
              <a:rPr lang="en-US" smtClean="0"/>
              <a:pPr/>
              <a:t>5/2/24</a:t>
            </a:fld>
            <a:endParaRPr lang="en-US"/>
          </a:p>
        </p:txBody>
      </p:sp>
      <p:sp>
        <p:nvSpPr>
          <p:cNvPr id="7" name="Footer Placeholder 6"/>
          <p:cNvSpPr>
            <a:spLocks noGrp="1"/>
          </p:cNvSpPr>
          <p:nvPr>
            <p:ph type="ftr" sz="quarter" idx="11"/>
          </p:nvPr>
        </p:nvSpPr>
        <p:spPr/>
        <p:txBody>
          <a:bodyPr/>
          <a:lstStyle/>
          <a:p>
            <a:endParaRPr lang="en-US" dirty="0"/>
          </a:p>
          <a:p>
            <a:r>
              <a:rPr lang="en-US" dirty="0"/>
              <a:t>Overview</a:t>
            </a:r>
          </a:p>
          <a:p>
            <a:endParaRPr lang="en-US" dirty="0"/>
          </a:p>
        </p:txBody>
      </p:sp>
    </p:spTree>
    <p:extLst>
      <p:ext uri="{BB962C8B-B14F-4D97-AF65-F5344CB8AC3E}">
        <p14:creationId xmlns:p14="http://schemas.microsoft.com/office/powerpoint/2010/main" val="241196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5306" b="11228"/>
          <a:stretch/>
        </p:blipFill>
        <p:spPr>
          <a:xfrm>
            <a:off x="266700" y="1066800"/>
            <a:ext cx="3848100" cy="2799953"/>
          </a:xfrm>
          <a:prstGeom prst="rect">
            <a:avLst/>
          </a:prstGeom>
        </p:spPr>
      </p:pic>
      <p:pic>
        <p:nvPicPr>
          <p:cNvPr id="6" name="Picture 9"/>
          <p:cNvPicPr>
            <a:picLocks noChangeAspect="1" noChangeArrowheads="1"/>
          </p:cNvPicPr>
          <p:nvPr/>
        </p:nvPicPr>
        <p:blipFill>
          <a:blip r:embed="rId3"/>
          <a:srcRect/>
          <a:stretch>
            <a:fillRect/>
          </a:stretch>
        </p:blipFill>
        <p:spPr bwMode="auto">
          <a:xfrm>
            <a:off x="3527000" y="3387691"/>
            <a:ext cx="2389188" cy="690563"/>
          </a:xfrm>
          <a:prstGeom prst="rect">
            <a:avLst/>
          </a:prstGeom>
          <a:noFill/>
          <a:ln w="9525">
            <a:noFill/>
            <a:miter lim="800000"/>
            <a:headEnd/>
            <a:tailEnd/>
          </a:ln>
          <a:effectLst/>
        </p:spPr>
      </p:pic>
      <p:sp>
        <p:nvSpPr>
          <p:cNvPr id="2" name="Title 1"/>
          <p:cNvSpPr>
            <a:spLocks noGrp="1"/>
          </p:cNvSpPr>
          <p:nvPr>
            <p:ph type="title"/>
          </p:nvPr>
        </p:nvSpPr>
        <p:spPr>
          <a:xfrm>
            <a:off x="228600" y="76200"/>
            <a:ext cx="8839200" cy="685800"/>
          </a:xfrm>
        </p:spPr>
        <p:txBody>
          <a:bodyPr>
            <a:noAutofit/>
          </a:bodyPr>
          <a:lstStyle/>
          <a:p>
            <a:r>
              <a:rPr lang="en-US" sz="2800" dirty="0"/>
              <a:t>What’s wrong with standard reservoir simulators?</a:t>
            </a:r>
          </a:p>
        </p:txBody>
      </p:sp>
      <p:pic>
        <p:nvPicPr>
          <p:cNvPr id="5" name="Picture 4"/>
          <p:cNvPicPr>
            <a:picLocks noChangeAspect="1"/>
          </p:cNvPicPr>
          <p:nvPr/>
        </p:nvPicPr>
        <p:blipFill>
          <a:blip r:embed="rId4"/>
          <a:stretch>
            <a:fillRect/>
          </a:stretch>
        </p:blipFill>
        <p:spPr>
          <a:xfrm>
            <a:off x="4191000" y="1143000"/>
            <a:ext cx="4557713" cy="2514600"/>
          </a:xfrm>
          <a:prstGeom prst="rect">
            <a:avLst/>
          </a:prstGeom>
        </p:spPr>
      </p:pic>
      <p:sp>
        <p:nvSpPr>
          <p:cNvPr id="7" name="TextBox 6"/>
          <p:cNvSpPr txBox="1"/>
          <p:nvPr/>
        </p:nvSpPr>
        <p:spPr>
          <a:xfrm>
            <a:off x="6858000" y="3505200"/>
            <a:ext cx="1981200" cy="1169551"/>
          </a:xfrm>
          <a:prstGeom prst="rect">
            <a:avLst/>
          </a:prstGeom>
          <a:noFill/>
        </p:spPr>
        <p:txBody>
          <a:bodyPr wrap="square" rtlCol="0">
            <a:spAutoFit/>
          </a:bodyPr>
          <a:lstStyle/>
          <a:p>
            <a:pPr marL="177800" indent="-177800"/>
            <a:r>
              <a:rPr lang="en-US" sz="1400" dirty="0">
                <a:latin typeface="Arial" panose="020B0604020202020204" pitchFamily="34" charset="0"/>
                <a:cs typeface="Arial" panose="020B0604020202020204" pitchFamily="34" charset="0"/>
              </a:rPr>
              <a:t>= 2-point  (one-dimensional) flux approximation, but is it possible to do any better ?</a:t>
            </a:r>
          </a:p>
        </p:txBody>
      </p:sp>
      <p:cxnSp>
        <p:nvCxnSpPr>
          <p:cNvPr id="9" name="Straight Arrow Connector 8"/>
          <p:cNvCxnSpPr/>
          <p:nvPr/>
        </p:nvCxnSpPr>
        <p:spPr bwMode="auto">
          <a:xfrm>
            <a:off x="3200400" y="2895600"/>
            <a:ext cx="2438400" cy="15240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sp>
        <p:nvSpPr>
          <p:cNvPr id="10" name="TextBox 9"/>
          <p:cNvSpPr txBox="1"/>
          <p:nvPr/>
        </p:nvSpPr>
        <p:spPr>
          <a:xfrm>
            <a:off x="3505200" y="4038600"/>
            <a:ext cx="2514600" cy="307777"/>
          </a:xfrm>
          <a:prstGeom prst="rect">
            <a:avLst/>
          </a:prstGeom>
          <a:noFill/>
        </p:spPr>
        <p:txBody>
          <a:bodyPr wrap="square" rtlCol="0">
            <a:spAutoFit/>
          </a:bodyPr>
          <a:lstStyle/>
          <a:p>
            <a:pPr marL="177800" indent="-177800"/>
            <a:r>
              <a:rPr lang="en-US" sz="1400" dirty="0" err="1"/>
              <a:t>ij</a:t>
            </a:r>
            <a:r>
              <a:rPr lang="en-US" sz="1400" dirty="0"/>
              <a:t> - Transmissibility averaging</a:t>
            </a:r>
          </a:p>
        </p:txBody>
      </p:sp>
      <p:pic>
        <p:nvPicPr>
          <p:cNvPr id="11" name="Picture 10"/>
          <p:cNvPicPr>
            <a:picLocks noChangeAspect="1"/>
          </p:cNvPicPr>
          <p:nvPr/>
        </p:nvPicPr>
        <p:blipFill>
          <a:blip r:embed="rId5"/>
          <a:stretch>
            <a:fillRect/>
          </a:stretch>
        </p:blipFill>
        <p:spPr>
          <a:xfrm>
            <a:off x="3839592" y="4343400"/>
            <a:ext cx="3018408" cy="1828800"/>
          </a:xfrm>
          <a:prstGeom prst="rect">
            <a:avLst/>
          </a:prstGeom>
        </p:spPr>
      </p:pic>
      <p:sp>
        <p:nvSpPr>
          <p:cNvPr id="12" name="TextBox 11"/>
          <p:cNvSpPr txBox="1"/>
          <p:nvPr/>
        </p:nvSpPr>
        <p:spPr>
          <a:xfrm>
            <a:off x="228600" y="3981034"/>
            <a:ext cx="3505200" cy="2554545"/>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Implicit-only representation:</a:t>
            </a:r>
          </a:p>
          <a:p>
            <a:pPr marL="173038" indent="-173038">
              <a:buFont typeface="Arial"/>
              <a:buChar char="•"/>
            </a:pPr>
            <a:r>
              <a:rPr lang="en-US" sz="1600" dirty="0">
                <a:latin typeface="Arial" panose="020B0604020202020204" pitchFamily="34" charset="0"/>
                <a:cs typeface="Arial" panose="020B0604020202020204" pitchFamily="34" charset="0"/>
              </a:rPr>
              <a:t>wells</a:t>
            </a:r>
          </a:p>
          <a:p>
            <a:pPr marL="173038" indent="-173038">
              <a:buFont typeface="Arial"/>
              <a:buChar char="•"/>
            </a:pPr>
            <a:r>
              <a:rPr lang="en-US" sz="1600" dirty="0">
                <a:latin typeface="Arial" panose="020B0604020202020204" pitchFamily="34" charset="0"/>
                <a:cs typeface="Arial" panose="020B0604020202020204" pitchFamily="34" charset="0"/>
              </a:rPr>
              <a:t>faults</a:t>
            </a:r>
          </a:p>
          <a:p>
            <a:r>
              <a:rPr lang="en-US" sz="1600" b="1" dirty="0">
                <a:latin typeface="Arial" panose="020B0604020202020204" pitchFamily="34" charset="0"/>
                <a:cs typeface="Arial" panose="020B0604020202020204" pitchFamily="34" charset="0"/>
              </a:rPr>
              <a:t>Geometric limitations:</a:t>
            </a:r>
          </a:p>
          <a:p>
            <a:pPr marL="173038" indent="-173038">
              <a:buFont typeface="Arial"/>
              <a:buChar char="•"/>
            </a:pPr>
            <a:r>
              <a:rPr lang="en-US" sz="1600" dirty="0">
                <a:latin typeface="Arial" panose="020B0604020202020204" pitchFamily="34" charset="0"/>
                <a:cs typeface="Arial" panose="020B0604020202020204" pitchFamily="34" charset="0"/>
              </a:rPr>
              <a:t>Fixed resolution</a:t>
            </a:r>
          </a:p>
          <a:p>
            <a:pPr marL="173038" indent="-173038">
              <a:buFont typeface="Arial"/>
              <a:buChar char="•"/>
            </a:pPr>
            <a:r>
              <a:rPr lang="en-US" sz="1600" dirty="0">
                <a:latin typeface="Arial" panose="020B0604020202020204" pitchFamily="34" charset="0"/>
                <a:cs typeface="Arial" panose="020B0604020202020204" pitchFamily="34" charset="0"/>
              </a:rPr>
              <a:t>Smeared interfaces</a:t>
            </a:r>
          </a:p>
          <a:p>
            <a:pPr marL="173038" indent="-173038">
              <a:buFont typeface="Arial"/>
              <a:buChar char="•"/>
            </a:pPr>
            <a:r>
              <a:rPr lang="en-US" sz="1600" dirty="0">
                <a:latin typeface="Arial" panose="020B0604020202020204" pitchFamily="34" charset="0"/>
                <a:cs typeface="Arial" panose="020B0604020202020204" pitchFamily="34" charset="0"/>
              </a:rPr>
              <a:t>Aspect ratio fixed</a:t>
            </a:r>
          </a:p>
          <a:p>
            <a:pPr marL="173038" indent="-173038">
              <a:buFont typeface="Arial"/>
              <a:buChar char="•"/>
            </a:pPr>
            <a:r>
              <a:rPr lang="en-US" sz="1600" dirty="0">
                <a:latin typeface="Arial" panose="020B0604020202020204" pitchFamily="34" charset="0"/>
                <a:cs typeface="Arial" panose="020B0604020202020204" pitchFamily="34" charset="0"/>
              </a:rPr>
              <a:t>No oblique permeable faults</a:t>
            </a:r>
          </a:p>
          <a:p>
            <a:pPr marL="173038" indent="-173038">
              <a:buFont typeface="Arial"/>
              <a:buChar char="•"/>
            </a:pPr>
            <a:r>
              <a:rPr lang="en-US" sz="1600" dirty="0">
                <a:latin typeface="Arial" panose="020B0604020202020204" pitchFamily="34" charset="0"/>
                <a:cs typeface="Arial" panose="020B0604020202020204" pitchFamily="34" charset="0"/>
              </a:rPr>
              <a:t>Conservative only for k-orthogonal grids</a:t>
            </a:r>
          </a:p>
        </p:txBody>
      </p:sp>
      <p:sp>
        <p:nvSpPr>
          <p:cNvPr id="13" name="TextBox 12"/>
          <p:cNvSpPr txBox="1"/>
          <p:nvPr/>
        </p:nvSpPr>
        <p:spPr>
          <a:xfrm>
            <a:off x="6934200" y="4754940"/>
            <a:ext cx="2133600" cy="1569660"/>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Physics limits:</a:t>
            </a:r>
          </a:p>
          <a:p>
            <a:pPr marL="182563" indent="-182563">
              <a:buFont typeface="Arial"/>
              <a:buChar char="•"/>
            </a:pPr>
            <a:r>
              <a:rPr lang="en-US" sz="1600" dirty="0">
                <a:latin typeface="Arial" panose="020B0604020202020204" pitchFamily="34" charset="0"/>
                <a:cs typeface="Arial" panose="020B0604020202020204" pitchFamily="34" charset="0"/>
              </a:rPr>
              <a:t>Gradients</a:t>
            </a:r>
          </a:p>
          <a:p>
            <a:pPr marL="182563" indent="-182563">
              <a:buFont typeface="Arial"/>
              <a:buChar char="•"/>
            </a:pPr>
            <a:r>
              <a:rPr lang="en-US" sz="1600" dirty="0">
                <a:latin typeface="Arial" panose="020B0604020202020204" pitchFamily="34" charset="0"/>
                <a:cs typeface="Arial" panose="020B0604020202020204" pitchFamily="34" charset="0"/>
              </a:rPr>
              <a:t>Full-tensor props</a:t>
            </a:r>
          </a:p>
          <a:p>
            <a:pPr marL="182563" indent="-182563">
              <a:buFont typeface="Arial"/>
              <a:buChar char="•"/>
            </a:pPr>
            <a:r>
              <a:rPr lang="en-US" sz="1600" dirty="0">
                <a:latin typeface="Arial" panose="020B0604020202020204" pitchFamily="34" charset="0"/>
                <a:cs typeface="Arial" panose="020B0604020202020204" pitchFamily="34" charset="0"/>
              </a:rPr>
              <a:t>Flow focusing</a:t>
            </a:r>
          </a:p>
          <a:p>
            <a:pPr marL="182563" indent="-182563">
              <a:buFont typeface="Arial"/>
              <a:buChar char="•"/>
            </a:pPr>
            <a:r>
              <a:rPr lang="en-US" sz="1600" dirty="0">
                <a:latin typeface="Arial" panose="020B0604020202020204" pitchFamily="34" charset="0"/>
                <a:cs typeface="Arial" panose="020B0604020202020204" pitchFamily="34" charset="0"/>
              </a:rPr>
              <a:t>Instabilities</a:t>
            </a:r>
          </a:p>
          <a:p>
            <a:pPr marL="182563" indent="-182563">
              <a:buFont typeface="Arial"/>
              <a:buChar char="•"/>
            </a:pPr>
            <a:r>
              <a:rPr lang="en-US" sz="1600" dirty="0">
                <a:latin typeface="Arial" panose="020B0604020202020204" pitchFamily="34" charset="0"/>
                <a:cs typeface="Arial" panose="020B0604020202020204" pitchFamily="34" charset="0"/>
              </a:rPr>
              <a:t>No multiphysics</a:t>
            </a:r>
          </a:p>
        </p:txBody>
      </p:sp>
      <p:sp>
        <p:nvSpPr>
          <p:cNvPr id="14" name="TextBox 13"/>
          <p:cNvSpPr txBox="1"/>
          <p:nvPr/>
        </p:nvSpPr>
        <p:spPr>
          <a:xfrm>
            <a:off x="7391400" y="2677180"/>
            <a:ext cx="1143000" cy="523220"/>
          </a:xfrm>
          <a:prstGeom prst="rect">
            <a:avLst/>
          </a:prstGeom>
          <a:noFill/>
        </p:spPr>
        <p:txBody>
          <a:bodyPr wrap="square" rtlCol="0">
            <a:spAutoFit/>
          </a:bodyPr>
          <a:lstStyle/>
          <a:p>
            <a:pPr marL="177800" indent="-177800"/>
            <a:r>
              <a:rPr lang="en-US" sz="1400" dirty="0"/>
              <a:t>7-point FD stencil</a:t>
            </a:r>
          </a:p>
        </p:txBody>
      </p:sp>
      <p:grpSp>
        <p:nvGrpSpPr>
          <p:cNvPr id="17" name="Group 16"/>
          <p:cNvGrpSpPr/>
          <p:nvPr/>
        </p:nvGrpSpPr>
        <p:grpSpPr>
          <a:xfrm>
            <a:off x="3810001" y="914400"/>
            <a:ext cx="5334000" cy="3476258"/>
            <a:chOff x="3810001" y="914400"/>
            <a:chExt cx="5334000" cy="3476258"/>
          </a:xfrm>
        </p:grpSpPr>
        <p:pic>
          <p:nvPicPr>
            <p:cNvPr id="15" name="Picture 14"/>
            <p:cNvPicPr>
              <a:picLocks noChangeAspect="1"/>
            </p:cNvPicPr>
            <p:nvPr/>
          </p:nvPicPr>
          <p:blipFill>
            <a:blip r:embed="rId6"/>
            <a:stretch>
              <a:fillRect/>
            </a:stretch>
          </p:blipFill>
          <p:spPr>
            <a:xfrm>
              <a:off x="3810001" y="914400"/>
              <a:ext cx="5334000" cy="3476258"/>
            </a:xfrm>
            <a:prstGeom prst="rect">
              <a:avLst/>
            </a:prstGeom>
          </p:spPr>
        </p:pic>
        <p:sp>
          <p:nvSpPr>
            <p:cNvPr id="16" name="TextBox 15"/>
            <p:cNvSpPr txBox="1"/>
            <p:nvPr/>
          </p:nvSpPr>
          <p:spPr>
            <a:xfrm>
              <a:off x="6400800" y="1219200"/>
              <a:ext cx="2739252"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Complete polynomials in 3D</a:t>
              </a:r>
            </a:p>
          </p:txBody>
        </p:sp>
      </p:grpSp>
      <p:sp>
        <p:nvSpPr>
          <p:cNvPr id="20"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pPr/>
              <a:t>6</a:t>
            </a:fld>
            <a:endParaRPr lang="en-US" dirty="0"/>
          </a:p>
        </p:txBody>
      </p:sp>
      <p:sp>
        <p:nvSpPr>
          <p:cNvPr id="21" name="Date Placeholder 4"/>
          <p:cNvSpPr>
            <a:spLocks noGrp="1"/>
          </p:cNvSpPr>
          <p:nvPr>
            <p:ph type="dt" sz="half" idx="10"/>
          </p:nvPr>
        </p:nvSpPr>
        <p:spPr>
          <a:xfrm>
            <a:off x="35496" y="6492875"/>
            <a:ext cx="2133600" cy="365125"/>
          </a:xfrm>
        </p:spPr>
        <p:txBody>
          <a:bodyPr/>
          <a:lstStyle/>
          <a:p>
            <a:fld id="{30F8A9F6-8131-5446-9DCB-C29EF6D21359}" type="datetime1">
              <a:rPr lang="en-US" smtClean="0"/>
              <a:pPr/>
              <a:t>5/2/24</a:t>
            </a:fld>
            <a:endParaRPr lang="en-US"/>
          </a:p>
        </p:txBody>
      </p:sp>
      <p:sp>
        <p:nvSpPr>
          <p:cNvPr id="22" name="Footer Placeholder 6"/>
          <p:cNvSpPr>
            <a:spLocks noGrp="1"/>
          </p:cNvSpPr>
          <p:nvPr>
            <p:ph type="ftr" sz="quarter" idx="11"/>
          </p:nvPr>
        </p:nvSpPr>
        <p:spPr>
          <a:xfrm>
            <a:off x="3124200" y="6492875"/>
            <a:ext cx="2895600" cy="365125"/>
          </a:xfrm>
        </p:spPr>
        <p:txBody>
          <a:bodyPr/>
          <a:lstStyle/>
          <a:p>
            <a:endParaRPr lang="en-US" dirty="0"/>
          </a:p>
          <a:p>
            <a:r>
              <a:rPr lang="en-US" dirty="0"/>
              <a:t>Overview</a:t>
            </a:r>
          </a:p>
          <a:p>
            <a:endParaRPr lang="en-US" dirty="0"/>
          </a:p>
        </p:txBody>
      </p:sp>
    </p:spTree>
    <p:extLst>
      <p:ext uri="{BB962C8B-B14F-4D97-AF65-F5344CB8AC3E}">
        <p14:creationId xmlns:p14="http://schemas.microsoft.com/office/powerpoint/2010/main" val="2548126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287337" y="210470"/>
            <a:ext cx="4911195" cy="1754327"/>
          </a:xfrm>
        </p:spPr>
        <p:txBody>
          <a:bodyPr/>
          <a:lstStyle/>
          <a:p>
            <a:pPr eaLnBrk="1" hangingPunct="1"/>
            <a:r>
              <a:rPr lang="en-US" sz="2800" dirty="0">
                <a:solidFill>
                  <a:srgbClr val="FF1F98"/>
                </a:solidFill>
                <a:latin typeface="Arial" charset="0"/>
                <a:ea typeface="ＭＳ Ｐゴシック" charset="0"/>
                <a:cs typeface="ＭＳ Ｐゴシック" charset="0"/>
              </a:rPr>
              <a:t>FE-FVM </a:t>
            </a:r>
            <a:r>
              <a:rPr lang="en-US" sz="2800" dirty="0" err="1">
                <a:solidFill>
                  <a:srgbClr val="FF1F98"/>
                </a:solidFill>
                <a:latin typeface="Arial" charset="0"/>
                <a:ea typeface="ＭＳ Ｐゴシック" charset="0"/>
                <a:cs typeface="ＭＳ Ｐゴシック" charset="0"/>
              </a:rPr>
              <a:t>Discretisation</a:t>
            </a:r>
            <a:br>
              <a:rPr lang="en-US" sz="2800" dirty="0">
                <a:solidFill>
                  <a:srgbClr val="FF6600"/>
                </a:solidFill>
                <a:latin typeface="Arial" charset="0"/>
                <a:ea typeface="ＭＳ Ｐゴシック" charset="0"/>
                <a:cs typeface="ＭＳ Ｐゴシック" charset="0"/>
              </a:rPr>
            </a:br>
            <a:r>
              <a:rPr lang="en-US" sz="2000" dirty="0">
                <a:solidFill>
                  <a:schemeClr val="tx1"/>
                </a:solidFill>
                <a:latin typeface="Arial" charset="0"/>
                <a:ea typeface="ＭＳ Ｐゴシック" charset="0"/>
                <a:cs typeface="ＭＳ Ｐゴシック" charset="0"/>
              </a:rPr>
              <a:t>Different requirements seem to exist here: </a:t>
            </a:r>
            <a:br>
              <a:rPr lang="en-US" sz="2000" dirty="0">
                <a:solidFill>
                  <a:schemeClr val="tx1"/>
                </a:solidFill>
                <a:latin typeface="Arial" charset="0"/>
                <a:ea typeface="ＭＳ Ｐゴシック" charset="0"/>
                <a:cs typeface="ＭＳ Ｐゴシック" charset="0"/>
              </a:rPr>
            </a:br>
            <a:r>
              <a:rPr lang="en-US" sz="2000" dirty="0">
                <a:solidFill>
                  <a:schemeClr val="tx1"/>
                </a:solidFill>
                <a:latin typeface="Arial" charset="0"/>
                <a:ea typeface="ＭＳ Ｐゴシック" charset="0"/>
                <a:cs typeface="ＭＳ Ｐゴシック" charset="0"/>
              </a:rPr>
              <a:t>(</a:t>
            </a:r>
            <a:r>
              <a:rPr lang="en-US" sz="2000" i="1" dirty="0">
                <a:solidFill>
                  <a:schemeClr val="tx1"/>
                </a:solidFill>
                <a:latin typeface="Arial" charset="0"/>
                <a:ea typeface="ＭＳ Ｐゴシック" charset="0"/>
                <a:cs typeface="ＭＳ Ｐゴシック" charset="0"/>
              </a:rPr>
              <a:t>ETHZ wants material properties on the nodes, MUL on the elements)</a:t>
            </a:r>
            <a:endParaRPr lang="en-GB" sz="2000" i="1" dirty="0">
              <a:solidFill>
                <a:schemeClr val="tx1"/>
              </a:solidFill>
              <a:latin typeface="Arial" charset="0"/>
              <a:ea typeface="ＭＳ Ｐゴシック" charset="0"/>
              <a:cs typeface="ＭＳ Ｐゴシック" charset="0"/>
            </a:endParaRPr>
          </a:p>
        </p:txBody>
      </p:sp>
      <p:grpSp>
        <p:nvGrpSpPr>
          <p:cNvPr id="21509" name="Group 3"/>
          <p:cNvGrpSpPr>
            <a:grpSpLocks/>
          </p:cNvGrpSpPr>
          <p:nvPr/>
        </p:nvGrpSpPr>
        <p:grpSpPr bwMode="auto">
          <a:xfrm>
            <a:off x="358775" y="3844925"/>
            <a:ext cx="6165850" cy="2420938"/>
            <a:chOff x="226" y="2517"/>
            <a:chExt cx="3884" cy="1525"/>
          </a:xfrm>
        </p:grpSpPr>
        <p:sp>
          <p:nvSpPr>
            <p:cNvPr id="21539" name="Line 4"/>
            <p:cNvSpPr>
              <a:spLocks noChangeShapeType="1"/>
            </p:cNvSpPr>
            <p:nvPr/>
          </p:nvSpPr>
          <p:spPr bwMode="auto">
            <a:xfrm>
              <a:off x="614" y="3374"/>
              <a:ext cx="3232" cy="0"/>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21540" name="Line 5"/>
            <p:cNvSpPr>
              <a:spLocks noChangeShapeType="1"/>
            </p:cNvSpPr>
            <p:nvPr/>
          </p:nvSpPr>
          <p:spPr bwMode="auto">
            <a:xfrm>
              <a:off x="610" y="2517"/>
              <a:ext cx="0" cy="1525"/>
            </a:xfrm>
            <a:prstGeom prst="line">
              <a:avLst/>
            </a:prstGeom>
            <a:noFill/>
            <a:ln w="28575">
              <a:solidFill>
                <a:schemeClr val="tx1"/>
              </a:solidFill>
              <a:miter lim="800000"/>
              <a:headEnd type="triangle" w="med" len="me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21541" name="Text Box 6"/>
            <p:cNvSpPr txBox="1">
              <a:spLocks noChangeArrowheads="1"/>
            </p:cNvSpPr>
            <p:nvPr/>
          </p:nvSpPr>
          <p:spPr bwMode="auto">
            <a:xfrm>
              <a:off x="3895" y="3282"/>
              <a:ext cx="21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X</a:t>
              </a:r>
              <a:endParaRPr lang="en-GB" sz="1800"/>
            </a:p>
          </p:txBody>
        </p:sp>
        <p:sp>
          <p:nvSpPr>
            <p:cNvPr id="21542" name="Text Box 7"/>
            <p:cNvSpPr txBox="1">
              <a:spLocks noChangeArrowheads="1"/>
            </p:cNvSpPr>
            <p:nvPr/>
          </p:nvSpPr>
          <p:spPr bwMode="auto">
            <a:xfrm>
              <a:off x="226" y="2614"/>
              <a:ext cx="3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f(x)</a:t>
              </a:r>
              <a:endParaRPr lang="en-GB" sz="1800"/>
            </a:p>
          </p:txBody>
        </p:sp>
      </p:grpSp>
      <p:grpSp>
        <p:nvGrpSpPr>
          <p:cNvPr id="3" name="Group 8"/>
          <p:cNvGrpSpPr>
            <a:grpSpLocks/>
          </p:cNvGrpSpPr>
          <p:nvPr/>
        </p:nvGrpSpPr>
        <p:grpSpPr bwMode="auto">
          <a:xfrm>
            <a:off x="849313" y="2171700"/>
            <a:ext cx="5451475" cy="1568450"/>
            <a:chOff x="491" y="1403"/>
            <a:chExt cx="3434" cy="988"/>
          </a:xfrm>
        </p:grpSpPr>
        <p:sp>
          <p:nvSpPr>
            <p:cNvPr id="21537" name="Freeform 9"/>
            <p:cNvSpPr>
              <a:spLocks/>
            </p:cNvSpPr>
            <p:nvPr/>
          </p:nvSpPr>
          <p:spPr bwMode="auto">
            <a:xfrm>
              <a:off x="491" y="1648"/>
              <a:ext cx="3434" cy="743"/>
            </a:xfrm>
            <a:custGeom>
              <a:avLst/>
              <a:gdLst>
                <a:gd name="T0" fmla="*/ 0 w 3434"/>
                <a:gd name="T1" fmla="*/ 646 h 743"/>
                <a:gd name="T2" fmla="*/ 326 w 3434"/>
                <a:gd name="T3" fmla="*/ 285 h 743"/>
                <a:gd name="T4" fmla="*/ 519 w 3434"/>
                <a:gd name="T5" fmla="*/ 153 h 743"/>
                <a:gd name="T6" fmla="*/ 752 w 3434"/>
                <a:gd name="T7" fmla="*/ 26 h 743"/>
                <a:gd name="T8" fmla="*/ 1078 w 3434"/>
                <a:gd name="T9" fmla="*/ 0 h 743"/>
                <a:gd name="T10" fmla="*/ 1218 w 3434"/>
                <a:gd name="T11" fmla="*/ 39 h 743"/>
                <a:gd name="T12" fmla="*/ 1416 w 3434"/>
                <a:gd name="T13" fmla="*/ 202 h 743"/>
                <a:gd name="T14" fmla="*/ 1614 w 3434"/>
                <a:gd name="T15" fmla="*/ 329 h 743"/>
                <a:gd name="T16" fmla="*/ 1843 w 3434"/>
                <a:gd name="T17" fmla="*/ 466 h 743"/>
                <a:gd name="T18" fmla="*/ 2146 w 3434"/>
                <a:gd name="T19" fmla="*/ 606 h 743"/>
                <a:gd name="T20" fmla="*/ 2445 w 3434"/>
                <a:gd name="T21" fmla="*/ 677 h 743"/>
                <a:gd name="T22" fmla="*/ 2819 w 3434"/>
                <a:gd name="T23" fmla="*/ 721 h 743"/>
                <a:gd name="T24" fmla="*/ 3232 w 3434"/>
                <a:gd name="T25" fmla="*/ 738 h 743"/>
                <a:gd name="T26" fmla="*/ 3434 w 3434"/>
                <a:gd name="T27" fmla="*/ 743 h 7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34"/>
                <a:gd name="T43" fmla="*/ 0 h 743"/>
                <a:gd name="T44" fmla="*/ 3434 w 3434"/>
                <a:gd name="T45" fmla="*/ 743 h 7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34" h="743">
                  <a:moveTo>
                    <a:pt x="0" y="646"/>
                  </a:moveTo>
                  <a:lnTo>
                    <a:pt x="326" y="285"/>
                  </a:lnTo>
                  <a:lnTo>
                    <a:pt x="519" y="153"/>
                  </a:lnTo>
                  <a:lnTo>
                    <a:pt x="752" y="26"/>
                  </a:lnTo>
                  <a:lnTo>
                    <a:pt x="1078" y="0"/>
                  </a:lnTo>
                  <a:lnTo>
                    <a:pt x="1218" y="39"/>
                  </a:lnTo>
                  <a:lnTo>
                    <a:pt x="1416" y="202"/>
                  </a:lnTo>
                  <a:lnTo>
                    <a:pt x="1614" y="329"/>
                  </a:lnTo>
                  <a:lnTo>
                    <a:pt x="1843" y="466"/>
                  </a:lnTo>
                  <a:lnTo>
                    <a:pt x="2146" y="606"/>
                  </a:lnTo>
                  <a:lnTo>
                    <a:pt x="2445" y="677"/>
                  </a:lnTo>
                  <a:lnTo>
                    <a:pt x="2819" y="721"/>
                  </a:lnTo>
                  <a:lnTo>
                    <a:pt x="3232" y="738"/>
                  </a:lnTo>
                  <a:lnTo>
                    <a:pt x="3434" y="743"/>
                  </a:lnTo>
                </a:path>
              </a:pathLst>
            </a:custGeom>
            <a:noFill/>
            <a:ln w="28575">
              <a:solidFill>
                <a:srgbClr val="33CC33"/>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US"/>
            </a:p>
          </p:txBody>
        </p:sp>
        <p:sp>
          <p:nvSpPr>
            <p:cNvPr id="21538" name="Text Box 10"/>
            <p:cNvSpPr txBox="1">
              <a:spLocks noChangeArrowheads="1"/>
            </p:cNvSpPr>
            <p:nvPr/>
          </p:nvSpPr>
          <p:spPr bwMode="auto">
            <a:xfrm>
              <a:off x="733" y="1403"/>
              <a:ext cx="1921"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dirty="0">
                  <a:solidFill>
                    <a:srgbClr val="009900"/>
                  </a:solidFill>
                  <a:latin typeface="Arial" charset="0"/>
                </a:rPr>
                <a:t>Unknown actual variation</a:t>
              </a:r>
              <a:endParaRPr lang="en-GB" sz="2000" dirty="0">
                <a:solidFill>
                  <a:srgbClr val="009900"/>
                </a:solidFill>
                <a:latin typeface="Arial" charset="0"/>
              </a:endParaRPr>
            </a:p>
          </p:txBody>
        </p:sp>
      </p:grpSp>
      <p:graphicFrame>
        <p:nvGraphicFramePr>
          <p:cNvPr id="327691" name="Object 2"/>
          <p:cNvGraphicFramePr>
            <a:graphicFrameLocks noChangeAspect="1"/>
          </p:cNvGraphicFramePr>
          <p:nvPr>
            <p:extLst>
              <p:ext uri="{D42A27DB-BD31-4B8C-83A1-F6EECF244321}">
                <p14:modId xmlns:p14="http://schemas.microsoft.com/office/powerpoint/2010/main" val="3548522582"/>
              </p:ext>
            </p:extLst>
          </p:nvPr>
        </p:nvGraphicFramePr>
        <p:xfrm>
          <a:off x="6030395" y="642551"/>
          <a:ext cx="2176715" cy="1801408"/>
        </p:xfrm>
        <a:graphic>
          <a:graphicData uri="http://schemas.openxmlformats.org/presentationml/2006/ole">
            <mc:AlternateContent xmlns:mc="http://schemas.openxmlformats.org/markup-compatibility/2006">
              <mc:Choice xmlns:v="urn:schemas-microsoft-com:vml" Requires="v">
                <p:oleObj name="Equation" r:id="rId3" imgW="1282680" imgH="888840" progId="Equation.DSMT4">
                  <p:embed/>
                </p:oleObj>
              </mc:Choice>
              <mc:Fallback>
                <p:oleObj name="Equation" r:id="rId3" imgW="1282680" imgH="8888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395" y="642551"/>
                        <a:ext cx="2176715" cy="1801408"/>
                      </a:xfrm>
                      <a:prstGeom prst="rect">
                        <a:avLst/>
                      </a:prstGeom>
                      <a:noFill/>
                    </p:spPr>
                  </p:pic>
                </p:oleObj>
              </mc:Fallback>
            </mc:AlternateContent>
          </a:graphicData>
        </a:graphic>
      </p:graphicFrame>
      <p:grpSp>
        <p:nvGrpSpPr>
          <p:cNvPr id="4" name="Group 12"/>
          <p:cNvGrpSpPr>
            <a:grpSpLocks/>
          </p:cNvGrpSpPr>
          <p:nvPr/>
        </p:nvGrpSpPr>
        <p:grpSpPr bwMode="auto">
          <a:xfrm>
            <a:off x="1163638" y="2592388"/>
            <a:ext cx="6415089" cy="2997200"/>
            <a:chOff x="733" y="1743"/>
            <a:chExt cx="4041" cy="1888"/>
          </a:xfrm>
        </p:grpSpPr>
        <p:sp>
          <p:nvSpPr>
            <p:cNvPr id="21522" name="Line 13"/>
            <p:cNvSpPr>
              <a:spLocks noChangeShapeType="1"/>
            </p:cNvSpPr>
            <p:nvPr/>
          </p:nvSpPr>
          <p:spPr bwMode="auto">
            <a:xfrm flipV="1">
              <a:off x="1743" y="1755"/>
              <a:ext cx="0" cy="1609"/>
            </a:xfrm>
            <a:prstGeom prst="line">
              <a:avLst/>
            </a:prstGeom>
            <a:noFill/>
            <a:ln w="19050">
              <a:solidFill>
                <a:srgbClr val="FF0000"/>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1523" name="Line 14"/>
            <p:cNvSpPr>
              <a:spLocks noChangeShapeType="1"/>
            </p:cNvSpPr>
            <p:nvPr/>
          </p:nvSpPr>
          <p:spPr bwMode="auto">
            <a:xfrm flipV="1">
              <a:off x="2713" y="2326"/>
              <a:ext cx="0" cy="1046"/>
            </a:xfrm>
            <a:prstGeom prst="line">
              <a:avLst/>
            </a:prstGeom>
            <a:noFill/>
            <a:ln w="19050">
              <a:solidFill>
                <a:srgbClr val="FF0000"/>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1524" name="Line 15"/>
            <p:cNvSpPr>
              <a:spLocks noChangeShapeType="1"/>
            </p:cNvSpPr>
            <p:nvPr/>
          </p:nvSpPr>
          <p:spPr bwMode="auto">
            <a:xfrm flipV="1">
              <a:off x="3688" y="2448"/>
              <a:ext cx="0" cy="927"/>
            </a:xfrm>
            <a:prstGeom prst="line">
              <a:avLst/>
            </a:prstGeom>
            <a:noFill/>
            <a:ln w="19050">
              <a:solidFill>
                <a:srgbClr val="FF0000"/>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1525" name="Freeform 16"/>
            <p:cNvSpPr>
              <a:spLocks/>
            </p:cNvSpPr>
            <p:nvPr/>
          </p:nvSpPr>
          <p:spPr bwMode="auto">
            <a:xfrm>
              <a:off x="768" y="1743"/>
              <a:ext cx="2920" cy="699"/>
            </a:xfrm>
            <a:custGeom>
              <a:avLst/>
              <a:gdLst>
                <a:gd name="T0" fmla="*/ 0 w 2920"/>
                <a:gd name="T1" fmla="*/ 365 h 699"/>
                <a:gd name="T2" fmla="*/ 980 w 2920"/>
                <a:gd name="T3" fmla="*/ 0 h 699"/>
                <a:gd name="T4" fmla="*/ 1943 w 2920"/>
                <a:gd name="T5" fmla="*/ 580 h 699"/>
                <a:gd name="T6" fmla="*/ 2920 w 2920"/>
                <a:gd name="T7" fmla="*/ 699 h 699"/>
                <a:gd name="T8" fmla="*/ 0 60000 65536"/>
                <a:gd name="T9" fmla="*/ 0 60000 65536"/>
                <a:gd name="T10" fmla="*/ 0 60000 65536"/>
                <a:gd name="T11" fmla="*/ 0 60000 65536"/>
                <a:gd name="T12" fmla="*/ 0 w 2920"/>
                <a:gd name="T13" fmla="*/ 0 h 699"/>
                <a:gd name="T14" fmla="*/ 2920 w 2920"/>
                <a:gd name="T15" fmla="*/ 699 h 699"/>
              </a:gdLst>
              <a:ahLst/>
              <a:cxnLst>
                <a:cxn ang="T8">
                  <a:pos x="T0" y="T1"/>
                </a:cxn>
                <a:cxn ang="T9">
                  <a:pos x="T2" y="T3"/>
                </a:cxn>
                <a:cxn ang="T10">
                  <a:pos x="T4" y="T5"/>
                </a:cxn>
                <a:cxn ang="T11">
                  <a:pos x="T6" y="T7"/>
                </a:cxn>
              </a:cxnLst>
              <a:rect l="T12" t="T13" r="T14" b="T15"/>
              <a:pathLst>
                <a:path w="2920" h="699">
                  <a:moveTo>
                    <a:pt x="0" y="365"/>
                  </a:moveTo>
                  <a:lnTo>
                    <a:pt x="980" y="0"/>
                  </a:lnTo>
                  <a:lnTo>
                    <a:pt x="1943" y="580"/>
                  </a:lnTo>
                  <a:lnTo>
                    <a:pt x="2920" y="699"/>
                  </a:lnTo>
                </a:path>
              </a:pathLst>
            </a:custGeom>
            <a:noFill/>
            <a:ln w="19050">
              <a:solidFill>
                <a:srgbClr val="FF0000"/>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US"/>
            </a:p>
          </p:txBody>
        </p:sp>
        <p:sp>
          <p:nvSpPr>
            <p:cNvPr id="21526" name="Line 17"/>
            <p:cNvSpPr>
              <a:spLocks noChangeShapeType="1"/>
            </p:cNvSpPr>
            <p:nvPr/>
          </p:nvSpPr>
          <p:spPr bwMode="auto">
            <a:xfrm flipV="1">
              <a:off x="768" y="2099"/>
              <a:ext cx="0" cy="1275"/>
            </a:xfrm>
            <a:prstGeom prst="line">
              <a:avLst/>
            </a:prstGeom>
            <a:noFill/>
            <a:ln w="19050">
              <a:solidFill>
                <a:srgbClr val="FF0000"/>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1527" name="Text Box 18"/>
            <p:cNvSpPr txBox="1">
              <a:spLocks noChangeArrowheads="1"/>
            </p:cNvSpPr>
            <p:nvPr/>
          </p:nvSpPr>
          <p:spPr bwMode="auto">
            <a:xfrm>
              <a:off x="2763" y="2083"/>
              <a:ext cx="2011"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dirty="0">
                  <a:solidFill>
                    <a:srgbClr val="FF0000"/>
                  </a:solidFill>
                  <a:latin typeface="Arial" charset="0"/>
                </a:rPr>
                <a:t>Linear FEM approximation</a:t>
              </a:r>
              <a:endParaRPr lang="en-GB" sz="2000" dirty="0">
                <a:solidFill>
                  <a:srgbClr val="FF0000"/>
                </a:solidFill>
                <a:latin typeface="Arial" charset="0"/>
              </a:endParaRPr>
            </a:p>
          </p:txBody>
        </p:sp>
        <p:sp>
          <p:nvSpPr>
            <p:cNvPr id="21528" name="Text Box 19"/>
            <p:cNvSpPr txBox="1">
              <a:spLocks noChangeArrowheads="1"/>
            </p:cNvSpPr>
            <p:nvPr/>
          </p:nvSpPr>
          <p:spPr bwMode="auto">
            <a:xfrm>
              <a:off x="812" y="2584"/>
              <a:ext cx="83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Element 1</a:t>
              </a:r>
              <a:endParaRPr lang="en-GB" sz="2000">
                <a:latin typeface="Arial" charset="0"/>
              </a:endParaRPr>
            </a:p>
          </p:txBody>
        </p:sp>
        <p:sp>
          <p:nvSpPr>
            <p:cNvPr id="21529" name="Text Box 20"/>
            <p:cNvSpPr txBox="1">
              <a:spLocks noChangeArrowheads="1"/>
            </p:cNvSpPr>
            <p:nvPr/>
          </p:nvSpPr>
          <p:spPr bwMode="auto">
            <a:xfrm>
              <a:off x="1781" y="2584"/>
              <a:ext cx="83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Element 2</a:t>
              </a:r>
              <a:endParaRPr lang="en-GB" sz="2000">
                <a:latin typeface="Arial" charset="0"/>
              </a:endParaRPr>
            </a:p>
          </p:txBody>
        </p:sp>
        <p:sp>
          <p:nvSpPr>
            <p:cNvPr id="21530" name="Text Box 21"/>
            <p:cNvSpPr txBox="1">
              <a:spLocks noChangeArrowheads="1"/>
            </p:cNvSpPr>
            <p:nvPr/>
          </p:nvSpPr>
          <p:spPr bwMode="auto">
            <a:xfrm>
              <a:off x="2782" y="2584"/>
              <a:ext cx="83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Element 3</a:t>
              </a:r>
              <a:endParaRPr lang="en-GB" sz="2000">
                <a:latin typeface="Arial" charset="0"/>
              </a:endParaRPr>
            </a:p>
          </p:txBody>
        </p:sp>
        <p:sp>
          <p:nvSpPr>
            <p:cNvPr id="21531" name="Text Box 22"/>
            <p:cNvSpPr txBox="1">
              <a:spLocks noChangeArrowheads="1"/>
            </p:cNvSpPr>
            <p:nvPr/>
          </p:nvSpPr>
          <p:spPr bwMode="auto">
            <a:xfrm>
              <a:off x="734" y="3372"/>
              <a:ext cx="632"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Node 1</a:t>
              </a:r>
              <a:endParaRPr lang="en-GB" sz="2000">
                <a:latin typeface="Arial" charset="0"/>
              </a:endParaRPr>
            </a:p>
          </p:txBody>
        </p:sp>
        <p:sp>
          <p:nvSpPr>
            <p:cNvPr id="21532" name="Text Box 23"/>
            <p:cNvSpPr txBox="1">
              <a:spLocks noChangeArrowheads="1"/>
            </p:cNvSpPr>
            <p:nvPr/>
          </p:nvSpPr>
          <p:spPr bwMode="auto">
            <a:xfrm>
              <a:off x="1735" y="3381"/>
              <a:ext cx="632"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Node 2</a:t>
              </a:r>
              <a:endParaRPr lang="en-GB" sz="2000">
                <a:latin typeface="Arial" charset="0"/>
              </a:endParaRPr>
            </a:p>
          </p:txBody>
        </p:sp>
        <p:sp>
          <p:nvSpPr>
            <p:cNvPr id="21533" name="Oval 24"/>
            <p:cNvSpPr>
              <a:spLocks noChangeArrowheads="1"/>
            </p:cNvSpPr>
            <p:nvPr/>
          </p:nvSpPr>
          <p:spPr bwMode="auto">
            <a:xfrm>
              <a:off x="733" y="3344"/>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sp>
          <p:nvSpPr>
            <p:cNvPr id="21534" name="Oval 25"/>
            <p:cNvSpPr>
              <a:spLocks noChangeArrowheads="1"/>
            </p:cNvSpPr>
            <p:nvPr/>
          </p:nvSpPr>
          <p:spPr bwMode="auto">
            <a:xfrm>
              <a:off x="1708" y="3339"/>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sp>
          <p:nvSpPr>
            <p:cNvPr id="21535" name="Oval 26"/>
            <p:cNvSpPr>
              <a:spLocks noChangeArrowheads="1"/>
            </p:cNvSpPr>
            <p:nvPr/>
          </p:nvSpPr>
          <p:spPr bwMode="auto">
            <a:xfrm>
              <a:off x="2683" y="3342"/>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sp>
          <p:nvSpPr>
            <p:cNvPr id="21536" name="Oval 27"/>
            <p:cNvSpPr>
              <a:spLocks noChangeArrowheads="1"/>
            </p:cNvSpPr>
            <p:nvPr/>
          </p:nvSpPr>
          <p:spPr bwMode="auto">
            <a:xfrm>
              <a:off x="3658" y="3341"/>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grpSp>
      <p:grpSp>
        <p:nvGrpSpPr>
          <p:cNvPr id="5" name="Group 28"/>
          <p:cNvGrpSpPr>
            <a:grpSpLocks/>
          </p:cNvGrpSpPr>
          <p:nvPr/>
        </p:nvGrpSpPr>
        <p:grpSpPr bwMode="auto">
          <a:xfrm>
            <a:off x="1219200" y="4570413"/>
            <a:ext cx="5535613" cy="1846262"/>
            <a:chOff x="768" y="2974"/>
            <a:chExt cx="3487" cy="1163"/>
          </a:xfrm>
        </p:grpSpPr>
        <p:sp>
          <p:nvSpPr>
            <p:cNvPr id="21520" name="Freeform 29"/>
            <p:cNvSpPr>
              <a:spLocks/>
            </p:cNvSpPr>
            <p:nvPr/>
          </p:nvSpPr>
          <p:spPr bwMode="auto">
            <a:xfrm>
              <a:off x="768" y="2974"/>
              <a:ext cx="2920" cy="892"/>
            </a:xfrm>
            <a:custGeom>
              <a:avLst/>
              <a:gdLst>
                <a:gd name="T0" fmla="*/ 0 w 2920"/>
                <a:gd name="T1" fmla="*/ 0 h 892"/>
                <a:gd name="T2" fmla="*/ 976 w 2920"/>
                <a:gd name="T3" fmla="*/ 0 h 892"/>
                <a:gd name="T4" fmla="*/ 976 w 2920"/>
                <a:gd name="T5" fmla="*/ 892 h 892"/>
                <a:gd name="T6" fmla="*/ 1943 w 2920"/>
                <a:gd name="T7" fmla="*/ 892 h 892"/>
                <a:gd name="T8" fmla="*/ 1943 w 2920"/>
                <a:gd name="T9" fmla="*/ 567 h 892"/>
                <a:gd name="T10" fmla="*/ 2920 w 2920"/>
                <a:gd name="T11" fmla="*/ 567 h 892"/>
                <a:gd name="T12" fmla="*/ 0 60000 65536"/>
                <a:gd name="T13" fmla="*/ 0 60000 65536"/>
                <a:gd name="T14" fmla="*/ 0 60000 65536"/>
                <a:gd name="T15" fmla="*/ 0 60000 65536"/>
                <a:gd name="T16" fmla="*/ 0 60000 65536"/>
                <a:gd name="T17" fmla="*/ 0 60000 65536"/>
                <a:gd name="T18" fmla="*/ 0 w 2920"/>
                <a:gd name="T19" fmla="*/ 0 h 892"/>
                <a:gd name="T20" fmla="*/ 2920 w 2920"/>
                <a:gd name="T21" fmla="*/ 892 h 892"/>
              </a:gdLst>
              <a:ahLst/>
              <a:cxnLst>
                <a:cxn ang="T12">
                  <a:pos x="T0" y="T1"/>
                </a:cxn>
                <a:cxn ang="T13">
                  <a:pos x="T2" y="T3"/>
                </a:cxn>
                <a:cxn ang="T14">
                  <a:pos x="T4" y="T5"/>
                </a:cxn>
                <a:cxn ang="T15">
                  <a:pos x="T6" y="T7"/>
                </a:cxn>
                <a:cxn ang="T16">
                  <a:pos x="T8" y="T9"/>
                </a:cxn>
                <a:cxn ang="T17">
                  <a:pos x="T10" y="T11"/>
                </a:cxn>
              </a:cxnLst>
              <a:rect l="T18" t="T19" r="T20" b="T21"/>
              <a:pathLst>
                <a:path w="2920" h="892">
                  <a:moveTo>
                    <a:pt x="0" y="0"/>
                  </a:moveTo>
                  <a:lnTo>
                    <a:pt x="976" y="0"/>
                  </a:lnTo>
                  <a:lnTo>
                    <a:pt x="976" y="892"/>
                  </a:lnTo>
                  <a:lnTo>
                    <a:pt x="1943" y="892"/>
                  </a:lnTo>
                  <a:lnTo>
                    <a:pt x="1943" y="567"/>
                  </a:lnTo>
                  <a:lnTo>
                    <a:pt x="2920" y="567"/>
                  </a:lnTo>
                </a:path>
              </a:pathLst>
            </a:custGeom>
            <a:noFill/>
            <a:ln w="1905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US"/>
            </a:p>
          </p:txBody>
        </p:sp>
        <p:sp>
          <p:nvSpPr>
            <p:cNvPr id="21521" name="Text Box 30"/>
            <p:cNvSpPr txBox="1">
              <a:spLocks noChangeArrowheads="1"/>
            </p:cNvSpPr>
            <p:nvPr/>
          </p:nvSpPr>
          <p:spPr bwMode="auto">
            <a:xfrm>
              <a:off x="928" y="3906"/>
              <a:ext cx="3327"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chemeClr val="accent2"/>
                  </a:solidFill>
                  <a:latin typeface="Arial" charset="0"/>
                </a:rPr>
                <a:t>Derivative of Linear FEM Solution, e.g., </a:t>
              </a:r>
              <a:r>
                <a:rPr lang="en-US" sz="1800" i="1">
                  <a:solidFill>
                    <a:schemeClr val="accent2"/>
                  </a:solidFill>
                  <a:latin typeface="Arial" charset="0"/>
                </a:rPr>
                <a:t>p</a:t>
              </a:r>
              <a:r>
                <a:rPr lang="en-US" sz="1800" i="1" baseline="-25000">
                  <a:solidFill>
                    <a:schemeClr val="accent2"/>
                  </a:solidFill>
                  <a:latin typeface="Arial" charset="0"/>
                </a:rPr>
                <a:t>f</a:t>
              </a:r>
              <a:r>
                <a:rPr lang="en-US" sz="1800">
                  <a:solidFill>
                    <a:schemeClr val="accent2"/>
                  </a:solidFill>
                  <a:latin typeface="Arial" charset="0"/>
                </a:rPr>
                <a:t> gradient</a:t>
              </a:r>
              <a:endParaRPr lang="en-GB" sz="1800">
                <a:solidFill>
                  <a:schemeClr val="accent2"/>
                </a:solidFill>
                <a:latin typeface="Arial" charset="0"/>
              </a:endParaRPr>
            </a:p>
          </p:txBody>
        </p:sp>
      </p:grpSp>
      <p:grpSp>
        <p:nvGrpSpPr>
          <p:cNvPr id="6" name="Group 31"/>
          <p:cNvGrpSpPr>
            <a:grpSpLocks/>
          </p:cNvGrpSpPr>
          <p:nvPr/>
        </p:nvGrpSpPr>
        <p:grpSpPr bwMode="auto">
          <a:xfrm>
            <a:off x="3321050" y="4802188"/>
            <a:ext cx="1935163" cy="390525"/>
            <a:chOff x="2092" y="3025"/>
            <a:chExt cx="1219" cy="246"/>
          </a:xfrm>
        </p:grpSpPr>
        <p:sp>
          <p:nvSpPr>
            <p:cNvPr id="21515" name="Rectangle 32"/>
            <p:cNvSpPr>
              <a:spLocks noChangeArrowheads="1"/>
            </p:cNvSpPr>
            <p:nvPr/>
          </p:nvSpPr>
          <p:spPr bwMode="auto">
            <a:xfrm>
              <a:off x="2217" y="3025"/>
              <a:ext cx="980" cy="246"/>
            </a:xfrm>
            <a:prstGeom prst="rect">
              <a:avLst/>
            </a:prstGeom>
            <a:solidFill>
              <a:srgbClr val="FF6600"/>
            </a:solidFill>
            <a:ln w="19050">
              <a:solidFill>
                <a:schemeClr val="hlink"/>
              </a:solidFill>
              <a:miter lim="800000"/>
              <a:headEnd/>
              <a:tailEnd/>
            </a:ln>
          </p:spPr>
          <p:txBody>
            <a:bodyPr wrap="none" anchor="ctr"/>
            <a:lstStyle/>
            <a:p>
              <a:endParaRPr lang="en-US"/>
            </a:p>
          </p:txBody>
        </p:sp>
        <p:grpSp>
          <p:nvGrpSpPr>
            <p:cNvPr id="21516" name="Group 33"/>
            <p:cNvGrpSpPr>
              <a:grpSpLocks/>
            </p:cNvGrpSpPr>
            <p:nvPr/>
          </p:nvGrpSpPr>
          <p:grpSpPr bwMode="auto">
            <a:xfrm>
              <a:off x="2092" y="3033"/>
              <a:ext cx="1219" cy="231"/>
              <a:chOff x="2092" y="3033"/>
              <a:chExt cx="1219" cy="231"/>
            </a:xfrm>
          </p:grpSpPr>
          <p:sp>
            <p:nvSpPr>
              <p:cNvPr id="21517" name="Text Box 34"/>
              <p:cNvSpPr txBox="1">
                <a:spLocks noChangeArrowheads="1"/>
              </p:cNvSpPr>
              <p:nvPr/>
            </p:nvSpPr>
            <p:spPr bwMode="auto">
              <a:xfrm>
                <a:off x="2202" y="3033"/>
                <a:ext cx="9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Finite Volume</a:t>
                </a:r>
                <a:endParaRPr lang="en-GB" sz="1800">
                  <a:latin typeface="Arial" charset="0"/>
                </a:endParaRPr>
              </a:p>
            </p:txBody>
          </p:sp>
          <p:sp>
            <p:nvSpPr>
              <p:cNvPr id="21518" name="Line 35"/>
              <p:cNvSpPr>
                <a:spLocks noChangeShapeType="1"/>
              </p:cNvSpPr>
              <p:nvPr/>
            </p:nvSpPr>
            <p:spPr bwMode="auto">
              <a:xfrm>
                <a:off x="3197" y="3145"/>
                <a:ext cx="114" cy="0"/>
              </a:xfrm>
              <a:prstGeom prst="line">
                <a:avLst/>
              </a:prstGeom>
              <a:noFill/>
              <a:ln w="28575">
                <a:solidFill>
                  <a:schemeClr val="folHlink"/>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21519" name="Line 36"/>
              <p:cNvSpPr>
                <a:spLocks noChangeShapeType="1"/>
              </p:cNvSpPr>
              <p:nvPr/>
            </p:nvSpPr>
            <p:spPr bwMode="auto">
              <a:xfrm flipH="1">
                <a:off x="2092" y="3150"/>
                <a:ext cx="119" cy="0"/>
              </a:xfrm>
              <a:prstGeom prst="line">
                <a:avLst/>
              </a:prstGeom>
              <a:noFill/>
              <a:ln w="28575">
                <a:solidFill>
                  <a:schemeClr val="folHlink"/>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grpSp>
      </p:grpSp>
      <p:sp>
        <p:nvSpPr>
          <p:cNvPr id="21514" name="Text Box 37"/>
          <p:cNvSpPr txBox="1">
            <a:spLocks noChangeArrowheads="1"/>
          </p:cNvSpPr>
          <p:nvPr/>
        </p:nvSpPr>
        <p:spPr bwMode="auto">
          <a:xfrm>
            <a:off x="6588224" y="3833753"/>
            <a:ext cx="2349126"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a:r>
              <a:rPr lang="en-US" sz="1600" i="1" dirty="0" err="1">
                <a:latin typeface="Arial" charset="0"/>
              </a:rPr>
              <a:t>Cordes</a:t>
            </a:r>
            <a:r>
              <a:rPr lang="en-US" sz="1600" i="1" dirty="0">
                <a:latin typeface="Arial" charset="0"/>
              </a:rPr>
              <a:t> &amp; </a:t>
            </a:r>
            <a:r>
              <a:rPr lang="en-US" sz="1600" i="1" dirty="0" err="1">
                <a:latin typeface="Arial" charset="0"/>
              </a:rPr>
              <a:t>Kinzelbach</a:t>
            </a:r>
            <a:r>
              <a:rPr lang="en-US" sz="1600" i="1" dirty="0">
                <a:latin typeface="Arial" charset="0"/>
              </a:rPr>
              <a:t>, 1992 (WRR),</a:t>
            </a:r>
          </a:p>
          <a:p>
            <a:pPr algn="ctr"/>
            <a:r>
              <a:rPr lang="en-US" sz="1600" i="1" dirty="0" err="1">
                <a:latin typeface="Arial" charset="0"/>
              </a:rPr>
              <a:t>Paluszny</a:t>
            </a:r>
            <a:r>
              <a:rPr lang="en-US" sz="1600" i="1" dirty="0">
                <a:latin typeface="Arial" charset="0"/>
              </a:rPr>
              <a:t>, </a:t>
            </a:r>
            <a:r>
              <a:rPr lang="en-US" sz="1600" i="1" dirty="0" err="1">
                <a:latin typeface="Arial" charset="0"/>
              </a:rPr>
              <a:t>Matthai</a:t>
            </a:r>
            <a:r>
              <a:rPr lang="en-US" sz="1600" i="1" dirty="0">
                <a:latin typeface="Arial" charset="0"/>
              </a:rPr>
              <a:t> and </a:t>
            </a:r>
            <a:r>
              <a:rPr lang="en-US" sz="1600" i="1" dirty="0" err="1">
                <a:latin typeface="Arial" charset="0"/>
              </a:rPr>
              <a:t>Hohmeyer</a:t>
            </a:r>
            <a:r>
              <a:rPr lang="en-US" sz="1600" i="1" dirty="0">
                <a:latin typeface="Arial" charset="0"/>
              </a:rPr>
              <a:t>, 2007 (</a:t>
            </a:r>
            <a:r>
              <a:rPr lang="en-US" sz="1600" i="1" dirty="0" err="1">
                <a:latin typeface="Arial" charset="0"/>
              </a:rPr>
              <a:t>Geofluids</a:t>
            </a:r>
            <a:r>
              <a:rPr lang="en-US" sz="1600" i="1" dirty="0">
                <a:latin typeface="Arial" charset="0"/>
              </a:rPr>
              <a:t>)</a:t>
            </a:r>
          </a:p>
        </p:txBody>
      </p:sp>
      <p:sp>
        <p:nvSpPr>
          <p:cNvPr id="39" name="Date Placeholder 3"/>
          <p:cNvSpPr>
            <a:spLocks noGrp="1"/>
          </p:cNvSpPr>
          <p:nvPr>
            <p:ph type="dt" sz="half" idx="2"/>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41"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a:t>
            </a:fld>
            <a:endParaRPr lang="en-US" dirty="0">
              <a:solidFill>
                <a:prstClr val="white">
                  <a:lumMod val="65000"/>
                </a:prstClr>
              </a:solidFill>
              <a:ea typeface="+mn-ea"/>
            </a:endParaRPr>
          </a:p>
        </p:txBody>
      </p:sp>
      <p:sp>
        <p:nvSpPr>
          <p:cNvPr id="42" name="Footer Placeholder 6"/>
          <p:cNvSpPr>
            <a:spLocks noGrp="1"/>
          </p:cNvSpPr>
          <p:nvPr>
            <p:ph type="ftr" sz="quarter" idx="11"/>
          </p:nvPr>
        </p:nvSpPr>
        <p:spPr>
          <a:xfrm>
            <a:off x="3124200" y="6492875"/>
            <a:ext cx="2895600" cy="365125"/>
          </a:xfrm>
        </p:spPr>
        <p:txBody>
          <a:bodyPr/>
          <a:lstStyle/>
          <a:p>
            <a:endParaRPr lang="en-US" dirty="0"/>
          </a:p>
          <a:p>
            <a:r>
              <a:rPr lang="en-US" dirty="0"/>
              <a:t>Overview</a:t>
            </a:r>
          </a:p>
          <a:p>
            <a:endParaRPr lang="en-US" dirty="0"/>
          </a:p>
        </p:txBody>
      </p:sp>
    </p:spTree>
    <p:extLst>
      <p:ext uri="{BB962C8B-B14F-4D97-AF65-F5344CB8AC3E}">
        <p14:creationId xmlns:p14="http://schemas.microsoft.com/office/powerpoint/2010/main" val="153539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3276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a:xfrm>
            <a:off x="381000" y="228600"/>
            <a:ext cx="8572500" cy="522288"/>
          </a:xfrm>
        </p:spPr>
        <p:txBody>
          <a:bodyPr>
            <a:normAutofit fontScale="90000"/>
          </a:bodyPr>
          <a:lstStyle/>
          <a:p>
            <a:r>
              <a:rPr lang="en-US" sz="2400" dirty="0" err="1">
                <a:solidFill>
                  <a:srgbClr val="FF0000"/>
                </a:solidFill>
              </a:rPr>
              <a:t>OpenCSMP</a:t>
            </a:r>
            <a:r>
              <a:rPr lang="en-US" sz="2400" dirty="0">
                <a:solidFill>
                  <a:srgbClr val="FF0000"/>
                </a:solidFill>
              </a:rPr>
              <a:t> </a:t>
            </a:r>
            <a:br>
              <a:rPr lang="en-US" sz="2400" dirty="0">
                <a:solidFill>
                  <a:srgbClr val="FF0000"/>
                </a:solidFill>
              </a:rPr>
            </a:br>
            <a:r>
              <a:rPr lang="en-US" sz="2400" dirty="0">
                <a:solidFill>
                  <a:srgbClr val="FF0000"/>
                </a:solidFill>
              </a:rPr>
              <a:t>Development History</a:t>
            </a:r>
            <a:endParaRPr lang="en-GB" sz="2400" dirty="0">
              <a:solidFill>
                <a:srgbClr val="FF0000"/>
              </a:solidFill>
            </a:endParaRPr>
          </a:p>
        </p:txBody>
      </p:sp>
      <p:sp>
        <p:nvSpPr>
          <p:cNvPr id="628739" name="Rectangle 3"/>
          <p:cNvSpPr>
            <a:spLocks noChangeArrowheads="1"/>
          </p:cNvSpPr>
          <p:nvPr/>
        </p:nvSpPr>
        <p:spPr bwMode="auto">
          <a:xfrm>
            <a:off x="3347864" y="144016"/>
            <a:ext cx="5641404" cy="6597352"/>
          </a:xfrm>
          <a:prstGeom prst="rect">
            <a:avLst/>
          </a:prstGeom>
          <a:noFill/>
          <a:ln w="9525">
            <a:noFill/>
            <a:miter lim="800000"/>
            <a:headEnd/>
            <a:tailEnd/>
          </a:ln>
          <a:effectLst/>
        </p:spPr>
        <p:txBody>
          <a:bodyPr>
            <a:prstTxWarp prst="textNoShape">
              <a:avLst/>
            </a:prstTxWarp>
          </a:bodyPr>
          <a:lstStyle/>
          <a:p>
            <a:pPr marL="342900" indent="-342900" algn="l" eaLnBrk="1" hangingPunct="1">
              <a:spcAft>
                <a:spcPts val="200"/>
              </a:spcAft>
              <a:buClr>
                <a:schemeClr val="folHlink"/>
              </a:buClr>
              <a:buSzPct val="75000"/>
            </a:pPr>
            <a:r>
              <a:rPr lang="en-US" sz="1200" dirty="0">
                <a:latin typeface="Arial Narrow"/>
                <a:cs typeface="Arial Narrow"/>
              </a:rPr>
              <a:t>1994: Idea of CSMP at Cornell University, NY</a:t>
            </a:r>
          </a:p>
          <a:p>
            <a:pPr marL="342900" indent="-342900" algn="l" eaLnBrk="1" hangingPunct="1">
              <a:spcAft>
                <a:spcPts val="200"/>
              </a:spcAft>
              <a:buClr>
                <a:schemeClr val="folHlink"/>
              </a:buClr>
              <a:buSzPct val="75000"/>
            </a:pPr>
            <a:r>
              <a:rPr lang="en-US" sz="1200" dirty="0">
                <a:latin typeface="Arial Narrow"/>
                <a:cs typeface="Arial Narrow"/>
              </a:rPr>
              <a:t>Spring 1995: </a:t>
            </a:r>
            <a:r>
              <a:rPr lang="en-US" sz="1200" dirty="0" err="1">
                <a:latin typeface="Arial Narrow"/>
                <a:cs typeface="Arial Narrow"/>
              </a:rPr>
              <a:t>SKM’s</a:t>
            </a:r>
            <a:r>
              <a:rPr lang="en-US" sz="1200" dirty="0">
                <a:latin typeface="Arial Narrow"/>
                <a:cs typeface="Arial Narrow"/>
              </a:rPr>
              <a:t> first implementation of CSMP</a:t>
            </a:r>
          </a:p>
          <a:p>
            <a:pPr marL="342900" indent="-342900" algn="l" eaLnBrk="1" hangingPunct="1">
              <a:spcAft>
                <a:spcPts val="200"/>
              </a:spcAft>
              <a:buClr>
                <a:schemeClr val="folHlink"/>
              </a:buClr>
              <a:buSzPct val="75000"/>
            </a:pPr>
            <a:r>
              <a:rPr lang="en-US" sz="1200" dirty="0">
                <a:latin typeface="Arial Narrow"/>
                <a:cs typeface="Arial Narrow"/>
              </a:rPr>
              <a:t>Autumn 1995: Sabbatical of S.G. Roberts at Stanford University, CA, CSMP with </a:t>
            </a:r>
            <a:r>
              <a:rPr lang="en-US" sz="1200" dirty="0" err="1">
                <a:latin typeface="Arial Narrow"/>
                <a:cs typeface="Arial Narrow"/>
              </a:rPr>
              <a:t>Meschach</a:t>
            </a:r>
            <a:r>
              <a:rPr lang="en-US" sz="1200" dirty="0">
                <a:latin typeface="Arial Narrow"/>
                <a:cs typeface="Arial Narrow"/>
              </a:rPr>
              <a:t> &amp; AMG solver</a:t>
            </a:r>
          </a:p>
          <a:p>
            <a:pPr marL="342900" indent="-342900" algn="l" eaLnBrk="1" hangingPunct="1">
              <a:spcAft>
                <a:spcPts val="200"/>
              </a:spcAft>
              <a:buClr>
                <a:schemeClr val="folHlink"/>
              </a:buClr>
              <a:buSzPct val="75000"/>
            </a:pPr>
            <a:r>
              <a:rPr lang="en-US" sz="1200" dirty="0">
                <a:latin typeface="Arial Narrow"/>
                <a:cs typeface="Arial Narrow"/>
              </a:rPr>
              <a:t>1996: Review of CSMP and suggestions by Bruce </a:t>
            </a:r>
            <a:r>
              <a:rPr lang="en-US" sz="1200" dirty="0" err="1">
                <a:latin typeface="Arial Narrow"/>
                <a:cs typeface="Arial Narrow"/>
              </a:rPr>
              <a:t>Eckel</a:t>
            </a:r>
            <a:endParaRPr lang="en-US" sz="1200" dirty="0">
              <a:latin typeface="Arial Narrow"/>
              <a:cs typeface="Arial Narrow"/>
            </a:endParaRPr>
          </a:p>
          <a:p>
            <a:pPr marL="342900" indent="-342900" algn="l" eaLnBrk="1" hangingPunct="1">
              <a:spcAft>
                <a:spcPts val="200"/>
              </a:spcAft>
              <a:buClr>
                <a:schemeClr val="folHlink"/>
              </a:buClr>
              <a:buSzPct val="75000"/>
            </a:pPr>
            <a:r>
              <a:rPr lang="en-US" sz="1200" dirty="0">
                <a:latin typeface="Arial Narrow"/>
                <a:cs typeface="Arial Narrow"/>
              </a:rPr>
              <a:t>1996-2000: </a:t>
            </a:r>
            <a:r>
              <a:rPr lang="en-US" sz="1200" dirty="0" err="1">
                <a:latin typeface="Arial Narrow"/>
                <a:cs typeface="Arial Narrow"/>
              </a:rPr>
              <a:t>SKM’s</a:t>
            </a:r>
            <a:r>
              <a:rPr lang="en-US" sz="1200" dirty="0">
                <a:latin typeface="Arial Narrow"/>
                <a:cs typeface="Arial Narrow"/>
              </a:rPr>
              <a:t> main development and implementation of CSMP</a:t>
            </a:r>
          </a:p>
          <a:p>
            <a:pPr marL="342900" indent="-342900" algn="l" eaLnBrk="1" hangingPunct="1">
              <a:spcAft>
                <a:spcPts val="200"/>
              </a:spcAft>
              <a:buClr>
                <a:schemeClr val="folHlink"/>
              </a:buClr>
              <a:buSzPct val="75000"/>
            </a:pPr>
            <a:r>
              <a:rPr lang="en-US" sz="1200" dirty="0">
                <a:latin typeface="Arial Narrow"/>
                <a:cs typeface="Arial Narrow"/>
              </a:rPr>
              <a:t>2000-2001: S. Geiger develops FV capabilities</a:t>
            </a:r>
          </a:p>
          <a:p>
            <a:pPr marL="342900" indent="-342900" algn="l" eaLnBrk="1" hangingPunct="1">
              <a:spcAft>
                <a:spcPts val="200"/>
              </a:spcAft>
              <a:buClr>
                <a:schemeClr val="folHlink"/>
              </a:buClr>
              <a:buSzPct val="75000"/>
            </a:pPr>
            <a:r>
              <a:rPr lang="en-US" sz="1200" dirty="0">
                <a:latin typeface="Arial Narrow"/>
                <a:cs typeface="Arial Narrow"/>
              </a:rPr>
              <a:t>2001: CSP3D 4.0 in Std C++ using meta-template programming techniques</a:t>
            </a:r>
          </a:p>
          <a:p>
            <a:pPr marL="342900" indent="-342900" algn="l" eaLnBrk="1" hangingPunct="1">
              <a:spcAft>
                <a:spcPts val="200"/>
              </a:spcAft>
              <a:buClr>
                <a:schemeClr val="folHlink"/>
              </a:buClr>
              <a:buSzPct val="75000"/>
            </a:pPr>
            <a:r>
              <a:rPr lang="en-US" sz="1200" dirty="0">
                <a:latin typeface="Arial Narrow"/>
                <a:cs typeface="Arial Narrow"/>
              </a:rPr>
              <a:t>2001: ICEM – CSMP interface</a:t>
            </a:r>
          </a:p>
          <a:p>
            <a:pPr marL="342900" indent="-342900" algn="l" eaLnBrk="1" hangingPunct="1">
              <a:spcAft>
                <a:spcPts val="200"/>
              </a:spcAft>
              <a:buClr>
                <a:schemeClr val="folHlink"/>
              </a:buClr>
              <a:buSzPct val="75000"/>
            </a:pPr>
            <a:r>
              <a:rPr lang="en-US" sz="1200" dirty="0">
                <a:latin typeface="Arial Narrow"/>
                <a:cs typeface="Arial Narrow"/>
              </a:rPr>
              <a:t>2002: Design of IMP-IMPS capabilities in collaboration with C. Pain, integration and interfacing with CFD tools</a:t>
            </a:r>
          </a:p>
          <a:p>
            <a:pPr marL="342900" indent="-342900" algn="l" eaLnBrk="1" hangingPunct="1">
              <a:spcAft>
                <a:spcPts val="200"/>
              </a:spcAft>
              <a:buClr>
                <a:schemeClr val="folHlink"/>
              </a:buClr>
              <a:buSzPct val="75000"/>
            </a:pPr>
            <a:r>
              <a:rPr lang="en-US" sz="1200" dirty="0">
                <a:latin typeface="Arial Narrow"/>
                <a:cs typeface="Arial Narrow"/>
              </a:rPr>
              <a:t>2003: SAMG-based large-scale mechanical calculations</a:t>
            </a:r>
          </a:p>
          <a:p>
            <a:pPr marL="342900" indent="-342900" algn="l" eaLnBrk="1" hangingPunct="1">
              <a:spcAft>
                <a:spcPts val="200"/>
              </a:spcAft>
              <a:buClr>
                <a:schemeClr val="folHlink"/>
              </a:buClr>
              <a:buSzPct val="75000"/>
            </a:pPr>
            <a:r>
              <a:rPr lang="en-US" sz="1200" dirty="0">
                <a:latin typeface="Arial Narrow"/>
                <a:cs typeface="Arial Narrow"/>
              </a:rPr>
              <a:t>2003: Interface to anisotropic </a:t>
            </a:r>
            <a:r>
              <a:rPr lang="en-US" sz="1200" dirty="0" err="1">
                <a:latin typeface="Arial Narrow"/>
                <a:cs typeface="Arial Narrow"/>
              </a:rPr>
              <a:t>adaptivity</a:t>
            </a:r>
            <a:r>
              <a:rPr lang="en-US" sz="1200" dirty="0">
                <a:latin typeface="Arial Narrow"/>
                <a:cs typeface="Arial Narrow"/>
              </a:rPr>
              <a:t> module</a:t>
            </a:r>
          </a:p>
          <a:p>
            <a:pPr marL="342900" indent="-342900" algn="l" eaLnBrk="1" hangingPunct="1">
              <a:spcAft>
                <a:spcPts val="200"/>
              </a:spcAft>
              <a:buClr>
                <a:schemeClr val="folHlink"/>
              </a:buClr>
              <a:buSzPct val="75000"/>
            </a:pPr>
            <a:r>
              <a:rPr lang="en-US" sz="1200" dirty="0">
                <a:latin typeface="Arial Narrow"/>
                <a:cs typeface="Arial Narrow"/>
              </a:rPr>
              <a:t>2003: SAMG-based large-scale mechanical calculations</a:t>
            </a:r>
          </a:p>
          <a:p>
            <a:pPr marL="342900" indent="-342900" algn="l" eaLnBrk="1" hangingPunct="1">
              <a:spcAft>
                <a:spcPts val="200"/>
              </a:spcAft>
              <a:buClr>
                <a:schemeClr val="folHlink"/>
              </a:buClr>
              <a:buSzPct val="75000"/>
            </a:pPr>
            <a:r>
              <a:rPr lang="en-US" sz="1200" dirty="0">
                <a:latin typeface="Arial Narrow"/>
                <a:cs typeface="Arial Narrow"/>
              </a:rPr>
              <a:t>2003: Interface to anisotropic </a:t>
            </a:r>
            <a:r>
              <a:rPr lang="en-US" sz="1200" dirty="0" err="1">
                <a:latin typeface="Arial Narrow"/>
                <a:cs typeface="Arial Narrow"/>
              </a:rPr>
              <a:t>adaptivity</a:t>
            </a:r>
            <a:r>
              <a:rPr lang="en-US" sz="1200" dirty="0">
                <a:latin typeface="Arial Narrow"/>
                <a:cs typeface="Arial Narrow"/>
              </a:rPr>
              <a:t> module</a:t>
            </a:r>
          </a:p>
          <a:p>
            <a:pPr marL="342900" indent="-342900" algn="l" eaLnBrk="1" hangingPunct="1">
              <a:spcAft>
                <a:spcPts val="200"/>
              </a:spcAft>
              <a:buClr>
                <a:schemeClr val="folHlink"/>
              </a:buClr>
              <a:buSzPct val="75000"/>
            </a:pPr>
            <a:r>
              <a:rPr lang="en-US" sz="1200" dirty="0">
                <a:latin typeface="Arial Narrow"/>
                <a:cs typeface="Arial Narrow"/>
              </a:rPr>
              <a:t>2003: Generalized 3D IMP-IMPS multiphase flow capabilities including gravity drainage and capillary driven flow </a:t>
            </a:r>
          </a:p>
          <a:p>
            <a:pPr marL="342900" indent="-342900" algn="l" eaLnBrk="1" hangingPunct="1">
              <a:spcAft>
                <a:spcPts val="200"/>
              </a:spcAft>
              <a:buClr>
                <a:schemeClr val="folHlink"/>
              </a:buClr>
              <a:buSzPct val="75000"/>
            </a:pPr>
            <a:r>
              <a:rPr lang="en-US" sz="1200" dirty="0">
                <a:latin typeface="Arial Narrow"/>
                <a:cs typeface="Arial Narrow"/>
              </a:rPr>
              <a:t>2004: Introduction of DFEM methods to deal with </a:t>
            </a:r>
            <a:r>
              <a:rPr lang="en-US" sz="1200" dirty="0" err="1">
                <a:latin typeface="Arial Narrow"/>
                <a:cs typeface="Arial Narrow"/>
              </a:rPr>
              <a:t>discontinua</a:t>
            </a:r>
            <a:r>
              <a:rPr lang="en-US" sz="1200" dirty="0">
                <a:latin typeface="Arial Narrow"/>
                <a:cs typeface="Arial Narrow"/>
              </a:rPr>
              <a:t>, EOS for H2O-NaCl mixtures</a:t>
            </a:r>
          </a:p>
          <a:p>
            <a:pPr marL="342900" indent="-342900" algn="l" eaLnBrk="1" hangingPunct="1">
              <a:spcAft>
                <a:spcPts val="200"/>
              </a:spcAft>
              <a:buClr>
                <a:schemeClr val="folHlink"/>
              </a:buClr>
              <a:buSzPct val="75000"/>
            </a:pPr>
            <a:r>
              <a:rPr lang="en-US" sz="1200" dirty="0">
                <a:latin typeface="Arial Narrow"/>
                <a:cs typeface="Arial Narrow"/>
              </a:rPr>
              <a:t>2005: </a:t>
            </a:r>
            <a:r>
              <a:rPr lang="en-US" sz="1200" dirty="0" err="1">
                <a:latin typeface="Arial Narrow"/>
                <a:cs typeface="Arial Narrow"/>
              </a:rPr>
              <a:t>Parallelisation</a:t>
            </a:r>
            <a:r>
              <a:rPr lang="en-US" sz="1200" dirty="0">
                <a:latin typeface="Arial Narrow"/>
                <a:cs typeface="Arial Narrow"/>
              </a:rPr>
              <a:t> including </a:t>
            </a:r>
            <a:r>
              <a:rPr lang="en-US" sz="1200" dirty="0" err="1">
                <a:latin typeface="Arial Narrow"/>
                <a:cs typeface="Arial Narrow"/>
              </a:rPr>
              <a:t>SAMGp</a:t>
            </a:r>
            <a:r>
              <a:rPr lang="en-US" sz="1200" dirty="0">
                <a:latin typeface="Arial Narrow"/>
                <a:cs typeface="Arial Narrow"/>
              </a:rPr>
              <a:t>, work on advanced graphical user-interface, </a:t>
            </a:r>
            <a:r>
              <a:rPr lang="en-US" sz="1200" dirty="0" err="1">
                <a:latin typeface="Arial Narrow"/>
                <a:cs typeface="Arial Narrow"/>
              </a:rPr>
              <a:t>Navier</a:t>
            </a:r>
            <a:r>
              <a:rPr lang="en-US" sz="1200" dirty="0">
                <a:latin typeface="Arial Narrow"/>
                <a:cs typeface="Arial Narrow"/>
              </a:rPr>
              <a:t>-Stokes compressible flows</a:t>
            </a:r>
          </a:p>
          <a:p>
            <a:pPr marL="342900" indent="-342900" algn="l" eaLnBrk="1" hangingPunct="1">
              <a:spcAft>
                <a:spcPts val="200"/>
              </a:spcAft>
              <a:buClr>
                <a:schemeClr val="folHlink"/>
              </a:buClr>
              <a:buSzPct val="75000"/>
            </a:pPr>
            <a:r>
              <a:rPr lang="en-US" sz="1200" dirty="0">
                <a:latin typeface="Arial Narrow"/>
                <a:cs typeface="Arial Narrow"/>
              </a:rPr>
              <a:t>2006: Black oil model, elastic-plastic deformation, shear-band formation and fracture propagation in 2D </a:t>
            </a:r>
          </a:p>
          <a:p>
            <a:pPr marL="342900" indent="-342900" algn="l" eaLnBrk="1" hangingPunct="1">
              <a:spcAft>
                <a:spcPts val="200"/>
              </a:spcAft>
              <a:buClr>
                <a:schemeClr val="folHlink"/>
              </a:buClr>
              <a:buSzPct val="75000"/>
            </a:pPr>
            <a:r>
              <a:rPr lang="en-US" sz="1200" dirty="0">
                <a:latin typeface="Arial Narrow"/>
                <a:cs typeface="Arial Narrow"/>
              </a:rPr>
              <a:t>2007: Commercial licensing, embedded discontinuity method </a:t>
            </a:r>
          </a:p>
          <a:p>
            <a:pPr marL="342900" indent="-342900" algn="l" eaLnBrk="1" hangingPunct="1">
              <a:spcAft>
                <a:spcPts val="200"/>
              </a:spcAft>
              <a:buClr>
                <a:schemeClr val="folHlink"/>
              </a:buClr>
              <a:buSzPct val="75000"/>
            </a:pPr>
            <a:r>
              <a:rPr lang="en-US" sz="1200" dirty="0">
                <a:latin typeface="Arial Narrow"/>
                <a:cs typeface="Arial Narrow"/>
              </a:rPr>
              <a:t>2008: Provisions for parallel </a:t>
            </a:r>
            <a:r>
              <a:rPr lang="en-US" sz="1200" dirty="0" err="1">
                <a:latin typeface="Arial Narrow"/>
                <a:cs typeface="Arial Narrow"/>
              </a:rPr>
              <a:t>adaptivity</a:t>
            </a:r>
            <a:endParaRPr lang="en-US" sz="1200" dirty="0">
              <a:latin typeface="Arial Narrow"/>
              <a:cs typeface="Arial Narrow"/>
            </a:endParaRPr>
          </a:p>
          <a:p>
            <a:pPr marL="342900" indent="-342900" algn="l" eaLnBrk="1" hangingPunct="1">
              <a:spcAft>
                <a:spcPts val="200"/>
              </a:spcAft>
              <a:buClr>
                <a:schemeClr val="folHlink"/>
              </a:buClr>
              <a:buSzPct val="75000"/>
            </a:pPr>
            <a:r>
              <a:rPr lang="en-US" sz="1200" dirty="0">
                <a:latin typeface="Arial Narrow"/>
                <a:cs typeface="Arial Narrow"/>
              </a:rPr>
              <a:t>2009: Embedded discontinuity model</a:t>
            </a:r>
          </a:p>
          <a:p>
            <a:pPr marL="342900" indent="-342900" algn="l" eaLnBrk="1" hangingPunct="1">
              <a:spcAft>
                <a:spcPts val="200"/>
              </a:spcAft>
              <a:buClr>
                <a:schemeClr val="folHlink"/>
              </a:buClr>
              <a:buSzPct val="75000"/>
            </a:pPr>
            <a:r>
              <a:rPr lang="en-US" sz="1200" dirty="0">
                <a:latin typeface="Arial Narrow"/>
                <a:cs typeface="Arial Narrow"/>
              </a:rPr>
              <a:t>2010: New reactive transport module, build-bot, PBCD</a:t>
            </a:r>
          </a:p>
          <a:p>
            <a:pPr marL="342900" indent="-342900" algn="l" eaLnBrk="1" hangingPunct="1">
              <a:spcAft>
                <a:spcPts val="200"/>
              </a:spcAft>
              <a:buClr>
                <a:schemeClr val="folHlink"/>
              </a:buClr>
              <a:buSzPct val="75000"/>
            </a:pPr>
            <a:r>
              <a:rPr lang="en-US" sz="1200" dirty="0">
                <a:latin typeface="Arial Narrow"/>
                <a:cs typeface="Arial Narrow"/>
              </a:rPr>
              <a:t>2011: Policy-based design, element-centered transport scheme, DES prototype</a:t>
            </a:r>
          </a:p>
          <a:p>
            <a:pPr marL="342900" indent="-342900" algn="l" eaLnBrk="1" hangingPunct="1">
              <a:spcAft>
                <a:spcPts val="200"/>
              </a:spcAft>
              <a:buClr>
                <a:schemeClr val="folHlink"/>
              </a:buClr>
              <a:buSzPct val="75000"/>
            </a:pPr>
            <a:r>
              <a:rPr lang="en-US" sz="1200" dirty="0">
                <a:latin typeface="Arial Narrow"/>
                <a:cs typeface="Arial Narrow"/>
              </a:rPr>
              <a:t>2012: New integration point variables and storage, FECFVM</a:t>
            </a:r>
          </a:p>
          <a:p>
            <a:pPr marL="342900" indent="-342900" algn="l" eaLnBrk="1" hangingPunct="1">
              <a:spcAft>
                <a:spcPts val="200"/>
              </a:spcAft>
              <a:buClr>
                <a:schemeClr val="folHlink"/>
              </a:buClr>
              <a:buSzPct val="75000"/>
            </a:pPr>
            <a:r>
              <a:rPr lang="en-US" sz="1200" dirty="0">
                <a:latin typeface="Arial Narrow"/>
                <a:cs typeface="Arial Narrow"/>
              </a:rPr>
              <a:t>2013: Fractured basement-reservoir simulator, full-tensor fracture modeling tools</a:t>
            </a:r>
          </a:p>
          <a:p>
            <a:pPr marL="342900" indent="-342900" algn="l" eaLnBrk="1" hangingPunct="1">
              <a:spcAft>
                <a:spcPts val="200"/>
              </a:spcAft>
              <a:buClr>
                <a:schemeClr val="folHlink"/>
              </a:buClr>
              <a:buSzPct val="75000"/>
            </a:pPr>
            <a:r>
              <a:rPr lang="en-US" sz="1200" dirty="0">
                <a:latin typeface="Arial Narrow"/>
                <a:cs typeface="Arial Narrow"/>
              </a:rPr>
              <a:t>2014:  </a:t>
            </a:r>
            <a:r>
              <a:rPr lang="en-US" sz="1200" dirty="0" err="1">
                <a:latin typeface="Arial Narrow"/>
                <a:cs typeface="Arial Narrow"/>
              </a:rPr>
              <a:t>SplitBoundary</a:t>
            </a:r>
            <a:r>
              <a:rPr lang="en-US" sz="1200" dirty="0">
                <a:latin typeface="Arial Narrow"/>
                <a:cs typeface="Arial Narrow"/>
              </a:rPr>
              <a:t> objects in 3D, fracture aperture modeling workflow, discrete event simulation time-stepping scheme (DES), coupling of CSMP with GEMS (chemical reaction code)</a:t>
            </a:r>
          </a:p>
          <a:p>
            <a:pPr marL="342900" indent="-342900" algn="l" eaLnBrk="1" hangingPunct="1">
              <a:spcAft>
                <a:spcPts val="200"/>
              </a:spcAft>
              <a:buClr>
                <a:schemeClr val="folHlink"/>
              </a:buClr>
              <a:buSzPct val="75000"/>
            </a:pPr>
            <a:r>
              <a:rPr lang="en-US" sz="1200" dirty="0">
                <a:latin typeface="Arial Narrow"/>
                <a:cs typeface="Arial Narrow"/>
              </a:rPr>
              <a:t>and my more since then…</a:t>
            </a:r>
          </a:p>
        </p:txBody>
      </p:sp>
      <p:pic>
        <p:nvPicPr>
          <p:cNvPr id="628740" name="Picture 4" descr="CSP-CD front"/>
          <p:cNvPicPr>
            <a:picLocks noChangeAspect="1" noChangeArrowheads="1"/>
          </p:cNvPicPr>
          <p:nvPr/>
        </p:nvPicPr>
        <p:blipFill>
          <a:blip r:embed="rId3"/>
          <a:srcRect/>
          <a:stretch>
            <a:fillRect/>
          </a:stretch>
        </p:blipFill>
        <p:spPr bwMode="auto">
          <a:xfrm>
            <a:off x="444500" y="923925"/>
            <a:ext cx="2590800" cy="2590800"/>
          </a:xfrm>
          <a:prstGeom prst="rect">
            <a:avLst/>
          </a:prstGeom>
          <a:noFill/>
          <a:ln w="9525">
            <a:noFill/>
            <a:miter lim="800000"/>
            <a:headEnd/>
            <a:tailEnd/>
          </a:ln>
        </p:spPr>
      </p:pic>
      <p:sp>
        <p:nvSpPr>
          <p:cNvPr id="628741" name="Text Box 5"/>
          <p:cNvSpPr txBox="1">
            <a:spLocks noChangeArrowheads="1"/>
          </p:cNvSpPr>
          <p:nvPr/>
        </p:nvSpPr>
        <p:spPr bwMode="auto">
          <a:xfrm>
            <a:off x="330200" y="3697288"/>
            <a:ext cx="3055938" cy="2554545"/>
          </a:xfrm>
          <a:prstGeom prst="rect">
            <a:avLst/>
          </a:prstGeom>
          <a:noFill/>
          <a:ln w="9525">
            <a:noFill/>
            <a:miter lim="800000"/>
            <a:headEnd/>
            <a:tailEnd/>
          </a:ln>
          <a:effectLst/>
        </p:spPr>
        <p:txBody>
          <a:bodyPr>
            <a:prstTxWarp prst="textNoShape">
              <a:avLst/>
            </a:prstTxWarp>
            <a:spAutoFit/>
          </a:bodyPr>
          <a:lstStyle/>
          <a:p>
            <a:pPr algn="l" eaLnBrk="1" hangingPunct="1"/>
            <a:r>
              <a:rPr lang="en-US" sz="1600" dirty="0">
                <a:latin typeface="Arial" charset="0"/>
              </a:rPr>
              <a:t>by Stephan K </a:t>
            </a:r>
            <a:r>
              <a:rPr lang="en-US" sz="1600" dirty="0" err="1">
                <a:latin typeface="Arial" charset="0"/>
              </a:rPr>
              <a:t>Matthäi</a:t>
            </a:r>
            <a:r>
              <a:rPr lang="en-US" sz="1600" dirty="0">
                <a:latin typeface="Arial" charset="0"/>
              </a:rPr>
              <a:t> (IC), </a:t>
            </a:r>
          </a:p>
          <a:p>
            <a:r>
              <a:rPr lang="en-US" sz="1600" dirty="0">
                <a:latin typeface="Arial" charset="0"/>
              </a:rPr>
              <a:t>Sebastian Geiger (HWU),</a:t>
            </a:r>
          </a:p>
          <a:p>
            <a:pPr algn="l" eaLnBrk="1" hangingPunct="1"/>
            <a:r>
              <a:rPr lang="en-US" sz="1600" dirty="0">
                <a:latin typeface="Arial" charset="0"/>
              </a:rPr>
              <a:t>Stephen G. Roberts (ANU), </a:t>
            </a:r>
          </a:p>
          <a:p>
            <a:pPr algn="l" eaLnBrk="1" hangingPunct="1"/>
            <a:r>
              <a:rPr lang="en-US" sz="1600" dirty="0">
                <a:latin typeface="Arial" charset="0"/>
              </a:rPr>
              <a:t>+ contributions from:</a:t>
            </a:r>
          </a:p>
          <a:p>
            <a:pPr algn="l" eaLnBrk="1" hangingPunct="1"/>
            <a:r>
              <a:rPr lang="en-US" sz="1200" dirty="0">
                <a:latin typeface="Arial" charset="0"/>
              </a:rPr>
              <a:t>Thomas </a:t>
            </a:r>
            <a:r>
              <a:rPr lang="en-US" sz="1200" dirty="0" err="1">
                <a:latin typeface="Arial" charset="0"/>
              </a:rPr>
              <a:t>Driesner</a:t>
            </a:r>
            <a:r>
              <a:rPr lang="en-US" sz="1200" dirty="0">
                <a:latin typeface="Arial" charset="0"/>
              </a:rPr>
              <a:t>,</a:t>
            </a:r>
          </a:p>
          <a:p>
            <a:pPr algn="l" eaLnBrk="1" hangingPunct="1"/>
            <a:r>
              <a:rPr lang="en-US" sz="1200" dirty="0">
                <a:latin typeface="Arial" charset="0"/>
              </a:rPr>
              <a:t> A. </a:t>
            </a:r>
            <a:r>
              <a:rPr lang="en-US" sz="1200" dirty="0" err="1">
                <a:latin typeface="Arial" charset="0"/>
              </a:rPr>
              <a:t>Mezentsev</a:t>
            </a:r>
            <a:r>
              <a:rPr lang="en-US" sz="1200" dirty="0">
                <a:latin typeface="Arial" charset="0"/>
              </a:rPr>
              <a:t>, D. </a:t>
            </a:r>
            <a:r>
              <a:rPr lang="en-US" sz="1200" dirty="0" err="1">
                <a:latin typeface="Arial" charset="0"/>
              </a:rPr>
              <a:t>Coumou</a:t>
            </a:r>
            <a:r>
              <a:rPr lang="en-US" sz="1200" dirty="0">
                <a:latin typeface="Arial" charset="0"/>
              </a:rPr>
              <a:t>, A. </a:t>
            </a:r>
            <a:r>
              <a:rPr lang="en-US" sz="1200" dirty="0" err="1">
                <a:latin typeface="Arial" charset="0"/>
              </a:rPr>
              <a:t>Paluszny</a:t>
            </a:r>
            <a:r>
              <a:rPr lang="en-US" sz="1200" dirty="0">
                <a:latin typeface="Arial" charset="0"/>
              </a:rPr>
              <a:t>, H. M. Nick, P. Weiss, K. </a:t>
            </a:r>
            <a:r>
              <a:rPr lang="en-US" sz="1200" dirty="0" err="1">
                <a:latin typeface="Arial" charset="0"/>
              </a:rPr>
              <a:t>Schmid</a:t>
            </a:r>
            <a:r>
              <a:rPr lang="en-US" sz="1200" dirty="0">
                <a:latin typeface="Arial" charset="0"/>
              </a:rPr>
              <a:t>, Y. </a:t>
            </a:r>
            <a:r>
              <a:rPr lang="en-US" sz="1200" dirty="0" err="1">
                <a:latin typeface="Arial" charset="0"/>
              </a:rPr>
              <a:t>Zaretsky</a:t>
            </a:r>
            <a:r>
              <a:rPr lang="en-US" sz="1200" dirty="0">
                <a:latin typeface="Arial" charset="0"/>
              </a:rPr>
              <a:t>, </a:t>
            </a:r>
            <a:r>
              <a:rPr lang="en-US" sz="1200" dirty="0" err="1">
                <a:latin typeface="Arial" charset="0"/>
              </a:rPr>
              <a:t>Shaho</a:t>
            </a:r>
            <a:r>
              <a:rPr lang="en-US" sz="1200" dirty="0">
                <a:latin typeface="Arial" charset="0"/>
              </a:rPr>
              <a:t> </a:t>
            </a:r>
            <a:r>
              <a:rPr lang="en-US" sz="1200" dirty="0" err="1">
                <a:latin typeface="Arial" charset="0"/>
              </a:rPr>
              <a:t>Bazr</a:t>
            </a:r>
            <a:r>
              <a:rPr lang="en-US" sz="1200" dirty="0">
                <a:latin typeface="Arial" charset="0"/>
              </a:rPr>
              <a:t> </a:t>
            </a:r>
            <a:r>
              <a:rPr lang="en-US" sz="1200" dirty="0" err="1">
                <a:latin typeface="Arial" charset="0"/>
              </a:rPr>
              <a:t>Afkan</a:t>
            </a:r>
            <a:r>
              <a:rPr lang="en-US" sz="1200" dirty="0">
                <a:latin typeface="Arial" charset="0"/>
              </a:rPr>
              <a:t>, Philipp Lang, Julian </a:t>
            </a:r>
            <a:r>
              <a:rPr lang="en-US" sz="1200" dirty="0" err="1">
                <a:latin typeface="Arial" charset="0"/>
              </a:rPr>
              <a:t>Mindel</a:t>
            </a:r>
            <a:r>
              <a:rPr lang="en-US" sz="1200" dirty="0">
                <a:latin typeface="Arial" charset="0"/>
              </a:rPr>
              <a:t>, Georg </a:t>
            </a:r>
            <a:r>
              <a:rPr lang="en-US" sz="1200" dirty="0" err="1">
                <a:latin typeface="Arial" charset="0"/>
              </a:rPr>
              <a:t>Seidl</a:t>
            </a:r>
            <a:r>
              <a:rPr lang="en-US" sz="1200" dirty="0">
                <a:latin typeface="Arial" charset="0"/>
              </a:rPr>
              <a:t>, C. Meyer, A. </a:t>
            </a:r>
            <a:r>
              <a:rPr lang="en-US" sz="1200" dirty="0" err="1">
                <a:latin typeface="Arial" charset="0"/>
              </a:rPr>
              <a:t>Yappirova</a:t>
            </a:r>
            <a:r>
              <a:rPr lang="en-US" sz="1200" dirty="0">
                <a:latin typeface="Arial" charset="0"/>
              </a:rPr>
              <a:t>, R. </a:t>
            </a:r>
            <a:r>
              <a:rPr lang="en-US" sz="1200" dirty="0" err="1">
                <a:latin typeface="Arial" charset="0"/>
              </a:rPr>
              <a:t>Manasipov</a:t>
            </a:r>
            <a:r>
              <a:rPr lang="en-US" sz="1200" dirty="0">
                <a:latin typeface="Arial" charset="0"/>
              </a:rPr>
              <a:t>, R. </a:t>
            </a:r>
            <a:r>
              <a:rPr lang="en-US" sz="1200" dirty="0" err="1">
                <a:latin typeface="Arial" charset="0"/>
              </a:rPr>
              <a:t>Annewandter</a:t>
            </a:r>
            <a:r>
              <a:rPr lang="en-US" sz="1200" dirty="0">
                <a:latin typeface="Arial" charset="0"/>
              </a:rPr>
              <a:t>, Qi Shao, </a:t>
            </a:r>
            <a:r>
              <a:rPr lang="en-US" sz="1200" dirty="0" err="1">
                <a:latin typeface="Arial" charset="0"/>
              </a:rPr>
              <a:t>Luat</a:t>
            </a:r>
            <a:r>
              <a:rPr lang="en-US" sz="1200" dirty="0">
                <a:latin typeface="Arial" charset="0"/>
              </a:rPr>
              <a:t> Khoa Tran, </a:t>
            </a:r>
            <a:r>
              <a:rPr lang="en-US" sz="1200" dirty="0" err="1">
                <a:latin typeface="Arial" charset="0"/>
              </a:rPr>
              <a:t>Edoardo</a:t>
            </a:r>
            <a:r>
              <a:rPr lang="en-US" sz="1200" dirty="0">
                <a:latin typeface="Arial" charset="0"/>
              </a:rPr>
              <a:t> </a:t>
            </a:r>
            <a:r>
              <a:rPr lang="en-US" sz="1200" dirty="0" err="1">
                <a:latin typeface="Arial" charset="0"/>
              </a:rPr>
              <a:t>Pezzuli</a:t>
            </a:r>
            <a:r>
              <a:rPr lang="en-US" sz="1200" dirty="0">
                <a:latin typeface="Arial" charset="0"/>
              </a:rPr>
              <a:t>, </a:t>
            </a:r>
            <a:r>
              <a:rPr lang="en-US" sz="1200" dirty="0" err="1">
                <a:latin typeface="Arial" charset="0"/>
              </a:rPr>
              <a:t>Anlor</a:t>
            </a:r>
            <a:r>
              <a:rPr lang="en-US" sz="1200" dirty="0">
                <a:latin typeface="Arial" charset="0"/>
              </a:rPr>
              <a:t> </a:t>
            </a:r>
            <a:r>
              <a:rPr lang="en-US" sz="1200" dirty="0" err="1">
                <a:latin typeface="Arial" charset="0"/>
              </a:rPr>
              <a:t>Tertois</a:t>
            </a:r>
            <a:r>
              <a:rPr lang="en-US" sz="1200" dirty="0">
                <a:latin typeface="Arial" charset="0"/>
              </a:rPr>
              <a:t>…</a:t>
            </a:r>
          </a:p>
        </p:txBody>
      </p:sp>
      <p:sp>
        <p:nvSpPr>
          <p:cNvPr id="7" name="Slide Number Placeholder 6"/>
          <p:cNvSpPr>
            <a:spLocks noGrp="1"/>
          </p:cNvSpPr>
          <p:nvPr>
            <p:ph type="sldNum" sz="quarter" idx="12"/>
          </p:nvPr>
        </p:nvSpPr>
        <p:spPr/>
        <p:txBody>
          <a:bodyPr/>
          <a:lstStyle/>
          <a:p>
            <a:fld id="{223FD816-CC6A-BF43-8241-637E3E7EAA5A}" type="slidenum">
              <a:rPr lang="en-US" smtClean="0"/>
              <a:pPr/>
              <a:t>8</a:t>
            </a:fld>
            <a:endParaRPr lang="en-US" dirty="0"/>
          </a:p>
        </p:txBody>
      </p:sp>
    </p:spTree>
    <p:extLst>
      <p:ext uri="{BB962C8B-B14F-4D97-AF65-F5344CB8AC3E}">
        <p14:creationId xmlns:p14="http://schemas.microsoft.com/office/powerpoint/2010/main" val="3758287529"/>
      </p:ext>
    </p:extLst>
  </p:cSld>
  <p:clrMapOvr>
    <a:masterClrMapping/>
  </p:clrMapOvr>
  <p:transition advTm="150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116632"/>
            <a:ext cx="9073008" cy="914400"/>
          </a:xfrm>
        </p:spPr>
        <p:txBody>
          <a:bodyPr>
            <a:normAutofit fontScale="90000"/>
          </a:bodyPr>
          <a:lstStyle/>
          <a:p>
            <a:pPr algn="ctr"/>
            <a:r>
              <a:rPr lang="en-US" dirty="0"/>
              <a:t>Motivation for a Complex Systems </a:t>
            </a:r>
            <a:r>
              <a:rPr lang="en-US" dirty="0" err="1"/>
              <a:t>Modelling</a:t>
            </a:r>
            <a:r>
              <a:rPr lang="en-US" dirty="0"/>
              <a:t> Platform</a:t>
            </a:r>
          </a:p>
        </p:txBody>
      </p:sp>
      <p:sp>
        <p:nvSpPr>
          <p:cNvPr id="3" name="Date Placeholder 2"/>
          <p:cNvSpPr>
            <a:spLocks noGrp="1"/>
          </p:cNvSpPr>
          <p:nvPr>
            <p:ph type="dt" sz="half" idx="10"/>
          </p:nvPr>
        </p:nvSpPr>
        <p:spPr/>
        <p:txBody>
          <a:bodyPr/>
          <a:lstStyle/>
          <a:p>
            <a:fld id="{C1762EE7-3E26-8344-9AFB-A62088F617B5}" type="datetime1">
              <a:rPr lang="en-US" smtClean="0"/>
              <a:pPr/>
              <a:t>5/2/24</a:t>
            </a:fld>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9</a:t>
            </a:fld>
            <a:endParaRPr lang="en-US"/>
          </a:p>
        </p:txBody>
      </p:sp>
      <p:sp>
        <p:nvSpPr>
          <p:cNvPr id="6" name="Rectangle 5"/>
          <p:cNvSpPr/>
          <p:nvPr/>
        </p:nvSpPr>
        <p:spPr>
          <a:xfrm>
            <a:off x="228600" y="1194987"/>
            <a:ext cx="8686800" cy="5020178"/>
          </a:xfrm>
          <a:prstGeom prst="rect">
            <a:avLst/>
          </a:prstGeom>
        </p:spPr>
        <p:txBody>
          <a:bodyPr wrap="square">
            <a:spAutoFit/>
          </a:bodyPr>
          <a:lstStyle/>
          <a:p>
            <a:pPr algn="l">
              <a:lnSpc>
                <a:spcPts val="2000"/>
              </a:lnSpc>
              <a:spcBef>
                <a:spcPts val="500"/>
              </a:spcBef>
              <a:spcAft>
                <a:spcPts val="900"/>
              </a:spcAft>
            </a:pPr>
            <a:r>
              <a:rPr lang="en-US" sz="1800" b="1" dirty="0">
                <a:solidFill>
                  <a:srgbClr val="000000"/>
                </a:solidFill>
                <a:latin typeface="Arial" charset="0"/>
                <a:ea typeface="ＭＳ Ｐゴシック"/>
                <a:cs typeface="Arial Narrow"/>
              </a:rPr>
              <a:t>US NSF Blue Ribbon Panel, WTAC, PITAC on Simulation-Guided Engineering of Complex Systems (SGECS): </a:t>
            </a:r>
          </a:p>
          <a:p>
            <a:pPr marL="625475" algn="l">
              <a:lnSpc>
                <a:spcPts val="2000"/>
              </a:lnSpc>
              <a:spcBef>
                <a:spcPts val="500"/>
              </a:spcBef>
              <a:spcAft>
                <a:spcPts val="900"/>
              </a:spcAft>
            </a:pPr>
            <a:r>
              <a:rPr lang="en-US" sz="1800" dirty="0">
                <a:solidFill>
                  <a:srgbClr val="000090"/>
                </a:solidFill>
                <a:latin typeface="Arial" charset="0"/>
                <a:ea typeface="ＭＳ Ｐゴシック"/>
                <a:cs typeface="Arial Narrow"/>
              </a:rPr>
              <a:t>“</a:t>
            </a:r>
            <a:r>
              <a:rPr lang="en-US" sz="1800" b="1" dirty="0">
                <a:solidFill>
                  <a:srgbClr val="000090"/>
                </a:solidFill>
                <a:latin typeface="Arial" charset="0"/>
                <a:ea typeface="ＭＳ Ｐゴシック"/>
                <a:cs typeface="Arial Narrow"/>
              </a:rPr>
              <a:t>today we cannot tolerate any view of nature that partitions phenomena into neat categories of scale</a:t>
            </a:r>
            <a:r>
              <a:rPr lang="en-US" sz="1800" dirty="0">
                <a:solidFill>
                  <a:srgbClr val="000090"/>
                </a:solidFill>
                <a:latin typeface="Arial" charset="0"/>
                <a:ea typeface="ＭＳ Ｐゴシック"/>
                <a:cs typeface="Arial Narrow"/>
              </a:rPr>
              <a:t>”</a:t>
            </a:r>
            <a:r>
              <a:rPr lang="en-US" sz="1800" dirty="0">
                <a:solidFill>
                  <a:srgbClr val="000000"/>
                </a:solidFill>
                <a:latin typeface="Arial" charset="0"/>
                <a:ea typeface="ＭＳ Ｐゴシック"/>
                <a:cs typeface="Arial Narrow"/>
              </a:rPr>
              <a:t> </a:t>
            </a:r>
          </a:p>
          <a:p>
            <a:pPr marL="625475" algn="l">
              <a:lnSpc>
                <a:spcPts val="2000"/>
              </a:lnSpc>
              <a:spcBef>
                <a:spcPts val="500"/>
              </a:spcBef>
              <a:spcAft>
                <a:spcPts val="900"/>
              </a:spcAft>
            </a:pPr>
            <a:r>
              <a:rPr lang="en-US" sz="1800" b="1" dirty="0">
                <a:solidFill>
                  <a:srgbClr val="000000"/>
                </a:solidFill>
                <a:latin typeface="Arial" charset="0"/>
                <a:ea typeface="ＭＳ Ｐゴシック"/>
                <a:cs typeface="Arial Narrow"/>
              </a:rPr>
              <a:t>but: </a:t>
            </a:r>
            <a:r>
              <a:rPr lang="en-US" sz="1800" b="1" dirty="0">
                <a:solidFill>
                  <a:srgbClr val="FF0000"/>
                </a:solidFill>
                <a:latin typeface="Arial" charset="0"/>
                <a:ea typeface="ＭＳ Ｐゴシック"/>
                <a:cs typeface="Arial Narrow"/>
              </a:rPr>
              <a:t>“…much of our current software in computational engineering science is inadequate for dealing with the multifaceted challenges of SGECS.“ </a:t>
            </a:r>
          </a:p>
          <a:p>
            <a:pPr marL="625475" algn="l">
              <a:lnSpc>
                <a:spcPts val="2000"/>
              </a:lnSpc>
              <a:spcBef>
                <a:spcPts val="500"/>
              </a:spcBef>
              <a:spcAft>
                <a:spcPts val="900"/>
              </a:spcAft>
            </a:pPr>
            <a:r>
              <a:rPr lang="en-US" sz="1800" b="1" dirty="0">
                <a:solidFill>
                  <a:srgbClr val="FF0000"/>
                </a:solidFill>
                <a:latin typeface="Arial" charset="0"/>
                <a:ea typeface="ＭＳ Ｐゴシック"/>
                <a:cs typeface="ＭＳ Ｐゴシック"/>
              </a:rPr>
              <a:t>“…will require the creation of interdisciplinary teams that work together on leading-edge simulation problems.“ </a:t>
            </a:r>
          </a:p>
          <a:p>
            <a:pPr marL="625475" algn="l">
              <a:lnSpc>
                <a:spcPts val="2000"/>
              </a:lnSpc>
              <a:spcBef>
                <a:spcPts val="500"/>
              </a:spcBef>
              <a:spcAft>
                <a:spcPts val="900"/>
              </a:spcAft>
            </a:pPr>
            <a:r>
              <a:rPr lang="en-US" sz="1800" dirty="0">
                <a:solidFill>
                  <a:srgbClr val="FF0000"/>
                </a:solidFill>
                <a:latin typeface="Arial" charset="0"/>
                <a:ea typeface="ＭＳ Ｐゴシック"/>
                <a:cs typeface="ＭＳ Ｐゴシック"/>
              </a:rPr>
              <a:t>“We must </a:t>
            </a:r>
            <a:r>
              <a:rPr lang="en-US" sz="1800" b="1" dirty="0">
                <a:solidFill>
                  <a:srgbClr val="FF0000"/>
                </a:solidFill>
                <a:latin typeface="Arial" charset="0"/>
                <a:ea typeface="ＭＳ Ｐゴシック"/>
                <a:cs typeface="ＭＳ Ｐゴシック"/>
              </a:rPr>
              <a:t>overhaul our education system </a:t>
            </a:r>
            <a:r>
              <a:rPr lang="en-US" sz="1800" dirty="0">
                <a:solidFill>
                  <a:srgbClr val="FF0000"/>
                </a:solidFill>
                <a:latin typeface="Arial" charset="0"/>
                <a:ea typeface="ＭＳ Ｐゴシック"/>
                <a:cs typeface="ＭＳ Ｐゴシック"/>
              </a:rPr>
              <a:t>to foster the interdisciplinary study that SGECS requires.“ </a:t>
            </a:r>
            <a:endParaRPr lang="en-US" sz="1800" dirty="0">
              <a:solidFill>
                <a:srgbClr val="000000"/>
              </a:solidFill>
              <a:latin typeface="Arial" charset="0"/>
              <a:ea typeface="ＭＳ Ｐゴシック"/>
              <a:cs typeface="Arial Narrow"/>
            </a:endParaRPr>
          </a:p>
          <a:p>
            <a:pPr algn="l">
              <a:lnSpc>
                <a:spcPts val="2000"/>
              </a:lnSpc>
              <a:spcBef>
                <a:spcPts val="500"/>
              </a:spcBef>
              <a:spcAft>
                <a:spcPts val="900"/>
              </a:spcAft>
            </a:pPr>
            <a:r>
              <a:rPr lang="en-US" sz="1800" dirty="0">
                <a:solidFill>
                  <a:srgbClr val="000000"/>
                </a:solidFill>
                <a:latin typeface="Arial" charset="0"/>
                <a:ea typeface="ＭＳ Ｐゴシック"/>
                <a:cs typeface="Arial Narrow"/>
              </a:rPr>
              <a:t>The promise of Simulation-Guided Engineering: </a:t>
            </a:r>
          </a:p>
          <a:p>
            <a:pPr marL="285750" indent="-285750" algn="l">
              <a:lnSpc>
                <a:spcPts val="2000"/>
              </a:lnSpc>
              <a:spcBef>
                <a:spcPts val="500"/>
              </a:spcBef>
              <a:spcAft>
                <a:spcPts val="900"/>
              </a:spcAft>
              <a:buFont typeface="Arial"/>
              <a:buChar char="•"/>
            </a:pPr>
            <a:r>
              <a:rPr lang="en-US" sz="1800" dirty="0">
                <a:solidFill>
                  <a:srgbClr val="000000"/>
                </a:solidFill>
                <a:latin typeface="Arial" charset="0"/>
                <a:ea typeface="ＭＳ Ｐゴシック"/>
                <a:cs typeface="Arial Narrow"/>
              </a:rPr>
              <a:t>“</a:t>
            </a:r>
            <a:r>
              <a:rPr lang="en-US" sz="1800" b="1" dirty="0">
                <a:solidFill>
                  <a:srgbClr val="000000"/>
                </a:solidFill>
                <a:latin typeface="Arial" charset="0"/>
                <a:ea typeface="ＭＳ Ｐゴシック"/>
                <a:cs typeface="Arial Narrow"/>
              </a:rPr>
              <a:t>to elevate decision-making from a practice relying on simple interpolative models to a more rigorous science based on high-fidelity predictive simulation</a:t>
            </a:r>
            <a:r>
              <a:rPr lang="en-US" sz="1800" dirty="0">
                <a:solidFill>
                  <a:srgbClr val="000000"/>
                </a:solidFill>
                <a:latin typeface="Arial" charset="0"/>
                <a:ea typeface="ＭＳ Ｐゴシック"/>
                <a:cs typeface="Arial Narrow"/>
              </a:rPr>
              <a:t>“</a:t>
            </a:r>
          </a:p>
        </p:txBody>
      </p:sp>
      <p:sp>
        <p:nvSpPr>
          <p:cNvPr id="7" name="Footer Placeholder 6"/>
          <p:cNvSpPr>
            <a:spLocks noGrp="1"/>
          </p:cNvSpPr>
          <p:nvPr>
            <p:ph type="ftr" sz="quarter" idx="11"/>
          </p:nvPr>
        </p:nvSpPr>
        <p:spPr>
          <a:xfrm>
            <a:off x="3124200" y="6492875"/>
            <a:ext cx="2895600" cy="365125"/>
          </a:xfrm>
        </p:spPr>
        <p:txBody>
          <a:bodyPr/>
          <a:lstStyle/>
          <a:p>
            <a:r>
              <a:rPr lang="en-US" dirty="0"/>
              <a:t>Overview</a:t>
            </a:r>
          </a:p>
        </p:txBody>
      </p:sp>
    </p:spTree>
    <p:extLst>
      <p:ext uri="{BB962C8B-B14F-4D97-AF65-F5344CB8AC3E}">
        <p14:creationId xmlns:p14="http://schemas.microsoft.com/office/powerpoint/2010/main" val="474426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08214" y="188640"/>
            <a:ext cx="8214197" cy="669860"/>
          </a:xfrm>
        </p:spPr>
        <p:txBody>
          <a:bodyPr/>
          <a:lstStyle/>
          <a:p>
            <a:r>
              <a:rPr lang="en-GB" sz="3200" dirty="0"/>
              <a:t>A new simulation toolkit</a:t>
            </a:r>
            <a:endParaRPr lang="en-GB" sz="3200" dirty="0">
              <a:solidFill>
                <a:schemeClr val="accent1">
                  <a:lumMod val="50000"/>
                </a:schemeClr>
              </a:solidFill>
            </a:endParaRPr>
          </a:p>
        </p:txBody>
      </p:sp>
      <p:sp>
        <p:nvSpPr>
          <p:cNvPr id="6" name="Text Placeholder 5"/>
          <p:cNvSpPr>
            <a:spLocks noGrp="1"/>
          </p:cNvSpPr>
          <p:nvPr>
            <p:ph type="body" sz="half" idx="1"/>
          </p:nvPr>
        </p:nvSpPr>
        <p:spPr>
          <a:xfrm>
            <a:off x="362848" y="986595"/>
            <a:ext cx="3972227" cy="5566605"/>
          </a:xfrm>
        </p:spPr>
        <p:txBody>
          <a:bodyPr/>
          <a:lstStyle/>
          <a:p>
            <a:pPr marL="0" indent="0">
              <a:spcBef>
                <a:spcPts val="300"/>
              </a:spcBef>
              <a:spcAft>
                <a:spcPts val="300"/>
              </a:spcAft>
              <a:buNone/>
            </a:pPr>
            <a:r>
              <a:rPr lang="en-GB" sz="2000" b="1" dirty="0"/>
              <a:t>Simulation limitations</a:t>
            </a:r>
          </a:p>
          <a:p>
            <a:pPr marL="182563" indent="-182563">
              <a:spcBef>
                <a:spcPts val="200"/>
              </a:spcBef>
              <a:spcAft>
                <a:spcPts val="500"/>
              </a:spcAft>
            </a:pPr>
            <a:r>
              <a:rPr lang="en-GB" sz="1800" dirty="0"/>
              <a:t>Lack of geometrical flexibility (faults, pinch-outs, large aspect ratio features)</a:t>
            </a:r>
          </a:p>
          <a:p>
            <a:pPr marL="182563" indent="-182563">
              <a:spcBef>
                <a:spcPts val="200"/>
              </a:spcBef>
              <a:spcAft>
                <a:spcPts val="500"/>
              </a:spcAft>
            </a:pPr>
            <a:r>
              <a:rPr lang="en-GB" sz="1800" dirty="0"/>
              <a:t>Implicit wells</a:t>
            </a:r>
            <a:endParaRPr lang="en-GB" sz="1400" dirty="0"/>
          </a:p>
          <a:p>
            <a:pPr marL="182563" indent="-182563">
              <a:spcBef>
                <a:spcPts val="200"/>
              </a:spcBef>
              <a:spcAft>
                <a:spcPts val="500"/>
              </a:spcAft>
            </a:pPr>
            <a:r>
              <a:rPr lang="en-GB" sz="1800" dirty="0"/>
              <a:t>1D 2-point flux approximations</a:t>
            </a:r>
            <a:endParaRPr lang="en-GB" sz="800" dirty="0"/>
          </a:p>
          <a:p>
            <a:pPr marL="182563" indent="-182563">
              <a:spcBef>
                <a:spcPts val="200"/>
              </a:spcBef>
              <a:spcAft>
                <a:spcPts val="500"/>
              </a:spcAft>
            </a:pPr>
            <a:r>
              <a:rPr lang="en-GB" sz="1800" dirty="0"/>
              <a:t>Transmissibility multipliers</a:t>
            </a:r>
          </a:p>
          <a:p>
            <a:pPr marL="182563" indent="-182563">
              <a:spcBef>
                <a:spcPts val="200"/>
              </a:spcBef>
              <a:spcAft>
                <a:spcPts val="500"/>
              </a:spcAft>
            </a:pPr>
            <a:r>
              <a:rPr lang="en-GB" sz="1800" dirty="0"/>
              <a:t>Slow global time-stepping</a:t>
            </a:r>
          </a:p>
          <a:p>
            <a:pPr marL="182563" indent="-182563">
              <a:spcBef>
                <a:spcPts val="200"/>
              </a:spcBef>
              <a:spcAft>
                <a:spcPts val="500"/>
              </a:spcAft>
            </a:pPr>
            <a:r>
              <a:rPr lang="en-GB" sz="1800" dirty="0"/>
              <a:t>Smeared material interfaces</a:t>
            </a:r>
            <a:endParaRPr lang="en-GB" sz="1000" dirty="0"/>
          </a:p>
          <a:p>
            <a:pPr marL="182563" indent="-182563">
              <a:spcBef>
                <a:spcPts val="200"/>
              </a:spcBef>
              <a:spcAft>
                <a:spcPts val="500"/>
              </a:spcAft>
            </a:pPr>
            <a:r>
              <a:rPr lang="en-GB" sz="1800" dirty="0"/>
              <a:t>Slow solvers, especially </a:t>
            </a:r>
            <a:r>
              <a:rPr lang="en-GB" sz="1800" dirty="0" err="1"/>
              <a:t>w.r.t</a:t>
            </a:r>
            <a:r>
              <a:rPr lang="en-GB" sz="1800" dirty="0"/>
              <a:t>. </a:t>
            </a:r>
            <a:r>
              <a:rPr lang="en-GB" sz="1800" dirty="0" err="1"/>
              <a:t>geomechanics</a:t>
            </a:r>
            <a:r>
              <a:rPr lang="en-GB" sz="1800" dirty="0"/>
              <a:t> </a:t>
            </a:r>
          </a:p>
          <a:p>
            <a:pPr marL="182563" indent="-182563">
              <a:spcBef>
                <a:spcPts val="200"/>
              </a:spcBef>
              <a:spcAft>
                <a:spcPts val="500"/>
              </a:spcAft>
            </a:pPr>
            <a:r>
              <a:rPr lang="en-GB" sz="1800" dirty="0"/>
              <a:t>Inability to do multiphysics</a:t>
            </a:r>
          </a:p>
          <a:p>
            <a:pPr marL="182563" indent="-182563">
              <a:spcBef>
                <a:spcPts val="200"/>
              </a:spcBef>
              <a:spcAft>
                <a:spcPts val="500"/>
              </a:spcAft>
            </a:pPr>
            <a:r>
              <a:rPr lang="en-GB" sz="1800" dirty="0"/>
              <a:t>Scale-dependent empirical constitute relationships</a:t>
            </a:r>
          </a:p>
          <a:p>
            <a:pPr marL="182563" indent="-182563">
              <a:spcBef>
                <a:spcPts val="200"/>
              </a:spcBef>
              <a:spcAft>
                <a:spcPts val="500"/>
              </a:spcAft>
            </a:pPr>
            <a:r>
              <a:rPr lang="en-GB" sz="1800" dirty="0"/>
              <a:t>No error estimates nor target error specification</a:t>
            </a:r>
          </a:p>
          <a:p>
            <a:pPr>
              <a:spcBef>
                <a:spcPts val="300"/>
              </a:spcBef>
              <a:spcAft>
                <a:spcPts val="300"/>
              </a:spcAft>
            </a:pPr>
            <a:endParaRPr lang="en-GB" sz="1800" dirty="0"/>
          </a:p>
        </p:txBody>
      </p:sp>
      <p:sp>
        <p:nvSpPr>
          <p:cNvPr id="8" name="Text Placeholder 5"/>
          <p:cNvSpPr txBox="1">
            <a:spLocks/>
          </p:cNvSpPr>
          <p:nvPr/>
        </p:nvSpPr>
        <p:spPr bwMode="auto">
          <a:xfrm>
            <a:off x="4468756" y="934985"/>
            <a:ext cx="4401915" cy="55666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30000"/>
              </a:spcAft>
              <a:buChar char="•"/>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30000"/>
              </a:spcAft>
              <a:buChar char="–"/>
              <a:defRPr sz="2000">
                <a:solidFill>
                  <a:schemeClr val="tx1"/>
                </a:solidFill>
                <a:latin typeface="+mn-lt"/>
                <a:ea typeface="ＭＳ Ｐゴシック" charset="-128"/>
              </a:defRPr>
            </a:lvl2pPr>
            <a:lvl3pPr marL="1143000" indent="-228600" algn="l" rtl="0" eaLnBrk="0" fontAlgn="base" hangingPunct="0">
              <a:spcBef>
                <a:spcPct val="20000"/>
              </a:spcBef>
              <a:spcAft>
                <a:spcPct val="30000"/>
              </a:spcAft>
              <a:buChar char="•"/>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Times" charset="0"/>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Times" charset="0"/>
                <a:ea typeface="ＭＳ Ｐゴシック" charset="-128"/>
              </a:defRPr>
            </a:lvl5pPr>
            <a:lvl6pPr marL="2514600" indent="-228600" algn="l" rtl="0" eaLnBrk="0" fontAlgn="base" hangingPunct="0">
              <a:spcBef>
                <a:spcPct val="20000"/>
              </a:spcBef>
              <a:spcAft>
                <a:spcPct val="0"/>
              </a:spcAft>
              <a:buChar char="»"/>
              <a:defRPr sz="2000">
                <a:solidFill>
                  <a:schemeClr val="tx1"/>
                </a:solidFill>
                <a:latin typeface="Times" charset="0"/>
                <a:ea typeface="ＭＳ Ｐゴシック" charset="-128"/>
              </a:defRPr>
            </a:lvl6pPr>
            <a:lvl7pPr marL="2971800" indent="-228600" algn="l" rtl="0" eaLnBrk="0" fontAlgn="base" hangingPunct="0">
              <a:spcBef>
                <a:spcPct val="20000"/>
              </a:spcBef>
              <a:spcAft>
                <a:spcPct val="0"/>
              </a:spcAft>
              <a:buChar char="»"/>
              <a:defRPr sz="2000">
                <a:solidFill>
                  <a:schemeClr val="tx1"/>
                </a:solidFill>
                <a:latin typeface="Times" charset="0"/>
                <a:ea typeface="ＭＳ Ｐゴシック" charset="-128"/>
              </a:defRPr>
            </a:lvl7pPr>
            <a:lvl8pPr marL="3429000" indent="-228600" algn="l" rtl="0" eaLnBrk="0" fontAlgn="base" hangingPunct="0">
              <a:spcBef>
                <a:spcPct val="20000"/>
              </a:spcBef>
              <a:spcAft>
                <a:spcPct val="0"/>
              </a:spcAft>
              <a:buChar char="»"/>
              <a:defRPr sz="2000">
                <a:solidFill>
                  <a:schemeClr val="tx1"/>
                </a:solidFill>
                <a:latin typeface="Times" charset="0"/>
                <a:ea typeface="ＭＳ Ｐゴシック" charset="-128"/>
              </a:defRPr>
            </a:lvl8pPr>
            <a:lvl9pPr marL="3886200" indent="-228600" algn="l" rtl="0" eaLnBrk="0" fontAlgn="base" hangingPunct="0">
              <a:spcBef>
                <a:spcPct val="20000"/>
              </a:spcBef>
              <a:spcAft>
                <a:spcPct val="0"/>
              </a:spcAft>
              <a:buChar char="»"/>
              <a:defRPr sz="2000">
                <a:solidFill>
                  <a:schemeClr val="tx1"/>
                </a:solidFill>
                <a:latin typeface="Times" charset="0"/>
                <a:ea typeface="ＭＳ Ｐゴシック" charset="-128"/>
              </a:defRPr>
            </a:lvl9pPr>
          </a:lstStyle>
          <a:p>
            <a:pPr marL="0" indent="0">
              <a:spcBef>
                <a:spcPts val="300"/>
              </a:spcBef>
              <a:spcAft>
                <a:spcPts val="300"/>
              </a:spcAft>
              <a:buNone/>
            </a:pPr>
            <a:r>
              <a:rPr lang="en-GB" b="1" dirty="0">
                <a:latin typeface="Arial"/>
                <a:cs typeface="Arial"/>
              </a:rPr>
              <a:t>Overcoming them </a:t>
            </a:r>
          </a:p>
          <a:p>
            <a:pPr marL="0" indent="0">
              <a:spcBef>
                <a:spcPts val="300"/>
              </a:spcBef>
              <a:spcAft>
                <a:spcPts val="500"/>
              </a:spcAft>
              <a:buNone/>
            </a:pPr>
            <a:r>
              <a:rPr lang="en-GB" sz="1800" dirty="0">
                <a:latin typeface="Arial"/>
                <a:cs typeface="Arial"/>
              </a:rPr>
              <a:t>Unstructured poly-element type meshes; BREPS with or without NURBS                                     </a:t>
            </a:r>
          </a:p>
          <a:p>
            <a:pPr marL="0" indent="0">
              <a:spcBef>
                <a:spcPts val="300"/>
              </a:spcBef>
              <a:spcAft>
                <a:spcPts val="500"/>
              </a:spcAft>
              <a:buNone/>
            </a:pPr>
            <a:r>
              <a:rPr lang="en-GB" sz="1800" dirty="0">
                <a:latin typeface="Arial"/>
                <a:cs typeface="Arial"/>
              </a:rPr>
              <a:t>Discrete lower-dimensional well representations</a:t>
            </a:r>
          </a:p>
          <a:p>
            <a:pPr marL="0" indent="0">
              <a:spcBef>
                <a:spcPts val="300"/>
              </a:spcBef>
              <a:spcAft>
                <a:spcPts val="500"/>
              </a:spcAft>
              <a:buNone/>
            </a:pPr>
            <a:r>
              <a:rPr lang="en-GB" sz="1800" dirty="0">
                <a:latin typeface="Arial"/>
                <a:cs typeface="Arial"/>
              </a:rPr>
              <a:t>Multidimensional fluxes obtained via FEM discretisation</a:t>
            </a:r>
          </a:p>
          <a:p>
            <a:pPr marL="0" indent="0">
              <a:spcBef>
                <a:spcPts val="300"/>
              </a:spcBef>
              <a:spcAft>
                <a:spcPts val="500"/>
              </a:spcAft>
              <a:buNone/>
            </a:pPr>
            <a:r>
              <a:rPr lang="en-GB" sz="1800" dirty="0">
                <a:latin typeface="Arial"/>
                <a:cs typeface="Arial"/>
              </a:rPr>
              <a:t>FEM-FVM hybrid simulation scheme</a:t>
            </a:r>
          </a:p>
          <a:p>
            <a:pPr marL="0" indent="0">
              <a:spcBef>
                <a:spcPts val="300"/>
              </a:spcBef>
              <a:spcAft>
                <a:spcPts val="500"/>
              </a:spcAft>
              <a:buNone/>
            </a:pPr>
            <a:r>
              <a:rPr lang="en-GB" sz="1800" dirty="0">
                <a:latin typeface="Arial"/>
                <a:cs typeface="Arial"/>
              </a:rPr>
              <a:t>Discrete Event Simulation (DES-PEP)</a:t>
            </a:r>
          </a:p>
          <a:p>
            <a:pPr marL="0" indent="0">
              <a:spcBef>
                <a:spcPts val="300"/>
              </a:spcBef>
              <a:spcAft>
                <a:spcPts val="500"/>
              </a:spcAft>
              <a:buNone/>
            </a:pPr>
            <a:r>
              <a:rPr lang="en-GB" sz="1800" dirty="0">
                <a:latin typeface="Arial"/>
                <a:cs typeface="Arial"/>
              </a:rPr>
              <a:t>Embedded discontinuity simulation (2 alternative approaches)</a:t>
            </a:r>
          </a:p>
          <a:p>
            <a:pPr marL="0" indent="0">
              <a:spcBef>
                <a:spcPts val="300"/>
              </a:spcBef>
              <a:spcAft>
                <a:spcPts val="500"/>
              </a:spcAft>
              <a:buNone/>
            </a:pPr>
            <a:r>
              <a:rPr lang="en-GB" sz="1800" dirty="0">
                <a:latin typeface="Arial"/>
                <a:cs typeface="Arial"/>
              </a:rPr>
              <a:t>GPU kernel and </a:t>
            </a:r>
            <a:r>
              <a:rPr lang="en-GB" sz="1800" dirty="0" err="1">
                <a:latin typeface="Arial"/>
                <a:cs typeface="Arial"/>
              </a:rPr>
              <a:t>SAMGp</a:t>
            </a:r>
            <a:r>
              <a:rPr lang="en-GB" sz="1800" dirty="0">
                <a:latin typeface="Arial"/>
                <a:cs typeface="Arial"/>
              </a:rPr>
              <a:t>, embedded simulation, </a:t>
            </a:r>
          </a:p>
          <a:p>
            <a:pPr marL="0" indent="0">
              <a:spcBef>
                <a:spcPts val="300"/>
              </a:spcBef>
              <a:spcAft>
                <a:spcPts val="500"/>
              </a:spcAft>
              <a:buNone/>
            </a:pPr>
            <a:r>
              <a:rPr lang="en-GB" sz="1800" dirty="0">
                <a:latin typeface="Arial"/>
                <a:cs typeface="Arial"/>
              </a:rPr>
              <a:t>Single THMC framework</a:t>
            </a:r>
          </a:p>
          <a:p>
            <a:pPr marL="0" indent="0">
              <a:spcBef>
                <a:spcPts val="300"/>
              </a:spcBef>
              <a:spcAft>
                <a:spcPts val="500"/>
              </a:spcAft>
              <a:buNone/>
            </a:pPr>
            <a:r>
              <a:rPr lang="en-GB" sz="1800" dirty="0">
                <a:latin typeface="Arial"/>
                <a:cs typeface="Arial"/>
              </a:rPr>
              <a:t>Error metric and dynamic </a:t>
            </a:r>
            <a:r>
              <a:rPr lang="en-GB" sz="1800" dirty="0" err="1">
                <a:latin typeface="Arial"/>
                <a:cs typeface="Arial"/>
              </a:rPr>
              <a:t>adaptivity</a:t>
            </a:r>
            <a:r>
              <a:rPr lang="en-GB" sz="1800" dirty="0">
                <a:latin typeface="Arial"/>
                <a:cs typeface="Arial"/>
              </a:rPr>
              <a:t> + data model for goal-based simulation </a:t>
            </a:r>
          </a:p>
        </p:txBody>
      </p:sp>
      <p:cxnSp>
        <p:nvCxnSpPr>
          <p:cNvPr id="3" name="Straight Arrow Connector 2"/>
          <p:cNvCxnSpPr/>
          <p:nvPr/>
        </p:nvCxnSpPr>
        <p:spPr bwMode="auto">
          <a:xfrm>
            <a:off x="3886200" y="1676400"/>
            <a:ext cx="609600" cy="0"/>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11" name="Straight Arrow Connector 10"/>
          <p:cNvCxnSpPr/>
          <p:nvPr/>
        </p:nvCxnSpPr>
        <p:spPr bwMode="auto">
          <a:xfrm flipV="1">
            <a:off x="2133600" y="2362200"/>
            <a:ext cx="2362200" cy="152400"/>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13" name="Straight Arrow Connector 12"/>
          <p:cNvCxnSpPr/>
          <p:nvPr/>
        </p:nvCxnSpPr>
        <p:spPr bwMode="auto">
          <a:xfrm>
            <a:off x="3844877" y="2829653"/>
            <a:ext cx="609600" cy="0"/>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14" name="Straight Arrow Connector 13"/>
          <p:cNvCxnSpPr/>
          <p:nvPr/>
        </p:nvCxnSpPr>
        <p:spPr bwMode="auto">
          <a:xfrm>
            <a:off x="3373058" y="3229575"/>
            <a:ext cx="1157910" cy="214223"/>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16" name="Straight Arrow Connector 15"/>
          <p:cNvCxnSpPr/>
          <p:nvPr/>
        </p:nvCxnSpPr>
        <p:spPr bwMode="auto">
          <a:xfrm>
            <a:off x="3276600" y="3581400"/>
            <a:ext cx="1189794" cy="260587"/>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18" name="Straight Arrow Connector 17"/>
          <p:cNvCxnSpPr/>
          <p:nvPr/>
        </p:nvCxnSpPr>
        <p:spPr bwMode="auto">
          <a:xfrm>
            <a:off x="3581400" y="3962400"/>
            <a:ext cx="917281" cy="267014"/>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20" name="Straight Arrow Connector 19"/>
          <p:cNvCxnSpPr/>
          <p:nvPr/>
        </p:nvCxnSpPr>
        <p:spPr bwMode="auto">
          <a:xfrm>
            <a:off x="2743200" y="4495800"/>
            <a:ext cx="1733956" cy="400850"/>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22" name="Straight Arrow Connector 21"/>
          <p:cNvCxnSpPr/>
          <p:nvPr/>
        </p:nvCxnSpPr>
        <p:spPr bwMode="auto">
          <a:xfrm>
            <a:off x="3352800" y="4953000"/>
            <a:ext cx="1124356" cy="546314"/>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cxnSp>
        <p:nvCxnSpPr>
          <p:cNvPr id="24" name="Straight Arrow Connector 23"/>
          <p:cNvCxnSpPr/>
          <p:nvPr/>
        </p:nvCxnSpPr>
        <p:spPr bwMode="auto">
          <a:xfrm flipV="1">
            <a:off x="3276600" y="6058931"/>
            <a:ext cx="1189794" cy="113269"/>
          </a:xfrm>
          <a:prstGeom prst="straightConnector1">
            <a:avLst/>
          </a:prstGeom>
          <a:solidFill>
            <a:schemeClr val="accent1"/>
          </a:solidFill>
          <a:ln w="38100" cap="flat" cmpd="sng" algn="ctr">
            <a:solidFill>
              <a:srgbClr val="000090"/>
            </a:solidFill>
            <a:prstDash val="solid"/>
            <a:round/>
            <a:headEnd type="none" w="med" len="med"/>
            <a:tailEnd type="arrow"/>
          </a:ln>
          <a:effectLst/>
        </p:spPr>
      </p:cxnSp>
      <p:sp>
        <p:nvSpPr>
          <p:cNvPr id="17" name="Date Placeholder 3"/>
          <p:cNvSpPr>
            <a:spLocks noGrp="1"/>
          </p:cNvSpPr>
          <p:nvPr>
            <p:ph type="dt" sz="half" idx="2"/>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19"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10</a:t>
            </a:fld>
            <a:endParaRPr lang="en-US" dirty="0">
              <a:solidFill>
                <a:prstClr val="white">
                  <a:lumMod val="65000"/>
                </a:prstClr>
              </a:solidFill>
              <a:ea typeface="+mn-ea"/>
            </a:endParaRPr>
          </a:p>
        </p:txBody>
      </p:sp>
      <p:sp>
        <p:nvSpPr>
          <p:cNvPr id="21" name="Footer Placeholder 6"/>
          <p:cNvSpPr>
            <a:spLocks noGrp="1"/>
          </p:cNvSpPr>
          <p:nvPr>
            <p:ph type="ftr" sz="quarter" idx="11"/>
          </p:nvPr>
        </p:nvSpPr>
        <p:spPr>
          <a:xfrm>
            <a:off x="3124200" y="6492875"/>
            <a:ext cx="2895600" cy="365125"/>
          </a:xfrm>
        </p:spPr>
        <p:txBody>
          <a:bodyPr/>
          <a:lstStyle/>
          <a:p>
            <a:endParaRPr lang="en-US" dirty="0"/>
          </a:p>
          <a:p>
            <a:r>
              <a:rPr lang="en-US" dirty="0"/>
              <a:t>Overview</a:t>
            </a:r>
          </a:p>
          <a:p>
            <a:endParaRPr lang="en-US" dirty="0"/>
          </a:p>
        </p:txBody>
      </p:sp>
    </p:spTree>
    <p:extLst>
      <p:ext uri="{BB962C8B-B14F-4D97-AF65-F5344CB8AC3E}">
        <p14:creationId xmlns:p14="http://schemas.microsoft.com/office/powerpoint/2010/main" val="1063072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1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0" y="-1"/>
            <a:ext cx="9177959" cy="6886407"/>
          </a:xfrm>
          <a:prstGeom prst="rect">
            <a:avLst/>
          </a:prstGeom>
        </p:spPr>
      </p:pic>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457200" y="914400"/>
            <a:ext cx="8229600" cy="5578475"/>
          </a:xfrm>
        </p:spPr>
        <p:txBody>
          <a:bodyPr>
            <a:normAutofit/>
          </a:bodyPr>
          <a:lstStyle/>
          <a:p>
            <a:pPr marL="457200" indent="-457200">
              <a:spcBef>
                <a:spcPts val="1300"/>
              </a:spcBef>
              <a:spcAft>
                <a:spcPts val="1800"/>
              </a:spcAft>
              <a:buFont typeface="+mj-lt"/>
              <a:buAutoNum type="arabicPeriod"/>
            </a:pPr>
            <a:r>
              <a:rPr lang="en-US" sz="2400" dirty="0"/>
              <a:t>Introduction</a:t>
            </a:r>
          </a:p>
          <a:p>
            <a:pPr marL="457200" indent="-457200">
              <a:spcBef>
                <a:spcPts val="1300"/>
              </a:spcBef>
              <a:spcAft>
                <a:spcPts val="1800"/>
              </a:spcAft>
              <a:buFont typeface="+mj-lt"/>
              <a:buAutoNum type="arabicPeriod"/>
            </a:pPr>
            <a:r>
              <a:rPr lang="en-US" sz="2400" dirty="0">
                <a:solidFill>
                  <a:srgbClr val="FFFF00"/>
                </a:solidFill>
              </a:rPr>
              <a:t>CSMP variable types and their management</a:t>
            </a:r>
          </a:p>
          <a:p>
            <a:pPr marL="457200" indent="-457200">
              <a:spcBef>
                <a:spcPts val="1300"/>
              </a:spcBef>
              <a:spcAft>
                <a:spcPts val="1800"/>
              </a:spcAft>
              <a:buFont typeface="+mj-lt"/>
              <a:buAutoNum type="arabicPeriod"/>
            </a:pPr>
            <a:r>
              <a:rPr lang="en-US" sz="2400" dirty="0"/>
              <a:t>The Model, its Regions and Boundaries</a:t>
            </a:r>
          </a:p>
          <a:p>
            <a:pPr marL="457200" indent="-457200">
              <a:spcBef>
                <a:spcPts val="1300"/>
              </a:spcBef>
              <a:spcAft>
                <a:spcPts val="1800"/>
              </a:spcAft>
              <a:buFont typeface="+mj-lt"/>
              <a:buAutoNum type="arabicPeriod"/>
            </a:pPr>
            <a:r>
              <a:rPr lang="en-US" sz="2400" dirty="0"/>
              <a:t>Hybrid finite element – finite volume discretization</a:t>
            </a:r>
          </a:p>
          <a:p>
            <a:pPr marL="457200" indent="-457200">
              <a:spcBef>
                <a:spcPts val="1300"/>
              </a:spcBef>
              <a:spcAft>
                <a:spcPts val="1800"/>
              </a:spcAft>
              <a:buFont typeface="+mj-lt"/>
              <a:buAutoNum type="arabicPeriod"/>
            </a:pPr>
            <a:r>
              <a:rPr lang="en-US" sz="2400" dirty="0"/>
              <a:t>Solving PDE’s: the </a:t>
            </a:r>
            <a:r>
              <a:rPr lang="en-US" sz="2400" dirty="0" err="1"/>
              <a:t>PDE_Integrator</a:t>
            </a:r>
            <a:r>
              <a:rPr lang="en-US" sz="2400" dirty="0"/>
              <a:t> framework</a:t>
            </a:r>
          </a:p>
          <a:p>
            <a:pPr marL="457200" indent="-457200">
              <a:spcBef>
                <a:spcPts val="1300"/>
              </a:spcBef>
              <a:spcAft>
                <a:spcPts val="1800"/>
              </a:spcAft>
              <a:buFont typeface="+mj-lt"/>
              <a:buAutoNum type="arabicPeriod"/>
            </a:pPr>
            <a:r>
              <a:rPr lang="en-US" sz="2400" dirty="0"/>
              <a:t>Constitutive relationships: Visitors etc.</a:t>
            </a:r>
          </a:p>
          <a:p>
            <a:pPr marL="457200" indent="-457200">
              <a:spcBef>
                <a:spcPts val="1300"/>
              </a:spcBef>
              <a:spcAft>
                <a:spcPts val="1800"/>
              </a:spcAft>
              <a:buFont typeface="+mj-lt"/>
              <a:buAutoNum type="arabicPeriod"/>
            </a:pPr>
            <a:r>
              <a:rPr lang="en-US" sz="2400" dirty="0"/>
              <a:t>Advanced topics</a:t>
            </a:r>
          </a:p>
          <a:p>
            <a:pPr marL="457200" indent="-457200">
              <a:spcBef>
                <a:spcPts val="1300"/>
              </a:spcBef>
              <a:spcAft>
                <a:spcPts val="1800"/>
              </a:spcAft>
              <a:buFont typeface="+mj-lt"/>
              <a:buAutoNum type="arabicPeriod"/>
            </a:pPr>
            <a:endParaRPr lang="en-US" sz="2400"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a:xfrm>
            <a:off x="3124200" y="6492875"/>
            <a:ext cx="3464024" cy="365125"/>
          </a:xfrm>
        </p:spPr>
        <p:txBody>
          <a:bodyPr/>
          <a:lstStyle/>
          <a:p>
            <a:r>
              <a:rPr lang="en-US" dirty="0"/>
              <a:t>CSMP++ API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11</a:t>
            </a:fld>
            <a:endParaRPr lang="en-US"/>
          </a:p>
        </p:txBody>
      </p:sp>
    </p:spTree>
    <p:extLst>
      <p:ext uri="{BB962C8B-B14F-4D97-AF65-F5344CB8AC3E}">
        <p14:creationId xmlns:p14="http://schemas.microsoft.com/office/powerpoint/2010/main" val="1382668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Oval 55"/>
          <p:cNvSpPr/>
          <p:nvPr/>
        </p:nvSpPr>
        <p:spPr>
          <a:xfrm>
            <a:off x="4690559" y="4005064"/>
            <a:ext cx="4345937" cy="161563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19185"/>
            <a:ext cx="4246972" cy="1082354"/>
          </a:xfrm>
        </p:spPr>
        <p:txBody>
          <a:bodyPr>
            <a:normAutofit/>
          </a:bodyPr>
          <a:lstStyle/>
          <a:p>
            <a:pPr algn="ctr"/>
            <a:r>
              <a:rPr lang="en-US" dirty="0"/>
              <a:t>CSMP </a:t>
            </a:r>
            <a:r>
              <a:rPr lang="en-US" dirty="0" err="1"/>
              <a:t>organisation</a:t>
            </a:r>
            <a:endParaRPr lang="en-US"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CSMP++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12</a:t>
            </a:fld>
            <a:endParaRPr lang="en-US"/>
          </a:p>
        </p:txBody>
      </p:sp>
      <p:grpSp>
        <p:nvGrpSpPr>
          <p:cNvPr id="3" name="Group 2">
            <a:extLst>
              <a:ext uri="{FF2B5EF4-FFF2-40B4-BE49-F238E27FC236}">
                <a16:creationId xmlns:a16="http://schemas.microsoft.com/office/drawing/2014/main" id="{A9DE6251-0BBB-D943-B87A-D8F9D8C60FAF}"/>
              </a:ext>
            </a:extLst>
          </p:cNvPr>
          <p:cNvGrpSpPr/>
          <p:nvPr/>
        </p:nvGrpSpPr>
        <p:grpSpPr>
          <a:xfrm>
            <a:off x="5119393" y="664312"/>
            <a:ext cx="3952895" cy="2688877"/>
            <a:chOff x="5119393" y="664312"/>
            <a:chExt cx="3952895" cy="2688877"/>
          </a:xfrm>
        </p:grpSpPr>
        <p:sp>
          <p:nvSpPr>
            <p:cNvPr id="16" name="TextBox 15"/>
            <p:cNvSpPr txBox="1"/>
            <p:nvPr/>
          </p:nvSpPr>
          <p:spPr>
            <a:xfrm>
              <a:off x="5450980" y="2085283"/>
              <a:ext cx="3515706" cy="338554"/>
            </a:xfrm>
            <a:prstGeom prst="rect">
              <a:avLst/>
            </a:prstGeom>
            <a:noFill/>
          </p:spPr>
          <p:txBody>
            <a:bodyPr wrap="none" rtlCol="0">
              <a:spAutoFit/>
            </a:bodyPr>
            <a:lstStyle/>
            <a:p>
              <a:r>
                <a:rPr lang="en-US" sz="1600" b="1" dirty="0">
                  <a:latin typeface="Arial"/>
                  <a:cs typeface="Arial"/>
                </a:rPr>
                <a:t>Node - Element – Face – </a:t>
              </a:r>
              <a:r>
                <a:rPr lang="en-US" sz="1600" b="1" dirty="0" err="1">
                  <a:latin typeface="Arial"/>
                  <a:cs typeface="Arial"/>
                </a:rPr>
                <a:t>InterFace</a:t>
              </a:r>
              <a:endParaRPr lang="en-US" sz="1600" b="1" dirty="0">
                <a:latin typeface="Arial"/>
                <a:cs typeface="Arial"/>
              </a:endParaRPr>
            </a:p>
          </p:txBody>
        </p:sp>
        <p:sp>
          <p:nvSpPr>
            <p:cNvPr id="18" name="TextBox 17"/>
            <p:cNvSpPr txBox="1"/>
            <p:nvPr/>
          </p:nvSpPr>
          <p:spPr>
            <a:xfrm>
              <a:off x="5119393" y="2768413"/>
              <a:ext cx="3952895" cy="584776"/>
            </a:xfrm>
            <a:prstGeom prst="rect">
              <a:avLst/>
            </a:prstGeom>
            <a:noFill/>
          </p:spPr>
          <p:txBody>
            <a:bodyPr wrap="square" rtlCol="0">
              <a:spAutoFit/>
            </a:bodyPr>
            <a:lstStyle/>
            <a:p>
              <a:pPr algn="ctr"/>
              <a:r>
                <a:rPr lang="en-US" sz="1600" b="1" i="1" dirty="0">
                  <a:latin typeface="Arial"/>
                  <a:cs typeface="Arial"/>
                </a:rPr>
                <a:t>finite element – finite volume functionality</a:t>
              </a:r>
            </a:p>
          </p:txBody>
        </p:sp>
        <p:sp>
          <p:nvSpPr>
            <p:cNvPr id="20" name="TextBox 19"/>
            <p:cNvSpPr txBox="1"/>
            <p:nvPr/>
          </p:nvSpPr>
          <p:spPr>
            <a:xfrm>
              <a:off x="6331072" y="2410594"/>
              <a:ext cx="1758514" cy="338554"/>
            </a:xfrm>
            <a:prstGeom prst="rect">
              <a:avLst/>
            </a:prstGeom>
            <a:noFill/>
            <a:ln w="19050" cmpd="sng">
              <a:solidFill>
                <a:schemeClr val="bg2">
                  <a:lumMod val="10000"/>
                </a:schemeClr>
              </a:solidFill>
            </a:ln>
          </p:spPr>
          <p:txBody>
            <a:bodyPr wrap="none" rtlCol="0">
              <a:spAutoFit/>
            </a:bodyPr>
            <a:lstStyle/>
            <a:p>
              <a:r>
                <a:rPr lang="en-US" sz="1600" b="1" dirty="0">
                  <a:latin typeface="Arial"/>
                  <a:cs typeface="Arial"/>
                </a:rPr>
                <a:t>variable storage </a:t>
              </a:r>
            </a:p>
          </p:txBody>
        </p:sp>
        <p:grpSp>
          <p:nvGrpSpPr>
            <p:cNvPr id="33" name="Group 32"/>
            <p:cNvGrpSpPr/>
            <p:nvPr/>
          </p:nvGrpSpPr>
          <p:grpSpPr>
            <a:xfrm>
              <a:off x="6096107" y="664312"/>
              <a:ext cx="2497030" cy="1323439"/>
              <a:chOff x="6005989" y="2060848"/>
              <a:chExt cx="2497030" cy="1323439"/>
            </a:xfrm>
          </p:grpSpPr>
          <p:sp>
            <p:nvSpPr>
              <p:cNvPr id="14" name="TextBox 13"/>
              <p:cNvSpPr txBox="1"/>
              <p:nvPr/>
            </p:nvSpPr>
            <p:spPr>
              <a:xfrm>
                <a:off x="6264906" y="2060848"/>
                <a:ext cx="2238113" cy="1323439"/>
              </a:xfrm>
              <a:prstGeom prst="rect">
                <a:avLst/>
              </a:prstGeom>
              <a:noFill/>
            </p:spPr>
            <p:txBody>
              <a:bodyPr wrap="none" rtlCol="0">
                <a:spAutoFit/>
              </a:bodyPr>
              <a:lstStyle/>
              <a:p>
                <a:r>
                  <a:rPr lang="en-US" sz="2400" b="1" dirty="0" err="1">
                    <a:latin typeface="Arial"/>
                    <a:cs typeface="Arial"/>
                  </a:rPr>
                  <a:t>MeshManager</a:t>
                </a:r>
                <a:endParaRPr lang="en-US" sz="2400" b="1" dirty="0">
                  <a:latin typeface="Arial"/>
                  <a:cs typeface="Arial"/>
                </a:endParaRPr>
              </a:p>
              <a:p>
                <a:endParaRPr lang="en-US" sz="1400" b="1" dirty="0">
                  <a:latin typeface="Arial"/>
                  <a:cs typeface="Arial"/>
                </a:endParaRPr>
              </a:p>
              <a:p>
                <a:r>
                  <a:rPr lang="en-US" sz="1400" b="1" dirty="0" err="1">
                    <a:latin typeface="Arial"/>
                    <a:cs typeface="Arial"/>
                  </a:rPr>
                  <a:t>FiniteElementManager</a:t>
                </a:r>
                <a:endParaRPr lang="en-US" sz="1400" b="1" dirty="0">
                  <a:latin typeface="Arial"/>
                  <a:cs typeface="Arial"/>
                </a:endParaRPr>
              </a:p>
              <a:p>
                <a:r>
                  <a:rPr lang="en-US" sz="1400" b="1" dirty="0" err="1">
                    <a:latin typeface="Arial"/>
                    <a:cs typeface="Arial"/>
                  </a:rPr>
                  <a:t>FiniteVolumeManager</a:t>
                </a:r>
                <a:endParaRPr lang="en-US" sz="1400" b="1" dirty="0">
                  <a:latin typeface="Arial"/>
                  <a:cs typeface="Arial"/>
                </a:endParaRPr>
              </a:p>
              <a:p>
                <a:r>
                  <a:rPr lang="en-US" sz="1400" b="1" dirty="0" err="1">
                    <a:latin typeface="Arial"/>
                    <a:cs typeface="Arial"/>
                  </a:rPr>
                  <a:t>NodeManifoldManager</a:t>
                </a:r>
                <a:endParaRPr lang="en-US" sz="1400" b="1" dirty="0">
                  <a:latin typeface="Arial"/>
                  <a:cs typeface="Arial"/>
                </a:endParaRPr>
              </a:p>
            </p:txBody>
          </p:sp>
          <p:sp>
            <p:nvSpPr>
              <p:cNvPr id="22" name="Donut 21"/>
              <p:cNvSpPr/>
              <p:nvPr/>
            </p:nvSpPr>
            <p:spPr>
              <a:xfrm>
                <a:off x="6005989" y="2060848"/>
                <a:ext cx="2497029" cy="532440"/>
              </a:xfrm>
              <a:prstGeom prst="donut">
                <a:avLst>
                  <a:gd name="adj" fmla="val 3658"/>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grpSp>
        <p:nvGrpSpPr>
          <p:cNvPr id="51" name="Group 50"/>
          <p:cNvGrpSpPr/>
          <p:nvPr/>
        </p:nvGrpSpPr>
        <p:grpSpPr>
          <a:xfrm>
            <a:off x="565212" y="1546128"/>
            <a:ext cx="3836307" cy="1512168"/>
            <a:chOff x="377110" y="1988840"/>
            <a:chExt cx="3439318" cy="1512168"/>
          </a:xfrm>
        </p:grpSpPr>
        <p:sp>
          <p:nvSpPr>
            <p:cNvPr id="15" name="TextBox 14"/>
            <p:cNvSpPr txBox="1"/>
            <p:nvPr/>
          </p:nvSpPr>
          <p:spPr>
            <a:xfrm>
              <a:off x="551689" y="2038202"/>
              <a:ext cx="2781531" cy="461665"/>
            </a:xfrm>
            <a:prstGeom prst="rect">
              <a:avLst/>
            </a:prstGeom>
            <a:noFill/>
          </p:spPr>
          <p:txBody>
            <a:bodyPr wrap="none" rtlCol="0">
              <a:spAutoFit/>
            </a:bodyPr>
            <a:lstStyle/>
            <a:p>
              <a:r>
                <a:rPr lang="en-US" sz="2400" b="1" dirty="0" err="1">
                  <a:latin typeface="Arial"/>
                  <a:cs typeface="Arial"/>
                </a:rPr>
                <a:t>ModelSubDomain</a:t>
              </a:r>
              <a:endParaRPr lang="en-US" sz="2400" b="1" dirty="0">
                <a:latin typeface="Arial"/>
                <a:cs typeface="Arial"/>
              </a:endParaRPr>
            </a:p>
          </p:txBody>
        </p:sp>
        <p:sp>
          <p:nvSpPr>
            <p:cNvPr id="17" name="TextBox 16"/>
            <p:cNvSpPr txBox="1"/>
            <p:nvPr/>
          </p:nvSpPr>
          <p:spPr>
            <a:xfrm>
              <a:off x="377110" y="2781086"/>
              <a:ext cx="3439318" cy="400110"/>
            </a:xfrm>
            <a:prstGeom prst="rect">
              <a:avLst/>
            </a:prstGeom>
            <a:noFill/>
          </p:spPr>
          <p:txBody>
            <a:bodyPr wrap="none" rtlCol="0">
              <a:spAutoFit/>
            </a:bodyPr>
            <a:lstStyle/>
            <a:p>
              <a:r>
                <a:rPr lang="en-US" sz="2000" b="1" dirty="0">
                  <a:latin typeface="Arial Narrow"/>
                  <a:cs typeface="Arial Narrow"/>
                </a:rPr>
                <a:t>Region – Boundary – </a:t>
              </a:r>
              <a:r>
                <a:rPr lang="en-US" sz="2000" b="1" dirty="0" err="1">
                  <a:latin typeface="Arial Narrow"/>
                  <a:cs typeface="Arial Narrow"/>
                </a:rPr>
                <a:t>SplitBoundary</a:t>
              </a:r>
              <a:endParaRPr lang="en-US" sz="2000" b="1" dirty="0">
                <a:latin typeface="Arial Narrow"/>
                <a:cs typeface="Arial Narrow"/>
              </a:endParaRPr>
            </a:p>
          </p:txBody>
        </p:sp>
        <p:sp>
          <p:nvSpPr>
            <p:cNvPr id="23" name="Donut 22"/>
            <p:cNvSpPr/>
            <p:nvPr/>
          </p:nvSpPr>
          <p:spPr>
            <a:xfrm>
              <a:off x="377110" y="1988840"/>
              <a:ext cx="3022292" cy="611518"/>
            </a:xfrm>
            <a:prstGeom prst="donut">
              <a:avLst>
                <a:gd name="adj" fmla="val 3658"/>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4" name="TextBox 23"/>
            <p:cNvSpPr txBox="1"/>
            <p:nvPr/>
          </p:nvSpPr>
          <p:spPr>
            <a:xfrm>
              <a:off x="1031947" y="3162454"/>
              <a:ext cx="1758514" cy="338554"/>
            </a:xfrm>
            <a:prstGeom prst="rect">
              <a:avLst/>
            </a:prstGeom>
            <a:noFill/>
            <a:ln w="19050" cmpd="sng">
              <a:solidFill>
                <a:schemeClr val="bg2">
                  <a:lumMod val="10000"/>
                </a:schemeClr>
              </a:solidFill>
            </a:ln>
          </p:spPr>
          <p:txBody>
            <a:bodyPr wrap="none" rtlCol="0">
              <a:spAutoFit/>
            </a:bodyPr>
            <a:lstStyle/>
            <a:p>
              <a:r>
                <a:rPr lang="en-US" sz="1600" b="1" dirty="0">
                  <a:latin typeface="Arial"/>
                  <a:cs typeface="Arial"/>
                </a:rPr>
                <a:t>variable storage </a:t>
              </a:r>
            </a:p>
          </p:txBody>
        </p:sp>
      </p:grpSp>
      <p:grpSp>
        <p:nvGrpSpPr>
          <p:cNvPr id="50" name="Group 49"/>
          <p:cNvGrpSpPr/>
          <p:nvPr/>
        </p:nvGrpSpPr>
        <p:grpSpPr>
          <a:xfrm>
            <a:off x="3889553" y="314162"/>
            <a:ext cx="1808606" cy="1292662"/>
            <a:chOff x="4067945" y="1052736"/>
            <a:chExt cx="1808606" cy="1292662"/>
          </a:xfrm>
        </p:grpSpPr>
        <p:sp>
          <p:nvSpPr>
            <p:cNvPr id="7" name="TextBox 6"/>
            <p:cNvSpPr txBox="1"/>
            <p:nvPr/>
          </p:nvSpPr>
          <p:spPr>
            <a:xfrm>
              <a:off x="4102320" y="1052736"/>
              <a:ext cx="1774231" cy="1292662"/>
            </a:xfrm>
            <a:prstGeom prst="rect">
              <a:avLst/>
            </a:prstGeom>
            <a:noFill/>
          </p:spPr>
          <p:txBody>
            <a:bodyPr wrap="square" rtlCol="0">
              <a:spAutoFit/>
            </a:bodyPr>
            <a:lstStyle/>
            <a:p>
              <a:pPr algn="ctr"/>
              <a:r>
                <a:rPr lang="en-US" sz="3200" b="1" dirty="0">
                  <a:latin typeface="Arial"/>
                  <a:cs typeface="Arial"/>
                </a:rPr>
                <a:t>Model</a:t>
              </a:r>
            </a:p>
            <a:p>
              <a:pPr algn="ctr"/>
              <a:endParaRPr lang="en-US" sz="3200" b="1" dirty="0">
                <a:latin typeface="Arial"/>
                <a:cs typeface="Arial"/>
              </a:endParaRPr>
            </a:p>
            <a:p>
              <a:pPr algn="ctr"/>
              <a:r>
                <a:rPr lang="en-US" sz="1400" b="1" dirty="0" err="1">
                  <a:latin typeface="Arial"/>
                  <a:cs typeface="Arial"/>
                </a:rPr>
                <a:t>PropertyDatabase</a:t>
              </a:r>
              <a:endParaRPr lang="en-US" sz="1400" b="1" dirty="0">
                <a:latin typeface="Arial"/>
                <a:cs typeface="Arial"/>
              </a:endParaRPr>
            </a:p>
          </p:txBody>
        </p:sp>
        <p:sp>
          <p:nvSpPr>
            <p:cNvPr id="21" name="Donut 20"/>
            <p:cNvSpPr/>
            <p:nvPr/>
          </p:nvSpPr>
          <p:spPr>
            <a:xfrm>
              <a:off x="4247117" y="1052736"/>
              <a:ext cx="1405003" cy="652707"/>
            </a:xfrm>
            <a:prstGeom prst="donut">
              <a:avLst>
                <a:gd name="adj" fmla="val 3658"/>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5" name="TextBox 24"/>
            <p:cNvSpPr txBox="1"/>
            <p:nvPr/>
          </p:nvSpPr>
          <p:spPr>
            <a:xfrm>
              <a:off x="4067945" y="1686362"/>
              <a:ext cx="1800199" cy="338554"/>
            </a:xfrm>
            <a:prstGeom prst="rect">
              <a:avLst/>
            </a:prstGeom>
            <a:noFill/>
            <a:ln w="19050" cmpd="sng">
              <a:solidFill>
                <a:schemeClr val="bg2">
                  <a:lumMod val="10000"/>
                </a:schemeClr>
              </a:solidFill>
            </a:ln>
          </p:spPr>
          <p:txBody>
            <a:bodyPr wrap="square" rtlCol="0">
              <a:spAutoFit/>
            </a:bodyPr>
            <a:lstStyle/>
            <a:p>
              <a:pPr algn="ctr"/>
              <a:r>
                <a:rPr lang="en-US" sz="1600" b="1" dirty="0">
                  <a:latin typeface="Arial"/>
                  <a:cs typeface="Arial"/>
                </a:rPr>
                <a:t>variable storage </a:t>
              </a:r>
            </a:p>
          </p:txBody>
        </p:sp>
      </p:grpSp>
      <p:grpSp>
        <p:nvGrpSpPr>
          <p:cNvPr id="32" name="Group 31"/>
          <p:cNvGrpSpPr/>
          <p:nvPr/>
        </p:nvGrpSpPr>
        <p:grpSpPr>
          <a:xfrm>
            <a:off x="4812035" y="4112170"/>
            <a:ext cx="4207746" cy="1405062"/>
            <a:chOff x="1396624" y="4093143"/>
            <a:chExt cx="4207746" cy="1405062"/>
          </a:xfrm>
        </p:grpSpPr>
        <p:sp>
          <p:nvSpPr>
            <p:cNvPr id="26" name="TextBox 25"/>
            <p:cNvSpPr txBox="1"/>
            <p:nvPr/>
          </p:nvSpPr>
          <p:spPr>
            <a:xfrm>
              <a:off x="2334772" y="4157791"/>
              <a:ext cx="2339403" cy="461665"/>
            </a:xfrm>
            <a:prstGeom prst="rect">
              <a:avLst/>
            </a:prstGeom>
            <a:noFill/>
          </p:spPr>
          <p:txBody>
            <a:bodyPr wrap="none" rtlCol="0">
              <a:spAutoFit/>
            </a:bodyPr>
            <a:lstStyle/>
            <a:p>
              <a:r>
                <a:rPr lang="en-US" sz="2400" b="1" dirty="0">
                  <a:latin typeface="Arial"/>
                  <a:cs typeface="Arial"/>
                </a:rPr>
                <a:t>PDE Integrator</a:t>
              </a:r>
            </a:p>
          </p:txBody>
        </p:sp>
        <p:sp>
          <p:nvSpPr>
            <p:cNvPr id="27" name="TextBox 26"/>
            <p:cNvSpPr txBox="1"/>
            <p:nvPr/>
          </p:nvSpPr>
          <p:spPr>
            <a:xfrm>
              <a:off x="1396624" y="4697985"/>
              <a:ext cx="1253668" cy="400110"/>
            </a:xfrm>
            <a:prstGeom prst="rect">
              <a:avLst/>
            </a:prstGeom>
            <a:noFill/>
          </p:spPr>
          <p:txBody>
            <a:bodyPr wrap="none" rtlCol="0">
              <a:spAutoFit/>
            </a:bodyPr>
            <a:lstStyle/>
            <a:p>
              <a:r>
                <a:rPr lang="en-US" sz="2000" b="1" dirty="0">
                  <a:latin typeface="Arial"/>
                  <a:cs typeface="Arial"/>
                </a:rPr>
                <a:t>Integrals</a:t>
              </a:r>
            </a:p>
          </p:txBody>
        </p:sp>
        <p:sp>
          <p:nvSpPr>
            <p:cNvPr id="28" name="TextBox 27"/>
            <p:cNvSpPr txBox="1"/>
            <p:nvPr/>
          </p:nvSpPr>
          <p:spPr>
            <a:xfrm>
              <a:off x="4492968" y="4697985"/>
              <a:ext cx="1111402" cy="400110"/>
            </a:xfrm>
            <a:prstGeom prst="rect">
              <a:avLst/>
            </a:prstGeom>
            <a:noFill/>
          </p:spPr>
          <p:txBody>
            <a:bodyPr wrap="none" rtlCol="0">
              <a:spAutoFit/>
            </a:bodyPr>
            <a:lstStyle/>
            <a:p>
              <a:r>
                <a:rPr lang="en-US" sz="2000" b="1" dirty="0">
                  <a:latin typeface="Arial"/>
                  <a:cs typeface="Arial"/>
                </a:rPr>
                <a:t>Solvers</a:t>
              </a:r>
            </a:p>
          </p:txBody>
        </p:sp>
        <p:sp>
          <p:nvSpPr>
            <p:cNvPr id="29" name="TextBox 28"/>
            <p:cNvSpPr txBox="1"/>
            <p:nvPr/>
          </p:nvSpPr>
          <p:spPr>
            <a:xfrm>
              <a:off x="2986595" y="4697985"/>
              <a:ext cx="1225365" cy="400110"/>
            </a:xfrm>
            <a:prstGeom prst="rect">
              <a:avLst/>
            </a:prstGeom>
            <a:noFill/>
          </p:spPr>
          <p:txBody>
            <a:bodyPr wrap="none" rtlCol="0">
              <a:spAutoFit/>
            </a:bodyPr>
            <a:lstStyle/>
            <a:p>
              <a:r>
                <a:rPr lang="en-US" sz="2000" b="1" dirty="0">
                  <a:latin typeface="Arial"/>
                  <a:cs typeface="Arial"/>
                </a:rPr>
                <a:t>Matrices   </a:t>
              </a:r>
            </a:p>
          </p:txBody>
        </p:sp>
        <p:sp>
          <p:nvSpPr>
            <p:cNvPr id="30" name="TextBox 29"/>
            <p:cNvSpPr txBox="1"/>
            <p:nvPr/>
          </p:nvSpPr>
          <p:spPr>
            <a:xfrm>
              <a:off x="2517857" y="5098095"/>
              <a:ext cx="2094869" cy="400110"/>
            </a:xfrm>
            <a:prstGeom prst="rect">
              <a:avLst/>
            </a:prstGeom>
            <a:noFill/>
          </p:spPr>
          <p:txBody>
            <a:bodyPr wrap="none" rtlCol="0">
              <a:spAutoFit/>
            </a:bodyPr>
            <a:lstStyle/>
            <a:p>
              <a:r>
                <a:rPr lang="en-US" sz="2000" b="1" dirty="0">
                  <a:latin typeface="Arial"/>
                  <a:cs typeface="Arial"/>
                </a:rPr>
                <a:t>Post-processes</a:t>
              </a:r>
            </a:p>
          </p:txBody>
        </p:sp>
        <p:sp>
          <p:nvSpPr>
            <p:cNvPr id="31" name="Donut 30"/>
            <p:cNvSpPr/>
            <p:nvPr/>
          </p:nvSpPr>
          <p:spPr>
            <a:xfrm>
              <a:off x="2138368" y="4093143"/>
              <a:ext cx="2698481" cy="611518"/>
            </a:xfrm>
            <a:prstGeom prst="donut">
              <a:avLst>
                <a:gd name="adj" fmla="val 3658"/>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grpSp>
        <p:nvGrpSpPr>
          <p:cNvPr id="42" name="Group 41"/>
          <p:cNvGrpSpPr/>
          <p:nvPr/>
        </p:nvGrpSpPr>
        <p:grpSpPr>
          <a:xfrm>
            <a:off x="457200" y="4083428"/>
            <a:ext cx="2248842" cy="1217780"/>
            <a:chOff x="450950" y="4545674"/>
            <a:chExt cx="2248842" cy="1217780"/>
          </a:xfrm>
        </p:grpSpPr>
        <p:sp>
          <p:nvSpPr>
            <p:cNvPr id="37" name="TextBox 36"/>
            <p:cNvSpPr txBox="1"/>
            <p:nvPr/>
          </p:nvSpPr>
          <p:spPr>
            <a:xfrm>
              <a:off x="899592" y="4588065"/>
              <a:ext cx="1308020" cy="461665"/>
            </a:xfrm>
            <a:prstGeom prst="rect">
              <a:avLst/>
            </a:prstGeom>
            <a:noFill/>
          </p:spPr>
          <p:txBody>
            <a:bodyPr wrap="none" rtlCol="0">
              <a:spAutoFit/>
            </a:bodyPr>
            <a:lstStyle/>
            <a:p>
              <a:r>
                <a:rPr lang="en-US" sz="2400" b="1" dirty="0">
                  <a:latin typeface="Arial"/>
                  <a:cs typeface="Arial"/>
                </a:rPr>
                <a:t>Visitors</a:t>
              </a:r>
            </a:p>
          </p:txBody>
        </p:sp>
        <p:sp>
          <p:nvSpPr>
            <p:cNvPr id="38" name="Donut 37"/>
            <p:cNvSpPr/>
            <p:nvPr/>
          </p:nvSpPr>
          <p:spPr>
            <a:xfrm>
              <a:off x="539552" y="4545674"/>
              <a:ext cx="1995754" cy="611518"/>
            </a:xfrm>
            <a:prstGeom prst="donut">
              <a:avLst>
                <a:gd name="adj" fmla="val 3658"/>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9" name="TextBox 38"/>
            <p:cNvSpPr txBox="1"/>
            <p:nvPr/>
          </p:nvSpPr>
          <p:spPr>
            <a:xfrm>
              <a:off x="450950" y="5178678"/>
              <a:ext cx="2248842" cy="584776"/>
            </a:xfrm>
            <a:prstGeom prst="rect">
              <a:avLst/>
            </a:prstGeom>
            <a:noFill/>
          </p:spPr>
          <p:txBody>
            <a:bodyPr wrap="square" rtlCol="0">
              <a:spAutoFit/>
            </a:bodyPr>
            <a:lstStyle/>
            <a:p>
              <a:pPr algn="ctr"/>
              <a:r>
                <a:rPr lang="en-US" sz="1600" b="1" i="1" dirty="0">
                  <a:latin typeface="Arial"/>
                  <a:cs typeface="Arial"/>
                </a:rPr>
                <a:t>constitutive relations and more</a:t>
              </a:r>
            </a:p>
          </p:txBody>
        </p:sp>
      </p:grpSp>
      <p:grpSp>
        <p:nvGrpSpPr>
          <p:cNvPr id="43" name="Group 42"/>
          <p:cNvGrpSpPr/>
          <p:nvPr/>
        </p:nvGrpSpPr>
        <p:grpSpPr>
          <a:xfrm>
            <a:off x="729209" y="5661248"/>
            <a:ext cx="2618655" cy="442501"/>
            <a:chOff x="657201" y="5877272"/>
            <a:chExt cx="2618655" cy="442501"/>
          </a:xfrm>
        </p:grpSpPr>
        <p:sp>
          <p:nvSpPr>
            <p:cNvPr id="40" name="TextBox 39"/>
            <p:cNvSpPr txBox="1"/>
            <p:nvPr/>
          </p:nvSpPr>
          <p:spPr>
            <a:xfrm>
              <a:off x="945234" y="5887249"/>
              <a:ext cx="2094494" cy="400110"/>
            </a:xfrm>
            <a:prstGeom prst="rect">
              <a:avLst/>
            </a:prstGeom>
            <a:noFill/>
          </p:spPr>
          <p:txBody>
            <a:bodyPr wrap="none" rtlCol="0">
              <a:spAutoFit/>
            </a:bodyPr>
            <a:lstStyle/>
            <a:p>
              <a:r>
                <a:rPr lang="en-US" sz="2000" b="1" dirty="0" err="1">
                  <a:latin typeface="Arial"/>
                  <a:cs typeface="Arial"/>
                </a:rPr>
                <a:t>PropertyHandle</a:t>
              </a:r>
              <a:endParaRPr lang="en-US" sz="2000" b="1" dirty="0">
                <a:latin typeface="Arial"/>
                <a:cs typeface="Arial"/>
              </a:endParaRPr>
            </a:p>
          </p:txBody>
        </p:sp>
        <p:sp>
          <p:nvSpPr>
            <p:cNvPr id="41" name="Donut 40"/>
            <p:cNvSpPr/>
            <p:nvPr/>
          </p:nvSpPr>
          <p:spPr>
            <a:xfrm>
              <a:off x="657201" y="5877272"/>
              <a:ext cx="2618655" cy="442501"/>
            </a:xfrm>
            <a:prstGeom prst="donut">
              <a:avLst>
                <a:gd name="adj" fmla="val 3658"/>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grpSp>
        <p:nvGrpSpPr>
          <p:cNvPr id="48" name="Group 47"/>
          <p:cNvGrpSpPr/>
          <p:nvPr/>
        </p:nvGrpSpPr>
        <p:grpSpPr>
          <a:xfrm>
            <a:off x="4147497" y="5689090"/>
            <a:ext cx="3376831" cy="764246"/>
            <a:chOff x="6660232" y="4371460"/>
            <a:chExt cx="3376831" cy="764246"/>
          </a:xfrm>
        </p:grpSpPr>
        <p:grpSp>
          <p:nvGrpSpPr>
            <p:cNvPr id="44" name="Group 43"/>
            <p:cNvGrpSpPr/>
            <p:nvPr/>
          </p:nvGrpSpPr>
          <p:grpSpPr>
            <a:xfrm>
              <a:off x="6989921" y="4371460"/>
              <a:ext cx="2618655" cy="442501"/>
              <a:chOff x="657201" y="5877272"/>
              <a:chExt cx="2618655" cy="442501"/>
            </a:xfrm>
          </p:grpSpPr>
          <p:sp>
            <p:nvSpPr>
              <p:cNvPr id="45" name="TextBox 44"/>
              <p:cNvSpPr txBox="1"/>
              <p:nvPr/>
            </p:nvSpPr>
            <p:spPr>
              <a:xfrm>
                <a:off x="1110555" y="5887249"/>
                <a:ext cx="1809460" cy="400110"/>
              </a:xfrm>
              <a:prstGeom prst="rect">
                <a:avLst/>
              </a:prstGeom>
              <a:noFill/>
            </p:spPr>
            <p:txBody>
              <a:bodyPr wrap="none" rtlCol="0">
                <a:spAutoFit/>
              </a:bodyPr>
              <a:lstStyle/>
              <a:p>
                <a:r>
                  <a:rPr lang="en-US" sz="2000" b="1" dirty="0">
                    <a:latin typeface="Arial"/>
                    <a:cs typeface="Arial"/>
                  </a:rPr>
                  <a:t>Interrelations</a:t>
                </a:r>
              </a:p>
            </p:txBody>
          </p:sp>
          <p:sp>
            <p:nvSpPr>
              <p:cNvPr id="46" name="Donut 45"/>
              <p:cNvSpPr/>
              <p:nvPr/>
            </p:nvSpPr>
            <p:spPr>
              <a:xfrm>
                <a:off x="657201" y="5877272"/>
                <a:ext cx="2618655" cy="442501"/>
              </a:xfrm>
              <a:prstGeom prst="donut">
                <a:avLst>
                  <a:gd name="adj" fmla="val 3658"/>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sp>
          <p:nvSpPr>
            <p:cNvPr id="47" name="TextBox 46"/>
            <p:cNvSpPr txBox="1"/>
            <p:nvPr/>
          </p:nvSpPr>
          <p:spPr>
            <a:xfrm>
              <a:off x="6660232" y="4797152"/>
              <a:ext cx="3376831" cy="338554"/>
            </a:xfrm>
            <a:prstGeom prst="rect">
              <a:avLst/>
            </a:prstGeom>
            <a:noFill/>
          </p:spPr>
          <p:txBody>
            <a:bodyPr wrap="square" rtlCol="0">
              <a:spAutoFit/>
            </a:bodyPr>
            <a:lstStyle/>
            <a:p>
              <a:pPr algn="ctr"/>
              <a:r>
                <a:rPr lang="en-US" sz="1600" b="1" i="1" dirty="0">
                  <a:latin typeface="Arial"/>
                  <a:cs typeface="Arial"/>
                </a:rPr>
                <a:t>single-result calculations</a:t>
              </a:r>
            </a:p>
          </p:txBody>
        </p:sp>
      </p:grpSp>
      <p:sp>
        <p:nvSpPr>
          <p:cNvPr id="53" name="TextBox 52"/>
          <p:cNvSpPr txBox="1"/>
          <p:nvPr/>
        </p:nvSpPr>
        <p:spPr>
          <a:xfrm>
            <a:off x="323528" y="6093296"/>
            <a:ext cx="3654038" cy="338554"/>
          </a:xfrm>
          <a:prstGeom prst="rect">
            <a:avLst/>
          </a:prstGeom>
          <a:noFill/>
        </p:spPr>
        <p:txBody>
          <a:bodyPr wrap="none" rtlCol="0">
            <a:spAutoFit/>
          </a:bodyPr>
          <a:lstStyle/>
          <a:p>
            <a:r>
              <a:rPr lang="en-US" sz="1600" b="1" i="1" dirty="0">
                <a:latin typeface="Arial"/>
                <a:cs typeface="Arial"/>
              </a:rPr>
              <a:t>operations on distributed variables</a:t>
            </a:r>
          </a:p>
        </p:txBody>
      </p:sp>
      <p:sp>
        <p:nvSpPr>
          <p:cNvPr id="8" name="TextBox 7">
            <a:extLst>
              <a:ext uri="{FF2B5EF4-FFF2-40B4-BE49-F238E27FC236}">
                <a16:creationId xmlns:a16="http://schemas.microsoft.com/office/drawing/2014/main" id="{1AC92489-D442-31F1-3C89-3865322A72D1}"/>
              </a:ext>
            </a:extLst>
          </p:cNvPr>
          <p:cNvSpPr txBox="1"/>
          <p:nvPr/>
        </p:nvSpPr>
        <p:spPr>
          <a:xfrm>
            <a:off x="1916244" y="3375574"/>
            <a:ext cx="4823756" cy="461665"/>
          </a:xfrm>
          <a:prstGeom prst="rect">
            <a:avLst/>
          </a:prstGeom>
          <a:noFill/>
        </p:spPr>
        <p:txBody>
          <a:bodyPr wrap="none" rtlCol="0">
            <a:spAutoFit/>
          </a:bodyPr>
          <a:lstStyle/>
          <a:p>
            <a:r>
              <a:rPr lang="en-US" sz="2400" dirty="0">
                <a:solidFill>
                  <a:srgbClr val="FF0066"/>
                </a:solidFill>
                <a:latin typeface="Arial" panose="020B0604020202020204" pitchFamily="34" charset="0"/>
                <a:cs typeface="Arial" panose="020B0604020202020204" pitchFamily="34" charset="0"/>
              </a:rPr>
              <a:t>Data Model versus Computations </a:t>
            </a:r>
          </a:p>
        </p:txBody>
      </p:sp>
    </p:spTree>
    <p:extLst>
      <p:ext uri="{BB962C8B-B14F-4D97-AF65-F5344CB8AC3E}">
        <p14:creationId xmlns:p14="http://schemas.microsoft.com/office/powerpoint/2010/main" val="88279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4883887A-1359-4543-8FE5-E246ED7AED9F}" type="slidenum">
              <a:rPr lang="en-US" smtClean="0"/>
              <a:pPr/>
              <a:t>13</a:t>
            </a:fld>
            <a:endParaRPr lang="en-US"/>
          </a:p>
        </p:txBody>
      </p:sp>
      <p:sp>
        <p:nvSpPr>
          <p:cNvPr id="41987" name="Rectangle 2"/>
          <p:cNvSpPr>
            <a:spLocks noGrp="1" noChangeArrowheads="1"/>
          </p:cNvSpPr>
          <p:nvPr>
            <p:ph type="title"/>
          </p:nvPr>
        </p:nvSpPr>
        <p:spPr>
          <a:xfrm>
            <a:off x="457200" y="179388"/>
            <a:ext cx="7986712" cy="735012"/>
          </a:xfrm>
        </p:spPr>
        <p:txBody>
          <a:bodyPr/>
          <a:lstStyle/>
          <a:p>
            <a:pPr eaLnBrk="1" hangingPunct="1"/>
            <a:r>
              <a:rPr lang="en-US" dirty="0"/>
              <a:t>Base classes for computations</a:t>
            </a:r>
          </a:p>
        </p:txBody>
      </p:sp>
      <p:sp>
        <p:nvSpPr>
          <p:cNvPr id="41988" name="Rectangle 3"/>
          <p:cNvSpPr>
            <a:spLocks noGrp="1" noChangeArrowheads="1"/>
          </p:cNvSpPr>
          <p:nvPr>
            <p:ph type="body" idx="1"/>
          </p:nvPr>
        </p:nvSpPr>
        <p:spPr>
          <a:xfrm>
            <a:off x="457200" y="1052736"/>
            <a:ext cx="8229600" cy="5285011"/>
          </a:xfrm>
        </p:spPr>
        <p:txBody>
          <a:bodyPr>
            <a:normAutofit fontScale="85000" lnSpcReduction="20000"/>
          </a:bodyPr>
          <a:lstStyle/>
          <a:p>
            <a:pPr marL="0" indent="0" eaLnBrk="1" hangingPunct="1">
              <a:lnSpc>
                <a:spcPct val="80000"/>
              </a:lnSpc>
              <a:buNone/>
            </a:pPr>
            <a:r>
              <a:rPr lang="en-US" sz="2400" dirty="0">
                <a:solidFill>
                  <a:srgbClr val="000090"/>
                </a:solidFill>
              </a:rPr>
              <a:t>Visitor</a:t>
            </a:r>
          </a:p>
          <a:p>
            <a:pPr lvl="1">
              <a:lnSpc>
                <a:spcPct val="80000"/>
              </a:lnSpc>
            </a:pPr>
            <a:r>
              <a:rPr lang="en-US" dirty="0"/>
              <a:t>Calculation of multiple variables</a:t>
            </a:r>
          </a:p>
          <a:p>
            <a:pPr lvl="1">
              <a:lnSpc>
                <a:spcPct val="80000"/>
              </a:lnSpc>
            </a:pPr>
            <a:r>
              <a:rPr lang="en-US" dirty="0"/>
              <a:t>Full access to FEM-FV interfaces</a:t>
            </a:r>
          </a:p>
          <a:p>
            <a:pPr lvl="1">
              <a:lnSpc>
                <a:spcPct val="80000"/>
              </a:lnSpc>
            </a:pPr>
            <a:r>
              <a:rPr lang="en-US" dirty="0"/>
              <a:t>Mesh traversals as needed</a:t>
            </a:r>
          </a:p>
          <a:p>
            <a:pPr lvl="1">
              <a:lnSpc>
                <a:spcPct val="80000"/>
              </a:lnSpc>
            </a:pPr>
            <a:endParaRPr lang="en-US" dirty="0"/>
          </a:p>
          <a:p>
            <a:pPr marL="0" indent="0" eaLnBrk="1" hangingPunct="1">
              <a:lnSpc>
                <a:spcPct val="80000"/>
              </a:lnSpc>
              <a:buNone/>
            </a:pPr>
            <a:r>
              <a:rPr lang="en-US" sz="2400" dirty="0" err="1">
                <a:solidFill>
                  <a:srgbClr val="000090"/>
                </a:solidFill>
              </a:rPr>
              <a:t>PDE_Integrator</a:t>
            </a:r>
            <a:r>
              <a:rPr lang="en-US" sz="2400" dirty="0">
                <a:solidFill>
                  <a:srgbClr val="000090"/>
                </a:solidFill>
              </a:rPr>
              <a:t> </a:t>
            </a:r>
          </a:p>
          <a:p>
            <a:pPr lvl="1">
              <a:lnSpc>
                <a:spcPct val="80000"/>
              </a:lnSpc>
            </a:pPr>
            <a:r>
              <a:rPr lang="en-US" dirty="0"/>
              <a:t>To solve (integrate) PDEs discretized with FE and FV methods</a:t>
            </a:r>
          </a:p>
          <a:p>
            <a:pPr lvl="1">
              <a:lnSpc>
                <a:spcPct val="80000"/>
              </a:lnSpc>
            </a:pPr>
            <a:r>
              <a:rPr lang="en-US" dirty="0"/>
              <a:t>Strategy pattern</a:t>
            </a:r>
          </a:p>
          <a:p>
            <a:pPr lvl="1">
              <a:lnSpc>
                <a:spcPct val="80000"/>
              </a:lnSpc>
            </a:pPr>
            <a:r>
              <a:rPr lang="en-US" dirty="0"/>
              <a:t>Base class of a hierarchy of iterative solution methods</a:t>
            </a:r>
          </a:p>
          <a:p>
            <a:pPr marL="457200" lvl="1" indent="0">
              <a:lnSpc>
                <a:spcPct val="80000"/>
              </a:lnSpc>
              <a:buNone/>
            </a:pPr>
            <a:endParaRPr lang="en-US" dirty="0"/>
          </a:p>
          <a:p>
            <a:pPr marL="0" indent="0" eaLnBrk="1" hangingPunct="1">
              <a:lnSpc>
                <a:spcPct val="80000"/>
              </a:lnSpc>
              <a:buNone/>
            </a:pPr>
            <a:r>
              <a:rPr lang="en-US" sz="2400" dirty="0" err="1">
                <a:solidFill>
                  <a:srgbClr val="000090"/>
                </a:solidFill>
              </a:rPr>
              <a:t>PropertyHandle</a:t>
            </a:r>
            <a:endParaRPr lang="en-US" sz="2400" dirty="0">
              <a:solidFill>
                <a:srgbClr val="000090"/>
              </a:solidFill>
            </a:endParaRPr>
          </a:p>
          <a:p>
            <a:pPr lvl="1">
              <a:lnSpc>
                <a:spcPct val="120000"/>
              </a:lnSpc>
            </a:pPr>
            <a:r>
              <a:rPr lang="en-US" dirty="0"/>
              <a:t>Overloaded operators for distributed variables (like mathematical worksheet programs)</a:t>
            </a:r>
          </a:p>
          <a:p>
            <a:pPr lvl="1">
              <a:lnSpc>
                <a:spcPct val="80000"/>
              </a:lnSpc>
            </a:pPr>
            <a:endParaRPr lang="en-US" dirty="0"/>
          </a:p>
          <a:p>
            <a:pPr marL="0" indent="0">
              <a:lnSpc>
                <a:spcPct val="80000"/>
              </a:lnSpc>
              <a:buNone/>
            </a:pPr>
            <a:r>
              <a:rPr lang="en-US" sz="2600" dirty="0">
                <a:solidFill>
                  <a:srgbClr val="000090"/>
                </a:solidFill>
              </a:rPr>
              <a:t>Interrelation</a:t>
            </a:r>
          </a:p>
          <a:p>
            <a:pPr lvl="1">
              <a:lnSpc>
                <a:spcPct val="120000"/>
              </a:lnSpc>
            </a:pPr>
            <a:r>
              <a:rPr lang="en-US" dirty="0"/>
              <a:t>Calculations interpolating variables with different placements, but with a single result variable</a:t>
            </a:r>
          </a:p>
        </p:txBody>
      </p:sp>
      <p:sp>
        <p:nvSpPr>
          <p:cNvPr id="5" name="Date Placeholder 4"/>
          <p:cNvSpPr>
            <a:spLocks noGrp="1"/>
          </p:cNvSpPr>
          <p:nvPr>
            <p:ph type="dt" sz="half" idx="10"/>
          </p:nvPr>
        </p:nvSpPr>
        <p:spPr/>
        <p:txBody>
          <a:bodyPr/>
          <a:lstStyle/>
          <a:p>
            <a:fld id="{5A641C14-7B5D-8A4B-8BC0-E0578E26D919}" type="datetime1">
              <a:rPr lang="en-US" smtClean="0"/>
              <a:pPr/>
              <a:t>5/2/24</a:t>
            </a:fld>
            <a:endParaRPr lang="en-US"/>
          </a:p>
        </p:txBody>
      </p:sp>
      <p:sp>
        <p:nvSpPr>
          <p:cNvPr id="6" name="Footer Placeholder 5"/>
          <p:cNvSpPr>
            <a:spLocks noGrp="1"/>
          </p:cNvSpPr>
          <p:nvPr>
            <p:ph type="ftr" sz="quarter" idx="11"/>
          </p:nvPr>
        </p:nvSpPr>
        <p:spPr/>
        <p:txBody>
          <a:bodyPr/>
          <a:lstStyle/>
          <a:p>
            <a:endParaRPr lang="en-US" dirty="0"/>
          </a:p>
          <a:p>
            <a:r>
              <a:rPr lang="en-US" dirty="0" err="1"/>
              <a:t>OpenCSMP</a:t>
            </a:r>
            <a:r>
              <a:rPr lang="en-US" dirty="0"/>
              <a:t> Introduction</a:t>
            </a:r>
          </a:p>
          <a:p>
            <a:endParaRPr lang="en-US" dirty="0"/>
          </a:p>
        </p:txBody>
      </p:sp>
    </p:spTree>
    <p:extLst>
      <p:ext uri="{BB962C8B-B14F-4D97-AF65-F5344CB8AC3E}">
        <p14:creationId xmlns:p14="http://schemas.microsoft.com/office/powerpoint/2010/main" val="2952687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3347864" y="1988840"/>
            <a:ext cx="2323852" cy="3581400"/>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000" y="0"/>
            <a:ext cx="8229600" cy="914400"/>
          </a:xfrm>
        </p:spPr>
        <p:txBody>
          <a:bodyPr>
            <a:normAutofit/>
          </a:bodyPr>
          <a:lstStyle/>
          <a:p>
            <a:r>
              <a:rPr lang="en-US" dirty="0" err="1"/>
              <a:t>Organisation</a:t>
            </a:r>
            <a:r>
              <a:rPr lang="en-US" dirty="0"/>
              <a:t> of </a:t>
            </a:r>
            <a:r>
              <a:rPr lang="en-US" dirty="0" err="1"/>
              <a:t>OpenCSMP</a:t>
            </a:r>
            <a:r>
              <a:rPr lang="en-US" dirty="0"/>
              <a:t> API library</a:t>
            </a:r>
          </a:p>
        </p:txBody>
      </p:sp>
      <p:sp>
        <p:nvSpPr>
          <p:cNvPr id="7" name="Slide Number Placeholder 6"/>
          <p:cNvSpPr>
            <a:spLocks noGrp="1"/>
          </p:cNvSpPr>
          <p:nvPr>
            <p:ph type="sldNum" sz="quarter" idx="12"/>
          </p:nvPr>
        </p:nvSpPr>
        <p:spPr/>
        <p:txBody>
          <a:bodyPr/>
          <a:lstStyle/>
          <a:p>
            <a:fld id="{D85D7429-E0B0-F747-9618-8B51FA155C3D}" type="slidenum">
              <a:rPr lang="en-US" smtClean="0"/>
              <a:pPr/>
              <a:t>14</a:t>
            </a:fld>
            <a:endParaRPr lang="en-US"/>
          </a:p>
        </p:txBody>
      </p:sp>
      <p:sp>
        <p:nvSpPr>
          <p:cNvPr id="8" name="TextBox 7"/>
          <p:cNvSpPr txBox="1"/>
          <p:nvPr/>
        </p:nvSpPr>
        <p:spPr>
          <a:xfrm>
            <a:off x="3449086" y="2060848"/>
            <a:ext cx="883225" cy="400110"/>
          </a:xfrm>
          <a:prstGeom prst="rect">
            <a:avLst/>
          </a:prstGeom>
          <a:noFill/>
          <a:ln>
            <a:solidFill>
              <a:schemeClr val="tx1"/>
            </a:solidFill>
          </a:ln>
        </p:spPr>
        <p:txBody>
          <a:bodyPr wrap="none" rtlCol="0">
            <a:spAutoFit/>
          </a:bodyPr>
          <a:lstStyle/>
          <a:p>
            <a:r>
              <a:rPr lang="en-US" sz="2000" dirty="0">
                <a:latin typeface="Arial"/>
                <a:cs typeface="Arial"/>
              </a:rPr>
              <a:t>Model</a:t>
            </a:r>
          </a:p>
        </p:txBody>
      </p:sp>
      <p:sp>
        <p:nvSpPr>
          <p:cNvPr id="9" name="TextBox 8"/>
          <p:cNvSpPr txBox="1"/>
          <p:nvPr/>
        </p:nvSpPr>
        <p:spPr>
          <a:xfrm>
            <a:off x="3511476" y="2996952"/>
            <a:ext cx="1452203" cy="307777"/>
          </a:xfrm>
          <a:prstGeom prst="rect">
            <a:avLst/>
          </a:prstGeom>
          <a:noFill/>
          <a:ln>
            <a:solidFill>
              <a:schemeClr val="tx1"/>
            </a:solidFill>
          </a:ln>
        </p:spPr>
        <p:txBody>
          <a:bodyPr wrap="none" rtlCol="0">
            <a:spAutoFit/>
          </a:bodyPr>
          <a:lstStyle/>
          <a:p>
            <a:r>
              <a:rPr lang="en-US" sz="1400" dirty="0" err="1">
                <a:latin typeface="Arial"/>
                <a:cs typeface="Arial"/>
              </a:rPr>
              <a:t>RegionInterface</a:t>
            </a:r>
            <a:endParaRPr lang="en-US" sz="1400" dirty="0">
              <a:latin typeface="Arial"/>
              <a:cs typeface="Arial"/>
            </a:endParaRPr>
          </a:p>
        </p:txBody>
      </p:sp>
      <p:sp>
        <p:nvSpPr>
          <p:cNvPr id="13" name="TextBox 12"/>
          <p:cNvSpPr txBox="1"/>
          <p:nvPr/>
        </p:nvSpPr>
        <p:spPr>
          <a:xfrm>
            <a:off x="3264322" y="1196752"/>
            <a:ext cx="1986615" cy="400110"/>
          </a:xfrm>
          <a:prstGeom prst="rect">
            <a:avLst/>
          </a:prstGeom>
          <a:solidFill>
            <a:schemeClr val="bg1"/>
          </a:solidFill>
          <a:ln>
            <a:solidFill>
              <a:schemeClr val="bg1"/>
            </a:solidFill>
          </a:ln>
        </p:spPr>
        <p:txBody>
          <a:bodyPr wrap="none" rtlCol="0">
            <a:spAutoFit/>
          </a:bodyPr>
          <a:lstStyle/>
          <a:p>
            <a:r>
              <a:rPr lang="en-US" sz="2000" i="1" dirty="0">
                <a:latin typeface="Arial"/>
                <a:cs typeface="Arial"/>
              </a:rPr>
              <a:t>input interfaces</a:t>
            </a:r>
          </a:p>
        </p:txBody>
      </p:sp>
      <p:sp>
        <p:nvSpPr>
          <p:cNvPr id="14" name="TextBox 13"/>
          <p:cNvSpPr txBox="1"/>
          <p:nvPr/>
        </p:nvSpPr>
        <p:spPr>
          <a:xfrm>
            <a:off x="3384166" y="5909210"/>
            <a:ext cx="2143534" cy="400110"/>
          </a:xfrm>
          <a:prstGeom prst="rect">
            <a:avLst/>
          </a:prstGeom>
          <a:solidFill>
            <a:schemeClr val="bg1"/>
          </a:solidFill>
          <a:ln>
            <a:solidFill>
              <a:schemeClr val="bg1"/>
            </a:solidFill>
          </a:ln>
        </p:spPr>
        <p:txBody>
          <a:bodyPr wrap="none" rtlCol="0">
            <a:spAutoFit/>
          </a:bodyPr>
          <a:lstStyle/>
          <a:p>
            <a:r>
              <a:rPr lang="en-US" sz="2000" i="1" dirty="0">
                <a:latin typeface="Arial"/>
                <a:cs typeface="Arial"/>
              </a:rPr>
              <a:t>output interfaces</a:t>
            </a:r>
          </a:p>
        </p:txBody>
      </p:sp>
      <p:sp>
        <p:nvSpPr>
          <p:cNvPr id="15" name="TextBox 14"/>
          <p:cNvSpPr txBox="1"/>
          <p:nvPr/>
        </p:nvSpPr>
        <p:spPr>
          <a:xfrm>
            <a:off x="6084168" y="3516977"/>
            <a:ext cx="2535178" cy="400110"/>
          </a:xfrm>
          <a:prstGeom prst="rect">
            <a:avLst/>
          </a:prstGeom>
          <a:noFill/>
          <a:ln>
            <a:solidFill>
              <a:schemeClr val="tx1"/>
            </a:solidFill>
          </a:ln>
        </p:spPr>
        <p:txBody>
          <a:bodyPr wrap="square" rtlCol="0">
            <a:spAutoFit/>
          </a:bodyPr>
          <a:lstStyle/>
          <a:p>
            <a:pPr algn="ctr"/>
            <a:r>
              <a:rPr lang="en-US" sz="2000" dirty="0">
                <a:latin typeface="Arial"/>
                <a:cs typeface="Arial"/>
              </a:rPr>
              <a:t>Application Specific</a:t>
            </a:r>
          </a:p>
        </p:txBody>
      </p:sp>
      <p:sp>
        <p:nvSpPr>
          <p:cNvPr id="18" name="TextBox 17"/>
          <p:cNvSpPr txBox="1"/>
          <p:nvPr/>
        </p:nvSpPr>
        <p:spPr>
          <a:xfrm>
            <a:off x="3534847" y="4267144"/>
            <a:ext cx="1338828" cy="307777"/>
          </a:xfrm>
          <a:prstGeom prst="rect">
            <a:avLst/>
          </a:prstGeom>
          <a:noFill/>
          <a:ln>
            <a:solidFill>
              <a:schemeClr val="tx1"/>
            </a:solidFill>
          </a:ln>
        </p:spPr>
        <p:txBody>
          <a:bodyPr wrap="none" rtlCol="0">
            <a:spAutoFit/>
          </a:bodyPr>
          <a:lstStyle/>
          <a:p>
            <a:r>
              <a:rPr lang="en-US" sz="1400" dirty="0" err="1">
                <a:latin typeface="Arial"/>
                <a:cs typeface="Arial"/>
              </a:rPr>
              <a:t>MeshManager</a:t>
            </a:r>
            <a:endParaRPr lang="en-US" sz="1400" dirty="0">
              <a:latin typeface="Arial"/>
              <a:cs typeface="Arial"/>
            </a:endParaRPr>
          </a:p>
        </p:txBody>
      </p:sp>
      <p:sp>
        <p:nvSpPr>
          <p:cNvPr id="19" name="TextBox 18"/>
          <p:cNvSpPr txBox="1"/>
          <p:nvPr/>
        </p:nvSpPr>
        <p:spPr>
          <a:xfrm>
            <a:off x="3534847" y="4718937"/>
            <a:ext cx="1992853" cy="307777"/>
          </a:xfrm>
          <a:prstGeom prst="rect">
            <a:avLst/>
          </a:prstGeom>
          <a:noFill/>
          <a:ln>
            <a:solidFill>
              <a:schemeClr val="tx1"/>
            </a:solidFill>
          </a:ln>
        </p:spPr>
        <p:txBody>
          <a:bodyPr wrap="none" rtlCol="0">
            <a:spAutoFit/>
          </a:bodyPr>
          <a:lstStyle/>
          <a:p>
            <a:r>
              <a:rPr lang="en-US" sz="1400" dirty="0" err="1">
                <a:latin typeface="Arial"/>
                <a:cs typeface="Arial"/>
              </a:rPr>
              <a:t>FiniteElementManager</a:t>
            </a:r>
            <a:endParaRPr lang="en-US" sz="1400" dirty="0">
              <a:latin typeface="Arial"/>
              <a:cs typeface="Arial"/>
            </a:endParaRPr>
          </a:p>
        </p:txBody>
      </p:sp>
      <p:sp>
        <p:nvSpPr>
          <p:cNvPr id="20" name="TextBox 19"/>
          <p:cNvSpPr txBox="1"/>
          <p:nvPr/>
        </p:nvSpPr>
        <p:spPr>
          <a:xfrm>
            <a:off x="3521278" y="5137447"/>
            <a:ext cx="1941557" cy="307777"/>
          </a:xfrm>
          <a:prstGeom prst="rect">
            <a:avLst/>
          </a:prstGeom>
          <a:noFill/>
          <a:ln>
            <a:solidFill>
              <a:schemeClr val="tx1"/>
            </a:solidFill>
          </a:ln>
        </p:spPr>
        <p:txBody>
          <a:bodyPr wrap="none" rtlCol="0">
            <a:spAutoFit/>
          </a:bodyPr>
          <a:lstStyle/>
          <a:p>
            <a:r>
              <a:rPr lang="en-US" sz="1400" dirty="0" err="1">
                <a:latin typeface="Arial"/>
                <a:cs typeface="Arial"/>
              </a:rPr>
              <a:t>FiniteVolumeManager</a:t>
            </a:r>
            <a:endParaRPr lang="en-US" sz="1400" dirty="0">
              <a:latin typeface="Arial"/>
              <a:cs typeface="Arial"/>
            </a:endParaRPr>
          </a:p>
        </p:txBody>
      </p:sp>
      <p:sp>
        <p:nvSpPr>
          <p:cNvPr id="21" name="TextBox 20"/>
          <p:cNvSpPr txBox="1"/>
          <p:nvPr/>
        </p:nvSpPr>
        <p:spPr>
          <a:xfrm>
            <a:off x="3535921" y="2564904"/>
            <a:ext cx="1631739" cy="307777"/>
          </a:xfrm>
          <a:prstGeom prst="rect">
            <a:avLst/>
          </a:prstGeom>
          <a:noFill/>
          <a:ln>
            <a:solidFill>
              <a:schemeClr val="tx1"/>
            </a:solidFill>
          </a:ln>
        </p:spPr>
        <p:txBody>
          <a:bodyPr wrap="none" rtlCol="0">
            <a:spAutoFit/>
          </a:bodyPr>
          <a:lstStyle/>
          <a:p>
            <a:r>
              <a:rPr lang="en-US" sz="1400" dirty="0" err="1">
                <a:latin typeface="Arial"/>
                <a:cs typeface="Arial"/>
              </a:rPr>
              <a:t>PropertyDatabase</a:t>
            </a:r>
            <a:endParaRPr lang="en-US" sz="1400" dirty="0">
              <a:latin typeface="Arial"/>
              <a:cs typeface="Arial"/>
            </a:endParaRPr>
          </a:p>
        </p:txBody>
      </p:sp>
      <p:sp>
        <p:nvSpPr>
          <p:cNvPr id="24" name="Date Placeholder 23"/>
          <p:cNvSpPr>
            <a:spLocks noGrp="1"/>
          </p:cNvSpPr>
          <p:nvPr>
            <p:ph type="dt" sz="half" idx="10"/>
          </p:nvPr>
        </p:nvSpPr>
        <p:spPr/>
        <p:txBody>
          <a:bodyPr/>
          <a:lstStyle/>
          <a:p>
            <a:fld id="{E9F7F2ED-9665-2C44-BD5F-C3DA6A9D20FE}" type="datetime1">
              <a:rPr lang="en-US" smtClean="0"/>
              <a:pPr/>
              <a:t>5/2/24</a:t>
            </a:fld>
            <a:endParaRPr lang="en-US" dirty="0"/>
          </a:p>
        </p:txBody>
      </p:sp>
      <p:sp>
        <p:nvSpPr>
          <p:cNvPr id="25" name="Footer Placeholder 24"/>
          <p:cNvSpPr>
            <a:spLocks noGrp="1"/>
          </p:cNvSpPr>
          <p:nvPr>
            <p:ph type="ftr" sz="quarter" idx="11"/>
          </p:nvPr>
        </p:nvSpPr>
        <p:spPr/>
        <p:txBody>
          <a:bodyPr/>
          <a:lstStyle/>
          <a:p>
            <a:r>
              <a:rPr lang="en-US" dirty="0"/>
              <a:t>CSMP++ Introduction</a:t>
            </a:r>
          </a:p>
        </p:txBody>
      </p:sp>
      <p:sp>
        <p:nvSpPr>
          <p:cNvPr id="26" name="TextBox 25"/>
          <p:cNvSpPr txBox="1"/>
          <p:nvPr/>
        </p:nvSpPr>
        <p:spPr>
          <a:xfrm>
            <a:off x="3511476" y="3409255"/>
            <a:ext cx="1651814" cy="307777"/>
          </a:xfrm>
          <a:prstGeom prst="rect">
            <a:avLst/>
          </a:prstGeom>
          <a:noFill/>
          <a:ln>
            <a:solidFill>
              <a:schemeClr val="tx1"/>
            </a:solidFill>
          </a:ln>
        </p:spPr>
        <p:txBody>
          <a:bodyPr wrap="none" rtlCol="0">
            <a:spAutoFit/>
          </a:bodyPr>
          <a:lstStyle/>
          <a:p>
            <a:r>
              <a:rPr lang="en-US" sz="1400" dirty="0" err="1">
                <a:latin typeface="Arial"/>
                <a:cs typeface="Arial"/>
              </a:rPr>
              <a:t>BoundaryInterface</a:t>
            </a:r>
            <a:endParaRPr lang="en-US" sz="1400" dirty="0">
              <a:latin typeface="Arial"/>
              <a:cs typeface="Arial"/>
            </a:endParaRPr>
          </a:p>
        </p:txBody>
      </p:sp>
      <p:sp>
        <p:nvSpPr>
          <p:cNvPr id="27" name="TextBox 26"/>
          <p:cNvSpPr txBox="1"/>
          <p:nvPr/>
        </p:nvSpPr>
        <p:spPr>
          <a:xfrm>
            <a:off x="3511476" y="3789040"/>
            <a:ext cx="2001069" cy="307777"/>
          </a:xfrm>
          <a:prstGeom prst="rect">
            <a:avLst/>
          </a:prstGeom>
          <a:noFill/>
          <a:ln>
            <a:solidFill>
              <a:schemeClr val="tx1"/>
            </a:solidFill>
          </a:ln>
        </p:spPr>
        <p:txBody>
          <a:bodyPr wrap="none" rtlCol="0">
            <a:spAutoFit/>
          </a:bodyPr>
          <a:lstStyle/>
          <a:p>
            <a:r>
              <a:rPr lang="en-US" sz="1400" dirty="0" err="1">
                <a:latin typeface="Arial"/>
                <a:cs typeface="Arial"/>
              </a:rPr>
              <a:t>SplitBoundaryInterface</a:t>
            </a:r>
            <a:endParaRPr lang="en-US" sz="1400" dirty="0">
              <a:latin typeface="Arial"/>
              <a:cs typeface="Arial"/>
            </a:endParaRPr>
          </a:p>
        </p:txBody>
      </p:sp>
      <p:pic>
        <p:nvPicPr>
          <p:cNvPr id="5" name="Picture 4">
            <a:extLst>
              <a:ext uri="{FF2B5EF4-FFF2-40B4-BE49-F238E27FC236}">
                <a16:creationId xmlns:a16="http://schemas.microsoft.com/office/drawing/2014/main" id="{2978086D-33E1-178C-2C33-F6CF316C28E0}"/>
              </a:ext>
            </a:extLst>
          </p:cNvPr>
          <p:cNvPicPr>
            <a:picLocks noChangeAspect="1"/>
          </p:cNvPicPr>
          <p:nvPr/>
        </p:nvPicPr>
        <p:blipFill>
          <a:blip r:embed="rId2"/>
          <a:stretch>
            <a:fillRect/>
          </a:stretch>
        </p:blipFill>
        <p:spPr>
          <a:xfrm>
            <a:off x="300909" y="781305"/>
            <a:ext cx="2716313" cy="5717400"/>
          </a:xfrm>
          <a:prstGeom prst="rect">
            <a:avLst/>
          </a:prstGeom>
        </p:spPr>
      </p:pic>
    </p:spTree>
    <p:extLst>
      <p:ext uri="{BB962C8B-B14F-4D97-AF65-F5344CB8AC3E}">
        <p14:creationId xmlns:p14="http://schemas.microsoft.com/office/powerpoint/2010/main" val="3871575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3">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p:txBody>
          <a:bodyPr/>
          <a:lstStyle/>
          <a:p>
            <a:r>
              <a:rPr lang="en-US" dirty="0" err="1"/>
              <a:t>DiSTRIBUTED</a:t>
            </a:r>
            <a:r>
              <a:rPr lang="en-US" dirty="0"/>
              <a:t> Variables </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15</a:t>
            </a:fld>
            <a:endParaRPr lang="en-US"/>
          </a:p>
        </p:txBody>
      </p:sp>
    </p:spTree>
    <p:extLst>
      <p:ext uri="{BB962C8B-B14F-4D97-AF65-F5344CB8AC3E}">
        <p14:creationId xmlns:p14="http://schemas.microsoft.com/office/powerpoint/2010/main" val="3584334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p:spPr>
        <p:txBody>
          <a:bodyPr/>
          <a:lstStyle/>
          <a:p>
            <a:fld id="{26517712-FF3B-9244-B986-547F752AB9B4}" type="slidenum">
              <a:rPr lang="en-US" smtClean="0"/>
              <a:pPr/>
              <a:t>16</a:t>
            </a:fld>
            <a:endParaRPr lang="en-US"/>
          </a:p>
        </p:txBody>
      </p:sp>
      <p:sp>
        <p:nvSpPr>
          <p:cNvPr id="39939" name="Rectangle 2"/>
          <p:cNvSpPr>
            <a:spLocks noGrp="1" noChangeArrowheads="1"/>
          </p:cNvSpPr>
          <p:nvPr>
            <p:ph type="title"/>
          </p:nvPr>
        </p:nvSpPr>
        <p:spPr>
          <a:xfrm>
            <a:off x="375553" y="96838"/>
            <a:ext cx="8660943" cy="1130300"/>
          </a:xfrm>
        </p:spPr>
        <p:txBody>
          <a:bodyPr/>
          <a:lstStyle/>
          <a:p>
            <a:pPr eaLnBrk="1" hangingPunct="1"/>
            <a:r>
              <a:rPr lang="en-US" dirty="0" err="1"/>
              <a:t>OpenCSMP</a:t>
            </a:r>
            <a:r>
              <a:rPr lang="en-US" dirty="0"/>
              <a:t> interoperable physical variables</a:t>
            </a:r>
          </a:p>
        </p:txBody>
      </p:sp>
      <p:sp>
        <p:nvSpPr>
          <p:cNvPr id="39940" name="Rectangle 3"/>
          <p:cNvSpPr>
            <a:spLocks noGrp="1" noChangeArrowheads="1"/>
          </p:cNvSpPr>
          <p:nvPr>
            <p:ph type="body" idx="1"/>
          </p:nvPr>
        </p:nvSpPr>
        <p:spPr>
          <a:xfrm>
            <a:off x="375553" y="1281334"/>
            <a:ext cx="8229600" cy="5211763"/>
          </a:xfrm>
        </p:spPr>
        <p:txBody>
          <a:bodyPr>
            <a:normAutofit/>
          </a:bodyPr>
          <a:lstStyle/>
          <a:p>
            <a:pPr eaLnBrk="1" hangingPunct="1">
              <a:lnSpc>
                <a:spcPct val="90000"/>
              </a:lnSpc>
            </a:pPr>
            <a:r>
              <a:rPr lang="en-US" sz="2800" dirty="0"/>
              <a:t>In-built types (</a:t>
            </a:r>
            <a:r>
              <a:rPr lang="en-US" sz="2800" dirty="0" err="1"/>
              <a:t>CSMP_definitions.h</a:t>
            </a:r>
            <a:r>
              <a:rPr lang="en-US" sz="2800" dirty="0"/>
              <a:t>)</a:t>
            </a:r>
          </a:p>
          <a:p>
            <a:pPr lvl="1" eaLnBrk="1" hangingPunct="1">
              <a:lnSpc>
                <a:spcPct val="90000"/>
              </a:lnSpc>
            </a:pPr>
            <a:r>
              <a:rPr lang="en-US" sz="2400" b="1" dirty="0">
                <a:solidFill>
                  <a:srgbClr val="0000FF"/>
                </a:solidFill>
                <a:latin typeface="Courier New" charset="0"/>
              </a:rPr>
              <a:t>double</a:t>
            </a:r>
            <a:r>
              <a:rPr lang="en-US" sz="2400" b="1" dirty="0">
                <a:latin typeface="Courier New" charset="0"/>
              </a:rPr>
              <a:t>  </a:t>
            </a:r>
          </a:p>
          <a:p>
            <a:pPr lvl="1" eaLnBrk="1" hangingPunct="1">
              <a:lnSpc>
                <a:spcPct val="90000"/>
              </a:lnSpc>
            </a:pPr>
            <a:r>
              <a:rPr lang="en-US" sz="2400" b="1" dirty="0">
                <a:solidFill>
                  <a:srgbClr val="0000FF"/>
                </a:solidFill>
                <a:latin typeface="Courier New" charset="0"/>
              </a:rPr>
              <a:t>STL container&lt;&gt;::</a:t>
            </a:r>
            <a:r>
              <a:rPr lang="en-US" sz="2400" b="1" dirty="0" err="1">
                <a:solidFill>
                  <a:srgbClr val="0000FF"/>
                </a:solidFill>
                <a:latin typeface="Courier New" charset="0"/>
              </a:rPr>
              <a:t>size_type</a:t>
            </a:r>
            <a:r>
              <a:rPr lang="en-US" sz="2400" b="1" dirty="0">
                <a:solidFill>
                  <a:srgbClr val="0000FF"/>
                </a:solidFill>
                <a:latin typeface="Courier New" charset="0"/>
              </a:rPr>
              <a:t>  = </a:t>
            </a:r>
            <a:r>
              <a:rPr lang="en-US" sz="2400" b="1" dirty="0" err="1">
                <a:latin typeface="Courier New" charset="0"/>
              </a:rPr>
              <a:t>size_t</a:t>
            </a:r>
            <a:endParaRPr lang="en-US" sz="2400" b="1" dirty="0">
              <a:latin typeface="Courier New" charset="0"/>
            </a:endParaRPr>
          </a:p>
          <a:p>
            <a:pPr lvl="1" eaLnBrk="1" hangingPunct="1">
              <a:lnSpc>
                <a:spcPct val="90000"/>
              </a:lnSpc>
            </a:pPr>
            <a:r>
              <a:rPr lang="en-US" sz="2400" b="1" dirty="0" err="1">
                <a:solidFill>
                  <a:srgbClr val="0432FF"/>
                </a:solidFill>
                <a:latin typeface="Courier New" charset="0"/>
              </a:rPr>
              <a:t>enum</a:t>
            </a:r>
            <a:r>
              <a:rPr lang="en-US" sz="2400" b="1" dirty="0">
                <a:solidFill>
                  <a:srgbClr val="0432FF"/>
                </a:solidFill>
                <a:latin typeface="Courier New" charset="0"/>
              </a:rPr>
              <a:t> int8_t</a:t>
            </a:r>
          </a:p>
          <a:p>
            <a:pPr eaLnBrk="1" hangingPunct="1">
              <a:lnSpc>
                <a:spcPct val="90000"/>
              </a:lnSpc>
            </a:pPr>
            <a:r>
              <a:rPr lang="en-US" sz="2800" dirty="0"/>
              <a:t>Abstract data types</a:t>
            </a:r>
          </a:p>
          <a:p>
            <a:pPr lvl="1" eaLnBrk="1" hangingPunct="1">
              <a:lnSpc>
                <a:spcPct val="90000"/>
              </a:lnSpc>
            </a:pPr>
            <a:r>
              <a:rPr lang="en-US" sz="2400" b="1" dirty="0" err="1">
                <a:latin typeface="Courier New" charset="0"/>
              </a:rPr>
              <a:t>ScalarVariable</a:t>
            </a:r>
            <a:r>
              <a:rPr lang="en-US" sz="2400" b="1" dirty="0">
                <a:latin typeface="Courier New" charset="0"/>
              </a:rPr>
              <a:t>          		   </a:t>
            </a:r>
            <a:r>
              <a:rPr lang="en-US" sz="2400" dirty="0"/>
              <a:t>(1 flag)</a:t>
            </a:r>
          </a:p>
          <a:p>
            <a:pPr lvl="1">
              <a:lnSpc>
                <a:spcPct val="90000"/>
              </a:lnSpc>
            </a:pPr>
            <a:r>
              <a:rPr lang="en-US" sz="2400" b="1" dirty="0" err="1">
                <a:latin typeface="Courier New" charset="0"/>
              </a:rPr>
              <a:t>VectorVariable</a:t>
            </a:r>
            <a:r>
              <a:rPr lang="en-US" sz="2400" b="1" dirty="0">
                <a:latin typeface="Courier New" charset="0"/>
              </a:rPr>
              <a:t>&lt;uint32_t&gt;  		</a:t>
            </a:r>
            <a:r>
              <a:rPr lang="en-US" sz="2400" dirty="0"/>
              <a:t>(dim flags)</a:t>
            </a:r>
            <a:endParaRPr lang="en-US" sz="2400" b="1" dirty="0">
              <a:latin typeface="Courier New" charset="0"/>
            </a:endParaRPr>
          </a:p>
          <a:p>
            <a:pPr lvl="1">
              <a:lnSpc>
                <a:spcPct val="90000"/>
              </a:lnSpc>
            </a:pPr>
            <a:r>
              <a:rPr lang="en-US" sz="2400" b="1" dirty="0" err="1">
                <a:latin typeface="Courier New" charset="0"/>
              </a:rPr>
              <a:t>TensorVariable</a:t>
            </a:r>
            <a:r>
              <a:rPr lang="en-US" sz="2400" b="1" dirty="0">
                <a:latin typeface="Courier New" charset="0"/>
              </a:rPr>
              <a:t>&lt; uint32_t &gt;  		</a:t>
            </a:r>
            <a:r>
              <a:rPr lang="en-US" sz="2400" dirty="0"/>
              <a:t>(dim flags)</a:t>
            </a:r>
            <a:endParaRPr lang="en-US" sz="2400" b="1" dirty="0">
              <a:latin typeface="Courier New" charset="0"/>
            </a:endParaRPr>
          </a:p>
          <a:p>
            <a:pPr lvl="1">
              <a:lnSpc>
                <a:spcPct val="90000"/>
              </a:lnSpc>
            </a:pPr>
            <a:r>
              <a:rPr lang="en-US" sz="2400" b="1" dirty="0" err="1">
                <a:solidFill>
                  <a:schemeClr val="tx1">
                    <a:lumMod val="95000"/>
                    <a:lumOff val="5000"/>
                  </a:schemeClr>
                </a:solidFill>
                <a:latin typeface="Courier New" charset="0"/>
              </a:rPr>
              <a:t>ArrayVariable</a:t>
            </a:r>
            <a:r>
              <a:rPr lang="en-US" sz="2400" b="1" dirty="0">
                <a:solidFill>
                  <a:schemeClr val="tx1">
                    <a:lumMod val="95000"/>
                    <a:lumOff val="5000"/>
                  </a:schemeClr>
                </a:solidFill>
                <a:latin typeface="Courier New" charset="0"/>
              </a:rPr>
              <a:t>&lt;</a:t>
            </a:r>
            <a:r>
              <a:rPr lang="en-US" sz="2400" b="1" dirty="0">
                <a:latin typeface="Courier New" charset="0"/>
              </a:rPr>
              <a:t> uint32_t </a:t>
            </a:r>
            <a:r>
              <a:rPr lang="en-US" sz="2400" b="1" dirty="0">
                <a:solidFill>
                  <a:schemeClr val="tx1">
                    <a:lumMod val="95000"/>
                    <a:lumOff val="5000"/>
                  </a:schemeClr>
                </a:solidFill>
                <a:latin typeface="Courier New" charset="0"/>
              </a:rPr>
              <a:t>&gt;   		</a:t>
            </a:r>
            <a:r>
              <a:rPr lang="en-US" sz="2400" dirty="0"/>
              <a:t>(1 flag)</a:t>
            </a:r>
            <a:endParaRPr lang="en-US" sz="2400" b="1" dirty="0">
              <a:latin typeface="Courier New" charset="0"/>
            </a:endParaRPr>
          </a:p>
          <a:p>
            <a:pPr lvl="1">
              <a:lnSpc>
                <a:spcPct val="90000"/>
              </a:lnSpc>
            </a:pPr>
            <a:r>
              <a:rPr lang="en-US" sz="2400" b="1" dirty="0" err="1">
                <a:solidFill>
                  <a:schemeClr val="tx1">
                    <a:lumMod val="95000"/>
                    <a:lumOff val="5000"/>
                  </a:schemeClr>
                </a:solidFill>
                <a:latin typeface="Courier New" charset="0"/>
              </a:rPr>
              <a:t>FlaggedArrayVariable</a:t>
            </a:r>
            <a:r>
              <a:rPr lang="en-US" sz="2400" b="1" dirty="0">
                <a:solidFill>
                  <a:schemeClr val="tx1">
                    <a:lumMod val="95000"/>
                    <a:lumOff val="5000"/>
                  </a:schemeClr>
                </a:solidFill>
                <a:latin typeface="Courier New" charset="0"/>
              </a:rPr>
              <a:t>&lt;</a:t>
            </a:r>
            <a:r>
              <a:rPr lang="en-US" sz="2400" b="1" dirty="0">
                <a:latin typeface="Courier New" charset="0"/>
              </a:rPr>
              <a:t>uint32_t</a:t>
            </a:r>
            <a:r>
              <a:rPr lang="en-US" sz="2400" b="1" dirty="0">
                <a:solidFill>
                  <a:schemeClr val="tx1">
                    <a:lumMod val="95000"/>
                    <a:lumOff val="5000"/>
                  </a:schemeClr>
                </a:solidFill>
                <a:latin typeface="Courier New" charset="0"/>
              </a:rPr>
              <a:t>&gt; </a:t>
            </a:r>
            <a:r>
              <a:rPr lang="en-US" sz="2400" dirty="0"/>
              <a:t>(n flags)</a:t>
            </a:r>
            <a:endParaRPr lang="en-US" sz="2400" b="1" dirty="0">
              <a:latin typeface="Courier New" charset="0"/>
            </a:endParaRPr>
          </a:p>
        </p:txBody>
      </p:sp>
      <p:sp>
        <p:nvSpPr>
          <p:cNvPr id="5" name="Date Placeholder 4"/>
          <p:cNvSpPr>
            <a:spLocks noGrp="1"/>
          </p:cNvSpPr>
          <p:nvPr>
            <p:ph type="dt" sz="half" idx="10"/>
          </p:nvPr>
        </p:nvSpPr>
        <p:spPr/>
        <p:txBody>
          <a:bodyPr/>
          <a:lstStyle/>
          <a:p>
            <a:fld id="{00724C21-4A88-7246-B6C5-892D98581E85}" type="datetime1">
              <a:rPr lang="en-US" smtClean="0"/>
              <a:pPr/>
              <a:t>5/2/24</a:t>
            </a:fld>
            <a:endParaRPr lang="en-US"/>
          </a:p>
        </p:txBody>
      </p:sp>
      <p:sp>
        <p:nvSpPr>
          <p:cNvPr id="6" name="Footer Placeholder 5"/>
          <p:cNvSpPr>
            <a:spLocks noGrp="1"/>
          </p:cNvSpPr>
          <p:nvPr>
            <p:ph type="ftr" sz="quarter" idx="11"/>
          </p:nvPr>
        </p:nvSpPr>
        <p:spPr/>
        <p:txBody>
          <a:bodyPr/>
          <a:lstStyle/>
          <a:p>
            <a:endParaRPr lang="en-US" dirty="0"/>
          </a:p>
          <a:p>
            <a:r>
              <a:rPr lang="en-US" dirty="0"/>
              <a:t>Distributed Variables</a:t>
            </a:r>
          </a:p>
          <a:p>
            <a:endParaRPr lang="en-US" dirty="0"/>
          </a:p>
        </p:txBody>
      </p:sp>
    </p:spTree>
    <p:extLst>
      <p:ext uri="{BB962C8B-B14F-4D97-AF65-F5344CB8AC3E}">
        <p14:creationId xmlns:p14="http://schemas.microsoft.com/office/powerpoint/2010/main" val="3633658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p:cNvSpPr>
            <a:spLocks noGrp="1"/>
          </p:cNvSpPr>
          <p:nvPr>
            <p:ph type="sldNum" sz="quarter" idx="12"/>
          </p:nvPr>
        </p:nvSpPr>
        <p:spPr>
          <a:noFill/>
        </p:spPr>
        <p:txBody>
          <a:bodyPr/>
          <a:lstStyle/>
          <a:p>
            <a:fld id="{2C44404F-1A23-5744-A5E8-8D02DE880158}" type="slidenum">
              <a:rPr lang="en-US" smtClean="0"/>
              <a:pPr/>
              <a:t>17</a:t>
            </a:fld>
            <a:endParaRPr lang="en-US"/>
          </a:p>
        </p:txBody>
      </p:sp>
      <p:sp>
        <p:nvSpPr>
          <p:cNvPr id="33795" name="Rectangle 2"/>
          <p:cNvSpPr>
            <a:spLocks noGrp="1" noChangeArrowheads="1"/>
          </p:cNvSpPr>
          <p:nvPr>
            <p:ph type="title"/>
          </p:nvPr>
        </p:nvSpPr>
        <p:spPr>
          <a:xfrm>
            <a:off x="484044" y="188640"/>
            <a:ext cx="8229600" cy="2088232"/>
          </a:xfrm>
        </p:spPr>
        <p:txBody>
          <a:bodyPr>
            <a:normAutofit fontScale="90000"/>
          </a:bodyPr>
          <a:lstStyle/>
          <a:p>
            <a:pPr eaLnBrk="1" hangingPunct="1"/>
            <a:r>
              <a:rPr lang="en-US" dirty="0"/>
              <a:t>Variable Placement</a:t>
            </a:r>
            <a:br>
              <a:rPr lang="en-US" dirty="0"/>
            </a:br>
            <a:r>
              <a:rPr lang="en-US" sz="2200" b="1" dirty="0">
                <a:solidFill>
                  <a:schemeClr val="tx1"/>
                </a:solidFill>
              </a:rPr>
              <a:t>Options: </a:t>
            </a:r>
            <a:r>
              <a:rPr lang="en-US" sz="2200" dirty="0">
                <a:solidFill>
                  <a:schemeClr val="tx1"/>
                </a:solidFill>
              </a:rPr>
              <a:t>model, region, boundary, split boundary, element, face, interface, node; </a:t>
            </a:r>
            <a:br>
              <a:rPr lang="en-US" sz="2200" dirty="0">
                <a:solidFill>
                  <a:schemeClr val="tx1"/>
                </a:solidFill>
              </a:rPr>
            </a:br>
            <a:br>
              <a:rPr lang="en-US" sz="2200" dirty="0">
                <a:solidFill>
                  <a:schemeClr val="tx1"/>
                </a:solidFill>
              </a:rPr>
            </a:br>
            <a:r>
              <a:rPr lang="en-US" sz="2200" dirty="0">
                <a:solidFill>
                  <a:schemeClr val="tx1"/>
                </a:solidFill>
              </a:rPr>
              <a:t>Within element: </a:t>
            </a:r>
            <a:r>
              <a:rPr lang="en-US" sz="2200" dirty="0">
                <a:solidFill>
                  <a:srgbClr val="0D0D0D"/>
                </a:solidFill>
              </a:rPr>
              <a:t>ELEMENT_INTEGRATION_POINT, FACET_INTEGRATION_POINT,  SECTOR_INTEGRATION_POINT</a:t>
            </a:r>
          </a:p>
        </p:txBody>
      </p:sp>
      <p:pic>
        <p:nvPicPr>
          <p:cNvPr id="33796" name="Picture 3" descr="fig"/>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403648" y="2596904"/>
            <a:ext cx="5961856" cy="3833121"/>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5A924D08-1259-B34A-8611-C6E2C0D282ED}" type="datetime1">
              <a:rPr lang="en-US" smtClean="0"/>
              <a:pPr/>
              <a:t>5/2/24</a:t>
            </a:fld>
            <a:endParaRPr lang="en-US" dirty="0"/>
          </a:p>
        </p:txBody>
      </p:sp>
      <p:sp>
        <p:nvSpPr>
          <p:cNvPr id="7" name="Footer Placeholder 5"/>
          <p:cNvSpPr>
            <a:spLocks noGrp="1"/>
          </p:cNvSpPr>
          <p:nvPr>
            <p:ph type="ftr" sz="quarter" idx="11"/>
          </p:nvPr>
        </p:nvSpPr>
        <p:spPr>
          <a:xfrm>
            <a:off x="3124200" y="6492875"/>
            <a:ext cx="2895600" cy="365125"/>
          </a:xfrm>
        </p:spPr>
        <p:txBody>
          <a:bodyPr/>
          <a:lstStyle/>
          <a:p>
            <a:endParaRPr lang="en-US" dirty="0"/>
          </a:p>
          <a:p>
            <a:r>
              <a:rPr lang="en-US" dirty="0"/>
              <a:t>Distributed Variables</a:t>
            </a:r>
          </a:p>
          <a:p>
            <a:endParaRPr lang="en-US" dirty="0"/>
          </a:p>
        </p:txBody>
      </p:sp>
    </p:spTree>
    <p:extLst>
      <p:ext uri="{BB962C8B-B14F-4D97-AF65-F5344CB8AC3E}">
        <p14:creationId xmlns:p14="http://schemas.microsoft.com/office/powerpoint/2010/main" val="1424075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placements on finite elements</a:t>
            </a:r>
          </a:p>
        </p:txBody>
      </p:sp>
      <p:sp>
        <p:nvSpPr>
          <p:cNvPr id="3" name="Date Placeholder 2"/>
          <p:cNvSpPr>
            <a:spLocks noGrp="1"/>
          </p:cNvSpPr>
          <p:nvPr>
            <p:ph type="dt" sz="half" idx="10"/>
          </p:nvPr>
        </p:nvSpPr>
        <p:spPr/>
        <p:txBody>
          <a:bodyPr/>
          <a:lstStyle/>
          <a:p>
            <a:fld id="{C1762EE7-3E26-8344-9AFB-A62088F617B5}" type="datetime1">
              <a:rPr lang="en-US" smtClean="0"/>
              <a:pPr/>
              <a:t>5/2/24</a:t>
            </a:fld>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18</a:t>
            </a:fld>
            <a:endParaRPr lang="en-US"/>
          </a:p>
        </p:txBody>
      </p:sp>
      <p:grpSp>
        <p:nvGrpSpPr>
          <p:cNvPr id="6" name="Group 3"/>
          <p:cNvGrpSpPr>
            <a:grpSpLocks/>
          </p:cNvGrpSpPr>
          <p:nvPr/>
        </p:nvGrpSpPr>
        <p:grpSpPr bwMode="auto">
          <a:xfrm>
            <a:off x="442236" y="1571228"/>
            <a:ext cx="3314700" cy="3009900"/>
            <a:chOff x="1855" y="1489"/>
            <a:chExt cx="2088" cy="1896"/>
          </a:xfrm>
        </p:grpSpPr>
        <p:sp>
          <p:nvSpPr>
            <p:cNvPr id="7" name="Freeform 4"/>
            <p:cNvSpPr>
              <a:spLocks/>
            </p:cNvSpPr>
            <p:nvPr/>
          </p:nvSpPr>
          <p:spPr bwMode="auto">
            <a:xfrm>
              <a:off x="1927" y="1553"/>
              <a:ext cx="1943" cy="1763"/>
            </a:xfrm>
            <a:custGeom>
              <a:avLst/>
              <a:gdLst>
                <a:gd name="T0" fmla="*/ 0 w 1943"/>
                <a:gd name="T1" fmla="*/ 1486 h 1763"/>
                <a:gd name="T2" fmla="*/ 998 w 1943"/>
                <a:gd name="T3" fmla="*/ 0 h 1763"/>
                <a:gd name="T4" fmla="*/ 1943 w 1943"/>
                <a:gd name="T5" fmla="*/ 1763 h 1763"/>
                <a:gd name="T6" fmla="*/ 0 w 1943"/>
                <a:gd name="T7" fmla="*/ 1486 h 1763"/>
              </a:gdLst>
              <a:ahLst/>
              <a:cxnLst>
                <a:cxn ang="0">
                  <a:pos x="T0" y="T1"/>
                </a:cxn>
                <a:cxn ang="0">
                  <a:pos x="T2" y="T3"/>
                </a:cxn>
                <a:cxn ang="0">
                  <a:pos x="T4" y="T5"/>
                </a:cxn>
                <a:cxn ang="0">
                  <a:pos x="T6" y="T7"/>
                </a:cxn>
              </a:cxnLst>
              <a:rect l="0" t="0" r="r" b="b"/>
              <a:pathLst>
                <a:path w="1943" h="1763">
                  <a:moveTo>
                    <a:pt x="0" y="1486"/>
                  </a:moveTo>
                  <a:lnTo>
                    <a:pt x="998" y="0"/>
                  </a:lnTo>
                  <a:lnTo>
                    <a:pt x="1943" y="1763"/>
                  </a:lnTo>
                  <a:lnTo>
                    <a:pt x="0" y="1486"/>
                  </a:lnTo>
                  <a:close/>
                </a:path>
              </a:pathLst>
            </a:custGeom>
            <a:solidFill>
              <a:srgbClr val="FFFF00"/>
            </a:solidFill>
            <a:ln w="19050" cmpd="sng">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dirty="0"/>
            </a:p>
          </p:txBody>
        </p:sp>
        <p:sp>
          <p:nvSpPr>
            <p:cNvPr id="8" name="Oval 5"/>
            <p:cNvSpPr>
              <a:spLocks noChangeArrowheads="1"/>
            </p:cNvSpPr>
            <p:nvPr/>
          </p:nvSpPr>
          <p:spPr bwMode="auto">
            <a:xfrm>
              <a:off x="1855" y="2968"/>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9" name="Oval 6"/>
            <p:cNvSpPr>
              <a:spLocks noChangeArrowheads="1"/>
            </p:cNvSpPr>
            <p:nvPr/>
          </p:nvSpPr>
          <p:spPr bwMode="auto">
            <a:xfrm>
              <a:off x="3793" y="3244"/>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 name="Oval 7"/>
            <p:cNvSpPr>
              <a:spLocks noChangeArrowheads="1"/>
            </p:cNvSpPr>
            <p:nvPr/>
          </p:nvSpPr>
          <p:spPr bwMode="auto">
            <a:xfrm>
              <a:off x="2847" y="1489"/>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
        <p:nvSpPr>
          <p:cNvPr id="11" name="Text Box 8"/>
          <p:cNvSpPr txBox="1">
            <a:spLocks noChangeArrowheads="1"/>
          </p:cNvSpPr>
          <p:nvPr/>
        </p:nvSpPr>
        <p:spPr bwMode="auto">
          <a:xfrm>
            <a:off x="2269448" y="1315641"/>
            <a:ext cx="1870504"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latin typeface="Arial" charset="0"/>
              </a:rPr>
              <a:t>fluid pressure, </a:t>
            </a:r>
            <a:r>
              <a:rPr lang="en-US" i="1" dirty="0">
                <a:latin typeface="Arial" charset="0"/>
              </a:rPr>
              <a:t>p</a:t>
            </a:r>
          </a:p>
          <a:p>
            <a:r>
              <a:rPr lang="en-US" dirty="0">
                <a:latin typeface="Arial" charset="0"/>
              </a:rPr>
              <a:t>viscosity</a:t>
            </a:r>
            <a:r>
              <a:rPr lang="en-US" i="1" dirty="0">
                <a:latin typeface="Arial" charset="0"/>
              </a:rPr>
              <a:t>, μ</a:t>
            </a:r>
            <a:endParaRPr lang="en-GB" i="1" dirty="0">
              <a:latin typeface="Arial" charset="0"/>
            </a:endParaRPr>
          </a:p>
        </p:txBody>
      </p:sp>
      <p:sp>
        <p:nvSpPr>
          <p:cNvPr id="12" name="Text Box 9"/>
          <p:cNvSpPr txBox="1">
            <a:spLocks noChangeArrowheads="1"/>
          </p:cNvSpPr>
          <p:nvPr/>
        </p:nvSpPr>
        <p:spPr bwMode="auto">
          <a:xfrm>
            <a:off x="1195135" y="2785784"/>
            <a:ext cx="1685077"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dirty="0">
                <a:latin typeface="Arial" charset="0"/>
              </a:rPr>
              <a:t>Element</a:t>
            </a:r>
          </a:p>
          <a:p>
            <a:pPr algn="ctr"/>
            <a:r>
              <a:rPr lang="en-US" sz="1800" dirty="0">
                <a:latin typeface="Arial" charset="0"/>
              </a:rPr>
              <a:t>permeability, </a:t>
            </a:r>
            <a:r>
              <a:rPr lang="en-US" sz="1800" b="1" dirty="0">
                <a:latin typeface="Arial" charset="0"/>
              </a:rPr>
              <a:t>k</a:t>
            </a:r>
          </a:p>
          <a:p>
            <a:pPr algn="ctr"/>
            <a:r>
              <a:rPr lang="en-US" sz="1800" dirty="0">
                <a:latin typeface="Arial" charset="0"/>
              </a:rPr>
              <a:t>porosity, </a:t>
            </a:r>
            <a:r>
              <a:rPr lang="en-US" sz="1800" dirty="0" err="1">
                <a:latin typeface="Arial" charset="0"/>
              </a:rPr>
              <a:t>ϕ</a:t>
            </a:r>
            <a:endParaRPr lang="en-US" sz="1800" i="1" dirty="0">
              <a:latin typeface="Arial" charset="0"/>
            </a:endParaRPr>
          </a:p>
          <a:p>
            <a:pPr algn="ctr"/>
            <a:r>
              <a:rPr lang="en-US" sz="1800" dirty="0">
                <a:latin typeface="Arial" charset="0"/>
              </a:rPr>
              <a:t>velocity, </a:t>
            </a:r>
            <a:r>
              <a:rPr lang="en-US" sz="1800" i="1" dirty="0">
                <a:latin typeface="Arial" charset="0"/>
              </a:rPr>
              <a:t>v</a:t>
            </a:r>
            <a:endParaRPr lang="en-GB" sz="1800" i="1" dirty="0">
              <a:latin typeface="Arial" charset="0"/>
            </a:endParaRPr>
          </a:p>
        </p:txBody>
      </p:sp>
      <p:sp>
        <p:nvSpPr>
          <p:cNvPr id="13" name="Text Box 10"/>
          <p:cNvSpPr txBox="1">
            <a:spLocks noChangeArrowheads="1"/>
          </p:cNvSpPr>
          <p:nvPr/>
        </p:nvSpPr>
        <p:spPr bwMode="auto">
          <a:xfrm>
            <a:off x="323528" y="1603673"/>
            <a:ext cx="1584176"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r>
              <a:rPr lang="en-US" sz="2000" dirty="0">
                <a:latin typeface="Arial" charset="0"/>
              </a:rPr>
              <a:t>Variable placement</a:t>
            </a:r>
            <a:endParaRPr lang="en-GB" sz="2000" dirty="0">
              <a:latin typeface="Arial" charset="0"/>
            </a:endParaRPr>
          </a:p>
        </p:txBody>
      </p:sp>
      <p:grpSp>
        <p:nvGrpSpPr>
          <p:cNvPr id="14" name="Group 13"/>
          <p:cNvGrpSpPr/>
          <p:nvPr/>
        </p:nvGrpSpPr>
        <p:grpSpPr>
          <a:xfrm>
            <a:off x="3629893" y="1772816"/>
            <a:ext cx="5406603" cy="4714875"/>
            <a:chOff x="1800647" y="996950"/>
            <a:chExt cx="5406603" cy="4714875"/>
          </a:xfrm>
        </p:grpSpPr>
        <p:sp>
          <p:nvSpPr>
            <p:cNvPr id="15" name="Freeform 3"/>
            <p:cNvSpPr>
              <a:spLocks/>
            </p:cNvSpPr>
            <p:nvPr/>
          </p:nvSpPr>
          <p:spPr bwMode="auto">
            <a:xfrm>
              <a:off x="2516188" y="1801813"/>
              <a:ext cx="3857625" cy="3402012"/>
            </a:xfrm>
            <a:custGeom>
              <a:avLst/>
              <a:gdLst>
                <a:gd name="T0" fmla="*/ 0 w 2430"/>
                <a:gd name="T1" fmla="*/ 2147483647 h 2143"/>
                <a:gd name="T2" fmla="*/ 2147483647 w 2430"/>
                <a:gd name="T3" fmla="*/ 0 h 2143"/>
                <a:gd name="T4" fmla="*/ 2147483647 w 2430"/>
                <a:gd name="T5" fmla="*/ 2147483647 h 2143"/>
                <a:gd name="T6" fmla="*/ 0 w 2430"/>
                <a:gd name="T7" fmla="*/ 2147483647 h 2143"/>
                <a:gd name="T8" fmla="*/ 0 60000 65536"/>
                <a:gd name="T9" fmla="*/ 0 60000 65536"/>
                <a:gd name="T10" fmla="*/ 0 60000 65536"/>
                <a:gd name="T11" fmla="*/ 0 60000 65536"/>
                <a:gd name="T12" fmla="*/ 0 w 2430"/>
                <a:gd name="T13" fmla="*/ 0 h 2143"/>
                <a:gd name="T14" fmla="*/ 2430 w 2430"/>
                <a:gd name="T15" fmla="*/ 2143 h 2143"/>
              </a:gdLst>
              <a:ahLst/>
              <a:cxnLst>
                <a:cxn ang="T8">
                  <a:pos x="T0" y="T1"/>
                </a:cxn>
                <a:cxn ang="T9">
                  <a:pos x="T2" y="T3"/>
                </a:cxn>
                <a:cxn ang="T10">
                  <a:pos x="T4" y="T5"/>
                </a:cxn>
                <a:cxn ang="T11">
                  <a:pos x="T6" y="T7"/>
                </a:cxn>
              </a:cxnLst>
              <a:rect l="T12" t="T13" r="T14" b="T15"/>
              <a:pathLst>
                <a:path w="2430" h="2143">
                  <a:moveTo>
                    <a:pt x="0" y="2143"/>
                  </a:moveTo>
                  <a:lnTo>
                    <a:pt x="1252" y="0"/>
                  </a:lnTo>
                  <a:lnTo>
                    <a:pt x="2430" y="2104"/>
                  </a:lnTo>
                  <a:lnTo>
                    <a:pt x="0" y="2143"/>
                  </a:lnTo>
                  <a:close/>
                </a:path>
              </a:pathLst>
            </a:custGeom>
            <a:solidFill>
              <a:srgbClr val="FFFF00"/>
            </a:solidFill>
            <a:ln w="28575">
              <a:solidFill>
                <a:schemeClr val="tx1"/>
              </a:solidFill>
              <a:miter lim="800000"/>
              <a:headEnd/>
              <a:tailEnd/>
            </a:ln>
          </p:spPr>
          <p:txBody>
            <a:bodyPr wrap="none"/>
            <a:lstStyle/>
            <a:p>
              <a:endParaRPr lang="en-US" dirty="0"/>
            </a:p>
          </p:txBody>
        </p:sp>
        <p:sp>
          <p:nvSpPr>
            <p:cNvPr id="16" name="Oval 4"/>
            <p:cNvSpPr>
              <a:spLocks noChangeArrowheads="1"/>
            </p:cNvSpPr>
            <p:nvPr/>
          </p:nvSpPr>
          <p:spPr bwMode="auto">
            <a:xfrm>
              <a:off x="2378075" y="5080000"/>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7" name="Oval 5"/>
            <p:cNvSpPr>
              <a:spLocks noChangeArrowheads="1"/>
            </p:cNvSpPr>
            <p:nvPr/>
          </p:nvSpPr>
          <p:spPr bwMode="auto">
            <a:xfrm>
              <a:off x="6229350" y="5026025"/>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8" name="Oval 6"/>
            <p:cNvSpPr>
              <a:spLocks noChangeArrowheads="1"/>
            </p:cNvSpPr>
            <p:nvPr/>
          </p:nvSpPr>
          <p:spPr bwMode="auto">
            <a:xfrm>
              <a:off x="4359275" y="1671638"/>
              <a:ext cx="288925" cy="255587"/>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9" name="Line 7"/>
            <p:cNvSpPr>
              <a:spLocks noChangeShapeType="1"/>
            </p:cNvSpPr>
            <p:nvPr/>
          </p:nvSpPr>
          <p:spPr bwMode="auto">
            <a:xfrm>
              <a:off x="4503738" y="3863975"/>
              <a:ext cx="20637" cy="1306513"/>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0" name="Line 8"/>
            <p:cNvSpPr>
              <a:spLocks noChangeShapeType="1"/>
            </p:cNvSpPr>
            <p:nvPr/>
          </p:nvSpPr>
          <p:spPr bwMode="auto">
            <a:xfrm flipV="1">
              <a:off x="4505325" y="3535363"/>
              <a:ext cx="962025" cy="336550"/>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1" name="Line 9"/>
            <p:cNvSpPr>
              <a:spLocks noChangeShapeType="1"/>
            </p:cNvSpPr>
            <p:nvPr/>
          </p:nvSpPr>
          <p:spPr bwMode="auto">
            <a:xfrm>
              <a:off x="3551238" y="3433763"/>
              <a:ext cx="962025" cy="433387"/>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2" name="Line 10"/>
            <p:cNvSpPr>
              <a:spLocks noChangeShapeType="1"/>
            </p:cNvSpPr>
            <p:nvPr/>
          </p:nvSpPr>
          <p:spPr bwMode="auto">
            <a:xfrm flipV="1">
              <a:off x="4516438" y="4475163"/>
              <a:ext cx="598487" cy="34925"/>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23" name="Oval 11"/>
            <p:cNvSpPr>
              <a:spLocks noChangeArrowheads="1"/>
            </p:cNvSpPr>
            <p:nvPr/>
          </p:nvSpPr>
          <p:spPr bwMode="auto">
            <a:xfrm>
              <a:off x="3644900" y="4386263"/>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4" name="Oval 12"/>
            <p:cNvSpPr>
              <a:spLocks noChangeArrowheads="1"/>
            </p:cNvSpPr>
            <p:nvPr/>
          </p:nvSpPr>
          <p:spPr bwMode="auto">
            <a:xfrm>
              <a:off x="4429125" y="300513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5" name="Oval 13"/>
            <p:cNvSpPr>
              <a:spLocks noChangeArrowheads="1"/>
            </p:cNvSpPr>
            <p:nvPr/>
          </p:nvSpPr>
          <p:spPr bwMode="auto">
            <a:xfrm>
              <a:off x="5186363" y="440848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6" name="Text Box 14"/>
            <p:cNvSpPr txBox="1">
              <a:spLocks noChangeArrowheads="1"/>
            </p:cNvSpPr>
            <p:nvPr/>
          </p:nvSpPr>
          <p:spPr bwMode="auto">
            <a:xfrm>
              <a:off x="3744913" y="996950"/>
              <a:ext cx="151765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FiniteVolume</a:t>
              </a:r>
            </a:p>
            <a:p>
              <a:pPr eaLnBrk="1" hangingPunct="1"/>
              <a:r>
                <a:rPr lang="en-US" sz="1800">
                  <a:latin typeface="Arial" charset="0"/>
                </a:rPr>
                <a:t>=FEM node</a:t>
              </a:r>
              <a:endParaRPr lang="en-GB" sz="1800">
                <a:latin typeface="Arial" charset="0"/>
              </a:endParaRPr>
            </a:p>
          </p:txBody>
        </p:sp>
        <p:sp>
          <p:nvSpPr>
            <p:cNvPr id="27" name="Text Box 15"/>
            <p:cNvSpPr txBox="1">
              <a:spLocks noChangeArrowheads="1"/>
            </p:cNvSpPr>
            <p:nvPr/>
          </p:nvSpPr>
          <p:spPr bwMode="auto">
            <a:xfrm>
              <a:off x="3151935" y="4641850"/>
              <a:ext cx="1200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FV Sector</a:t>
              </a:r>
              <a:endParaRPr lang="en-GB" sz="1800" dirty="0">
                <a:latin typeface="Arial" charset="0"/>
              </a:endParaRPr>
            </a:p>
          </p:txBody>
        </p:sp>
        <p:sp>
          <p:nvSpPr>
            <p:cNvPr id="28" name="Text Box 16"/>
            <p:cNvSpPr txBox="1">
              <a:spLocks noChangeArrowheads="1"/>
            </p:cNvSpPr>
            <p:nvPr/>
          </p:nvSpPr>
          <p:spPr bwMode="auto">
            <a:xfrm>
              <a:off x="4021138" y="5208588"/>
              <a:ext cx="11112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FV Facet</a:t>
              </a:r>
              <a:endParaRPr lang="en-GB" sz="1800">
                <a:latin typeface="Arial" charset="0"/>
              </a:endParaRPr>
            </a:p>
          </p:txBody>
        </p:sp>
        <p:sp>
          <p:nvSpPr>
            <p:cNvPr id="29" name="Text Box 17"/>
            <p:cNvSpPr txBox="1">
              <a:spLocks noChangeArrowheads="1"/>
            </p:cNvSpPr>
            <p:nvPr/>
          </p:nvSpPr>
          <p:spPr bwMode="auto">
            <a:xfrm>
              <a:off x="1824038" y="5345113"/>
              <a:ext cx="13525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inside node</a:t>
              </a:r>
              <a:endParaRPr lang="en-GB" sz="1800">
                <a:latin typeface="Arial" charset="0"/>
              </a:endParaRPr>
            </a:p>
          </p:txBody>
        </p:sp>
        <p:sp>
          <p:nvSpPr>
            <p:cNvPr id="30" name="Text Box 18"/>
            <p:cNvSpPr txBox="1">
              <a:spLocks noChangeArrowheads="1"/>
            </p:cNvSpPr>
            <p:nvPr/>
          </p:nvSpPr>
          <p:spPr bwMode="auto">
            <a:xfrm>
              <a:off x="5715000" y="5235575"/>
              <a:ext cx="14922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outside node</a:t>
              </a:r>
              <a:endParaRPr lang="en-GB" sz="1800">
                <a:latin typeface="Arial" charset="0"/>
              </a:endParaRPr>
            </a:p>
          </p:txBody>
        </p:sp>
        <p:sp>
          <p:nvSpPr>
            <p:cNvPr id="31" name="Oval 19"/>
            <p:cNvSpPr>
              <a:spLocks noChangeArrowheads="1"/>
            </p:cNvSpPr>
            <p:nvPr/>
          </p:nvSpPr>
          <p:spPr bwMode="auto">
            <a:xfrm>
              <a:off x="4441825" y="4427538"/>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2" name="Oval 20"/>
            <p:cNvSpPr>
              <a:spLocks noChangeArrowheads="1"/>
            </p:cNvSpPr>
            <p:nvPr/>
          </p:nvSpPr>
          <p:spPr bwMode="auto">
            <a:xfrm>
              <a:off x="4895850" y="3638550"/>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3" name="Oval 21"/>
            <p:cNvSpPr>
              <a:spLocks noChangeArrowheads="1"/>
            </p:cNvSpPr>
            <p:nvPr/>
          </p:nvSpPr>
          <p:spPr bwMode="auto">
            <a:xfrm>
              <a:off x="3940175" y="3565525"/>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4" name="Text Box 22"/>
            <p:cNvSpPr txBox="1">
              <a:spLocks noChangeArrowheads="1"/>
            </p:cNvSpPr>
            <p:nvPr/>
          </p:nvSpPr>
          <p:spPr bwMode="auto">
            <a:xfrm>
              <a:off x="4033323" y="2656638"/>
              <a:ext cx="24955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sector integration point</a:t>
              </a:r>
              <a:endParaRPr lang="en-GB" sz="1800" dirty="0">
                <a:latin typeface="Arial" charset="0"/>
              </a:endParaRPr>
            </a:p>
          </p:txBody>
        </p:sp>
        <p:sp>
          <p:nvSpPr>
            <p:cNvPr id="35" name="Rectangle 23"/>
            <p:cNvSpPr>
              <a:spLocks noChangeArrowheads="1"/>
            </p:cNvSpPr>
            <p:nvPr/>
          </p:nvSpPr>
          <p:spPr bwMode="auto">
            <a:xfrm>
              <a:off x="1800647" y="1706984"/>
              <a:ext cx="2454275"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2000" dirty="0" err="1">
                  <a:latin typeface="Arial" charset="0"/>
                </a:rPr>
                <a:t>FiniteVolumeStencil</a:t>
              </a:r>
              <a:endParaRPr lang="en-US" sz="2000" dirty="0">
                <a:latin typeface="Arial" charset="0"/>
              </a:endParaRPr>
            </a:p>
            <a:p>
              <a:r>
                <a:rPr lang="en-US" dirty="0">
                  <a:latin typeface="Arial" charset="0"/>
                </a:rPr>
                <a:t>(as illustrated for linear triangle)</a:t>
              </a:r>
            </a:p>
          </p:txBody>
        </p:sp>
        <p:sp>
          <p:nvSpPr>
            <p:cNvPr id="36" name="Text Box 24"/>
            <p:cNvSpPr txBox="1">
              <a:spLocks noChangeArrowheads="1"/>
            </p:cNvSpPr>
            <p:nvPr/>
          </p:nvSpPr>
          <p:spPr bwMode="auto">
            <a:xfrm>
              <a:off x="5002910" y="3249698"/>
              <a:ext cx="1434698" cy="923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facet integration point</a:t>
              </a:r>
              <a:endParaRPr lang="en-GB" sz="1800" dirty="0">
                <a:latin typeface="Arial" charset="0"/>
              </a:endParaRPr>
            </a:p>
          </p:txBody>
        </p:sp>
        <p:sp>
          <p:nvSpPr>
            <p:cNvPr id="37" name="Line 25"/>
            <p:cNvSpPr>
              <a:spLocks noChangeShapeType="1"/>
            </p:cNvSpPr>
            <p:nvPr/>
          </p:nvSpPr>
          <p:spPr bwMode="auto">
            <a:xfrm flipV="1">
              <a:off x="5608638" y="2522538"/>
              <a:ext cx="752475" cy="95567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8" name="Line 26"/>
            <p:cNvSpPr>
              <a:spLocks noChangeShapeType="1"/>
            </p:cNvSpPr>
            <p:nvPr/>
          </p:nvSpPr>
          <p:spPr bwMode="auto">
            <a:xfrm flipH="1" flipV="1">
              <a:off x="2922588" y="2628900"/>
              <a:ext cx="596900" cy="75882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9" name="Line 27"/>
            <p:cNvSpPr>
              <a:spLocks noChangeShapeType="1"/>
            </p:cNvSpPr>
            <p:nvPr/>
          </p:nvSpPr>
          <p:spPr bwMode="auto">
            <a:xfrm flipV="1">
              <a:off x="6376988" y="1355725"/>
              <a:ext cx="146050" cy="115887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40" name="Text Box 24"/>
            <p:cNvSpPr txBox="1">
              <a:spLocks noChangeArrowheads="1"/>
            </p:cNvSpPr>
            <p:nvPr/>
          </p:nvSpPr>
          <p:spPr bwMode="auto">
            <a:xfrm rot="18000000">
              <a:off x="1825938" y="3596518"/>
              <a:ext cx="263557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err="1">
                  <a:latin typeface="Arial" charset="0"/>
                </a:rPr>
                <a:t>subface</a:t>
              </a:r>
              <a:r>
                <a:rPr lang="en-US" sz="1800" dirty="0">
                  <a:latin typeface="Arial" charset="0"/>
                </a:rPr>
                <a:t> of element face</a:t>
              </a:r>
              <a:endParaRPr lang="en-GB" sz="1800" dirty="0">
                <a:latin typeface="Arial" charset="0"/>
              </a:endParaRPr>
            </a:p>
          </p:txBody>
        </p:sp>
        <p:sp>
          <p:nvSpPr>
            <p:cNvPr id="41" name="TextBox 40"/>
            <p:cNvSpPr txBox="1"/>
            <p:nvPr/>
          </p:nvSpPr>
          <p:spPr>
            <a:xfrm>
              <a:off x="4336480" y="2030451"/>
              <a:ext cx="321272" cy="369332"/>
            </a:xfrm>
            <a:prstGeom prst="rect">
              <a:avLst/>
            </a:prstGeom>
            <a:noFill/>
          </p:spPr>
          <p:txBody>
            <a:bodyPr wrap="none" rtlCol="0">
              <a:spAutoFit/>
            </a:bodyPr>
            <a:lstStyle/>
            <a:p>
              <a:r>
                <a:rPr lang="en-US" dirty="0"/>
                <a:t>x</a:t>
              </a:r>
            </a:p>
          </p:txBody>
        </p:sp>
        <p:sp>
          <p:nvSpPr>
            <p:cNvPr id="42" name="TextBox 41"/>
            <p:cNvSpPr txBox="1"/>
            <p:nvPr/>
          </p:nvSpPr>
          <p:spPr>
            <a:xfrm>
              <a:off x="2809433" y="4739716"/>
              <a:ext cx="321272" cy="369332"/>
            </a:xfrm>
            <a:prstGeom prst="rect">
              <a:avLst/>
            </a:prstGeom>
            <a:noFill/>
          </p:spPr>
          <p:txBody>
            <a:bodyPr wrap="none" rtlCol="0">
              <a:spAutoFit/>
            </a:bodyPr>
            <a:lstStyle/>
            <a:p>
              <a:r>
                <a:rPr lang="en-US" dirty="0"/>
                <a:t>x</a:t>
              </a:r>
            </a:p>
          </p:txBody>
        </p:sp>
        <p:sp>
          <p:nvSpPr>
            <p:cNvPr id="43" name="TextBox 42"/>
            <p:cNvSpPr txBox="1"/>
            <p:nvPr/>
          </p:nvSpPr>
          <p:spPr>
            <a:xfrm>
              <a:off x="5802692" y="4683220"/>
              <a:ext cx="321272" cy="369332"/>
            </a:xfrm>
            <a:prstGeom prst="rect">
              <a:avLst/>
            </a:prstGeom>
            <a:noFill/>
          </p:spPr>
          <p:txBody>
            <a:bodyPr wrap="none" rtlCol="0">
              <a:spAutoFit/>
            </a:bodyPr>
            <a:lstStyle/>
            <a:p>
              <a:r>
                <a:rPr lang="en-US" dirty="0"/>
                <a:t>x</a:t>
              </a:r>
            </a:p>
          </p:txBody>
        </p:sp>
        <p:sp>
          <p:nvSpPr>
            <p:cNvPr id="44" name="Text Box 22"/>
            <p:cNvSpPr txBox="1">
              <a:spLocks noChangeArrowheads="1"/>
            </p:cNvSpPr>
            <p:nvPr/>
          </p:nvSpPr>
          <p:spPr bwMode="auto">
            <a:xfrm>
              <a:off x="4194099" y="2249211"/>
              <a:ext cx="218641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FE integration point</a:t>
              </a:r>
              <a:endParaRPr lang="en-GB" sz="1800" dirty="0">
                <a:latin typeface="Arial" charset="0"/>
              </a:endParaRPr>
            </a:p>
          </p:txBody>
        </p:sp>
      </p:grpSp>
      <p:sp>
        <p:nvSpPr>
          <p:cNvPr id="46" name="Footer Placeholder 5"/>
          <p:cNvSpPr>
            <a:spLocks noGrp="1"/>
          </p:cNvSpPr>
          <p:nvPr>
            <p:ph type="ftr" sz="quarter" idx="11"/>
          </p:nvPr>
        </p:nvSpPr>
        <p:spPr>
          <a:xfrm>
            <a:off x="3124200" y="6492875"/>
            <a:ext cx="2895600" cy="365125"/>
          </a:xfrm>
        </p:spPr>
        <p:txBody>
          <a:bodyPr/>
          <a:lstStyle/>
          <a:p>
            <a:endParaRPr lang="en-US" dirty="0"/>
          </a:p>
          <a:p>
            <a:r>
              <a:rPr lang="en-US" dirty="0"/>
              <a:t>Distributed Variables</a:t>
            </a:r>
          </a:p>
          <a:p>
            <a:endParaRPr lang="en-US" dirty="0"/>
          </a:p>
        </p:txBody>
      </p:sp>
    </p:spTree>
    <p:extLst>
      <p:ext uri="{BB962C8B-B14F-4D97-AF65-F5344CB8AC3E}">
        <p14:creationId xmlns:p14="http://schemas.microsoft.com/office/powerpoint/2010/main" val="1170734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Index – access to distributed variables</a:t>
            </a:r>
          </a:p>
        </p:txBody>
      </p:sp>
      <p:sp>
        <p:nvSpPr>
          <p:cNvPr id="3" name="Content Placeholder 2"/>
          <p:cNvSpPr>
            <a:spLocks noGrp="1"/>
          </p:cNvSpPr>
          <p:nvPr>
            <p:ph idx="1"/>
          </p:nvPr>
        </p:nvSpPr>
        <p:spPr>
          <a:xfrm>
            <a:off x="457200" y="836712"/>
            <a:ext cx="8229600" cy="5832648"/>
          </a:xfrm>
        </p:spPr>
        <p:txBody>
          <a:bodyPr>
            <a:normAutofit fontScale="70000" lnSpcReduction="20000"/>
          </a:bodyPr>
          <a:lstStyle/>
          <a:p>
            <a:pPr>
              <a:spcBef>
                <a:spcPts val="100"/>
              </a:spcBef>
              <a:spcAft>
                <a:spcPts val="0"/>
              </a:spcAft>
              <a:buNone/>
            </a:pPr>
            <a:r>
              <a:rPr lang="en-US" sz="2300" b="1" dirty="0" err="1">
                <a:solidFill>
                  <a:srgbClr val="0000CF"/>
                </a:solidFill>
                <a:latin typeface="CourierNewPS-BoldMT"/>
              </a:rPr>
              <a:t>struct</a:t>
            </a:r>
            <a:r>
              <a:rPr lang="en-US" sz="2300" b="1" dirty="0">
                <a:solidFill>
                  <a:srgbClr val="000000"/>
                </a:solidFill>
                <a:latin typeface="CourierNewPS-BoldMT"/>
              </a:rPr>
              <a:t> </a:t>
            </a:r>
            <a:r>
              <a:rPr lang="en-US" sz="2300" b="1" dirty="0">
                <a:solidFill>
                  <a:srgbClr val="458256"/>
                </a:solidFill>
                <a:latin typeface="CourierNewPS-BoldMT"/>
              </a:rPr>
              <a:t>Index</a:t>
            </a:r>
            <a:r>
              <a:rPr lang="en-US" sz="2300" b="1" dirty="0">
                <a:solidFill>
                  <a:srgbClr val="000000"/>
                </a:solidFill>
                <a:latin typeface="CourierNewPS-BoldMT"/>
              </a:rPr>
              <a:t> {    </a:t>
            </a:r>
          </a:p>
          <a:p>
            <a:pPr>
              <a:spcBef>
                <a:spcPts val="100"/>
              </a:spcBef>
              <a:spcAft>
                <a:spcPts val="0"/>
              </a:spcAft>
              <a:buNone/>
            </a:pPr>
            <a:r>
              <a:rPr lang="en-US" sz="2300" b="1" dirty="0">
                <a:solidFill>
                  <a:srgbClr val="000000"/>
                </a:solidFill>
                <a:latin typeface="CourierNewPS-BoldMT"/>
              </a:rPr>
              <a:t>Index();     </a:t>
            </a:r>
          </a:p>
          <a:p>
            <a:pPr>
              <a:spcBef>
                <a:spcPts val="100"/>
              </a:spcBef>
              <a:spcAft>
                <a:spcPts val="0"/>
              </a:spcAft>
              <a:buNone/>
            </a:pPr>
            <a:r>
              <a:rPr lang="en-US" sz="2300" b="1" dirty="0">
                <a:solidFill>
                  <a:srgbClr val="000000"/>
                </a:solidFill>
                <a:latin typeface="CourierNewPS-BoldMT"/>
              </a:rPr>
              <a:t>Index( </a:t>
            </a:r>
            <a:r>
              <a:rPr lang="en-US" sz="2300" b="1" dirty="0">
                <a:solidFill>
                  <a:srgbClr val="BB107D"/>
                </a:solidFill>
                <a:latin typeface="CourierNewPS-BoldMT"/>
              </a:rPr>
              <a:t>VARIABLE_TYPE</a:t>
            </a:r>
            <a:r>
              <a:rPr lang="en-US" sz="2300" b="1" dirty="0">
                <a:solidFill>
                  <a:srgbClr val="000000"/>
                </a:solidFill>
                <a:latin typeface="CourierNewPS-BoldMT"/>
              </a:rPr>
              <a:t>, </a:t>
            </a:r>
            <a:r>
              <a:rPr lang="en-US" sz="2300" b="1" dirty="0">
                <a:solidFill>
                  <a:srgbClr val="BB107D"/>
                </a:solidFill>
                <a:latin typeface="CourierNewPS-BoldMT"/>
              </a:rPr>
              <a:t>PLACEMENT</a:t>
            </a:r>
            <a:r>
              <a:rPr lang="en-US" sz="2300" b="1" dirty="0">
                <a:solidFill>
                  <a:srgbClr val="000000"/>
                </a:solidFill>
                <a:latin typeface="CourierNewPS-BoldMT"/>
              </a:rPr>
              <a:t>, </a:t>
            </a:r>
            <a:r>
              <a:rPr lang="en-US" sz="2300" b="1" dirty="0">
                <a:solidFill>
                  <a:srgbClr val="225597"/>
                </a:solidFill>
                <a:latin typeface="CourierNewPS-BoldMT"/>
              </a:rPr>
              <a:t>uint32_t</a:t>
            </a:r>
            <a:r>
              <a:rPr lang="en-US" sz="2300" b="1" dirty="0">
                <a:solidFill>
                  <a:srgbClr val="000000"/>
                </a:solidFill>
                <a:latin typeface="CourierNewPS-BoldMT"/>
              </a:rPr>
              <a:t> );     </a:t>
            </a:r>
          </a:p>
          <a:p>
            <a:pPr>
              <a:spcBef>
                <a:spcPts val="100"/>
              </a:spcBef>
              <a:spcAft>
                <a:spcPts val="0"/>
              </a:spcAft>
              <a:buNone/>
            </a:pPr>
            <a:r>
              <a:rPr lang="en-US" sz="2300" b="1" dirty="0">
                <a:solidFill>
                  <a:srgbClr val="000000"/>
                </a:solidFill>
                <a:latin typeface="CourierNewPS-BoldMT"/>
              </a:rPr>
              <a:t>Index( </a:t>
            </a:r>
            <a:r>
              <a:rPr lang="en-US" sz="2300" b="1" dirty="0">
                <a:solidFill>
                  <a:srgbClr val="0000CF"/>
                </a:solidFill>
                <a:latin typeface="CourierNewPS-BoldMT"/>
              </a:rPr>
              <a:t>const</a:t>
            </a:r>
            <a:r>
              <a:rPr lang="en-US" sz="2300" b="1" dirty="0">
                <a:solidFill>
                  <a:srgbClr val="000000"/>
                </a:solidFill>
                <a:latin typeface="CourierNewPS-BoldMT"/>
              </a:rPr>
              <a:t> </a:t>
            </a:r>
            <a:r>
              <a:rPr lang="en-US" sz="2300" b="1" dirty="0" err="1">
                <a:solidFill>
                  <a:srgbClr val="056E1D"/>
                </a:solidFill>
                <a:latin typeface="CourierNewPS-BoldMT"/>
              </a:rPr>
              <a:t>csmp</a:t>
            </a:r>
            <a:r>
              <a:rPr lang="en-US" sz="2300" b="1" dirty="0" err="1">
                <a:solidFill>
                  <a:srgbClr val="000000"/>
                </a:solidFill>
                <a:latin typeface="CourierNewPS-BoldMT"/>
              </a:rPr>
              <a:t>::</a:t>
            </a:r>
            <a:r>
              <a:rPr lang="en-US" sz="2300" b="1" dirty="0" err="1">
                <a:solidFill>
                  <a:srgbClr val="458256"/>
                </a:solidFill>
                <a:latin typeface="CourierNewPS-BoldMT"/>
              </a:rPr>
              <a:t>Index</a:t>
            </a:r>
            <a:r>
              <a:rPr lang="en-US" sz="2300" b="1" dirty="0">
                <a:solidFill>
                  <a:srgbClr val="000000"/>
                </a:solidFill>
                <a:latin typeface="CourierNewPS-BoldMT"/>
              </a:rPr>
              <a:t>&amp; );    </a:t>
            </a:r>
          </a:p>
          <a:p>
            <a:pPr>
              <a:spcBef>
                <a:spcPts val="100"/>
              </a:spcBef>
              <a:spcAft>
                <a:spcPts val="0"/>
              </a:spcAft>
              <a:buNone/>
            </a:pPr>
            <a:r>
              <a:rPr lang="en-US" sz="2300" b="1" dirty="0">
                <a:solidFill>
                  <a:srgbClr val="458256"/>
                </a:solidFill>
                <a:latin typeface="CourierNewPS-BoldMT"/>
              </a:rPr>
              <a:t>Index</a:t>
            </a:r>
            <a:r>
              <a:rPr lang="en-US" sz="2300" b="1" dirty="0">
                <a:solidFill>
                  <a:srgbClr val="000000"/>
                </a:solidFill>
                <a:latin typeface="CourierNewPS-BoldMT"/>
              </a:rPr>
              <a:t>&amp;  </a:t>
            </a:r>
            <a:r>
              <a:rPr lang="en-US" sz="2300" b="1" dirty="0">
                <a:solidFill>
                  <a:srgbClr val="0000CF"/>
                </a:solidFill>
                <a:latin typeface="CourierNewPS-BoldMT"/>
              </a:rPr>
              <a:t>operator</a:t>
            </a:r>
            <a:r>
              <a:rPr lang="en-US" sz="2300" b="1" dirty="0">
                <a:solidFill>
                  <a:srgbClr val="000000"/>
                </a:solidFill>
                <a:latin typeface="CourierNewPS-BoldMT"/>
              </a:rPr>
              <a:t>=( </a:t>
            </a:r>
            <a:r>
              <a:rPr lang="en-US" sz="2300" b="1" dirty="0">
                <a:solidFill>
                  <a:srgbClr val="0000CF"/>
                </a:solidFill>
                <a:latin typeface="CourierNewPS-BoldMT"/>
              </a:rPr>
              <a:t>const</a:t>
            </a:r>
            <a:r>
              <a:rPr lang="en-US" sz="2300" b="1" dirty="0">
                <a:solidFill>
                  <a:srgbClr val="000000"/>
                </a:solidFill>
                <a:latin typeface="CourierNewPS-BoldMT"/>
              </a:rPr>
              <a:t> </a:t>
            </a:r>
            <a:r>
              <a:rPr lang="en-US" sz="2300" b="1" dirty="0" err="1">
                <a:solidFill>
                  <a:srgbClr val="056E1D"/>
                </a:solidFill>
                <a:latin typeface="CourierNewPS-BoldMT"/>
              </a:rPr>
              <a:t>csmp</a:t>
            </a:r>
            <a:r>
              <a:rPr lang="en-US" sz="2300" b="1" dirty="0" err="1">
                <a:solidFill>
                  <a:srgbClr val="000000"/>
                </a:solidFill>
                <a:latin typeface="CourierNewPS-BoldMT"/>
              </a:rPr>
              <a:t>::</a:t>
            </a:r>
            <a:r>
              <a:rPr lang="en-US" sz="2300" b="1" dirty="0" err="1">
                <a:solidFill>
                  <a:srgbClr val="458256"/>
                </a:solidFill>
                <a:latin typeface="CourierNewPS-BoldMT"/>
              </a:rPr>
              <a:t>Index</a:t>
            </a:r>
            <a:r>
              <a:rPr lang="en-US" sz="2300" b="1" dirty="0">
                <a:solidFill>
                  <a:srgbClr val="000000"/>
                </a:solidFill>
                <a:latin typeface="CourierNewPS-BoldMT"/>
              </a:rPr>
              <a:t>&amp; );    </a:t>
            </a:r>
          </a:p>
          <a:p>
            <a:pPr>
              <a:spcBef>
                <a:spcPts val="100"/>
              </a:spcBef>
              <a:spcAft>
                <a:spcPts val="0"/>
              </a:spcAft>
              <a:buNone/>
            </a:pPr>
            <a:r>
              <a:rPr lang="en-US" sz="2300" b="1" dirty="0" err="1">
                <a:solidFill>
                  <a:srgbClr val="0000CF"/>
                </a:solidFill>
                <a:latin typeface="CourierNewPS-BoldMT"/>
              </a:rPr>
              <a:t>bool</a:t>
            </a:r>
            <a:r>
              <a:rPr lang="en-US" sz="2300" b="1" dirty="0">
                <a:solidFill>
                  <a:srgbClr val="000000"/>
                </a:solidFill>
                <a:latin typeface="CourierNewPS-BoldMT"/>
              </a:rPr>
              <a:t>    </a:t>
            </a:r>
            <a:r>
              <a:rPr lang="en-US" sz="2300" b="1" dirty="0">
                <a:solidFill>
                  <a:srgbClr val="0000CF"/>
                </a:solidFill>
                <a:latin typeface="CourierNewPS-BoldMT"/>
              </a:rPr>
              <a:t>operator</a:t>
            </a:r>
            <a:r>
              <a:rPr lang="en-US" sz="2300" b="1" dirty="0">
                <a:solidFill>
                  <a:srgbClr val="000000"/>
                </a:solidFill>
                <a:latin typeface="CourierNewPS-BoldMT"/>
              </a:rPr>
              <a:t>==( </a:t>
            </a:r>
            <a:r>
              <a:rPr lang="en-US" sz="2300" b="1" dirty="0">
                <a:solidFill>
                  <a:srgbClr val="0000CF"/>
                </a:solidFill>
                <a:latin typeface="CourierNewPS-BoldMT"/>
              </a:rPr>
              <a:t>const</a:t>
            </a:r>
            <a:r>
              <a:rPr lang="en-US" sz="2300" b="1" dirty="0">
                <a:solidFill>
                  <a:srgbClr val="000000"/>
                </a:solidFill>
                <a:latin typeface="CourierNewPS-BoldMT"/>
              </a:rPr>
              <a:t> </a:t>
            </a:r>
            <a:r>
              <a:rPr lang="en-US" sz="2300" b="1" dirty="0" err="1">
                <a:solidFill>
                  <a:srgbClr val="056E1D"/>
                </a:solidFill>
                <a:latin typeface="CourierNewPS-BoldMT"/>
              </a:rPr>
              <a:t>csmp</a:t>
            </a:r>
            <a:r>
              <a:rPr lang="en-US" sz="2300" b="1" dirty="0" err="1">
                <a:solidFill>
                  <a:srgbClr val="000000"/>
                </a:solidFill>
                <a:latin typeface="CourierNewPS-BoldMT"/>
              </a:rPr>
              <a:t>::</a:t>
            </a:r>
            <a:r>
              <a:rPr lang="en-US" sz="2300" b="1" dirty="0" err="1">
                <a:solidFill>
                  <a:srgbClr val="458256"/>
                </a:solidFill>
                <a:latin typeface="CourierNewPS-BoldMT"/>
              </a:rPr>
              <a:t>Index</a:t>
            </a:r>
            <a:r>
              <a:rPr lang="en-US" sz="2300" b="1" dirty="0">
                <a:solidFill>
                  <a:srgbClr val="000000"/>
                </a:solidFill>
                <a:latin typeface="CourierNewPS-BoldMT"/>
              </a:rPr>
              <a:t>&amp; ) </a:t>
            </a:r>
            <a:r>
              <a:rPr lang="en-US" sz="2300" b="1" dirty="0">
                <a:solidFill>
                  <a:srgbClr val="0000CF"/>
                </a:solidFill>
                <a:latin typeface="CourierNewPS-BoldMT"/>
              </a:rPr>
              <a:t>const</a:t>
            </a:r>
            <a:r>
              <a:rPr lang="en-US" sz="2300" b="1" dirty="0">
                <a:solidFill>
                  <a:srgbClr val="000000"/>
                </a:solidFill>
                <a:latin typeface="CourierNewPS-BoldMT"/>
              </a:rPr>
              <a:t>;    </a:t>
            </a:r>
          </a:p>
          <a:p>
            <a:pPr>
              <a:spcBef>
                <a:spcPts val="100"/>
              </a:spcBef>
              <a:spcAft>
                <a:spcPts val="0"/>
              </a:spcAft>
              <a:buNone/>
            </a:pPr>
            <a:r>
              <a:rPr lang="en-US" sz="2300" b="1" dirty="0" err="1">
                <a:solidFill>
                  <a:srgbClr val="0000CF"/>
                </a:solidFill>
                <a:latin typeface="CourierNewPS-BoldMT"/>
              </a:rPr>
              <a:t>bool</a:t>
            </a:r>
            <a:r>
              <a:rPr lang="en-US" sz="2300" b="1" dirty="0">
                <a:solidFill>
                  <a:srgbClr val="000000"/>
                </a:solidFill>
                <a:latin typeface="CourierNewPS-BoldMT"/>
              </a:rPr>
              <a:t>    </a:t>
            </a:r>
            <a:r>
              <a:rPr lang="en-US" sz="2300" b="1" dirty="0">
                <a:solidFill>
                  <a:srgbClr val="0000CF"/>
                </a:solidFill>
                <a:latin typeface="CourierNewPS-BoldMT"/>
              </a:rPr>
              <a:t>operator</a:t>
            </a:r>
            <a:r>
              <a:rPr lang="en-US" sz="2300" b="1" dirty="0">
                <a:solidFill>
                  <a:srgbClr val="000000"/>
                </a:solidFill>
                <a:latin typeface="CourierNewPS-BoldMT"/>
              </a:rPr>
              <a:t>!=( </a:t>
            </a:r>
            <a:r>
              <a:rPr lang="en-US" sz="2300" b="1" dirty="0">
                <a:solidFill>
                  <a:srgbClr val="0000CF"/>
                </a:solidFill>
                <a:latin typeface="CourierNewPS-BoldMT"/>
              </a:rPr>
              <a:t>const</a:t>
            </a:r>
            <a:r>
              <a:rPr lang="en-US" sz="2300" b="1" dirty="0">
                <a:solidFill>
                  <a:srgbClr val="000000"/>
                </a:solidFill>
                <a:latin typeface="CourierNewPS-BoldMT"/>
              </a:rPr>
              <a:t> </a:t>
            </a:r>
            <a:r>
              <a:rPr lang="en-US" sz="2300" b="1" dirty="0" err="1">
                <a:solidFill>
                  <a:srgbClr val="056E1D"/>
                </a:solidFill>
                <a:latin typeface="CourierNewPS-BoldMT"/>
              </a:rPr>
              <a:t>csmp</a:t>
            </a:r>
            <a:r>
              <a:rPr lang="en-US" sz="2300" b="1" dirty="0" err="1">
                <a:solidFill>
                  <a:srgbClr val="000000"/>
                </a:solidFill>
                <a:latin typeface="CourierNewPS-BoldMT"/>
              </a:rPr>
              <a:t>::</a:t>
            </a:r>
            <a:r>
              <a:rPr lang="en-US" sz="2300" b="1" dirty="0" err="1">
                <a:solidFill>
                  <a:srgbClr val="458256"/>
                </a:solidFill>
                <a:latin typeface="CourierNewPS-BoldMT"/>
              </a:rPr>
              <a:t>Index</a:t>
            </a:r>
            <a:r>
              <a:rPr lang="en-US" sz="2300" b="1" dirty="0">
                <a:solidFill>
                  <a:srgbClr val="000000"/>
                </a:solidFill>
                <a:latin typeface="CourierNewPS-BoldMT"/>
              </a:rPr>
              <a:t>&amp; ) </a:t>
            </a:r>
            <a:r>
              <a:rPr lang="en-US" sz="2300" b="1" dirty="0">
                <a:solidFill>
                  <a:srgbClr val="0000CF"/>
                </a:solidFill>
                <a:latin typeface="CourierNewPS-BoldMT"/>
              </a:rPr>
              <a:t>const</a:t>
            </a:r>
            <a:r>
              <a:rPr lang="en-US" sz="2300" b="1" dirty="0">
                <a:solidFill>
                  <a:srgbClr val="000000"/>
                </a:solidFill>
                <a:latin typeface="CourierNewPS-BoldMT"/>
              </a:rPr>
              <a:t>;     </a:t>
            </a:r>
          </a:p>
          <a:p>
            <a:pPr>
              <a:spcBef>
                <a:spcPts val="100"/>
              </a:spcBef>
              <a:spcAft>
                <a:spcPts val="0"/>
              </a:spcAft>
              <a:buNone/>
            </a:pPr>
            <a:r>
              <a:rPr lang="en-US" sz="2300" b="1" dirty="0" err="1">
                <a:solidFill>
                  <a:srgbClr val="0000CF"/>
                </a:solidFill>
                <a:latin typeface="CourierNewPS-BoldMT"/>
              </a:rPr>
              <a:t>bool</a:t>
            </a:r>
            <a:r>
              <a:rPr lang="en-US" sz="2300" b="1" dirty="0">
                <a:solidFill>
                  <a:srgbClr val="000000"/>
                </a:solidFill>
                <a:latin typeface="CourierNewPS-BoldMT"/>
              </a:rPr>
              <a:t>    </a:t>
            </a:r>
            <a:r>
              <a:rPr lang="en-US" sz="2300" b="1" dirty="0">
                <a:solidFill>
                  <a:srgbClr val="0000CF"/>
                </a:solidFill>
                <a:latin typeface="CourierNewPS-BoldMT"/>
              </a:rPr>
              <a:t>operator</a:t>
            </a:r>
            <a:r>
              <a:rPr lang="en-US" sz="2300" b="1" dirty="0">
                <a:solidFill>
                  <a:srgbClr val="000000"/>
                </a:solidFill>
                <a:latin typeface="CourierNewPS-BoldMT"/>
              </a:rPr>
              <a:t>&lt;( </a:t>
            </a:r>
            <a:r>
              <a:rPr lang="en-US" sz="2300" b="1" dirty="0">
                <a:solidFill>
                  <a:srgbClr val="0000CF"/>
                </a:solidFill>
                <a:latin typeface="CourierNewPS-BoldMT"/>
              </a:rPr>
              <a:t>const</a:t>
            </a:r>
            <a:r>
              <a:rPr lang="en-US" sz="2300" b="1" dirty="0">
                <a:solidFill>
                  <a:srgbClr val="000000"/>
                </a:solidFill>
                <a:latin typeface="CourierNewPS-BoldMT"/>
              </a:rPr>
              <a:t> </a:t>
            </a:r>
            <a:r>
              <a:rPr lang="en-US" sz="2300" b="1" dirty="0" err="1">
                <a:solidFill>
                  <a:srgbClr val="056E1D"/>
                </a:solidFill>
                <a:latin typeface="CourierNewPS-BoldMT"/>
              </a:rPr>
              <a:t>csmp</a:t>
            </a:r>
            <a:r>
              <a:rPr lang="en-US" sz="2300" b="1" dirty="0" err="1">
                <a:solidFill>
                  <a:srgbClr val="000000"/>
                </a:solidFill>
                <a:latin typeface="CourierNewPS-BoldMT"/>
              </a:rPr>
              <a:t>::</a:t>
            </a:r>
            <a:r>
              <a:rPr lang="en-US" sz="2300" b="1" dirty="0" err="1">
                <a:solidFill>
                  <a:srgbClr val="458256"/>
                </a:solidFill>
                <a:latin typeface="CourierNewPS-BoldMT"/>
              </a:rPr>
              <a:t>Index</a:t>
            </a:r>
            <a:r>
              <a:rPr lang="en-US" sz="2300" b="1" dirty="0">
                <a:solidFill>
                  <a:srgbClr val="000000"/>
                </a:solidFill>
                <a:latin typeface="CourierNewPS-BoldMT"/>
              </a:rPr>
              <a:t>&amp; ) </a:t>
            </a:r>
            <a:r>
              <a:rPr lang="en-US" sz="2300" b="1" dirty="0">
                <a:solidFill>
                  <a:srgbClr val="0000CF"/>
                </a:solidFill>
                <a:latin typeface="CourierNewPS-BoldMT"/>
              </a:rPr>
              <a:t>const</a:t>
            </a:r>
            <a:r>
              <a:rPr lang="en-US" sz="2300" b="1" dirty="0">
                <a:solidFill>
                  <a:srgbClr val="000000"/>
                </a:solidFill>
                <a:latin typeface="CourierNewPS-BoldMT"/>
              </a:rPr>
              <a:t>;     </a:t>
            </a:r>
          </a:p>
          <a:p>
            <a:pPr>
              <a:spcBef>
                <a:spcPts val="100"/>
              </a:spcBef>
              <a:spcAft>
                <a:spcPts val="0"/>
              </a:spcAft>
              <a:buNone/>
            </a:pPr>
            <a:r>
              <a:rPr lang="en-US" sz="2300" b="1" dirty="0" err="1">
                <a:solidFill>
                  <a:srgbClr val="0000CF"/>
                </a:solidFill>
                <a:latin typeface="CourierNewPS-BoldMT"/>
              </a:rPr>
              <a:t>bool</a:t>
            </a:r>
            <a:r>
              <a:rPr lang="en-US" sz="2300" b="1" dirty="0">
                <a:solidFill>
                  <a:srgbClr val="000000"/>
                </a:solidFill>
                <a:latin typeface="CourierNewPS-BoldMT"/>
              </a:rPr>
              <a:t>    </a:t>
            </a:r>
            <a:r>
              <a:rPr lang="en-US" sz="2300" b="1" dirty="0" err="1">
                <a:solidFill>
                  <a:srgbClr val="000000"/>
                </a:solidFill>
                <a:latin typeface="CourierNewPS-BoldMT"/>
              </a:rPr>
              <a:t>IsDefined</a:t>
            </a:r>
            <a:r>
              <a:rPr lang="en-US" sz="2300" b="1" dirty="0">
                <a:solidFill>
                  <a:srgbClr val="000000"/>
                </a:solidFill>
                <a:latin typeface="CourierNewPS-BoldMT"/>
              </a:rPr>
              <a:t>() </a:t>
            </a:r>
            <a:r>
              <a:rPr lang="en-US" sz="2300" b="1" dirty="0">
                <a:solidFill>
                  <a:srgbClr val="0000CF"/>
                </a:solidFill>
                <a:latin typeface="CourierNewPS-BoldMT"/>
              </a:rPr>
              <a:t>const</a:t>
            </a:r>
            <a:r>
              <a:rPr lang="en-US" sz="2300" b="1" dirty="0">
                <a:solidFill>
                  <a:srgbClr val="000000"/>
                </a:solidFill>
                <a:latin typeface="CourierNewPS-BoldMT"/>
              </a:rPr>
              <a:t>;    </a:t>
            </a:r>
            <a:r>
              <a:rPr lang="en-US" sz="2300" b="1" dirty="0">
                <a:solidFill>
                  <a:srgbClr val="0000CF"/>
                </a:solidFill>
                <a:latin typeface="CourierNewPS-BoldMT"/>
              </a:rPr>
              <a:t>void</a:t>
            </a:r>
            <a:r>
              <a:rPr lang="en-US" sz="2300" b="1" dirty="0">
                <a:solidFill>
                  <a:srgbClr val="000000"/>
                </a:solidFill>
                <a:latin typeface="CourierNewPS-BoldMT"/>
              </a:rPr>
              <a:t> Out() </a:t>
            </a:r>
            <a:r>
              <a:rPr lang="en-US" sz="2300" b="1" dirty="0">
                <a:solidFill>
                  <a:srgbClr val="0000CF"/>
                </a:solidFill>
                <a:latin typeface="CourierNewPS-BoldMT"/>
              </a:rPr>
              <a:t>const</a:t>
            </a:r>
            <a:r>
              <a:rPr lang="en-US" sz="2300" b="1" dirty="0">
                <a:solidFill>
                  <a:srgbClr val="000000"/>
                </a:solidFill>
                <a:latin typeface="CourierNewPS-BoldMT"/>
              </a:rPr>
              <a:t>;      </a:t>
            </a:r>
          </a:p>
          <a:p>
            <a:pPr>
              <a:spcBef>
                <a:spcPts val="100"/>
              </a:spcBef>
              <a:spcAft>
                <a:spcPts val="0"/>
              </a:spcAft>
              <a:buNone/>
            </a:pPr>
            <a:r>
              <a:rPr lang="en-US" sz="2300" b="1" dirty="0">
                <a:solidFill>
                  <a:srgbClr val="BB107D"/>
                </a:solidFill>
                <a:latin typeface="CourierNewPS-BoldMT"/>
              </a:rPr>
              <a:t>VARIABLE_TYPE</a:t>
            </a:r>
            <a:r>
              <a:rPr lang="en-US" sz="2300" b="1" dirty="0">
                <a:solidFill>
                  <a:srgbClr val="000000"/>
                </a:solidFill>
                <a:latin typeface="CourierNewPS-BoldMT"/>
              </a:rPr>
              <a:t> </a:t>
            </a:r>
            <a:r>
              <a:rPr lang="en-US" sz="2300" b="1" dirty="0">
                <a:solidFill>
                  <a:srgbClr val="BB107D"/>
                </a:solidFill>
                <a:latin typeface="CourierNewPS-BoldMT"/>
              </a:rPr>
              <a:t>type</a:t>
            </a:r>
            <a:r>
              <a:rPr lang="en-US" sz="2300" b="1" dirty="0">
                <a:solidFill>
                  <a:srgbClr val="000000"/>
                </a:solidFill>
                <a:latin typeface="CourierNewPS-BoldMT"/>
              </a:rPr>
              <a:t>;    </a:t>
            </a:r>
          </a:p>
          <a:p>
            <a:pPr>
              <a:spcBef>
                <a:spcPts val="100"/>
              </a:spcBef>
              <a:spcAft>
                <a:spcPts val="0"/>
              </a:spcAft>
              <a:buNone/>
            </a:pPr>
            <a:r>
              <a:rPr lang="en-US" sz="2300" b="1" dirty="0">
                <a:solidFill>
                  <a:srgbClr val="BB107D"/>
                </a:solidFill>
                <a:latin typeface="CourierNewPS-BoldMT"/>
              </a:rPr>
              <a:t>PLACEMENT</a:t>
            </a:r>
            <a:r>
              <a:rPr lang="en-US" sz="2300" b="1" dirty="0">
                <a:solidFill>
                  <a:srgbClr val="000000"/>
                </a:solidFill>
                <a:latin typeface="CourierNewPS-BoldMT"/>
              </a:rPr>
              <a:t>     </a:t>
            </a:r>
            <a:r>
              <a:rPr lang="en-US" sz="2300" b="1" dirty="0">
                <a:solidFill>
                  <a:srgbClr val="BB107D"/>
                </a:solidFill>
                <a:latin typeface="CourierNewPS-BoldMT"/>
              </a:rPr>
              <a:t>place</a:t>
            </a:r>
            <a:r>
              <a:rPr lang="en-US" sz="2300" b="1" dirty="0">
                <a:solidFill>
                  <a:srgbClr val="000000"/>
                </a:solidFill>
                <a:latin typeface="CourierNewPS-BoldMT"/>
              </a:rPr>
              <a:t>;    </a:t>
            </a:r>
          </a:p>
          <a:p>
            <a:pPr>
              <a:spcBef>
                <a:spcPts val="100"/>
              </a:spcBef>
              <a:spcAft>
                <a:spcPts val="0"/>
              </a:spcAft>
              <a:buNone/>
            </a:pPr>
            <a:r>
              <a:rPr lang="en-US" sz="2300" b="1" dirty="0">
                <a:solidFill>
                  <a:srgbClr val="225597"/>
                </a:solidFill>
                <a:latin typeface="CourierNewPS-BoldMT"/>
              </a:rPr>
              <a:t>...</a:t>
            </a:r>
            <a:endParaRPr lang="en-US" sz="2300" b="1" dirty="0">
              <a:solidFill>
                <a:srgbClr val="000000"/>
              </a:solidFill>
              <a:latin typeface="CourierNewPS-BoldMT"/>
            </a:endParaRPr>
          </a:p>
          <a:p>
            <a:pPr>
              <a:spcBef>
                <a:spcPts val="100"/>
              </a:spcBef>
              <a:spcAft>
                <a:spcPts val="0"/>
              </a:spcAft>
              <a:buNone/>
            </a:pPr>
            <a:r>
              <a:rPr lang="en-US" sz="2300" b="1" dirty="0">
                <a:solidFill>
                  <a:srgbClr val="000000"/>
                </a:solidFill>
                <a:latin typeface="CourierNewPS-BoldMT"/>
              </a:rPr>
              <a:t>}; </a:t>
            </a:r>
          </a:p>
          <a:p>
            <a:pPr>
              <a:spcBef>
                <a:spcPts val="100"/>
              </a:spcBef>
              <a:spcAft>
                <a:spcPts val="0"/>
              </a:spcAft>
              <a:buNone/>
            </a:pPr>
            <a:endParaRPr lang="en-US" dirty="0">
              <a:solidFill>
                <a:srgbClr val="000000"/>
              </a:solidFill>
            </a:endParaRPr>
          </a:p>
          <a:p>
            <a:pPr>
              <a:spcBef>
                <a:spcPts val="100"/>
              </a:spcBef>
              <a:spcAft>
                <a:spcPts val="0"/>
              </a:spcAft>
              <a:buNone/>
            </a:pPr>
            <a:r>
              <a:rPr lang="en-US" sz="2595" b="1" i="1" dirty="0">
                <a:solidFill>
                  <a:srgbClr val="000000"/>
                </a:solidFill>
              </a:rPr>
              <a:t>Extensions</a:t>
            </a:r>
          </a:p>
          <a:p>
            <a:pPr>
              <a:spcBef>
                <a:spcPts val="100"/>
              </a:spcBef>
              <a:spcAft>
                <a:spcPts val="0"/>
              </a:spcAft>
              <a:buNone/>
            </a:pPr>
            <a:endParaRPr lang="en-US" sz="2162" i="1" dirty="0">
              <a:solidFill>
                <a:srgbClr val="000000"/>
              </a:solidFill>
            </a:endParaRPr>
          </a:p>
          <a:p>
            <a:pPr marL="0" indent="0">
              <a:spcBef>
                <a:spcPts val="100"/>
              </a:spcBef>
              <a:spcAft>
                <a:spcPts val="0"/>
              </a:spcAft>
              <a:buNone/>
            </a:pPr>
            <a:r>
              <a:rPr lang="en-US" sz="2300" i="1" dirty="0">
                <a:solidFill>
                  <a:srgbClr val="000000"/>
                </a:solidFill>
              </a:rPr>
              <a:t>In the CSMP API, indices cannot be discriminated at compile time! – this necessitates many switch statements, which is far from ideal for variables that are already known at compile time. As a remedy, a </a:t>
            </a:r>
            <a:r>
              <a:rPr lang="en-US" sz="2300" i="1" dirty="0" err="1">
                <a:solidFill>
                  <a:srgbClr val="000000"/>
                </a:solidFill>
              </a:rPr>
              <a:t>templatized</a:t>
            </a:r>
            <a:r>
              <a:rPr lang="en-US" sz="2300" i="1" dirty="0">
                <a:solidFill>
                  <a:srgbClr val="000000"/>
                </a:solidFill>
              </a:rPr>
              <a:t> version of the Index has been implemented:</a:t>
            </a:r>
          </a:p>
          <a:p>
            <a:pPr>
              <a:spcBef>
                <a:spcPts val="100"/>
              </a:spcBef>
              <a:spcAft>
                <a:spcPts val="0"/>
              </a:spcAft>
            </a:pPr>
            <a:endParaRPr lang="en-US" sz="2162" dirty="0">
              <a:solidFill>
                <a:srgbClr val="000000"/>
              </a:solidFill>
            </a:endParaRPr>
          </a:p>
          <a:p>
            <a:pPr marL="0" indent="0">
              <a:spcBef>
                <a:spcPts val="0"/>
              </a:spcBef>
              <a:spcAft>
                <a:spcPts val="0"/>
              </a:spcAft>
              <a:buNone/>
            </a:pPr>
            <a:r>
              <a:rPr lang="en-US" sz="2300" b="1" dirty="0">
                <a:solidFill>
                  <a:srgbClr val="008516"/>
                </a:solidFill>
                <a:latin typeface="Courier"/>
                <a:ea typeface="Menlo"/>
                <a:cs typeface="Courier"/>
              </a:rPr>
              <a:t>/// </a:t>
            </a:r>
            <a:r>
              <a:rPr lang="en-US" sz="2300" b="1" dirty="0" err="1">
                <a:solidFill>
                  <a:srgbClr val="008516"/>
                </a:solidFill>
                <a:latin typeface="Courier"/>
                <a:ea typeface="Menlo"/>
                <a:cs typeface="Courier"/>
              </a:rPr>
              <a:t>templatised</a:t>
            </a:r>
            <a:r>
              <a:rPr lang="en-US" sz="2300" b="1" dirty="0">
                <a:solidFill>
                  <a:srgbClr val="008516"/>
                </a:solidFill>
                <a:latin typeface="Courier"/>
                <a:ea typeface="Menlo"/>
                <a:cs typeface="Courier"/>
              </a:rPr>
              <a:t> version with allows for compile-time type selection</a:t>
            </a:r>
            <a:endParaRPr lang="en-US" sz="2300" b="1" dirty="0">
              <a:solidFill>
                <a:srgbClr val="000000"/>
              </a:solidFill>
              <a:latin typeface="Courier"/>
              <a:ea typeface="Menlo"/>
              <a:cs typeface="Courier"/>
            </a:endParaRPr>
          </a:p>
          <a:p>
            <a:pPr marL="0" indent="0">
              <a:spcBef>
                <a:spcPts val="0"/>
              </a:spcBef>
              <a:spcAft>
                <a:spcPts val="0"/>
              </a:spcAft>
              <a:buNone/>
            </a:pPr>
            <a:r>
              <a:rPr lang="en-US" sz="2300" b="1" dirty="0">
                <a:solidFill>
                  <a:srgbClr val="251CB5"/>
                </a:solidFill>
                <a:latin typeface="Courier"/>
                <a:ea typeface="Menlo"/>
                <a:cs typeface="Courier"/>
              </a:rPr>
              <a:t>template</a:t>
            </a:r>
            <a:r>
              <a:rPr lang="en-US" sz="2300" b="1" dirty="0">
                <a:solidFill>
                  <a:srgbClr val="000000"/>
                </a:solidFill>
                <a:latin typeface="Courier"/>
                <a:ea typeface="Menlo"/>
                <a:cs typeface="Courier"/>
              </a:rPr>
              <a:t>&lt;</a:t>
            </a:r>
            <a:r>
              <a:rPr lang="en-US" sz="2300" b="1" dirty="0">
                <a:solidFill>
                  <a:srgbClr val="00671B"/>
                </a:solidFill>
                <a:latin typeface="Courier"/>
                <a:ea typeface="Menlo"/>
                <a:cs typeface="Courier"/>
              </a:rPr>
              <a:t>VARIABLE_TYPE</a:t>
            </a:r>
            <a:r>
              <a:rPr lang="en-US" sz="2300" b="1" dirty="0">
                <a:solidFill>
                  <a:srgbClr val="000000"/>
                </a:solidFill>
                <a:latin typeface="Courier"/>
                <a:ea typeface="Menlo"/>
                <a:cs typeface="Courier"/>
              </a:rPr>
              <a:t> </a:t>
            </a:r>
            <a:r>
              <a:rPr lang="en-US" sz="2300" b="1" dirty="0" err="1">
                <a:solidFill>
                  <a:srgbClr val="000000"/>
                </a:solidFill>
                <a:latin typeface="Courier"/>
                <a:ea typeface="Menlo"/>
                <a:cs typeface="Courier"/>
              </a:rPr>
              <a:t>ty,</a:t>
            </a:r>
            <a:r>
              <a:rPr lang="en-US" sz="2300" b="1" dirty="0" err="1">
                <a:solidFill>
                  <a:srgbClr val="00671B"/>
                </a:solidFill>
                <a:latin typeface="Courier"/>
                <a:ea typeface="Menlo"/>
                <a:cs typeface="Courier"/>
              </a:rPr>
              <a:t>PLACEMENT</a:t>
            </a:r>
            <a:r>
              <a:rPr lang="en-US" sz="2300" b="1" dirty="0">
                <a:solidFill>
                  <a:srgbClr val="000000"/>
                </a:solidFill>
                <a:latin typeface="Courier"/>
                <a:ea typeface="Menlo"/>
                <a:cs typeface="Courier"/>
              </a:rPr>
              <a:t> </a:t>
            </a:r>
            <a:r>
              <a:rPr lang="en-US" sz="2300" b="1" dirty="0" err="1">
                <a:solidFill>
                  <a:srgbClr val="000000"/>
                </a:solidFill>
                <a:latin typeface="Courier"/>
                <a:ea typeface="Menlo"/>
                <a:cs typeface="Courier"/>
              </a:rPr>
              <a:t>pl</a:t>
            </a:r>
            <a:r>
              <a:rPr lang="en-US" sz="2300" b="1" dirty="0">
                <a:solidFill>
                  <a:srgbClr val="000000"/>
                </a:solidFill>
                <a:latin typeface="Courier"/>
                <a:ea typeface="Menlo"/>
                <a:cs typeface="Courier"/>
              </a:rPr>
              <a:t>&gt; </a:t>
            </a:r>
          </a:p>
          <a:p>
            <a:pPr marL="0" indent="0">
              <a:spcBef>
                <a:spcPts val="0"/>
              </a:spcBef>
              <a:spcAft>
                <a:spcPts val="0"/>
              </a:spcAft>
              <a:buNone/>
            </a:pPr>
            <a:r>
              <a:rPr lang="en-US" sz="2300" b="1" dirty="0" err="1">
                <a:solidFill>
                  <a:srgbClr val="251CB5"/>
                </a:solidFill>
                <a:latin typeface="Courier"/>
                <a:ea typeface="Menlo"/>
                <a:cs typeface="Courier"/>
              </a:rPr>
              <a:t>struct</a:t>
            </a:r>
            <a:r>
              <a:rPr lang="en-US" sz="2300" b="1" dirty="0">
                <a:solidFill>
                  <a:srgbClr val="000000"/>
                </a:solidFill>
                <a:latin typeface="Courier"/>
                <a:ea typeface="Menlo"/>
                <a:cs typeface="Courier"/>
              </a:rPr>
              <a:t> INDEX : </a:t>
            </a:r>
            <a:r>
              <a:rPr lang="en-US" sz="2300" b="1" dirty="0">
                <a:solidFill>
                  <a:srgbClr val="251CB5"/>
                </a:solidFill>
                <a:latin typeface="Courier"/>
                <a:ea typeface="Menlo"/>
                <a:cs typeface="Courier"/>
              </a:rPr>
              <a:t>public</a:t>
            </a:r>
            <a:r>
              <a:rPr lang="en-US" sz="2300" b="1" dirty="0">
                <a:solidFill>
                  <a:srgbClr val="000000"/>
                </a:solidFill>
                <a:latin typeface="Courier"/>
                <a:ea typeface="Menlo"/>
                <a:cs typeface="Courier"/>
              </a:rPr>
              <a:t> </a:t>
            </a:r>
            <a:r>
              <a:rPr lang="en-US" sz="2300" b="1" dirty="0">
                <a:solidFill>
                  <a:srgbClr val="00671B"/>
                </a:solidFill>
                <a:latin typeface="Courier"/>
                <a:ea typeface="Menlo"/>
                <a:cs typeface="Courier"/>
              </a:rPr>
              <a:t>Index</a:t>
            </a:r>
            <a:r>
              <a:rPr lang="en-US" sz="2300" b="1" dirty="0">
                <a:solidFill>
                  <a:srgbClr val="000000"/>
                </a:solidFill>
                <a:latin typeface="Courier"/>
                <a:ea typeface="Menlo"/>
                <a:cs typeface="Courier"/>
              </a:rPr>
              <a:t> {</a:t>
            </a:r>
          </a:p>
          <a:p>
            <a:pPr marL="0" indent="0">
              <a:spcBef>
                <a:spcPts val="0"/>
              </a:spcBef>
              <a:spcAft>
                <a:spcPts val="0"/>
              </a:spcAft>
              <a:buNone/>
            </a:pPr>
            <a:r>
              <a:rPr lang="en-US" sz="2300" b="1" dirty="0">
                <a:solidFill>
                  <a:srgbClr val="000000"/>
                </a:solidFill>
                <a:latin typeface="Courier"/>
                <a:ea typeface="Menlo"/>
                <a:cs typeface="Courier"/>
              </a:rPr>
              <a:t>    </a:t>
            </a:r>
            <a:r>
              <a:rPr lang="en-US" sz="2300" b="1" dirty="0">
                <a:solidFill>
                  <a:srgbClr val="251CB5"/>
                </a:solidFill>
                <a:latin typeface="Courier"/>
                <a:ea typeface="Menlo"/>
                <a:cs typeface="Courier"/>
              </a:rPr>
              <a:t>explicit</a:t>
            </a:r>
            <a:r>
              <a:rPr lang="en-US" sz="2300" b="1" dirty="0">
                <a:solidFill>
                  <a:srgbClr val="000000"/>
                </a:solidFill>
                <a:latin typeface="Courier"/>
                <a:ea typeface="Menlo"/>
                <a:cs typeface="Courier"/>
              </a:rPr>
              <a:t> INDEX( </a:t>
            </a:r>
            <a:r>
              <a:rPr lang="en-US" sz="2300" b="1" dirty="0">
                <a:solidFill>
                  <a:srgbClr val="743AA7"/>
                </a:solidFill>
                <a:latin typeface="Courier"/>
                <a:ea typeface="Menlo"/>
                <a:cs typeface="Courier"/>
              </a:rPr>
              <a:t>uint32_t</a:t>
            </a:r>
            <a:r>
              <a:rPr lang="en-US" sz="2300" b="1" dirty="0">
                <a:solidFill>
                  <a:srgbClr val="000000"/>
                </a:solidFill>
                <a:latin typeface="Courier"/>
                <a:ea typeface="Menlo"/>
                <a:cs typeface="Courier"/>
              </a:rPr>
              <a:t> </a:t>
            </a:r>
            <a:r>
              <a:rPr lang="en-US" sz="2300" b="1" dirty="0" err="1">
                <a:solidFill>
                  <a:srgbClr val="000000"/>
                </a:solidFill>
                <a:latin typeface="Courier"/>
                <a:ea typeface="Menlo"/>
                <a:cs typeface="Courier"/>
              </a:rPr>
              <a:t>i</a:t>
            </a:r>
            <a:r>
              <a:rPr lang="en-US" sz="2300" b="1" dirty="0">
                <a:solidFill>
                  <a:srgbClr val="000000"/>
                </a:solidFill>
                <a:latin typeface="Courier"/>
                <a:ea typeface="Menlo"/>
                <a:cs typeface="Courier"/>
              </a:rPr>
              <a:t> ) : </a:t>
            </a:r>
            <a:r>
              <a:rPr lang="en-US" sz="2300" b="1" dirty="0">
                <a:solidFill>
                  <a:srgbClr val="00671B"/>
                </a:solidFill>
                <a:latin typeface="Courier"/>
                <a:ea typeface="Menlo"/>
                <a:cs typeface="Courier"/>
              </a:rPr>
              <a:t>Index</a:t>
            </a:r>
            <a:r>
              <a:rPr lang="en-US" sz="2300" b="1" dirty="0">
                <a:solidFill>
                  <a:srgbClr val="000000"/>
                </a:solidFill>
                <a:latin typeface="Courier"/>
                <a:ea typeface="Menlo"/>
                <a:cs typeface="Courier"/>
              </a:rPr>
              <a:t>(</a:t>
            </a:r>
            <a:r>
              <a:rPr lang="en-US" sz="2300" b="1" dirty="0" err="1">
                <a:solidFill>
                  <a:srgbClr val="000000"/>
                </a:solidFill>
                <a:latin typeface="Courier"/>
                <a:ea typeface="Menlo"/>
                <a:cs typeface="Courier"/>
              </a:rPr>
              <a:t>ty,pl,i</a:t>
            </a:r>
            <a:r>
              <a:rPr lang="en-US" sz="2300" b="1" dirty="0">
                <a:solidFill>
                  <a:srgbClr val="000000"/>
                </a:solidFill>
                <a:latin typeface="Courier"/>
                <a:ea typeface="Menlo"/>
                <a:cs typeface="Courier"/>
              </a:rPr>
              <a:t>) {};</a:t>
            </a:r>
          </a:p>
          <a:p>
            <a:pPr marL="0" indent="0">
              <a:spcBef>
                <a:spcPts val="0"/>
              </a:spcBef>
              <a:spcAft>
                <a:spcPts val="0"/>
              </a:spcAft>
              <a:buNone/>
            </a:pPr>
            <a:r>
              <a:rPr lang="en-US" sz="2300" b="1" dirty="0">
                <a:solidFill>
                  <a:srgbClr val="000000"/>
                </a:solidFill>
                <a:latin typeface="Courier"/>
                <a:ea typeface="Menlo"/>
                <a:cs typeface="Courier"/>
              </a:rPr>
              <a:t>};</a:t>
            </a:r>
            <a:endParaRPr lang="en-US" sz="2300" b="1" dirty="0">
              <a:latin typeface="Courier"/>
              <a:cs typeface="Courier"/>
            </a:endParaRPr>
          </a:p>
        </p:txBody>
      </p:sp>
      <p:sp>
        <p:nvSpPr>
          <p:cNvPr id="7" name="Slide Number Placeholder 4"/>
          <p:cNvSpPr>
            <a:spLocks noGrp="1"/>
          </p:cNvSpPr>
          <p:nvPr>
            <p:ph type="sldNum" sz="quarter" idx="12"/>
          </p:nvPr>
        </p:nvSpPr>
        <p:spPr>
          <a:xfrm>
            <a:off x="6974904" y="6492875"/>
            <a:ext cx="2133600" cy="365125"/>
          </a:xfrm>
          <a:noFill/>
        </p:spPr>
        <p:txBody>
          <a:bodyPr/>
          <a:lstStyle/>
          <a:p>
            <a:fld id="{2C44404F-1A23-5744-A5E8-8D02DE880158}" type="slidenum">
              <a:rPr lang="en-US" smtClean="0"/>
              <a:pPr/>
              <a:t>19</a:t>
            </a:fld>
            <a:endParaRPr lang="en-US"/>
          </a:p>
        </p:txBody>
      </p:sp>
      <p:sp>
        <p:nvSpPr>
          <p:cNvPr id="8" name="Date Placeholder 4"/>
          <p:cNvSpPr>
            <a:spLocks noGrp="1"/>
          </p:cNvSpPr>
          <p:nvPr>
            <p:ph type="dt" sz="half" idx="10"/>
          </p:nvPr>
        </p:nvSpPr>
        <p:spPr>
          <a:xfrm>
            <a:off x="35496" y="6492875"/>
            <a:ext cx="2133600" cy="365125"/>
          </a:xfrm>
        </p:spPr>
        <p:txBody>
          <a:bodyPr/>
          <a:lstStyle/>
          <a:p>
            <a:fld id="{5A924D08-1259-B34A-8611-C6E2C0D282ED}" type="datetime1">
              <a:rPr lang="en-US" smtClean="0"/>
              <a:pPr/>
              <a:t>5/2/24</a:t>
            </a:fld>
            <a:endParaRPr lang="en-US"/>
          </a:p>
        </p:txBody>
      </p:sp>
      <p:sp>
        <p:nvSpPr>
          <p:cNvPr id="4" name="TextBox 3"/>
          <p:cNvSpPr txBox="1"/>
          <p:nvPr/>
        </p:nvSpPr>
        <p:spPr>
          <a:xfrm>
            <a:off x="6588224" y="836712"/>
            <a:ext cx="1955427" cy="2554545"/>
          </a:xfrm>
          <a:prstGeom prst="rect">
            <a:avLst/>
          </a:prstGeom>
          <a:noFill/>
        </p:spPr>
        <p:txBody>
          <a:bodyPr wrap="square" rtlCol="0">
            <a:spAutoFit/>
          </a:bodyPr>
          <a:lstStyle/>
          <a:p>
            <a:r>
              <a:rPr lang="en-US" sz="1600" i="1" dirty="0">
                <a:latin typeface="Arial"/>
                <a:cs typeface="Arial"/>
              </a:rPr>
              <a:t>To read a variable, get its index, then find the variable in the storage hierarchy. Before reading, query the variable placement it gives the class the variable is discretized on.</a:t>
            </a:r>
          </a:p>
        </p:txBody>
      </p:sp>
      <p:sp>
        <p:nvSpPr>
          <p:cNvPr id="10" name="Footer Placeholder 5"/>
          <p:cNvSpPr>
            <a:spLocks noGrp="1"/>
          </p:cNvSpPr>
          <p:nvPr>
            <p:ph type="ftr" sz="quarter" idx="11"/>
          </p:nvPr>
        </p:nvSpPr>
        <p:spPr>
          <a:xfrm>
            <a:off x="3124200" y="6492875"/>
            <a:ext cx="2895600" cy="365125"/>
          </a:xfrm>
        </p:spPr>
        <p:txBody>
          <a:bodyPr/>
          <a:lstStyle/>
          <a:p>
            <a:endParaRPr lang="en-US" dirty="0"/>
          </a:p>
          <a:p>
            <a:r>
              <a:rPr lang="en-US" dirty="0"/>
              <a:t>Distributed Variables</a:t>
            </a:r>
          </a:p>
          <a:p>
            <a:endParaRPr lang="en-US" dirty="0"/>
          </a:p>
        </p:txBody>
      </p:sp>
    </p:spTree>
    <p:extLst>
      <p:ext uri="{BB962C8B-B14F-4D97-AF65-F5344CB8AC3E}">
        <p14:creationId xmlns:p14="http://schemas.microsoft.com/office/powerpoint/2010/main" val="2432102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p:spPr>
        <p:txBody>
          <a:bodyPr/>
          <a:lstStyle/>
          <a:p>
            <a:fld id="{F4FB2B58-B737-224C-975F-4291EE8F071B}" type="slidenum">
              <a:rPr lang="en-US" smtClean="0"/>
              <a:pPr/>
              <a:t>20</a:t>
            </a:fld>
            <a:endParaRPr lang="en-US"/>
          </a:p>
        </p:txBody>
      </p:sp>
      <p:sp>
        <p:nvSpPr>
          <p:cNvPr id="35843" name="Rectangle 2"/>
          <p:cNvSpPr>
            <a:spLocks noGrp="1" noChangeArrowheads="1"/>
          </p:cNvSpPr>
          <p:nvPr>
            <p:ph type="title"/>
          </p:nvPr>
        </p:nvSpPr>
        <p:spPr>
          <a:xfrm>
            <a:off x="381000" y="44624"/>
            <a:ext cx="8048625" cy="739874"/>
          </a:xfrm>
        </p:spPr>
        <p:txBody>
          <a:bodyPr/>
          <a:lstStyle/>
          <a:p>
            <a:pPr eaLnBrk="1" hangingPunct="1"/>
            <a:r>
              <a:rPr lang="en-US" dirty="0"/>
              <a:t>Variable management: </a:t>
            </a:r>
            <a:r>
              <a:rPr lang="en-US" dirty="0" err="1"/>
              <a:t>PropertyDatabase</a:t>
            </a:r>
            <a:endParaRPr lang="en-US" dirty="0"/>
          </a:p>
        </p:txBody>
      </p:sp>
      <p:sp>
        <p:nvSpPr>
          <p:cNvPr id="35844" name="Rectangle 3"/>
          <p:cNvSpPr>
            <a:spLocks noGrp="1" noChangeArrowheads="1"/>
          </p:cNvSpPr>
          <p:nvPr>
            <p:ph type="body" idx="1"/>
          </p:nvPr>
        </p:nvSpPr>
        <p:spPr>
          <a:xfrm>
            <a:off x="539552" y="812949"/>
            <a:ext cx="8352927" cy="2347812"/>
          </a:xfrm>
        </p:spPr>
        <p:txBody>
          <a:bodyPr>
            <a:normAutofit fontScale="85000" lnSpcReduction="20000"/>
          </a:bodyPr>
          <a:lstStyle/>
          <a:p>
            <a:pPr marL="177800" indent="-177800" eaLnBrk="1" hangingPunct="1">
              <a:lnSpc>
                <a:spcPct val="80000"/>
              </a:lnSpc>
              <a:spcAft>
                <a:spcPts val="1500"/>
              </a:spcAft>
            </a:pPr>
            <a:r>
              <a:rPr lang="en-US" sz="2000" dirty="0"/>
              <a:t>Parameter class objects contain the variable specifications: name, notation, SI unit, type, placement, physically meaningful value range</a:t>
            </a:r>
          </a:p>
          <a:p>
            <a:pPr marL="177800" indent="-177800" eaLnBrk="1" hangingPunct="1">
              <a:lnSpc>
                <a:spcPct val="80000"/>
              </a:lnSpc>
              <a:spcAft>
                <a:spcPts val="1500"/>
              </a:spcAft>
            </a:pPr>
            <a:r>
              <a:rPr lang="en-US" sz="2000" dirty="0" err="1"/>
              <a:t>PropertyDatabase</a:t>
            </a:r>
            <a:r>
              <a:rPr lang="en-US" sz="2000" dirty="0"/>
              <a:t> lives inside the model and returns variable Index </a:t>
            </a:r>
            <a:r>
              <a:rPr lang="en-US" sz="2000" dirty="0" err="1"/>
              <a:t>structs</a:t>
            </a:r>
            <a:r>
              <a:rPr lang="en-US" sz="2000" dirty="0"/>
              <a:t> for variable access through Model and Region interfaces; these contain pre-comput</a:t>
            </a:r>
            <a:r>
              <a:rPr lang="en-US" dirty="0"/>
              <a:t>ed offsets for fast lookup</a:t>
            </a:r>
            <a:endParaRPr lang="en-US" sz="2000" dirty="0"/>
          </a:p>
          <a:p>
            <a:pPr marL="177800" indent="-177800" eaLnBrk="1" hangingPunct="1">
              <a:lnSpc>
                <a:spcPct val="80000"/>
              </a:lnSpc>
              <a:spcAft>
                <a:spcPts val="1500"/>
              </a:spcAft>
            </a:pPr>
            <a:r>
              <a:rPr lang="en-US" sz="2000" dirty="0"/>
              <a:t>Initialization from text file or within running program</a:t>
            </a:r>
          </a:p>
          <a:p>
            <a:pPr marL="177800" indent="-177800">
              <a:lnSpc>
                <a:spcPct val="80000"/>
              </a:lnSpc>
              <a:spcAft>
                <a:spcPts val="1500"/>
              </a:spcAft>
            </a:pPr>
            <a:r>
              <a:rPr lang="en-US" dirty="0" err="1"/>
              <a:t>PropertyDatabase</a:t>
            </a:r>
            <a:r>
              <a:rPr lang="en-US" dirty="0"/>
              <a:t> can be used to perform range checks on all Store() operations</a:t>
            </a:r>
          </a:p>
          <a:p>
            <a:pPr marL="177800" indent="-177800" eaLnBrk="1" hangingPunct="1">
              <a:lnSpc>
                <a:spcPct val="80000"/>
              </a:lnSpc>
              <a:spcAft>
                <a:spcPts val="1500"/>
              </a:spcAft>
            </a:pPr>
            <a:r>
              <a:rPr lang="en-US" sz="2000" dirty="0"/>
              <a:t>Variables file </a:t>
            </a:r>
            <a:r>
              <a:rPr lang="en-US" dirty="0"/>
              <a:t>can also contain a usage classifier for the GUI-based configurator</a:t>
            </a:r>
            <a:endParaRPr lang="en-US" sz="2000" dirty="0"/>
          </a:p>
        </p:txBody>
      </p:sp>
      <p:pic>
        <p:nvPicPr>
          <p:cNvPr id="35845" name="Picture 4"/>
          <p:cNvPicPr>
            <a:picLocks noChangeAspect="1" noChangeArrowheads="1"/>
          </p:cNvPicPr>
          <p:nvPr/>
        </p:nvPicPr>
        <p:blipFill>
          <a:blip r:embed="rId3"/>
          <a:srcRect r="18639"/>
          <a:stretch>
            <a:fillRect/>
          </a:stretch>
        </p:blipFill>
        <p:spPr bwMode="auto">
          <a:xfrm>
            <a:off x="187325" y="3658765"/>
            <a:ext cx="8793163" cy="2722563"/>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0C59A6DC-D10B-1E45-93B2-06FF8420853A}" type="datetime1">
              <a:rPr lang="en-US" smtClean="0"/>
              <a:pPr/>
              <a:t>5/2/24</a:t>
            </a:fld>
            <a:endParaRPr lang="en-US"/>
          </a:p>
        </p:txBody>
      </p:sp>
      <p:sp>
        <p:nvSpPr>
          <p:cNvPr id="2" name="TextBox 1"/>
          <p:cNvSpPr txBox="1"/>
          <p:nvPr/>
        </p:nvSpPr>
        <p:spPr>
          <a:xfrm>
            <a:off x="530181" y="3160761"/>
            <a:ext cx="8002259" cy="400110"/>
          </a:xfrm>
          <a:prstGeom prst="rect">
            <a:avLst/>
          </a:prstGeom>
          <a:noFill/>
        </p:spPr>
        <p:txBody>
          <a:bodyPr wrap="none" rtlCol="0">
            <a:spAutoFit/>
          </a:bodyPr>
          <a:lstStyle/>
          <a:p>
            <a:r>
              <a:rPr lang="en-US" sz="2000" i="1" dirty="0">
                <a:latin typeface="Arial"/>
                <a:cs typeface="Arial"/>
              </a:rPr>
              <a:t>example ‘*-</a:t>
            </a:r>
            <a:r>
              <a:rPr lang="en-US" sz="2000" i="1" dirty="0" err="1">
                <a:latin typeface="Arial"/>
                <a:cs typeface="Arial"/>
              </a:rPr>
              <a:t>variables.txt</a:t>
            </a:r>
            <a:r>
              <a:rPr lang="en-US" sz="2000" i="1" dirty="0">
                <a:latin typeface="Arial"/>
                <a:cs typeface="Arial"/>
              </a:rPr>
              <a:t>’ file for pressure diffusion / single-phase flow</a:t>
            </a:r>
          </a:p>
        </p:txBody>
      </p:sp>
      <p:sp>
        <p:nvSpPr>
          <p:cNvPr id="3" name="TextBox 2"/>
          <p:cNvSpPr txBox="1"/>
          <p:nvPr/>
        </p:nvSpPr>
        <p:spPr>
          <a:xfrm>
            <a:off x="539552" y="6300028"/>
            <a:ext cx="8046167" cy="338554"/>
          </a:xfrm>
          <a:prstGeom prst="rect">
            <a:avLst/>
          </a:prstGeom>
          <a:noFill/>
        </p:spPr>
        <p:txBody>
          <a:bodyPr wrap="none" rtlCol="0">
            <a:spAutoFit/>
          </a:bodyPr>
          <a:lstStyle/>
          <a:p>
            <a:r>
              <a:rPr lang="en-US" sz="1600" i="1" dirty="0">
                <a:latin typeface="Arial"/>
                <a:cs typeface="Arial"/>
              </a:rPr>
              <a:t>Note: Neither the </a:t>
            </a:r>
            <a:r>
              <a:rPr lang="en-US" sz="1600" i="1" dirty="0" err="1">
                <a:latin typeface="Arial"/>
                <a:cs typeface="Arial"/>
              </a:rPr>
              <a:t>PropertyDatabase</a:t>
            </a:r>
            <a:r>
              <a:rPr lang="en-US" sz="1600" i="1" dirty="0">
                <a:latin typeface="Arial"/>
                <a:cs typeface="Arial"/>
              </a:rPr>
              <a:t> nor the variable file store actual variable values. </a:t>
            </a:r>
          </a:p>
        </p:txBody>
      </p:sp>
      <p:sp>
        <p:nvSpPr>
          <p:cNvPr id="4" name="Donut 3"/>
          <p:cNvSpPr/>
          <p:nvPr/>
        </p:nvSpPr>
        <p:spPr>
          <a:xfrm>
            <a:off x="5508104" y="3933056"/>
            <a:ext cx="2376264" cy="432048"/>
          </a:xfrm>
          <a:prstGeom prst="donut">
            <a:avLst>
              <a:gd name="adj" fmla="val 15070"/>
            </a:avLst>
          </a:prstGeom>
          <a:solidFill>
            <a:srgbClr val="FF0000">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solidFill>
                <a:schemeClr val="tx1"/>
              </a:solidFill>
            </a:endParaRPr>
          </a:p>
        </p:txBody>
      </p:sp>
      <p:sp>
        <p:nvSpPr>
          <p:cNvPr id="5" name="TextBox 4"/>
          <p:cNvSpPr txBox="1"/>
          <p:nvPr/>
        </p:nvSpPr>
        <p:spPr>
          <a:xfrm>
            <a:off x="5364088" y="3635732"/>
            <a:ext cx="2792464" cy="369332"/>
          </a:xfrm>
          <a:prstGeom prst="rect">
            <a:avLst/>
          </a:prstGeom>
          <a:noFill/>
        </p:spPr>
        <p:txBody>
          <a:bodyPr wrap="none" rtlCol="0">
            <a:spAutoFit/>
          </a:bodyPr>
          <a:lstStyle/>
          <a:p>
            <a:r>
              <a:rPr lang="en-GB" dirty="0">
                <a:solidFill>
                  <a:srgbClr val="FF0000"/>
                </a:solidFill>
              </a:rPr>
              <a:t>physically meaningful range</a:t>
            </a:r>
          </a:p>
        </p:txBody>
      </p:sp>
      <p:sp>
        <p:nvSpPr>
          <p:cNvPr id="12" name="Footer Placeholder 5"/>
          <p:cNvSpPr>
            <a:spLocks noGrp="1"/>
          </p:cNvSpPr>
          <p:nvPr>
            <p:ph type="ftr" sz="quarter" idx="11"/>
          </p:nvPr>
        </p:nvSpPr>
        <p:spPr>
          <a:xfrm>
            <a:off x="3124200" y="6525344"/>
            <a:ext cx="2895600" cy="365125"/>
          </a:xfrm>
        </p:spPr>
        <p:txBody>
          <a:bodyPr/>
          <a:lstStyle/>
          <a:p>
            <a:endParaRPr lang="en-US" dirty="0"/>
          </a:p>
          <a:p>
            <a:r>
              <a:rPr lang="en-US" dirty="0"/>
              <a:t>Distributed Variables</a:t>
            </a:r>
          </a:p>
          <a:p>
            <a:endParaRPr lang="en-US" dirty="0"/>
          </a:p>
        </p:txBody>
      </p:sp>
    </p:spTree>
    <p:extLst>
      <p:ext uri="{BB962C8B-B14F-4D97-AF65-F5344CB8AC3E}">
        <p14:creationId xmlns:p14="http://schemas.microsoft.com/office/powerpoint/2010/main" val="2177721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Elbow Connector 20"/>
          <p:cNvCxnSpPr>
            <a:stCxn id="16" idx="1"/>
            <a:endCxn id="2" idx="3"/>
          </p:cNvCxnSpPr>
          <p:nvPr/>
        </p:nvCxnSpPr>
        <p:spPr>
          <a:xfrm rot="10800000">
            <a:off x="4714508" y="1556792"/>
            <a:ext cx="2789934" cy="2848962"/>
          </a:xfrm>
          <a:prstGeom prst="bentConnector3">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3" name="Title 1"/>
          <p:cNvSpPr>
            <a:spLocks noGrp="1"/>
          </p:cNvSpPr>
          <p:nvPr>
            <p:ph type="title"/>
          </p:nvPr>
        </p:nvSpPr>
        <p:spPr>
          <a:xfrm>
            <a:off x="457200" y="44624"/>
            <a:ext cx="8229600" cy="1143000"/>
          </a:xfrm>
        </p:spPr>
        <p:txBody>
          <a:bodyPr>
            <a:normAutofit/>
          </a:bodyPr>
          <a:lstStyle/>
          <a:p>
            <a:r>
              <a:rPr lang="de-AT" sz="3200" dirty="0" err="1"/>
              <a:t>LocalVariable</a:t>
            </a:r>
            <a:r>
              <a:rPr lang="de-AT" dirty="0" err="1"/>
              <a:t>S</a:t>
            </a:r>
            <a:r>
              <a:rPr lang="de-AT" sz="3200" dirty="0" err="1"/>
              <a:t>torage</a:t>
            </a:r>
            <a:br>
              <a:rPr lang="de-AT" sz="3200" dirty="0"/>
            </a:br>
            <a:r>
              <a:rPr lang="de-AT" sz="2400" dirty="0" err="1">
                <a:solidFill>
                  <a:srgbClr val="000000"/>
                </a:solidFill>
              </a:rPr>
              <a:t>with</a:t>
            </a:r>
            <a:r>
              <a:rPr lang="de-AT" sz="2400" dirty="0">
                <a:solidFill>
                  <a:srgbClr val="000000"/>
                </a:solidFill>
              </a:rPr>
              <a:t> Read(), Store(), and Status() </a:t>
            </a:r>
            <a:r>
              <a:rPr lang="de-AT" sz="2400" dirty="0" err="1">
                <a:solidFill>
                  <a:srgbClr val="000000"/>
                </a:solidFill>
              </a:rPr>
              <a:t>interfaces</a:t>
            </a:r>
            <a:endParaRPr lang="en-US" sz="2400" dirty="0">
              <a:solidFill>
                <a:srgbClr val="000000"/>
              </a:solidFill>
            </a:endParaRPr>
          </a:p>
        </p:txBody>
      </p:sp>
      <p:sp>
        <p:nvSpPr>
          <p:cNvPr id="5" name="Slide Number Placeholder 4"/>
          <p:cNvSpPr>
            <a:spLocks noGrp="1"/>
          </p:cNvSpPr>
          <p:nvPr>
            <p:ph type="sldNum" sz="quarter" idx="12"/>
          </p:nvPr>
        </p:nvSpPr>
        <p:spPr>
          <a:xfrm>
            <a:off x="6974904" y="6492875"/>
            <a:ext cx="2133600" cy="365125"/>
          </a:xfrm>
          <a:noFill/>
        </p:spPr>
        <p:txBody>
          <a:bodyPr/>
          <a:lstStyle/>
          <a:p>
            <a:fld id="{2C44404F-1A23-5744-A5E8-8D02DE880158}" type="slidenum">
              <a:rPr lang="en-US" smtClean="0"/>
              <a:pPr/>
              <a:t>21</a:t>
            </a:fld>
            <a:endParaRPr lang="en-US"/>
          </a:p>
        </p:txBody>
      </p:sp>
      <p:sp>
        <p:nvSpPr>
          <p:cNvPr id="6" name="Date Placeholder 4"/>
          <p:cNvSpPr>
            <a:spLocks noGrp="1"/>
          </p:cNvSpPr>
          <p:nvPr>
            <p:ph type="dt" sz="half" idx="10"/>
          </p:nvPr>
        </p:nvSpPr>
        <p:spPr>
          <a:xfrm>
            <a:off x="35496" y="6492875"/>
            <a:ext cx="2133600" cy="365125"/>
          </a:xfrm>
        </p:spPr>
        <p:txBody>
          <a:bodyPr/>
          <a:lstStyle/>
          <a:p>
            <a:fld id="{5A924D08-1259-B34A-8611-C6E2C0D282ED}" type="datetime1">
              <a:rPr lang="en-US" smtClean="0"/>
              <a:pPr/>
              <a:t>5/2/24</a:t>
            </a:fld>
            <a:endParaRPr lang="en-US"/>
          </a:p>
        </p:txBody>
      </p:sp>
      <p:sp>
        <p:nvSpPr>
          <p:cNvPr id="2" name="TextBox 1"/>
          <p:cNvSpPr txBox="1"/>
          <p:nvPr/>
        </p:nvSpPr>
        <p:spPr>
          <a:xfrm>
            <a:off x="2339752" y="1372126"/>
            <a:ext cx="2374756" cy="369332"/>
          </a:xfrm>
          <a:prstGeom prst="rect">
            <a:avLst/>
          </a:prstGeom>
          <a:solidFill>
            <a:srgbClr val="FFFF00"/>
          </a:solidFill>
          <a:ln w="19050" cmpd="sng">
            <a:solidFill>
              <a:srgbClr val="000000"/>
            </a:solidFill>
          </a:ln>
        </p:spPr>
        <p:txBody>
          <a:bodyPr wrap="none" rtlCol="0">
            <a:spAutoFit/>
          </a:bodyPr>
          <a:lstStyle/>
          <a:p>
            <a:r>
              <a:rPr lang="en-GB" dirty="0" err="1">
                <a:latin typeface="Arial"/>
                <a:cs typeface="Arial"/>
              </a:rPr>
              <a:t>LocalVariableStorage</a:t>
            </a:r>
            <a:endParaRPr lang="en-GB" dirty="0">
              <a:latin typeface="Arial"/>
              <a:cs typeface="Arial"/>
            </a:endParaRPr>
          </a:p>
        </p:txBody>
      </p:sp>
      <p:sp>
        <p:nvSpPr>
          <p:cNvPr id="13" name="TextBox 12"/>
          <p:cNvSpPr txBox="1"/>
          <p:nvPr/>
        </p:nvSpPr>
        <p:spPr>
          <a:xfrm>
            <a:off x="2284346" y="2242096"/>
            <a:ext cx="2468644" cy="369332"/>
          </a:xfrm>
          <a:prstGeom prst="rect">
            <a:avLst/>
          </a:prstGeom>
          <a:solidFill>
            <a:schemeClr val="bg1"/>
          </a:solidFill>
          <a:ln w="19050" cmpd="sng">
            <a:solidFill>
              <a:srgbClr val="000000"/>
            </a:solidFill>
          </a:ln>
        </p:spPr>
        <p:txBody>
          <a:bodyPr wrap="none" rtlCol="0">
            <a:spAutoFit/>
          </a:bodyPr>
          <a:lstStyle/>
          <a:p>
            <a:r>
              <a:rPr lang="en-GB" dirty="0">
                <a:latin typeface="Arial"/>
                <a:cs typeface="Arial"/>
              </a:rPr>
              <a:t>Region&lt;</a:t>
            </a:r>
            <a:r>
              <a:rPr lang="en-GB" dirty="0" err="1">
                <a:latin typeface="Arial"/>
                <a:cs typeface="Arial"/>
              </a:rPr>
              <a:t>dim,Element</a:t>
            </a:r>
            <a:r>
              <a:rPr lang="en-GB" dirty="0">
                <a:latin typeface="Arial"/>
                <a:cs typeface="Arial"/>
              </a:rPr>
              <a:t>&gt;</a:t>
            </a:r>
          </a:p>
        </p:txBody>
      </p:sp>
      <p:sp>
        <p:nvSpPr>
          <p:cNvPr id="14" name="TextBox 13"/>
          <p:cNvSpPr txBox="1"/>
          <p:nvPr/>
        </p:nvSpPr>
        <p:spPr>
          <a:xfrm>
            <a:off x="4019955" y="2915652"/>
            <a:ext cx="2391663" cy="369332"/>
          </a:xfrm>
          <a:prstGeom prst="rect">
            <a:avLst/>
          </a:prstGeom>
          <a:solidFill>
            <a:schemeClr val="bg1"/>
          </a:solidFill>
          <a:ln w="19050" cmpd="sng">
            <a:solidFill>
              <a:srgbClr val="000000"/>
            </a:solidFill>
          </a:ln>
        </p:spPr>
        <p:txBody>
          <a:bodyPr wrap="none" rtlCol="0">
            <a:spAutoFit/>
          </a:bodyPr>
          <a:lstStyle/>
          <a:p>
            <a:r>
              <a:rPr lang="en-GB" dirty="0">
                <a:latin typeface="Arial"/>
                <a:cs typeface="Arial"/>
              </a:rPr>
              <a:t>Boundary&lt;</a:t>
            </a:r>
            <a:r>
              <a:rPr lang="en-GB" dirty="0" err="1">
                <a:latin typeface="Arial"/>
                <a:cs typeface="Arial"/>
              </a:rPr>
              <a:t>dim,Face</a:t>
            </a:r>
            <a:r>
              <a:rPr lang="en-GB" dirty="0">
                <a:latin typeface="Arial"/>
                <a:cs typeface="Arial"/>
              </a:rPr>
              <a:t>&gt;</a:t>
            </a:r>
          </a:p>
        </p:txBody>
      </p:sp>
      <p:sp>
        <p:nvSpPr>
          <p:cNvPr id="15" name="TextBox 14"/>
          <p:cNvSpPr txBox="1"/>
          <p:nvPr/>
        </p:nvSpPr>
        <p:spPr>
          <a:xfrm>
            <a:off x="4890874" y="3546642"/>
            <a:ext cx="3302594" cy="369332"/>
          </a:xfrm>
          <a:prstGeom prst="rect">
            <a:avLst/>
          </a:prstGeom>
          <a:solidFill>
            <a:schemeClr val="bg1"/>
          </a:solidFill>
          <a:ln w="19050" cmpd="sng">
            <a:solidFill>
              <a:srgbClr val="000000"/>
            </a:solidFill>
          </a:ln>
        </p:spPr>
        <p:txBody>
          <a:bodyPr wrap="none" rtlCol="0">
            <a:spAutoFit/>
          </a:bodyPr>
          <a:lstStyle/>
          <a:p>
            <a:r>
              <a:rPr lang="en-GB" dirty="0" err="1">
                <a:latin typeface="Arial"/>
                <a:cs typeface="Arial"/>
              </a:rPr>
              <a:t>SplitBoundary</a:t>
            </a:r>
            <a:r>
              <a:rPr lang="en-GB" dirty="0">
                <a:latin typeface="Arial"/>
                <a:cs typeface="Arial"/>
              </a:rPr>
              <a:t>&lt;</a:t>
            </a:r>
            <a:r>
              <a:rPr lang="en-GB" dirty="0" err="1">
                <a:latin typeface="Arial"/>
                <a:cs typeface="Arial"/>
              </a:rPr>
              <a:t>dim,InterFace</a:t>
            </a:r>
            <a:r>
              <a:rPr lang="en-GB" dirty="0">
                <a:latin typeface="Arial"/>
                <a:cs typeface="Arial"/>
              </a:rPr>
              <a:t>&gt;</a:t>
            </a:r>
          </a:p>
        </p:txBody>
      </p:sp>
      <p:sp>
        <p:nvSpPr>
          <p:cNvPr id="16" name="TextBox 15"/>
          <p:cNvSpPr txBox="1"/>
          <p:nvPr/>
        </p:nvSpPr>
        <p:spPr>
          <a:xfrm>
            <a:off x="7504442" y="4221088"/>
            <a:ext cx="1378052" cy="369332"/>
          </a:xfrm>
          <a:prstGeom prst="rect">
            <a:avLst/>
          </a:prstGeom>
          <a:solidFill>
            <a:schemeClr val="bg1"/>
          </a:solidFill>
          <a:ln w="19050" cmpd="sng">
            <a:solidFill>
              <a:srgbClr val="000000"/>
            </a:solidFill>
          </a:ln>
        </p:spPr>
        <p:txBody>
          <a:bodyPr wrap="none" rtlCol="0">
            <a:spAutoFit/>
          </a:bodyPr>
          <a:lstStyle/>
          <a:p>
            <a:r>
              <a:rPr lang="en-GB" dirty="0">
                <a:latin typeface="Arial"/>
                <a:cs typeface="Arial"/>
              </a:rPr>
              <a:t>Node&lt;dim&gt;</a:t>
            </a:r>
          </a:p>
        </p:txBody>
      </p:sp>
      <p:sp>
        <p:nvSpPr>
          <p:cNvPr id="17" name="TextBox 16"/>
          <p:cNvSpPr txBox="1"/>
          <p:nvPr/>
        </p:nvSpPr>
        <p:spPr>
          <a:xfrm>
            <a:off x="436134" y="1836423"/>
            <a:ext cx="1454921" cy="369332"/>
          </a:xfrm>
          <a:prstGeom prst="rect">
            <a:avLst/>
          </a:prstGeom>
          <a:solidFill>
            <a:schemeClr val="bg1"/>
          </a:solidFill>
          <a:ln w="19050" cmpd="sng">
            <a:solidFill>
              <a:srgbClr val="000000"/>
            </a:solidFill>
          </a:ln>
        </p:spPr>
        <p:txBody>
          <a:bodyPr wrap="none" rtlCol="0">
            <a:spAutoFit/>
          </a:bodyPr>
          <a:lstStyle/>
          <a:p>
            <a:r>
              <a:rPr lang="en-GB" dirty="0">
                <a:latin typeface="Arial"/>
                <a:cs typeface="Arial"/>
              </a:rPr>
              <a:t>Model&lt;dim&gt;</a:t>
            </a:r>
          </a:p>
        </p:txBody>
      </p:sp>
      <p:cxnSp>
        <p:nvCxnSpPr>
          <p:cNvPr id="10" name="Elbow Connector 9"/>
          <p:cNvCxnSpPr>
            <a:stCxn id="17" idx="3"/>
            <a:endCxn id="2" idx="1"/>
          </p:cNvCxnSpPr>
          <p:nvPr/>
        </p:nvCxnSpPr>
        <p:spPr>
          <a:xfrm flipV="1">
            <a:off x="1891055" y="1556792"/>
            <a:ext cx="448697" cy="464297"/>
          </a:xfrm>
          <a:prstGeom prst="bentConnector3">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3" name="Elbow Connector 22"/>
          <p:cNvCxnSpPr>
            <a:stCxn id="13" idx="0"/>
            <a:endCxn id="2" idx="2"/>
          </p:cNvCxnSpPr>
          <p:nvPr/>
        </p:nvCxnSpPr>
        <p:spPr>
          <a:xfrm rot="5400000" flipH="1" flipV="1">
            <a:off x="3272580" y="1987546"/>
            <a:ext cx="500638" cy="8462"/>
          </a:xfrm>
          <a:prstGeom prst="bentConnector3">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Elbow Connector 25"/>
          <p:cNvCxnSpPr>
            <a:stCxn id="14" idx="0"/>
          </p:cNvCxnSpPr>
          <p:nvPr/>
        </p:nvCxnSpPr>
        <p:spPr>
          <a:xfrm rot="16200000" flipV="1">
            <a:off x="3831845" y="1531709"/>
            <a:ext cx="1079229" cy="1688657"/>
          </a:xfrm>
          <a:prstGeom prst="bentConnector2">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Elbow Connector 28"/>
          <p:cNvCxnSpPr>
            <a:stCxn id="15" idx="0"/>
          </p:cNvCxnSpPr>
          <p:nvPr/>
        </p:nvCxnSpPr>
        <p:spPr>
          <a:xfrm rot="16200000" flipV="1">
            <a:off x="4629969" y="1634439"/>
            <a:ext cx="1710219" cy="2114187"/>
          </a:xfrm>
          <a:prstGeom prst="bentConnector2">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5120" name="TextBox 5119"/>
          <p:cNvSpPr txBox="1"/>
          <p:nvPr/>
        </p:nvSpPr>
        <p:spPr>
          <a:xfrm>
            <a:off x="251520" y="5436512"/>
            <a:ext cx="8680681" cy="584776"/>
          </a:xfrm>
          <a:prstGeom prst="rect">
            <a:avLst/>
          </a:prstGeom>
          <a:noFill/>
        </p:spPr>
        <p:txBody>
          <a:bodyPr wrap="none" rtlCol="0">
            <a:spAutoFit/>
          </a:bodyPr>
          <a:lstStyle/>
          <a:p>
            <a:r>
              <a:rPr lang="en-GB" sz="1600" b="1" dirty="0">
                <a:solidFill>
                  <a:srgbClr val="0000FF"/>
                </a:solidFill>
                <a:latin typeface="Courier"/>
                <a:cs typeface="Courier"/>
              </a:rPr>
              <a:t>template</a:t>
            </a:r>
            <a:r>
              <a:rPr lang="en-GB" sz="1600" b="1" dirty="0">
                <a:latin typeface="Courier"/>
                <a:cs typeface="Courier"/>
              </a:rPr>
              <a:t>&lt;uint32_t dim&gt;</a:t>
            </a:r>
          </a:p>
          <a:p>
            <a:r>
              <a:rPr lang="en-GB" sz="1600" b="1" dirty="0">
                <a:solidFill>
                  <a:srgbClr val="0000FF"/>
                </a:solidFill>
                <a:latin typeface="Courier"/>
                <a:cs typeface="Courier"/>
              </a:rPr>
              <a:t>class</a:t>
            </a:r>
            <a:r>
              <a:rPr lang="en-GB" sz="1600" b="1" dirty="0">
                <a:latin typeface="Courier"/>
                <a:cs typeface="Courier"/>
              </a:rPr>
              <a:t> Element  :  </a:t>
            </a:r>
            <a:r>
              <a:rPr lang="en-GB" sz="1600" b="1" dirty="0">
                <a:solidFill>
                  <a:srgbClr val="0000FF"/>
                </a:solidFill>
                <a:latin typeface="Courier"/>
                <a:cs typeface="Courier"/>
              </a:rPr>
              <a:t>public</a:t>
            </a:r>
            <a:r>
              <a:rPr lang="en-GB" sz="1600" b="1" dirty="0">
                <a:latin typeface="Courier"/>
                <a:cs typeface="Courier"/>
              </a:rPr>
              <a:t> </a:t>
            </a:r>
            <a:r>
              <a:rPr lang="en-GB" sz="1600" b="1" dirty="0" err="1">
                <a:latin typeface="Courier"/>
                <a:cs typeface="Courier"/>
              </a:rPr>
              <a:t>LocalVariableStorage</a:t>
            </a:r>
            <a:r>
              <a:rPr lang="en-GB" sz="1600" b="1" dirty="0">
                <a:latin typeface="Courier"/>
                <a:cs typeface="Courier"/>
              </a:rPr>
              <a:t>&lt;dim, Element&gt;,  </a:t>
            </a:r>
            <a:r>
              <a:rPr lang="en-GB" sz="1600" b="1" dirty="0">
                <a:solidFill>
                  <a:srgbClr val="0000FF"/>
                </a:solidFill>
                <a:latin typeface="Courier"/>
                <a:cs typeface="Courier"/>
              </a:rPr>
              <a:t>public</a:t>
            </a:r>
            <a:r>
              <a:rPr lang="en-GB" sz="1600" b="1" dirty="0">
                <a:latin typeface="Courier"/>
                <a:cs typeface="Courier"/>
              </a:rPr>
              <a:t>…</a:t>
            </a:r>
          </a:p>
        </p:txBody>
      </p:sp>
      <p:sp>
        <p:nvSpPr>
          <p:cNvPr id="5121" name="TextBox 5120"/>
          <p:cNvSpPr txBox="1"/>
          <p:nvPr/>
        </p:nvSpPr>
        <p:spPr>
          <a:xfrm>
            <a:off x="251520" y="4581128"/>
            <a:ext cx="5237331" cy="646331"/>
          </a:xfrm>
          <a:prstGeom prst="rect">
            <a:avLst/>
          </a:prstGeom>
          <a:noFill/>
        </p:spPr>
        <p:txBody>
          <a:bodyPr wrap="none" rtlCol="0">
            <a:spAutoFit/>
          </a:bodyPr>
          <a:lstStyle/>
          <a:p>
            <a:r>
              <a:rPr lang="en-GB" dirty="0">
                <a:latin typeface="Arial"/>
                <a:cs typeface="Arial"/>
              </a:rPr>
              <a:t>Implemented as C++ policy subclasses of all</a:t>
            </a:r>
          </a:p>
          <a:p>
            <a:r>
              <a:rPr lang="en-GB" dirty="0">
                <a:latin typeface="Arial"/>
                <a:cs typeface="Arial"/>
              </a:rPr>
              <a:t>classes that have variables associated with them:</a:t>
            </a:r>
          </a:p>
        </p:txBody>
      </p:sp>
      <p:sp>
        <p:nvSpPr>
          <p:cNvPr id="19" name="Footer Placeholder 5"/>
          <p:cNvSpPr>
            <a:spLocks noGrp="1"/>
          </p:cNvSpPr>
          <p:nvPr>
            <p:ph type="ftr" sz="quarter" idx="11"/>
          </p:nvPr>
        </p:nvSpPr>
        <p:spPr>
          <a:xfrm>
            <a:off x="3124200" y="6492875"/>
            <a:ext cx="2895600" cy="365125"/>
          </a:xfrm>
        </p:spPr>
        <p:txBody>
          <a:bodyPr/>
          <a:lstStyle/>
          <a:p>
            <a:endParaRPr lang="en-US" dirty="0"/>
          </a:p>
          <a:p>
            <a:r>
              <a:rPr lang="en-US" dirty="0"/>
              <a:t>Distributed Variables</a:t>
            </a:r>
          </a:p>
          <a:p>
            <a:endParaRPr lang="en-US" dirty="0"/>
          </a:p>
        </p:txBody>
      </p:sp>
      <p:sp>
        <p:nvSpPr>
          <p:cNvPr id="4" name="TextBox 3">
            <a:extLst>
              <a:ext uri="{FF2B5EF4-FFF2-40B4-BE49-F238E27FC236}">
                <a16:creationId xmlns:a16="http://schemas.microsoft.com/office/drawing/2014/main" id="{376790B6-9B09-A5E8-63F0-46CFB4C9B984}"/>
              </a:ext>
            </a:extLst>
          </p:cNvPr>
          <p:cNvSpPr txBox="1"/>
          <p:nvPr/>
        </p:nvSpPr>
        <p:spPr>
          <a:xfrm>
            <a:off x="294272" y="2954625"/>
            <a:ext cx="3275256" cy="1200329"/>
          </a:xfrm>
          <a:prstGeom prst="rect">
            <a:avLst/>
          </a:prstGeom>
          <a:noFill/>
        </p:spPr>
        <p:txBody>
          <a:bodyPr wrap="none" rtlCol="0">
            <a:spAutoFit/>
          </a:bodyPr>
          <a:lstStyle/>
          <a:p>
            <a:r>
              <a:rPr lang="en-GB" dirty="0">
                <a:latin typeface="Arial"/>
                <a:cs typeface="Arial"/>
              </a:rPr>
              <a:t>Regions consist of Elements,</a:t>
            </a:r>
          </a:p>
          <a:p>
            <a:r>
              <a:rPr lang="en-GB" dirty="0">
                <a:latin typeface="Arial"/>
                <a:cs typeface="Arial"/>
              </a:rPr>
              <a:t>Boundaries of Faces, and </a:t>
            </a:r>
          </a:p>
          <a:p>
            <a:r>
              <a:rPr lang="en-GB" dirty="0" err="1">
                <a:latin typeface="Arial"/>
                <a:cs typeface="Arial"/>
              </a:rPr>
              <a:t>SplitBoundaries</a:t>
            </a:r>
            <a:r>
              <a:rPr lang="en-GB" dirty="0">
                <a:latin typeface="Arial"/>
                <a:cs typeface="Arial"/>
              </a:rPr>
              <a:t> of </a:t>
            </a:r>
            <a:r>
              <a:rPr lang="en-GB" dirty="0" err="1">
                <a:latin typeface="Arial"/>
                <a:cs typeface="Arial"/>
              </a:rPr>
              <a:t>InterFaces</a:t>
            </a:r>
            <a:r>
              <a:rPr lang="en-GB" dirty="0">
                <a:latin typeface="Arial"/>
                <a:cs typeface="Arial"/>
              </a:rPr>
              <a:t>,</a:t>
            </a:r>
          </a:p>
          <a:p>
            <a:r>
              <a:rPr lang="en-GB" dirty="0">
                <a:latin typeface="Arial"/>
                <a:cs typeface="Arial"/>
              </a:rPr>
              <a:t>all of these have FE policies.</a:t>
            </a:r>
          </a:p>
        </p:txBody>
      </p:sp>
    </p:spTree>
    <p:extLst>
      <p:ext uri="{BB962C8B-B14F-4D97-AF65-F5344CB8AC3E}">
        <p14:creationId xmlns:p14="http://schemas.microsoft.com/office/powerpoint/2010/main" val="3607689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82352"/>
            <a:ext cx="8686800" cy="914400"/>
          </a:xfrm>
        </p:spPr>
        <p:txBody>
          <a:bodyPr>
            <a:normAutofit/>
          </a:bodyPr>
          <a:lstStyle/>
          <a:p>
            <a:r>
              <a:rPr lang="en-US" dirty="0"/>
              <a:t>class </a:t>
            </a:r>
            <a:r>
              <a:rPr lang="en-US" dirty="0" err="1"/>
              <a:t>LocalVariableStorage</a:t>
            </a:r>
            <a:r>
              <a:rPr lang="en-US" dirty="0"/>
              <a:t>: Features</a:t>
            </a:r>
          </a:p>
        </p:txBody>
      </p:sp>
      <p:sp>
        <p:nvSpPr>
          <p:cNvPr id="3" name="Content Placeholder 2"/>
          <p:cNvSpPr>
            <a:spLocks noGrp="1"/>
          </p:cNvSpPr>
          <p:nvPr>
            <p:ph idx="1"/>
          </p:nvPr>
        </p:nvSpPr>
        <p:spPr>
          <a:xfrm>
            <a:off x="457200" y="1484784"/>
            <a:ext cx="8229600" cy="4936083"/>
          </a:xfrm>
        </p:spPr>
        <p:txBody>
          <a:bodyPr>
            <a:normAutofit/>
          </a:bodyPr>
          <a:lstStyle/>
          <a:p>
            <a:pPr>
              <a:spcAft>
                <a:spcPts val="1400"/>
              </a:spcAft>
            </a:pPr>
            <a:r>
              <a:rPr lang="en-US" sz="2400" dirty="0"/>
              <a:t>Distributed small object component</a:t>
            </a:r>
          </a:p>
          <a:p>
            <a:pPr>
              <a:spcAft>
                <a:spcPts val="1400"/>
              </a:spcAft>
            </a:pPr>
            <a:r>
              <a:rPr lang="en-US" sz="2400" dirty="0"/>
              <a:t>Supports variable creation and deletion at runtime</a:t>
            </a:r>
          </a:p>
          <a:p>
            <a:pPr>
              <a:spcAft>
                <a:spcPts val="1400"/>
              </a:spcAft>
            </a:pPr>
            <a:r>
              <a:rPr lang="en-US" sz="2400" dirty="0"/>
              <a:t>Internally, variables are stored in vectors,  one std::vector&lt;VARIABLE_FLAG&gt; for variable flags and one std::vector&lt;double&gt; vector for values. </a:t>
            </a:r>
          </a:p>
          <a:p>
            <a:pPr>
              <a:spcAft>
                <a:spcPts val="1400"/>
              </a:spcAft>
            </a:pPr>
            <a:r>
              <a:rPr lang="en-US" sz="2400" dirty="0"/>
              <a:t>Stores any of </a:t>
            </a:r>
            <a:r>
              <a:rPr lang="en-US" sz="2400" dirty="0" err="1"/>
              <a:t>OpenCSMP’s</a:t>
            </a:r>
            <a:r>
              <a:rPr lang="en-US" sz="2400" dirty="0"/>
              <a:t> variable types</a:t>
            </a:r>
          </a:p>
          <a:p>
            <a:pPr>
              <a:spcAft>
                <a:spcPts val="1400"/>
              </a:spcAft>
            </a:pPr>
            <a:r>
              <a:rPr lang="en-US" sz="2400" dirty="0"/>
              <a:t>Provides access via </a:t>
            </a:r>
            <a:r>
              <a:rPr lang="en-US" sz="2400" b="1" dirty="0"/>
              <a:t>Read</a:t>
            </a:r>
            <a:r>
              <a:rPr lang="en-US" sz="2400" dirty="0"/>
              <a:t>(Index), </a:t>
            </a:r>
            <a:r>
              <a:rPr lang="en-US" sz="2400" b="1" dirty="0"/>
              <a:t>Store</a:t>
            </a:r>
            <a:r>
              <a:rPr lang="en-US" sz="2400" dirty="0"/>
              <a:t>(Index), and </a:t>
            </a:r>
            <a:r>
              <a:rPr lang="en-US" sz="2400" b="1" dirty="0"/>
              <a:t>Status</a:t>
            </a:r>
            <a:r>
              <a:rPr lang="en-US" sz="2400" dirty="0"/>
              <a:t>(Index) interfaces</a:t>
            </a:r>
          </a:p>
          <a:p>
            <a:pPr>
              <a:spcAft>
                <a:spcPts val="1400"/>
              </a:spcAft>
            </a:pPr>
            <a:r>
              <a:rPr lang="en-US" sz="2400" dirty="0"/>
              <a:t>Read( Index, </a:t>
            </a:r>
            <a:r>
              <a:rPr lang="en-US" sz="2400" b="1" i="1" dirty="0" err="1"/>
              <a:t>i</a:t>
            </a:r>
            <a:r>
              <a:rPr lang="en-US" sz="2400" i="1" dirty="0"/>
              <a:t> </a:t>
            </a:r>
            <a:r>
              <a:rPr lang="en-US" sz="2400" dirty="0"/>
              <a:t>(0..ip-1)) if variable is placed on integration points </a:t>
            </a:r>
          </a:p>
        </p:txBody>
      </p:sp>
      <p:sp>
        <p:nvSpPr>
          <p:cNvPr id="10" name="Slide Number Placeholder 4"/>
          <p:cNvSpPr>
            <a:spLocks noGrp="1"/>
          </p:cNvSpPr>
          <p:nvPr>
            <p:ph type="sldNum" sz="quarter" idx="12"/>
          </p:nvPr>
        </p:nvSpPr>
        <p:spPr>
          <a:xfrm>
            <a:off x="6974904" y="6492875"/>
            <a:ext cx="2133600" cy="365125"/>
          </a:xfrm>
          <a:noFill/>
        </p:spPr>
        <p:txBody>
          <a:bodyPr/>
          <a:lstStyle/>
          <a:p>
            <a:fld id="{2C44404F-1A23-5744-A5E8-8D02DE880158}" type="slidenum">
              <a:rPr lang="en-US" smtClean="0"/>
              <a:pPr/>
              <a:t>22</a:t>
            </a:fld>
            <a:endParaRPr lang="en-US" dirty="0"/>
          </a:p>
        </p:txBody>
      </p:sp>
      <p:sp>
        <p:nvSpPr>
          <p:cNvPr id="11" name="Date Placeholder 4"/>
          <p:cNvSpPr>
            <a:spLocks noGrp="1"/>
          </p:cNvSpPr>
          <p:nvPr>
            <p:ph type="dt" sz="half" idx="10"/>
          </p:nvPr>
        </p:nvSpPr>
        <p:spPr>
          <a:xfrm>
            <a:off x="35496" y="6492875"/>
            <a:ext cx="2133600" cy="365125"/>
          </a:xfrm>
        </p:spPr>
        <p:txBody>
          <a:bodyPr/>
          <a:lstStyle/>
          <a:p>
            <a:fld id="{5A924D08-1259-B34A-8611-C6E2C0D282ED}" type="datetime1">
              <a:rPr lang="en-US" smtClean="0"/>
              <a:pPr/>
              <a:t>5/2/24</a:t>
            </a:fld>
            <a:endParaRPr lang="en-US"/>
          </a:p>
        </p:txBody>
      </p:sp>
      <p:sp>
        <p:nvSpPr>
          <p:cNvPr id="7" name="Footer Placeholder 5"/>
          <p:cNvSpPr>
            <a:spLocks noGrp="1"/>
          </p:cNvSpPr>
          <p:nvPr>
            <p:ph type="ftr" sz="quarter" idx="11"/>
          </p:nvPr>
        </p:nvSpPr>
        <p:spPr>
          <a:xfrm>
            <a:off x="3124200" y="6492875"/>
            <a:ext cx="2895600" cy="365125"/>
          </a:xfrm>
        </p:spPr>
        <p:txBody>
          <a:bodyPr/>
          <a:lstStyle/>
          <a:p>
            <a:endParaRPr lang="en-US" dirty="0"/>
          </a:p>
          <a:p>
            <a:r>
              <a:rPr lang="en-US" dirty="0"/>
              <a:t>Distributed Variables</a:t>
            </a:r>
          </a:p>
          <a:p>
            <a:endParaRPr lang="en-US" dirty="0"/>
          </a:p>
        </p:txBody>
      </p:sp>
    </p:spTree>
    <p:extLst>
      <p:ext uri="{BB962C8B-B14F-4D97-AF65-F5344CB8AC3E}">
        <p14:creationId xmlns:p14="http://schemas.microsoft.com/office/powerpoint/2010/main" val="3332806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Code examples</a:t>
            </a:r>
          </a:p>
        </p:txBody>
      </p:sp>
      <p:sp>
        <p:nvSpPr>
          <p:cNvPr id="3" name="Content Placeholder 2"/>
          <p:cNvSpPr>
            <a:spLocks noGrp="1"/>
          </p:cNvSpPr>
          <p:nvPr>
            <p:ph idx="1"/>
          </p:nvPr>
        </p:nvSpPr>
        <p:spPr>
          <a:xfrm>
            <a:off x="457200" y="764704"/>
            <a:ext cx="8229600" cy="5211763"/>
          </a:xfrm>
        </p:spPr>
        <p:txBody>
          <a:bodyPr/>
          <a:lstStyle/>
          <a:p>
            <a:pPr marL="0" indent="0">
              <a:buNone/>
            </a:pPr>
            <a:r>
              <a:rPr lang="en-GB" dirty="0"/>
              <a:t>Reading / writing a variable: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sz="900" dirty="0"/>
          </a:p>
          <a:p>
            <a:pPr marL="0" indent="0">
              <a:buNone/>
            </a:pPr>
            <a:r>
              <a:rPr lang="en-GB" dirty="0"/>
              <a:t>Range check of a variable:</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23</a:t>
            </a:fld>
            <a:endParaRPr lang="en-US"/>
          </a:p>
        </p:txBody>
      </p:sp>
      <p:sp>
        <p:nvSpPr>
          <p:cNvPr id="7" name="TextBox 6"/>
          <p:cNvSpPr txBox="1"/>
          <p:nvPr/>
        </p:nvSpPr>
        <p:spPr>
          <a:xfrm>
            <a:off x="457200" y="1124744"/>
            <a:ext cx="8003232" cy="2862322"/>
          </a:xfrm>
          <a:prstGeom prst="rect">
            <a:avLst/>
          </a:prstGeom>
          <a:noFill/>
        </p:spPr>
        <p:txBody>
          <a:bodyPr wrap="square" rtlCol="0">
            <a:spAutoFit/>
          </a:bodyPr>
          <a:lstStyle/>
          <a:p>
            <a:r>
              <a:rPr lang="en-GB" sz="1200" b="1" dirty="0" err="1">
                <a:latin typeface="Courier-Bold"/>
              </a:rPr>
              <a:t>const</a:t>
            </a:r>
            <a:r>
              <a:rPr lang="en-GB" sz="1200" b="1" dirty="0">
                <a:latin typeface="Courier-Bold"/>
              </a:rPr>
              <a:t> uint32_t dim{2U}; </a:t>
            </a:r>
            <a:r>
              <a:rPr lang="en-GB" sz="1200" b="1" dirty="0">
                <a:solidFill>
                  <a:srgbClr val="FF0000"/>
                </a:solidFill>
                <a:latin typeface="Courier-Bold"/>
              </a:rPr>
              <a:t>// spatial dimension of model</a:t>
            </a:r>
          </a:p>
          <a:p>
            <a:r>
              <a:rPr lang="en-GB" sz="1200" b="1" dirty="0">
                <a:solidFill>
                  <a:srgbClr val="FF0000"/>
                </a:solidFill>
                <a:latin typeface="Courier-Bold"/>
              </a:rPr>
              <a:t>// getting a key to an existing variable from the </a:t>
            </a:r>
            <a:r>
              <a:rPr lang="en-GB" sz="1200" b="1" dirty="0" err="1">
                <a:solidFill>
                  <a:srgbClr val="FF0000"/>
                </a:solidFill>
                <a:latin typeface="Courier-Bold"/>
              </a:rPr>
              <a:t>PropertyDatabase</a:t>
            </a:r>
            <a:endParaRPr lang="en-GB" sz="1200" b="1" dirty="0">
              <a:solidFill>
                <a:srgbClr val="FF0000"/>
              </a:solidFill>
              <a:latin typeface="Courier-Bold"/>
            </a:endParaRPr>
          </a:p>
          <a:p>
            <a:r>
              <a:rPr lang="en-GB" sz="1200" b="1" dirty="0" err="1">
                <a:solidFill>
                  <a:srgbClr val="000000"/>
                </a:solidFill>
                <a:latin typeface="Courier-Bold"/>
              </a:rPr>
              <a:t>csmp</a:t>
            </a:r>
            <a:r>
              <a:rPr lang="en-GB" sz="1200" b="1" dirty="0">
                <a:solidFill>
                  <a:srgbClr val="000000"/>
                </a:solidFill>
                <a:latin typeface="Courier-Bold"/>
              </a:rPr>
              <a:t>::Index </a:t>
            </a:r>
            <a:r>
              <a:rPr lang="en-GB" sz="1200" b="1" dirty="0" err="1">
                <a:solidFill>
                  <a:srgbClr val="000000"/>
                </a:solidFill>
                <a:latin typeface="Courier-Bold"/>
              </a:rPr>
              <a:t>pb_key</a:t>
            </a:r>
            <a:r>
              <a:rPr lang="en-GB" sz="1200" b="1" dirty="0">
                <a:solidFill>
                  <a:srgbClr val="000000"/>
                </a:solidFill>
                <a:latin typeface="Courier-Bold"/>
              </a:rPr>
              <a:t>(</a:t>
            </a:r>
            <a:r>
              <a:rPr lang="en-GB" sz="1200" b="1" dirty="0" err="1">
                <a:solidFill>
                  <a:srgbClr val="000000"/>
                </a:solidFill>
                <a:latin typeface="Courier-Bold"/>
              </a:rPr>
              <a:t>model.Database</a:t>
            </a:r>
            <a:r>
              <a:rPr lang="en-GB" sz="1200" b="1" dirty="0">
                <a:solidFill>
                  <a:srgbClr val="000000"/>
                </a:solidFill>
                <a:latin typeface="Courier-Bold"/>
              </a:rPr>
              <a:t>().</a:t>
            </a:r>
            <a:r>
              <a:rPr lang="en-GB" sz="1200" b="1" dirty="0" err="1">
                <a:solidFill>
                  <a:srgbClr val="000000"/>
                </a:solidFill>
                <a:latin typeface="Courier-Bold"/>
              </a:rPr>
              <a:t>StorageKey</a:t>
            </a:r>
            <a:r>
              <a:rPr lang="en-GB" sz="1200" b="1" dirty="0">
                <a:solidFill>
                  <a:srgbClr val="000000"/>
                </a:solidFill>
                <a:latin typeface="Courier-Bold"/>
              </a:rPr>
              <a:t>(“pressure”)); </a:t>
            </a:r>
          </a:p>
          <a:p>
            <a:r>
              <a:rPr lang="en-GB" sz="1200" b="1" dirty="0">
                <a:solidFill>
                  <a:srgbClr val="FF0000"/>
                </a:solidFill>
                <a:latin typeface="Courier-Bold"/>
              </a:rPr>
              <a:t>// creating a new scalar variable placed on the element integration point     </a:t>
            </a:r>
          </a:p>
          <a:p>
            <a:r>
              <a:rPr lang="en-GB" sz="1200" b="1" dirty="0" err="1">
                <a:solidFill>
                  <a:srgbClr val="14284C"/>
                </a:solidFill>
                <a:latin typeface="Courier-Bold"/>
              </a:rPr>
              <a:t>PropertyHandle</a:t>
            </a:r>
            <a:r>
              <a:rPr lang="en-GB" sz="1200" b="1" dirty="0">
                <a:solidFill>
                  <a:srgbClr val="000000"/>
                </a:solidFill>
                <a:latin typeface="Courier-Bold"/>
              </a:rPr>
              <a:t>&lt;dim&gt;  </a:t>
            </a:r>
            <a:r>
              <a:rPr lang="en-GB" sz="1200" b="1" dirty="0" err="1">
                <a:solidFill>
                  <a:srgbClr val="000000"/>
                </a:solidFill>
                <a:latin typeface="Courier-Bold"/>
              </a:rPr>
              <a:t>lapbc</a:t>
            </a:r>
            <a:r>
              <a:rPr lang="en-GB" sz="1200" b="1" dirty="0">
                <a:solidFill>
                  <a:srgbClr val="000000"/>
                </a:solidFill>
                <a:latin typeface="Courier-Bold"/>
              </a:rPr>
              <a:t>( model, </a:t>
            </a:r>
            <a:r>
              <a:rPr lang="en-GB" sz="1200" b="1" dirty="0">
                <a:solidFill>
                  <a:srgbClr val="717374"/>
                </a:solidFill>
                <a:latin typeface="Courier-Bold"/>
              </a:rPr>
              <a:t>”parabolic function"</a:t>
            </a:r>
            <a:r>
              <a:rPr lang="en-GB" sz="1200" b="1" dirty="0">
                <a:solidFill>
                  <a:srgbClr val="000000"/>
                </a:solidFill>
                <a:latin typeface="Courier-Bold"/>
              </a:rPr>
              <a:t>, </a:t>
            </a:r>
          </a:p>
          <a:p>
            <a:r>
              <a:rPr lang="en-GB" sz="1200" b="1" dirty="0">
                <a:solidFill>
                  <a:srgbClr val="000000"/>
                </a:solidFill>
                <a:latin typeface="Courier-Bold"/>
              </a:rPr>
              <a:t>                            </a:t>
            </a:r>
            <a:r>
              <a:rPr lang="en-GB" sz="1200" b="1" dirty="0">
                <a:solidFill>
                  <a:srgbClr val="FF521B"/>
                </a:solidFill>
                <a:latin typeface="Courier-Bold"/>
              </a:rPr>
              <a:t>SCALAR</a:t>
            </a:r>
            <a:r>
              <a:rPr lang="en-GB" sz="1200" b="1" dirty="0">
                <a:solidFill>
                  <a:srgbClr val="000000"/>
                </a:solidFill>
                <a:latin typeface="Courier-Bold"/>
              </a:rPr>
              <a:t>, </a:t>
            </a:r>
            <a:r>
              <a:rPr lang="en-GB" sz="1200" b="1" dirty="0">
                <a:solidFill>
                  <a:srgbClr val="FF521B"/>
                </a:solidFill>
                <a:latin typeface="Courier-Bold"/>
              </a:rPr>
              <a:t>ELEMENT_INTEGRATION_POINT</a:t>
            </a:r>
            <a:r>
              <a:rPr lang="en-GB" sz="1200" b="1" dirty="0">
                <a:solidFill>
                  <a:srgbClr val="000000"/>
                </a:solidFill>
                <a:latin typeface="Courier-Bold"/>
              </a:rPr>
              <a:t> );</a:t>
            </a:r>
          </a:p>
          <a:p>
            <a:r>
              <a:rPr lang="en-GB" sz="1200" b="1" dirty="0">
                <a:solidFill>
                  <a:srgbClr val="000000"/>
                </a:solidFill>
                <a:latin typeface="Courier-Bold"/>
              </a:rPr>
              <a:t>Region&lt;dim&gt;&amp;.   </a:t>
            </a:r>
            <a:r>
              <a:rPr lang="en-GB" sz="1200" b="1" dirty="0" err="1">
                <a:solidFill>
                  <a:srgbClr val="000000"/>
                </a:solidFill>
                <a:latin typeface="Courier-Bold"/>
              </a:rPr>
              <a:t>gref</a:t>
            </a:r>
            <a:r>
              <a:rPr lang="en-GB" sz="1200" b="1" dirty="0">
                <a:solidFill>
                  <a:srgbClr val="000000"/>
                </a:solidFill>
                <a:latin typeface="Courier-Bold"/>
              </a:rPr>
              <a:t> = </a:t>
            </a:r>
            <a:r>
              <a:rPr lang="en-GB" sz="1200" b="1" dirty="0" err="1">
                <a:solidFill>
                  <a:srgbClr val="000000"/>
                </a:solidFill>
                <a:latin typeface="Courier-Bold"/>
              </a:rPr>
              <a:t>model.Region</a:t>
            </a:r>
            <a:r>
              <a:rPr lang="en-GB" sz="1200" b="1" dirty="0">
                <a:solidFill>
                  <a:srgbClr val="000000"/>
                </a:solidFill>
                <a:latin typeface="Courier-Bold"/>
              </a:rPr>
              <a:t>(“sandstone”);</a:t>
            </a:r>
          </a:p>
          <a:p>
            <a:r>
              <a:rPr lang="en-GB" sz="1200" b="1" dirty="0" err="1">
                <a:solidFill>
                  <a:srgbClr val="000000"/>
                </a:solidFill>
                <a:latin typeface="Courier-Bold"/>
              </a:rPr>
              <a:t>ScalarVariable</a:t>
            </a:r>
            <a:r>
              <a:rPr lang="en-GB" sz="1200" b="1" dirty="0">
                <a:solidFill>
                  <a:srgbClr val="000000"/>
                </a:solidFill>
                <a:latin typeface="Courier-Bold"/>
              </a:rPr>
              <a:t>  </a:t>
            </a:r>
            <a:r>
              <a:rPr lang="en-GB" sz="1200" b="1" dirty="0" err="1">
                <a:solidFill>
                  <a:srgbClr val="000000"/>
                </a:solidFill>
                <a:latin typeface="Courier-Bold"/>
              </a:rPr>
              <a:t>sc</a:t>
            </a:r>
            <a:r>
              <a:rPr lang="en-GB" sz="1200" b="1" dirty="0">
                <a:solidFill>
                  <a:srgbClr val="000000"/>
                </a:solidFill>
                <a:latin typeface="Courier-Bold"/>
              </a:rPr>
              <a:t>;</a:t>
            </a:r>
          </a:p>
          <a:p>
            <a:r>
              <a:rPr lang="en-GB" sz="1200" b="1" dirty="0">
                <a:solidFill>
                  <a:srgbClr val="0F00AA"/>
                </a:solidFill>
                <a:latin typeface="Courier-Bold"/>
              </a:rPr>
              <a:t>for</a:t>
            </a:r>
            <a:r>
              <a:rPr lang="en-GB" sz="1200" b="1" dirty="0">
                <a:solidFill>
                  <a:srgbClr val="000000"/>
                </a:solidFill>
                <a:latin typeface="Courier-Bold"/>
              </a:rPr>
              <a:t> ( vector&lt;</a:t>
            </a:r>
            <a:r>
              <a:rPr lang="en-GB" sz="1200" b="1" dirty="0">
                <a:solidFill>
                  <a:srgbClr val="14284C"/>
                </a:solidFill>
                <a:latin typeface="Courier-Bold"/>
              </a:rPr>
              <a:t>Element</a:t>
            </a:r>
            <a:r>
              <a:rPr lang="en-GB" sz="1200" b="1" dirty="0">
                <a:solidFill>
                  <a:srgbClr val="000000"/>
                </a:solidFill>
                <a:latin typeface="Courier-Bold"/>
              </a:rPr>
              <a:t>&lt;dim&gt;*&gt;::iterator</a:t>
            </a:r>
          </a:p>
          <a:p>
            <a:r>
              <a:rPr lang="en-GB" sz="1200" b="1" dirty="0">
                <a:solidFill>
                  <a:srgbClr val="000000"/>
                </a:solidFill>
                <a:latin typeface="Courier-Bold"/>
              </a:rPr>
              <a:t>      </a:t>
            </a:r>
            <a:r>
              <a:rPr lang="en-GB" sz="1200" b="1" dirty="0" err="1">
                <a:solidFill>
                  <a:srgbClr val="000000"/>
                </a:solidFill>
                <a:latin typeface="Courier-Bold"/>
              </a:rPr>
              <a:t>eit</a:t>
            </a:r>
            <a:r>
              <a:rPr lang="en-GB" sz="1200" b="1" dirty="0">
                <a:solidFill>
                  <a:srgbClr val="000000"/>
                </a:solidFill>
                <a:latin typeface="Courier-Bold"/>
              </a:rPr>
              <a:t>=</a:t>
            </a:r>
            <a:r>
              <a:rPr lang="en-GB" sz="1200" b="1" dirty="0" err="1">
                <a:solidFill>
                  <a:srgbClr val="000000"/>
                </a:solidFill>
                <a:latin typeface="Courier-Bold"/>
              </a:rPr>
              <a:t>gref.</a:t>
            </a:r>
            <a:r>
              <a:rPr lang="en-GB" sz="1200" b="1" dirty="0" err="1">
                <a:solidFill>
                  <a:srgbClr val="26474B"/>
                </a:solidFill>
                <a:latin typeface="Courier-Bold"/>
              </a:rPr>
              <a:t>CellsBegin</a:t>
            </a:r>
            <a:r>
              <a:rPr lang="en-GB" sz="1200" b="1" dirty="0">
                <a:solidFill>
                  <a:srgbClr val="000000"/>
                </a:solidFill>
                <a:latin typeface="Courier-Bold"/>
              </a:rPr>
              <a:t>(); </a:t>
            </a:r>
            <a:r>
              <a:rPr lang="en-GB" sz="1200" b="1" dirty="0" err="1">
                <a:solidFill>
                  <a:srgbClr val="000000"/>
                </a:solidFill>
                <a:latin typeface="Courier-Bold"/>
              </a:rPr>
              <a:t>eit</a:t>
            </a:r>
            <a:r>
              <a:rPr lang="en-GB" sz="1200" b="1" dirty="0">
                <a:solidFill>
                  <a:srgbClr val="000000"/>
                </a:solidFill>
                <a:latin typeface="Courier-Bold"/>
              </a:rPr>
              <a:t>!=</a:t>
            </a:r>
            <a:r>
              <a:rPr lang="en-GB" sz="1200" b="1" dirty="0" err="1">
                <a:solidFill>
                  <a:srgbClr val="000000"/>
                </a:solidFill>
                <a:latin typeface="Courier-Bold"/>
              </a:rPr>
              <a:t>gref.</a:t>
            </a:r>
            <a:r>
              <a:rPr lang="en-GB" sz="1200" b="1" dirty="0" err="1">
                <a:solidFill>
                  <a:srgbClr val="26474B"/>
                </a:solidFill>
                <a:latin typeface="Courier-Bold"/>
              </a:rPr>
              <a:t>CellsEnd</a:t>
            </a:r>
            <a:r>
              <a:rPr lang="en-GB" sz="1200" b="1" dirty="0">
                <a:solidFill>
                  <a:srgbClr val="000000"/>
                </a:solidFill>
                <a:latin typeface="Courier-Bold"/>
              </a:rPr>
              <a:t>(); </a:t>
            </a:r>
            <a:r>
              <a:rPr lang="en-GB" sz="1200" b="1" dirty="0" err="1">
                <a:solidFill>
                  <a:srgbClr val="000000"/>
                </a:solidFill>
                <a:latin typeface="Courier-Bold"/>
              </a:rPr>
              <a:t>eit</a:t>
            </a:r>
            <a:r>
              <a:rPr lang="en-GB" sz="1200" b="1" dirty="0">
                <a:solidFill>
                  <a:srgbClr val="000000"/>
                </a:solidFill>
                <a:latin typeface="Courier-Bold"/>
              </a:rPr>
              <a:t>++ ) {</a:t>
            </a:r>
          </a:p>
          <a:p>
            <a:r>
              <a:rPr lang="en-GB" sz="1200" b="1" dirty="0">
                <a:solidFill>
                  <a:srgbClr val="000000"/>
                </a:solidFill>
                <a:latin typeface="Courier-Bold"/>
              </a:rPr>
              <a:t>     </a:t>
            </a:r>
            <a:r>
              <a:rPr lang="en-GB" sz="1200" b="1" dirty="0">
                <a:solidFill>
                  <a:srgbClr val="FF0000"/>
                </a:solidFill>
                <a:latin typeface="Courier-Bold"/>
              </a:rPr>
              <a:t>// interpolate and recover variable value and flag value at element </a:t>
            </a:r>
            <a:r>
              <a:rPr lang="en-GB" sz="1200" b="1" dirty="0" err="1">
                <a:solidFill>
                  <a:srgbClr val="FF0000"/>
                </a:solidFill>
                <a:latin typeface="Courier-Bold"/>
              </a:rPr>
              <a:t>barycenter</a:t>
            </a:r>
            <a:endParaRPr lang="en-GB" sz="1200" b="1" dirty="0">
              <a:solidFill>
                <a:srgbClr val="FF0000"/>
              </a:solidFill>
              <a:latin typeface="Courier-Bold"/>
            </a:endParaRPr>
          </a:p>
          <a:p>
            <a:r>
              <a:rPr lang="en-GB" sz="1200" b="1" dirty="0">
                <a:solidFill>
                  <a:srgbClr val="000000"/>
                </a:solidFill>
                <a:latin typeface="Courier-Bold"/>
              </a:rPr>
              <a:t>     (*</a:t>
            </a:r>
            <a:r>
              <a:rPr lang="en-GB" sz="1200" b="1" dirty="0" err="1">
                <a:solidFill>
                  <a:srgbClr val="000000"/>
                </a:solidFill>
                <a:latin typeface="Courier-Bold"/>
              </a:rPr>
              <a:t>eit</a:t>
            </a:r>
            <a:r>
              <a:rPr lang="en-GB" sz="1200" b="1" dirty="0">
                <a:solidFill>
                  <a:srgbClr val="000000"/>
                </a:solidFill>
                <a:latin typeface="Courier-Bold"/>
              </a:rPr>
              <a:t>)-&gt;</a:t>
            </a:r>
            <a:r>
              <a:rPr lang="en-GB" sz="1200" b="1" dirty="0" err="1">
                <a:solidFill>
                  <a:srgbClr val="26474B"/>
                </a:solidFill>
                <a:latin typeface="Courier-Bold"/>
              </a:rPr>
              <a:t>PropertyValueAtBaryCenter</a:t>
            </a:r>
            <a:r>
              <a:rPr lang="en-GB" sz="1200" b="1" dirty="0">
                <a:solidFill>
                  <a:srgbClr val="000000"/>
                </a:solidFill>
                <a:latin typeface="Courier-Bold"/>
              </a:rPr>
              <a:t>( </a:t>
            </a:r>
            <a:r>
              <a:rPr lang="en-GB" sz="1200" b="1" dirty="0" err="1">
                <a:solidFill>
                  <a:srgbClr val="000000"/>
                </a:solidFill>
                <a:latin typeface="Courier-Bold"/>
              </a:rPr>
              <a:t>pb_key</a:t>
            </a:r>
            <a:r>
              <a:rPr lang="en-GB" sz="1200" b="1" dirty="0">
                <a:solidFill>
                  <a:srgbClr val="000000"/>
                </a:solidFill>
                <a:latin typeface="Courier-Bold"/>
              </a:rPr>
              <a:t>, </a:t>
            </a:r>
            <a:r>
              <a:rPr lang="en-GB" sz="1200" b="1" dirty="0" err="1">
                <a:solidFill>
                  <a:srgbClr val="000000"/>
                </a:solidFill>
                <a:latin typeface="Courier-Bold"/>
              </a:rPr>
              <a:t>sc</a:t>
            </a:r>
            <a:r>
              <a:rPr lang="en-GB" sz="1200" b="1" dirty="0">
                <a:solidFill>
                  <a:srgbClr val="000000"/>
                </a:solidFill>
                <a:latin typeface="Courier-Bold"/>
              </a:rPr>
              <a:t> );</a:t>
            </a:r>
          </a:p>
          <a:p>
            <a:r>
              <a:rPr lang="en-GB" sz="1200" b="1" dirty="0">
                <a:solidFill>
                  <a:srgbClr val="000000"/>
                </a:solidFill>
                <a:latin typeface="Courier-Bold"/>
              </a:rPr>
              <a:t>     for ( uint32_t </a:t>
            </a:r>
            <a:r>
              <a:rPr lang="en-GB" sz="1200" b="1" dirty="0" err="1">
                <a:solidFill>
                  <a:srgbClr val="000000"/>
                </a:solidFill>
                <a:latin typeface="Courier-Bold"/>
              </a:rPr>
              <a:t>i</a:t>
            </a:r>
            <a:r>
              <a:rPr lang="en-GB" sz="1200" b="1" dirty="0">
                <a:solidFill>
                  <a:srgbClr val="000000"/>
                </a:solidFill>
                <a:latin typeface="Courier-Bold"/>
              </a:rPr>
              <a:t>=0U; </a:t>
            </a:r>
            <a:r>
              <a:rPr lang="en-GB" sz="1200" b="1" dirty="0" err="1">
                <a:solidFill>
                  <a:srgbClr val="000000"/>
                </a:solidFill>
                <a:latin typeface="Courier-Bold"/>
              </a:rPr>
              <a:t>i</a:t>
            </a:r>
            <a:r>
              <a:rPr lang="en-GB" sz="1200" b="1" dirty="0">
                <a:solidFill>
                  <a:srgbClr val="000000"/>
                </a:solidFill>
                <a:latin typeface="Courier-Bold"/>
              </a:rPr>
              <a:t>&lt;(*</a:t>
            </a:r>
            <a:r>
              <a:rPr lang="en-GB" sz="1200" b="1" dirty="0" err="1">
                <a:solidFill>
                  <a:srgbClr val="000000"/>
                </a:solidFill>
                <a:latin typeface="Courier-Bold"/>
              </a:rPr>
              <a:t>eit</a:t>
            </a:r>
            <a:r>
              <a:rPr lang="en-GB" sz="1200" b="1" dirty="0">
                <a:solidFill>
                  <a:srgbClr val="000000"/>
                </a:solidFill>
                <a:latin typeface="Courier-Bold"/>
              </a:rPr>
              <a:t>).</a:t>
            </a:r>
            <a:r>
              <a:rPr lang="en-GB" sz="1200" b="1" dirty="0" err="1">
                <a:solidFill>
                  <a:srgbClr val="000000"/>
                </a:solidFill>
                <a:latin typeface="Courier-Bold"/>
              </a:rPr>
              <a:t>IntegrationPoints</a:t>
            </a:r>
            <a:r>
              <a:rPr lang="en-GB" sz="1200" b="1" dirty="0">
                <a:solidFill>
                  <a:srgbClr val="000000"/>
                </a:solidFill>
                <a:latin typeface="Courier-Bold"/>
              </a:rPr>
              <a:t>(); </a:t>
            </a:r>
            <a:r>
              <a:rPr lang="en-GB" sz="1200" b="1" dirty="0" err="1">
                <a:solidFill>
                  <a:srgbClr val="000000"/>
                </a:solidFill>
                <a:latin typeface="Courier-Bold"/>
              </a:rPr>
              <a:t>i</a:t>
            </a:r>
            <a:r>
              <a:rPr lang="en-GB" sz="1200" b="1" dirty="0">
                <a:solidFill>
                  <a:srgbClr val="000000"/>
                </a:solidFill>
                <a:latin typeface="Courier-Bold"/>
              </a:rPr>
              <a:t>++ )</a:t>
            </a:r>
          </a:p>
          <a:p>
            <a:r>
              <a:rPr lang="ro-RO" sz="1200" b="1" dirty="0">
                <a:solidFill>
                  <a:srgbClr val="000000"/>
                </a:solidFill>
                <a:latin typeface="Courier-Bold"/>
              </a:rPr>
              <a:t>       (*eit)-&gt;</a:t>
            </a:r>
            <a:r>
              <a:rPr lang="ro-RO" sz="1200" b="1" dirty="0">
                <a:solidFill>
                  <a:srgbClr val="26474B"/>
                </a:solidFill>
                <a:latin typeface="Courier-Bold"/>
              </a:rPr>
              <a:t>Store</a:t>
            </a:r>
            <a:r>
              <a:rPr lang="ro-RO" sz="1200" b="1" dirty="0">
                <a:solidFill>
                  <a:srgbClr val="000000"/>
                </a:solidFill>
                <a:latin typeface="Courier-Bold"/>
              </a:rPr>
              <a:t>( i, lapbc.</a:t>
            </a:r>
            <a:r>
              <a:rPr lang="ro-RO" sz="1200" b="1" dirty="0">
                <a:solidFill>
                  <a:srgbClr val="26474B"/>
                </a:solidFill>
                <a:latin typeface="Courier-Bold"/>
              </a:rPr>
              <a:t>Key</a:t>
            </a:r>
            <a:r>
              <a:rPr lang="ro-RO" sz="1200" b="1" dirty="0">
                <a:solidFill>
                  <a:srgbClr val="000000"/>
                </a:solidFill>
                <a:latin typeface="Courier-Bold"/>
              </a:rPr>
              <a:t>(), (sc /= </a:t>
            </a:r>
            <a:r>
              <a:rPr lang="ro-RO" sz="1200" b="1" dirty="0">
                <a:solidFill>
                  <a:srgbClr val="1C00CF"/>
                </a:solidFill>
                <a:latin typeface="Courier-Bold"/>
              </a:rPr>
              <a:t>1.5</a:t>
            </a:r>
            <a:r>
              <a:rPr lang="ro-RO" sz="1200" b="1" dirty="0">
                <a:solidFill>
                  <a:srgbClr val="000000"/>
                </a:solidFill>
                <a:latin typeface="Courier-Bold"/>
              </a:rPr>
              <a:t>) );</a:t>
            </a:r>
          </a:p>
          <a:p>
            <a:r>
              <a:rPr lang="ro-RO" sz="1200" b="1" dirty="0">
                <a:solidFill>
                  <a:srgbClr val="000000"/>
                </a:solidFill>
                <a:latin typeface="Courier-Bold"/>
              </a:rPr>
              <a:t>  }</a:t>
            </a:r>
          </a:p>
        </p:txBody>
      </p:sp>
      <p:sp>
        <p:nvSpPr>
          <p:cNvPr id="8" name="TextBox 7"/>
          <p:cNvSpPr txBox="1"/>
          <p:nvPr/>
        </p:nvSpPr>
        <p:spPr>
          <a:xfrm>
            <a:off x="457200" y="4553883"/>
            <a:ext cx="8003232" cy="1938992"/>
          </a:xfrm>
          <a:prstGeom prst="rect">
            <a:avLst/>
          </a:prstGeom>
          <a:noFill/>
        </p:spPr>
        <p:txBody>
          <a:bodyPr wrap="square" rtlCol="0">
            <a:spAutoFit/>
          </a:bodyPr>
          <a:lstStyle/>
          <a:p>
            <a:r>
              <a:rPr lang="en-GB" sz="1200" b="1" dirty="0">
                <a:solidFill>
                  <a:srgbClr val="0432FF"/>
                </a:solidFill>
                <a:latin typeface="Courier-Bold"/>
              </a:rPr>
              <a:t>double</a:t>
            </a:r>
            <a:r>
              <a:rPr lang="en-GB" sz="1200" b="1" dirty="0">
                <a:solidFill>
                  <a:srgbClr val="000000"/>
                </a:solidFill>
                <a:latin typeface="Courier-Bold"/>
              </a:rPr>
              <a:t> min, max;</a:t>
            </a:r>
          </a:p>
          <a:p>
            <a:r>
              <a:rPr lang="en-GB" sz="1200" b="1" dirty="0" err="1">
                <a:solidFill>
                  <a:srgbClr val="000000"/>
                </a:solidFill>
                <a:latin typeface="Courier-Bold"/>
              </a:rPr>
              <a:t>model.Database</a:t>
            </a:r>
            <a:r>
              <a:rPr lang="en-GB" sz="1200" b="1" dirty="0">
                <a:solidFill>
                  <a:srgbClr val="000000"/>
                </a:solidFill>
                <a:latin typeface="Courier-Bold"/>
              </a:rPr>
              <a:t>().</a:t>
            </a:r>
            <a:r>
              <a:rPr lang="en-GB" sz="1200" b="1" dirty="0" err="1">
                <a:solidFill>
                  <a:srgbClr val="000000"/>
                </a:solidFill>
                <a:latin typeface="Courier-Bold"/>
              </a:rPr>
              <a:t>RangeOf</a:t>
            </a:r>
            <a:r>
              <a:rPr lang="en-GB" sz="1200" b="1" dirty="0">
                <a:solidFill>
                  <a:srgbClr val="000000"/>
                </a:solidFill>
                <a:latin typeface="Courier-Bold"/>
              </a:rPr>
              <a:t>( </a:t>
            </a:r>
            <a:r>
              <a:rPr lang="en-GB" sz="1200" b="1" dirty="0">
                <a:solidFill>
                  <a:srgbClr val="0F00AA"/>
                </a:solidFill>
                <a:latin typeface="Courier-Bold"/>
              </a:rPr>
              <a:t>“pressure”</a:t>
            </a:r>
            <a:r>
              <a:rPr lang="en-GB" sz="1200" b="1" dirty="0">
                <a:solidFill>
                  <a:srgbClr val="000000"/>
                </a:solidFill>
                <a:latin typeface="Courier-Bold"/>
              </a:rPr>
              <a:t>, min, max );</a:t>
            </a:r>
          </a:p>
          <a:p>
            <a:r>
              <a:rPr lang="en-GB" sz="1200" b="1" dirty="0" err="1">
                <a:solidFill>
                  <a:srgbClr val="000000"/>
                </a:solidFill>
                <a:latin typeface="Courier-Bold"/>
              </a:rPr>
              <a:t>csmp</a:t>
            </a:r>
            <a:r>
              <a:rPr lang="en-GB" sz="1200" b="1" dirty="0">
                <a:solidFill>
                  <a:srgbClr val="000000"/>
                </a:solidFill>
                <a:latin typeface="Courier-Bold"/>
              </a:rPr>
              <a:t>::Index </a:t>
            </a:r>
            <a:r>
              <a:rPr lang="en-GB" sz="1200" b="1" dirty="0" err="1">
                <a:solidFill>
                  <a:srgbClr val="000000"/>
                </a:solidFill>
                <a:latin typeface="Courier-Bold"/>
              </a:rPr>
              <a:t>pb_key</a:t>
            </a:r>
            <a:r>
              <a:rPr lang="en-GB" sz="1200" b="1" dirty="0">
                <a:solidFill>
                  <a:srgbClr val="000000"/>
                </a:solidFill>
                <a:latin typeface="Courier-Bold"/>
              </a:rPr>
              <a:t>(</a:t>
            </a:r>
            <a:r>
              <a:rPr lang="en-GB" sz="1200" b="1" dirty="0" err="1">
                <a:solidFill>
                  <a:srgbClr val="000000"/>
                </a:solidFill>
                <a:latin typeface="Courier-Bold"/>
              </a:rPr>
              <a:t>model.Database</a:t>
            </a:r>
            <a:r>
              <a:rPr lang="en-GB" sz="1200" b="1" dirty="0">
                <a:solidFill>
                  <a:srgbClr val="000000"/>
                </a:solidFill>
                <a:latin typeface="Courier-Bold"/>
              </a:rPr>
              <a:t>().</a:t>
            </a:r>
            <a:r>
              <a:rPr lang="en-GB" sz="1200" b="1" dirty="0" err="1">
                <a:solidFill>
                  <a:srgbClr val="000000"/>
                </a:solidFill>
                <a:latin typeface="Courier-Bold"/>
              </a:rPr>
              <a:t>StorageKey</a:t>
            </a:r>
            <a:r>
              <a:rPr lang="en-GB" sz="1200" b="1" dirty="0">
                <a:solidFill>
                  <a:srgbClr val="000000"/>
                </a:solidFill>
                <a:latin typeface="Courier-Bold"/>
              </a:rPr>
              <a:t>(“pressure”)); </a:t>
            </a:r>
          </a:p>
          <a:p>
            <a:endParaRPr lang="en-GB" sz="1200" b="1" dirty="0">
              <a:solidFill>
                <a:srgbClr val="000000"/>
              </a:solidFill>
              <a:latin typeface="Courier-Bold"/>
            </a:endParaRPr>
          </a:p>
          <a:p>
            <a:r>
              <a:rPr lang="en-GB" sz="1200" b="1" dirty="0" err="1">
                <a:solidFill>
                  <a:srgbClr val="000000"/>
                </a:solidFill>
                <a:latin typeface="Courier-Bold"/>
              </a:rPr>
              <a:t>ScalarVariable</a:t>
            </a:r>
            <a:r>
              <a:rPr lang="en-GB" sz="1200" b="1" dirty="0">
                <a:solidFill>
                  <a:srgbClr val="000000"/>
                </a:solidFill>
                <a:latin typeface="Courier-Bold"/>
              </a:rPr>
              <a:t>  </a:t>
            </a:r>
            <a:r>
              <a:rPr lang="en-GB" sz="1200" b="1" dirty="0" err="1">
                <a:solidFill>
                  <a:srgbClr val="000000"/>
                </a:solidFill>
                <a:latin typeface="Courier-Bold"/>
              </a:rPr>
              <a:t>sc</a:t>
            </a:r>
            <a:r>
              <a:rPr lang="en-GB" sz="1200" b="1" dirty="0">
                <a:solidFill>
                  <a:srgbClr val="000000"/>
                </a:solidFill>
                <a:latin typeface="Courier-Bold"/>
              </a:rPr>
              <a:t>;</a:t>
            </a:r>
          </a:p>
          <a:p>
            <a:r>
              <a:rPr lang="en-GB" sz="1200" b="1" dirty="0">
                <a:solidFill>
                  <a:srgbClr val="0F00AA"/>
                </a:solidFill>
                <a:latin typeface="Courier-Bold"/>
              </a:rPr>
              <a:t>for</a:t>
            </a:r>
            <a:r>
              <a:rPr lang="en-GB" sz="1200" b="1" dirty="0">
                <a:solidFill>
                  <a:srgbClr val="000000"/>
                </a:solidFill>
                <a:latin typeface="Courier-Bold"/>
              </a:rPr>
              <a:t> ( auto </a:t>
            </a:r>
            <a:r>
              <a:rPr lang="en-GB" sz="1200" b="1" dirty="0" err="1">
                <a:solidFill>
                  <a:srgbClr val="000000"/>
                </a:solidFill>
                <a:latin typeface="Courier-Bold"/>
              </a:rPr>
              <a:t>eit</a:t>
            </a:r>
            <a:r>
              <a:rPr lang="en-GB" sz="1200" b="1" dirty="0">
                <a:solidFill>
                  <a:srgbClr val="000000"/>
                </a:solidFill>
                <a:latin typeface="Courier-Bold"/>
              </a:rPr>
              <a:t>=</a:t>
            </a:r>
            <a:r>
              <a:rPr lang="en-GB" sz="1200" b="1" dirty="0" err="1">
                <a:solidFill>
                  <a:srgbClr val="000000"/>
                </a:solidFill>
                <a:latin typeface="Courier-Bold"/>
              </a:rPr>
              <a:t>gref.</a:t>
            </a:r>
            <a:r>
              <a:rPr lang="en-GB" sz="1200" b="1" dirty="0" err="1">
                <a:solidFill>
                  <a:srgbClr val="26474B"/>
                </a:solidFill>
                <a:latin typeface="Courier-Bold"/>
              </a:rPr>
              <a:t>CellsBegin</a:t>
            </a:r>
            <a:r>
              <a:rPr lang="en-GB" sz="1200" b="1" dirty="0">
                <a:solidFill>
                  <a:srgbClr val="000000"/>
                </a:solidFill>
                <a:latin typeface="Courier-Bold"/>
              </a:rPr>
              <a:t>(); </a:t>
            </a:r>
            <a:r>
              <a:rPr lang="en-GB" sz="1200" b="1" dirty="0" err="1">
                <a:solidFill>
                  <a:srgbClr val="000000"/>
                </a:solidFill>
                <a:latin typeface="Courier-Bold"/>
              </a:rPr>
              <a:t>eit</a:t>
            </a:r>
            <a:r>
              <a:rPr lang="en-GB" sz="1200" b="1" dirty="0">
                <a:solidFill>
                  <a:srgbClr val="000000"/>
                </a:solidFill>
                <a:latin typeface="Courier-Bold"/>
              </a:rPr>
              <a:t>!=</a:t>
            </a:r>
            <a:r>
              <a:rPr lang="en-GB" sz="1200" b="1" dirty="0" err="1">
                <a:solidFill>
                  <a:srgbClr val="000000"/>
                </a:solidFill>
                <a:latin typeface="Courier-Bold"/>
              </a:rPr>
              <a:t>gref.</a:t>
            </a:r>
            <a:r>
              <a:rPr lang="en-GB" sz="1200" b="1" dirty="0" err="1">
                <a:solidFill>
                  <a:srgbClr val="26474B"/>
                </a:solidFill>
                <a:latin typeface="Courier-Bold"/>
              </a:rPr>
              <a:t>CellsEnd</a:t>
            </a:r>
            <a:r>
              <a:rPr lang="en-GB" sz="1200" b="1" dirty="0">
                <a:solidFill>
                  <a:srgbClr val="000000"/>
                </a:solidFill>
                <a:latin typeface="Courier-Bold"/>
              </a:rPr>
              <a:t>(); </a:t>
            </a:r>
            <a:r>
              <a:rPr lang="en-GB" sz="1200" b="1" dirty="0" err="1">
                <a:solidFill>
                  <a:srgbClr val="000000"/>
                </a:solidFill>
                <a:latin typeface="Courier-Bold"/>
              </a:rPr>
              <a:t>eit</a:t>
            </a:r>
            <a:r>
              <a:rPr lang="en-GB" sz="1200" b="1" dirty="0">
                <a:solidFill>
                  <a:srgbClr val="000000"/>
                </a:solidFill>
                <a:latin typeface="Courier-Bold"/>
              </a:rPr>
              <a:t>++ ) {</a:t>
            </a:r>
          </a:p>
          <a:p>
            <a:r>
              <a:rPr lang="en-GB" sz="1200" b="1" dirty="0">
                <a:solidFill>
                  <a:srgbClr val="000000"/>
                </a:solidFill>
                <a:latin typeface="Courier-Bold"/>
              </a:rPr>
              <a:t>     (*</a:t>
            </a:r>
            <a:r>
              <a:rPr lang="en-GB" sz="1200" b="1" dirty="0" err="1">
                <a:solidFill>
                  <a:srgbClr val="000000"/>
                </a:solidFill>
                <a:latin typeface="Courier-Bold"/>
              </a:rPr>
              <a:t>eit</a:t>
            </a:r>
            <a:r>
              <a:rPr lang="en-GB" sz="1200" b="1" dirty="0">
                <a:solidFill>
                  <a:srgbClr val="000000"/>
                </a:solidFill>
                <a:latin typeface="Courier-Bold"/>
              </a:rPr>
              <a:t>)-&gt;</a:t>
            </a:r>
            <a:r>
              <a:rPr lang="en-GB" sz="1200" b="1" dirty="0">
                <a:solidFill>
                  <a:srgbClr val="26474B"/>
                </a:solidFill>
                <a:latin typeface="Courier-Bold"/>
              </a:rPr>
              <a:t>Read</a:t>
            </a:r>
            <a:r>
              <a:rPr lang="en-GB" sz="1200" b="1" dirty="0">
                <a:solidFill>
                  <a:srgbClr val="000000"/>
                </a:solidFill>
                <a:latin typeface="Courier-Bold"/>
              </a:rPr>
              <a:t>( </a:t>
            </a:r>
            <a:r>
              <a:rPr lang="en-GB" sz="1200" b="1" dirty="0" err="1">
                <a:solidFill>
                  <a:srgbClr val="000000"/>
                </a:solidFill>
                <a:latin typeface="Courier-Bold"/>
              </a:rPr>
              <a:t>pb_key</a:t>
            </a:r>
            <a:r>
              <a:rPr lang="en-GB" sz="1200" b="1" dirty="0">
                <a:solidFill>
                  <a:srgbClr val="000000"/>
                </a:solidFill>
                <a:latin typeface="Courier-Bold"/>
              </a:rPr>
              <a:t>, </a:t>
            </a:r>
            <a:r>
              <a:rPr lang="en-GB" sz="1200" b="1" dirty="0" err="1">
                <a:solidFill>
                  <a:srgbClr val="000000"/>
                </a:solidFill>
                <a:latin typeface="Courier-Bold"/>
              </a:rPr>
              <a:t>sc</a:t>
            </a:r>
            <a:r>
              <a:rPr lang="en-GB" sz="1200" b="1" dirty="0">
                <a:solidFill>
                  <a:srgbClr val="000000"/>
                </a:solidFill>
                <a:latin typeface="Courier-Bold"/>
              </a:rPr>
              <a:t> );</a:t>
            </a:r>
          </a:p>
          <a:p>
            <a:r>
              <a:rPr lang="en-GB" sz="1200" b="1" dirty="0">
                <a:solidFill>
                  <a:srgbClr val="000000"/>
                </a:solidFill>
                <a:latin typeface="Courier-Bold"/>
              </a:rPr>
              <a:t>     if ( !</a:t>
            </a:r>
            <a:r>
              <a:rPr lang="en-GB" sz="1200" b="1" dirty="0" err="1">
                <a:solidFill>
                  <a:srgbClr val="000000"/>
                </a:solidFill>
                <a:latin typeface="Courier-Bold"/>
              </a:rPr>
              <a:t>sc.IsWithinRange</a:t>
            </a:r>
            <a:r>
              <a:rPr lang="en-GB" sz="1200" b="1" dirty="0">
                <a:solidFill>
                  <a:srgbClr val="000000"/>
                </a:solidFill>
                <a:latin typeface="Courier-Bold"/>
              </a:rPr>
              <a:t>( min, max ) )</a:t>
            </a:r>
          </a:p>
          <a:p>
            <a:r>
              <a:rPr lang="en-GB" sz="1200" b="1" dirty="0">
                <a:solidFill>
                  <a:srgbClr val="000000"/>
                </a:solidFill>
                <a:latin typeface="Courier-Bold"/>
              </a:rPr>
              <a:t>       throw </a:t>
            </a:r>
            <a:r>
              <a:rPr lang="en-GB" sz="1200" b="1" dirty="0" err="1">
                <a:solidFill>
                  <a:srgbClr val="000000"/>
                </a:solidFill>
                <a:latin typeface="Courier-Bold"/>
              </a:rPr>
              <a:t>csmp</a:t>
            </a:r>
            <a:r>
              <a:rPr lang="en-GB" sz="1200" b="1" dirty="0">
                <a:solidFill>
                  <a:srgbClr val="000000"/>
                </a:solidFill>
                <a:latin typeface="Courier-Bold"/>
              </a:rPr>
              <a:t>::Exception( WARNING, </a:t>
            </a:r>
            <a:r>
              <a:rPr lang="en-GB" sz="1200" b="1" dirty="0">
                <a:solidFill>
                  <a:schemeClr val="bg1">
                    <a:lumMod val="50000"/>
                  </a:schemeClr>
                </a:solidFill>
                <a:latin typeface="Courier-Bold"/>
              </a:rPr>
              <a:t>“main”, “pressure out of range”</a:t>
            </a:r>
            <a:r>
              <a:rPr lang="en-GB" sz="1200" b="1" dirty="0">
                <a:solidFill>
                  <a:srgbClr val="000000"/>
                </a:solidFill>
                <a:latin typeface="Courier-Bold"/>
              </a:rPr>
              <a:t>);</a:t>
            </a:r>
          </a:p>
          <a:p>
            <a:r>
              <a:rPr lang="ro-RO" sz="1200" b="1" dirty="0">
                <a:solidFill>
                  <a:srgbClr val="000000"/>
                </a:solidFill>
                <a:latin typeface="Courier-Bold"/>
              </a:rPr>
              <a:t>  } </a:t>
            </a:r>
            <a:endParaRPr lang="en-GB" sz="1200" dirty="0"/>
          </a:p>
        </p:txBody>
      </p:sp>
      <p:sp>
        <p:nvSpPr>
          <p:cNvPr id="10" name="Footer Placeholder 5"/>
          <p:cNvSpPr>
            <a:spLocks noGrp="1"/>
          </p:cNvSpPr>
          <p:nvPr>
            <p:ph type="ftr" sz="quarter" idx="11"/>
          </p:nvPr>
        </p:nvSpPr>
        <p:spPr>
          <a:xfrm>
            <a:off x="3124200" y="6492875"/>
            <a:ext cx="2895600" cy="365125"/>
          </a:xfrm>
        </p:spPr>
        <p:txBody>
          <a:bodyPr/>
          <a:lstStyle/>
          <a:p>
            <a:endParaRPr lang="en-US" dirty="0"/>
          </a:p>
          <a:p>
            <a:r>
              <a:rPr lang="en-US" dirty="0"/>
              <a:t>Distributed Variables</a:t>
            </a:r>
          </a:p>
          <a:p>
            <a:endParaRPr lang="en-US" dirty="0"/>
          </a:p>
        </p:txBody>
      </p:sp>
    </p:spTree>
    <p:extLst>
      <p:ext uri="{BB962C8B-B14F-4D97-AF65-F5344CB8AC3E}">
        <p14:creationId xmlns:p14="http://schemas.microsoft.com/office/powerpoint/2010/main" val="1179841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1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0" y="-1"/>
            <a:ext cx="9177959" cy="6886407"/>
          </a:xfrm>
          <a:prstGeom prst="rect">
            <a:avLst/>
          </a:prstGeom>
        </p:spPr>
      </p:pic>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457200" y="914400"/>
            <a:ext cx="8229600" cy="5578475"/>
          </a:xfrm>
        </p:spPr>
        <p:txBody>
          <a:bodyPr>
            <a:normAutofit/>
          </a:bodyPr>
          <a:lstStyle/>
          <a:p>
            <a:pPr marL="457200" indent="-457200">
              <a:spcBef>
                <a:spcPts val="1300"/>
              </a:spcBef>
              <a:spcAft>
                <a:spcPts val="1800"/>
              </a:spcAft>
              <a:buFont typeface="+mj-lt"/>
              <a:buAutoNum type="arabicPeriod"/>
            </a:pPr>
            <a:r>
              <a:rPr lang="en-US" sz="2400" dirty="0"/>
              <a:t>Introduction</a:t>
            </a:r>
          </a:p>
          <a:p>
            <a:pPr marL="457200" indent="-457200">
              <a:spcBef>
                <a:spcPts val="1300"/>
              </a:spcBef>
              <a:spcAft>
                <a:spcPts val="1800"/>
              </a:spcAft>
              <a:buFont typeface="+mj-lt"/>
              <a:buAutoNum type="arabicPeriod"/>
            </a:pPr>
            <a:r>
              <a:rPr lang="en-US" sz="2400" dirty="0"/>
              <a:t>CSMP variable types and their management</a:t>
            </a:r>
          </a:p>
          <a:p>
            <a:pPr marL="457200" indent="-457200">
              <a:spcBef>
                <a:spcPts val="1300"/>
              </a:spcBef>
              <a:spcAft>
                <a:spcPts val="1800"/>
              </a:spcAft>
              <a:buFont typeface="+mj-lt"/>
              <a:buAutoNum type="arabicPeriod"/>
            </a:pPr>
            <a:r>
              <a:rPr lang="en-US" sz="2400" dirty="0">
                <a:solidFill>
                  <a:srgbClr val="FFFF00"/>
                </a:solidFill>
              </a:rPr>
              <a:t>The Model, its Regions and Boundaries</a:t>
            </a:r>
          </a:p>
          <a:p>
            <a:pPr marL="457200" indent="-457200">
              <a:spcBef>
                <a:spcPts val="1300"/>
              </a:spcBef>
              <a:spcAft>
                <a:spcPts val="1800"/>
              </a:spcAft>
              <a:buFont typeface="+mj-lt"/>
              <a:buAutoNum type="arabicPeriod"/>
            </a:pPr>
            <a:r>
              <a:rPr lang="en-US" sz="2400" dirty="0"/>
              <a:t>Hybrid finite element – finite volume discretization</a:t>
            </a:r>
          </a:p>
          <a:p>
            <a:pPr marL="457200" indent="-457200">
              <a:spcBef>
                <a:spcPts val="1300"/>
              </a:spcBef>
              <a:spcAft>
                <a:spcPts val="1800"/>
              </a:spcAft>
              <a:buFont typeface="+mj-lt"/>
              <a:buAutoNum type="arabicPeriod"/>
            </a:pPr>
            <a:r>
              <a:rPr lang="en-US" sz="2400" dirty="0"/>
              <a:t>Solving PDE’s: the </a:t>
            </a:r>
            <a:r>
              <a:rPr lang="en-US" sz="2400" dirty="0" err="1"/>
              <a:t>PDE_Integrator</a:t>
            </a:r>
            <a:r>
              <a:rPr lang="en-US" sz="2400" dirty="0"/>
              <a:t> framework</a:t>
            </a:r>
          </a:p>
          <a:p>
            <a:pPr marL="457200" indent="-457200">
              <a:spcBef>
                <a:spcPts val="1300"/>
              </a:spcBef>
              <a:spcAft>
                <a:spcPts val="1800"/>
              </a:spcAft>
              <a:buFont typeface="+mj-lt"/>
              <a:buAutoNum type="arabicPeriod"/>
            </a:pPr>
            <a:r>
              <a:rPr lang="en-US" sz="2400" dirty="0"/>
              <a:t>Constitutive relationships: Visitors etc.</a:t>
            </a:r>
          </a:p>
          <a:p>
            <a:pPr marL="457200" indent="-457200">
              <a:spcBef>
                <a:spcPts val="1300"/>
              </a:spcBef>
              <a:spcAft>
                <a:spcPts val="1800"/>
              </a:spcAft>
              <a:buFont typeface="+mj-lt"/>
              <a:buAutoNum type="arabicPeriod"/>
            </a:pPr>
            <a:r>
              <a:rPr lang="en-US" sz="2400" dirty="0"/>
              <a:t>Advanced topics</a:t>
            </a:r>
          </a:p>
          <a:p>
            <a:pPr marL="457200" indent="-457200">
              <a:spcBef>
                <a:spcPts val="1300"/>
              </a:spcBef>
              <a:spcAft>
                <a:spcPts val="1800"/>
              </a:spcAft>
              <a:buFont typeface="+mj-lt"/>
              <a:buAutoNum type="arabicPeriod"/>
            </a:pPr>
            <a:endParaRPr lang="en-US" sz="2400"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a:xfrm>
            <a:off x="3124200" y="6492875"/>
            <a:ext cx="3464024" cy="365125"/>
          </a:xfrm>
        </p:spPr>
        <p:txBody>
          <a:bodyPr/>
          <a:lstStyle/>
          <a:p>
            <a:r>
              <a:rPr lang="en-US" dirty="0"/>
              <a:t>CSMP++ API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24</a:t>
            </a:fld>
            <a:endParaRPr lang="en-US"/>
          </a:p>
        </p:txBody>
      </p:sp>
    </p:spTree>
    <p:extLst>
      <p:ext uri="{BB962C8B-B14F-4D97-AF65-F5344CB8AC3E}">
        <p14:creationId xmlns:p14="http://schemas.microsoft.com/office/powerpoint/2010/main" val="1382668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a:xfrm>
            <a:off x="722313" y="4725144"/>
            <a:ext cx="7772400" cy="1043831"/>
          </a:xfrm>
        </p:spPr>
        <p:txBody>
          <a:bodyPr/>
          <a:lstStyle/>
          <a:p>
            <a:r>
              <a:rPr lang="en-US" dirty="0"/>
              <a:t>The MODEL</a:t>
            </a:r>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25</a:t>
            </a:fld>
            <a:endParaRPr lang="en-US"/>
          </a:p>
        </p:txBody>
      </p:sp>
      <p:sp>
        <p:nvSpPr>
          <p:cNvPr id="9" name="TextBox 8"/>
          <p:cNvSpPr txBox="1"/>
          <p:nvPr/>
        </p:nvSpPr>
        <p:spPr>
          <a:xfrm>
            <a:off x="0" y="539382"/>
            <a:ext cx="9144000" cy="3293209"/>
          </a:xfrm>
          <a:prstGeom prst="rect">
            <a:avLst/>
          </a:prstGeom>
          <a:solidFill>
            <a:srgbClr val="FFFFFF">
              <a:alpha val="43000"/>
            </a:srgbClr>
          </a:solidFill>
        </p:spPr>
        <p:txBody>
          <a:bodyPr wrap="square" rtlCol="0">
            <a:spAutoFit/>
          </a:bodyPr>
          <a:lstStyle/>
          <a:p>
            <a:r>
              <a:rPr lang="en-US" sz="1600" dirty="0">
                <a:solidFill>
                  <a:srgbClr val="0F00AA"/>
                </a:solidFill>
                <a:latin typeface="Menlo-Regular"/>
              </a:rPr>
              <a:t>template</a:t>
            </a:r>
            <a:r>
              <a:rPr lang="en-US" sz="1600" dirty="0">
                <a:solidFill>
                  <a:srgbClr val="000000"/>
                </a:solidFill>
                <a:latin typeface="Menlo-Regular"/>
              </a:rPr>
              <a:t>&lt;</a:t>
            </a:r>
            <a:r>
              <a:rPr lang="en-US" sz="1600" dirty="0">
                <a:solidFill>
                  <a:srgbClr val="5C2699"/>
                </a:solidFill>
                <a:latin typeface="Menlo-Regular"/>
              </a:rPr>
              <a:t>uint32_t</a:t>
            </a:r>
            <a:r>
              <a:rPr lang="en-US" sz="1600" dirty="0">
                <a:solidFill>
                  <a:srgbClr val="000000"/>
                </a:solidFill>
                <a:latin typeface="Menlo-Regular"/>
              </a:rPr>
              <a:t> dim&gt;</a:t>
            </a:r>
          </a:p>
          <a:p>
            <a:r>
              <a:rPr lang="en-US" sz="1600" dirty="0">
                <a:solidFill>
                  <a:srgbClr val="0F00AA"/>
                </a:solidFill>
                <a:latin typeface="Menlo-Regular"/>
              </a:rPr>
              <a:t>class</a:t>
            </a:r>
            <a:r>
              <a:rPr lang="en-US" sz="1600" dirty="0">
                <a:solidFill>
                  <a:srgbClr val="000000"/>
                </a:solidFill>
                <a:latin typeface="Menlo-Regular"/>
              </a:rPr>
              <a:t> Model : </a:t>
            </a:r>
            <a:r>
              <a:rPr lang="en-US" sz="1600" dirty="0">
                <a:solidFill>
                  <a:srgbClr val="0F00AA"/>
                </a:solidFill>
                <a:latin typeface="Menlo-Regular"/>
              </a:rPr>
              <a:t>public</a:t>
            </a:r>
            <a:r>
              <a:rPr lang="en-US" sz="1600" dirty="0">
                <a:solidFill>
                  <a:srgbClr val="000000"/>
                </a:solidFill>
                <a:latin typeface="Menlo-Regular"/>
              </a:rPr>
              <a:t> </a:t>
            </a:r>
            <a:r>
              <a:rPr lang="en-US" sz="1600" dirty="0" err="1">
                <a:solidFill>
                  <a:srgbClr val="29484C"/>
                </a:solidFill>
                <a:latin typeface="Menlo-Regular"/>
              </a:rPr>
              <a:t>RegionInterface</a:t>
            </a:r>
            <a:r>
              <a:rPr lang="en-US" sz="1600" dirty="0">
                <a:solidFill>
                  <a:srgbClr val="000000"/>
                </a:solidFill>
                <a:latin typeface="Menlo-Regular"/>
              </a:rPr>
              <a:t>&lt;</a:t>
            </a:r>
            <a:r>
              <a:rPr lang="en-US" sz="1600" dirty="0" err="1">
                <a:solidFill>
                  <a:srgbClr val="000000"/>
                </a:solidFill>
                <a:latin typeface="Menlo-Regular"/>
              </a:rPr>
              <a:t>dim,</a:t>
            </a:r>
            <a:r>
              <a:rPr lang="en-US" sz="1600" dirty="0" err="1">
                <a:solidFill>
                  <a:srgbClr val="29484C"/>
                </a:solidFill>
                <a:latin typeface="Menlo-Regular"/>
              </a:rPr>
              <a:t>Model</a:t>
            </a:r>
            <a:r>
              <a:rPr lang="en-US" sz="1600" dirty="0">
                <a:solidFill>
                  <a:srgbClr val="000000"/>
                </a:solidFill>
                <a:latin typeface="Menlo-Regular"/>
              </a:rPr>
              <a:t>&gt;, </a:t>
            </a:r>
          </a:p>
          <a:p>
            <a:r>
              <a:rPr lang="en-US" sz="1600" dirty="0">
                <a:solidFill>
                  <a:srgbClr val="000000"/>
                </a:solidFill>
                <a:latin typeface="Menlo-Regular"/>
              </a:rPr>
              <a:t>              </a:t>
            </a:r>
            <a:r>
              <a:rPr lang="en-US" sz="1600" dirty="0">
                <a:solidFill>
                  <a:srgbClr val="0F00AA"/>
                </a:solidFill>
                <a:latin typeface="Menlo-Regular"/>
              </a:rPr>
              <a:t>public</a:t>
            </a:r>
            <a:r>
              <a:rPr lang="en-US" sz="1600" dirty="0">
                <a:solidFill>
                  <a:srgbClr val="000000"/>
                </a:solidFill>
                <a:latin typeface="Menlo-Regular"/>
              </a:rPr>
              <a:t> </a:t>
            </a:r>
            <a:r>
              <a:rPr lang="en-US" sz="1600" dirty="0" err="1">
                <a:solidFill>
                  <a:srgbClr val="29484C"/>
                </a:solidFill>
                <a:latin typeface="Menlo-Regular"/>
              </a:rPr>
              <a:t>BoundaryInterface</a:t>
            </a:r>
            <a:r>
              <a:rPr lang="en-US" sz="1600" dirty="0">
                <a:solidFill>
                  <a:srgbClr val="000000"/>
                </a:solidFill>
                <a:latin typeface="Menlo-Regular"/>
              </a:rPr>
              <a:t>&lt;</a:t>
            </a:r>
            <a:r>
              <a:rPr lang="en-US" sz="1600" dirty="0" err="1">
                <a:solidFill>
                  <a:srgbClr val="000000"/>
                </a:solidFill>
                <a:latin typeface="Menlo-Regular"/>
              </a:rPr>
              <a:t>dim,</a:t>
            </a:r>
            <a:r>
              <a:rPr lang="en-US" sz="1600" dirty="0" err="1">
                <a:solidFill>
                  <a:srgbClr val="29484C"/>
                </a:solidFill>
                <a:latin typeface="Menlo-Regular"/>
              </a:rPr>
              <a:t>Model</a:t>
            </a:r>
            <a:r>
              <a:rPr lang="en-US" sz="1600" dirty="0">
                <a:solidFill>
                  <a:srgbClr val="000000"/>
                </a:solidFill>
                <a:latin typeface="Menlo-Regular"/>
              </a:rPr>
              <a:t>&gt;, </a:t>
            </a:r>
          </a:p>
          <a:p>
            <a:r>
              <a:rPr lang="en-US" sz="1600" dirty="0">
                <a:solidFill>
                  <a:srgbClr val="000000"/>
                </a:solidFill>
                <a:latin typeface="Menlo-Regular"/>
              </a:rPr>
              <a:t>              </a:t>
            </a:r>
            <a:r>
              <a:rPr lang="en-US" sz="1600" dirty="0">
                <a:solidFill>
                  <a:srgbClr val="0F00AA"/>
                </a:solidFill>
                <a:latin typeface="Menlo-Regular"/>
              </a:rPr>
              <a:t>public</a:t>
            </a:r>
            <a:r>
              <a:rPr lang="en-US" sz="1600" dirty="0">
                <a:solidFill>
                  <a:srgbClr val="000000"/>
                </a:solidFill>
                <a:latin typeface="Menlo-Regular"/>
              </a:rPr>
              <a:t> </a:t>
            </a:r>
            <a:r>
              <a:rPr lang="en-US" sz="1600" dirty="0" err="1">
                <a:solidFill>
                  <a:srgbClr val="29484C"/>
                </a:solidFill>
                <a:latin typeface="Menlo-Regular"/>
              </a:rPr>
              <a:t>SplitBoundaryInterface</a:t>
            </a:r>
            <a:r>
              <a:rPr lang="en-US" sz="1600" dirty="0">
                <a:solidFill>
                  <a:srgbClr val="000000"/>
                </a:solidFill>
                <a:latin typeface="Menlo-Regular"/>
              </a:rPr>
              <a:t>&lt;</a:t>
            </a:r>
            <a:r>
              <a:rPr lang="en-US" sz="1600" dirty="0" err="1">
                <a:solidFill>
                  <a:srgbClr val="000000"/>
                </a:solidFill>
                <a:latin typeface="Menlo-Regular"/>
              </a:rPr>
              <a:t>dim,</a:t>
            </a:r>
            <a:r>
              <a:rPr lang="en-US" sz="1600" dirty="0" err="1">
                <a:solidFill>
                  <a:srgbClr val="29484C"/>
                </a:solidFill>
                <a:latin typeface="Menlo-Regular"/>
              </a:rPr>
              <a:t>Model</a:t>
            </a:r>
            <a:r>
              <a:rPr lang="en-US" sz="1600" dirty="0">
                <a:solidFill>
                  <a:srgbClr val="000000"/>
                </a:solidFill>
                <a:latin typeface="Menlo-Regular"/>
              </a:rPr>
              <a:t>&gt;</a:t>
            </a:r>
          </a:p>
          <a:p>
            <a:r>
              <a:rPr lang="en-US" sz="1600" dirty="0">
                <a:solidFill>
                  <a:srgbClr val="000000"/>
                </a:solidFill>
                <a:latin typeface="Menlo-Regular"/>
              </a:rPr>
              <a:t>{</a:t>
            </a:r>
          </a:p>
          <a:p>
            <a:r>
              <a:rPr lang="en-US" sz="1600" dirty="0">
                <a:solidFill>
                  <a:srgbClr val="0F00AA"/>
                </a:solidFill>
                <a:latin typeface="Menlo-Regular"/>
              </a:rPr>
              <a:t>public</a:t>
            </a:r>
            <a:r>
              <a:rPr lang="en-US" sz="1600" dirty="0">
                <a:solidFill>
                  <a:srgbClr val="000000"/>
                </a:solidFill>
                <a:latin typeface="Menlo-Regular"/>
              </a:rPr>
              <a:t>:</a:t>
            </a:r>
          </a:p>
          <a:p>
            <a:r>
              <a:rPr lang="en-US" sz="1600" dirty="0">
                <a:solidFill>
                  <a:srgbClr val="000000"/>
                </a:solidFill>
                <a:latin typeface="Menlo-Regular"/>
              </a:rPr>
              <a:t>    Model( </a:t>
            </a:r>
            <a:r>
              <a:rPr lang="en-US" sz="1600" dirty="0" err="1">
                <a:solidFill>
                  <a:srgbClr val="29484C"/>
                </a:solidFill>
                <a:latin typeface="Menlo-Regular"/>
              </a:rPr>
              <a:t>VSet</a:t>
            </a:r>
            <a:r>
              <a:rPr lang="en-US" sz="1600" dirty="0">
                <a:solidFill>
                  <a:srgbClr val="000000"/>
                </a:solidFill>
                <a:latin typeface="Menlo-Regular"/>
              </a:rPr>
              <a:t>&lt;dim&gt;&amp;, </a:t>
            </a:r>
            <a:r>
              <a:rPr lang="en-US" sz="1600" dirty="0" err="1">
                <a:solidFill>
                  <a:srgbClr val="0F00AA"/>
                </a:solidFill>
                <a:latin typeface="Menlo-Regular"/>
              </a:rPr>
              <a:t>const</a:t>
            </a:r>
            <a:r>
              <a:rPr lang="en-US" sz="1600" dirty="0">
                <a:solidFill>
                  <a:srgbClr val="000000"/>
                </a:solidFill>
                <a:latin typeface="Menlo-Regular"/>
              </a:rPr>
              <a:t> </a:t>
            </a:r>
            <a:r>
              <a:rPr lang="en-US" sz="1600" dirty="0">
                <a:solidFill>
                  <a:srgbClr val="0F00AA"/>
                </a:solidFill>
                <a:latin typeface="Menlo-Regular"/>
              </a:rPr>
              <a:t>char</a:t>
            </a:r>
            <a:r>
              <a:rPr lang="en-US" sz="1600" dirty="0">
                <a:solidFill>
                  <a:srgbClr val="000000"/>
                </a:solidFill>
                <a:latin typeface="Menlo-Regular"/>
              </a:rPr>
              <a:t>* </a:t>
            </a:r>
            <a:r>
              <a:rPr lang="en-US" sz="1600" dirty="0" err="1">
                <a:solidFill>
                  <a:srgbClr val="000000"/>
                </a:solidFill>
                <a:latin typeface="Menlo-Regular"/>
              </a:rPr>
              <a:t>var_file</a:t>
            </a:r>
            <a:r>
              <a:rPr lang="en-US" sz="1600" dirty="0">
                <a:solidFill>
                  <a:srgbClr val="000000"/>
                </a:solidFill>
                <a:latin typeface="Menlo-Regular"/>
              </a:rPr>
              <a:t>, </a:t>
            </a:r>
            <a:r>
              <a:rPr lang="en-US" sz="1600" dirty="0" err="1">
                <a:solidFill>
                  <a:srgbClr val="0F00AA"/>
                </a:solidFill>
                <a:latin typeface="Menlo-Regular"/>
              </a:rPr>
              <a:t>bool</a:t>
            </a:r>
            <a:r>
              <a:rPr lang="en-US" sz="1600" dirty="0">
                <a:solidFill>
                  <a:srgbClr val="000000"/>
                </a:solidFill>
                <a:latin typeface="Menlo-Regular"/>
              </a:rPr>
              <a:t> </a:t>
            </a:r>
            <a:r>
              <a:rPr lang="en-US" sz="1600" dirty="0" err="1">
                <a:solidFill>
                  <a:srgbClr val="000000"/>
                </a:solidFill>
                <a:latin typeface="Menlo-Regular"/>
              </a:rPr>
              <a:t>isoparametric</a:t>
            </a:r>
            <a:r>
              <a:rPr lang="en-US" sz="1600" dirty="0">
                <a:solidFill>
                  <a:srgbClr val="000000"/>
                </a:solidFill>
                <a:latin typeface="Menlo-Regular"/>
              </a:rPr>
              <a:t>=</a:t>
            </a:r>
            <a:r>
              <a:rPr lang="en-US" sz="1600" dirty="0">
                <a:solidFill>
                  <a:srgbClr val="0F00AA"/>
                </a:solidFill>
                <a:latin typeface="Menlo-Regular"/>
              </a:rPr>
              <a:t>false</a:t>
            </a:r>
            <a:r>
              <a:rPr lang="en-US" sz="1600" dirty="0">
                <a:solidFill>
                  <a:srgbClr val="000000"/>
                </a:solidFill>
                <a:latin typeface="Menlo-Regular"/>
              </a:rPr>
              <a:t> ); </a:t>
            </a:r>
          </a:p>
          <a:p>
            <a:r>
              <a:rPr lang="en-US" sz="1600" dirty="0">
                <a:solidFill>
                  <a:srgbClr val="000000"/>
                </a:solidFill>
                <a:latin typeface="Menlo-Regular"/>
              </a:rPr>
              <a:t>    </a:t>
            </a:r>
            <a:r>
              <a:rPr lang="en-US" sz="1600" b="1" dirty="0">
                <a:solidFill>
                  <a:srgbClr val="000000"/>
                </a:solidFill>
                <a:latin typeface="Menlo-Regular"/>
              </a:rPr>
              <a:t>Model( </a:t>
            </a:r>
            <a:r>
              <a:rPr lang="en-US" sz="1600" b="1" dirty="0" err="1">
                <a:solidFill>
                  <a:srgbClr val="000000"/>
                </a:solidFill>
                <a:latin typeface="Menlo-Regular"/>
              </a:rPr>
              <a:t>const</a:t>
            </a:r>
            <a:r>
              <a:rPr lang="en-US" sz="1600" b="1" dirty="0">
                <a:solidFill>
                  <a:srgbClr val="000000"/>
                </a:solidFill>
                <a:latin typeface="Menlo-Regular"/>
              </a:rPr>
              <a:t> </a:t>
            </a:r>
            <a:r>
              <a:rPr lang="en-US" sz="1600" b="1" dirty="0" err="1">
                <a:solidFill>
                  <a:srgbClr val="29484C"/>
                </a:solidFill>
                <a:latin typeface="Menlo-Regular"/>
              </a:rPr>
              <a:t>ModelTopology</a:t>
            </a:r>
            <a:r>
              <a:rPr lang="en-US" sz="1600" b="1" dirty="0">
                <a:solidFill>
                  <a:srgbClr val="000000"/>
                </a:solidFill>
                <a:latin typeface="Menlo-Regular"/>
              </a:rPr>
              <a:t>&amp;, </a:t>
            </a:r>
            <a:r>
              <a:rPr lang="en-US" sz="1600" b="1" dirty="0" err="1">
                <a:solidFill>
                  <a:srgbClr val="000000"/>
                </a:solidFill>
                <a:latin typeface="Menlo-Regular"/>
              </a:rPr>
              <a:t>const</a:t>
            </a:r>
            <a:r>
              <a:rPr lang="en-US" sz="1600" b="1" dirty="0">
                <a:solidFill>
                  <a:srgbClr val="000000"/>
                </a:solidFill>
                <a:latin typeface="Menlo-Regular"/>
              </a:rPr>
              <a:t> </a:t>
            </a:r>
            <a:r>
              <a:rPr lang="en-US" sz="1600" b="1" dirty="0" err="1">
                <a:solidFill>
                  <a:srgbClr val="29484C"/>
                </a:solidFill>
                <a:latin typeface="Menlo-Regular"/>
              </a:rPr>
              <a:t>VSet</a:t>
            </a:r>
            <a:r>
              <a:rPr lang="en-US" sz="1600" b="1" dirty="0">
                <a:solidFill>
                  <a:srgbClr val="000000"/>
                </a:solidFill>
                <a:latin typeface="Menlo-Regular"/>
              </a:rPr>
              <a:t>&lt;dim&gt;&amp;, </a:t>
            </a:r>
            <a:r>
              <a:rPr lang="en-US" sz="1600" b="1" dirty="0" err="1">
                <a:solidFill>
                  <a:srgbClr val="0F00AA"/>
                </a:solidFill>
                <a:latin typeface="Menlo-Regular"/>
              </a:rPr>
              <a:t>const</a:t>
            </a:r>
            <a:r>
              <a:rPr lang="en-US" sz="1600" b="1" dirty="0">
                <a:solidFill>
                  <a:srgbClr val="000000"/>
                </a:solidFill>
                <a:latin typeface="Menlo-Regular"/>
              </a:rPr>
              <a:t> </a:t>
            </a:r>
            <a:r>
              <a:rPr lang="en-US" sz="1600" b="1" dirty="0">
                <a:solidFill>
                  <a:srgbClr val="0F00AA"/>
                </a:solidFill>
                <a:latin typeface="Menlo-Regular"/>
              </a:rPr>
              <a:t>char</a:t>
            </a:r>
            <a:r>
              <a:rPr lang="en-US" sz="1600" b="1" dirty="0">
                <a:solidFill>
                  <a:srgbClr val="000000"/>
                </a:solidFill>
                <a:latin typeface="Menlo-Regular"/>
              </a:rPr>
              <a:t>* </a:t>
            </a:r>
            <a:r>
              <a:rPr lang="en-US" sz="1600" b="1" dirty="0" err="1">
                <a:solidFill>
                  <a:srgbClr val="000000"/>
                </a:solidFill>
                <a:latin typeface="Menlo-Regular"/>
              </a:rPr>
              <a:t>vfile</a:t>
            </a:r>
            <a:r>
              <a:rPr lang="en-US" sz="1600" b="1" dirty="0">
                <a:solidFill>
                  <a:srgbClr val="000000"/>
                </a:solidFill>
                <a:latin typeface="Menlo-Regular"/>
              </a:rPr>
              <a:t> );</a:t>
            </a:r>
            <a:r>
              <a:rPr lang="en-US" sz="1600" dirty="0">
                <a:solidFill>
                  <a:srgbClr val="000000"/>
                </a:solidFill>
                <a:latin typeface="Menlo-Regular"/>
              </a:rPr>
              <a:t> </a:t>
            </a:r>
          </a:p>
          <a:p>
            <a:r>
              <a:rPr lang="en-US" sz="1600" dirty="0">
                <a:solidFill>
                  <a:srgbClr val="000000"/>
                </a:solidFill>
                <a:latin typeface="Menlo-Regular"/>
              </a:rPr>
              <a:t>    </a:t>
            </a:r>
            <a:r>
              <a:rPr lang="en-US" sz="1600" dirty="0">
                <a:solidFill>
                  <a:srgbClr val="0F00AA"/>
                </a:solidFill>
                <a:latin typeface="Menlo-Regular"/>
              </a:rPr>
              <a:t>explicit</a:t>
            </a:r>
            <a:r>
              <a:rPr lang="en-US" sz="1600" dirty="0">
                <a:solidFill>
                  <a:srgbClr val="000000"/>
                </a:solidFill>
                <a:latin typeface="Menlo-Regular"/>
              </a:rPr>
              <a:t> Model( </a:t>
            </a:r>
            <a:r>
              <a:rPr lang="en-US" sz="1600" dirty="0" err="1">
                <a:solidFill>
                  <a:srgbClr val="0F00AA"/>
                </a:solidFill>
                <a:latin typeface="Menlo-Regular"/>
              </a:rPr>
              <a:t>const</a:t>
            </a:r>
            <a:r>
              <a:rPr lang="en-US" sz="1600" dirty="0">
                <a:solidFill>
                  <a:srgbClr val="000000"/>
                </a:solidFill>
                <a:latin typeface="Menlo-Regular"/>
              </a:rPr>
              <a:t> </a:t>
            </a:r>
            <a:r>
              <a:rPr lang="en-US" sz="1600" dirty="0">
                <a:solidFill>
                  <a:srgbClr val="0F00AA"/>
                </a:solidFill>
                <a:latin typeface="Menlo-Regular"/>
              </a:rPr>
              <a:t>char</a:t>
            </a:r>
            <a:r>
              <a:rPr lang="en-US" sz="1600" dirty="0">
                <a:solidFill>
                  <a:srgbClr val="000000"/>
                </a:solidFill>
                <a:latin typeface="Menlo-Regular"/>
              </a:rPr>
              <a:t>* </a:t>
            </a:r>
            <a:r>
              <a:rPr lang="en-US" sz="1600" dirty="0" err="1">
                <a:solidFill>
                  <a:srgbClr val="000000"/>
                </a:solidFill>
                <a:latin typeface="Menlo-Regular"/>
              </a:rPr>
              <a:t>variables_file</a:t>
            </a:r>
            <a:r>
              <a:rPr lang="en-US" sz="1600" dirty="0">
                <a:solidFill>
                  <a:srgbClr val="000000"/>
                </a:solidFill>
                <a:latin typeface="Menlo-Regular"/>
              </a:rPr>
              <a:t> );</a:t>
            </a:r>
          </a:p>
          <a:p>
            <a:r>
              <a:rPr lang="en-US" sz="1600" dirty="0">
                <a:solidFill>
                  <a:srgbClr val="000000"/>
                </a:solidFill>
                <a:latin typeface="Menlo-Regular"/>
              </a:rPr>
              <a:t>    Model( </a:t>
            </a:r>
            <a:r>
              <a:rPr lang="en-US" sz="1600" dirty="0">
                <a:solidFill>
                  <a:srgbClr val="0F00AA"/>
                </a:solidFill>
                <a:latin typeface="Menlo-Regular"/>
              </a:rPr>
              <a:t>const</a:t>
            </a:r>
            <a:r>
              <a:rPr lang="en-US" sz="1600" dirty="0">
                <a:solidFill>
                  <a:srgbClr val="000000"/>
                </a:solidFill>
                <a:latin typeface="Menlo-Regular"/>
              </a:rPr>
              <a:t> Model&amp; );</a:t>
            </a:r>
          </a:p>
          <a:p>
            <a:r>
              <a:rPr lang="en-US" sz="1600" dirty="0">
                <a:solidFill>
                  <a:srgbClr val="000000"/>
                </a:solidFill>
                <a:latin typeface="Menlo-Regular"/>
              </a:rPr>
              <a:t>    Model&amp; </a:t>
            </a:r>
            <a:r>
              <a:rPr lang="en-US" sz="1600" dirty="0">
                <a:solidFill>
                  <a:srgbClr val="0F00AA"/>
                </a:solidFill>
                <a:latin typeface="Menlo-Regular"/>
              </a:rPr>
              <a:t>operator</a:t>
            </a:r>
            <a:r>
              <a:rPr lang="en-US" sz="1600" dirty="0">
                <a:solidFill>
                  <a:srgbClr val="000000"/>
                </a:solidFill>
                <a:latin typeface="Menlo-Regular"/>
              </a:rPr>
              <a:t>=( </a:t>
            </a:r>
            <a:r>
              <a:rPr lang="en-US" sz="1600" dirty="0">
                <a:solidFill>
                  <a:srgbClr val="0F00AA"/>
                </a:solidFill>
                <a:latin typeface="Menlo-Regular"/>
              </a:rPr>
              <a:t>const</a:t>
            </a:r>
            <a:r>
              <a:rPr lang="en-US" sz="1600" dirty="0">
                <a:solidFill>
                  <a:srgbClr val="000000"/>
                </a:solidFill>
                <a:latin typeface="Menlo-Regular"/>
              </a:rPr>
              <a:t> Model&amp; );</a:t>
            </a:r>
          </a:p>
          <a:p>
            <a:r>
              <a:rPr lang="en-US" sz="1600" dirty="0">
                <a:solidFill>
                  <a:srgbClr val="000000"/>
                </a:solidFill>
                <a:latin typeface="Menlo-Regular"/>
              </a:rPr>
              <a:t>    </a:t>
            </a:r>
            <a:r>
              <a:rPr lang="en-US" sz="1600" dirty="0">
                <a:solidFill>
                  <a:srgbClr val="0F00AA"/>
                </a:solidFill>
                <a:latin typeface="Menlo-Regular"/>
              </a:rPr>
              <a:t>virtual</a:t>
            </a:r>
            <a:r>
              <a:rPr lang="en-US" sz="1600" dirty="0">
                <a:solidFill>
                  <a:srgbClr val="000000"/>
                </a:solidFill>
                <a:latin typeface="Menlo-Regular"/>
              </a:rPr>
              <a:t> ~Model();   </a:t>
            </a:r>
          </a:p>
          <a:p>
            <a:endParaRPr lang="en-US" sz="1600" dirty="0"/>
          </a:p>
        </p:txBody>
      </p:sp>
    </p:spTree>
    <p:extLst>
      <p:ext uri="{BB962C8B-B14F-4D97-AF65-F5344CB8AC3E}">
        <p14:creationId xmlns:p14="http://schemas.microsoft.com/office/powerpoint/2010/main" val="1238719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workings of the </a:t>
            </a:r>
            <a:r>
              <a:rPr lang="en-US" b="1" dirty="0"/>
              <a:t>Model</a:t>
            </a:r>
          </a:p>
        </p:txBody>
      </p:sp>
      <p:sp>
        <p:nvSpPr>
          <p:cNvPr id="3" name="Content Placeholder 2"/>
          <p:cNvSpPr>
            <a:spLocks noGrp="1"/>
          </p:cNvSpPr>
          <p:nvPr>
            <p:ph idx="1"/>
          </p:nvPr>
        </p:nvSpPr>
        <p:spPr>
          <a:xfrm>
            <a:off x="457200" y="842392"/>
            <a:ext cx="8229600" cy="5826968"/>
          </a:xfrm>
        </p:spPr>
        <p:txBody>
          <a:bodyPr>
            <a:normAutofit fontScale="92500" lnSpcReduction="20000"/>
          </a:bodyPr>
          <a:lstStyle/>
          <a:p>
            <a:r>
              <a:rPr lang="en-US" dirty="0"/>
              <a:t>Model&lt;&gt; object represents computational domain with associated properties</a:t>
            </a:r>
          </a:p>
          <a:p>
            <a:r>
              <a:rPr lang="en-US" dirty="0"/>
              <a:t>Manages its </a:t>
            </a:r>
            <a:r>
              <a:rPr lang="en-US" b="1" dirty="0"/>
              <a:t>unique</a:t>
            </a:r>
            <a:r>
              <a:rPr lang="en-US" dirty="0"/>
              <a:t> (non-overlapping) and </a:t>
            </a:r>
            <a:r>
              <a:rPr lang="en-US" b="1" dirty="0"/>
              <a:t>non-unique </a:t>
            </a:r>
            <a:r>
              <a:rPr lang="en-US" dirty="0"/>
              <a:t>(potentially overlapping) subdomains called </a:t>
            </a:r>
            <a:r>
              <a:rPr lang="en-US" b="1" dirty="0"/>
              <a:t>Region</a:t>
            </a:r>
            <a:r>
              <a:rPr lang="en-US" dirty="0"/>
              <a:t>s, </a:t>
            </a:r>
            <a:r>
              <a:rPr lang="en-US" b="1" dirty="0" err="1"/>
              <a:t>Boundary</a:t>
            </a:r>
            <a:r>
              <a:rPr lang="en-US" dirty="0" err="1"/>
              <a:t>s</a:t>
            </a:r>
            <a:r>
              <a:rPr lang="en-US" b="1" dirty="0"/>
              <a:t> </a:t>
            </a:r>
            <a:r>
              <a:rPr lang="en-US" dirty="0"/>
              <a:t>(continuities) </a:t>
            </a:r>
            <a:r>
              <a:rPr lang="en-US" b="1" dirty="0"/>
              <a:t>and </a:t>
            </a:r>
            <a:r>
              <a:rPr lang="en-US" b="1" dirty="0" err="1"/>
              <a:t>SplitBoundary</a:t>
            </a:r>
            <a:r>
              <a:rPr lang="en-US" dirty="0" err="1"/>
              <a:t>s</a:t>
            </a:r>
            <a:r>
              <a:rPr lang="en-US" dirty="0"/>
              <a:t> (discontinuities) via corresponding interfaces.</a:t>
            </a:r>
          </a:p>
          <a:p>
            <a:r>
              <a:rPr lang="en-US" dirty="0"/>
              <a:t>Contains </a:t>
            </a:r>
            <a:r>
              <a:rPr lang="en-US" b="1" dirty="0" err="1"/>
              <a:t>MeshManager</a:t>
            </a:r>
            <a:r>
              <a:rPr lang="en-US" b="1" dirty="0"/>
              <a:t> </a:t>
            </a:r>
            <a:r>
              <a:rPr lang="en-US" dirty="0"/>
              <a:t>class</a:t>
            </a:r>
            <a:r>
              <a:rPr lang="en-US" b="1" dirty="0"/>
              <a:t> </a:t>
            </a:r>
            <a:r>
              <a:rPr lang="en-US" dirty="0"/>
              <a:t>that implements the connectivity of </a:t>
            </a:r>
            <a:r>
              <a:rPr lang="en-US" b="1" dirty="0"/>
              <a:t>Element</a:t>
            </a:r>
            <a:r>
              <a:rPr lang="en-US" dirty="0"/>
              <a:t>  (</a:t>
            </a:r>
            <a:r>
              <a:rPr lang="en-US" b="1" dirty="0"/>
              <a:t>Face</a:t>
            </a:r>
            <a:r>
              <a:rPr lang="en-US" dirty="0"/>
              <a:t>, </a:t>
            </a:r>
            <a:r>
              <a:rPr lang="en-US" b="1" dirty="0" err="1"/>
              <a:t>InterFace</a:t>
            </a:r>
            <a:r>
              <a:rPr lang="en-US" dirty="0"/>
              <a:t>) and </a:t>
            </a:r>
            <a:r>
              <a:rPr lang="en-US" b="1" dirty="0"/>
              <a:t>Node</a:t>
            </a:r>
            <a:r>
              <a:rPr lang="en-US" dirty="0"/>
              <a:t> objects and their associated physical variables.</a:t>
            </a:r>
          </a:p>
          <a:p>
            <a:r>
              <a:rPr lang="en-US" dirty="0"/>
              <a:t>Is a composite; its building blocks / data members are:</a:t>
            </a:r>
            <a:endParaRPr lang="en-US" sz="1200" b="1" dirty="0">
              <a:latin typeface="Courier"/>
              <a:cs typeface="Courier"/>
            </a:endParaRPr>
          </a:p>
          <a:p>
            <a:pPr>
              <a:buNone/>
            </a:pPr>
            <a:r>
              <a:rPr lang="en-US" sz="1600" b="1" dirty="0">
                <a:latin typeface="Courier"/>
                <a:cs typeface="Courier"/>
              </a:rPr>
              <a:t>	</a:t>
            </a:r>
            <a:r>
              <a:rPr lang="en-US" sz="1600" b="1" dirty="0" err="1">
                <a:latin typeface="Courier"/>
                <a:cs typeface="Courier"/>
              </a:rPr>
              <a:t>RegionInterface</a:t>
            </a:r>
            <a:r>
              <a:rPr lang="en-US" sz="1600" b="1" dirty="0">
                <a:latin typeface="Courier"/>
                <a:cs typeface="Courier"/>
              </a:rPr>
              <a:t>&lt;&gt;</a:t>
            </a:r>
          </a:p>
          <a:p>
            <a:pPr>
              <a:buNone/>
            </a:pPr>
            <a:r>
              <a:rPr lang="en-US" sz="1600" b="1" dirty="0">
                <a:latin typeface="Courier"/>
                <a:cs typeface="Courier"/>
              </a:rPr>
              <a:t>	</a:t>
            </a:r>
            <a:r>
              <a:rPr lang="en-US" sz="1600" b="1" dirty="0" err="1">
                <a:latin typeface="Courier"/>
                <a:cs typeface="Courier"/>
              </a:rPr>
              <a:t>BoundaryInterface</a:t>
            </a:r>
            <a:r>
              <a:rPr lang="en-US" sz="1600" b="1" dirty="0">
                <a:latin typeface="Courier"/>
                <a:cs typeface="Courier"/>
              </a:rPr>
              <a:t>&lt;&gt; </a:t>
            </a:r>
          </a:p>
          <a:p>
            <a:pPr>
              <a:buNone/>
            </a:pPr>
            <a:r>
              <a:rPr lang="en-US" sz="1600" b="1" dirty="0">
                <a:latin typeface="Courier"/>
                <a:cs typeface="Courier"/>
              </a:rPr>
              <a:t>	</a:t>
            </a:r>
            <a:r>
              <a:rPr lang="en-US" sz="1600" b="1" dirty="0" err="1">
                <a:latin typeface="Courier"/>
                <a:cs typeface="Courier"/>
              </a:rPr>
              <a:t>SplitBoundaryInterface</a:t>
            </a:r>
            <a:r>
              <a:rPr lang="en-US" sz="1600" b="1" dirty="0">
                <a:latin typeface="Courier"/>
                <a:cs typeface="Courier"/>
              </a:rPr>
              <a:t>&lt;&gt;</a:t>
            </a:r>
          </a:p>
          <a:p>
            <a:pPr>
              <a:buNone/>
            </a:pPr>
            <a:r>
              <a:rPr lang="en-US" sz="1600" b="1" dirty="0">
                <a:latin typeface="Courier"/>
                <a:cs typeface="Courier"/>
              </a:rPr>
              <a:t>	</a:t>
            </a:r>
            <a:r>
              <a:rPr lang="en-US" sz="1600" b="1" dirty="0" err="1">
                <a:latin typeface="Courier"/>
                <a:cs typeface="Courier"/>
              </a:rPr>
              <a:t>PropertyDatabase</a:t>
            </a:r>
            <a:r>
              <a:rPr lang="en-US" sz="1600" b="1" dirty="0">
                <a:latin typeface="Courier"/>
                <a:cs typeface="Courier"/>
              </a:rPr>
              <a:t>&lt;&gt;    database_;</a:t>
            </a:r>
          </a:p>
          <a:p>
            <a:pPr>
              <a:buNone/>
            </a:pPr>
            <a:r>
              <a:rPr lang="en-US" sz="1600" b="1" dirty="0">
                <a:latin typeface="Courier"/>
                <a:cs typeface="Courier"/>
              </a:rPr>
              <a:t> 	</a:t>
            </a:r>
            <a:r>
              <a:rPr lang="en-US" sz="1600" b="1" dirty="0" err="1">
                <a:latin typeface="Courier"/>
                <a:cs typeface="Courier"/>
              </a:rPr>
              <a:t>MeshManager</a:t>
            </a:r>
            <a:r>
              <a:rPr lang="en-US" sz="1600" b="1" dirty="0">
                <a:latin typeface="Courier"/>
                <a:cs typeface="Courier"/>
              </a:rPr>
              <a:t>&lt;dim&gt;      </a:t>
            </a:r>
            <a:r>
              <a:rPr lang="en-US" sz="1600" b="1" dirty="0" err="1">
                <a:latin typeface="Courier"/>
                <a:cs typeface="Courier"/>
              </a:rPr>
              <a:t>mesh_manager</a:t>
            </a:r>
            <a:r>
              <a:rPr lang="en-US" sz="1600" b="1" dirty="0">
                <a:latin typeface="Courier"/>
                <a:cs typeface="Courier"/>
              </a:rPr>
              <a:t>_;</a:t>
            </a:r>
          </a:p>
          <a:p>
            <a:pPr>
              <a:buNone/>
            </a:pPr>
            <a:r>
              <a:rPr lang="en-US" sz="1600" b="1" dirty="0">
                <a:latin typeface="Courier"/>
                <a:cs typeface="Courier"/>
              </a:rPr>
              <a:t>			</a:t>
            </a:r>
            <a:r>
              <a:rPr lang="en-US" sz="1600" b="1" dirty="0" err="1">
                <a:latin typeface="Courier"/>
                <a:cs typeface="Courier"/>
              </a:rPr>
              <a:t>FiniteElementManager</a:t>
            </a:r>
            <a:r>
              <a:rPr lang="en-US" sz="1600" b="1" dirty="0">
                <a:latin typeface="Courier"/>
                <a:cs typeface="Courier"/>
              </a:rPr>
              <a:t>  </a:t>
            </a:r>
            <a:r>
              <a:rPr lang="en-US" sz="1600" b="1" dirty="0" err="1">
                <a:latin typeface="Courier"/>
                <a:cs typeface="Courier"/>
              </a:rPr>
              <a:t>fem_manager</a:t>
            </a:r>
            <a:r>
              <a:rPr lang="en-US" sz="1600" b="1" dirty="0">
                <a:latin typeface="Courier"/>
                <a:cs typeface="Courier"/>
              </a:rPr>
              <a:t>_;</a:t>
            </a:r>
          </a:p>
          <a:p>
            <a:pPr>
              <a:buNone/>
            </a:pPr>
            <a:r>
              <a:rPr lang="en-US" sz="1600" b="1" dirty="0">
                <a:latin typeface="Courier"/>
                <a:cs typeface="Courier"/>
              </a:rPr>
              <a:t>			</a:t>
            </a:r>
            <a:r>
              <a:rPr lang="en-US" sz="1600" b="1" dirty="0" err="1">
                <a:latin typeface="Courier"/>
                <a:cs typeface="Courier"/>
              </a:rPr>
              <a:t>FiniteVolumeManager</a:t>
            </a:r>
            <a:r>
              <a:rPr lang="en-US" sz="1600" b="1" dirty="0">
                <a:latin typeface="Courier"/>
                <a:cs typeface="Courier"/>
              </a:rPr>
              <a:t>   </a:t>
            </a:r>
            <a:r>
              <a:rPr lang="en-US" sz="1600" b="1" dirty="0" err="1">
                <a:latin typeface="Courier"/>
                <a:cs typeface="Courier"/>
              </a:rPr>
              <a:t>fvm_manager</a:t>
            </a:r>
            <a:r>
              <a:rPr lang="en-US" sz="1600" b="1" dirty="0">
                <a:latin typeface="Courier"/>
                <a:cs typeface="Courier"/>
              </a:rPr>
              <a:t>_;</a:t>
            </a:r>
          </a:p>
          <a:p>
            <a:pPr>
              <a:buNone/>
            </a:pPr>
            <a:r>
              <a:rPr lang="en-US" sz="1600" b="1" dirty="0">
                <a:latin typeface="Courier"/>
                <a:cs typeface="Courier"/>
              </a:rPr>
              <a:t>			</a:t>
            </a:r>
            <a:r>
              <a:rPr lang="en-US" sz="1600" b="1" dirty="0" err="1">
                <a:latin typeface="Courier"/>
                <a:cs typeface="Courier"/>
              </a:rPr>
              <a:t>NodeManifoldManager</a:t>
            </a:r>
            <a:r>
              <a:rPr lang="en-US" sz="1600" b="1" dirty="0">
                <a:latin typeface="Courier"/>
                <a:cs typeface="Courier"/>
              </a:rPr>
              <a:t>   </a:t>
            </a:r>
            <a:r>
              <a:rPr lang="en-US" sz="1600" b="1" dirty="0" err="1">
                <a:latin typeface="Courier"/>
                <a:cs typeface="Courier"/>
              </a:rPr>
              <a:t>nmf_manager</a:t>
            </a:r>
            <a:r>
              <a:rPr lang="en-US" sz="1600" b="1" dirty="0">
                <a:latin typeface="Courier"/>
                <a:cs typeface="Courier"/>
              </a:rPr>
              <a:t>_;    </a:t>
            </a:r>
          </a:p>
          <a:p>
            <a:pPr>
              <a:buNone/>
            </a:pPr>
            <a:r>
              <a:rPr lang="en-US" sz="1600" b="1" dirty="0">
                <a:latin typeface="Courier"/>
                <a:cs typeface="Courier"/>
              </a:rPr>
              <a:t>	</a:t>
            </a:r>
            <a:r>
              <a:rPr lang="en-US" sz="1600" b="1" dirty="0" err="1">
                <a:latin typeface="Courier"/>
                <a:cs typeface="Courier"/>
              </a:rPr>
              <a:t>LocalVariableStorage</a:t>
            </a:r>
            <a:r>
              <a:rPr lang="en-US" sz="1600" b="1" dirty="0">
                <a:latin typeface="Courier"/>
                <a:cs typeface="Courier"/>
              </a:rPr>
              <a:t>&lt;&gt;</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26</a:t>
            </a:fld>
            <a:endParaRPr lang="en-US"/>
          </a:p>
        </p:txBody>
      </p:sp>
    </p:spTree>
    <p:extLst>
      <p:ext uri="{BB962C8B-B14F-4D97-AF65-F5344CB8AC3E}">
        <p14:creationId xmlns:p14="http://schemas.microsoft.com/office/powerpoint/2010/main" val="1761577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Persistence</a:t>
            </a:r>
          </a:p>
        </p:txBody>
      </p:sp>
      <p:sp>
        <p:nvSpPr>
          <p:cNvPr id="7" name="Content Placeholder 6"/>
          <p:cNvSpPr>
            <a:spLocks noGrp="1"/>
          </p:cNvSpPr>
          <p:nvPr>
            <p:ph idx="1"/>
          </p:nvPr>
        </p:nvSpPr>
        <p:spPr>
          <a:xfrm>
            <a:off x="423620" y="1124743"/>
            <a:ext cx="8229600" cy="5368131"/>
          </a:xfrm>
        </p:spPr>
        <p:txBody>
          <a:bodyPr>
            <a:normAutofit/>
          </a:bodyPr>
          <a:lstStyle/>
          <a:p>
            <a:pPr>
              <a:spcBef>
                <a:spcPts val="2100"/>
              </a:spcBef>
            </a:pPr>
            <a:r>
              <a:rPr lang="en-US" dirty="0"/>
              <a:t>Model has constructors for arbitrarily shaped and box-shaped models as well as binary and text-based input / output</a:t>
            </a:r>
          </a:p>
          <a:p>
            <a:pPr>
              <a:spcBef>
                <a:spcPts val="2100"/>
              </a:spcBef>
            </a:pPr>
            <a:r>
              <a:rPr lang="en-US" dirty="0"/>
              <a:t>After important from a G&amp;G /</a:t>
            </a:r>
            <a:r>
              <a:rPr lang="en-US" dirty="0" err="1"/>
              <a:t>Civ.Eng</a:t>
            </a:r>
            <a:r>
              <a:rPr lang="en-US" dirty="0"/>
              <a:t>. tool model is stored in </a:t>
            </a:r>
            <a:r>
              <a:rPr lang="en-US" dirty="0" err="1"/>
              <a:t>OpenCSMP</a:t>
            </a:r>
            <a:r>
              <a:rPr lang="en-US" dirty="0"/>
              <a:t> native binary (cross-platform) format</a:t>
            </a:r>
          </a:p>
          <a:p>
            <a:pPr>
              <a:spcBef>
                <a:spcPts val="2100"/>
              </a:spcBef>
            </a:pPr>
            <a:r>
              <a:rPr lang="en-US" dirty="0"/>
              <a:t>Model has an </a:t>
            </a:r>
            <a:r>
              <a:rPr lang="en-AU" dirty="0" err="1">
                <a:solidFill>
                  <a:srgbClr val="0F68A0"/>
                </a:solidFill>
                <a:effectLst/>
                <a:latin typeface="Menlo" panose="020B0609030804020204" pitchFamily="49" charset="0"/>
              </a:rPr>
              <a:t>OutputToBinaryFile</a:t>
            </a:r>
            <a:r>
              <a:rPr lang="en-US" dirty="0"/>
              <a:t>() interface to store all internal data. This data can then be re-read with a constructor taking the model name as a </a:t>
            </a:r>
            <a:r>
              <a:rPr lang="en-US" dirty="0" err="1"/>
              <a:t>std</a:t>
            </a:r>
            <a:r>
              <a:rPr lang="en-US" dirty="0"/>
              <a:t>::string argument.</a:t>
            </a:r>
          </a:p>
          <a:p>
            <a:pPr>
              <a:spcBef>
                <a:spcPts val="2100"/>
              </a:spcBef>
            </a:pPr>
            <a:r>
              <a:rPr lang="en-US" dirty="0"/>
              <a:t>CSMP binaries support interim disk saves and restart files</a:t>
            </a:r>
          </a:p>
          <a:p>
            <a:pPr marL="0" indent="0">
              <a:spcBef>
                <a:spcPts val="2100"/>
              </a:spcBef>
              <a:buNone/>
            </a:pPr>
            <a:r>
              <a:rPr lang="en-US" dirty="0"/>
              <a:t>Comment: Binary output writes compact binary *.</a:t>
            </a:r>
            <a:r>
              <a:rPr lang="en-US" dirty="0" err="1"/>
              <a:t>vset</a:t>
            </a:r>
            <a:r>
              <a:rPr lang="en-US" dirty="0"/>
              <a:t> and *_regions files which also include runtime region and boundary condition information.</a:t>
            </a:r>
          </a:p>
        </p:txBody>
      </p:sp>
      <p:sp>
        <p:nvSpPr>
          <p:cNvPr id="3" name="Date Placeholder 2"/>
          <p:cNvSpPr>
            <a:spLocks noGrp="1"/>
          </p:cNvSpPr>
          <p:nvPr>
            <p:ph type="dt" sz="half" idx="10"/>
          </p:nvPr>
        </p:nvSpPr>
        <p:spPr/>
        <p:txBody>
          <a:bodyPr/>
          <a:lstStyle/>
          <a:p>
            <a:fld id="{C1762EE7-3E26-8344-9AFB-A62088F617B5}" type="datetime1">
              <a:rPr lang="en-US" smtClean="0"/>
              <a:pPr/>
              <a:t>5/2/24</a:t>
            </a:fld>
            <a:endParaRPr lang="en-US"/>
          </a:p>
        </p:txBody>
      </p:sp>
      <p:sp>
        <p:nvSpPr>
          <p:cNvPr id="4" name="Footer Placeholder 3"/>
          <p:cNvSpPr>
            <a:spLocks noGrp="1"/>
          </p:cNvSpPr>
          <p:nvPr>
            <p:ph type="ftr" sz="quarter" idx="11"/>
          </p:nvPr>
        </p:nvSpPr>
        <p:spPr/>
        <p:txBody>
          <a:bodyPr/>
          <a:lstStyle/>
          <a:p>
            <a:r>
              <a:rPr lang="en-US" dirty="0"/>
              <a:t>Model, Region, Boundaries</a:t>
            </a:r>
          </a:p>
        </p:txBody>
      </p:sp>
      <p:sp>
        <p:nvSpPr>
          <p:cNvPr id="5" name="Slide Number Placeholder 4"/>
          <p:cNvSpPr>
            <a:spLocks noGrp="1"/>
          </p:cNvSpPr>
          <p:nvPr>
            <p:ph type="sldNum" sz="quarter" idx="12"/>
          </p:nvPr>
        </p:nvSpPr>
        <p:spPr/>
        <p:txBody>
          <a:bodyPr/>
          <a:lstStyle/>
          <a:p>
            <a:fld id="{223FD816-CC6A-BF43-8241-637E3E7EAA5A}" type="slidenum">
              <a:rPr lang="en-US" smtClean="0"/>
              <a:pPr/>
              <a:t>27</a:t>
            </a:fld>
            <a:endParaRPr lang="en-US"/>
          </a:p>
        </p:txBody>
      </p:sp>
    </p:spTree>
    <p:extLst>
      <p:ext uri="{BB962C8B-B14F-4D97-AF65-F5344CB8AC3E}">
        <p14:creationId xmlns:p14="http://schemas.microsoft.com/office/powerpoint/2010/main" val="3491702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reeform 53"/>
          <p:cNvSpPr/>
          <p:nvPr/>
        </p:nvSpPr>
        <p:spPr>
          <a:xfrm>
            <a:off x="3851749" y="2711778"/>
            <a:ext cx="3268782" cy="2113357"/>
          </a:xfrm>
          <a:custGeom>
            <a:avLst/>
            <a:gdLst>
              <a:gd name="connsiteX0" fmla="*/ 0 w 3268782"/>
              <a:gd name="connsiteY0" fmla="*/ 1322149 h 2113357"/>
              <a:gd name="connsiteX1" fmla="*/ 1884234 w 3268782"/>
              <a:gd name="connsiteY1" fmla="*/ 0 h 2113357"/>
              <a:gd name="connsiteX2" fmla="*/ 3268782 w 3268782"/>
              <a:gd name="connsiteY2" fmla="*/ 2113357 h 2113357"/>
              <a:gd name="connsiteX3" fmla="*/ 0 w 3268782"/>
              <a:gd name="connsiteY3" fmla="*/ 1322149 h 2113357"/>
            </a:gdLst>
            <a:ahLst/>
            <a:cxnLst>
              <a:cxn ang="0">
                <a:pos x="connsiteX0" y="connsiteY0"/>
              </a:cxn>
              <a:cxn ang="0">
                <a:pos x="connsiteX1" y="connsiteY1"/>
              </a:cxn>
              <a:cxn ang="0">
                <a:pos x="connsiteX2" y="connsiteY2"/>
              </a:cxn>
              <a:cxn ang="0">
                <a:pos x="connsiteX3" y="connsiteY3"/>
              </a:cxn>
            </a:cxnLst>
            <a:rect l="l" t="t" r="r" b="b"/>
            <a:pathLst>
              <a:path w="3268782" h="2113357">
                <a:moveTo>
                  <a:pt x="0" y="1322149"/>
                </a:moveTo>
                <a:lnTo>
                  <a:pt x="1884234" y="0"/>
                </a:lnTo>
                <a:lnTo>
                  <a:pt x="3268782" y="2113357"/>
                </a:lnTo>
                <a:lnTo>
                  <a:pt x="0" y="1322149"/>
                </a:lnTo>
                <a:close/>
              </a:path>
            </a:pathLst>
          </a:custGeom>
          <a:solidFill>
            <a:srgbClr val="D7E4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Freeform 49"/>
          <p:cNvSpPr/>
          <p:nvPr/>
        </p:nvSpPr>
        <p:spPr>
          <a:xfrm>
            <a:off x="2529662" y="2357816"/>
            <a:ext cx="3393703" cy="1592826"/>
          </a:xfrm>
          <a:custGeom>
            <a:avLst/>
            <a:gdLst>
              <a:gd name="connsiteX0" fmla="*/ 0 w 3393703"/>
              <a:gd name="connsiteY0" fmla="*/ 0 h 1592826"/>
              <a:gd name="connsiteX1" fmla="*/ 3393703 w 3393703"/>
              <a:gd name="connsiteY1" fmla="*/ 218623 h 1592826"/>
              <a:gd name="connsiteX2" fmla="*/ 1415778 w 3393703"/>
              <a:gd name="connsiteY2" fmla="*/ 1592826 h 1592826"/>
              <a:gd name="connsiteX3" fmla="*/ 0 w 3393703"/>
              <a:gd name="connsiteY3" fmla="*/ 0 h 1592826"/>
            </a:gdLst>
            <a:ahLst/>
            <a:cxnLst>
              <a:cxn ang="0">
                <a:pos x="connsiteX0" y="connsiteY0"/>
              </a:cxn>
              <a:cxn ang="0">
                <a:pos x="connsiteX1" y="connsiteY1"/>
              </a:cxn>
              <a:cxn ang="0">
                <a:pos x="connsiteX2" y="connsiteY2"/>
              </a:cxn>
              <a:cxn ang="0">
                <a:pos x="connsiteX3" y="connsiteY3"/>
              </a:cxn>
            </a:cxnLst>
            <a:rect l="l" t="t" r="r" b="b"/>
            <a:pathLst>
              <a:path w="3393703" h="1592826">
                <a:moveTo>
                  <a:pt x="0" y="0"/>
                </a:moveTo>
                <a:lnTo>
                  <a:pt x="3393703" y="218623"/>
                </a:lnTo>
                <a:lnTo>
                  <a:pt x="1415778" y="1592826"/>
                </a:lnTo>
                <a:lnTo>
                  <a:pt x="0" y="0"/>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8" name="Freeform 47"/>
          <p:cNvSpPr/>
          <p:nvPr/>
        </p:nvSpPr>
        <p:spPr>
          <a:xfrm>
            <a:off x="666248" y="4065159"/>
            <a:ext cx="3830929" cy="2248695"/>
          </a:xfrm>
          <a:custGeom>
            <a:avLst/>
            <a:gdLst>
              <a:gd name="connsiteX0" fmla="*/ 0 w 3830929"/>
              <a:gd name="connsiteY0" fmla="*/ 353961 h 2248695"/>
              <a:gd name="connsiteX1" fmla="*/ 1519880 w 3830929"/>
              <a:gd name="connsiteY1" fmla="*/ 2248695 h 2248695"/>
              <a:gd name="connsiteX2" fmla="*/ 3830929 w 3830929"/>
              <a:gd name="connsiteY2" fmla="*/ 2009251 h 2248695"/>
              <a:gd name="connsiteX3" fmla="*/ 3216731 w 3830929"/>
              <a:gd name="connsiteY3" fmla="*/ 0 h 2248695"/>
              <a:gd name="connsiteX4" fmla="*/ 0 w 3830929"/>
              <a:gd name="connsiteY4" fmla="*/ 353961 h 2248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0929" h="2248695">
                <a:moveTo>
                  <a:pt x="0" y="353961"/>
                </a:moveTo>
                <a:lnTo>
                  <a:pt x="1519880" y="2248695"/>
                </a:lnTo>
                <a:lnTo>
                  <a:pt x="3830929" y="2009251"/>
                </a:lnTo>
                <a:lnTo>
                  <a:pt x="3216731" y="0"/>
                </a:lnTo>
                <a:lnTo>
                  <a:pt x="0" y="353961"/>
                </a:ln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Freeform 46"/>
          <p:cNvSpPr/>
          <p:nvPr/>
        </p:nvSpPr>
        <p:spPr>
          <a:xfrm>
            <a:off x="655838" y="2368227"/>
            <a:ext cx="3393703" cy="2071714"/>
          </a:xfrm>
          <a:custGeom>
            <a:avLst/>
            <a:gdLst>
              <a:gd name="connsiteX0" fmla="*/ 0 w 3393703"/>
              <a:gd name="connsiteY0" fmla="*/ 2071714 h 2071714"/>
              <a:gd name="connsiteX1" fmla="*/ 1634391 w 3393703"/>
              <a:gd name="connsiteY1" fmla="*/ 10410 h 2071714"/>
              <a:gd name="connsiteX2" fmla="*/ 1863414 w 3393703"/>
              <a:gd name="connsiteY2" fmla="*/ 0 h 2071714"/>
              <a:gd name="connsiteX3" fmla="*/ 3393703 w 3393703"/>
              <a:gd name="connsiteY3" fmla="*/ 1686521 h 2071714"/>
              <a:gd name="connsiteX4" fmla="*/ 0 w 3393703"/>
              <a:gd name="connsiteY4" fmla="*/ 2071714 h 2071714"/>
              <a:gd name="connsiteX0" fmla="*/ 0 w 3393703"/>
              <a:gd name="connsiteY0" fmla="*/ 2071714 h 2071714"/>
              <a:gd name="connsiteX1" fmla="*/ 1634391 w 3393703"/>
              <a:gd name="connsiteY1" fmla="*/ 10410 h 2071714"/>
              <a:gd name="connsiteX2" fmla="*/ 1863414 w 3393703"/>
              <a:gd name="connsiteY2" fmla="*/ 0 h 2071714"/>
              <a:gd name="connsiteX3" fmla="*/ 3393703 w 3393703"/>
              <a:gd name="connsiteY3" fmla="*/ 1686521 h 2071714"/>
              <a:gd name="connsiteX4" fmla="*/ 0 w 3393703"/>
              <a:gd name="connsiteY4" fmla="*/ 2071714 h 2071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3703" h="2071714">
                <a:moveTo>
                  <a:pt x="0" y="2071714"/>
                </a:moveTo>
                <a:lnTo>
                  <a:pt x="1634391" y="10410"/>
                </a:lnTo>
                <a:lnTo>
                  <a:pt x="1863414" y="0"/>
                </a:lnTo>
                <a:lnTo>
                  <a:pt x="3393703" y="1686521"/>
                </a:lnTo>
                <a:lnTo>
                  <a:pt x="0" y="2071714"/>
                </a:lnTo>
                <a:close/>
              </a:path>
            </a:pathLst>
          </a:custGeom>
          <a:solidFill>
            <a:srgbClr val="FF000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457200" y="0"/>
            <a:ext cx="8229600" cy="764704"/>
          </a:xfrm>
        </p:spPr>
        <p:txBody>
          <a:bodyPr/>
          <a:lstStyle/>
          <a:p>
            <a:r>
              <a:rPr lang="en-US" dirty="0"/>
              <a:t>Mesh connectivity:  </a:t>
            </a:r>
            <a:r>
              <a:rPr lang="en-US" b="1" dirty="0" err="1"/>
              <a:t>MeshManager</a:t>
            </a:r>
            <a:r>
              <a:rPr lang="en-US" dirty="0"/>
              <a:t>&lt;&gt;</a:t>
            </a:r>
          </a:p>
        </p:txBody>
      </p:sp>
      <p:sp>
        <p:nvSpPr>
          <p:cNvPr id="15" name="Content Placeholder 14"/>
          <p:cNvSpPr>
            <a:spLocks noGrp="1"/>
          </p:cNvSpPr>
          <p:nvPr>
            <p:ph idx="1"/>
          </p:nvPr>
        </p:nvSpPr>
        <p:spPr>
          <a:xfrm>
            <a:off x="457200" y="836712"/>
            <a:ext cx="5943600" cy="4986990"/>
          </a:xfrm>
        </p:spPr>
        <p:txBody>
          <a:bodyPr>
            <a:normAutofit/>
          </a:bodyPr>
          <a:lstStyle/>
          <a:p>
            <a:r>
              <a:rPr lang="en-US" sz="1800" dirty="0"/>
              <a:t>The mesh is stored in a “colony” container from gaming and can be accessed as a tree structure in which the elements act as branches and the Nodes as the leaves.</a:t>
            </a:r>
          </a:p>
        </p:txBody>
      </p:sp>
      <p:sp>
        <p:nvSpPr>
          <p:cNvPr id="3" name="Date Placeholder 2"/>
          <p:cNvSpPr>
            <a:spLocks noGrp="1"/>
          </p:cNvSpPr>
          <p:nvPr>
            <p:ph type="dt" sz="half" idx="10"/>
          </p:nvPr>
        </p:nvSpPr>
        <p:spPr/>
        <p:txBody>
          <a:bodyPr/>
          <a:lstStyle/>
          <a:p>
            <a:fld id="{C1762EE7-3E26-8344-9AFB-A62088F617B5}" type="datetime1">
              <a:rPr lang="en-US" smtClean="0"/>
              <a:pPr/>
              <a:t>5/2/24</a:t>
            </a:fld>
            <a:endParaRPr lang="en-US"/>
          </a:p>
        </p:txBody>
      </p:sp>
      <p:sp>
        <p:nvSpPr>
          <p:cNvPr id="4" name="Footer Placeholder 3"/>
          <p:cNvSpPr>
            <a:spLocks noGrp="1"/>
          </p:cNvSpPr>
          <p:nvPr>
            <p:ph type="ftr" sz="quarter" idx="11"/>
          </p:nvPr>
        </p:nvSpPr>
        <p:spPr/>
        <p:txBody>
          <a:bodyPr/>
          <a:lstStyle/>
          <a:p>
            <a:r>
              <a:rPr lang="en-US" dirty="0"/>
              <a:t>Model, Region, Boundaries</a:t>
            </a:r>
          </a:p>
        </p:txBody>
      </p:sp>
      <p:sp>
        <p:nvSpPr>
          <p:cNvPr id="5" name="Slide Number Placeholder 4"/>
          <p:cNvSpPr>
            <a:spLocks noGrp="1"/>
          </p:cNvSpPr>
          <p:nvPr>
            <p:ph type="sldNum" sz="quarter" idx="12"/>
          </p:nvPr>
        </p:nvSpPr>
        <p:spPr/>
        <p:txBody>
          <a:bodyPr/>
          <a:lstStyle/>
          <a:p>
            <a:fld id="{223FD816-CC6A-BF43-8241-637E3E7EAA5A}" type="slidenum">
              <a:rPr lang="en-US" smtClean="0"/>
              <a:pPr/>
              <a:t>28</a:t>
            </a:fld>
            <a:endParaRPr lang="en-US"/>
          </a:p>
        </p:txBody>
      </p:sp>
      <p:grpSp>
        <p:nvGrpSpPr>
          <p:cNvPr id="79" name="Group 78"/>
          <p:cNvGrpSpPr/>
          <p:nvPr/>
        </p:nvGrpSpPr>
        <p:grpSpPr>
          <a:xfrm>
            <a:off x="457200" y="2194828"/>
            <a:ext cx="6798669" cy="4258508"/>
            <a:chOff x="685800" y="1494592"/>
            <a:chExt cx="6798669" cy="4258508"/>
          </a:xfrm>
        </p:grpSpPr>
        <p:sp>
          <p:nvSpPr>
            <p:cNvPr id="6" name="TextBox 5"/>
            <p:cNvSpPr txBox="1"/>
            <p:nvPr/>
          </p:nvSpPr>
          <p:spPr>
            <a:xfrm>
              <a:off x="2083139" y="1494592"/>
              <a:ext cx="675185"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Node</a:t>
              </a:r>
            </a:p>
          </p:txBody>
        </p:sp>
        <p:sp>
          <p:nvSpPr>
            <p:cNvPr id="7" name="TextBox 6"/>
            <p:cNvSpPr txBox="1"/>
            <p:nvPr/>
          </p:nvSpPr>
          <p:spPr>
            <a:xfrm>
              <a:off x="4684554" y="4178469"/>
              <a:ext cx="937376" cy="338554"/>
            </a:xfrm>
            <a:prstGeom prst="rect">
              <a:avLst/>
            </a:prstGeom>
            <a:noFill/>
            <a:ln>
              <a:solidFill>
                <a:schemeClr val="tx1"/>
              </a:solidFill>
            </a:ln>
          </p:spPr>
          <p:txBody>
            <a:bodyPr wrap="none" rtlCol="0">
              <a:spAutoFit/>
            </a:bodyPr>
            <a:lstStyle/>
            <a:p>
              <a:r>
                <a:rPr lang="en-US" sz="1600" dirty="0">
                  <a:latin typeface="Arial"/>
                  <a:cs typeface="Arial"/>
                </a:rPr>
                <a:t>Element</a:t>
              </a:r>
            </a:p>
          </p:txBody>
        </p:sp>
        <p:sp>
          <p:nvSpPr>
            <p:cNvPr id="8" name="TextBox 7"/>
            <p:cNvSpPr txBox="1"/>
            <p:nvPr/>
          </p:nvSpPr>
          <p:spPr>
            <a:xfrm>
              <a:off x="6809284" y="3839915"/>
              <a:ext cx="675185"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Node</a:t>
              </a:r>
            </a:p>
          </p:txBody>
        </p:sp>
        <p:sp>
          <p:nvSpPr>
            <p:cNvPr id="9" name="TextBox 8"/>
            <p:cNvSpPr txBox="1"/>
            <p:nvPr/>
          </p:nvSpPr>
          <p:spPr>
            <a:xfrm>
              <a:off x="1915615" y="5414546"/>
              <a:ext cx="675185"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Node</a:t>
              </a:r>
            </a:p>
          </p:txBody>
        </p:sp>
        <p:sp>
          <p:nvSpPr>
            <p:cNvPr id="10" name="TextBox 9"/>
            <p:cNvSpPr txBox="1"/>
            <p:nvPr/>
          </p:nvSpPr>
          <p:spPr>
            <a:xfrm>
              <a:off x="5621930" y="1663869"/>
              <a:ext cx="675185"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Node</a:t>
              </a:r>
            </a:p>
          </p:txBody>
        </p:sp>
        <p:sp>
          <p:nvSpPr>
            <p:cNvPr id="11" name="TextBox 10"/>
            <p:cNvSpPr txBox="1"/>
            <p:nvPr/>
          </p:nvSpPr>
          <p:spPr>
            <a:xfrm>
              <a:off x="3846354" y="3247192"/>
              <a:ext cx="675185"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Node</a:t>
              </a:r>
            </a:p>
          </p:txBody>
        </p:sp>
        <p:sp>
          <p:nvSpPr>
            <p:cNvPr id="12" name="TextBox 11"/>
            <p:cNvSpPr txBox="1"/>
            <p:nvPr/>
          </p:nvSpPr>
          <p:spPr>
            <a:xfrm>
              <a:off x="4346961" y="5245269"/>
              <a:ext cx="675185"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Node</a:t>
              </a:r>
            </a:p>
          </p:txBody>
        </p:sp>
        <p:sp>
          <p:nvSpPr>
            <p:cNvPr id="13" name="TextBox 12"/>
            <p:cNvSpPr txBox="1"/>
            <p:nvPr/>
          </p:nvSpPr>
          <p:spPr>
            <a:xfrm>
              <a:off x="5359739" y="2908639"/>
              <a:ext cx="937376"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Element</a:t>
              </a:r>
            </a:p>
          </p:txBody>
        </p:sp>
        <p:sp>
          <p:nvSpPr>
            <p:cNvPr id="14" name="TextBox 13"/>
            <p:cNvSpPr txBox="1"/>
            <p:nvPr/>
          </p:nvSpPr>
          <p:spPr>
            <a:xfrm>
              <a:off x="3715259" y="2070438"/>
              <a:ext cx="937376"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Element</a:t>
              </a:r>
            </a:p>
          </p:txBody>
        </p:sp>
        <p:cxnSp>
          <p:nvCxnSpPr>
            <p:cNvPr id="16" name="Straight Connector 15"/>
            <p:cNvCxnSpPr>
              <a:stCxn id="6" idx="3"/>
              <a:endCxn id="10" idx="1"/>
            </p:cNvCxnSpPr>
            <p:nvPr/>
          </p:nvCxnSpPr>
          <p:spPr>
            <a:xfrm>
              <a:off x="2758324" y="1663869"/>
              <a:ext cx="2863606" cy="1692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6" idx="3"/>
              <a:endCxn id="11" idx="0"/>
            </p:cNvCxnSpPr>
            <p:nvPr/>
          </p:nvCxnSpPr>
          <p:spPr>
            <a:xfrm>
              <a:off x="2758324" y="1663869"/>
              <a:ext cx="1425623" cy="1583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1" idx="0"/>
              <a:endCxn id="10" idx="2"/>
            </p:cNvCxnSpPr>
            <p:nvPr/>
          </p:nvCxnSpPr>
          <p:spPr>
            <a:xfrm rot="5400000" flipH="1" flipV="1">
              <a:off x="4449351" y="1737020"/>
              <a:ext cx="1244769" cy="1775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0" idx="2"/>
              <a:endCxn id="8" idx="0"/>
            </p:cNvCxnSpPr>
            <p:nvPr/>
          </p:nvCxnSpPr>
          <p:spPr>
            <a:xfrm rot="16200000" flipH="1">
              <a:off x="5634454" y="2327492"/>
              <a:ext cx="1837492" cy="11873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1" idx="3"/>
              <a:endCxn id="8" idx="1"/>
            </p:cNvCxnSpPr>
            <p:nvPr/>
          </p:nvCxnSpPr>
          <p:spPr>
            <a:xfrm>
              <a:off x="4521539" y="3416469"/>
              <a:ext cx="2287745" cy="592723"/>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122112" y="2739362"/>
              <a:ext cx="937376"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Element</a:t>
              </a:r>
            </a:p>
          </p:txBody>
        </p:sp>
        <p:sp>
          <p:nvSpPr>
            <p:cNvPr id="33" name="TextBox 32"/>
            <p:cNvSpPr txBox="1"/>
            <p:nvPr/>
          </p:nvSpPr>
          <p:spPr>
            <a:xfrm>
              <a:off x="685800" y="3501361"/>
              <a:ext cx="675185"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Node</a:t>
              </a:r>
            </a:p>
          </p:txBody>
        </p:sp>
        <p:cxnSp>
          <p:nvCxnSpPr>
            <p:cNvPr id="35" name="Straight Connector 34"/>
            <p:cNvCxnSpPr>
              <a:stCxn id="11" idx="2"/>
              <a:endCxn id="12" idx="0"/>
            </p:cNvCxnSpPr>
            <p:nvPr/>
          </p:nvCxnSpPr>
          <p:spPr>
            <a:xfrm rot="16200000" flipH="1">
              <a:off x="3604489" y="4165203"/>
              <a:ext cx="1659523" cy="500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2" idx="0"/>
              <a:endCxn id="8" idx="2"/>
            </p:cNvCxnSpPr>
            <p:nvPr/>
          </p:nvCxnSpPr>
          <p:spPr>
            <a:xfrm rot="5400000" flipH="1" flipV="1">
              <a:off x="5382315" y="3480708"/>
              <a:ext cx="1066800" cy="2462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6" idx="2"/>
              <a:endCxn id="33" idx="0"/>
            </p:cNvCxnSpPr>
            <p:nvPr/>
          </p:nvCxnSpPr>
          <p:spPr>
            <a:xfrm rot="5400000">
              <a:off x="887956" y="1968584"/>
              <a:ext cx="1668215" cy="1397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3" idx="3"/>
              <a:endCxn id="11" idx="1"/>
            </p:cNvCxnSpPr>
            <p:nvPr/>
          </p:nvCxnSpPr>
          <p:spPr>
            <a:xfrm flipV="1">
              <a:off x="1360985" y="3416469"/>
              <a:ext cx="2485369" cy="25416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3" idx="2"/>
              <a:endCxn id="9" idx="0"/>
            </p:cNvCxnSpPr>
            <p:nvPr/>
          </p:nvCxnSpPr>
          <p:spPr>
            <a:xfrm rot="16200000" flipH="1">
              <a:off x="850985" y="4012322"/>
              <a:ext cx="1574631" cy="1229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9" idx="3"/>
              <a:endCxn id="12" idx="1"/>
            </p:cNvCxnSpPr>
            <p:nvPr/>
          </p:nvCxnSpPr>
          <p:spPr>
            <a:xfrm flipV="1">
              <a:off x="2590800" y="5414546"/>
              <a:ext cx="1756161" cy="169277"/>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2551827" y="4347746"/>
              <a:ext cx="937376" cy="338554"/>
            </a:xfrm>
            <a:prstGeom prst="rect">
              <a:avLst/>
            </a:prstGeom>
            <a:solidFill>
              <a:schemeClr val="bg1"/>
            </a:solidFill>
            <a:ln>
              <a:solidFill>
                <a:schemeClr val="tx1"/>
              </a:solidFill>
            </a:ln>
          </p:spPr>
          <p:txBody>
            <a:bodyPr wrap="none" rtlCol="0">
              <a:spAutoFit/>
            </a:bodyPr>
            <a:lstStyle/>
            <a:p>
              <a:r>
                <a:rPr lang="en-US" sz="1600" dirty="0">
                  <a:latin typeface="Arial"/>
                  <a:cs typeface="Arial"/>
                </a:rPr>
                <a:t>Element</a:t>
              </a:r>
            </a:p>
          </p:txBody>
        </p:sp>
        <p:cxnSp>
          <p:nvCxnSpPr>
            <p:cNvPr id="49" name="Straight Arrow Connector 48"/>
            <p:cNvCxnSpPr>
              <a:stCxn id="32" idx="0"/>
              <a:endCxn id="6" idx="2"/>
            </p:cNvCxnSpPr>
            <p:nvPr/>
          </p:nvCxnSpPr>
          <p:spPr>
            <a:xfrm rot="16200000" flipV="1">
              <a:off x="2052658" y="2201220"/>
              <a:ext cx="906216" cy="17006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1" name="Straight Arrow Connector 50"/>
            <p:cNvCxnSpPr>
              <a:stCxn id="32" idx="1"/>
              <a:endCxn id="33" idx="0"/>
            </p:cNvCxnSpPr>
            <p:nvPr/>
          </p:nvCxnSpPr>
          <p:spPr>
            <a:xfrm rot="10800000" flipV="1">
              <a:off x="1023394" y="2908639"/>
              <a:ext cx="1098719" cy="592722"/>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3" name="Straight Arrow Connector 52"/>
            <p:cNvCxnSpPr>
              <a:stCxn id="32" idx="3"/>
              <a:endCxn id="11" idx="1"/>
            </p:cNvCxnSpPr>
            <p:nvPr/>
          </p:nvCxnSpPr>
          <p:spPr>
            <a:xfrm>
              <a:off x="3059488" y="2908639"/>
              <a:ext cx="786866" cy="50783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5" name="Straight Arrow Connector 54"/>
            <p:cNvCxnSpPr>
              <a:stCxn id="46" idx="0"/>
              <a:endCxn id="11" idx="2"/>
            </p:cNvCxnSpPr>
            <p:nvPr/>
          </p:nvCxnSpPr>
          <p:spPr>
            <a:xfrm rot="5400000" flipH="1" flipV="1">
              <a:off x="3221231" y="3385030"/>
              <a:ext cx="762000" cy="1163432"/>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7" name="Straight Arrow Connector 56"/>
            <p:cNvCxnSpPr>
              <a:stCxn id="46" idx="0"/>
              <a:endCxn id="33" idx="3"/>
            </p:cNvCxnSpPr>
            <p:nvPr/>
          </p:nvCxnSpPr>
          <p:spPr>
            <a:xfrm rot="16200000" flipV="1">
              <a:off x="1852196" y="3179427"/>
              <a:ext cx="677108" cy="165953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59" name="Straight Arrow Connector 58"/>
            <p:cNvCxnSpPr>
              <a:stCxn id="46" idx="2"/>
              <a:endCxn id="9" idx="0"/>
            </p:cNvCxnSpPr>
            <p:nvPr/>
          </p:nvCxnSpPr>
          <p:spPr>
            <a:xfrm rot="5400000">
              <a:off x="2272739" y="4666770"/>
              <a:ext cx="728246" cy="767307"/>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61" name="Straight Arrow Connector 60"/>
            <p:cNvCxnSpPr>
              <a:stCxn id="46" idx="2"/>
              <a:endCxn id="12" idx="0"/>
            </p:cNvCxnSpPr>
            <p:nvPr/>
          </p:nvCxnSpPr>
          <p:spPr>
            <a:xfrm rot="16200000" flipH="1">
              <a:off x="3573050" y="4133764"/>
              <a:ext cx="558969" cy="1664039"/>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63" name="Straight Arrow Connector 62"/>
            <p:cNvCxnSpPr>
              <a:stCxn id="13" idx="0"/>
              <a:endCxn id="14" idx="3"/>
            </p:cNvCxnSpPr>
            <p:nvPr/>
          </p:nvCxnSpPr>
          <p:spPr>
            <a:xfrm rot="16200000" flipV="1">
              <a:off x="4906069" y="1986281"/>
              <a:ext cx="668924" cy="1175792"/>
            </a:xfrm>
            <a:prstGeom prst="straightConnector1">
              <a:avLst/>
            </a:prstGeom>
            <a:ln>
              <a:headEnd type="triangle"/>
              <a:tailEnd type="stealth"/>
            </a:ln>
          </p:spPr>
          <p:style>
            <a:lnRef idx="3">
              <a:schemeClr val="accent2"/>
            </a:lnRef>
            <a:fillRef idx="0">
              <a:schemeClr val="accent2"/>
            </a:fillRef>
            <a:effectRef idx="2">
              <a:schemeClr val="accent2"/>
            </a:effectRef>
            <a:fontRef idx="minor">
              <a:schemeClr val="tx1"/>
            </a:fontRef>
          </p:style>
        </p:cxnSp>
        <p:cxnSp>
          <p:nvCxnSpPr>
            <p:cNvPr id="65" name="Straight Arrow Connector 64"/>
            <p:cNvCxnSpPr>
              <a:stCxn id="13" idx="2"/>
              <a:endCxn id="7" idx="0"/>
            </p:cNvCxnSpPr>
            <p:nvPr/>
          </p:nvCxnSpPr>
          <p:spPr>
            <a:xfrm rot="5400000">
              <a:off x="5025197" y="3375239"/>
              <a:ext cx="931276" cy="675185"/>
            </a:xfrm>
            <a:prstGeom prst="straightConnector1">
              <a:avLst/>
            </a:prstGeom>
            <a:ln>
              <a:headEnd type="triangle"/>
              <a:tailEnd type="stealth"/>
            </a:ln>
          </p:spPr>
          <p:style>
            <a:lnRef idx="3">
              <a:schemeClr val="accent2"/>
            </a:lnRef>
            <a:fillRef idx="0">
              <a:schemeClr val="accent2"/>
            </a:fillRef>
            <a:effectRef idx="2">
              <a:schemeClr val="accent2"/>
            </a:effectRef>
            <a:fontRef idx="minor">
              <a:schemeClr val="tx1"/>
            </a:fontRef>
          </p:style>
        </p:cxnSp>
        <p:cxnSp>
          <p:nvCxnSpPr>
            <p:cNvPr id="67" name="Straight Arrow Connector 66"/>
            <p:cNvCxnSpPr>
              <a:stCxn id="13" idx="3"/>
            </p:cNvCxnSpPr>
            <p:nvPr/>
          </p:nvCxnSpPr>
          <p:spPr>
            <a:xfrm flipV="1">
              <a:off x="6297115" y="2408992"/>
              <a:ext cx="1187354" cy="668924"/>
            </a:xfrm>
            <a:prstGeom prst="straightConnector1">
              <a:avLst/>
            </a:prstGeom>
            <a:ln>
              <a:headEnd type="triangle"/>
              <a:tailEnd type="stealth"/>
            </a:ln>
          </p:spPr>
          <p:style>
            <a:lnRef idx="3">
              <a:schemeClr val="accent2"/>
            </a:lnRef>
            <a:fillRef idx="0">
              <a:schemeClr val="accent2"/>
            </a:fillRef>
            <a:effectRef idx="2">
              <a:schemeClr val="accent2"/>
            </a:effectRef>
            <a:fontRef idx="minor">
              <a:schemeClr val="tx1"/>
            </a:fontRef>
          </p:style>
        </p:cxnSp>
        <p:cxnSp>
          <p:nvCxnSpPr>
            <p:cNvPr id="69" name="Straight Arrow Connector 68"/>
            <p:cNvCxnSpPr>
              <a:stCxn id="11" idx="0"/>
              <a:endCxn id="14" idx="2"/>
            </p:cNvCxnSpPr>
            <p:nvPr/>
          </p:nvCxnSpPr>
          <p:spPr>
            <a:xfrm rot="5400000" flipH="1" flipV="1">
              <a:off x="3764847" y="2828092"/>
              <a:ext cx="838200"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71" name="Straight Arrow Connector 70"/>
            <p:cNvCxnSpPr>
              <a:stCxn id="11" idx="3"/>
              <a:endCxn id="13" idx="1"/>
            </p:cNvCxnSpPr>
            <p:nvPr/>
          </p:nvCxnSpPr>
          <p:spPr>
            <a:xfrm flipV="1">
              <a:off x="4521539" y="3077916"/>
              <a:ext cx="838200" cy="33855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73" name="Straight Arrow Connector 72"/>
            <p:cNvCxnSpPr>
              <a:stCxn id="11" idx="3"/>
              <a:endCxn id="7" idx="0"/>
            </p:cNvCxnSpPr>
            <p:nvPr/>
          </p:nvCxnSpPr>
          <p:spPr>
            <a:xfrm>
              <a:off x="4521539" y="3416469"/>
              <a:ext cx="631703" cy="76200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75" name="Straight Arrow Connector 74"/>
            <p:cNvCxnSpPr>
              <a:stCxn id="11" idx="2"/>
              <a:endCxn id="46" idx="3"/>
            </p:cNvCxnSpPr>
            <p:nvPr/>
          </p:nvCxnSpPr>
          <p:spPr>
            <a:xfrm rot="5400000">
              <a:off x="3370937" y="3704012"/>
              <a:ext cx="931277" cy="69474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77" name="Straight Arrow Connector 76"/>
            <p:cNvCxnSpPr>
              <a:stCxn id="11" idx="1"/>
              <a:endCxn id="32" idx="2"/>
            </p:cNvCxnSpPr>
            <p:nvPr/>
          </p:nvCxnSpPr>
          <p:spPr>
            <a:xfrm rot="10800000">
              <a:off x="2590800" y="3077917"/>
              <a:ext cx="1255554" cy="33855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78" name="TextBox 77"/>
          <p:cNvSpPr txBox="1"/>
          <p:nvPr/>
        </p:nvSpPr>
        <p:spPr>
          <a:xfrm>
            <a:off x="6581138" y="677595"/>
            <a:ext cx="2146742" cy="1477328"/>
          </a:xfrm>
          <a:prstGeom prst="rect">
            <a:avLst/>
          </a:prstGeom>
          <a:noFill/>
        </p:spPr>
        <p:txBody>
          <a:bodyPr wrap="none" rtlCol="0">
            <a:spAutoFit/>
          </a:bodyPr>
          <a:lstStyle/>
          <a:p>
            <a:pPr algn="ctr"/>
            <a:r>
              <a:rPr lang="en-US" i="1" dirty="0">
                <a:latin typeface="Arial"/>
                <a:cs typeface="Arial"/>
              </a:rPr>
              <a:t>pointers:</a:t>
            </a:r>
          </a:p>
          <a:p>
            <a:pPr algn="ctr"/>
            <a:r>
              <a:rPr lang="en-US" dirty="0">
                <a:latin typeface="Arial"/>
                <a:cs typeface="Arial"/>
              </a:rPr>
              <a:t>element to element</a:t>
            </a:r>
          </a:p>
          <a:p>
            <a:pPr algn="ctr"/>
            <a:r>
              <a:rPr lang="en-US" dirty="0">
                <a:latin typeface="Arial"/>
                <a:cs typeface="Arial"/>
              </a:rPr>
              <a:t>element to node</a:t>
            </a:r>
          </a:p>
          <a:p>
            <a:pPr algn="ctr"/>
            <a:r>
              <a:rPr lang="en-US" dirty="0">
                <a:latin typeface="Arial"/>
                <a:cs typeface="Arial"/>
              </a:rPr>
              <a:t>node to element</a:t>
            </a:r>
          </a:p>
          <a:p>
            <a:pPr algn="ctr"/>
            <a:r>
              <a:rPr lang="en-US" dirty="0">
                <a:latin typeface="Arial"/>
                <a:cs typeface="Arial"/>
              </a:rPr>
              <a:t>node to node</a:t>
            </a:r>
          </a:p>
        </p:txBody>
      </p:sp>
    </p:spTree>
    <p:extLst>
      <p:ext uri="{BB962C8B-B14F-4D97-AF65-F5344CB8AC3E}">
        <p14:creationId xmlns:p14="http://schemas.microsoft.com/office/powerpoint/2010/main" val="2976047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p:spPr>
        <p:txBody>
          <a:bodyPr/>
          <a:lstStyle/>
          <a:p>
            <a:fld id="{8915830B-B999-DD40-9D69-23AB8367375E}" type="slidenum">
              <a:rPr lang="en-US" smtClean="0"/>
              <a:pPr/>
              <a:t>29</a:t>
            </a:fld>
            <a:endParaRPr lang="en-US"/>
          </a:p>
        </p:txBody>
      </p:sp>
      <p:sp>
        <p:nvSpPr>
          <p:cNvPr id="27651" name="Rectangle 2"/>
          <p:cNvSpPr>
            <a:spLocks noGrp="1" noChangeArrowheads="1"/>
          </p:cNvSpPr>
          <p:nvPr>
            <p:ph type="title"/>
          </p:nvPr>
        </p:nvSpPr>
        <p:spPr>
          <a:xfrm>
            <a:off x="582315" y="44624"/>
            <a:ext cx="7158037" cy="739874"/>
          </a:xfrm>
        </p:spPr>
        <p:txBody>
          <a:bodyPr/>
          <a:lstStyle/>
          <a:p>
            <a:pPr eaLnBrk="1" hangingPunct="1"/>
            <a:r>
              <a:rPr lang="en-US" dirty="0"/>
              <a:t>Multi-directional connectivity</a:t>
            </a:r>
          </a:p>
        </p:txBody>
      </p:sp>
      <p:sp>
        <p:nvSpPr>
          <p:cNvPr id="27652" name="Rectangle 3"/>
          <p:cNvSpPr>
            <a:spLocks noGrp="1" noChangeArrowheads="1"/>
          </p:cNvSpPr>
          <p:nvPr>
            <p:ph type="body" idx="1"/>
          </p:nvPr>
        </p:nvSpPr>
        <p:spPr>
          <a:xfrm>
            <a:off x="395536" y="908720"/>
            <a:ext cx="8208912" cy="5708426"/>
          </a:xfrm>
        </p:spPr>
        <p:txBody>
          <a:bodyPr>
            <a:normAutofit fontScale="92500" lnSpcReduction="20000"/>
          </a:bodyPr>
          <a:lstStyle/>
          <a:p>
            <a:pPr>
              <a:lnSpc>
                <a:spcPct val="90000"/>
              </a:lnSpc>
              <a:spcAft>
                <a:spcPts val="1200"/>
              </a:spcAft>
            </a:pPr>
            <a:r>
              <a:rPr lang="en-US" dirty="0"/>
              <a:t>The mesh also is a graph that can be traversed in different ways, </a:t>
            </a:r>
          </a:p>
          <a:p>
            <a:pPr>
              <a:lnSpc>
                <a:spcPct val="90000"/>
              </a:lnSpc>
              <a:spcAft>
                <a:spcPts val="1200"/>
              </a:spcAft>
            </a:pPr>
            <a:r>
              <a:rPr lang="en-US" dirty="0"/>
              <a:t>Connectivity exists on different levels of the object hierarchy defined by the tree and across levels:</a:t>
            </a:r>
          </a:p>
          <a:p>
            <a:pPr lvl="1">
              <a:lnSpc>
                <a:spcPct val="90000"/>
              </a:lnSpc>
              <a:spcAft>
                <a:spcPts val="1200"/>
              </a:spcAft>
            </a:pPr>
            <a:r>
              <a:rPr lang="en-US" dirty="0"/>
              <a:t>Elements connect to nodes, integration points therein (finite element and finite volume ones), and their neighbors</a:t>
            </a:r>
          </a:p>
          <a:p>
            <a:pPr lvl="1">
              <a:lnSpc>
                <a:spcPct val="90000"/>
              </a:lnSpc>
              <a:spcAft>
                <a:spcPts val="1200"/>
              </a:spcAft>
            </a:pPr>
            <a:r>
              <a:rPr lang="en-US" dirty="0"/>
              <a:t>Nodes know their parent elements and node index therein (i.e., node 0..n-1)</a:t>
            </a:r>
          </a:p>
          <a:p>
            <a:pPr lvl="1">
              <a:lnSpc>
                <a:spcPct val="90000"/>
              </a:lnSpc>
              <a:spcAft>
                <a:spcPts val="1200"/>
              </a:spcAft>
            </a:pPr>
            <a:r>
              <a:rPr lang="en-US" dirty="0"/>
              <a:t>Nodes can access their neighbors via Node&lt;&gt;::Neighbor() interface</a:t>
            </a:r>
          </a:p>
          <a:p>
            <a:pPr>
              <a:lnSpc>
                <a:spcPct val="90000"/>
              </a:lnSpc>
              <a:spcAft>
                <a:spcPts val="1200"/>
              </a:spcAft>
            </a:pPr>
            <a:r>
              <a:rPr lang="en-US" dirty="0"/>
              <a:t>Beyond the mesh tree, the model also offers other forms of access:</a:t>
            </a:r>
          </a:p>
          <a:p>
            <a:pPr lvl="1">
              <a:lnSpc>
                <a:spcPct val="90000"/>
              </a:lnSpc>
              <a:spcAft>
                <a:spcPts val="1200"/>
              </a:spcAft>
            </a:pPr>
            <a:r>
              <a:rPr lang="en-US" dirty="0"/>
              <a:t>Region-, Boundary- and </a:t>
            </a:r>
            <a:r>
              <a:rPr lang="en-US" dirty="0" err="1"/>
              <a:t>SplitBoundary</a:t>
            </a:r>
            <a:r>
              <a:rPr lang="en-US" dirty="0"/>
              <a:t> give access to their perimeter elements and nodes</a:t>
            </a:r>
          </a:p>
          <a:p>
            <a:pPr lvl="1">
              <a:lnSpc>
                <a:spcPct val="90000"/>
              </a:lnSpc>
              <a:spcAft>
                <a:spcPts val="1200"/>
              </a:spcAft>
            </a:pPr>
            <a:r>
              <a:rPr lang="en-US" dirty="0"/>
              <a:t>Boundary </a:t>
            </a:r>
            <a:r>
              <a:rPr lang="en-US" b="1" dirty="0"/>
              <a:t>Face</a:t>
            </a:r>
            <a:r>
              <a:rPr lang="en-US" dirty="0"/>
              <a:t>s and </a:t>
            </a:r>
            <a:r>
              <a:rPr lang="en-US" dirty="0" err="1"/>
              <a:t>SplitBoundary</a:t>
            </a:r>
            <a:r>
              <a:rPr lang="en-US" dirty="0"/>
              <a:t> </a:t>
            </a:r>
            <a:r>
              <a:rPr lang="en-US" b="1" dirty="0" err="1"/>
              <a:t>InterFace</a:t>
            </a:r>
            <a:r>
              <a:rPr lang="en-US" dirty="0" err="1"/>
              <a:t>s</a:t>
            </a:r>
            <a:r>
              <a:rPr lang="en-US" dirty="0"/>
              <a:t> provide access to adjacent Regions</a:t>
            </a:r>
          </a:p>
          <a:p>
            <a:pPr marL="0" indent="0">
              <a:lnSpc>
                <a:spcPct val="90000"/>
              </a:lnSpc>
              <a:spcAft>
                <a:spcPts val="1200"/>
              </a:spcAft>
              <a:buNone/>
            </a:pPr>
            <a:r>
              <a:rPr lang="en-US" dirty="0"/>
              <a:t>Note: Every member of this hierarchy has its own property storage implemented via </a:t>
            </a:r>
            <a:r>
              <a:rPr lang="en-US" dirty="0" err="1"/>
              <a:t>LocalVariableStorage</a:t>
            </a:r>
            <a:r>
              <a:rPr lang="en-US" dirty="0"/>
              <a:t> policies</a:t>
            </a:r>
          </a:p>
          <a:p>
            <a:pPr marL="0" indent="0">
              <a:lnSpc>
                <a:spcPct val="90000"/>
              </a:lnSpc>
              <a:spcAft>
                <a:spcPts val="1200"/>
              </a:spcAft>
              <a:buNone/>
            </a:pPr>
            <a:r>
              <a:rPr lang="en-US" dirty="0"/>
              <a:t>Tree structure can be locally modified without invalidating / chopping holes into underlying arrays. This lends support to local mesh adaptation / refinement at runtime.</a:t>
            </a:r>
          </a:p>
        </p:txBody>
      </p:sp>
      <p:sp>
        <p:nvSpPr>
          <p:cNvPr id="5" name="Date Placeholder 4"/>
          <p:cNvSpPr>
            <a:spLocks noGrp="1"/>
          </p:cNvSpPr>
          <p:nvPr>
            <p:ph type="dt" sz="half" idx="10"/>
          </p:nvPr>
        </p:nvSpPr>
        <p:spPr/>
        <p:txBody>
          <a:bodyPr/>
          <a:lstStyle/>
          <a:p>
            <a:fld id="{EA472E07-1DB0-1C4F-83ED-6FEFDA74A3F4}" type="datetime1">
              <a:rPr lang="en-US" smtClean="0"/>
              <a:pPr/>
              <a:t>5/2/24</a:t>
            </a:fld>
            <a:endParaRPr lang="en-US"/>
          </a:p>
        </p:txBody>
      </p:sp>
      <p:sp>
        <p:nvSpPr>
          <p:cNvPr id="6" name="Footer Placeholder 5"/>
          <p:cNvSpPr>
            <a:spLocks noGrp="1"/>
          </p:cNvSpPr>
          <p:nvPr>
            <p:ph type="ftr" sz="quarter" idx="11"/>
          </p:nvPr>
        </p:nvSpPr>
        <p:spPr/>
        <p:txBody>
          <a:bodyPr/>
          <a:lstStyle/>
          <a:p>
            <a:endParaRPr lang="en-US" dirty="0"/>
          </a:p>
          <a:p>
            <a:r>
              <a:rPr lang="en-US" dirty="0"/>
              <a:t>Model, Region, Boundaries</a:t>
            </a:r>
          </a:p>
          <a:p>
            <a:endParaRPr lang="en-US" dirty="0"/>
          </a:p>
        </p:txBody>
      </p:sp>
    </p:spTree>
    <p:extLst>
      <p:ext uri="{BB962C8B-B14F-4D97-AF65-F5344CB8AC3E}">
        <p14:creationId xmlns:p14="http://schemas.microsoft.com/office/powerpoint/2010/main" val="420229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65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65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65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65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65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65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65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65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p:txBody>
          <a:bodyPr/>
          <a:lstStyle/>
          <a:p>
            <a:r>
              <a:rPr lang="en-US" dirty="0"/>
              <a:t>Regions</a:t>
            </a:r>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30</a:t>
            </a:fld>
            <a:endParaRPr lang="en-US"/>
          </a:p>
        </p:txBody>
      </p:sp>
    </p:spTree>
    <p:extLst>
      <p:ext uri="{BB962C8B-B14F-4D97-AF65-F5344CB8AC3E}">
        <p14:creationId xmlns:p14="http://schemas.microsoft.com/office/powerpoint/2010/main" val="689025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p>
            <a:fld id="{57DA301E-4428-0E4D-BACC-3BDEE1039603}" type="slidenum">
              <a:rPr lang="en-US" smtClean="0"/>
              <a:pPr/>
              <a:t>31</a:t>
            </a:fld>
            <a:endParaRPr lang="en-US"/>
          </a:p>
        </p:txBody>
      </p:sp>
      <p:sp>
        <p:nvSpPr>
          <p:cNvPr id="23555" name="Rectangle 2"/>
          <p:cNvSpPr>
            <a:spLocks noGrp="1" noChangeArrowheads="1"/>
          </p:cNvSpPr>
          <p:nvPr>
            <p:ph type="title"/>
          </p:nvPr>
        </p:nvSpPr>
        <p:spPr>
          <a:xfrm>
            <a:off x="179512" y="138336"/>
            <a:ext cx="8784976" cy="914400"/>
          </a:xfrm>
        </p:spPr>
        <p:txBody>
          <a:bodyPr>
            <a:normAutofit fontScale="90000"/>
          </a:bodyPr>
          <a:lstStyle/>
          <a:p>
            <a:pPr eaLnBrk="1" hangingPunct="1"/>
            <a:r>
              <a:rPr lang="en-US" dirty="0"/>
              <a:t>Geologically motivated data model: 						Model, Regions, Boundaries and </a:t>
            </a:r>
            <a:r>
              <a:rPr lang="en-US" dirty="0" err="1"/>
              <a:t>SplitBoundaries</a:t>
            </a:r>
            <a:endParaRPr lang="en-US" dirty="0"/>
          </a:p>
        </p:txBody>
      </p:sp>
      <p:sp>
        <p:nvSpPr>
          <p:cNvPr id="23556" name="Rectangle 3"/>
          <p:cNvSpPr>
            <a:spLocks noGrp="1" noChangeArrowheads="1"/>
          </p:cNvSpPr>
          <p:nvPr>
            <p:ph type="body" idx="1"/>
          </p:nvPr>
        </p:nvSpPr>
        <p:spPr>
          <a:xfrm>
            <a:off x="457200" y="1114325"/>
            <a:ext cx="8229600" cy="4906963"/>
          </a:xfrm>
        </p:spPr>
        <p:txBody>
          <a:bodyPr>
            <a:normAutofit/>
          </a:bodyPr>
          <a:lstStyle/>
          <a:p>
            <a:pPr eaLnBrk="1" hangingPunct="1"/>
            <a:r>
              <a:rPr lang="en-US" dirty="0"/>
              <a:t>The </a:t>
            </a:r>
            <a:r>
              <a:rPr lang="en-US" b="1" dirty="0"/>
              <a:t>Model </a:t>
            </a:r>
            <a:r>
              <a:rPr lang="en-US" dirty="0"/>
              <a:t>represents the computational domain and is composed of </a:t>
            </a:r>
            <a:r>
              <a:rPr lang="en-US" i="1" dirty="0"/>
              <a:t>contiguous</a:t>
            </a:r>
            <a:r>
              <a:rPr lang="en-US" dirty="0"/>
              <a:t> and </a:t>
            </a:r>
            <a:r>
              <a:rPr lang="en-US" i="1" dirty="0" err="1"/>
              <a:t>discontiguous</a:t>
            </a:r>
            <a:r>
              <a:rPr lang="en-US" i="1" dirty="0"/>
              <a:t> </a:t>
            </a:r>
            <a:r>
              <a:rPr lang="en-US" dirty="0"/>
              <a:t>subdomains called </a:t>
            </a:r>
            <a:r>
              <a:rPr lang="en-US" b="1" dirty="0"/>
              <a:t>Regions</a:t>
            </a:r>
          </a:p>
          <a:p>
            <a:pPr eaLnBrk="1" hangingPunct="1"/>
            <a:r>
              <a:rPr lang="en-US" b="1" dirty="0" err="1"/>
              <a:t>Boundary</a:t>
            </a:r>
            <a:r>
              <a:rPr lang="en-US" dirty="0" err="1"/>
              <a:t>s</a:t>
            </a:r>
            <a:r>
              <a:rPr lang="en-US" b="1" dirty="0"/>
              <a:t> </a:t>
            </a:r>
            <a:r>
              <a:rPr lang="en-US" dirty="0"/>
              <a:t>can be inserted externally and internally</a:t>
            </a:r>
          </a:p>
          <a:p>
            <a:r>
              <a:rPr lang="en-US" b="1" dirty="0" err="1"/>
              <a:t>SplitBoundary</a:t>
            </a:r>
            <a:r>
              <a:rPr lang="en-US" dirty="0" err="1"/>
              <a:t>s</a:t>
            </a:r>
            <a:r>
              <a:rPr lang="en-US" b="1" dirty="0"/>
              <a:t> </a:t>
            </a:r>
            <a:r>
              <a:rPr lang="en-US" dirty="0"/>
              <a:t>can only be inserted internally</a:t>
            </a:r>
          </a:p>
          <a:p>
            <a:pPr eaLnBrk="1" hangingPunct="1"/>
            <a:r>
              <a:rPr lang="en-US" dirty="0"/>
              <a:t>The smallest building block of any model is the </a:t>
            </a:r>
            <a:r>
              <a:rPr lang="en-US" b="1" dirty="0"/>
              <a:t>Element</a:t>
            </a:r>
            <a:endParaRPr lang="en-US" dirty="0"/>
          </a:p>
        </p:txBody>
      </p:sp>
      <p:pic>
        <p:nvPicPr>
          <p:cNvPr id="23557" name="Picture 4" descr="Picture1"/>
          <p:cNvPicPr>
            <a:picLocks noChangeAspect="1" noChangeArrowheads="1"/>
          </p:cNvPicPr>
          <p:nvPr/>
        </p:nvPicPr>
        <p:blipFill>
          <a:blip r:embed="rId3"/>
          <a:srcRect b="43333"/>
          <a:stretch>
            <a:fillRect/>
          </a:stretch>
        </p:blipFill>
        <p:spPr bwMode="auto">
          <a:xfrm>
            <a:off x="1600200" y="3463290"/>
            <a:ext cx="6553200" cy="2785110"/>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0005C800-6FE3-E34E-A71E-D5D64123CB00}" type="datetime1">
              <a:rPr lang="en-US" smtClean="0"/>
              <a:pPr/>
              <a:t>5/2/24</a:t>
            </a:fld>
            <a:endParaRPr lang="en-US"/>
          </a:p>
        </p:txBody>
      </p:sp>
      <p:sp>
        <p:nvSpPr>
          <p:cNvPr id="7" name="Footer Placeholder 6"/>
          <p:cNvSpPr>
            <a:spLocks noGrp="1"/>
          </p:cNvSpPr>
          <p:nvPr>
            <p:ph type="ftr" sz="quarter" idx="11"/>
          </p:nvPr>
        </p:nvSpPr>
        <p:spPr/>
        <p:txBody>
          <a:bodyPr/>
          <a:lstStyle/>
          <a:p>
            <a:r>
              <a:rPr lang="en-US" dirty="0"/>
              <a:t>Model, Region, Boundaries</a:t>
            </a:r>
          </a:p>
        </p:txBody>
      </p:sp>
      <p:sp>
        <p:nvSpPr>
          <p:cNvPr id="8" name="Oval 7"/>
          <p:cNvSpPr/>
          <p:nvPr/>
        </p:nvSpPr>
        <p:spPr>
          <a:xfrm>
            <a:off x="3657600" y="4572000"/>
            <a:ext cx="838200" cy="1219200"/>
          </a:xfrm>
          <a:prstGeom prst="ellipse">
            <a:avLst/>
          </a:prstGeom>
          <a:gradFill flip="none" rotWithShape="1">
            <a:gsLst>
              <a:gs pos="0">
                <a:schemeClr val="accent1">
                  <a:tint val="100000"/>
                  <a:shade val="100000"/>
                  <a:satMod val="130000"/>
                  <a:alpha val="32000"/>
                </a:schemeClr>
              </a:gs>
              <a:gs pos="100000">
                <a:schemeClr val="accent1">
                  <a:tint val="50000"/>
                  <a:shade val="100000"/>
                  <a:satMod val="350000"/>
                  <a:alpha val="32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2413900" y="5606534"/>
            <a:ext cx="3605900" cy="369332"/>
          </a:xfrm>
          <a:prstGeom prst="rect">
            <a:avLst/>
          </a:prstGeom>
          <a:noFill/>
        </p:spPr>
        <p:txBody>
          <a:bodyPr wrap="none" rtlCol="0">
            <a:spAutoFit/>
          </a:bodyPr>
          <a:lstStyle/>
          <a:p>
            <a:r>
              <a:rPr lang="en-US" dirty="0">
                <a:solidFill>
                  <a:srgbClr val="000090"/>
                </a:solidFill>
              </a:rPr>
              <a:t>Non-unique Region “Alteration halo”</a:t>
            </a:r>
          </a:p>
        </p:txBody>
      </p:sp>
      <p:sp>
        <p:nvSpPr>
          <p:cNvPr id="10" name="TextBox 9"/>
          <p:cNvSpPr txBox="1"/>
          <p:nvPr/>
        </p:nvSpPr>
        <p:spPr>
          <a:xfrm>
            <a:off x="1558337" y="4005064"/>
            <a:ext cx="997439" cy="400110"/>
          </a:xfrm>
          <a:prstGeom prst="rect">
            <a:avLst/>
          </a:prstGeom>
          <a:solidFill>
            <a:schemeClr val="bg1"/>
          </a:solidFill>
          <a:ln>
            <a:noFill/>
          </a:ln>
        </p:spPr>
        <p:txBody>
          <a:bodyPr wrap="none" rtlCol="0">
            <a:spAutoFit/>
          </a:bodyPr>
          <a:lstStyle/>
          <a:p>
            <a:r>
              <a:rPr lang="en-US" sz="2000" dirty="0">
                <a:latin typeface="Arial"/>
                <a:cs typeface="Arial"/>
              </a:rPr>
              <a:t>Region</a:t>
            </a:r>
          </a:p>
        </p:txBody>
      </p:sp>
      <p:sp>
        <p:nvSpPr>
          <p:cNvPr id="11" name="TextBox 10"/>
          <p:cNvSpPr txBox="1"/>
          <p:nvPr/>
        </p:nvSpPr>
        <p:spPr>
          <a:xfrm>
            <a:off x="4644008" y="4149080"/>
            <a:ext cx="997439" cy="400110"/>
          </a:xfrm>
          <a:prstGeom prst="rect">
            <a:avLst/>
          </a:prstGeom>
          <a:solidFill>
            <a:schemeClr val="bg1"/>
          </a:solidFill>
          <a:ln>
            <a:noFill/>
          </a:ln>
        </p:spPr>
        <p:txBody>
          <a:bodyPr wrap="none" rtlCol="0">
            <a:spAutoFit/>
          </a:bodyPr>
          <a:lstStyle/>
          <a:p>
            <a:r>
              <a:rPr lang="en-US" sz="2000" dirty="0">
                <a:latin typeface="Arial"/>
                <a:cs typeface="Arial"/>
              </a:rPr>
              <a:t>Region </a:t>
            </a:r>
          </a:p>
        </p:txBody>
      </p:sp>
      <p:sp>
        <p:nvSpPr>
          <p:cNvPr id="12" name="TextBox 11"/>
          <p:cNvSpPr txBox="1"/>
          <p:nvPr/>
        </p:nvSpPr>
        <p:spPr>
          <a:xfrm>
            <a:off x="1818199" y="3356992"/>
            <a:ext cx="1457657" cy="400110"/>
          </a:xfrm>
          <a:prstGeom prst="rect">
            <a:avLst/>
          </a:prstGeom>
          <a:solidFill>
            <a:schemeClr val="bg1"/>
          </a:solidFill>
          <a:ln>
            <a:noFill/>
          </a:ln>
        </p:spPr>
        <p:txBody>
          <a:bodyPr wrap="square" rtlCol="0">
            <a:spAutoFit/>
          </a:bodyPr>
          <a:lstStyle/>
          <a:p>
            <a:pPr algn="r"/>
            <a:r>
              <a:rPr lang="en-US" sz="2000" dirty="0">
                <a:latin typeface="Arial"/>
                <a:cs typeface="Arial"/>
              </a:rPr>
              <a:t>Model </a:t>
            </a:r>
          </a:p>
        </p:txBody>
      </p:sp>
      <p:sp>
        <p:nvSpPr>
          <p:cNvPr id="13" name="TextBox 12"/>
          <p:cNvSpPr txBox="1"/>
          <p:nvPr/>
        </p:nvSpPr>
        <p:spPr>
          <a:xfrm>
            <a:off x="5793847" y="3460938"/>
            <a:ext cx="997439" cy="400110"/>
          </a:xfrm>
          <a:prstGeom prst="rect">
            <a:avLst/>
          </a:prstGeom>
          <a:solidFill>
            <a:schemeClr val="bg1"/>
          </a:solidFill>
          <a:ln>
            <a:noFill/>
          </a:ln>
        </p:spPr>
        <p:txBody>
          <a:bodyPr wrap="none" rtlCol="0">
            <a:spAutoFit/>
          </a:bodyPr>
          <a:lstStyle/>
          <a:p>
            <a:r>
              <a:rPr lang="en-US" sz="2000" dirty="0">
                <a:latin typeface="Arial"/>
                <a:cs typeface="Arial"/>
              </a:rPr>
              <a:t>Region </a:t>
            </a:r>
          </a:p>
        </p:txBody>
      </p:sp>
      <p:cxnSp>
        <p:nvCxnSpPr>
          <p:cNvPr id="3" name="Straight Connector 2"/>
          <p:cNvCxnSpPr/>
          <p:nvPr/>
        </p:nvCxnSpPr>
        <p:spPr>
          <a:xfrm>
            <a:off x="2169096" y="5157192"/>
            <a:ext cx="0" cy="72008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99592" y="5662989"/>
            <a:ext cx="1671415" cy="646331"/>
          </a:xfrm>
          <a:prstGeom prst="rect">
            <a:avLst/>
          </a:prstGeom>
          <a:noFill/>
        </p:spPr>
        <p:txBody>
          <a:bodyPr wrap="square" rtlCol="0">
            <a:spAutoFit/>
          </a:bodyPr>
          <a:lstStyle/>
          <a:p>
            <a:r>
              <a:rPr lang="en-US" dirty="0">
                <a:solidFill>
                  <a:srgbClr val="FF0000"/>
                </a:solidFill>
                <a:latin typeface="Arial"/>
                <a:cs typeface="Arial"/>
              </a:rPr>
              <a:t> Boundary “Model-LEFT”</a:t>
            </a:r>
          </a:p>
        </p:txBody>
      </p:sp>
    </p:spTree>
    <p:extLst>
      <p:ext uri="{BB962C8B-B14F-4D97-AF65-F5344CB8AC3E}">
        <p14:creationId xmlns:p14="http://schemas.microsoft.com/office/powerpoint/2010/main" val="3829149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lstStyle/>
          <a:p>
            <a:r>
              <a:rPr lang="en-US" dirty="0"/>
              <a:t>Region</a:t>
            </a:r>
          </a:p>
        </p:txBody>
      </p:sp>
      <p:sp>
        <p:nvSpPr>
          <p:cNvPr id="3" name="Content Placeholder 2"/>
          <p:cNvSpPr>
            <a:spLocks noGrp="1"/>
          </p:cNvSpPr>
          <p:nvPr>
            <p:ph idx="1"/>
          </p:nvPr>
        </p:nvSpPr>
        <p:spPr>
          <a:xfrm>
            <a:off x="457200" y="692696"/>
            <a:ext cx="8229600" cy="5976664"/>
          </a:xfrm>
        </p:spPr>
        <p:txBody>
          <a:bodyPr>
            <a:normAutofit fontScale="92500" lnSpcReduction="10000"/>
          </a:bodyPr>
          <a:lstStyle/>
          <a:p>
            <a:r>
              <a:rPr lang="en-US" dirty="0"/>
              <a:t>The </a:t>
            </a:r>
            <a:r>
              <a:rPr lang="en-US" b="1" dirty="0" err="1"/>
              <a:t>RegionInterface</a:t>
            </a:r>
            <a:r>
              <a:rPr lang="en-US" dirty="0"/>
              <a:t> of </a:t>
            </a:r>
            <a:r>
              <a:rPr lang="en-US" b="1" dirty="0"/>
              <a:t>Model</a:t>
            </a:r>
            <a:r>
              <a:rPr lang="en-US" dirty="0"/>
              <a:t> provides access to regions:</a:t>
            </a:r>
          </a:p>
          <a:p>
            <a:pPr marL="457200" lvl="1" indent="0">
              <a:buNone/>
            </a:pPr>
            <a:r>
              <a:rPr lang="en-US" b="1" dirty="0" err="1">
                <a:latin typeface="Courier"/>
                <a:cs typeface="Courier"/>
              </a:rPr>
              <a:t>ModelSubDomain</a:t>
            </a:r>
            <a:r>
              <a:rPr lang="en-US" dirty="0">
                <a:latin typeface="Courier"/>
                <a:cs typeface="Courier"/>
              </a:rPr>
              <a:t>&lt;&gt;&amp; target = </a:t>
            </a:r>
            <a:r>
              <a:rPr lang="en-US" dirty="0" err="1">
                <a:latin typeface="Courier"/>
                <a:cs typeface="Courier"/>
              </a:rPr>
              <a:t>model.Region</a:t>
            </a:r>
            <a:r>
              <a:rPr lang="en-US" dirty="0">
                <a:latin typeface="Courier"/>
                <a:cs typeface="Courier"/>
              </a:rPr>
              <a:t>(name);</a:t>
            </a:r>
          </a:p>
          <a:p>
            <a:r>
              <a:rPr lang="en-US" dirty="0"/>
              <a:t>Its functionality is restricted to the creation and destruction of Region, Boundary and </a:t>
            </a:r>
            <a:r>
              <a:rPr lang="en-US" dirty="0" err="1"/>
              <a:t>SplitBoundary</a:t>
            </a:r>
            <a:r>
              <a:rPr lang="en-US" dirty="0"/>
              <a:t>,</a:t>
            </a:r>
          </a:p>
          <a:p>
            <a:r>
              <a:rPr lang="en-US" dirty="0"/>
              <a:t>Any model will contain a region named “Model”, comprising all Elements that shall be part of the computations, but not including Boundaries made up of Face or </a:t>
            </a:r>
            <a:r>
              <a:rPr lang="en-US" dirty="0" err="1"/>
              <a:t>InterFace</a:t>
            </a:r>
            <a:r>
              <a:rPr lang="en-US" dirty="0"/>
              <a:t> elements,</a:t>
            </a:r>
          </a:p>
          <a:p>
            <a:r>
              <a:rPr lang="en-US" dirty="0"/>
              <a:t>Any other Region/Boundary/</a:t>
            </a:r>
            <a:r>
              <a:rPr lang="en-US" dirty="0" err="1"/>
              <a:t>SplitBoundary</a:t>
            </a:r>
            <a:r>
              <a:rPr lang="en-US" dirty="0"/>
              <a:t> functionality is accessed directly via their interfaces or that of the </a:t>
            </a:r>
            <a:r>
              <a:rPr lang="en-US" dirty="0" err="1"/>
              <a:t>ModelSubDomain</a:t>
            </a:r>
            <a:r>
              <a:rPr lang="en-US" dirty="0"/>
              <a:t>:</a:t>
            </a:r>
          </a:p>
          <a:p>
            <a:pPr lvl="1"/>
            <a:r>
              <a:rPr lang="en-US" dirty="0"/>
              <a:t>In regions, element and node pointers are sorted: at the end are the elements and nodes on the Region perimeter; specific iterators are available to access these</a:t>
            </a:r>
          </a:p>
          <a:p>
            <a:pPr lvl="1"/>
            <a:r>
              <a:rPr lang="en-US" dirty="0"/>
              <a:t>An extra vector records the number of element faces and ids, for element faces located at the region boundary, see next slide,</a:t>
            </a:r>
          </a:p>
          <a:p>
            <a:r>
              <a:rPr lang="en-US" dirty="0" err="1"/>
              <a:t>ModelSubDomains</a:t>
            </a:r>
            <a:r>
              <a:rPr lang="en-US" dirty="0"/>
              <a:t> (Region, Boundary, and </a:t>
            </a:r>
            <a:r>
              <a:rPr lang="en-US" dirty="0" err="1"/>
              <a:t>SplitBoundary</a:t>
            </a:r>
            <a:r>
              <a:rPr lang="en-US" dirty="0"/>
              <a:t>) can have properties</a:t>
            </a:r>
          </a:p>
          <a:p>
            <a:r>
              <a:rPr lang="en-US" dirty="0"/>
              <a:t>Boundary properties only exist where these do! – take care in visitations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32</a:t>
            </a:fld>
            <a:endParaRPr lang="en-US"/>
          </a:p>
        </p:txBody>
      </p:sp>
    </p:spTree>
    <p:extLst>
      <p:ext uri="{BB962C8B-B14F-4D97-AF65-F5344CB8AC3E}">
        <p14:creationId xmlns:p14="http://schemas.microsoft.com/office/powerpoint/2010/main" val="3722460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ABF374FF-17B9-B341-BA7E-FE6C0CD1779C}" type="slidenum">
              <a:rPr lang="en-US" smtClean="0"/>
              <a:pPr/>
              <a:t>33</a:t>
            </a:fld>
            <a:endParaRPr lang="en-US"/>
          </a:p>
        </p:txBody>
      </p:sp>
      <p:sp>
        <p:nvSpPr>
          <p:cNvPr id="29699" name="Rectangle 2"/>
          <p:cNvSpPr>
            <a:spLocks noGrp="1" noChangeArrowheads="1"/>
          </p:cNvSpPr>
          <p:nvPr>
            <p:ph type="title"/>
          </p:nvPr>
        </p:nvSpPr>
        <p:spPr>
          <a:xfrm>
            <a:off x="464319" y="260648"/>
            <a:ext cx="8212137" cy="1068020"/>
          </a:xfrm>
        </p:spPr>
        <p:txBody>
          <a:bodyPr>
            <a:normAutofit fontScale="90000"/>
          </a:bodyPr>
          <a:lstStyle/>
          <a:p>
            <a:r>
              <a:rPr lang="en-US" dirty="0"/>
              <a:t>Model subdomains support selective access: </a:t>
            </a:r>
            <a:br>
              <a:rPr lang="en-US" dirty="0"/>
            </a:br>
            <a:r>
              <a:rPr lang="en-US" dirty="0"/>
              <a:t>			interior, perimeter, complete</a:t>
            </a:r>
          </a:p>
        </p:txBody>
      </p:sp>
      <p:pic>
        <p:nvPicPr>
          <p:cNvPr id="29700" name="Picture 3" descr="fig9-group"/>
          <p:cNvPicPr>
            <a:picLocks noChangeAspect="1" noChangeArrowheads="1"/>
          </p:cNvPicPr>
          <p:nvPr/>
        </p:nvPicPr>
        <p:blipFill rotWithShape="1">
          <a:blip r:embed="rId3"/>
          <a:srcRect b="21502"/>
          <a:stretch/>
        </p:blipFill>
        <p:spPr bwMode="auto">
          <a:xfrm>
            <a:off x="1676400" y="1534772"/>
            <a:ext cx="5507038" cy="3910452"/>
          </a:xfrm>
          <a:prstGeom prst="rect">
            <a:avLst/>
          </a:prstGeom>
          <a:noFill/>
          <a:ln w="9525">
            <a:noFill/>
            <a:miter lim="800000"/>
            <a:headEnd/>
            <a:tailEnd/>
          </a:ln>
        </p:spPr>
      </p:pic>
      <p:sp>
        <p:nvSpPr>
          <p:cNvPr id="7" name="TextBox 6"/>
          <p:cNvSpPr txBox="1"/>
          <p:nvPr/>
        </p:nvSpPr>
        <p:spPr>
          <a:xfrm>
            <a:off x="19762" y="5736849"/>
            <a:ext cx="9063452" cy="369332"/>
          </a:xfrm>
          <a:prstGeom prst="rect">
            <a:avLst/>
          </a:prstGeom>
          <a:noFill/>
        </p:spPr>
        <p:txBody>
          <a:bodyPr wrap="none" rtlCol="0">
            <a:spAutoFit/>
          </a:bodyPr>
          <a:lstStyle/>
          <a:p>
            <a:r>
              <a:rPr lang="en-US" i="1" dirty="0">
                <a:latin typeface="Arial"/>
                <a:cs typeface="Arial"/>
              </a:rPr>
              <a:t>The Boolean operations </a:t>
            </a:r>
            <a:r>
              <a:rPr lang="en-US" dirty="0">
                <a:latin typeface="Arial"/>
                <a:cs typeface="Arial"/>
              </a:rPr>
              <a:t>union, difference, intersection </a:t>
            </a:r>
            <a:r>
              <a:rPr lang="en-US" i="1" dirty="0">
                <a:latin typeface="Arial"/>
                <a:cs typeface="Arial"/>
              </a:rPr>
              <a:t>involving Regions are supported </a:t>
            </a:r>
          </a:p>
        </p:txBody>
      </p:sp>
      <p:sp>
        <p:nvSpPr>
          <p:cNvPr id="6" name="Date Placeholder 5"/>
          <p:cNvSpPr>
            <a:spLocks noGrp="1"/>
          </p:cNvSpPr>
          <p:nvPr>
            <p:ph type="dt" sz="half" idx="10"/>
          </p:nvPr>
        </p:nvSpPr>
        <p:spPr/>
        <p:txBody>
          <a:bodyPr/>
          <a:lstStyle/>
          <a:p>
            <a:fld id="{B6757E79-C0BD-104D-AD6B-A4EF23583D19}" type="datetime1">
              <a:rPr lang="en-US" smtClean="0"/>
              <a:pPr/>
              <a:t>5/2/24</a:t>
            </a:fld>
            <a:endParaRPr lang="en-US"/>
          </a:p>
        </p:txBody>
      </p:sp>
      <p:sp>
        <p:nvSpPr>
          <p:cNvPr id="8" name="Footer Placeholder 7"/>
          <p:cNvSpPr>
            <a:spLocks noGrp="1"/>
          </p:cNvSpPr>
          <p:nvPr>
            <p:ph type="ftr" sz="quarter" idx="11"/>
          </p:nvPr>
        </p:nvSpPr>
        <p:spPr/>
        <p:txBody>
          <a:bodyPr/>
          <a:lstStyle/>
          <a:p>
            <a:endParaRPr lang="en-US" dirty="0"/>
          </a:p>
          <a:p>
            <a:r>
              <a:rPr lang="en-US" dirty="0"/>
              <a:t>Model, Region, Boundaries</a:t>
            </a:r>
          </a:p>
          <a:p>
            <a:endParaRPr lang="en-US" dirty="0"/>
          </a:p>
        </p:txBody>
      </p:sp>
      <p:sp>
        <p:nvSpPr>
          <p:cNvPr id="2" name="TextBox 1"/>
          <p:cNvSpPr txBox="1"/>
          <p:nvPr/>
        </p:nvSpPr>
        <p:spPr>
          <a:xfrm>
            <a:off x="2647727" y="1452891"/>
            <a:ext cx="916161" cy="369332"/>
          </a:xfrm>
          <a:prstGeom prst="rect">
            <a:avLst/>
          </a:prstGeom>
          <a:solidFill>
            <a:schemeClr val="bg1"/>
          </a:solidFill>
        </p:spPr>
        <p:txBody>
          <a:bodyPr wrap="none" rtlCol="0">
            <a:spAutoFit/>
          </a:bodyPr>
          <a:lstStyle/>
          <a:p>
            <a:r>
              <a:rPr lang="en-US" dirty="0">
                <a:latin typeface="Arial"/>
                <a:cs typeface="Arial"/>
              </a:rPr>
              <a:t>Region</a:t>
            </a:r>
          </a:p>
        </p:txBody>
      </p:sp>
      <p:sp>
        <p:nvSpPr>
          <p:cNvPr id="9" name="TextBox 8"/>
          <p:cNvSpPr txBox="1"/>
          <p:nvPr/>
        </p:nvSpPr>
        <p:spPr>
          <a:xfrm>
            <a:off x="6084168" y="1834417"/>
            <a:ext cx="1381708" cy="338554"/>
          </a:xfrm>
          <a:prstGeom prst="rect">
            <a:avLst/>
          </a:prstGeom>
          <a:solidFill>
            <a:schemeClr val="bg1"/>
          </a:solidFill>
        </p:spPr>
        <p:txBody>
          <a:bodyPr wrap="none" rtlCol="0">
            <a:spAutoFit/>
          </a:bodyPr>
          <a:lstStyle/>
          <a:p>
            <a:r>
              <a:rPr lang="en-US" sz="1600" dirty="0">
                <a:latin typeface="Arial"/>
                <a:cs typeface="Arial"/>
              </a:rPr>
              <a:t>PERIMETER</a:t>
            </a:r>
          </a:p>
        </p:txBody>
      </p:sp>
      <p:sp>
        <p:nvSpPr>
          <p:cNvPr id="10" name="TextBox 9"/>
          <p:cNvSpPr txBox="1"/>
          <p:nvPr/>
        </p:nvSpPr>
        <p:spPr>
          <a:xfrm>
            <a:off x="3046276" y="2215943"/>
            <a:ext cx="1381708" cy="338554"/>
          </a:xfrm>
          <a:prstGeom prst="rect">
            <a:avLst/>
          </a:prstGeom>
          <a:solidFill>
            <a:schemeClr val="bg1"/>
          </a:solidFill>
        </p:spPr>
        <p:txBody>
          <a:bodyPr wrap="none" rtlCol="0">
            <a:spAutoFit/>
          </a:bodyPr>
          <a:lstStyle/>
          <a:p>
            <a:r>
              <a:rPr lang="en-US" sz="1600" dirty="0">
                <a:latin typeface="Arial"/>
                <a:cs typeface="Arial"/>
              </a:rPr>
              <a:t>PERIMETER</a:t>
            </a:r>
          </a:p>
        </p:txBody>
      </p:sp>
      <p:sp>
        <p:nvSpPr>
          <p:cNvPr id="11" name="TextBox 10"/>
          <p:cNvSpPr txBox="1"/>
          <p:nvPr/>
        </p:nvSpPr>
        <p:spPr>
          <a:xfrm>
            <a:off x="3203848" y="3778633"/>
            <a:ext cx="1468553" cy="338554"/>
          </a:xfrm>
          <a:prstGeom prst="rect">
            <a:avLst/>
          </a:prstGeom>
          <a:solidFill>
            <a:schemeClr val="bg1"/>
          </a:solidFill>
        </p:spPr>
        <p:txBody>
          <a:bodyPr wrap="square" rtlCol="0">
            <a:spAutoFit/>
          </a:bodyPr>
          <a:lstStyle/>
          <a:p>
            <a:r>
              <a:rPr lang="en-US" sz="1600" dirty="0">
                <a:latin typeface="Arial"/>
                <a:cs typeface="Arial"/>
              </a:rPr>
              <a:t>INTERIOR</a:t>
            </a:r>
          </a:p>
        </p:txBody>
      </p:sp>
      <p:sp>
        <p:nvSpPr>
          <p:cNvPr id="12" name="TextBox 11"/>
          <p:cNvSpPr txBox="1"/>
          <p:nvPr/>
        </p:nvSpPr>
        <p:spPr>
          <a:xfrm>
            <a:off x="6516216" y="4405219"/>
            <a:ext cx="1468553" cy="338554"/>
          </a:xfrm>
          <a:prstGeom prst="rect">
            <a:avLst/>
          </a:prstGeom>
          <a:solidFill>
            <a:schemeClr val="bg1"/>
          </a:solidFill>
        </p:spPr>
        <p:txBody>
          <a:bodyPr wrap="square" rtlCol="0">
            <a:spAutoFit/>
          </a:bodyPr>
          <a:lstStyle/>
          <a:p>
            <a:r>
              <a:rPr lang="en-US" sz="1600" dirty="0">
                <a:latin typeface="Arial"/>
                <a:cs typeface="Arial"/>
              </a:rPr>
              <a:t>COMPLETE</a:t>
            </a:r>
          </a:p>
        </p:txBody>
      </p:sp>
    </p:spTree>
    <p:extLst>
      <p:ext uri="{BB962C8B-B14F-4D97-AF65-F5344CB8AC3E}">
        <p14:creationId xmlns:p14="http://schemas.microsoft.com/office/powerpoint/2010/main" val="30148969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pPr algn="ctr"/>
            <a:r>
              <a:rPr lang="en-US" sz="2400" b="1" dirty="0" err="1"/>
              <a:t>ModelSubDomain</a:t>
            </a:r>
            <a:r>
              <a:rPr lang="en-US" sz="2400" b="1" dirty="0"/>
              <a:t>&lt;&gt;</a:t>
            </a:r>
            <a:r>
              <a:rPr lang="en-US" sz="2400" dirty="0"/>
              <a:t> – base class to Region and Boundary</a:t>
            </a:r>
          </a:p>
        </p:txBody>
      </p:sp>
      <p:sp>
        <p:nvSpPr>
          <p:cNvPr id="3" name="Content Placeholder 2"/>
          <p:cNvSpPr>
            <a:spLocks noGrp="1"/>
          </p:cNvSpPr>
          <p:nvPr>
            <p:ph idx="1"/>
          </p:nvPr>
        </p:nvSpPr>
        <p:spPr>
          <a:xfrm>
            <a:off x="381000" y="3405336"/>
            <a:ext cx="8610600" cy="3264024"/>
          </a:xfrm>
        </p:spPr>
        <p:txBody>
          <a:bodyPr>
            <a:normAutofit/>
          </a:bodyPr>
          <a:lstStyle/>
          <a:p>
            <a:pPr>
              <a:buNone/>
            </a:pPr>
            <a:r>
              <a:rPr lang="en-US" sz="1400" b="1" dirty="0">
                <a:latin typeface="Courier"/>
                <a:cs typeface="Courier"/>
              </a:rPr>
              <a:t>Region&lt;3U&gt;  box;</a:t>
            </a:r>
          </a:p>
          <a:p>
            <a:pPr>
              <a:buNone/>
            </a:pPr>
            <a:r>
              <a:rPr lang="en-US" sz="1400" b="1" dirty="0">
                <a:latin typeface="Courier"/>
                <a:cs typeface="Courier"/>
              </a:rPr>
              <a:t>Boundary&lt;3U&gt;  	  </a:t>
            </a:r>
            <a:r>
              <a:rPr lang="en-US" sz="1400" b="1" dirty="0" err="1">
                <a:latin typeface="Courier"/>
                <a:cs typeface="Courier"/>
              </a:rPr>
              <a:t>external_boundary</a:t>
            </a:r>
            <a:r>
              <a:rPr lang="en-US" sz="1400" b="1" dirty="0">
                <a:latin typeface="Courier"/>
                <a:cs typeface="Courier"/>
              </a:rPr>
              <a:t>;     </a:t>
            </a:r>
            <a:r>
              <a:rPr lang="en-US" sz="1400" b="1" dirty="0">
                <a:solidFill>
                  <a:srgbClr val="FF0000"/>
                </a:solidFill>
                <a:latin typeface="Courier"/>
                <a:cs typeface="Courier"/>
              </a:rPr>
              <a:t>// external and internal</a:t>
            </a:r>
          </a:p>
          <a:p>
            <a:pPr>
              <a:buNone/>
            </a:pPr>
            <a:r>
              <a:rPr lang="en-US" sz="1400" b="1" dirty="0" err="1">
                <a:latin typeface="Courier"/>
                <a:cs typeface="Courier"/>
              </a:rPr>
              <a:t>SplitBoundary</a:t>
            </a:r>
            <a:r>
              <a:rPr lang="en-US" sz="1400" b="1" dirty="0">
                <a:latin typeface="Courier"/>
                <a:cs typeface="Courier"/>
              </a:rPr>
              <a:t>&lt;3U&gt;  </a:t>
            </a:r>
            <a:r>
              <a:rPr lang="en-US" sz="1400" b="1" dirty="0" err="1">
                <a:latin typeface="Courier"/>
                <a:cs typeface="Courier"/>
              </a:rPr>
              <a:t>split_node_boundary</a:t>
            </a:r>
            <a:r>
              <a:rPr lang="en-US" sz="1400" b="1" dirty="0">
                <a:latin typeface="Courier"/>
                <a:cs typeface="Courier"/>
              </a:rPr>
              <a:t>; </a:t>
            </a:r>
            <a:r>
              <a:rPr lang="en-US" sz="1400" b="1" dirty="0">
                <a:solidFill>
                  <a:srgbClr val="FF0000"/>
                </a:solidFill>
                <a:latin typeface="Courier"/>
                <a:cs typeface="Courier"/>
              </a:rPr>
              <a:t>// internal only</a:t>
            </a:r>
          </a:p>
          <a:p>
            <a:pPr>
              <a:buNone/>
            </a:pPr>
            <a:endParaRPr lang="en-US" sz="1400" b="1" dirty="0">
              <a:solidFill>
                <a:srgbClr val="FF0000"/>
              </a:solidFill>
              <a:latin typeface="Courier"/>
              <a:cs typeface="Courier"/>
            </a:endParaRPr>
          </a:p>
          <a:p>
            <a:pPr>
              <a:buNone/>
            </a:pPr>
            <a:r>
              <a:rPr lang="en-US" b="1" dirty="0">
                <a:solidFill>
                  <a:schemeClr val="tx2"/>
                </a:solidFill>
              </a:rPr>
              <a:t>Implications</a:t>
            </a:r>
          </a:p>
          <a:p>
            <a:pPr>
              <a:buNone/>
            </a:pPr>
            <a:r>
              <a:rPr lang="en-US" sz="1400" b="1" dirty="0" err="1">
                <a:latin typeface="Courier"/>
                <a:cs typeface="Courier"/>
              </a:rPr>
              <a:t>PDE_Integrator</a:t>
            </a:r>
            <a:r>
              <a:rPr lang="en-US" sz="1400" b="1" dirty="0">
                <a:latin typeface="Courier"/>
                <a:cs typeface="Courier"/>
              </a:rPr>
              <a:t>&lt;uint32_t,template&lt;uint32_t&gt; class </a:t>
            </a:r>
            <a:r>
              <a:rPr lang="en-US" sz="1400" b="1" dirty="0" err="1">
                <a:latin typeface="Courier"/>
                <a:cs typeface="Courier"/>
              </a:rPr>
              <a:t>ModelSubdomain</a:t>
            </a:r>
            <a:r>
              <a:rPr lang="en-US" sz="1400" b="1" dirty="0">
                <a:latin typeface="Courier"/>
                <a:cs typeface="Courier"/>
              </a:rPr>
              <a:t>&gt;  integrator;</a:t>
            </a:r>
          </a:p>
          <a:p>
            <a:pPr>
              <a:buNone/>
            </a:pPr>
            <a:r>
              <a:rPr lang="en-US" sz="1400" b="1" dirty="0" err="1">
                <a:latin typeface="Courier"/>
                <a:cs typeface="Courier"/>
              </a:rPr>
              <a:t>integrator.IntegrateOver</a:t>
            </a:r>
            <a:r>
              <a:rPr lang="en-US" sz="1400" b="1" dirty="0">
                <a:latin typeface="Courier"/>
                <a:cs typeface="Courier"/>
              </a:rPr>
              <a:t>( </a:t>
            </a:r>
            <a:r>
              <a:rPr lang="en-US" sz="1400" b="1" dirty="0" err="1">
                <a:latin typeface="Courier"/>
                <a:cs typeface="Courier"/>
              </a:rPr>
              <a:t>ModelSubdomain</a:t>
            </a:r>
            <a:r>
              <a:rPr lang="en-US" sz="1400" b="1" dirty="0">
                <a:latin typeface="Courier"/>
                <a:cs typeface="Courier"/>
              </a:rPr>
              <a:t>&lt;uint32_t,class&gt; );</a:t>
            </a:r>
          </a:p>
          <a:p>
            <a:pPr>
              <a:buNone/>
            </a:pPr>
            <a:r>
              <a:rPr lang="en-US" sz="1400" b="1" dirty="0" err="1">
                <a:latin typeface="Courier"/>
                <a:cs typeface="Courier"/>
              </a:rPr>
              <a:t>model.Accept</a:t>
            </a:r>
            <a:r>
              <a:rPr lang="en-US" sz="1400" b="1" dirty="0">
                <a:latin typeface="Courier"/>
                <a:cs typeface="Courier"/>
              </a:rPr>
              <a:t>( Visitor&lt;uint32_t&gt;&amp; );</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34</a:t>
            </a:fld>
            <a:endParaRPr lang="en-US"/>
          </a:p>
        </p:txBody>
      </p:sp>
      <p:sp>
        <p:nvSpPr>
          <p:cNvPr id="7" name="TextBox 6"/>
          <p:cNvSpPr txBox="1"/>
          <p:nvPr/>
        </p:nvSpPr>
        <p:spPr>
          <a:xfrm>
            <a:off x="1600200" y="908720"/>
            <a:ext cx="6192721" cy="338554"/>
          </a:xfrm>
          <a:prstGeom prst="rect">
            <a:avLst/>
          </a:prstGeom>
          <a:noFill/>
          <a:ln>
            <a:solidFill>
              <a:schemeClr val="tx1"/>
            </a:solidFill>
          </a:ln>
        </p:spPr>
        <p:txBody>
          <a:bodyPr wrap="none" rtlCol="0">
            <a:spAutoFit/>
          </a:bodyPr>
          <a:lstStyle/>
          <a:p>
            <a:r>
              <a:rPr lang="en-US" sz="1600" dirty="0" err="1">
                <a:latin typeface="Arial"/>
                <a:cs typeface="Arial"/>
              </a:rPr>
              <a:t>ModelSubDomain</a:t>
            </a:r>
            <a:r>
              <a:rPr lang="en-US" sz="1600" dirty="0">
                <a:latin typeface="Arial"/>
                <a:cs typeface="Arial"/>
              </a:rPr>
              <a:t>&lt;uint32_t,template&lt;uint32_t,class&gt; class FEM&gt; </a:t>
            </a:r>
          </a:p>
        </p:txBody>
      </p:sp>
      <p:sp>
        <p:nvSpPr>
          <p:cNvPr id="8" name="TextBox 7"/>
          <p:cNvSpPr txBox="1"/>
          <p:nvPr/>
        </p:nvSpPr>
        <p:spPr>
          <a:xfrm>
            <a:off x="3131840" y="2190800"/>
            <a:ext cx="2266967" cy="338554"/>
          </a:xfrm>
          <a:prstGeom prst="rect">
            <a:avLst/>
          </a:prstGeom>
          <a:noFill/>
          <a:ln>
            <a:solidFill>
              <a:schemeClr val="tx1"/>
            </a:solidFill>
          </a:ln>
        </p:spPr>
        <p:txBody>
          <a:bodyPr wrap="none" rtlCol="0">
            <a:spAutoFit/>
          </a:bodyPr>
          <a:lstStyle/>
          <a:p>
            <a:r>
              <a:rPr lang="en-US" sz="1600" dirty="0">
                <a:latin typeface="Arial"/>
                <a:cs typeface="Arial"/>
              </a:rPr>
              <a:t>Boundary&lt;uint32_t&gt; &gt; </a:t>
            </a:r>
          </a:p>
        </p:txBody>
      </p:sp>
      <p:sp>
        <p:nvSpPr>
          <p:cNvPr id="9" name="TextBox 8"/>
          <p:cNvSpPr txBox="1"/>
          <p:nvPr/>
        </p:nvSpPr>
        <p:spPr>
          <a:xfrm>
            <a:off x="457200" y="1636966"/>
            <a:ext cx="2037737" cy="338554"/>
          </a:xfrm>
          <a:prstGeom prst="rect">
            <a:avLst/>
          </a:prstGeom>
          <a:noFill/>
          <a:ln>
            <a:solidFill>
              <a:schemeClr val="tx1"/>
            </a:solidFill>
          </a:ln>
        </p:spPr>
        <p:txBody>
          <a:bodyPr wrap="none" rtlCol="0">
            <a:spAutoFit/>
          </a:bodyPr>
          <a:lstStyle/>
          <a:p>
            <a:r>
              <a:rPr lang="en-US" sz="1600" dirty="0">
                <a:latin typeface="Arial"/>
                <a:cs typeface="Arial"/>
              </a:rPr>
              <a:t>Region&lt;uint32_t&gt; &gt; </a:t>
            </a:r>
          </a:p>
        </p:txBody>
      </p:sp>
      <p:cxnSp>
        <p:nvCxnSpPr>
          <p:cNvPr id="11" name="Elbow Connector 10"/>
          <p:cNvCxnSpPr>
            <a:stCxn id="9" idx="0"/>
            <a:endCxn id="7" idx="2"/>
          </p:cNvCxnSpPr>
          <p:nvPr/>
        </p:nvCxnSpPr>
        <p:spPr>
          <a:xfrm rot="5400000" flipH="1" flipV="1">
            <a:off x="2891469" y="-168126"/>
            <a:ext cx="389692" cy="3220492"/>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131840" y="2681754"/>
            <a:ext cx="2664512" cy="338554"/>
          </a:xfrm>
          <a:prstGeom prst="rect">
            <a:avLst/>
          </a:prstGeom>
          <a:noFill/>
          <a:ln>
            <a:solidFill>
              <a:schemeClr val="tx1"/>
            </a:solidFill>
          </a:ln>
        </p:spPr>
        <p:txBody>
          <a:bodyPr wrap="none" rtlCol="0">
            <a:spAutoFit/>
          </a:bodyPr>
          <a:lstStyle/>
          <a:p>
            <a:r>
              <a:rPr lang="en-US" sz="1600" dirty="0" err="1">
                <a:latin typeface="Arial"/>
                <a:cs typeface="Arial"/>
              </a:rPr>
              <a:t>SplitBoundary</a:t>
            </a:r>
            <a:r>
              <a:rPr lang="en-US" sz="1600" dirty="0">
                <a:latin typeface="Arial"/>
                <a:cs typeface="Arial"/>
              </a:rPr>
              <a:t>&lt;uint32_t&gt; &gt; </a:t>
            </a:r>
          </a:p>
        </p:txBody>
      </p:sp>
    </p:spTree>
    <p:extLst>
      <p:ext uri="{BB962C8B-B14F-4D97-AF65-F5344CB8AC3E}">
        <p14:creationId xmlns:p14="http://schemas.microsoft.com/office/powerpoint/2010/main" val="1957743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ModelSubDomain</a:t>
            </a:r>
            <a:r>
              <a:rPr lang="en-US" dirty="0"/>
              <a:t>    implementation, how?</a:t>
            </a:r>
          </a:p>
        </p:txBody>
      </p:sp>
      <p:sp>
        <p:nvSpPr>
          <p:cNvPr id="3" name="Content Placeholder 2"/>
          <p:cNvSpPr>
            <a:spLocks noGrp="1"/>
          </p:cNvSpPr>
          <p:nvPr>
            <p:ph idx="1"/>
          </p:nvPr>
        </p:nvSpPr>
        <p:spPr>
          <a:xfrm>
            <a:off x="457200" y="914400"/>
            <a:ext cx="8229600" cy="1578496"/>
          </a:xfrm>
        </p:spPr>
        <p:txBody>
          <a:bodyPr>
            <a:normAutofit/>
          </a:bodyPr>
          <a:lstStyle/>
          <a:p>
            <a:pPr marL="0" indent="0">
              <a:spcBef>
                <a:spcPts val="0"/>
              </a:spcBef>
              <a:spcAft>
                <a:spcPts val="200"/>
              </a:spcAft>
              <a:buNone/>
            </a:pPr>
            <a:r>
              <a:rPr lang="en-US" sz="1600" b="1" dirty="0" err="1">
                <a:latin typeface="Courier"/>
                <a:cs typeface="Courier"/>
              </a:rPr>
              <a:t>std</a:t>
            </a:r>
            <a:r>
              <a:rPr lang="en-US" sz="1600" b="1" dirty="0">
                <a:latin typeface="Courier"/>
                <a:cs typeface="Courier"/>
              </a:rPr>
              <a:t>::vector&lt;</a:t>
            </a:r>
            <a:r>
              <a:rPr lang="en-US" sz="1600" b="1" dirty="0" err="1">
                <a:latin typeface="Courier"/>
                <a:cs typeface="Courier"/>
              </a:rPr>
              <a:t>csmp</a:t>
            </a:r>
            <a:r>
              <a:rPr lang="en-US" sz="1600" b="1" dirty="0">
                <a:latin typeface="Courier"/>
                <a:cs typeface="Courier"/>
              </a:rPr>
              <a:t>::</a:t>
            </a:r>
            <a:r>
              <a:rPr lang="en-US" sz="1600" b="1" dirty="0">
                <a:solidFill>
                  <a:srgbClr val="008000"/>
                </a:solidFill>
                <a:latin typeface="Courier"/>
                <a:cs typeface="Courier"/>
              </a:rPr>
              <a:t>Element</a:t>
            </a:r>
            <a:r>
              <a:rPr lang="en-US" sz="1600" b="1" dirty="0">
                <a:latin typeface="Courier"/>
                <a:cs typeface="Courier"/>
              </a:rPr>
              <a:t>&lt;dim&gt;*&gt;       		</a:t>
            </a:r>
            <a:r>
              <a:rPr lang="en-US" sz="1600" b="1" dirty="0" err="1">
                <a:latin typeface="Courier"/>
                <a:cs typeface="Courier"/>
              </a:rPr>
              <a:t>elmt_vec</a:t>
            </a:r>
            <a:r>
              <a:rPr lang="en-US" sz="1600" b="1" dirty="0">
                <a:latin typeface="Courier"/>
                <a:cs typeface="Courier"/>
              </a:rPr>
              <a:t>_; </a:t>
            </a:r>
          </a:p>
          <a:p>
            <a:pPr marL="0" indent="0">
              <a:spcBef>
                <a:spcPts val="0"/>
              </a:spcBef>
              <a:spcAft>
                <a:spcPts val="200"/>
              </a:spcAft>
              <a:buNone/>
            </a:pPr>
            <a:r>
              <a:rPr lang="en-US" sz="1600" b="1" dirty="0" err="1">
                <a:latin typeface="Courier"/>
                <a:cs typeface="Courier"/>
              </a:rPr>
              <a:t>std</a:t>
            </a:r>
            <a:r>
              <a:rPr lang="en-US" sz="1600" b="1" dirty="0">
                <a:latin typeface="Courier"/>
                <a:cs typeface="Courier"/>
              </a:rPr>
              <a:t>::vector&lt;</a:t>
            </a:r>
            <a:r>
              <a:rPr lang="en-US" sz="1600" b="1" dirty="0" err="1">
                <a:latin typeface="Courier"/>
                <a:cs typeface="Courier"/>
              </a:rPr>
              <a:t>csmp</a:t>
            </a:r>
            <a:r>
              <a:rPr lang="en-US" sz="1600" b="1" dirty="0">
                <a:latin typeface="Courier"/>
                <a:cs typeface="Courier"/>
              </a:rPr>
              <a:t>::</a:t>
            </a:r>
            <a:r>
              <a:rPr lang="en-US" sz="1600" b="1" dirty="0">
                <a:solidFill>
                  <a:srgbClr val="008000"/>
                </a:solidFill>
                <a:latin typeface="Courier"/>
                <a:cs typeface="Courier"/>
              </a:rPr>
              <a:t>Node</a:t>
            </a:r>
            <a:r>
              <a:rPr lang="en-US" sz="1600" b="1" dirty="0">
                <a:latin typeface="Courier"/>
                <a:cs typeface="Courier"/>
              </a:rPr>
              <a:t>&lt;dim&gt;*&gt;          		</a:t>
            </a:r>
            <a:r>
              <a:rPr lang="en-US" sz="1600" b="1" dirty="0" err="1">
                <a:latin typeface="Courier"/>
                <a:cs typeface="Courier"/>
              </a:rPr>
              <a:t>node_vec</a:t>
            </a:r>
            <a:r>
              <a:rPr lang="en-US" sz="1600" b="1" dirty="0">
                <a:latin typeface="Courier"/>
                <a:cs typeface="Courier"/>
              </a:rPr>
              <a:t>_; </a:t>
            </a:r>
          </a:p>
          <a:p>
            <a:pPr marL="0" indent="0">
              <a:spcBef>
                <a:spcPts val="0"/>
              </a:spcBef>
              <a:spcAft>
                <a:spcPts val="200"/>
              </a:spcAft>
              <a:buNone/>
            </a:pPr>
            <a:r>
              <a:rPr lang="en-US" sz="1600" b="1" dirty="0" err="1">
                <a:latin typeface="Courier"/>
                <a:cs typeface="Courier"/>
              </a:rPr>
              <a:t>size_t</a:t>
            </a:r>
            <a:r>
              <a:rPr lang="en-US" sz="1600" b="1" dirty="0">
                <a:latin typeface="Courier"/>
                <a:cs typeface="Courier"/>
              </a:rPr>
              <a:t>                                  		</a:t>
            </a:r>
            <a:r>
              <a:rPr lang="en-US" sz="1600" b="1" dirty="0" err="1">
                <a:latin typeface="Courier"/>
                <a:cs typeface="Courier"/>
              </a:rPr>
              <a:t>first_bd_node</a:t>
            </a:r>
            <a:r>
              <a:rPr lang="en-US" sz="1600" b="1" dirty="0">
                <a:latin typeface="Courier"/>
                <a:cs typeface="Courier"/>
              </a:rPr>
              <a:t>_; </a:t>
            </a:r>
            <a:r>
              <a:rPr lang="en-US" sz="1600" b="1" dirty="0" err="1">
                <a:latin typeface="Courier"/>
                <a:cs typeface="Courier"/>
              </a:rPr>
              <a:t>std</a:t>
            </a:r>
            <a:r>
              <a:rPr lang="en-US" sz="1600" b="1" dirty="0">
                <a:latin typeface="Courier"/>
                <a:cs typeface="Courier"/>
              </a:rPr>
              <a:t>::vector&lt;</a:t>
            </a:r>
            <a:r>
              <a:rPr lang="en-US" sz="1600" b="1" dirty="0" err="1">
                <a:latin typeface="Courier"/>
                <a:cs typeface="Courier"/>
              </a:rPr>
              <a:t>std</a:t>
            </a:r>
            <a:r>
              <a:rPr lang="en-US" sz="1600" b="1" dirty="0">
                <a:latin typeface="Courier"/>
                <a:cs typeface="Courier"/>
              </a:rPr>
              <a:t>::vector&lt;</a:t>
            </a:r>
            <a:r>
              <a:rPr lang="en-US" sz="1600" b="1" dirty="0">
                <a:solidFill>
                  <a:srgbClr val="008000"/>
                </a:solidFill>
                <a:latin typeface="Courier"/>
                <a:cs typeface="Courier"/>
              </a:rPr>
              <a:t>ONE_BYTE_NUMBER</a:t>
            </a:r>
            <a:r>
              <a:rPr lang="en-US" sz="1600" b="1" dirty="0">
                <a:latin typeface="Courier"/>
                <a:cs typeface="Courier"/>
              </a:rPr>
              <a:t>&gt; &gt;  	</a:t>
            </a:r>
            <a:r>
              <a:rPr lang="en-US" sz="1600" b="1" dirty="0" err="1">
                <a:latin typeface="Courier"/>
                <a:cs typeface="Courier"/>
              </a:rPr>
              <a:t>bd_face_vec</a:t>
            </a:r>
            <a:r>
              <a:rPr lang="en-US" sz="1600" b="1" dirty="0">
                <a:latin typeface="Courier"/>
                <a:cs typeface="Courier"/>
              </a:rPr>
              <a:t>_;     </a:t>
            </a:r>
          </a:p>
          <a:p>
            <a:pPr marL="0" indent="0">
              <a:spcBef>
                <a:spcPts val="0"/>
              </a:spcBef>
              <a:spcAft>
                <a:spcPts val="200"/>
              </a:spcAft>
              <a:buNone/>
            </a:pPr>
            <a:r>
              <a:rPr lang="en-US" sz="1600" b="1" dirty="0" err="1">
                <a:latin typeface="Courier"/>
                <a:cs typeface="Courier"/>
              </a:rPr>
              <a:t>LocalVariableStorage</a:t>
            </a:r>
            <a:r>
              <a:rPr lang="en-US" sz="1600" b="1" dirty="0">
                <a:latin typeface="Courier"/>
                <a:cs typeface="Courier"/>
              </a:rPr>
              <a:t>&lt;dim&gt;              		</a:t>
            </a:r>
            <a:r>
              <a:rPr lang="en-US" sz="1600" b="1" dirty="0" err="1">
                <a:latin typeface="Courier"/>
                <a:cs typeface="Courier"/>
              </a:rPr>
              <a:t>local_storage</a:t>
            </a:r>
            <a:r>
              <a:rPr lang="en-US" sz="1600" b="1" dirty="0">
                <a:latin typeface="Courier"/>
                <a:cs typeface="Courier"/>
              </a:rPr>
              <a:t>_;</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35</a:t>
            </a:fld>
            <a:endParaRPr lang="en-US"/>
          </a:p>
        </p:txBody>
      </p:sp>
      <p:grpSp>
        <p:nvGrpSpPr>
          <p:cNvPr id="7" name="Group 6"/>
          <p:cNvGrpSpPr/>
          <p:nvPr/>
        </p:nvGrpSpPr>
        <p:grpSpPr>
          <a:xfrm>
            <a:off x="1121001" y="2878722"/>
            <a:ext cx="7202975" cy="3416803"/>
            <a:chOff x="685800" y="1494592"/>
            <a:chExt cx="6798669" cy="4351081"/>
          </a:xfrm>
        </p:grpSpPr>
        <p:sp>
          <p:nvSpPr>
            <p:cNvPr id="8" name="TextBox 7"/>
            <p:cNvSpPr txBox="1"/>
            <p:nvPr/>
          </p:nvSpPr>
          <p:spPr>
            <a:xfrm>
              <a:off x="2083139" y="1494592"/>
              <a:ext cx="675184" cy="431127"/>
            </a:xfrm>
            <a:prstGeom prst="rect">
              <a:avLst/>
            </a:prstGeom>
            <a:noFill/>
            <a:ln>
              <a:solidFill>
                <a:schemeClr val="tx1"/>
              </a:solidFill>
            </a:ln>
          </p:spPr>
          <p:txBody>
            <a:bodyPr wrap="square" rtlCol="0">
              <a:spAutoFit/>
            </a:bodyPr>
            <a:lstStyle/>
            <a:p>
              <a:r>
                <a:rPr lang="en-US" sz="1600" dirty="0">
                  <a:latin typeface="Arial"/>
                  <a:cs typeface="Arial"/>
                </a:rPr>
                <a:t>Node</a:t>
              </a:r>
            </a:p>
          </p:txBody>
        </p:sp>
        <p:sp>
          <p:nvSpPr>
            <p:cNvPr id="9" name="TextBox 8"/>
            <p:cNvSpPr txBox="1"/>
            <p:nvPr/>
          </p:nvSpPr>
          <p:spPr>
            <a:xfrm>
              <a:off x="4684554" y="4178469"/>
              <a:ext cx="937376" cy="431127"/>
            </a:xfrm>
            <a:prstGeom prst="rect">
              <a:avLst/>
            </a:prstGeom>
            <a:noFill/>
            <a:ln>
              <a:solidFill>
                <a:schemeClr val="tx1"/>
              </a:solidFill>
            </a:ln>
          </p:spPr>
          <p:txBody>
            <a:bodyPr wrap="square" rtlCol="0">
              <a:spAutoFit/>
            </a:bodyPr>
            <a:lstStyle/>
            <a:p>
              <a:r>
                <a:rPr lang="en-US" sz="1600" dirty="0">
                  <a:latin typeface="Arial"/>
                  <a:cs typeface="Arial"/>
                </a:rPr>
                <a:t>Element</a:t>
              </a:r>
            </a:p>
          </p:txBody>
        </p:sp>
        <p:sp>
          <p:nvSpPr>
            <p:cNvPr id="10" name="TextBox 9"/>
            <p:cNvSpPr txBox="1"/>
            <p:nvPr/>
          </p:nvSpPr>
          <p:spPr>
            <a:xfrm>
              <a:off x="6809285" y="3839915"/>
              <a:ext cx="675184" cy="431127"/>
            </a:xfrm>
            <a:prstGeom prst="rect">
              <a:avLst/>
            </a:prstGeom>
            <a:noFill/>
            <a:ln>
              <a:solidFill>
                <a:schemeClr val="tx1"/>
              </a:solidFill>
            </a:ln>
          </p:spPr>
          <p:txBody>
            <a:bodyPr wrap="square" rtlCol="0">
              <a:spAutoFit/>
            </a:bodyPr>
            <a:lstStyle/>
            <a:p>
              <a:r>
                <a:rPr lang="en-US" sz="1600" dirty="0">
                  <a:latin typeface="Arial"/>
                  <a:cs typeface="Arial"/>
                </a:rPr>
                <a:t>Node</a:t>
              </a:r>
            </a:p>
          </p:txBody>
        </p:sp>
        <p:sp>
          <p:nvSpPr>
            <p:cNvPr id="11" name="TextBox 10"/>
            <p:cNvSpPr txBox="1"/>
            <p:nvPr/>
          </p:nvSpPr>
          <p:spPr>
            <a:xfrm>
              <a:off x="1915615" y="5414546"/>
              <a:ext cx="675184" cy="431127"/>
            </a:xfrm>
            <a:prstGeom prst="rect">
              <a:avLst/>
            </a:prstGeom>
            <a:noFill/>
            <a:ln>
              <a:solidFill>
                <a:schemeClr val="tx1"/>
              </a:solidFill>
            </a:ln>
          </p:spPr>
          <p:txBody>
            <a:bodyPr wrap="square" rtlCol="0">
              <a:spAutoFit/>
            </a:bodyPr>
            <a:lstStyle/>
            <a:p>
              <a:r>
                <a:rPr lang="en-US" sz="1600" dirty="0">
                  <a:latin typeface="Arial"/>
                  <a:cs typeface="Arial"/>
                </a:rPr>
                <a:t>Node</a:t>
              </a:r>
            </a:p>
          </p:txBody>
        </p:sp>
        <p:sp>
          <p:nvSpPr>
            <p:cNvPr id="12" name="TextBox 11"/>
            <p:cNvSpPr txBox="1"/>
            <p:nvPr/>
          </p:nvSpPr>
          <p:spPr>
            <a:xfrm>
              <a:off x="5621930" y="1663869"/>
              <a:ext cx="675184" cy="431127"/>
            </a:xfrm>
            <a:prstGeom prst="rect">
              <a:avLst/>
            </a:prstGeom>
            <a:noFill/>
            <a:ln>
              <a:solidFill>
                <a:schemeClr val="tx1"/>
              </a:solidFill>
            </a:ln>
          </p:spPr>
          <p:txBody>
            <a:bodyPr wrap="square" rtlCol="0">
              <a:spAutoFit/>
            </a:bodyPr>
            <a:lstStyle/>
            <a:p>
              <a:r>
                <a:rPr lang="en-US" sz="1600" dirty="0">
                  <a:latin typeface="Arial"/>
                  <a:cs typeface="Arial"/>
                </a:rPr>
                <a:t>Node</a:t>
              </a:r>
            </a:p>
          </p:txBody>
        </p:sp>
        <p:sp>
          <p:nvSpPr>
            <p:cNvPr id="13" name="TextBox 12"/>
            <p:cNvSpPr txBox="1"/>
            <p:nvPr/>
          </p:nvSpPr>
          <p:spPr>
            <a:xfrm>
              <a:off x="3846354" y="3247192"/>
              <a:ext cx="675184" cy="431127"/>
            </a:xfrm>
            <a:prstGeom prst="rect">
              <a:avLst/>
            </a:prstGeom>
            <a:noFill/>
            <a:ln>
              <a:solidFill>
                <a:schemeClr val="tx1"/>
              </a:solidFill>
            </a:ln>
          </p:spPr>
          <p:txBody>
            <a:bodyPr wrap="square" rtlCol="0">
              <a:spAutoFit/>
            </a:bodyPr>
            <a:lstStyle/>
            <a:p>
              <a:r>
                <a:rPr lang="en-US" sz="1600" dirty="0">
                  <a:latin typeface="Arial"/>
                  <a:cs typeface="Arial"/>
                </a:rPr>
                <a:t>Node</a:t>
              </a:r>
            </a:p>
          </p:txBody>
        </p:sp>
        <p:sp>
          <p:nvSpPr>
            <p:cNvPr id="14" name="TextBox 13"/>
            <p:cNvSpPr txBox="1"/>
            <p:nvPr/>
          </p:nvSpPr>
          <p:spPr>
            <a:xfrm>
              <a:off x="4346961" y="5245269"/>
              <a:ext cx="675184" cy="431127"/>
            </a:xfrm>
            <a:prstGeom prst="rect">
              <a:avLst/>
            </a:prstGeom>
            <a:noFill/>
            <a:ln>
              <a:solidFill>
                <a:schemeClr val="tx1"/>
              </a:solidFill>
            </a:ln>
          </p:spPr>
          <p:txBody>
            <a:bodyPr wrap="square" rtlCol="0">
              <a:spAutoFit/>
            </a:bodyPr>
            <a:lstStyle/>
            <a:p>
              <a:r>
                <a:rPr lang="en-US" sz="1600" dirty="0">
                  <a:latin typeface="Arial"/>
                  <a:cs typeface="Arial"/>
                </a:rPr>
                <a:t>Node</a:t>
              </a:r>
            </a:p>
          </p:txBody>
        </p:sp>
        <p:sp>
          <p:nvSpPr>
            <p:cNvPr id="15" name="TextBox 14"/>
            <p:cNvSpPr txBox="1"/>
            <p:nvPr/>
          </p:nvSpPr>
          <p:spPr>
            <a:xfrm>
              <a:off x="5359739" y="2908639"/>
              <a:ext cx="937376" cy="431127"/>
            </a:xfrm>
            <a:prstGeom prst="rect">
              <a:avLst/>
            </a:prstGeom>
            <a:noFill/>
            <a:ln>
              <a:solidFill>
                <a:schemeClr val="tx1"/>
              </a:solidFill>
            </a:ln>
          </p:spPr>
          <p:txBody>
            <a:bodyPr wrap="square" rtlCol="0">
              <a:spAutoFit/>
            </a:bodyPr>
            <a:lstStyle/>
            <a:p>
              <a:r>
                <a:rPr lang="en-US" sz="1600" dirty="0">
                  <a:latin typeface="Arial"/>
                  <a:cs typeface="Arial"/>
                </a:rPr>
                <a:t>Element</a:t>
              </a:r>
            </a:p>
          </p:txBody>
        </p:sp>
        <p:sp>
          <p:nvSpPr>
            <p:cNvPr id="16" name="TextBox 15"/>
            <p:cNvSpPr txBox="1"/>
            <p:nvPr/>
          </p:nvSpPr>
          <p:spPr>
            <a:xfrm>
              <a:off x="3715259" y="2070439"/>
              <a:ext cx="937376" cy="431127"/>
            </a:xfrm>
            <a:prstGeom prst="rect">
              <a:avLst/>
            </a:prstGeom>
            <a:noFill/>
            <a:ln>
              <a:solidFill>
                <a:schemeClr val="tx1"/>
              </a:solidFill>
            </a:ln>
          </p:spPr>
          <p:txBody>
            <a:bodyPr wrap="square" rtlCol="0">
              <a:spAutoFit/>
            </a:bodyPr>
            <a:lstStyle/>
            <a:p>
              <a:r>
                <a:rPr lang="en-US" sz="1600" dirty="0">
                  <a:latin typeface="Arial"/>
                  <a:cs typeface="Arial"/>
                </a:rPr>
                <a:t>Element</a:t>
              </a:r>
            </a:p>
          </p:txBody>
        </p:sp>
        <p:cxnSp>
          <p:nvCxnSpPr>
            <p:cNvPr id="17" name="Straight Connector 16"/>
            <p:cNvCxnSpPr>
              <a:stCxn id="8" idx="3"/>
              <a:endCxn id="12" idx="1"/>
            </p:cNvCxnSpPr>
            <p:nvPr/>
          </p:nvCxnSpPr>
          <p:spPr>
            <a:xfrm>
              <a:off x="2758323" y="1710155"/>
              <a:ext cx="2863607" cy="1692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8" idx="3"/>
              <a:endCxn id="13" idx="0"/>
            </p:cNvCxnSpPr>
            <p:nvPr/>
          </p:nvCxnSpPr>
          <p:spPr>
            <a:xfrm>
              <a:off x="2758323" y="1710155"/>
              <a:ext cx="1425623" cy="1537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3" idx="0"/>
              <a:endCxn id="12" idx="2"/>
            </p:cNvCxnSpPr>
            <p:nvPr/>
          </p:nvCxnSpPr>
          <p:spPr>
            <a:xfrm rot="5400000" flipH="1" flipV="1">
              <a:off x="4495636" y="1783307"/>
              <a:ext cx="1152196" cy="1775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2" idx="2"/>
              <a:endCxn id="10" idx="0"/>
            </p:cNvCxnSpPr>
            <p:nvPr/>
          </p:nvCxnSpPr>
          <p:spPr>
            <a:xfrm rot="16200000" flipH="1">
              <a:off x="5680740" y="2373777"/>
              <a:ext cx="1744920" cy="1187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3" idx="3"/>
              <a:endCxn id="10" idx="1"/>
            </p:cNvCxnSpPr>
            <p:nvPr/>
          </p:nvCxnSpPr>
          <p:spPr>
            <a:xfrm>
              <a:off x="4521538" y="3462755"/>
              <a:ext cx="2287747" cy="592723"/>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122112" y="2739362"/>
              <a:ext cx="937376" cy="431127"/>
            </a:xfrm>
            <a:prstGeom prst="rect">
              <a:avLst/>
            </a:prstGeom>
            <a:noFill/>
            <a:ln>
              <a:solidFill>
                <a:schemeClr val="tx1"/>
              </a:solidFill>
            </a:ln>
          </p:spPr>
          <p:txBody>
            <a:bodyPr wrap="square" rtlCol="0">
              <a:spAutoFit/>
            </a:bodyPr>
            <a:lstStyle/>
            <a:p>
              <a:r>
                <a:rPr lang="en-US" sz="1600" dirty="0">
                  <a:latin typeface="Arial"/>
                  <a:cs typeface="Arial"/>
                </a:rPr>
                <a:t>Element</a:t>
              </a:r>
            </a:p>
          </p:txBody>
        </p:sp>
        <p:sp>
          <p:nvSpPr>
            <p:cNvPr id="23" name="TextBox 22"/>
            <p:cNvSpPr txBox="1"/>
            <p:nvPr/>
          </p:nvSpPr>
          <p:spPr>
            <a:xfrm>
              <a:off x="685800" y="3501361"/>
              <a:ext cx="675184" cy="431127"/>
            </a:xfrm>
            <a:prstGeom prst="rect">
              <a:avLst/>
            </a:prstGeom>
            <a:noFill/>
            <a:ln>
              <a:solidFill>
                <a:schemeClr val="tx1"/>
              </a:solidFill>
            </a:ln>
          </p:spPr>
          <p:txBody>
            <a:bodyPr wrap="square" rtlCol="0">
              <a:spAutoFit/>
            </a:bodyPr>
            <a:lstStyle/>
            <a:p>
              <a:r>
                <a:rPr lang="en-US" sz="1600" dirty="0">
                  <a:latin typeface="Arial"/>
                  <a:cs typeface="Arial"/>
                </a:rPr>
                <a:t>Node</a:t>
              </a:r>
            </a:p>
          </p:txBody>
        </p:sp>
        <p:cxnSp>
          <p:nvCxnSpPr>
            <p:cNvPr id="24" name="Straight Connector 23"/>
            <p:cNvCxnSpPr>
              <a:stCxn id="13" idx="2"/>
              <a:endCxn id="14" idx="0"/>
            </p:cNvCxnSpPr>
            <p:nvPr/>
          </p:nvCxnSpPr>
          <p:spPr>
            <a:xfrm rot="16200000" flipH="1">
              <a:off x="3650773" y="4211490"/>
              <a:ext cx="1566951" cy="500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4" idx="0"/>
              <a:endCxn id="10" idx="2"/>
            </p:cNvCxnSpPr>
            <p:nvPr/>
          </p:nvCxnSpPr>
          <p:spPr>
            <a:xfrm rot="5400000" flipH="1" flipV="1">
              <a:off x="5428601" y="3526994"/>
              <a:ext cx="974227" cy="24623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8" idx="2"/>
              <a:endCxn id="23" idx="0"/>
            </p:cNvCxnSpPr>
            <p:nvPr/>
          </p:nvCxnSpPr>
          <p:spPr>
            <a:xfrm rot="5400000">
              <a:off x="934242" y="2014870"/>
              <a:ext cx="1575642" cy="1397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3" idx="3"/>
              <a:endCxn id="13" idx="1"/>
            </p:cNvCxnSpPr>
            <p:nvPr/>
          </p:nvCxnSpPr>
          <p:spPr>
            <a:xfrm flipV="1">
              <a:off x="1360984" y="3462755"/>
              <a:ext cx="2485370" cy="2541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23" idx="2"/>
              <a:endCxn id="11" idx="0"/>
            </p:cNvCxnSpPr>
            <p:nvPr/>
          </p:nvCxnSpPr>
          <p:spPr>
            <a:xfrm rot="16200000" flipH="1">
              <a:off x="897270" y="4058609"/>
              <a:ext cx="1482058" cy="1229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1" idx="3"/>
              <a:endCxn id="14" idx="1"/>
            </p:cNvCxnSpPr>
            <p:nvPr/>
          </p:nvCxnSpPr>
          <p:spPr>
            <a:xfrm flipV="1">
              <a:off x="2590799" y="5460833"/>
              <a:ext cx="1756162" cy="169277"/>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551827" y="4347746"/>
              <a:ext cx="937376" cy="431127"/>
            </a:xfrm>
            <a:prstGeom prst="rect">
              <a:avLst/>
            </a:prstGeom>
            <a:noFill/>
            <a:ln>
              <a:solidFill>
                <a:schemeClr val="tx1"/>
              </a:solidFill>
            </a:ln>
          </p:spPr>
          <p:txBody>
            <a:bodyPr wrap="square" rtlCol="0">
              <a:spAutoFit/>
            </a:bodyPr>
            <a:lstStyle/>
            <a:p>
              <a:r>
                <a:rPr lang="en-US" sz="1600" dirty="0">
                  <a:latin typeface="Arial"/>
                  <a:cs typeface="Arial"/>
                </a:rPr>
                <a:t>Element</a:t>
              </a:r>
            </a:p>
          </p:txBody>
        </p:sp>
        <p:cxnSp>
          <p:nvCxnSpPr>
            <p:cNvPr id="31" name="Straight Arrow Connector 30"/>
            <p:cNvCxnSpPr>
              <a:stCxn id="22" idx="0"/>
              <a:endCxn id="8" idx="2"/>
            </p:cNvCxnSpPr>
            <p:nvPr/>
          </p:nvCxnSpPr>
          <p:spPr>
            <a:xfrm rot="16200000" flipV="1">
              <a:off x="2098945" y="2247507"/>
              <a:ext cx="813643" cy="17006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2" name="Straight Arrow Connector 31"/>
            <p:cNvCxnSpPr>
              <a:stCxn id="22" idx="1"/>
              <a:endCxn id="23" idx="0"/>
            </p:cNvCxnSpPr>
            <p:nvPr/>
          </p:nvCxnSpPr>
          <p:spPr>
            <a:xfrm rot="10800000" flipV="1">
              <a:off x="1023393" y="2954924"/>
              <a:ext cx="1098720" cy="546435"/>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3" name="Straight Arrow Connector 32"/>
            <p:cNvCxnSpPr>
              <a:stCxn id="22" idx="3"/>
              <a:endCxn id="13" idx="1"/>
            </p:cNvCxnSpPr>
            <p:nvPr/>
          </p:nvCxnSpPr>
          <p:spPr>
            <a:xfrm>
              <a:off x="3059488" y="2954925"/>
              <a:ext cx="786866" cy="50783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4" name="Straight Arrow Connector 33"/>
            <p:cNvCxnSpPr>
              <a:stCxn id="30" idx="0"/>
              <a:endCxn id="13" idx="2"/>
            </p:cNvCxnSpPr>
            <p:nvPr/>
          </p:nvCxnSpPr>
          <p:spPr>
            <a:xfrm rot="5400000" flipH="1" flipV="1">
              <a:off x="3267517" y="3431317"/>
              <a:ext cx="669428" cy="1163431"/>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5" name="Straight Arrow Connector 34"/>
            <p:cNvCxnSpPr>
              <a:stCxn id="30" idx="0"/>
              <a:endCxn id="23" idx="3"/>
            </p:cNvCxnSpPr>
            <p:nvPr/>
          </p:nvCxnSpPr>
          <p:spPr>
            <a:xfrm rot="16200000" flipV="1">
              <a:off x="1875339" y="3202569"/>
              <a:ext cx="630822" cy="1659531"/>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6" name="Straight Arrow Connector 35"/>
            <p:cNvCxnSpPr>
              <a:stCxn id="30" idx="2"/>
              <a:endCxn id="11" idx="0"/>
            </p:cNvCxnSpPr>
            <p:nvPr/>
          </p:nvCxnSpPr>
          <p:spPr>
            <a:xfrm rot="5400000">
              <a:off x="2319026" y="4713056"/>
              <a:ext cx="635673" cy="76730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7" name="Straight Arrow Connector 36"/>
            <p:cNvCxnSpPr>
              <a:stCxn id="30" idx="2"/>
              <a:endCxn id="14" idx="0"/>
            </p:cNvCxnSpPr>
            <p:nvPr/>
          </p:nvCxnSpPr>
          <p:spPr>
            <a:xfrm rot="16200000" flipH="1">
              <a:off x="3619335" y="4180052"/>
              <a:ext cx="466396" cy="1664037"/>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38" name="Straight Arrow Connector 37"/>
            <p:cNvCxnSpPr>
              <a:stCxn id="15" idx="0"/>
              <a:endCxn id="16" idx="3"/>
            </p:cNvCxnSpPr>
            <p:nvPr/>
          </p:nvCxnSpPr>
          <p:spPr>
            <a:xfrm rot="16200000" flipV="1">
              <a:off x="4929213" y="2009423"/>
              <a:ext cx="622636" cy="1175792"/>
            </a:xfrm>
            <a:prstGeom prst="straightConnector1">
              <a:avLst/>
            </a:prstGeom>
            <a:ln>
              <a:headEnd type="triangle"/>
              <a:tailEnd type="stealth"/>
            </a:ln>
          </p:spPr>
          <p:style>
            <a:lnRef idx="3">
              <a:schemeClr val="accent2"/>
            </a:lnRef>
            <a:fillRef idx="0">
              <a:schemeClr val="accent2"/>
            </a:fillRef>
            <a:effectRef idx="2">
              <a:schemeClr val="accent2"/>
            </a:effectRef>
            <a:fontRef idx="minor">
              <a:schemeClr val="tx1"/>
            </a:fontRef>
          </p:style>
        </p:cxnSp>
        <p:cxnSp>
          <p:nvCxnSpPr>
            <p:cNvPr id="39" name="Straight Arrow Connector 38"/>
            <p:cNvCxnSpPr>
              <a:stCxn id="15" idx="2"/>
              <a:endCxn id="9" idx="0"/>
            </p:cNvCxnSpPr>
            <p:nvPr/>
          </p:nvCxnSpPr>
          <p:spPr>
            <a:xfrm rot="5400000">
              <a:off x="5071484" y="3421525"/>
              <a:ext cx="838703" cy="675185"/>
            </a:xfrm>
            <a:prstGeom prst="straightConnector1">
              <a:avLst/>
            </a:prstGeom>
            <a:ln>
              <a:headEnd type="triangle"/>
              <a:tailEnd type="stealth"/>
            </a:ln>
          </p:spPr>
          <p:style>
            <a:lnRef idx="3">
              <a:schemeClr val="accent2"/>
            </a:lnRef>
            <a:fillRef idx="0">
              <a:schemeClr val="accent2"/>
            </a:fillRef>
            <a:effectRef idx="2">
              <a:schemeClr val="accent2"/>
            </a:effectRef>
            <a:fontRef idx="minor">
              <a:schemeClr val="tx1"/>
            </a:fontRef>
          </p:style>
        </p:cxnSp>
        <p:cxnSp>
          <p:nvCxnSpPr>
            <p:cNvPr id="40" name="Straight Arrow Connector 39"/>
            <p:cNvCxnSpPr>
              <a:stCxn id="15" idx="3"/>
            </p:cNvCxnSpPr>
            <p:nvPr/>
          </p:nvCxnSpPr>
          <p:spPr>
            <a:xfrm flipV="1">
              <a:off x="6297115" y="2408993"/>
              <a:ext cx="1187354" cy="715209"/>
            </a:xfrm>
            <a:prstGeom prst="straightConnector1">
              <a:avLst/>
            </a:prstGeom>
            <a:ln>
              <a:headEnd type="triangle"/>
              <a:tailEnd type="stealth"/>
            </a:ln>
          </p:spPr>
          <p:style>
            <a:lnRef idx="3">
              <a:schemeClr val="accent2"/>
            </a:lnRef>
            <a:fillRef idx="0">
              <a:schemeClr val="accent2"/>
            </a:fillRef>
            <a:effectRef idx="2">
              <a:schemeClr val="accent2"/>
            </a:effectRef>
            <a:fontRef idx="minor">
              <a:schemeClr val="tx1"/>
            </a:fontRef>
          </p:style>
        </p:cxnSp>
        <p:cxnSp>
          <p:nvCxnSpPr>
            <p:cNvPr id="41" name="Straight Arrow Connector 40"/>
            <p:cNvCxnSpPr>
              <a:stCxn id="13" idx="0"/>
              <a:endCxn id="16" idx="2"/>
            </p:cNvCxnSpPr>
            <p:nvPr/>
          </p:nvCxnSpPr>
          <p:spPr>
            <a:xfrm rot="5400000" flipH="1" flipV="1">
              <a:off x="3811133" y="2874380"/>
              <a:ext cx="745626" cy="1"/>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2" name="Straight Arrow Connector 41"/>
            <p:cNvCxnSpPr>
              <a:stCxn id="13" idx="3"/>
              <a:endCxn id="15" idx="1"/>
            </p:cNvCxnSpPr>
            <p:nvPr/>
          </p:nvCxnSpPr>
          <p:spPr>
            <a:xfrm flipV="1">
              <a:off x="4521538" y="3124202"/>
              <a:ext cx="838201" cy="33855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3" name="Straight Arrow Connector 42"/>
            <p:cNvCxnSpPr>
              <a:stCxn id="13" idx="3"/>
              <a:endCxn id="9" idx="0"/>
            </p:cNvCxnSpPr>
            <p:nvPr/>
          </p:nvCxnSpPr>
          <p:spPr>
            <a:xfrm>
              <a:off x="4521538" y="3462755"/>
              <a:ext cx="631705" cy="71571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4" name="Straight Arrow Connector 43"/>
            <p:cNvCxnSpPr>
              <a:stCxn id="13" idx="2"/>
              <a:endCxn id="30" idx="3"/>
            </p:cNvCxnSpPr>
            <p:nvPr/>
          </p:nvCxnSpPr>
          <p:spPr>
            <a:xfrm rot="5400000">
              <a:off x="3394079" y="3773442"/>
              <a:ext cx="884991" cy="69474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5" name="Straight Arrow Connector 44"/>
            <p:cNvCxnSpPr>
              <a:stCxn id="13" idx="1"/>
              <a:endCxn id="22" idx="2"/>
            </p:cNvCxnSpPr>
            <p:nvPr/>
          </p:nvCxnSpPr>
          <p:spPr>
            <a:xfrm rot="10800000">
              <a:off x="2590800" y="3170489"/>
              <a:ext cx="1255554" cy="29226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47" name="TextBox 46"/>
          <p:cNvSpPr txBox="1"/>
          <p:nvPr/>
        </p:nvSpPr>
        <p:spPr>
          <a:xfrm>
            <a:off x="457200" y="3011651"/>
            <a:ext cx="1298027" cy="369332"/>
          </a:xfrm>
          <a:prstGeom prst="rect">
            <a:avLst/>
          </a:prstGeom>
          <a:noFill/>
        </p:spPr>
        <p:txBody>
          <a:bodyPr wrap="none" rtlCol="0">
            <a:spAutoFit/>
          </a:bodyPr>
          <a:lstStyle/>
          <a:p>
            <a:r>
              <a:rPr lang="en-US" dirty="0" err="1"/>
              <a:t>elmt_vec</a:t>
            </a:r>
            <a:r>
              <a:rPr lang="en-US" dirty="0"/>
              <a:t>_[]</a:t>
            </a:r>
          </a:p>
        </p:txBody>
      </p:sp>
      <p:sp>
        <p:nvSpPr>
          <p:cNvPr id="48" name="TextBox 47"/>
          <p:cNvSpPr txBox="1"/>
          <p:nvPr/>
        </p:nvSpPr>
        <p:spPr>
          <a:xfrm>
            <a:off x="609600" y="5574268"/>
            <a:ext cx="1349761" cy="369332"/>
          </a:xfrm>
          <a:prstGeom prst="rect">
            <a:avLst/>
          </a:prstGeom>
          <a:noFill/>
        </p:spPr>
        <p:txBody>
          <a:bodyPr wrap="none" rtlCol="0">
            <a:spAutoFit/>
          </a:bodyPr>
          <a:lstStyle/>
          <a:p>
            <a:r>
              <a:rPr lang="en-US" dirty="0" err="1"/>
              <a:t>node_vec</a:t>
            </a:r>
            <a:r>
              <a:rPr lang="en-US" dirty="0"/>
              <a:t>_[]</a:t>
            </a:r>
          </a:p>
        </p:txBody>
      </p:sp>
      <p:cxnSp>
        <p:nvCxnSpPr>
          <p:cNvPr id="50" name="Straight Arrow Connector 49"/>
          <p:cNvCxnSpPr>
            <a:stCxn id="48" idx="0"/>
            <a:endCxn id="23" idx="2"/>
          </p:cNvCxnSpPr>
          <p:nvPr/>
        </p:nvCxnSpPr>
        <p:spPr>
          <a:xfrm rot="5400000" flipH="1" flipV="1">
            <a:off x="991014" y="5086613"/>
            <a:ext cx="781123" cy="1941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48" idx="0"/>
            <a:endCxn id="8" idx="2"/>
          </p:cNvCxnSpPr>
          <p:nvPr/>
        </p:nvCxnSpPr>
        <p:spPr>
          <a:xfrm rot="5400000" flipH="1" flipV="1">
            <a:off x="943297" y="3558460"/>
            <a:ext cx="2356992" cy="167462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a:stCxn id="48" idx="0"/>
            <a:endCxn id="12" idx="1"/>
          </p:cNvCxnSpPr>
          <p:nvPr/>
        </p:nvCxnSpPr>
        <p:spPr>
          <a:xfrm rot="5400000" flipH="1" flipV="1">
            <a:off x="2620908" y="1844501"/>
            <a:ext cx="2393340" cy="50661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a:stCxn id="48" idx="0"/>
            <a:endCxn id="13" idx="1"/>
          </p:cNvCxnSpPr>
          <p:nvPr/>
        </p:nvCxnSpPr>
        <p:spPr>
          <a:xfrm rot="5400000" flipH="1" flipV="1">
            <a:off x="2301998" y="3406759"/>
            <a:ext cx="1149993" cy="318502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a:stCxn id="48" idx="0"/>
            <a:endCxn id="10" idx="1"/>
          </p:cNvCxnSpPr>
          <p:nvPr/>
        </p:nvCxnSpPr>
        <p:spPr>
          <a:xfrm rot="5400000" flipH="1" flipV="1">
            <a:off x="4104290" y="2069919"/>
            <a:ext cx="684541" cy="632415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stCxn id="48" idx="0"/>
            <a:endCxn id="14" idx="1"/>
          </p:cNvCxnSpPr>
          <p:nvPr/>
        </p:nvCxnSpPr>
        <p:spPr>
          <a:xfrm rot="16200000" flipH="1">
            <a:off x="2932657" y="3926091"/>
            <a:ext cx="419051" cy="37154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a:stCxn id="48" idx="0"/>
            <a:endCxn id="11" idx="1"/>
          </p:cNvCxnSpPr>
          <p:nvPr/>
        </p:nvCxnSpPr>
        <p:spPr>
          <a:xfrm rot="16200000" flipH="1">
            <a:off x="1578226" y="5280523"/>
            <a:ext cx="551980" cy="11394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a:stCxn id="47" idx="2"/>
            <a:endCxn id="22" idx="1"/>
          </p:cNvCxnSpPr>
          <p:nvPr/>
        </p:nvCxnSpPr>
        <p:spPr>
          <a:xfrm rot="16200000" flipH="1">
            <a:off x="1552219" y="2934978"/>
            <a:ext cx="644505" cy="15365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a:stCxn id="47" idx="2"/>
            <a:endCxn id="16" idx="1"/>
          </p:cNvCxnSpPr>
          <p:nvPr/>
        </p:nvCxnSpPr>
        <p:spPr>
          <a:xfrm rot="16200000" flipH="1">
            <a:off x="2658808" y="1828388"/>
            <a:ext cx="119215" cy="322440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5480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p:txBody>
          <a:bodyPr/>
          <a:lstStyle/>
          <a:p>
            <a:r>
              <a:rPr lang="en-US" dirty="0"/>
              <a:t>Boundaries, and </a:t>
            </a:r>
            <a:r>
              <a:rPr lang="en-US" dirty="0" err="1"/>
              <a:t>SplitBoundaries</a:t>
            </a:r>
            <a:endParaRPr lang="en-US" dirty="0"/>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36</a:t>
            </a:fld>
            <a:endParaRPr lang="en-US"/>
          </a:p>
        </p:txBody>
      </p:sp>
    </p:spTree>
    <p:extLst>
      <p:ext uri="{BB962C8B-B14F-4D97-AF65-F5344CB8AC3E}">
        <p14:creationId xmlns:p14="http://schemas.microsoft.com/office/powerpoint/2010/main" val="29943759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008"/>
            <a:ext cx="8229600" cy="548680"/>
          </a:xfrm>
        </p:spPr>
        <p:txBody>
          <a:bodyPr>
            <a:normAutofit fontScale="90000"/>
          </a:bodyPr>
          <a:lstStyle/>
          <a:p>
            <a:r>
              <a:rPr lang="en-US" dirty="0"/>
              <a:t>Boundary – lower dimensional Faces</a:t>
            </a:r>
          </a:p>
        </p:txBody>
      </p:sp>
      <p:sp>
        <p:nvSpPr>
          <p:cNvPr id="3" name="Content Placeholder 2"/>
          <p:cNvSpPr>
            <a:spLocks noGrp="1"/>
          </p:cNvSpPr>
          <p:nvPr>
            <p:ph idx="1"/>
          </p:nvPr>
        </p:nvSpPr>
        <p:spPr>
          <a:xfrm>
            <a:off x="457200" y="692696"/>
            <a:ext cx="8229600" cy="5976664"/>
          </a:xfrm>
        </p:spPr>
        <p:txBody>
          <a:bodyPr>
            <a:normAutofit fontScale="85000" lnSpcReduction="10000"/>
          </a:bodyPr>
          <a:lstStyle/>
          <a:p>
            <a:pPr marL="179388" indent="-179388">
              <a:spcAft>
                <a:spcPts val="1200"/>
              </a:spcAft>
            </a:pPr>
            <a:r>
              <a:rPr lang="en-US" dirty="0"/>
              <a:t>Build by </a:t>
            </a:r>
            <a:r>
              <a:rPr lang="en-US" dirty="0" err="1"/>
              <a:t>InsertBoundary</a:t>
            </a:r>
            <a:r>
              <a:rPr lang="en-US" dirty="0"/>
              <a:t>(), that invokes the </a:t>
            </a:r>
            <a:r>
              <a:rPr lang="en-US" dirty="0" err="1"/>
              <a:t>CreateFor</a:t>
            </a:r>
            <a:r>
              <a:rPr lang="en-US" dirty="0"/>
              <a:t>(), </a:t>
            </a:r>
            <a:r>
              <a:rPr lang="en-US" dirty="0" err="1"/>
              <a:t>CreateFrom</a:t>
            </a:r>
            <a:r>
              <a:rPr lang="en-US" dirty="0"/>
              <a:t>() and </a:t>
            </a:r>
            <a:r>
              <a:rPr lang="en-US" dirty="0" err="1"/>
              <a:t>CreateBetween</a:t>
            </a:r>
            <a:r>
              <a:rPr lang="en-US" dirty="0"/>
              <a:t>() methods of the </a:t>
            </a:r>
            <a:r>
              <a:rPr lang="en-US" dirty="0" err="1"/>
              <a:t>ModelSubDomain</a:t>
            </a:r>
            <a:r>
              <a:rPr lang="en-US" dirty="0"/>
              <a:t>, </a:t>
            </a:r>
          </a:p>
          <a:p>
            <a:pPr marL="179388" indent="-179388">
              <a:spcAft>
                <a:spcPts val="1200"/>
              </a:spcAft>
            </a:pPr>
            <a:r>
              <a:rPr lang="en-US" dirty="0"/>
              <a:t>Boundaries and </a:t>
            </a:r>
            <a:r>
              <a:rPr lang="en-US" dirty="0" err="1"/>
              <a:t>SplitBoundary’s</a:t>
            </a:r>
            <a:r>
              <a:rPr lang="en-US" dirty="0"/>
              <a:t> consist of lower-dimensional Face and </a:t>
            </a:r>
            <a:r>
              <a:rPr lang="en-US" dirty="0" err="1"/>
              <a:t>InterFace</a:t>
            </a:r>
            <a:r>
              <a:rPr lang="en-US" dirty="0"/>
              <a:t> elements, respectively. Such elements are </a:t>
            </a:r>
            <a:r>
              <a:rPr lang="en-US" u="sng" dirty="0"/>
              <a:t>not</a:t>
            </a:r>
            <a:r>
              <a:rPr lang="en-US" dirty="0"/>
              <a:t> part of the default Region “Model”.</a:t>
            </a:r>
          </a:p>
          <a:p>
            <a:pPr marL="179388" indent="-179388">
              <a:spcAft>
                <a:spcPts val="1200"/>
              </a:spcAft>
            </a:pPr>
            <a:r>
              <a:rPr lang="en-US" dirty="0"/>
              <a:t>Faces / </a:t>
            </a:r>
            <a:r>
              <a:rPr lang="en-US" dirty="0" err="1"/>
              <a:t>InterFaces</a:t>
            </a:r>
            <a:r>
              <a:rPr lang="en-US" dirty="0"/>
              <a:t> have </a:t>
            </a:r>
            <a:r>
              <a:rPr lang="en-US" dirty="0" err="1"/>
              <a:t>normals</a:t>
            </a:r>
            <a:r>
              <a:rPr lang="en-US" dirty="0"/>
              <a:t> which point to the second (outside) region</a:t>
            </a:r>
          </a:p>
          <a:p>
            <a:pPr marL="179388" indent="-179388">
              <a:spcAft>
                <a:spcPts val="1200"/>
              </a:spcAft>
            </a:pPr>
            <a:r>
              <a:rPr lang="en-US" dirty="0"/>
              <a:t>All Face </a:t>
            </a:r>
            <a:r>
              <a:rPr lang="en-US" dirty="0" err="1"/>
              <a:t>normals</a:t>
            </a:r>
            <a:r>
              <a:rPr lang="en-US" dirty="0"/>
              <a:t>, on the outer model boundaries point to the outside of the model, there is no neighbor element on that side</a:t>
            </a:r>
          </a:p>
          <a:p>
            <a:pPr marL="179388" indent="-179388">
              <a:spcAft>
                <a:spcPts val="1200"/>
              </a:spcAft>
            </a:pPr>
            <a:r>
              <a:rPr lang="en-US" dirty="0"/>
              <a:t>Boundary names are generated from the names of the regions which the boundary separates; the first region is on the inside, the second is on the outside Region (example shale-fault), see </a:t>
            </a:r>
            <a:r>
              <a:rPr lang="en-US" dirty="0" err="1"/>
              <a:t>OpenCSMP</a:t>
            </a:r>
            <a:r>
              <a:rPr lang="en-US" dirty="0"/>
              <a:t> User Guide</a:t>
            </a:r>
          </a:p>
          <a:p>
            <a:pPr marL="179388" indent="-179388">
              <a:spcAft>
                <a:spcPts val="1200"/>
              </a:spcAft>
            </a:pPr>
            <a:r>
              <a:rPr lang="en-US" dirty="0"/>
              <a:t>For convenience, outside boundary names can be retrieved just by querying for the boundary name string; it is unique.</a:t>
            </a:r>
          </a:p>
          <a:p>
            <a:pPr marL="179388" indent="-179388">
              <a:spcAft>
                <a:spcPts val="1200"/>
              </a:spcAft>
            </a:pPr>
            <a:r>
              <a:rPr lang="en-US" dirty="0" err="1"/>
              <a:t>SplitBoundaries</a:t>
            </a:r>
            <a:r>
              <a:rPr lang="en-US" dirty="0"/>
              <a:t> (inside of model only) are created from pre-existing Boundaries</a:t>
            </a:r>
          </a:p>
          <a:p>
            <a:pPr marL="179388" indent="-179388">
              <a:spcAft>
                <a:spcPts val="1200"/>
              </a:spcAft>
            </a:pPr>
            <a:r>
              <a:rPr lang="en-US" dirty="0"/>
              <a:t>Box-related boundary (BOX_BOUNDARY)  flags are replaced with Boundary object supported functionality. Corresponding boundary objects are named in the old way (LEFT, RIGHT…). They are created only for box-shaped models</a:t>
            </a:r>
          </a:p>
          <a:p>
            <a:pPr marL="0" indent="0">
              <a:spcAft>
                <a:spcPts val="1200"/>
              </a:spcAft>
              <a:buNone/>
            </a:pPr>
            <a:r>
              <a:rPr lang="en-US" dirty="0"/>
              <a:t>Comment: </a:t>
            </a:r>
            <a:r>
              <a:rPr lang="en-US" i="1" dirty="0"/>
              <a:t>Unlike for Regions, properties </a:t>
            </a:r>
            <a:r>
              <a:rPr lang="en-US" i="1" dirty="0" err="1"/>
              <a:t>discretised</a:t>
            </a:r>
            <a:r>
              <a:rPr lang="en-US" i="1" dirty="0"/>
              <a:t> on Boundary objects do not exist on all finite elements of the model, see examples.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37</a:t>
            </a:fld>
            <a:endParaRPr lang="en-US"/>
          </a:p>
        </p:txBody>
      </p:sp>
    </p:spTree>
    <p:extLst>
      <p:ext uri="{BB962C8B-B14F-4D97-AF65-F5344CB8AC3E}">
        <p14:creationId xmlns:p14="http://schemas.microsoft.com/office/powerpoint/2010/main" val="15780063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792088"/>
          </a:xfrm>
        </p:spPr>
        <p:txBody>
          <a:bodyPr>
            <a:normAutofit/>
          </a:bodyPr>
          <a:lstStyle/>
          <a:p>
            <a:r>
              <a:rPr lang="en-US" dirty="0"/>
              <a:t>Special functionality for box-shaped models</a:t>
            </a:r>
          </a:p>
        </p:txBody>
      </p:sp>
      <p:sp>
        <p:nvSpPr>
          <p:cNvPr id="3" name="Content Placeholder 2"/>
          <p:cNvSpPr>
            <a:spLocks noGrp="1"/>
          </p:cNvSpPr>
          <p:nvPr>
            <p:ph idx="1"/>
          </p:nvPr>
        </p:nvSpPr>
        <p:spPr>
          <a:xfrm>
            <a:off x="457200" y="908720"/>
            <a:ext cx="8229600" cy="5544616"/>
          </a:xfrm>
        </p:spPr>
        <p:txBody>
          <a:bodyPr>
            <a:normAutofit fontScale="77500" lnSpcReduction="20000"/>
          </a:bodyPr>
          <a:lstStyle/>
          <a:p>
            <a:pPr marL="0" indent="0">
              <a:buNone/>
            </a:pPr>
            <a:r>
              <a:rPr lang="en-US" sz="2200" dirty="0"/>
              <a:t>(automatic detection and labeling of edges and corners etc.)</a:t>
            </a:r>
          </a:p>
          <a:p>
            <a:r>
              <a:rPr lang="en-US" sz="2200" dirty="0"/>
              <a:t>To use this, create CAD entities with box boundary names, indicating a box-shaped model to CSMP (BACK, FRONT, TOP, BOTTOM, LEFT, RIGHT), see Users Guide. </a:t>
            </a:r>
          </a:p>
          <a:p>
            <a:r>
              <a:rPr lang="en-US" sz="2200" dirty="0"/>
              <a:t>This will generate Boundary objects with the corresponding names, transforming the CAD input regions (of Elements) into boundaries (of Faces).  </a:t>
            </a:r>
          </a:p>
          <a:p>
            <a:r>
              <a:rPr lang="en-US" sz="2200" dirty="0"/>
              <a:t>This transformation is important because, in contrast to the regions, the boundary Face objects do not automatically form part of the domain “Model.” Therefore, they do not make additional contributions to the solution matrix.</a:t>
            </a:r>
          </a:p>
          <a:p>
            <a:r>
              <a:rPr lang="en-US" sz="2200" dirty="0"/>
              <a:t>Given such a CSMP box shaped model, one can use corresponding interfaces defined in Box, the enumeration BOX_BOUNDARY, and member functions of the model:</a:t>
            </a:r>
          </a:p>
          <a:p>
            <a:endParaRPr lang="en-US" dirty="0"/>
          </a:p>
          <a:p>
            <a:pPr marL="0" indent="0">
              <a:spcBef>
                <a:spcPts val="0"/>
              </a:spcBef>
              <a:spcAft>
                <a:spcPts val="0"/>
              </a:spcAft>
              <a:buNone/>
            </a:pPr>
            <a:r>
              <a:rPr lang="en-US" dirty="0">
                <a:solidFill>
                  <a:srgbClr val="000000"/>
                </a:solidFill>
                <a:latin typeface="Menlo"/>
                <a:ea typeface="Menlo"/>
                <a:cs typeface="Menlo"/>
              </a:rPr>
              <a:t> </a:t>
            </a:r>
            <a:r>
              <a:rPr lang="en-US" sz="1600" b="1" dirty="0">
                <a:solidFill>
                  <a:srgbClr val="251CB5"/>
                </a:solidFill>
                <a:latin typeface="Courier"/>
                <a:ea typeface="Menlo"/>
                <a:cs typeface="Courier"/>
              </a:rPr>
              <a:t>template</a:t>
            </a:r>
            <a:r>
              <a:rPr lang="en-US" sz="1600" b="1" dirty="0">
                <a:solidFill>
                  <a:srgbClr val="000000"/>
                </a:solidFill>
                <a:latin typeface="Courier"/>
                <a:ea typeface="Menlo"/>
                <a:cs typeface="Courier"/>
              </a:rPr>
              <a:t>&lt;</a:t>
            </a:r>
            <a:r>
              <a:rPr lang="en-US" sz="1600" b="1" dirty="0">
                <a:solidFill>
                  <a:srgbClr val="251CB5"/>
                </a:solidFill>
                <a:latin typeface="Courier"/>
                <a:ea typeface="Menlo"/>
                <a:cs typeface="Courier"/>
              </a:rPr>
              <a:t>class</a:t>
            </a:r>
            <a:r>
              <a:rPr lang="en-US" sz="1600" b="1" dirty="0">
                <a:solidFill>
                  <a:srgbClr val="000000"/>
                </a:solidFill>
                <a:latin typeface="Courier"/>
                <a:ea typeface="Menlo"/>
                <a:cs typeface="Courier"/>
              </a:rPr>
              <a:t> T&gt;</a:t>
            </a:r>
          </a:p>
          <a:p>
            <a:pPr marL="0" indent="0">
              <a:spcBef>
                <a:spcPts val="0"/>
              </a:spcBef>
              <a:spcAft>
                <a:spcPts val="0"/>
              </a:spcAft>
              <a:buNone/>
            </a:pP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void</a:t>
            </a:r>
            <a:r>
              <a:rPr lang="en-US" sz="1600" b="1" dirty="0">
                <a:solidFill>
                  <a:srgbClr val="000000"/>
                </a:solidFill>
                <a:latin typeface="Courier"/>
                <a:ea typeface="Menlo"/>
                <a:cs typeface="Courier"/>
              </a:rPr>
              <a:t> </a:t>
            </a:r>
            <a:r>
              <a:rPr lang="en-US" sz="1600" b="1" dirty="0" err="1">
                <a:solidFill>
                  <a:srgbClr val="000000"/>
                </a:solidFill>
                <a:latin typeface="Courier"/>
                <a:ea typeface="Menlo"/>
                <a:cs typeface="Courier"/>
              </a:rPr>
              <a:t>InputBoundaryValue</a:t>
            </a:r>
            <a:r>
              <a:rPr lang="en-US" sz="1600" b="1" dirty="0">
                <a:solidFill>
                  <a:srgbClr val="000000"/>
                </a:solidFill>
                <a:latin typeface="Courier"/>
                <a:ea typeface="Menlo"/>
                <a:cs typeface="Courier"/>
              </a:rPr>
              <a:t>( </a:t>
            </a:r>
            <a:r>
              <a:rPr lang="en-US" sz="1600" b="1" dirty="0">
                <a:solidFill>
                  <a:srgbClr val="00671B"/>
                </a:solidFill>
                <a:latin typeface="Courier"/>
                <a:ea typeface="Menlo"/>
                <a:cs typeface="Courier"/>
              </a:rPr>
              <a:t>BOX_BOUNDARY</a:t>
            </a:r>
            <a:r>
              <a:rPr lang="en-US" sz="1600" b="1" dirty="0">
                <a:solidFill>
                  <a:srgbClr val="000000"/>
                </a:solidFill>
                <a:latin typeface="Courier"/>
                <a:ea typeface="Menlo"/>
                <a:cs typeface="Courier"/>
              </a:rPr>
              <a:t>,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char</a:t>
            </a:r>
            <a:r>
              <a:rPr lang="en-US" sz="1600" b="1" dirty="0">
                <a:solidFill>
                  <a:srgbClr val="000000"/>
                </a:solidFill>
                <a:latin typeface="Courier"/>
                <a:ea typeface="Menlo"/>
                <a:cs typeface="Courier"/>
              </a:rPr>
              <a:t>* </a:t>
            </a:r>
            <a:r>
              <a:rPr lang="en-US" sz="1600" b="1" dirty="0" err="1">
                <a:solidFill>
                  <a:srgbClr val="000000"/>
                </a:solidFill>
                <a:latin typeface="Courier"/>
                <a:ea typeface="Menlo"/>
                <a:cs typeface="Courier"/>
              </a:rPr>
              <a:t>input_prop</a:t>
            </a:r>
            <a:r>
              <a:rPr lang="en-US" sz="1600" b="1" dirty="0">
                <a:solidFill>
                  <a:srgbClr val="000000"/>
                </a:solidFill>
                <a:latin typeface="Courier"/>
                <a:ea typeface="Menlo"/>
                <a:cs typeface="Courier"/>
              </a:rPr>
              <a:t>,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T&amp; value ); </a:t>
            </a:r>
          </a:p>
          <a:p>
            <a:pPr marL="0" indent="0">
              <a:spcBef>
                <a:spcPts val="0"/>
              </a:spcBef>
              <a:spcAft>
                <a:spcPts val="0"/>
              </a:spcAft>
              <a:buNone/>
            </a:pPr>
            <a:r>
              <a:rPr lang="en-US" sz="1600" b="1" dirty="0">
                <a:solidFill>
                  <a:srgbClr val="000000"/>
                </a:solidFill>
                <a:latin typeface="Courier"/>
                <a:ea typeface="Menlo"/>
                <a:cs typeface="Courier"/>
              </a:rPr>
              <a:t>    </a:t>
            </a:r>
          </a:p>
          <a:p>
            <a:pPr marL="0" indent="0">
              <a:spcBef>
                <a:spcPts val="0"/>
              </a:spcBef>
              <a:spcAft>
                <a:spcPts val="0"/>
              </a:spcAft>
              <a:buNone/>
            </a:pP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void</a:t>
            </a:r>
            <a:r>
              <a:rPr lang="en-US" sz="1600" b="1" dirty="0">
                <a:solidFill>
                  <a:srgbClr val="000000"/>
                </a:solidFill>
                <a:latin typeface="Courier"/>
                <a:ea typeface="Menlo"/>
                <a:cs typeface="Courier"/>
              </a:rPr>
              <a:t> </a:t>
            </a:r>
            <a:r>
              <a:rPr lang="en-US" sz="1600" b="1" dirty="0" err="1">
                <a:solidFill>
                  <a:srgbClr val="000000"/>
                </a:solidFill>
                <a:latin typeface="Courier"/>
                <a:ea typeface="Menlo"/>
                <a:cs typeface="Courier"/>
              </a:rPr>
              <a:t>InputBoundaryFlags</a:t>
            </a:r>
            <a:r>
              <a:rPr lang="en-US" sz="1600" b="1" dirty="0">
                <a:solidFill>
                  <a:srgbClr val="000000"/>
                </a:solidFill>
                <a:latin typeface="Courier"/>
                <a:ea typeface="Menlo"/>
                <a:cs typeface="Courier"/>
              </a:rPr>
              <a:t>( </a:t>
            </a:r>
            <a:r>
              <a:rPr lang="en-US" sz="1600" b="1" dirty="0">
                <a:solidFill>
                  <a:srgbClr val="00671B"/>
                </a:solidFill>
                <a:latin typeface="Courier"/>
                <a:ea typeface="Menlo"/>
                <a:cs typeface="Courier"/>
              </a:rPr>
              <a:t>BOX_BOUNDARY</a:t>
            </a:r>
            <a:r>
              <a:rPr lang="en-US" sz="1600" b="1" dirty="0">
                <a:solidFill>
                  <a:srgbClr val="000000"/>
                </a:solidFill>
                <a:latin typeface="Courier"/>
                <a:ea typeface="Menlo"/>
                <a:cs typeface="Courier"/>
              </a:rPr>
              <a:t>,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char</a:t>
            </a:r>
            <a:r>
              <a:rPr lang="en-US" sz="1600" b="1" dirty="0">
                <a:solidFill>
                  <a:srgbClr val="000000"/>
                </a:solidFill>
                <a:latin typeface="Courier"/>
                <a:ea typeface="Menlo"/>
                <a:cs typeface="Courier"/>
              </a:rPr>
              <a:t>* property,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a:t>
            </a:r>
            <a:r>
              <a:rPr lang="en-US" sz="1600" b="1" dirty="0" err="1">
                <a:solidFill>
                  <a:srgbClr val="743AA7"/>
                </a:solidFill>
                <a:latin typeface="Courier"/>
                <a:ea typeface="Menlo"/>
                <a:cs typeface="Courier"/>
              </a:rPr>
              <a:t>std</a:t>
            </a:r>
            <a:r>
              <a:rPr lang="en-US" sz="1600" b="1" dirty="0">
                <a:solidFill>
                  <a:srgbClr val="000000"/>
                </a:solidFill>
                <a:latin typeface="Courier"/>
                <a:ea typeface="Menlo"/>
                <a:cs typeface="Courier"/>
              </a:rPr>
              <a:t>::</a:t>
            </a:r>
            <a:r>
              <a:rPr lang="en-US" sz="1600" b="1" dirty="0">
                <a:solidFill>
                  <a:srgbClr val="743AA7"/>
                </a:solidFill>
                <a:latin typeface="Courier"/>
                <a:ea typeface="Menlo"/>
                <a:cs typeface="Courier"/>
              </a:rPr>
              <a:t>vector</a:t>
            </a:r>
            <a:r>
              <a:rPr lang="en-US" sz="1600" b="1" dirty="0">
                <a:solidFill>
                  <a:srgbClr val="000000"/>
                </a:solidFill>
                <a:latin typeface="Courier"/>
                <a:ea typeface="Menlo"/>
                <a:cs typeface="Courier"/>
              </a:rPr>
              <a:t>&lt;</a:t>
            </a:r>
            <a:r>
              <a:rPr lang="en-US" sz="1600" b="1" dirty="0">
                <a:solidFill>
                  <a:srgbClr val="00671B"/>
                </a:solidFill>
                <a:latin typeface="Courier"/>
                <a:ea typeface="Menlo"/>
                <a:cs typeface="Courier"/>
              </a:rPr>
              <a:t>VARIABLE_FLAG</a:t>
            </a:r>
            <a:r>
              <a:rPr lang="en-US" sz="1600" b="1" dirty="0">
                <a:solidFill>
                  <a:srgbClr val="000000"/>
                </a:solidFill>
                <a:latin typeface="Courier"/>
                <a:ea typeface="Menlo"/>
                <a:cs typeface="Courier"/>
              </a:rPr>
              <a:t>&gt;&amp; flags );</a:t>
            </a:r>
          </a:p>
          <a:p>
            <a:pPr marL="0" indent="0">
              <a:spcBef>
                <a:spcPts val="0"/>
              </a:spcBef>
              <a:spcAft>
                <a:spcPts val="0"/>
              </a:spcAft>
              <a:buNone/>
            </a:pPr>
            <a:endParaRPr lang="en-US" sz="1600" b="1" dirty="0">
              <a:solidFill>
                <a:srgbClr val="000000"/>
              </a:solidFill>
              <a:latin typeface="Courier"/>
              <a:ea typeface="Menlo"/>
              <a:cs typeface="Courier"/>
            </a:endParaRPr>
          </a:p>
          <a:p>
            <a:pPr marL="0" indent="0">
              <a:spcBef>
                <a:spcPts val="0"/>
              </a:spcBef>
              <a:spcAft>
                <a:spcPts val="0"/>
              </a:spcAft>
              <a:buNone/>
            </a:pP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void</a:t>
            </a:r>
            <a:r>
              <a:rPr lang="en-US" sz="1600" b="1" dirty="0">
                <a:solidFill>
                  <a:srgbClr val="000000"/>
                </a:solidFill>
                <a:latin typeface="Courier"/>
                <a:ea typeface="Menlo"/>
                <a:cs typeface="Courier"/>
              </a:rPr>
              <a:t> </a:t>
            </a:r>
            <a:r>
              <a:rPr lang="en-US" sz="1600" b="1" dirty="0" err="1">
                <a:solidFill>
                  <a:srgbClr val="000000"/>
                </a:solidFill>
                <a:latin typeface="Courier"/>
                <a:ea typeface="Menlo"/>
                <a:cs typeface="Courier"/>
              </a:rPr>
              <a:t>InterpolateBoundaryValues</a:t>
            </a:r>
            <a:r>
              <a:rPr lang="en-US" sz="1600" b="1" dirty="0">
                <a:solidFill>
                  <a:srgbClr val="000000"/>
                </a:solidFill>
                <a:latin typeface="Courier"/>
                <a:ea typeface="Menlo"/>
                <a:cs typeface="Courier"/>
              </a:rPr>
              <a:t>( </a:t>
            </a:r>
            <a:r>
              <a:rPr lang="en-US" sz="1600" b="1" dirty="0">
                <a:solidFill>
                  <a:srgbClr val="00671B"/>
                </a:solidFill>
                <a:latin typeface="Courier"/>
                <a:ea typeface="Menlo"/>
                <a:cs typeface="Courier"/>
              </a:rPr>
              <a:t>BOX_BOUNDARY</a:t>
            </a:r>
            <a:r>
              <a:rPr lang="en-US" sz="1600" b="1" dirty="0">
                <a:solidFill>
                  <a:srgbClr val="000000"/>
                </a:solidFill>
                <a:latin typeface="Courier"/>
                <a:ea typeface="Menlo"/>
                <a:cs typeface="Courier"/>
              </a:rPr>
              <a:t>,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char</a:t>
            </a:r>
            <a:r>
              <a:rPr lang="en-US" sz="1600" b="1" dirty="0">
                <a:solidFill>
                  <a:srgbClr val="000000"/>
                </a:solidFill>
                <a:latin typeface="Courier"/>
                <a:ea typeface="Menlo"/>
                <a:cs typeface="Courier"/>
              </a:rPr>
              <a:t>* </a:t>
            </a:r>
            <a:r>
              <a:rPr lang="en-US" sz="1600" b="1" dirty="0" err="1">
                <a:solidFill>
                  <a:srgbClr val="000000"/>
                </a:solidFill>
                <a:latin typeface="Courier"/>
                <a:ea typeface="Menlo"/>
                <a:cs typeface="Courier"/>
              </a:rPr>
              <a:t>input_prop</a:t>
            </a:r>
            <a:r>
              <a:rPr lang="en-US" sz="1600" b="1" dirty="0">
                <a:solidFill>
                  <a:srgbClr val="000000"/>
                </a:solidFill>
                <a:latin typeface="Courier"/>
                <a:ea typeface="Menlo"/>
                <a:cs typeface="Courier"/>
              </a:rPr>
              <a:t>,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a:t>
            </a:r>
            <a:r>
              <a:rPr lang="en-US" sz="1600" b="1" dirty="0" err="1">
                <a:solidFill>
                  <a:srgbClr val="743AA7"/>
                </a:solidFill>
                <a:latin typeface="Courier"/>
                <a:ea typeface="Menlo"/>
                <a:cs typeface="Courier"/>
              </a:rPr>
              <a:t>std</a:t>
            </a:r>
            <a:r>
              <a:rPr lang="en-US" sz="1600" b="1" dirty="0">
                <a:solidFill>
                  <a:srgbClr val="000000"/>
                </a:solidFill>
                <a:latin typeface="Courier"/>
                <a:ea typeface="Menlo"/>
                <a:cs typeface="Courier"/>
              </a:rPr>
              <a:t>::</a:t>
            </a:r>
            <a:r>
              <a:rPr lang="en-US" sz="1600" b="1" dirty="0">
                <a:solidFill>
                  <a:srgbClr val="743AA7"/>
                </a:solidFill>
                <a:latin typeface="Courier"/>
                <a:ea typeface="Menlo"/>
                <a:cs typeface="Courier"/>
              </a:rPr>
              <a:t>vector</a:t>
            </a:r>
            <a:r>
              <a:rPr lang="en-US" sz="1600" b="1" dirty="0">
                <a:solidFill>
                  <a:srgbClr val="000000"/>
                </a:solidFill>
                <a:latin typeface="Courier"/>
                <a:ea typeface="Menlo"/>
                <a:cs typeface="Courier"/>
              </a:rPr>
              <a:t>&lt;</a:t>
            </a:r>
            <a:r>
              <a:rPr lang="en-US" sz="1600" b="1" dirty="0" err="1">
                <a:solidFill>
                  <a:srgbClr val="355A5E"/>
                </a:solidFill>
                <a:latin typeface="Courier"/>
                <a:ea typeface="Menlo"/>
                <a:cs typeface="Courier"/>
              </a:rPr>
              <a:t>ScalarVariable</a:t>
            </a:r>
            <a:r>
              <a:rPr lang="en-US" sz="1600" b="1" dirty="0">
                <a:solidFill>
                  <a:srgbClr val="000000"/>
                </a:solidFill>
                <a:latin typeface="Courier"/>
                <a:ea typeface="Menlo"/>
                <a:cs typeface="Courier"/>
              </a:rPr>
              <a:t> &gt;&amp; </a:t>
            </a:r>
            <a:r>
              <a:rPr lang="en-US" sz="1600" b="1" dirty="0" err="1">
                <a:solidFill>
                  <a:srgbClr val="000000"/>
                </a:solidFill>
                <a:latin typeface="Courier"/>
                <a:ea typeface="Menlo"/>
                <a:cs typeface="Courier"/>
              </a:rPr>
              <a:t>bvalues</a:t>
            </a:r>
            <a:r>
              <a:rPr lang="en-US" sz="1600" b="1" dirty="0">
                <a:solidFill>
                  <a:srgbClr val="000000"/>
                </a:solidFill>
                <a:latin typeface="Courier"/>
                <a:ea typeface="Menlo"/>
                <a:cs typeface="Courier"/>
              </a:rPr>
              <a:t> ); </a:t>
            </a:r>
          </a:p>
          <a:p>
            <a:pPr marL="0" indent="0">
              <a:spcBef>
                <a:spcPts val="0"/>
              </a:spcBef>
              <a:spcAft>
                <a:spcPts val="0"/>
              </a:spcAft>
              <a:buNone/>
            </a:pPr>
            <a:endParaRPr lang="en-US" sz="1600" b="1" dirty="0">
              <a:solidFill>
                <a:srgbClr val="000000"/>
              </a:solidFill>
              <a:latin typeface="Courier"/>
              <a:ea typeface="Menlo"/>
              <a:cs typeface="Courier"/>
            </a:endParaRPr>
          </a:p>
          <a:p>
            <a:pPr marL="0" indent="0">
              <a:spcBef>
                <a:spcPts val="0"/>
              </a:spcBef>
              <a:spcAft>
                <a:spcPts val="0"/>
              </a:spcAft>
              <a:buNone/>
            </a:pP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void</a:t>
            </a:r>
            <a:r>
              <a:rPr lang="en-US" sz="1600" b="1" dirty="0">
                <a:solidFill>
                  <a:srgbClr val="000000"/>
                </a:solidFill>
                <a:latin typeface="Courier"/>
                <a:ea typeface="Menlo"/>
                <a:cs typeface="Courier"/>
              </a:rPr>
              <a:t> </a:t>
            </a:r>
            <a:r>
              <a:rPr lang="en-US" sz="1600" b="1" dirty="0" err="1">
                <a:solidFill>
                  <a:srgbClr val="000000"/>
                </a:solidFill>
                <a:latin typeface="Courier"/>
                <a:ea typeface="Menlo"/>
                <a:cs typeface="Courier"/>
              </a:rPr>
              <a:t>InterpolateBoundaryValues</a:t>
            </a:r>
            <a:r>
              <a:rPr lang="en-US" sz="1600" b="1" dirty="0">
                <a:solidFill>
                  <a:srgbClr val="000000"/>
                </a:solidFill>
                <a:latin typeface="Courier"/>
                <a:ea typeface="Menlo"/>
                <a:cs typeface="Courier"/>
              </a:rPr>
              <a:t>( </a:t>
            </a:r>
            <a:r>
              <a:rPr lang="en-US" sz="1600" b="1" dirty="0">
                <a:solidFill>
                  <a:srgbClr val="00671B"/>
                </a:solidFill>
                <a:latin typeface="Courier"/>
                <a:ea typeface="Menlo"/>
                <a:cs typeface="Courier"/>
              </a:rPr>
              <a:t>BOX_BOUNDARY</a:t>
            </a:r>
            <a:r>
              <a:rPr lang="en-US" sz="1600" b="1" dirty="0">
                <a:solidFill>
                  <a:srgbClr val="000000"/>
                </a:solidFill>
                <a:latin typeface="Courier"/>
                <a:ea typeface="Menlo"/>
                <a:cs typeface="Courier"/>
              </a:rPr>
              <a:t>,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a:t>
            </a:r>
            <a:r>
              <a:rPr lang="en-US" sz="1600" b="1" dirty="0">
                <a:solidFill>
                  <a:srgbClr val="251CB5"/>
                </a:solidFill>
                <a:latin typeface="Courier"/>
                <a:ea typeface="Menlo"/>
                <a:cs typeface="Courier"/>
              </a:rPr>
              <a:t>char</a:t>
            </a:r>
            <a:r>
              <a:rPr lang="en-US" sz="1600" b="1" dirty="0">
                <a:solidFill>
                  <a:srgbClr val="000000"/>
                </a:solidFill>
                <a:latin typeface="Courier"/>
                <a:ea typeface="Menlo"/>
                <a:cs typeface="Courier"/>
              </a:rPr>
              <a:t>* </a:t>
            </a:r>
            <a:r>
              <a:rPr lang="en-US" sz="1600" b="1" dirty="0" err="1">
                <a:solidFill>
                  <a:srgbClr val="000000"/>
                </a:solidFill>
                <a:latin typeface="Courier"/>
                <a:ea typeface="Menlo"/>
                <a:cs typeface="Courier"/>
              </a:rPr>
              <a:t>input_prop</a:t>
            </a:r>
            <a:r>
              <a:rPr lang="en-US" sz="1600" b="1" dirty="0">
                <a:solidFill>
                  <a:srgbClr val="000000"/>
                </a:solidFill>
                <a:latin typeface="Courier"/>
                <a:ea typeface="Menlo"/>
                <a:cs typeface="Courier"/>
              </a:rPr>
              <a:t>, </a:t>
            </a:r>
            <a:r>
              <a:rPr lang="en-US" sz="1600" b="1" dirty="0" err="1">
                <a:solidFill>
                  <a:srgbClr val="251CB5"/>
                </a:solidFill>
                <a:latin typeface="Courier"/>
                <a:ea typeface="Menlo"/>
                <a:cs typeface="Courier"/>
              </a:rPr>
              <a:t>const</a:t>
            </a:r>
            <a:r>
              <a:rPr lang="en-US" sz="1600" b="1" dirty="0">
                <a:solidFill>
                  <a:srgbClr val="000000"/>
                </a:solidFill>
                <a:latin typeface="Courier"/>
                <a:ea typeface="Menlo"/>
                <a:cs typeface="Courier"/>
              </a:rPr>
              <a:t> </a:t>
            </a:r>
            <a:r>
              <a:rPr lang="en-US" sz="1600" b="1" dirty="0" err="1">
                <a:solidFill>
                  <a:srgbClr val="743AA7"/>
                </a:solidFill>
                <a:latin typeface="Courier"/>
                <a:ea typeface="Menlo"/>
                <a:cs typeface="Courier"/>
              </a:rPr>
              <a:t>std</a:t>
            </a:r>
            <a:r>
              <a:rPr lang="en-US" sz="1600" b="1" dirty="0">
                <a:solidFill>
                  <a:srgbClr val="000000"/>
                </a:solidFill>
                <a:latin typeface="Courier"/>
                <a:ea typeface="Menlo"/>
                <a:cs typeface="Courier"/>
              </a:rPr>
              <a:t>::</a:t>
            </a:r>
            <a:r>
              <a:rPr lang="en-US" sz="1600" b="1" dirty="0">
                <a:solidFill>
                  <a:srgbClr val="743AA7"/>
                </a:solidFill>
                <a:latin typeface="Courier"/>
                <a:ea typeface="Menlo"/>
                <a:cs typeface="Courier"/>
              </a:rPr>
              <a:t>vector</a:t>
            </a:r>
            <a:r>
              <a:rPr lang="en-US" sz="1600" b="1" dirty="0">
                <a:solidFill>
                  <a:srgbClr val="000000"/>
                </a:solidFill>
                <a:latin typeface="Courier"/>
                <a:ea typeface="Menlo"/>
                <a:cs typeface="Courier"/>
              </a:rPr>
              <a:t>&lt;</a:t>
            </a:r>
            <a:r>
              <a:rPr lang="en-US" sz="1600" b="1" dirty="0" err="1">
                <a:solidFill>
                  <a:srgbClr val="355A5E"/>
                </a:solidFill>
                <a:latin typeface="Courier"/>
                <a:ea typeface="Menlo"/>
                <a:cs typeface="Courier"/>
              </a:rPr>
              <a:t>VectorVariable</a:t>
            </a:r>
            <a:r>
              <a:rPr lang="en-US" sz="1600" b="1" dirty="0">
                <a:solidFill>
                  <a:srgbClr val="000000"/>
                </a:solidFill>
                <a:latin typeface="Courier"/>
                <a:ea typeface="Menlo"/>
                <a:cs typeface="Courier"/>
              </a:rPr>
              <a:t>&lt;dim&gt; &gt;&amp; </a:t>
            </a:r>
            <a:r>
              <a:rPr lang="en-US" sz="1600" b="1" dirty="0" err="1">
                <a:solidFill>
                  <a:srgbClr val="000000"/>
                </a:solidFill>
                <a:latin typeface="Courier"/>
                <a:ea typeface="Menlo"/>
                <a:cs typeface="Courier"/>
              </a:rPr>
              <a:t>bvalues</a:t>
            </a:r>
            <a:r>
              <a:rPr lang="en-US" sz="1600" b="1" dirty="0">
                <a:solidFill>
                  <a:srgbClr val="000000"/>
                </a:solidFill>
                <a:latin typeface="Courier"/>
                <a:ea typeface="Menlo"/>
                <a:cs typeface="Courier"/>
              </a:rPr>
              <a:t> ); </a:t>
            </a:r>
            <a:endParaRPr lang="en-US" sz="1600" b="1" dirty="0">
              <a:latin typeface="Courier"/>
              <a:cs typeface="Courier"/>
            </a:endParaRP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38</a:t>
            </a:fld>
            <a:endParaRPr lang="en-US"/>
          </a:p>
        </p:txBody>
      </p:sp>
    </p:spTree>
    <p:extLst>
      <p:ext uri="{BB962C8B-B14F-4D97-AF65-F5344CB8AC3E}">
        <p14:creationId xmlns:p14="http://schemas.microsoft.com/office/powerpoint/2010/main" val="837430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normAutofit/>
          </a:bodyPr>
          <a:lstStyle/>
          <a:p>
            <a:r>
              <a:rPr lang="en-US" dirty="0"/>
              <a:t>Assignment of boundary conditions using the configuration file</a:t>
            </a:r>
          </a:p>
        </p:txBody>
      </p:sp>
      <p:sp>
        <p:nvSpPr>
          <p:cNvPr id="3" name="Content Placeholder 2"/>
          <p:cNvSpPr>
            <a:spLocks noGrp="1"/>
          </p:cNvSpPr>
          <p:nvPr>
            <p:ph idx="1"/>
          </p:nvPr>
        </p:nvSpPr>
        <p:spPr>
          <a:xfrm>
            <a:off x="457200" y="1268760"/>
            <a:ext cx="8229600" cy="5224115"/>
          </a:xfrm>
        </p:spPr>
        <p:txBody>
          <a:bodyPr>
            <a:normAutofit fontScale="92500" lnSpcReduction="20000"/>
          </a:bodyPr>
          <a:lstStyle/>
          <a:p>
            <a:pPr marL="0" indent="0">
              <a:buNone/>
            </a:pPr>
            <a:r>
              <a:rPr lang="en-US" dirty="0"/>
              <a:t>Option 1: const values by region:  via “*-</a:t>
            </a:r>
            <a:r>
              <a:rPr lang="en-US" dirty="0" err="1"/>
              <a:t>configuration.txt</a:t>
            </a:r>
            <a:r>
              <a:rPr lang="en-US" dirty="0"/>
              <a:t>” file:</a:t>
            </a:r>
          </a:p>
          <a:p>
            <a:pPr marL="0" indent="0">
              <a:buNone/>
            </a:pPr>
            <a:endParaRPr lang="en-US" dirty="0"/>
          </a:p>
          <a:p>
            <a:pPr marL="0" indent="0">
              <a:buNone/>
            </a:pPr>
            <a:r>
              <a:rPr lang="en-US" b="1" dirty="0"/>
              <a:t>File structure </a:t>
            </a:r>
            <a:r>
              <a:rPr lang="en-US" dirty="0"/>
              <a:t>(optional blocks made available by </a:t>
            </a:r>
            <a:r>
              <a:rPr lang="en-US" b="1" dirty="0" err="1"/>
              <a:t>InputDataManager</a:t>
            </a:r>
            <a:r>
              <a:rPr lang="en-US" dirty="0"/>
              <a:t>)</a:t>
            </a:r>
          </a:p>
          <a:p>
            <a:pPr marL="263525" indent="-263525">
              <a:buAutoNum type="arabicPeriod"/>
            </a:pPr>
            <a:r>
              <a:rPr lang="en-US" dirty="0">
                <a:solidFill>
                  <a:schemeClr val="bg1">
                    <a:lumMod val="50000"/>
                  </a:schemeClr>
                </a:solidFill>
              </a:rPr>
              <a:t>Regions from </a:t>
            </a:r>
            <a:r>
              <a:rPr lang="en-US" dirty="0" err="1">
                <a:solidFill>
                  <a:schemeClr val="bg1">
                    <a:lumMod val="50000"/>
                  </a:schemeClr>
                </a:solidFill>
              </a:rPr>
              <a:t>propery</a:t>
            </a:r>
            <a:r>
              <a:rPr lang="en-US" dirty="0">
                <a:solidFill>
                  <a:schemeClr val="bg1">
                    <a:lumMod val="50000"/>
                  </a:schemeClr>
                </a:solidFill>
              </a:rPr>
              <a:t> value ranges </a:t>
            </a:r>
          </a:p>
          <a:p>
            <a:pPr marL="263525" indent="-263525">
              <a:buAutoNum type="arabicPeriod"/>
            </a:pPr>
            <a:r>
              <a:rPr lang="en-US" dirty="0"/>
              <a:t>properties and variable values for entire model (defaults) </a:t>
            </a:r>
          </a:p>
          <a:p>
            <a:pPr marL="263525" indent="-263525">
              <a:buAutoNum type="arabicPeriod"/>
            </a:pPr>
            <a:r>
              <a:rPr lang="en-US" dirty="0"/>
              <a:t>regional properties and variable values specific to regions</a:t>
            </a:r>
          </a:p>
          <a:p>
            <a:pPr marL="263525" indent="-263525">
              <a:buAutoNum type="arabicPeriod"/>
            </a:pPr>
            <a:r>
              <a:rPr lang="en-US" dirty="0"/>
              <a:t>regional variable flags specific to regions</a:t>
            </a:r>
          </a:p>
          <a:p>
            <a:pPr lvl="1"/>
            <a:r>
              <a:rPr lang="en-US" dirty="0"/>
              <a:t>For instance, to freeze variable values in a region</a:t>
            </a:r>
          </a:p>
          <a:p>
            <a:pPr marL="457200" indent="-457200">
              <a:buFont typeface="+mj-lt"/>
              <a:buAutoNum type="arabicPeriod"/>
            </a:pPr>
            <a:r>
              <a:rPr lang="en-US" dirty="0"/>
              <a:t>essential conditions applied to </a:t>
            </a:r>
            <a:r>
              <a:rPr lang="en-US" dirty="0" err="1"/>
              <a:t>boundarys</a:t>
            </a:r>
            <a:r>
              <a:rPr lang="en-US" dirty="0"/>
              <a:t>; syntax:</a:t>
            </a:r>
          </a:p>
          <a:p>
            <a:pPr marL="457200" lvl="1" indent="0">
              <a:buNone/>
            </a:pPr>
            <a:r>
              <a:rPr lang="en-US" b="1" dirty="0">
                <a:latin typeface="Courier"/>
                <a:cs typeface="Courier"/>
              </a:rPr>
              <a:t>	</a:t>
            </a:r>
            <a:r>
              <a:rPr lang="en-US" sz="1700" b="1" dirty="0">
                <a:latin typeface="Courier"/>
                <a:cs typeface="Courier"/>
              </a:rPr>
              <a:t>BOTTOM		complete	</a:t>
            </a:r>
            <a:r>
              <a:rPr lang="en-US" sz="1700" b="1" dirty="0" err="1">
                <a:latin typeface="Courier"/>
                <a:cs typeface="Courier"/>
              </a:rPr>
              <a:t>Dirichlet</a:t>
            </a:r>
            <a:r>
              <a:rPr lang="en-US" sz="1700" b="1" dirty="0">
                <a:latin typeface="Courier"/>
                <a:cs typeface="Courier"/>
              </a:rPr>
              <a:t>	fluid pressure	4.0e+8	</a:t>
            </a:r>
          </a:p>
          <a:p>
            <a:pPr marL="457200" lvl="1" indent="0">
              <a:buNone/>
            </a:pPr>
            <a:r>
              <a:rPr lang="en-US" sz="1700" b="1" dirty="0">
                <a:latin typeface="Courier"/>
                <a:cs typeface="Courier"/>
              </a:rPr>
              <a:t>	LEFT		complete	</a:t>
            </a:r>
            <a:r>
              <a:rPr lang="en-US" sz="1700" b="1" dirty="0" err="1">
                <a:latin typeface="Courier"/>
                <a:cs typeface="Courier"/>
              </a:rPr>
              <a:t>Dirichlet</a:t>
            </a:r>
            <a:r>
              <a:rPr lang="en-US" sz="1700" b="1" dirty="0">
                <a:latin typeface="Courier"/>
                <a:cs typeface="Courier"/>
              </a:rPr>
              <a:t>	saturation water	0.22</a:t>
            </a:r>
          </a:p>
          <a:p>
            <a:pPr marL="457200" lvl="1" indent="0">
              <a:buNone/>
            </a:pPr>
            <a:r>
              <a:rPr lang="en-US" sz="1700" b="1" dirty="0">
                <a:latin typeface="Courier"/>
                <a:cs typeface="Courier"/>
              </a:rPr>
              <a:t>	LEFT		complete	</a:t>
            </a:r>
            <a:r>
              <a:rPr lang="en-US" sz="1700" b="1" dirty="0" err="1">
                <a:latin typeface="Courier"/>
                <a:cs typeface="Courier"/>
              </a:rPr>
              <a:t>Dirichlet</a:t>
            </a:r>
            <a:r>
              <a:rPr lang="en-US" sz="1700" b="1" dirty="0">
                <a:latin typeface="Courier"/>
                <a:cs typeface="Courier"/>
              </a:rPr>
              <a:t>	saturation oil		0.78</a:t>
            </a:r>
            <a:r>
              <a:rPr lang="en-US" b="1" dirty="0">
                <a:latin typeface="Courier"/>
                <a:cs typeface="Courier"/>
              </a:rPr>
              <a:t>	</a:t>
            </a:r>
          </a:p>
          <a:p>
            <a:pPr marL="0" indent="0">
              <a:buNone/>
            </a:pPr>
            <a:r>
              <a:rPr lang="en-US" dirty="0"/>
              <a:t>5. computational settings, see code examples.</a:t>
            </a:r>
          </a:p>
        </p:txBody>
      </p:sp>
      <p:sp>
        <p:nvSpPr>
          <p:cNvPr id="10" name="Date Placeholder 3"/>
          <p:cNvSpPr>
            <a:spLocks noGrp="1"/>
          </p:cNvSpPr>
          <p:nvPr>
            <p:ph type="dt" sz="half" idx="10"/>
          </p:nvPr>
        </p:nvSpPr>
        <p:spPr>
          <a:xfrm>
            <a:off x="35496" y="6492875"/>
            <a:ext cx="2133600" cy="365125"/>
          </a:xfrm>
        </p:spPr>
        <p:txBody>
          <a:bodyPr/>
          <a:lstStyle/>
          <a:p>
            <a:fld id="{42113430-5F54-9740-B307-5C0C53476417}" type="datetime1">
              <a:rPr lang="en-US" smtClean="0"/>
              <a:pPr/>
              <a:t>5/2/24</a:t>
            </a:fld>
            <a:endParaRPr lang="en-US"/>
          </a:p>
        </p:txBody>
      </p:sp>
      <p:sp>
        <p:nvSpPr>
          <p:cNvPr id="11" name="Footer Placeholder 4"/>
          <p:cNvSpPr>
            <a:spLocks noGrp="1"/>
          </p:cNvSpPr>
          <p:nvPr>
            <p:ph type="ftr" sz="quarter" idx="11"/>
          </p:nvPr>
        </p:nvSpPr>
        <p:spPr>
          <a:xfrm>
            <a:off x="3124200" y="6492875"/>
            <a:ext cx="2895600" cy="365125"/>
          </a:xfrm>
        </p:spPr>
        <p:txBody>
          <a:bodyPr/>
          <a:lstStyle/>
          <a:p>
            <a:r>
              <a:rPr lang="en-US" dirty="0"/>
              <a:t>Model, Region, Boundaries</a:t>
            </a:r>
          </a:p>
        </p:txBody>
      </p:sp>
      <p:sp>
        <p:nvSpPr>
          <p:cNvPr id="12"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pPr/>
              <a:t>39</a:t>
            </a:fld>
            <a:endParaRPr lang="en-US"/>
          </a:p>
        </p:txBody>
      </p:sp>
    </p:spTree>
    <p:extLst>
      <p:ext uri="{BB962C8B-B14F-4D97-AF65-F5344CB8AC3E}">
        <p14:creationId xmlns:p14="http://schemas.microsoft.com/office/powerpoint/2010/main" val="2355486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SplitBoundary</a:t>
            </a:r>
            <a:r>
              <a:rPr lang="en-US" dirty="0"/>
              <a:t> objects</a:t>
            </a:r>
          </a:p>
        </p:txBody>
      </p:sp>
      <p:sp>
        <p:nvSpPr>
          <p:cNvPr id="3" name="Content Placeholder 2"/>
          <p:cNvSpPr>
            <a:spLocks noGrp="1"/>
          </p:cNvSpPr>
          <p:nvPr>
            <p:ph idx="1"/>
          </p:nvPr>
        </p:nvSpPr>
        <p:spPr>
          <a:xfrm>
            <a:off x="457200" y="914400"/>
            <a:ext cx="8229600" cy="5578475"/>
          </a:xfrm>
        </p:spPr>
        <p:txBody>
          <a:bodyPr>
            <a:normAutofit/>
          </a:bodyPr>
          <a:lstStyle/>
          <a:p>
            <a:r>
              <a:rPr lang="en-US" dirty="0"/>
              <a:t>Intended for </a:t>
            </a:r>
            <a:r>
              <a:rPr lang="en-US" dirty="0" err="1"/>
              <a:t>modelling</a:t>
            </a:r>
            <a:r>
              <a:rPr lang="en-US" dirty="0"/>
              <a:t> jump discontinuities in node variables or complete barriers in the mesh domain. </a:t>
            </a:r>
          </a:p>
          <a:p>
            <a:r>
              <a:rPr lang="en-US" dirty="0"/>
              <a:t>Represent conformal mesh boundaries with matching, but </a:t>
            </a:r>
            <a:r>
              <a:rPr lang="en-US" dirty="0" err="1"/>
              <a:t>multiplicated</a:t>
            </a:r>
            <a:r>
              <a:rPr lang="en-US" dirty="0"/>
              <a:t> nodes. As many multiples of nodes are created as there are materials in contact with one another at that node point.</a:t>
            </a:r>
          </a:p>
          <a:p>
            <a:r>
              <a:rPr lang="en-US" dirty="0" err="1"/>
              <a:t>SplitBoundaries</a:t>
            </a:r>
            <a:r>
              <a:rPr lang="en-US" dirty="0"/>
              <a:t> consist of </a:t>
            </a:r>
            <a:r>
              <a:rPr lang="en-US" dirty="0" err="1"/>
              <a:t>InterFace</a:t>
            </a:r>
            <a:r>
              <a:rPr lang="en-US" dirty="0"/>
              <a:t> objects</a:t>
            </a:r>
          </a:p>
          <a:p>
            <a:r>
              <a:rPr lang="en-US" dirty="0"/>
              <a:t>Like Face objects, </a:t>
            </a:r>
            <a:r>
              <a:rPr lang="en-US" dirty="0" err="1"/>
              <a:t>InterFace</a:t>
            </a:r>
            <a:r>
              <a:rPr lang="en-US" dirty="0"/>
              <a:t> objects know their higher-dimensional neighbor elements on either side.</a:t>
            </a:r>
          </a:p>
          <a:p>
            <a:r>
              <a:rPr lang="en-US" dirty="0"/>
              <a:t>Are internal model boundaries </a:t>
            </a:r>
          </a:p>
          <a:p>
            <a:r>
              <a:rPr lang="en-US" dirty="0" err="1"/>
              <a:t>SplitBoundary</a:t>
            </a:r>
            <a:r>
              <a:rPr lang="en-US" dirty="0"/>
              <a:t> objects can be generated by </a:t>
            </a:r>
            <a:r>
              <a:rPr lang="en-US" dirty="0" err="1"/>
              <a:t>OpenCSMP</a:t>
            </a:r>
            <a:r>
              <a:rPr lang="en-US" dirty="0"/>
              <a:t>; no need for doing this in an external mesh generator</a:t>
            </a:r>
          </a:p>
          <a:p>
            <a:pPr marL="0" indent="0">
              <a:buNone/>
            </a:pPr>
            <a:r>
              <a:rPr lang="en-US" dirty="0"/>
              <a:t>Comments</a:t>
            </a:r>
          </a:p>
          <a:p>
            <a:pPr marL="0" indent="0">
              <a:buNone/>
            </a:pPr>
            <a:r>
              <a:rPr lang="en-US" i="1" dirty="0"/>
              <a:t>	</a:t>
            </a:r>
            <a:r>
              <a:rPr lang="en-US" i="1" dirty="0" err="1"/>
              <a:t>SplitBoundary</a:t>
            </a:r>
            <a:r>
              <a:rPr lang="en-US" i="1" dirty="0"/>
              <a:t> objects are conformal (meshes on either side match)</a:t>
            </a:r>
          </a:p>
          <a:p>
            <a:pPr marL="0" indent="0">
              <a:buNone/>
            </a:pPr>
            <a:r>
              <a:rPr lang="en-US" i="1" dirty="0"/>
              <a:t>      Many features of </a:t>
            </a:r>
            <a:r>
              <a:rPr lang="en-US" i="1" dirty="0" err="1"/>
              <a:t>ModelSubDomain</a:t>
            </a:r>
            <a:r>
              <a:rPr lang="en-US" i="1" dirty="0"/>
              <a:t> are disabled for them</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Model, Region, Boundaries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40</a:t>
            </a:fld>
            <a:endParaRPr lang="en-US"/>
          </a:p>
        </p:txBody>
      </p:sp>
    </p:spTree>
    <p:extLst>
      <p:ext uri="{BB962C8B-B14F-4D97-AF65-F5344CB8AC3E}">
        <p14:creationId xmlns:p14="http://schemas.microsoft.com/office/powerpoint/2010/main" val="4047290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1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0" y="-1"/>
            <a:ext cx="9177959" cy="6886407"/>
          </a:xfrm>
          <a:prstGeom prst="rect">
            <a:avLst/>
          </a:prstGeom>
        </p:spPr>
      </p:pic>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457200" y="914400"/>
            <a:ext cx="8229600" cy="5578475"/>
          </a:xfrm>
        </p:spPr>
        <p:txBody>
          <a:bodyPr>
            <a:normAutofit/>
          </a:bodyPr>
          <a:lstStyle/>
          <a:p>
            <a:pPr marL="457200" indent="-457200">
              <a:spcBef>
                <a:spcPts val="1300"/>
              </a:spcBef>
              <a:spcAft>
                <a:spcPts val="1800"/>
              </a:spcAft>
              <a:buFont typeface="+mj-lt"/>
              <a:buAutoNum type="arabicPeriod"/>
            </a:pPr>
            <a:r>
              <a:rPr lang="en-US" sz="2400" dirty="0"/>
              <a:t>Introduction</a:t>
            </a:r>
          </a:p>
          <a:p>
            <a:pPr marL="457200" indent="-457200">
              <a:spcBef>
                <a:spcPts val="1300"/>
              </a:spcBef>
              <a:spcAft>
                <a:spcPts val="1800"/>
              </a:spcAft>
              <a:buFont typeface="+mj-lt"/>
              <a:buAutoNum type="arabicPeriod"/>
            </a:pPr>
            <a:r>
              <a:rPr lang="en-US" sz="2400" dirty="0"/>
              <a:t>CSMP variable types and their management</a:t>
            </a:r>
          </a:p>
          <a:p>
            <a:pPr marL="457200" indent="-457200">
              <a:spcBef>
                <a:spcPts val="1300"/>
              </a:spcBef>
              <a:spcAft>
                <a:spcPts val="1800"/>
              </a:spcAft>
              <a:buFont typeface="+mj-lt"/>
              <a:buAutoNum type="arabicPeriod"/>
            </a:pPr>
            <a:r>
              <a:rPr lang="en-US" sz="2400" dirty="0"/>
              <a:t>The Model, its Regions and Boundaries</a:t>
            </a:r>
          </a:p>
          <a:p>
            <a:pPr marL="457200" indent="-457200">
              <a:spcBef>
                <a:spcPts val="1300"/>
              </a:spcBef>
              <a:spcAft>
                <a:spcPts val="1800"/>
              </a:spcAft>
              <a:buFont typeface="+mj-lt"/>
              <a:buAutoNum type="arabicPeriod"/>
            </a:pPr>
            <a:r>
              <a:rPr lang="en-US" sz="2400" dirty="0">
                <a:solidFill>
                  <a:srgbClr val="FFFF00"/>
                </a:solidFill>
              </a:rPr>
              <a:t>Hybrid finite element – finite volume discretization</a:t>
            </a:r>
          </a:p>
          <a:p>
            <a:pPr marL="457200" indent="-457200">
              <a:spcBef>
                <a:spcPts val="1300"/>
              </a:spcBef>
              <a:spcAft>
                <a:spcPts val="1800"/>
              </a:spcAft>
              <a:buFont typeface="+mj-lt"/>
              <a:buAutoNum type="arabicPeriod"/>
            </a:pPr>
            <a:r>
              <a:rPr lang="en-US" sz="2400" dirty="0"/>
              <a:t>Solving PDE’s: the </a:t>
            </a:r>
            <a:r>
              <a:rPr lang="en-US" sz="2400" dirty="0" err="1"/>
              <a:t>PDE_Integrator</a:t>
            </a:r>
            <a:r>
              <a:rPr lang="en-US" sz="2400" dirty="0"/>
              <a:t> framework</a:t>
            </a:r>
          </a:p>
          <a:p>
            <a:pPr marL="457200" indent="-457200">
              <a:spcBef>
                <a:spcPts val="1300"/>
              </a:spcBef>
              <a:spcAft>
                <a:spcPts val="1800"/>
              </a:spcAft>
              <a:buFont typeface="+mj-lt"/>
              <a:buAutoNum type="arabicPeriod"/>
            </a:pPr>
            <a:r>
              <a:rPr lang="en-US" sz="2400" dirty="0"/>
              <a:t>Constitutive relationships: Visitors etc.</a:t>
            </a:r>
          </a:p>
          <a:p>
            <a:pPr marL="457200" indent="-457200">
              <a:spcBef>
                <a:spcPts val="1300"/>
              </a:spcBef>
              <a:spcAft>
                <a:spcPts val="1800"/>
              </a:spcAft>
              <a:buFont typeface="+mj-lt"/>
              <a:buAutoNum type="arabicPeriod"/>
            </a:pPr>
            <a:r>
              <a:rPr lang="en-US" sz="2400" dirty="0"/>
              <a:t>Advanced topics</a:t>
            </a:r>
          </a:p>
          <a:p>
            <a:pPr marL="457200" indent="-457200">
              <a:spcBef>
                <a:spcPts val="1300"/>
              </a:spcBef>
              <a:spcAft>
                <a:spcPts val="1800"/>
              </a:spcAft>
              <a:buFont typeface="+mj-lt"/>
              <a:buAutoNum type="arabicPeriod"/>
            </a:pPr>
            <a:endParaRPr lang="en-US" sz="2400"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a:xfrm>
            <a:off x="3124200" y="6492875"/>
            <a:ext cx="3464024" cy="365125"/>
          </a:xfrm>
        </p:spPr>
        <p:txBody>
          <a:bodyPr/>
          <a:lstStyle/>
          <a:p>
            <a:r>
              <a:rPr lang="en-US" dirty="0"/>
              <a:t>CSMP++ API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41</a:t>
            </a:fld>
            <a:endParaRPr lang="en-US"/>
          </a:p>
        </p:txBody>
      </p:sp>
    </p:spTree>
    <p:extLst>
      <p:ext uri="{BB962C8B-B14F-4D97-AF65-F5344CB8AC3E}">
        <p14:creationId xmlns:p14="http://schemas.microsoft.com/office/powerpoint/2010/main" val="1382668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a:xfrm>
            <a:off x="722312" y="4406900"/>
            <a:ext cx="8170167" cy="1362075"/>
          </a:xfrm>
        </p:spPr>
        <p:txBody>
          <a:bodyPr/>
          <a:lstStyle/>
          <a:p>
            <a:r>
              <a:rPr lang="en-US" dirty="0"/>
              <a:t>Finite Element </a:t>
            </a:r>
            <a:r>
              <a:rPr lang="en-US" dirty="0" err="1"/>
              <a:t>FrameWork</a:t>
            </a:r>
            <a:endParaRPr lang="en-US" dirty="0"/>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FEM-FVM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42</a:t>
            </a:fld>
            <a:endParaRPr lang="en-US"/>
          </a:p>
        </p:txBody>
      </p:sp>
    </p:spTree>
    <p:extLst>
      <p:ext uri="{BB962C8B-B14F-4D97-AF65-F5344CB8AC3E}">
        <p14:creationId xmlns:p14="http://schemas.microsoft.com/office/powerpoint/2010/main" val="32519826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clrChange>
              <a:clrFrom>
                <a:srgbClr val="FFFFFF"/>
              </a:clrFrom>
              <a:clrTo>
                <a:srgbClr val="FFFFFF">
                  <a:alpha val="0"/>
                </a:srgbClr>
              </a:clrTo>
            </a:clrChange>
          </a:blip>
          <a:srcRect l="20229" b="6418"/>
          <a:stretch/>
        </p:blipFill>
        <p:spPr>
          <a:xfrm>
            <a:off x="1849736" y="2134672"/>
            <a:ext cx="7294264" cy="4730220"/>
          </a:xfrm>
          <a:prstGeom prst="rect">
            <a:avLst/>
          </a:prstGeom>
        </p:spPr>
      </p:pic>
      <p:sp>
        <p:nvSpPr>
          <p:cNvPr id="21507" name="Rectangle 2"/>
          <p:cNvSpPr>
            <a:spLocks noGrp="1" noChangeArrowheads="1"/>
          </p:cNvSpPr>
          <p:nvPr>
            <p:ph type="title"/>
          </p:nvPr>
        </p:nvSpPr>
        <p:spPr>
          <a:xfrm>
            <a:off x="92312" y="210601"/>
            <a:ext cx="7416824" cy="476671"/>
          </a:xfrm>
        </p:spPr>
        <p:txBody>
          <a:bodyPr>
            <a:normAutofit fontScale="90000"/>
          </a:bodyPr>
          <a:lstStyle/>
          <a:p>
            <a:pPr eaLnBrk="1" hangingPunct="1"/>
            <a:r>
              <a:rPr lang="en-US" sz="3200" dirty="0"/>
              <a:t> </a:t>
            </a:r>
            <a:r>
              <a:rPr lang="en-US" sz="3200" u="sng" dirty="0"/>
              <a:t>F</a:t>
            </a:r>
            <a:r>
              <a:rPr lang="en-US" sz="3200" dirty="0"/>
              <a:t>inite </a:t>
            </a:r>
            <a:r>
              <a:rPr lang="en-US" sz="3200" u="sng" dirty="0"/>
              <a:t>E</a:t>
            </a:r>
            <a:r>
              <a:rPr lang="en-US" sz="3200" dirty="0"/>
              <a:t>lement meshes</a:t>
            </a:r>
          </a:p>
        </p:txBody>
      </p:sp>
      <p:grpSp>
        <p:nvGrpSpPr>
          <p:cNvPr id="8" name="Group 4"/>
          <p:cNvGrpSpPr>
            <a:grpSpLocks/>
          </p:cNvGrpSpPr>
          <p:nvPr/>
        </p:nvGrpSpPr>
        <p:grpSpPr bwMode="auto">
          <a:xfrm>
            <a:off x="617538" y="2382838"/>
            <a:ext cx="1084262" cy="915987"/>
            <a:chOff x="609" y="1021"/>
            <a:chExt cx="1008" cy="916"/>
          </a:xfrm>
        </p:grpSpPr>
        <p:sp>
          <p:nvSpPr>
            <p:cNvPr id="9" name="Freeform 5"/>
            <p:cNvSpPr>
              <a:spLocks/>
            </p:cNvSpPr>
            <p:nvPr/>
          </p:nvSpPr>
          <p:spPr bwMode="auto">
            <a:xfrm>
              <a:off x="650" y="1061"/>
              <a:ext cx="918" cy="838"/>
            </a:xfrm>
            <a:custGeom>
              <a:avLst/>
              <a:gdLst/>
              <a:ahLst/>
              <a:cxnLst>
                <a:cxn ang="0">
                  <a:pos x="0" y="718"/>
                </a:cxn>
                <a:cxn ang="0">
                  <a:pos x="776" y="0"/>
                </a:cxn>
                <a:cxn ang="0">
                  <a:pos x="918" y="838"/>
                </a:cxn>
                <a:cxn ang="0">
                  <a:pos x="0" y="718"/>
                </a:cxn>
              </a:cxnLst>
              <a:rect l="0" t="0" r="r" b="b"/>
              <a:pathLst>
                <a:path w="918" h="838">
                  <a:moveTo>
                    <a:pt x="0" y="718"/>
                  </a:moveTo>
                  <a:lnTo>
                    <a:pt x="776" y="0"/>
                  </a:lnTo>
                  <a:lnTo>
                    <a:pt x="918" y="838"/>
                  </a:lnTo>
                  <a:lnTo>
                    <a:pt x="0" y="718"/>
                  </a:lnTo>
                  <a:close/>
                </a:path>
              </a:pathLst>
            </a:custGeom>
            <a:solidFill>
              <a:schemeClr val="accent1"/>
            </a:solidFill>
            <a:ln w="9525">
              <a:solidFill>
                <a:schemeClr val="tx1"/>
              </a:solidFill>
              <a:round/>
              <a:headEnd/>
              <a:tailEnd/>
            </a:ln>
            <a:effectLst/>
          </p:spPr>
          <p:txBody>
            <a:bodyPr>
              <a:prstTxWarp prst="textNoShape">
                <a:avLst/>
              </a:prstTxWarp>
            </a:bodyPr>
            <a:lstStyle/>
            <a:p>
              <a:endParaRPr lang="en-US"/>
            </a:p>
          </p:txBody>
        </p:sp>
        <p:sp>
          <p:nvSpPr>
            <p:cNvPr id="10" name="Oval 6"/>
            <p:cNvSpPr>
              <a:spLocks noChangeArrowheads="1"/>
            </p:cNvSpPr>
            <p:nvPr/>
          </p:nvSpPr>
          <p:spPr bwMode="auto">
            <a:xfrm>
              <a:off x="1379" y="1021"/>
              <a:ext cx="91" cy="80"/>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sp>
          <p:nvSpPr>
            <p:cNvPr id="11" name="Oval 7"/>
            <p:cNvSpPr>
              <a:spLocks noChangeArrowheads="1"/>
            </p:cNvSpPr>
            <p:nvPr/>
          </p:nvSpPr>
          <p:spPr bwMode="auto">
            <a:xfrm>
              <a:off x="609" y="1739"/>
              <a:ext cx="91" cy="80"/>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sp>
          <p:nvSpPr>
            <p:cNvPr id="12" name="Oval 8"/>
            <p:cNvSpPr>
              <a:spLocks noChangeArrowheads="1"/>
            </p:cNvSpPr>
            <p:nvPr/>
          </p:nvSpPr>
          <p:spPr bwMode="auto">
            <a:xfrm>
              <a:off x="1526" y="1857"/>
              <a:ext cx="91" cy="80"/>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grpSp>
      <p:sp>
        <p:nvSpPr>
          <p:cNvPr id="14" name="Freeform 10"/>
          <p:cNvSpPr>
            <a:spLocks/>
          </p:cNvSpPr>
          <p:nvPr/>
        </p:nvSpPr>
        <p:spPr bwMode="auto">
          <a:xfrm>
            <a:off x="758272" y="4234877"/>
            <a:ext cx="866566" cy="740742"/>
          </a:xfrm>
          <a:custGeom>
            <a:avLst/>
            <a:gdLst/>
            <a:ahLst/>
            <a:cxnLst>
              <a:cxn ang="0">
                <a:pos x="137" y="0"/>
              </a:cxn>
              <a:cxn ang="0">
                <a:pos x="0" y="702"/>
              </a:cxn>
              <a:cxn ang="0">
                <a:pos x="685" y="742"/>
              </a:cxn>
              <a:cxn ang="0">
                <a:pos x="805" y="109"/>
              </a:cxn>
              <a:cxn ang="0">
                <a:pos x="137" y="0"/>
              </a:cxn>
            </a:cxnLst>
            <a:rect l="0" t="0" r="r" b="b"/>
            <a:pathLst>
              <a:path w="805" h="742">
                <a:moveTo>
                  <a:pt x="137" y="0"/>
                </a:moveTo>
                <a:lnTo>
                  <a:pt x="0" y="702"/>
                </a:lnTo>
                <a:lnTo>
                  <a:pt x="685" y="742"/>
                </a:lnTo>
                <a:lnTo>
                  <a:pt x="805" y="109"/>
                </a:lnTo>
                <a:lnTo>
                  <a:pt x="137" y="0"/>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15" name="Oval 11"/>
          <p:cNvSpPr>
            <a:spLocks noChangeArrowheads="1"/>
          </p:cNvSpPr>
          <p:nvPr/>
        </p:nvSpPr>
        <p:spPr bwMode="auto">
          <a:xfrm>
            <a:off x="839008" y="4198938"/>
            <a:ext cx="97960" cy="79864"/>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16" name="Oval 12"/>
          <p:cNvSpPr>
            <a:spLocks noChangeArrowheads="1"/>
          </p:cNvSpPr>
          <p:nvPr/>
        </p:nvSpPr>
        <p:spPr bwMode="auto">
          <a:xfrm>
            <a:off x="1572090" y="4311746"/>
            <a:ext cx="97960" cy="79864"/>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17" name="Oval 13"/>
          <p:cNvSpPr>
            <a:spLocks noChangeArrowheads="1"/>
          </p:cNvSpPr>
          <p:nvPr/>
        </p:nvSpPr>
        <p:spPr bwMode="auto">
          <a:xfrm>
            <a:off x="1441836" y="4928699"/>
            <a:ext cx="97960" cy="79864"/>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18" name="Oval 14"/>
          <p:cNvSpPr>
            <a:spLocks noChangeArrowheads="1"/>
          </p:cNvSpPr>
          <p:nvPr/>
        </p:nvSpPr>
        <p:spPr bwMode="auto">
          <a:xfrm>
            <a:off x="696913" y="4906736"/>
            <a:ext cx="97960" cy="79864"/>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grpSp>
        <p:nvGrpSpPr>
          <p:cNvPr id="19" name="Group 15"/>
          <p:cNvGrpSpPr>
            <a:grpSpLocks/>
          </p:cNvGrpSpPr>
          <p:nvPr/>
        </p:nvGrpSpPr>
        <p:grpSpPr bwMode="auto">
          <a:xfrm>
            <a:off x="4384675" y="1062416"/>
            <a:ext cx="993775" cy="877887"/>
            <a:chOff x="3909" y="1268"/>
            <a:chExt cx="923" cy="879"/>
          </a:xfrm>
        </p:grpSpPr>
        <p:sp>
          <p:nvSpPr>
            <p:cNvPr id="20" name="Freeform 16"/>
            <p:cNvSpPr>
              <a:spLocks/>
            </p:cNvSpPr>
            <p:nvPr/>
          </p:nvSpPr>
          <p:spPr bwMode="auto">
            <a:xfrm>
              <a:off x="3957" y="1751"/>
              <a:ext cx="822" cy="360"/>
            </a:xfrm>
            <a:custGeom>
              <a:avLst/>
              <a:gdLst/>
              <a:ahLst/>
              <a:cxnLst>
                <a:cxn ang="0">
                  <a:pos x="0" y="360"/>
                </a:cxn>
                <a:cxn ang="0">
                  <a:pos x="639" y="360"/>
                </a:cxn>
                <a:cxn ang="0">
                  <a:pos x="822" y="0"/>
                </a:cxn>
                <a:cxn ang="0">
                  <a:pos x="240" y="6"/>
                </a:cxn>
                <a:cxn ang="0">
                  <a:pos x="0" y="360"/>
                </a:cxn>
              </a:cxnLst>
              <a:rect l="0" t="0" r="r" b="b"/>
              <a:pathLst>
                <a:path w="822" h="360">
                  <a:moveTo>
                    <a:pt x="0" y="360"/>
                  </a:moveTo>
                  <a:lnTo>
                    <a:pt x="639" y="360"/>
                  </a:lnTo>
                  <a:lnTo>
                    <a:pt x="822" y="0"/>
                  </a:lnTo>
                  <a:lnTo>
                    <a:pt x="240" y="6"/>
                  </a:lnTo>
                  <a:lnTo>
                    <a:pt x="0" y="360"/>
                  </a:lnTo>
                  <a:close/>
                </a:path>
              </a:pathLst>
            </a:custGeom>
            <a:solidFill>
              <a:srgbClr val="00CC00"/>
            </a:solidFill>
            <a:ln w="9525">
              <a:solidFill>
                <a:schemeClr val="tx1"/>
              </a:solidFill>
              <a:round/>
              <a:headEnd/>
              <a:tailEnd/>
            </a:ln>
            <a:effectLst/>
          </p:spPr>
          <p:txBody>
            <a:bodyPr>
              <a:prstTxWarp prst="textNoShape">
                <a:avLst/>
              </a:prstTxWarp>
            </a:bodyPr>
            <a:lstStyle/>
            <a:p>
              <a:endParaRPr lang="en-US"/>
            </a:p>
          </p:txBody>
        </p:sp>
        <p:sp>
          <p:nvSpPr>
            <p:cNvPr id="21" name="Freeform 17"/>
            <p:cNvSpPr>
              <a:spLocks/>
            </p:cNvSpPr>
            <p:nvPr/>
          </p:nvSpPr>
          <p:spPr bwMode="auto">
            <a:xfrm>
              <a:off x="3963" y="1289"/>
              <a:ext cx="821" cy="827"/>
            </a:xfrm>
            <a:custGeom>
              <a:avLst/>
              <a:gdLst/>
              <a:ahLst/>
              <a:cxnLst>
                <a:cxn ang="0">
                  <a:pos x="0" y="827"/>
                </a:cxn>
                <a:cxn ang="0">
                  <a:pos x="222" y="0"/>
                </a:cxn>
                <a:cxn ang="0">
                  <a:pos x="234" y="468"/>
                </a:cxn>
                <a:cxn ang="0">
                  <a:pos x="821" y="462"/>
                </a:cxn>
                <a:cxn ang="0">
                  <a:pos x="217" y="12"/>
                </a:cxn>
                <a:cxn ang="0">
                  <a:pos x="639" y="822"/>
                </a:cxn>
              </a:cxnLst>
              <a:rect l="0" t="0" r="r" b="b"/>
              <a:pathLst>
                <a:path w="821" h="827">
                  <a:moveTo>
                    <a:pt x="0" y="827"/>
                  </a:moveTo>
                  <a:lnTo>
                    <a:pt x="222" y="0"/>
                  </a:lnTo>
                  <a:lnTo>
                    <a:pt x="234" y="468"/>
                  </a:lnTo>
                  <a:lnTo>
                    <a:pt x="821" y="462"/>
                  </a:lnTo>
                  <a:lnTo>
                    <a:pt x="217" y="12"/>
                  </a:lnTo>
                  <a:lnTo>
                    <a:pt x="639" y="822"/>
                  </a:lnTo>
                </a:path>
              </a:pathLst>
            </a:custGeom>
            <a:solidFill>
              <a:srgbClr val="00CC00"/>
            </a:solidFill>
            <a:ln w="9525">
              <a:solidFill>
                <a:schemeClr val="tx1"/>
              </a:solidFill>
              <a:round/>
              <a:headEnd/>
              <a:tailEnd/>
            </a:ln>
            <a:effectLst/>
          </p:spPr>
          <p:txBody>
            <a:bodyPr>
              <a:prstTxWarp prst="textNoShape">
                <a:avLst/>
              </a:prstTxWarp>
            </a:bodyPr>
            <a:lstStyle/>
            <a:p>
              <a:endParaRPr lang="en-US"/>
            </a:p>
          </p:txBody>
        </p:sp>
        <p:sp>
          <p:nvSpPr>
            <p:cNvPr id="22" name="Oval 18"/>
            <p:cNvSpPr>
              <a:spLocks noChangeArrowheads="1"/>
            </p:cNvSpPr>
            <p:nvPr/>
          </p:nvSpPr>
          <p:spPr bwMode="auto">
            <a:xfrm>
              <a:off x="4139" y="1268"/>
              <a:ext cx="91" cy="80"/>
            </a:xfrm>
            <a:prstGeom prst="ellipse">
              <a:avLst/>
            </a:prstGeom>
            <a:solidFill>
              <a:srgbClr val="00CC00"/>
            </a:solidFill>
            <a:ln w="9525">
              <a:solidFill>
                <a:schemeClr val="tx1"/>
              </a:solidFill>
              <a:round/>
              <a:headEnd/>
              <a:tailEnd/>
            </a:ln>
            <a:effectLst/>
          </p:spPr>
          <p:txBody>
            <a:bodyPr wrap="none" anchor="ctr">
              <a:prstTxWarp prst="textNoShape">
                <a:avLst/>
              </a:prstTxWarp>
            </a:bodyPr>
            <a:lstStyle/>
            <a:p>
              <a:endParaRPr lang="en-US"/>
            </a:p>
          </p:txBody>
        </p:sp>
        <p:sp>
          <p:nvSpPr>
            <p:cNvPr id="23" name="Oval 19"/>
            <p:cNvSpPr>
              <a:spLocks noChangeArrowheads="1"/>
            </p:cNvSpPr>
            <p:nvPr/>
          </p:nvSpPr>
          <p:spPr bwMode="auto">
            <a:xfrm>
              <a:off x="4741" y="1710"/>
              <a:ext cx="91" cy="80"/>
            </a:xfrm>
            <a:prstGeom prst="ellipse">
              <a:avLst/>
            </a:prstGeom>
            <a:solidFill>
              <a:srgbClr val="00CC00"/>
            </a:solidFill>
            <a:ln w="9525">
              <a:solidFill>
                <a:schemeClr val="tx1"/>
              </a:solidFill>
              <a:round/>
              <a:headEnd/>
              <a:tailEnd/>
            </a:ln>
            <a:effectLst/>
          </p:spPr>
          <p:txBody>
            <a:bodyPr wrap="none" anchor="ctr">
              <a:prstTxWarp prst="textNoShape">
                <a:avLst/>
              </a:prstTxWarp>
            </a:bodyPr>
            <a:lstStyle/>
            <a:p>
              <a:endParaRPr lang="en-US"/>
            </a:p>
          </p:txBody>
        </p:sp>
        <p:sp>
          <p:nvSpPr>
            <p:cNvPr id="24" name="Oval 20"/>
            <p:cNvSpPr>
              <a:spLocks noChangeArrowheads="1"/>
            </p:cNvSpPr>
            <p:nvPr/>
          </p:nvSpPr>
          <p:spPr bwMode="auto">
            <a:xfrm>
              <a:off x="4560" y="2065"/>
              <a:ext cx="91" cy="80"/>
            </a:xfrm>
            <a:prstGeom prst="ellipse">
              <a:avLst/>
            </a:prstGeom>
            <a:solidFill>
              <a:srgbClr val="00CC00"/>
            </a:solidFill>
            <a:ln w="9525">
              <a:solidFill>
                <a:schemeClr val="tx1"/>
              </a:solidFill>
              <a:round/>
              <a:headEnd/>
              <a:tailEnd/>
            </a:ln>
            <a:effectLst/>
          </p:spPr>
          <p:txBody>
            <a:bodyPr wrap="none" anchor="ctr">
              <a:prstTxWarp prst="textNoShape">
                <a:avLst/>
              </a:prstTxWarp>
            </a:bodyPr>
            <a:lstStyle/>
            <a:p>
              <a:endParaRPr lang="en-US"/>
            </a:p>
          </p:txBody>
        </p:sp>
        <p:sp>
          <p:nvSpPr>
            <p:cNvPr id="25" name="Oval 21"/>
            <p:cNvSpPr>
              <a:spLocks noChangeArrowheads="1"/>
            </p:cNvSpPr>
            <p:nvPr/>
          </p:nvSpPr>
          <p:spPr bwMode="auto">
            <a:xfrm>
              <a:off x="3909" y="2067"/>
              <a:ext cx="91" cy="80"/>
            </a:xfrm>
            <a:prstGeom prst="ellipse">
              <a:avLst/>
            </a:prstGeom>
            <a:solidFill>
              <a:srgbClr val="00CC00"/>
            </a:solidFill>
            <a:ln w="9525">
              <a:solidFill>
                <a:schemeClr val="tx1"/>
              </a:solidFill>
              <a:round/>
              <a:headEnd/>
              <a:tailEnd/>
            </a:ln>
            <a:effectLst/>
          </p:spPr>
          <p:txBody>
            <a:bodyPr wrap="none" anchor="ctr">
              <a:prstTxWarp prst="textNoShape">
                <a:avLst/>
              </a:prstTxWarp>
            </a:bodyPr>
            <a:lstStyle/>
            <a:p>
              <a:endParaRPr lang="en-US"/>
            </a:p>
          </p:txBody>
        </p:sp>
      </p:grpSp>
      <p:grpSp>
        <p:nvGrpSpPr>
          <p:cNvPr id="26" name="Group 22"/>
          <p:cNvGrpSpPr>
            <a:grpSpLocks/>
          </p:cNvGrpSpPr>
          <p:nvPr/>
        </p:nvGrpSpPr>
        <p:grpSpPr bwMode="auto">
          <a:xfrm>
            <a:off x="2857500" y="1170366"/>
            <a:ext cx="992188" cy="782637"/>
            <a:chOff x="2348" y="1893"/>
            <a:chExt cx="922" cy="783"/>
          </a:xfrm>
        </p:grpSpPr>
        <p:grpSp>
          <p:nvGrpSpPr>
            <p:cNvPr id="27" name="Group 23"/>
            <p:cNvGrpSpPr>
              <a:grpSpLocks/>
            </p:cNvGrpSpPr>
            <p:nvPr/>
          </p:nvGrpSpPr>
          <p:grpSpPr bwMode="auto">
            <a:xfrm>
              <a:off x="2389" y="1927"/>
              <a:ext cx="827" cy="713"/>
              <a:chOff x="553" y="2304"/>
              <a:chExt cx="827" cy="713"/>
            </a:xfrm>
          </p:grpSpPr>
          <p:sp>
            <p:nvSpPr>
              <p:cNvPr id="32" name="Freeform 24"/>
              <p:cNvSpPr>
                <a:spLocks/>
              </p:cNvSpPr>
              <p:nvPr/>
            </p:nvSpPr>
            <p:spPr bwMode="auto">
              <a:xfrm>
                <a:off x="553" y="2304"/>
                <a:ext cx="827" cy="713"/>
              </a:xfrm>
              <a:custGeom>
                <a:avLst/>
                <a:gdLst/>
                <a:ahLst/>
                <a:cxnLst>
                  <a:cxn ang="0">
                    <a:pos x="405" y="0"/>
                  </a:cxn>
                  <a:cxn ang="0">
                    <a:pos x="0" y="713"/>
                  </a:cxn>
                  <a:cxn ang="0">
                    <a:pos x="753" y="713"/>
                  </a:cxn>
                  <a:cxn ang="0">
                    <a:pos x="827" y="285"/>
                  </a:cxn>
                  <a:cxn ang="0">
                    <a:pos x="405" y="0"/>
                  </a:cxn>
                </a:cxnLst>
                <a:rect l="0" t="0" r="r" b="b"/>
                <a:pathLst>
                  <a:path w="827" h="713">
                    <a:moveTo>
                      <a:pt x="405" y="0"/>
                    </a:moveTo>
                    <a:lnTo>
                      <a:pt x="0" y="713"/>
                    </a:lnTo>
                    <a:lnTo>
                      <a:pt x="753" y="713"/>
                    </a:lnTo>
                    <a:lnTo>
                      <a:pt x="827" y="285"/>
                    </a:lnTo>
                    <a:lnTo>
                      <a:pt x="405" y="0"/>
                    </a:lnTo>
                    <a:close/>
                  </a:path>
                </a:pathLst>
              </a:custGeom>
              <a:solidFill>
                <a:schemeClr val="accent1"/>
              </a:solidFill>
              <a:ln w="9525">
                <a:solidFill>
                  <a:schemeClr val="tx1"/>
                </a:solidFill>
                <a:round/>
                <a:headEnd/>
                <a:tailEnd/>
              </a:ln>
              <a:effectLst/>
            </p:spPr>
            <p:txBody>
              <a:bodyPr>
                <a:prstTxWarp prst="textNoShape">
                  <a:avLst/>
                </a:prstTxWarp>
              </a:bodyPr>
              <a:lstStyle/>
              <a:p>
                <a:endParaRPr lang="en-US"/>
              </a:p>
            </p:txBody>
          </p:sp>
          <p:sp>
            <p:nvSpPr>
              <p:cNvPr id="33" name="Line 25"/>
              <p:cNvSpPr>
                <a:spLocks noChangeShapeType="1"/>
              </p:cNvSpPr>
              <p:nvPr/>
            </p:nvSpPr>
            <p:spPr bwMode="auto">
              <a:xfrm>
                <a:off x="958" y="2310"/>
                <a:ext cx="348" cy="707"/>
              </a:xfrm>
              <a:prstGeom prst="line">
                <a:avLst/>
              </a:prstGeom>
              <a:noFill/>
              <a:ln w="9525">
                <a:solidFill>
                  <a:schemeClr val="tx1"/>
                </a:solidFill>
                <a:round/>
                <a:headEnd/>
                <a:tailEnd/>
              </a:ln>
              <a:effectLst/>
            </p:spPr>
            <p:txBody>
              <a:bodyPr>
                <a:prstTxWarp prst="textNoShape">
                  <a:avLst/>
                </a:prstTxWarp>
              </a:bodyPr>
              <a:lstStyle/>
              <a:p>
                <a:endParaRPr lang="en-US"/>
              </a:p>
            </p:txBody>
          </p:sp>
        </p:grpSp>
        <p:sp>
          <p:nvSpPr>
            <p:cNvPr id="28" name="Oval 26"/>
            <p:cNvSpPr>
              <a:spLocks noChangeArrowheads="1"/>
            </p:cNvSpPr>
            <p:nvPr/>
          </p:nvSpPr>
          <p:spPr bwMode="auto">
            <a:xfrm>
              <a:off x="3179" y="2171"/>
              <a:ext cx="91" cy="80"/>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sp>
          <p:nvSpPr>
            <p:cNvPr id="29" name="Oval 27"/>
            <p:cNvSpPr>
              <a:spLocks noChangeArrowheads="1"/>
            </p:cNvSpPr>
            <p:nvPr/>
          </p:nvSpPr>
          <p:spPr bwMode="auto">
            <a:xfrm>
              <a:off x="3099" y="2596"/>
              <a:ext cx="91" cy="80"/>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sp>
          <p:nvSpPr>
            <p:cNvPr id="30" name="Oval 28"/>
            <p:cNvSpPr>
              <a:spLocks noChangeArrowheads="1"/>
            </p:cNvSpPr>
            <p:nvPr/>
          </p:nvSpPr>
          <p:spPr bwMode="auto">
            <a:xfrm>
              <a:off x="2348" y="2592"/>
              <a:ext cx="91" cy="80"/>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sp>
          <p:nvSpPr>
            <p:cNvPr id="31" name="Oval 29"/>
            <p:cNvSpPr>
              <a:spLocks noChangeArrowheads="1"/>
            </p:cNvSpPr>
            <p:nvPr/>
          </p:nvSpPr>
          <p:spPr bwMode="auto">
            <a:xfrm>
              <a:off x="2743" y="1893"/>
              <a:ext cx="91" cy="80"/>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grpSp>
      <p:grpSp>
        <p:nvGrpSpPr>
          <p:cNvPr id="34" name="Group 30"/>
          <p:cNvGrpSpPr>
            <a:grpSpLocks/>
          </p:cNvGrpSpPr>
          <p:nvPr/>
        </p:nvGrpSpPr>
        <p:grpSpPr bwMode="auto">
          <a:xfrm>
            <a:off x="7669213" y="1100516"/>
            <a:ext cx="985837" cy="822325"/>
            <a:chOff x="4249" y="3103"/>
            <a:chExt cx="916" cy="823"/>
          </a:xfrm>
        </p:grpSpPr>
        <p:sp>
          <p:nvSpPr>
            <p:cNvPr id="35" name="AutoShape 31"/>
            <p:cNvSpPr>
              <a:spLocks noChangeArrowheads="1"/>
            </p:cNvSpPr>
            <p:nvPr/>
          </p:nvSpPr>
          <p:spPr bwMode="auto">
            <a:xfrm>
              <a:off x="4294" y="3131"/>
              <a:ext cx="827" cy="759"/>
            </a:xfrm>
            <a:prstGeom prst="cube">
              <a:avLst>
                <a:gd name="adj" fmla="val 25000"/>
              </a:avLst>
            </a:prstGeom>
            <a:solidFill>
              <a:srgbClr val="33CC33"/>
            </a:solidFill>
            <a:ln w="9525">
              <a:solidFill>
                <a:schemeClr val="tx1"/>
              </a:solidFill>
              <a:miter lim="800000"/>
              <a:headEnd/>
              <a:tailEnd/>
            </a:ln>
            <a:effectLst/>
          </p:spPr>
          <p:txBody>
            <a:bodyPr wrap="none" anchor="ctr">
              <a:prstTxWarp prst="textNoShape">
                <a:avLst/>
              </a:prstTxWarp>
            </a:bodyPr>
            <a:lstStyle/>
            <a:p>
              <a:endParaRPr lang="en-US"/>
            </a:p>
          </p:txBody>
        </p:sp>
        <p:sp>
          <p:nvSpPr>
            <p:cNvPr id="36" name="Oval 32"/>
            <p:cNvSpPr>
              <a:spLocks noChangeArrowheads="1"/>
            </p:cNvSpPr>
            <p:nvPr/>
          </p:nvSpPr>
          <p:spPr bwMode="auto">
            <a:xfrm>
              <a:off x="4876" y="3846"/>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37" name="Oval 33"/>
            <p:cNvSpPr>
              <a:spLocks noChangeArrowheads="1"/>
            </p:cNvSpPr>
            <p:nvPr/>
          </p:nvSpPr>
          <p:spPr bwMode="auto">
            <a:xfrm>
              <a:off x="4261" y="3842"/>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38" name="Oval 34"/>
            <p:cNvSpPr>
              <a:spLocks noChangeArrowheads="1"/>
            </p:cNvSpPr>
            <p:nvPr/>
          </p:nvSpPr>
          <p:spPr bwMode="auto">
            <a:xfrm>
              <a:off x="4880" y="3292"/>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39" name="Oval 35"/>
            <p:cNvSpPr>
              <a:spLocks noChangeArrowheads="1"/>
            </p:cNvSpPr>
            <p:nvPr/>
          </p:nvSpPr>
          <p:spPr bwMode="auto">
            <a:xfrm>
              <a:off x="4442" y="3106"/>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40" name="Oval 36"/>
            <p:cNvSpPr>
              <a:spLocks noChangeArrowheads="1"/>
            </p:cNvSpPr>
            <p:nvPr/>
          </p:nvSpPr>
          <p:spPr bwMode="auto">
            <a:xfrm>
              <a:off x="4249" y="3289"/>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41" name="Oval 37"/>
            <p:cNvSpPr>
              <a:spLocks noChangeArrowheads="1"/>
            </p:cNvSpPr>
            <p:nvPr/>
          </p:nvSpPr>
          <p:spPr bwMode="auto">
            <a:xfrm>
              <a:off x="5074" y="3103"/>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42" name="Oval 38"/>
            <p:cNvSpPr>
              <a:spLocks noChangeArrowheads="1"/>
            </p:cNvSpPr>
            <p:nvPr/>
          </p:nvSpPr>
          <p:spPr bwMode="auto">
            <a:xfrm>
              <a:off x="5071" y="3664"/>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grpSp>
      <p:grpSp>
        <p:nvGrpSpPr>
          <p:cNvPr id="43" name="Group 39"/>
          <p:cNvGrpSpPr>
            <a:grpSpLocks/>
          </p:cNvGrpSpPr>
          <p:nvPr/>
        </p:nvGrpSpPr>
        <p:grpSpPr bwMode="auto">
          <a:xfrm>
            <a:off x="5807075" y="1237041"/>
            <a:ext cx="1319213" cy="746125"/>
            <a:chOff x="2167" y="3056"/>
            <a:chExt cx="1226" cy="748"/>
          </a:xfrm>
        </p:grpSpPr>
        <p:sp>
          <p:nvSpPr>
            <p:cNvPr id="44" name="Freeform 40"/>
            <p:cNvSpPr>
              <a:spLocks/>
            </p:cNvSpPr>
            <p:nvPr/>
          </p:nvSpPr>
          <p:spPr bwMode="auto">
            <a:xfrm>
              <a:off x="2212" y="3375"/>
              <a:ext cx="1141" cy="404"/>
            </a:xfrm>
            <a:custGeom>
              <a:avLst/>
              <a:gdLst/>
              <a:ahLst/>
              <a:cxnLst>
                <a:cxn ang="0">
                  <a:pos x="0" y="62"/>
                </a:cxn>
                <a:cxn ang="0">
                  <a:pos x="1141" y="0"/>
                </a:cxn>
                <a:cxn ang="0">
                  <a:pos x="827" y="404"/>
                </a:cxn>
                <a:cxn ang="0">
                  <a:pos x="0" y="62"/>
                </a:cxn>
              </a:cxnLst>
              <a:rect l="0" t="0" r="r" b="b"/>
              <a:pathLst>
                <a:path w="1141" h="404">
                  <a:moveTo>
                    <a:pt x="0" y="62"/>
                  </a:moveTo>
                  <a:lnTo>
                    <a:pt x="1141" y="0"/>
                  </a:lnTo>
                  <a:lnTo>
                    <a:pt x="827" y="404"/>
                  </a:lnTo>
                  <a:lnTo>
                    <a:pt x="0" y="62"/>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45" name="Freeform 41"/>
            <p:cNvSpPr>
              <a:spLocks/>
            </p:cNvSpPr>
            <p:nvPr/>
          </p:nvSpPr>
          <p:spPr bwMode="auto">
            <a:xfrm>
              <a:off x="2190" y="3097"/>
              <a:ext cx="1141" cy="404"/>
            </a:xfrm>
            <a:custGeom>
              <a:avLst/>
              <a:gdLst/>
              <a:ahLst/>
              <a:cxnLst>
                <a:cxn ang="0">
                  <a:pos x="0" y="62"/>
                </a:cxn>
                <a:cxn ang="0">
                  <a:pos x="1141" y="0"/>
                </a:cxn>
                <a:cxn ang="0">
                  <a:pos x="827" y="404"/>
                </a:cxn>
                <a:cxn ang="0">
                  <a:pos x="0" y="62"/>
                </a:cxn>
              </a:cxnLst>
              <a:rect l="0" t="0" r="r" b="b"/>
              <a:pathLst>
                <a:path w="1141" h="404">
                  <a:moveTo>
                    <a:pt x="0" y="62"/>
                  </a:moveTo>
                  <a:lnTo>
                    <a:pt x="1141" y="0"/>
                  </a:lnTo>
                  <a:lnTo>
                    <a:pt x="827" y="404"/>
                  </a:lnTo>
                  <a:lnTo>
                    <a:pt x="0" y="62"/>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46" name="Freeform 42"/>
            <p:cNvSpPr>
              <a:spLocks/>
            </p:cNvSpPr>
            <p:nvPr/>
          </p:nvSpPr>
          <p:spPr bwMode="auto">
            <a:xfrm>
              <a:off x="2196" y="3159"/>
              <a:ext cx="844" cy="616"/>
            </a:xfrm>
            <a:custGeom>
              <a:avLst/>
              <a:gdLst/>
              <a:ahLst/>
              <a:cxnLst>
                <a:cxn ang="0">
                  <a:pos x="0" y="0"/>
                </a:cxn>
                <a:cxn ang="0">
                  <a:pos x="17" y="280"/>
                </a:cxn>
                <a:cxn ang="0">
                  <a:pos x="844" y="616"/>
                </a:cxn>
                <a:cxn ang="0">
                  <a:pos x="827" y="342"/>
                </a:cxn>
                <a:cxn ang="0">
                  <a:pos x="0" y="0"/>
                </a:cxn>
              </a:cxnLst>
              <a:rect l="0" t="0" r="r" b="b"/>
              <a:pathLst>
                <a:path w="844" h="616">
                  <a:moveTo>
                    <a:pt x="0" y="0"/>
                  </a:moveTo>
                  <a:lnTo>
                    <a:pt x="17" y="280"/>
                  </a:lnTo>
                  <a:lnTo>
                    <a:pt x="844" y="616"/>
                  </a:lnTo>
                  <a:lnTo>
                    <a:pt x="827" y="342"/>
                  </a:lnTo>
                  <a:lnTo>
                    <a:pt x="0" y="0"/>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47" name="Freeform 43"/>
            <p:cNvSpPr>
              <a:spLocks/>
            </p:cNvSpPr>
            <p:nvPr/>
          </p:nvSpPr>
          <p:spPr bwMode="auto">
            <a:xfrm>
              <a:off x="3023" y="3096"/>
              <a:ext cx="336" cy="673"/>
            </a:xfrm>
            <a:custGeom>
              <a:avLst/>
              <a:gdLst/>
              <a:ahLst/>
              <a:cxnLst>
                <a:cxn ang="0">
                  <a:pos x="0" y="399"/>
                </a:cxn>
                <a:cxn ang="0">
                  <a:pos x="313" y="0"/>
                </a:cxn>
                <a:cxn ang="0">
                  <a:pos x="336" y="280"/>
                </a:cxn>
                <a:cxn ang="0">
                  <a:pos x="17" y="673"/>
                </a:cxn>
                <a:cxn ang="0">
                  <a:pos x="0" y="399"/>
                </a:cxn>
              </a:cxnLst>
              <a:rect l="0" t="0" r="r" b="b"/>
              <a:pathLst>
                <a:path w="336" h="673">
                  <a:moveTo>
                    <a:pt x="0" y="399"/>
                  </a:moveTo>
                  <a:lnTo>
                    <a:pt x="313" y="0"/>
                  </a:lnTo>
                  <a:lnTo>
                    <a:pt x="336" y="280"/>
                  </a:lnTo>
                  <a:lnTo>
                    <a:pt x="17" y="673"/>
                  </a:lnTo>
                  <a:lnTo>
                    <a:pt x="0" y="399"/>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48" name="Oval 44"/>
            <p:cNvSpPr>
              <a:spLocks noChangeArrowheads="1"/>
            </p:cNvSpPr>
            <p:nvPr/>
          </p:nvSpPr>
          <p:spPr bwMode="auto">
            <a:xfrm>
              <a:off x="3283" y="3056"/>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49" name="Oval 45"/>
            <p:cNvSpPr>
              <a:spLocks noChangeArrowheads="1"/>
            </p:cNvSpPr>
            <p:nvPr/>
          </p:nvSpPr>
          <p:spPr bwMode="auto">
            <a:xfrm>
              <a:off x="3302" y="3345"/>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50" name="Oval 46"/>
            <p:cNvSpPr>
              <a:spLocks noChangeArrowheads="1"/>
            </p:cNvSpPr>
            <p:nvPr/>
          </p:nvSpPr>
          <p:spPr bwMode="auto">
            <a:xfrm>
              <a:off x="2987" y="3724"/>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51" name="Oval 47"/>
            <p:cNvSpPr>
              <a:spLocks noChangeArrowheads="1"/>
            </p:cNvSpPr>
            <p:nvPr/>
          </p:nvSpPr>
          <p:spPr bwMode="auto">
            <a:xfrm>
              <a:off x="2989" y="3461"/>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52" name="Oval 48"/>
            <p:cNvSpPr>
              <a:spLocks noChangeArrowheads="1"/>
            </p:cNvSpPr>
            <p:nvPr/>
          </p:nvSpPr>
          <p:spPr bwMode="auto">
            <a:xfrm>
              <a:off x="2168" y="3128"/>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53" name="Oval 49"/>
            <p:cNvSpPr>
              <a:spLocks noChangeArrowheads="1"/>
            </p:cNvSpPr>
            <p:nvPr/>
          </p:nvSpPr>
          <p:spPr bwMode="auto">
            <a:xfrm>
              <a:off x="2167" y="3402"/>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grpSp>
      <p:sp>
        <p:nvSpPr>
          <p:cNvPr id="54" name="Text Box 50"/>
          <p:cNvSpPr txBox="1">
            <a:spLocks noChangeArrowheads="1"/>
          </p:cNvSpPr>
          <p:nvPr/>
        </p:nvSpPr>
        <p:spPr bwMode="auto">
          <a:xfrm>
            <a:off x="213611" y="2267902"/>
            <a:ext cx="1103313" cy="396875"/>
          </a:xfrm>
          <a:prstGeom prst="rect">
            <a:avLst/>
          </a:prstGeom>
          <a:noFill/>
          <a:ln w="9525">
            <a:noFill/>
            <a:miter lim="800000"/>
            <a:headEnd/>
            <a:tailEnd/>
          </a:ln>
          <a:effectLst/>
        </p:spPr>
        <p:txBody>
          <a:bodyPr wrap="none">
            <a:prstTxWarp prst="textNoShape">
              <a:avLst/>
            </a:prstTxWarp>
            <a:spAutoFit/>
          </a:bodyPr>
          <a:lstStyle/>
          <a:p>
            <a:pPr algn="l" eaLnBrk="1" hangingPunct="1"/>
            <a:r>
              <a:rPr lang="en-US" sz="2000" dirty="0">
                <a:latin typeface="Arial" charset="0"/>
              </a:rPr>
              <a:t>Triangle</a:t>
            </a:r>
            <a:endParaRPr lang="en-GB" sz="2000" dirty="0">
              <a:latin typeface="Arial" charset="0"/>
            </a:endParaRPr>
          </a:p>
        </p:txBody>
      </p:sp>
      <p:sp>
        <p:nvSpPr>
          <p:cNvPr id="55" name="Text Box 51"/>
          <p:cNvSpPr txBox="1">
            <a:spLocks noChangeArrowheads="1"/>
          </p:cNvSpPr>
          <p:nvPr/>
        </p:nvSpPr>
        <p:spPr bwMode="auto">
          <a:xfrm>
            <a:off x="101735" y="3752740"/>
            <a:ext cx="1638300" cy="396875"/>
          </a:xfrm>
          <a:prstGeom prst="rect">
            <a:avLst/>
          </a:prstGeom>
          <a:noFill/>
          <a:ln w="9525">
            <a:noFill/>
            <a:miter lim="800000"/>
            <a:headEnd/>
            <a:tailEnd/>
          </a:ln>
          <a:effectLst/>
        </p:spPr>
        <p:txBody>
          <a:bodyPr wrap="none">
            <a:prstTxWarp prst="textNoShape">
              <a:avLst/>
            </a:prstTxWarp>
            <a:spAutoFit/>
          </a:bodyPr>
          <a:lstStyle/>
          <a:p>
            <a:pPr algn="l" eaLnBrk="1" hangingPunct="1"/>
            <a:r>
              <a:rPr lang="en-US" sz="2000" dirty="0">
                <a:latin typeface="Arial" charset="0"/>
              </a:rPr>
              <a:t>Quadrilateral</a:t>
            </a:r>
            <a:endParaRPr lang="en-GB" sz="2000" dirty="0">
              <a:latin typeface="Arial" charset="0"/>
            </a:endParaRPr>
          </a:p>
        </p:txBody>
      </p:sp>
      <p:sp>
        <p:nvSpPr>
          <p:cNvPr id="56" name="Text Box 52"/>
          <p:cNvSpPr txBox="1">
            <a:spLocks noChangeArrowheads="1"/>
          </p:cNvSpPr>
          <p:nvPr/>
        </p:nvSpPr>
        <p:spPr bwMode="auto">
          <a:xfrm>
            <a:off x="1627188" y="1125916"/>
            <a:ext cx="1566862" cy="396875"/>
          </a:xfrm>
          <a:prstGeom prst="rect">
            <a:avLst/>
          </a:prstGeom>
          <a:noFill/>
          <a:ln w="9525">
            <a:noFill/>
            <a:miter lim="800000"/>
            <a:headEnd/>
            <a:tailEnd/>
          </a:ln>
          <a:effectLst/>
        </p:spPr>
        <p:txBody>
          <a:bodyPr wrap="none">
            <a:prstTxWarp prst="textNoShape">
              <a:avLst/>
            </a:prstTxWarp>
            <a:spAutoFit/>
          </a:bodyPr>
          <a:lstStyle/>
          <a:p>
            <a:pPr algn="l" eaLnBrk="1" hangingPunct="1"/>
            <a:r>
              <a:rPr lang="en-US" sz="2000">
                <a:latin typeface="Arial" charset="0"/>
              </a:rPr>
              <a:t>Tetrahedron</a:t>
            </a:r>
            <a:endParaRPr lang="en-GB" sz="2000">
              <a:latin typeface="Arial" charset="0"/>
            </a:endParaRPr>
          </a:p>
        </p:txBody>
      </p:sp>
      <p:sp>
        <p:nvSpPr>
          <p:cNvPr id="57" name="Text Box 53"/>
          <p:cNvSpPr txBox="1">
            <a:spLocks noChangeArrowheads="1"/>
          </p:cNvSpPr>
          <p:nvPr/>
        </p:nvSpPr>
        <p:spPr bwMode="auto">
          <a:xfrm>
            <a:off x="6037263" y="654428"/>
            <a:ext cx="833437" cy="396875"/>
          </a:xfrm>
          <a:prstGeom prst="rect">
            <a:avLst/>
          </a:prstGeom>
          <a:noFill/>
          <a:ln w="9525">
            <a:noFill/>
            <a:miter lim="800000"/>
            <a:headEnd/>
            <a:tailEnd/>
          </a:ln>
          <a:effectLst/>
        </p:spPr>
        <p:txBody>
          <a:bodyPr wrap="none">
            <a:prstTxWarp prst="textNoShape">
              <a:avLst/>
            </a:prstTxWarp>
            <a:spAutoFit/>
          </a:bodyPr>
          <a:lstStyle/>
          <a:p>
            <a:pPr algn="l" eaLnBrk="1" hangingPunct="1"/>
            <a:r>
              <a:rPr lang="en-US" sz="2000">
                <a:latin typeface="Arial" charset="0"/>
              </a:rPr>
              <a:t>Prism</a:t>
            </a:r>
            <a:endParaRPr lang="en-GB" sz="2000">
              <a:latin typeface="Arial" charset="0"/>
            </a:endParaRPr>
          </a:p>
        </p:txBody>
      </p:sp>
      <p:sp>
        <p:nvSpPr>
          <p:cNvPr id="58" name="Text Box 54"/>
          <p:cNvSpPr txBox="1">
            <a:spLocks noChangeArrowheads="1"/>
          </p:cNvSpPr>
          <p:nvPr/>
        </p:nvSpPr>
        <p:spPr bwMode="auto">
          <a:xfrm>
            <a:off x="4291013" y="644903"/>
            <a:ext cx="1116012" cy="396875"/>
          </a:xfrm>
          <a:prstGeom prst="rect">
            <a:avLst/>
          </a:prstGeom>
          <a:noFill/>
          <a:ln w="9525">
            <a:noFill/>
            <a:miter lim="800000"/>
            <a:headEnd/>
            <a:tailEnd/>
          </a:ln>
          <a:effectLst/>
        </p:spPr>
        <p:txBody>
          <a:bodyPr wrap="none">
            <a:prstTxWarp prst="textNoShape">
              <a:avLst/>
            </a:prstTxWarp>
            <a:spAutoFit/>
          </a:bodyPr>
          <a:lstStyle/>
          <a:p>
            <a:pPr algn="l" eaLnBrk="1" hangingPunct="1"/>
            <a:r>
              <a:rPr lang="en-US" sz="2000">
                <a:latin typeface="Arial" charset="0"/>
              </a:rPr>
              <a:t>Pyramid</a:t>
            </a:r>
            <a:endParaRPr lang="en-GB" sz="2000">
              <a:latin typeface="Arial" charset="0"/>
            </a:endParaRPr>
          </a:p>
        </p:txBody>
      </p:sp>
      <p:sp>
        <p:nvSpPr>
          <p:cNvPr id="59" name="Text Box 55"/>
          <p:cNvSpPr txBox="1">
            <a:spLocks noChangeArrowheads="1"/>
          </p:cNvSpPr>
          <p:nvPr/>
        </p:nvSpPr>
        <p:spPr bwMode="auto">
          <a:xfrm>
            <a:off x="7427913" y="648078"/>
            <a:ext cx="1568450" cy="396875"/>
          </a:xfrm>
          <a:prstGeom prst="rect">
            <a:avLst/>
          </a:prstGeom>
          <a:noFill/>
          <a:ln w="9525">
            <a:noFill/>
            <a:miter lim="800000"/>
            <a:headEnd/>
            <a:tailEnd/>
          </a:ln>
          <a:effectLst/>
        </p:spPr>
        <p:txBody>
          <a:bodyPr wrap="none">
            <a:prstTxWarp prst="textNoShape">
              <a:avLst/>
            </a:prstTxWarp>
            <a:spAutoFit/>
          </a:bodyPr>
          <a:lstStyle/>
          <a:p>
            <a:pPr algn="l" eaLnBrk="1" hangingPunct="1"/>
            <a:r>
              <a:rPr lang="en-US" sz="2000">
                <a:latin typeface="Arial" charset="0"/>
              </a:rPr>
              <a:t>Hexahedron</a:t>
            </a:r>
            <a:endParaRPr lang="en-GB" sz="2000">
              <a:latin typeface="Arial" charset="0"/>
            </a:endParaRPr>
          </a:p>
        </p:txBody>
      </p:sp>
      <p:cxnSp>
        <p:nvCxnSpPr>
          <p:cNvPr id="63" name="Straight Connector 62"/>
          <p:cNvCxnSpPr/>
          <p:nvPr/>
        </p:nvCxnSpPr>
        <p:spPr>
          <a:xfrm>
            <a:off x="715423" y="5410200"/>
            <a:ext cx="856667" cy="304800"/>
          </a:xfrm>
          <a:prstGeom prst="line">
            <a:avLst/>
          </a:prstGeom>
          <a:ln w="381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4" name="Oval 14"/>
          <p:cNvSpPr>
            <a:spLocks noChangeArrowheads="1"/>
          </p:cNvSpPr>
          <p:nvPr/>
        </p:nvSpPr>
        <p:spPr bwMode="auto">
          <a:xfrm>
            <a:off x="709292" y="5370268"/>
            <a:ext cx="97960" cy="79864"/>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65" name="Oval 14"/>
          <p:cNvSpPr>
            <a:spLocks noChangeArrowheads="1"/>
          </p:cNvSpPr>
          <p:nvPr/>
        </p:nvSpPr>
        <p:spPr bwMode="auto">
          <a:xfrm>
            <a:off x="1505955" y="5675068"/>
            <a:ext cx="97960" cy="79864"/>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66" name="Text Box 51"/>
          <p:cNvSpPr txBox="1">
            <a:spLocks noChangeArrowheads="1"/>
          </p:cNvSpPr>
          <p:nvPr/>
        </p:nvSpPr>
        <p:spPr bwMode="auto">
          <a:xfrm>
            <a:off x="762000" y="5772090"/>
            <a:ext cx="669574" cy="400110"/>
          </a:xfrm>
          <a:prstGeom prst="rect">
            <a:avLst/>
          </a:prstGeom>
          <a:noFill/>
          <a:ln w="9525">
            <a:noFill/>
            <a:miter lim="800000"/>
            <a:headEnd/>
            <a:tailEnd/>
          </a:ln>
          <a:effectLst/>
        </p:spPr>
        <p:txBody>
          <a:bodyPr wrap="none">
            <a:prstTxWarp prst="textNoShape">
              <a:avLst/>
            </a:prstTxWarp>
            <a:spAutoFit/>
          </a:bodyPr>
          <a:lstStyle/>
          <a:p>
            <a:pPr algn="l" eaLnBrk="1" hangingPunct="1"/>
            <a:r>
              <a:rPr lang="en-US" sz="2000" dirty="0">
                <a:latin typeface="Arial" charset="0"/>
              </a:rPr>
              <a:t>Line</a:t>
            </a:r>
            <a:endParaRPr lang="en-GB" sz="2000" dirty="0">
              <a:latin typeface="Arial" charset="0"/>
            </a:endParaRPr>
          </a:p>
        </p:txBody>
      </p:sp>
      <p:sp>
        <p:nvSpPr>
          <p:cNvPr id="2" name="TextBox 1"/>
          <p:cNvSpPr txBox="1"/>
          <p:nvPr/>
        </p:nvSpPr>
        <p:spPr>
          <a:xfrm>
            <a:off x="167420" y="1698647"/>
            <a:ext cx="1838264" cy="584776"/>
          </a:xfrm>
          <a:prstGeom prst="rect">
            <a:avLst/>
          </a:prstGeom>
          <a:noFill/>
        </p:spPr>
        <p:txBody>
          <a:bodyPr wrap="none" rtlCol="0">
            <a:spAutoFit/>
          </a:bodyPr>
          <a:lstStyle/>
          <a:p>
            <a:pPr algn="ctr"/>
            <a:r>
              <a:rPr lang="en-GB" sz="1600" dirty="0">
                <a:solidFill>
                  <a:srgbClr val="FF0000"/>
                </a:solidFill>
                <a:latin typeface="+mn-lt"/>
              </a:rPr>
              <a:t>lower-dimensional</a:t>
            </a:r>
          </a:p>
          <a:p>
            <a:pPr algn="ctr"/>
            <a:r>
              <a:rPr lang="en-GB" sz="1600" dirty="0">
                <a:solidFill>
                  <a:srgbClr val="FF0000"/>
                </a:solidFill>
                <a:latin typeface="+mn-lt"/>
              </a:rPr>
              <a:t>elements</a:t>
            </a:r>
          </a:p>
        </p:txBody>
      </p:sp>
      <p:sp>
        <p:nvSpPr>
          <p:cNvPr id="4" name="TextBox 3"/>
          <p:cNvSpPr txBox="1"/>
          <p:nvPr/>
        </p:nvSpPr>
        <p:spPr>
          <a:xfrm>
            <a:off x="3275856" y="4293096"/>
            <a:ext cx="1467770" cy="369332"/>
          </a:xfrm>
          <a:prstGeom prst="rect">
            <a:avLst/>
          </a:prstGeom>
          <a:solidFill>
            <a:srgbClr val="FFFF00"/>
          </a:solidFill>
        </p:spPr>
        <p:txBody>
          <a:bodyPr wrap="none" rtlCol="0">
            <a:spAutoFit/>
          </a:bodyPr>
          <a:lstStyle/>
          <a:p>
            <a:r>
              <a:rPr lang="en-GB" dirty="0">
                <a:latin typeface="Arial"/>
                <a:cs typeface="Arial"/>
              </a:rPr>
              <a:t>unstructured</a:t>
            </a:r>
          </a:p>
        </p:txBody>
      </p:sp>
      <p:sp>
        <p:nvSpPr>
          <p:cNvPr id="70" name="TextBox 69"/>
          <p:cNvSpPr txBox="1"/>
          <p:nvPr/>
        </p:nvSpPr>
        <p:spPr>
          <a:xfrm>
            <a:off x="2195736" y="5301208"/>
            <a:ext cx="1211014" cy="369332"/>
          </a:xfrm>
          <a:prstGeom prst="rect">
            <a:avLst/>
          </a:prstGeom>
          <a:solidFill>
            <a:srgbClr val="FFFF00"/>
          </a:solidFill>
        </p:spPr>
        <p:txBody>
          <a:bodyPr wrap="none" rtlCol="0">
            <a:spAutoFit/>
          </a:bodyPr>
          <a:lstStyle/>
          <a:p>
            <a:r>
              <a:rPr lang="en-GB" dirty="0">
                <a:latin typeface="Arial"/>
                <a:cs typeface="Arial"/>
              </a:rPr>
              <a:t>structured</a:t>
            </a:r>
          </a:p>
        </p:txBody>
      </p:sp>
      <p:sp>
        <p:nvSpPr>
          <p:cNvPr id="68"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pPr/>
              <a:t>43</a:t>
            </a:fld>
            <a:endParaRPr lang="en-US" dirty="0"/>
          </a:p>
        </p:txBody>
      </p:sp>
      <p:sp>
        <p:nvSpPr>
          <p:cNvPr id="69" name="Date Placeholder 6"/>
          <p:cNvSpPr>
            <a:spLocks noGrp="1"/>
          </p:cNvSpPr>
          <p:nvPr>
            <p:ph type="dt" sz="half" idx="10"/>
          </p:nvPr>
        </p:nvSpPr>
        <p:spPr>
          <a:xfrm>
            <a:off x="35496" y="6492875"/>
            <a:ext cx="2133600" cy="365125"/>
          </a:xfrm>
        </p:spPr>
        <p:txBody>
          <a:bodyPr/>
          <a:lstStyle/>
          <a:p>
            <a:fld id="{670F7173-20DF-5644-8503-00F389326E08}" type="datetime1">
              <a:rPr lang="en-US" smtClean="0"/>
              <a:pPr/>
              <a:t>5/2/24</a:t>
            </a:fld>
            <a:endParaRPr lang="en-US"/>
          </a:p>
        </p:txBody>
      </p:sp>
      <p:sp>
        <p:nvSpPr>
          <p:cNvPr id="71" name="Footer Placeholder 8"/>
          <p:cNvSpPr>
            <a:spLocks noGrp="1"/>
          </p:cNvSpPr>
          <p:nvPr>
            <p:ph type="ftr" sz="quarter" idx="11"/>
          </p:nvPr>
        </p:nvSpPr>
        <p:spPr>
          <a:xfrm>
            <a:off x="3124200" y="6492875"/>
            <a:ext cx="2895600" cy="365125"/>
          </a:xfrm>
        </p:spPr>
        <p:txBody>
          <a:bodyPr/>
          <a:lstStyle/>
          <a:p>
            <a:endParaRPr lang="en-US" dirty="0"/>
          </a:p>
          <a:p>
            <a:r>
              <a:rPr lang="en-US" dirty="0"/>
              <a:t>FEM-FVM framework</a:t>
            </a:r>
          </a:p>
          <a:p>
            <a:endParaRPr lang="en-US" dirty="0"/>
          </a:p>
        </p:txBody>
      </p:sp>
      <p:sp>
        <p:nvSpPr>
          <p:cNvPr id="5" name="TextBox 4">
            <a:extLst>
              <a:ext uri="{FF2B5EF4-FFF2-40B4-BE49-F238E27FC236}">
                <a16:creationId xmlns:a16="http://schemas.microsoft.com/office/drawing/2014/main" id="{6585C06D-436B-7C0C-0386-FBC708A76467}"/>
              </a:ext>
            </a:extLst>
          </p:cNvPr>
          <p:cNvSpPr txBox="1"/>
          <p:nvPr/>
        </p:nvSpPr>
        <p:spPr>
          <a:xfrm>
            <a:off x="221281" y="692438"/>
            <a:ext cx="4381475" cy="369332"/>
          </a:xfrm>
          <a:prstGeom prst="rect">
            <a:avLst/>
          </a:prstGeom>
          <a:noFill/>
        </p:spPr>
        <p:txBody>
          <a:bodyPr wrap="square" rtlCol="0">
            <a:spAutoFit/>
          </a:bodyPr>
          <a:lstStyle/>
          <a:p>
            <a:r>
              <a:rPr lang="en-US" i="1" dirty="0">
                <a:latin typeface="Arial" panose="020B0604020202020204" pitchFamily="34" charset="0"/>
                <a:cs typeface="Arial" panose="020B0604020202020204" pitchFamily="34" charset="0"/>
              </a:rPr>
              <a:t>see </a:t>
            </a:r>
            <a:r>
              <a:rPr lang="en-US" i="1" dirty="0" err="1">
                <a:latin typeface="Arial" panose="020B0604020202020204" pitchFamily="34" charset="0"/>
                <a:cs typeface="Arial" panose="020B0604020202020204" pitchFamily="34" charset="0"/>
              </a:rPr>
              <a:t>CSMP_FEM_conventions.pdf</a:t>
            </a:r>
            <a:endParaRPr lang="en-US"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727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730" name="Rectangle 2"/>
          <p:cNvSpPr>
            <a:spLocks noGrp="1" noChangeArrowheads="1"/>
          </p:cNvSpPr>
          <p:nvPr>
            <p:ph type="title"/>
          </p:nvPr>
        </p:nvSpPr>
        <p:spPr>
          <a:xfrm>
            <a:off x="305780" y="188640"/>
            <a:ext cx="7812360" cy="430212"/>
          </a:xfrm>
        </p:spPr>
        <p:txBody>
          <a:bodyPr>
            <a:normAutofit fontScale="90000"/>
          </a:bodyPr>
          <a:lstStyle/>
          <a:p>
            <a:r>
              <a:rPr lang="en-US" sz="3600" dirty="0" err="1"/>
              <a:t>Galerkin</a:t>
            </a:r>
            <a:r>
              <a:rPr lang="en-US" sz="3600" dirty="0"/>
              <a:t> Finite Element discretization</a:t>
            </a:r>
            <a:endParaRPr lang="en-GB" sz="3600" dirty="0"/>
          </a:p>
        </p:txBody>
      </p:sp>
      <p:sp>
        <p:nvSpPr>
          <p:cNvPr id="1353731" name="Text Box 3"/>
          <p:cNvSpPr txBox="1">
            <a:spLocks noChangeArrowheads="1"/>
          </p:cNvSpPr>
          <p:nvPr/>
        </p:nvSpPr>
        <p:spPr bwMode="auto">
          <a:xfrm>
            <a:off x="738188" y="836712"/>
            <a:ext cx="7842250" cy="51398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sz="2000" b="1" dirty="0">
                <a:latin typeface="Arial" charset="0"/>
              </a:rPr>
              <a:t>Steps:</a:t>
            </a:r>
          </a:p>
          <a:p>
            <a:r>
              <a:rPr lang="en-US" sz="2000" dirty="0">
                <a:latin typeface="Arial" charset="0"/>
              </a:rPr>
              <a:t>PDE 	       integral form on element             assembly into global algebraic system of equations            integration			</a:t>
            </a:r>
          </a:p>
          <a:p>
            <a:endParaRPr lang="en-US" sz="2000" b="1" dirty="0">
              <a:latin typeface="Arial" charset="0"/>
            </a:endParaRPr>
          </a:p>
          <a:p>
            <a:r>
              <a:rPr lang="en-US" sz="2000" b="1" dirty="0">
                <a:latin typeface="Arial" charset="0"/>
              </a:rPr>
              <a:t>Requirements:</a:t>
            </a:r>
            <a:endParaRPr lang="en-US" sz="2000" dirty="0">
              <a:latin typeface="Arial" charset="0"/>
            </a:endParaRPr>
          </a:p>
          <a:p>
            <a:r>
              <a:rPr lang="en-US" sz="2000" dirty="0">
                <a:latin typeface="Arial" charset="0"/>
              </a:rPr>
              <a:t>Element interpolation functions approximate variable(s) of interest in piecewise element-by-element fashion. They should:</a:t>
            </a:r>
          </a:p>
          <a:p>
            <a:pPr>
              <a:spcBef>
                <a:spcPts val="500"/>
              </a:spcBef>
              <a:spcAft>
                <a:spcPts val="700"/>
              </a:spcAft>
            </a:pPr>
            <a:r>
              <a:rPr lang="en-US" sz="2000" dirty="0">
                <a:latin typeface="Arial" charset="0"/>
              </a:rPr>
              <a:t>	</a:t>
            </a:r>
            <a:r>
              <a:rPr lang="en-US" dirty="0">
                <a:latin typeface="Arial" charset="0"/>
              </a:rPr>
              <a:t>capture variation of the field of interest</a:t>
            </a:r>
          </a:p>
          <a:p>
            <a:pPr>
              <a:spcBef>
                <a:spcPts val="500"/>
              </a:spcBef>
              <a:spcAft>
                <a:spcPts val="700"/>
              </a:spcAft>
            </a:pPr>
            <a:r>
              <a:rPr lang="en-US" dirty="0">
                <a:latin typeface="Arial" charset="0"/>
              </a:rPr>
              <a:t>	provide continuity if their derivatives are to be used in 	further  	computations</a:t>
            </a:r>
          </a:p>
          <a:p>
            <a:pPr>
              <a:spcBef>
                <a:spcPts val="500"/>
              </a:spcBef>
              <a:spcAft>
                <a:spcPts val="700"/>
              </a:spcAft>
            </a:pPr>
            <a:r>
              <a:rPr lang="en-US" dirty="0">
                <a:latin typeface="Arial" charset="0"/>
              </a:rPr>
              <a:t>	provide smooth, oscillation free interpolation of target 	field so that 	PDEs can be integrated in space and time</a:t>
            </a:r>
          </a:p>
          <a:p>
            <a:pPr>
              <a:spcBef>
                <a:spcPts val="500"/>
              </a:spcBef>
              <a:spcAft>
                <a:spcPts val="700"/>
              </a:spcAft>
            </a:pPr>
            <a:r>
              <a:rPr lang="en-US" dirty="0">
                <a:latin typeface="Arial" charset="0"/>
              </a:rPr>
              <a:t>	satisfy the mass-conservation equation when integrated over the domain of interest</a:t>
            </a:r>
            <a:endParaRPr lang="en-US" sz="2000" dirty="0">
              <a:latin typeface="Arial" charset="0"/>
            </a:endParaRPr>
          </a:p>
          <a:p>
            <a:r>
              <a:rPr lang="en-US" sz="2000" i="1" dirty="0">
                <a:latin typeface="Arial" charset="0"/>
              </a:rPr>
              <a:t>! The FEM is globally- but not locally conservative !</a:t>
            </a:r>
            <a:endParaRPr lang="en-GB" sz="2000" i="1" dirty="0">
              <a:latin typeface="Arial" charset="0"/>
            </a:endParaRPr>
          </a:p>
        </p:txBody>
      </p:sp>
      <p:sp>
        <p:nvSpPr>
          <p:cNvPr id="1353732" name="Freeform 4"/>
          <p:cNvSpPr>
            <a:spLocks/>
          </p:cNvSpPr>
          <p:nvPr/>
        </p:nvSpPr>
        <p:spPr bwMode="auto">
          <a:xfrm>
            <a:off x="1425575" y="1222177"/>
            <a:ext cx="760413" cy="315912"/>
          </a:xfrm>
          <a:custGeom>
            <a:avLst/>
            <a:gdLst>
              <a:gd name="T0" fmla="*/ 0 w 479"/>
              <a:gd name="T1" fmla="*/ 114 h 199"/>
              <a:gd name="T2" fmla="*/ 222 w 479"/>
              <a:gd name="T3" fmla="*/ 114 h 199"/>
              <a:gd name="T4" fmla="*/ 120 w 479"/>
              <a:gd name="T5" fmla="*/ 199 h 199"/>
              <a:gd name="T6" fmla="*/ 479 w 479"/>
              <a:gd name="T7" fmla="*/ 79 h 199"/>
              <a:gd name="T8" fmla="*/ 239 w 479"/>
              <a:gd name="T9" fmla="*/ 0 h 199"/>
              <a:gd name="T10" fmla="*/ 262 w 479"/>
              <a:gd name="T11" fmla="*/ 62 h 199"/>
              <a:gd name="T12" fmla="*/ 11 w 479"/>
              <a:gd name="T13" fmla="*/ 62 h 199"/>
              <a:gd name="T14" fmla="*/ 0 w 479"/>
              <a:gd name="T15" fmla="*/ 114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9" h="199">
                <a:moveTo>
                  <a:pt x="0" y="114"/>
                </a:moveTo>
                <a:lnTo>
                  <a:pt x="222" y="114"/>
                </a:lnTo>
                <a:lnTo>
                  <a:pt x="120" y="199"/>
                </a:lnTo>
                <a:lnTo>
                  <a:pt x="479" y="79"/>
                </a:lnTo>
                <a:lnTo>
                  <a:pt x="239" y="0"/>
                </a:lnTo>
                <a:lnTo>
                  <a:pt x="262" y="62"/>
                </a:lnTo>
                <a:lnTo>
                  <a:pt x="11" y="62"/>
                </a:lnTo>
                <a:lnTo>
                  <a:pt x="0" y="114"/>
                </a:lnTo>
                <a:close/>
              </a:path>
            </a:pathLst>
          </a:custGeom>
          <a:solidFill>
            <a:srgbClr val="FFFF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a:p>
        </p:txBody>
      </p:sp>
      <p:sp>
        <p:nvSpPr>
          <p:cNvPr id="1353733" name="Freeform 5"/>
          <p:cNvSpPr>
            <a:spLocks/>
          </p:cNvSpPr>
          <p:nvPr/>
        </p:nvSpPr>
        <p:spPr bwMode="auto">
          <a:xfrm>
            <a:off x="5076056" y="1212652"/>
            <a:ext cx="760413" cy="315912"/>
          </a:xfrm>
          <a:custGeom>
            <a:avLst/>
            <a:gdLst>
              <a:gd name="T0" fmla="*/ 0 w 479"/>
              <a:gd name="T1" fmla="*/ 114 h 199"/>
              <a:gd name="T2" fmla="*/ 222 w 479"/>
              <a:gd name="T3" fmla="*/ 114 h 199"/>
              <a:gd name="T4" fmla="*/ 120 w 479"/>
              <a:gd name="T5" fmla="*/ 199 h 199"/>
              <a:gd name="T6" fmla="*/ 479 w 479"/>
              <a:gd name="T7" fmla="*/ 79 h 199"/>
              <a:gd name="T8" fmla="*/ 239 w 479"/>
              <a:gd name="T9" fmla="*/ 0 h 199"/>
              <a:gd name="T10" fmla="*/ 262 w 479"/>
              <a:gd name="T11" fmla="*/ 62 h 199"/>
              <a:gd name="T12" fmla="*/ 11 w 479"/>
              <a:gd name="T13" fmla="*/ 62 h 199"/>
              <a:gd name="T14" fmla="*/ 0 w 479"/>
              <a:gd name="T15" fmla="*/ 114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9" h="199">
                <a:moveTo>
                  <a:pt x="0" y="114"/>
                </a:moveTo>
                <a:lnTo>
                  <a:pt x="222" y="114"/>
                </a:lnTo>
                <a:lnTo>
                  <a:pt x="120" y="199"/>
                </a:lnTo>
                <a:lnTo>
                  <a:pt x="479" y="79"/>
                </a:lnTo>
                <a:lnTo>
                  <a:pt x="239" y="0"/>
                </a:lnTo>
                <a:lnTo>
                  <a:pt x="262" y="62"/>
                </a:lnTo>
                <a:lnTo>
                  <a:pt x="11" y="62"/>
                </a:lnTo>
                <a:lnTo>
                  <a:pt x="0" y="114"/>
                </a:lnTo>
                <a:close/>
              </a:path>
            </a:pathLst>
          </a:custGeom>
          <a:solidFill>
            <a:srgbClr val="FFFF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a:p>
        </p:txBody>
      </p:sp>
      <p:sp>
        <p:nvSpPr>
          <p:cNvPr id="1353734" name="Oval 6"/>
          <p:cNvSpPr>
            <a:spLocks noChangeArrowheads="1"/>
          </p:cNvSpPr>
          <p:nvPr/>
        </p:nvSpPr>
        <p:spPr bwMode="auto">
          <a:xfrm>
            <a:off x="973188" y="3194273"/>
            <a:ext cx="153987" cy="144463"/>
          </a:xfrm>
          <a:prstGeom prst="ellipse">
            <a:avLst/>
          </a:prstGeom>
          <a:solidFill>
            <a:srgbClr val="FFFF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3735" name="Oval 7"/>
          <p:cNvSpPr>
            <a:spLocks noChangeArrowheads="1"/>
          </p:cNvSpPr>
          <p:nvPr/>
        </p:nvSpPr>
        <p:spPr bwMode="auto">
          <a:xfrm>
            <a:off x="971600" y="3635573"/>
            <a:ext cx="153988" cy="144462"/>
          </a:xfrm>
          <a:prstGeom prst="ellipse">
            <a:avLst/>
          </a:prstGeom>
          <a:solidFill>
            <a:srgbClr val="FFFF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3736" name="Oval 8"/>
          <p:cNvSpPr>
            <a:spLocks noChangeArrowheads="1"/>
          </p:cNvSpPr>
          <p:nvPr/>
        </p:nvSpPr>
        <p:spPr bwMode="auto">
          <a:xfrm>
            <a:off x="982713" y="4334565"/>
            <a:ext cx="153987" cy="144463"/>
          </a:xfrm>
          <a:prstGeom prst="ellipse">
            <a:avLst/>
          </a:prstGeom>
          <a:solidFill>
            <a:srgbClr val="FFFF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3737" name="Oval 9"/>
          <p:cNvSpPr>
            <a:spLocks noChangeArrowheads="1"/>
          </p:cNvSpPr>
          <p:nvPr/>
        </p:nvSpPr>
        <p:spPr bwMode="auto">
          <a:xfrm>
            <a:off x="992238" y="5031474"/>
            <a:ext cx="153987" cy="144463"/>
          </a:xfrm>
          <a:prstGeom prst="ellipse">
            <a:avLst/>
          </a:prstGeom>
          <a:solidFill>
            <a:srgbClr val="FFFF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4" name="Freeform 5"/>
          <p:cNvSpPr>
            <a:spLocks/>
          </p:cNvSpPr>
          <p:nvPr/>
        </p:nvSpPr>
        <p:spPr bwMode="auto">
          <a:xfrm>
            <a:off x="4211960" y="1538089"/>
            <a:ext cx="760413" cy="315912"/>
          </a:xfrm>
          <a:custGeom>
            <a:avLst/>
            <a:gdLst>
              <a:gd name="T0" fmla="*/ 0 w 479"/>
              <a:gd name="T1" fmla="*/ 114 h 199"/>
              <a:gd name="T2" fmla="*/ 222 w 479"/>
              <a:gd name="T3" fmla="*/ 114 h 199"/>
              <a:gd name="T4" fmla="*/ 120 w 479"/>
              <a:gd name="T5" fmla="*/ 199 h 199"/>
              <a:gd name="T6" fmla="*/ 479 w 479"/>
              <a:gd name="T7" fmla="*/ 79 h 199"/>
              <a:gd name="T8" fmla="*/ 239 w 479"/>
              <a:gd name="T9" fmla="*/ 0 h 199"/>
              <a:gd name="T10" fmla="*/ 262 w 479"/>
              <a:gd name="T11" fmla="*/ 62 h 199"/>
              <a:gd name="T12" fmla="*/ 11 w 479"/>
              <a:gd name="T13" fmla="*/ 62 h 199"/>
              <a:gd name="T14" fmla="*/ 0 w 479"/>
              <a:gd name="T15" fmla="*/ 114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9" h="199">
                <a:moveTo>
                  <a:pt x="0" y="114"/>
                </a:moveTo>
                <a:lnTo>
                  <a:pt x="222" y="114"/>
                </a:lnTo>
                <a:lnTo>
                  <a:pt x="120" y="199"/>
                </a:lnTo>
                <a:lnTo>
                  <a:pt x="479" y="79"/>
                </a:lnTo>
                <a:lnTo>
                  <a:pt x="239" y="0"/>
                </a:lnTo>
                <a:lnTo>
                  <a:pt x="262" y="62"/>
                </a:lnTo>
                <a:lnTo>
                  <a:pt x="11" y="62"/>
                </a:lnTo>
                <a:lnTo>
                  <a:pt x="0" y="114"/>
                </a:lnTo>
                <a:close/>
              </a:path>
            </a:pathLst>
          </a:custGeom>
          <a:solidFill>
            <a:srgbClr val="FFFF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a:p>
        </p:txBody>
      </p:sp>
      <p:sp>
        <p:nvSpPr>
          <p:cNvPr id="11"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pPr/>
              <a:t>44</a:t>
            </a:fld>
            <a:endParaRPr lang="en-US" dirty="0"/>
          </a:p>
        </p:txBody>
      </p:sp>
      <p:sp>
        <p:nvSpPr>
          <p:cNvPr id="12" name="Date Placeholder 6"/>
          <p:cNvSpPr>
            <a:spLocks noGrp="1"/>
          </p:cNvSpPr>
          <p:nvPr>
            <p:ph type="dt" sz="half" idx="10"/>
          </p:nvPr>
        </p:nvSpPr>
        <p:spPr>
          <a:xfrm>
            <a:off x="35496" y="6492875"/>
            <a:ext cx="2133600" cy="365125"/>
          </a:xfrm>
        </p:spPr>
        <p:txBody>
          <a:bodyPr/>
          <a:lstStyle/>
          <a:p>
            <a:fld id="{670F7173-20DF-5644-8503-00F389326E08}" type="datetime1">
              <a:rPr lang="en-US" smtClean="0"/>
              <a:pPr/>
              <a:t>5/2/24</a:t>
            </a:fld>
            <a:endParaRPr lang="en-US"/>
          </a:p>
        </p:txBody>
      </p:sp>
      <p:sp>
        <p:nvSpPr>
          <p:cNvPr id="13" name="Footer Placeholder 8"/>
          <p:cNvSpPr>
            <a:spLocks noGrp="1"/>
          </p:cNvSpPr>
          <p:nvPr>
            <p:ph type="ftr" sz="quarter" idx="11"/>
          </p:nvPr>
        </p:nvSpPr>
        <p:spPr>
          <a:xfrm>
            <a:off x="3124200" y="6492875"/>
            <a:ext cx="2895600" cy="365125"/>
          </a:xfrm>
        </p:spPr>
        <p:txBody>
          <a:bodyPr/>
          <a:lstStyle/>
          <a:p>
            <a:endParaRPr lang="en-US" dirty="0"/>
          </a:p>
          <a:p>
            <a:r>
              <a:rPr lang="en-US" dirty="0"/>
              <a:t>FEM-FVM framework</a:t>
            </a:r>
          </a:p>
          <a:p>
            <a:endParaRPr lang="en-US" dirty="0"/>
          </a:p>
        </p:txBody>
      </p:sp>
    </p:spTree>
    <p:extLst>
      <p:ext uri="{BB962C8B-B14F-4D97-AF65-F5344CB8AC3E}">
        <p14:creationId xmlns:p14="http://schemas.microsoft.com/office/powerpoint/2010/main" val="36937626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p:cNvSpPr>
            <a:spLocks noGrp="1" noChangeArrowheads="1"/>
          </p:cNvSpPr>
          <p:nvPr>
            <p:ph type="title"/>
          </p:nvPr>
        </p:nvSpPr>
        <p:spPr>
          <a:xfrm>
            <a:off x="467544" y="125760"/>
            <a:ext cx="5688632" cy="1143000"/>
          </a:xfrm>
        </p:spPr>
        <p:txBody>
          <a:bodyPr/>
          <a:lstStyle/>
          <a:p>
            <a:r>
              <a:rPr lang="en-US" sz="2800" dirty="0"/>
              <a:t>Two-dimensional FE discretization of pressure equation</a:t>
            </a:r>
            <a:endParaRPr lang="en-GB" sz="2800" dirty="0"/>
          </a:p>
        </p:txBody>
      </p:sp>
      <p:grpSp>
        <p:nvGrpSpPr>
          <p:cNvPr id="1355779" name="Group 3"/>
          <p:cNvGrpSpPr>
            <a:grpSpLocks/>
          </p:cNvGrpSpPr>
          <p:nvPr/>
        </p:nvGrpSpPr>
        <p:grpSpPr bwMode="auto">
          <a:xfrm>
            <a:off x="4700588" y="2454275"/>
            <a:ext cx="3314700" cy="3009900"/>
            <a:chOff x="1855" y="1489"/>
            <a:chExt cx="2088" cy="1896"/>
          </a:xfrm>
        </p:grpSpPr>
        <p:sp>
          <p:nvSpPr>
            <p:cNvPr id="1355780" name="Freeform 4"/>
            <p:cNvSpPr>
              <a:spLocks/>
            </p:cNvSpPr>
            <p:nvPr/>
          </p:nvSpPr>
          <p:spPr bwMode="auto">
            <a:xfrm>
              <a:off x="1927" y="1553"/>
              <a:ext cx="1943" cy="1763"/>
            </a:xfrm>
            <a:custGeom>
              <a:avLst/>
              <a:gdLst>
                <a:gd name="T0" fmla="*/ 0 w 1943"/>
                <a:gd name="T1" fmla="*/ 1486 h 1763"/>
                <a:gd name="T2" fmla="*/ 998 w 1943"/>
                <a:gd name="T3" fmla="*/ 0 h 1763"/>
                <a:gd name="T4" fmla="*/ 1943 w 1943"/>
                <a:gd name="T5" fmla="*/ 1763 h 1763"/>
                <a:gd name="T6" fmla="*/ 0 w 1943"/>
                <a:gd name="T7" fmla="*/ 1486 h 1763"/>
              </a:gdLst>
              <a:ahLst/>
              <a:cxnLst>
                <a:cxn ang="0">
                  <a:pos x="T0" y="T1"/>
                </a:cxn>
                <a:cxn ang="0">
                  <a:pos x="T2" y="T3"/>
                </a:cxn>
                <a:cxn ang="0">
                  <a:pos x="T4" y="T5"/>
                </a:cxn>
                <a:cxn ang="0">
                  <a:pos x="T6" y="T7"/>
                </a:cxn>
              </a:cxnLst>
              <a:rect l="0" t="0" r="r" b="b"/>
              <a:pathLst>
                <a:path w="1943" h="1763">
                  <a:moveTo>
                    <a:pt x="0" y="1486"/>
                  </a:moveTo>
                  <a:lnTo>
                    <a:pt x="998" y="0"/>
                  </a:lnTo>
                  <a:lnTo>
                    <a:pt x="1943" y="1763"/>
                  </a:lnTo>
                  <a:lnTo>
                    <a:pt x="0" y="1486"/>
                  </a:lnTo>
                  <a:close/>
                </a:path>
              </a:pathLst>
            </a:custGeom>
            <a:solidFill>
              <a:srgbClr val="FFFF00"/>
            </a:solidFill>
            <a:ln w="19050" cmpd="sng">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dirty="0"/>
            </a:p>
          </p:txBody>
        </p:sp>
        <p:sp>
          <p:nvSpPr>
            <p:cNvPr id="1355781" name="Oval 5"/>
            <p:cNvSpPr>
              <a:spLocks noChangeArrowheads="1"/>
            </p:cNvSpPr>
            <p:nvPr/>
          </p:nvSpPr>
          <p:spPr bwMode="auto">
            <a:xfrm>
              <a:off x="1855" y="2968"/>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5782" name="Oval 6"/>
            <p:cNvSpPr>
              <a:spLocks noChangeArrowheads="1"/>
            </p:cNvSpPr>
            <p:nvPr/>
          </p:nvSpPr>
          <p:spPr bwMode="auto">
            <a:xfrm>
              <a:off x="3793" y="3244"/>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5783" name="Oval 7"/>
            <p:cNvSpPr>
              <a:spLocks noChangeArrowheads="1"/>
            </p:cNvSpPr>
            <p:nvPr/>
          </p:nvSpPr>
          <p:spPr bwMode="auto">
            <a:xfrm>
              <a:off x="2847" y="1489"/>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
        <p:nvSpPr>
          <p:cNvPr id="1355784" name="Text Box 8"/>
          <p:cNvSpPr txBox="1">
            <a:spLocks noChangeArrowheads="1"/>
          </p:cNvSpPr>
          <p:nvPr/>
        </p:nvSpPr>
        <p:spPr bwMode="auto">
          <a:xfrm>
            <a:off x="6527800" y="2198688"/>
            <a:ext cx="1870504"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latin typeface="Arial" charset="0"/>
              </a:rPr>
              <a:t>fluid pressure, </a:t>
            </a:r>
            <a:r>
              <a:rPr lang="en-US" i="1" dirty="0">
                <a:latin typeface="Arial" charset="0"/>
              </a:rPr>
              <a:t>p</a:t>
            </a:r>
          </a:p>
          <a:p>
            <a:r>
              <a:rPr lang="en-US" dirty="0">
                <a:latin typeface="Arial" charset="0"/>
              </a:rPr>
              <a:t>viscosity</a:t>
            </a:r>
            <a:r>
              <a:rPr lang="en-US" i="1" dirty="0">
                <a:latin typeface="Arial" charset="0"/>
              </a:rPr>
              <a:t>, μ</a:t>
            </a:r>
            <a:endParaRPr lang="en-GB" i="1" dirty="0">
              <a:latin typeface="Arial" charset="0"/>
            </a:endParaRPr>
          </a:p>
        </p:txBody>
      </p:sp>
      <p:sp>
        <p:nvSpPr>
          <p:cNvPr id="1355785" name="Text Box 9"/>
          <p:cNvSpPr txBox="1">
            <a:spLocks noChangeArrowheads="1"/>
          </p:cNvSpPr>
          <p:nvPr/>
        </p:nvSpPr>
        <p:spPr bwMode="auto">
          <a:xfrm>
            <a:off x="5453487" y="3668831"/>
            <a:ext cx="1685077"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dirty="0">
                <a:latin typeface="Arial" charset="0"/>
              </a:rPr>
              <a:t>Element</a:t>
            </a:r>
          </a:p>
          <a:p>
            <a:pPr algn="ctr"/>
            <a:r>
              <a:rPr lang="en-US" sz="1800" dirty="0">
                <a:latin typeface="Arial" charset="0"/>
              </a:rPr>
              <a:t>permeability, </a:t>
            </a:r>
            <a:r>
              <a:rPr lang="en-US" sz="1800" b="1" dirty="0">
                <a:latin typeface="Arial" charset="0"/>
              </a:rPr>
              <a:t>k</a:t>
            </a:r>
          </a:p>
          <a:p>
            <a:pPr algn="ctr"/>
            <a:r>
              <a:rPr lang="en-US" sz="1800" dirty="0">
                <a:latin typeface="Arial" charset="0"/>
              </a:rPr>
              <a:t>porosity, </a:t>
            </a:r>
            <a:r>
              <a:rPr lang="en-US" sz="1800" dirty="0" err="1">
                <a:latin typeface="Arial" charset="0"/>
              </a:rPr>
              <a:t>ϕ</a:t>
            </a:r>
            <a:endParaRPr lang="en-US" sz="1800" i="1" dirty="0">
              <a:latin typeface="Arial" charset="0"/>
            </a:endParaRPr>
          </a:p>
          <a:p>
            <a:pPr algn="ctr"/>
            <a:r>
              <a:rPr lang="en-US" sz="1800" dirty="0">
                <a:latin typeface="Arial" charset="0"/>
              </a:rPr>
              <a:t>velocity, </a:t>
            </a:r>
            <a:r>
              <a:rPr lang="en-US" sz="1800" i="1" dirty="0">
                <a:latin typeface="Arial" charset="0"/>
              </a:rPr>
              <a:t>v</a:t>
            </a:r>
            <a:endParaRPr lang="en-GB" sz="1800" i="1" dirty="0">
              <a:latin typeface="Arial" charset="0"/>
            </a:endParaRPr>
          </a:p>
        </p:txBody>
      </p:sp>
      <p:sp>
        <p:nvSpPr>
          <p:cNvPr id="1355786" name="Text Box 10"/>
          <p:cNvSpPr txBox="1">
            <a:spLocks noChangeArrowheads="1"/>
          </p:cNvSpPr>
          <p:nvPr/>
        </p:nvSpPr>
        <p:spPr bwMode="auto">
          <a:xfrm>
            <a:off x="3563888" y="2708920"/>
            <a:ext cx="2239962"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sz="2000" dirty="0">
                <a:latin typeface="Arial" charset="0"/>
              </a:rPr>
              <a:t>Variable placement</a:t>
            </a:r>
            <a:endParaRPr lang="en-GB" sz="2000" dirty="0">
              <a:latin typeface="Arial" charset="0"/>
            </a:endParaRPr>
          </a:p>
        </p:txBody>
      </p:sp>
      <p:graphicFrame>
        <p:nvGraphicFramePr>
          <p:cNvPr id="1355787" name="Object 11"/>
          <p:cNvGraphicFramePr>
            <a:graphicFrameLocks noChangeAspect="1"/>
          </p:cNvGraphicFramePr>
          <p:nvPr/>
        </p:nvGraphicFramePr>
        <p:xfrm>
          <a:off x="825500" y="2012950"/>
          <a:ext cx="2208213" cy="3638550"/>
        </p:xfrm>
        <a:graphic>
          <a:graphicData uri="http://schemas.openxmlformats.org/presentationml/2006/ole">
            <mc:AlternateContent xmlns:mc="http://schemas.openxmlformats.org/markup-compatibility/2006">
              <mc:Choice xmlns:v="urn:schemas-microsoft-com:vml" Requires="v">
                <p:oleObj name="Equation" r:id="rId3" imgW="939600" imgH="1549080" progId="Equation.DSMT4">
                  <p:embed/>
                </p:oleObj>
              </mc:Choice>
              <mc:Fallback>
                <p:oleObj name="Equation" r:id="rId3" imgW="939600" imgH="15490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0" y="2012950"/>
                        <a:ext cx="2208213" cy="3638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355788" name="Text Box 12"/>
          <p:cNvSpPr txBox="1">
            <a:spLocks noChangeArrowheads="1"/>
          </p:cNvSpPr>
          <p:nvPr/>
        </p:nvSpPr>
        <p:spPr bwMode="auto">
          <a:xfrm>
            <a:off x="5436096" y="5538718"/>
            <a:ext cx="359803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i="1" dirty="0">
                <a:latin typeface="Arial" charset="0"/>
              </a:rPr>
              <a:t>e.g., Matthai et al. (AAPG Bull. 1996)</a:t>
            </a:r>
          </a:p>
        </p:txBody>
      </p:sp>
      <p:sp>
        <p:nvSpPr>
          <p:cNvPr id="2" name="TextBox 1"/>
          <p:cNvSpPr txBox="1"/>
          <p:nvPr/>
        </p:nvSpPr>
        <p:spPr>
          <a:xfrm>
            <a:off x="582963" y="5733256"/>
            <a:ext cx="4709117" cy="646331"/>
          </a:xfrm>
          <a:prstGeom prst="rect">
            <a:avLst/>
          </a:prstGeom>
          <a:noFill/>
        </p:spPr>
        <p:txBody>
          <a:bodyPr wrap="none" rtlCol="0">
            <a:spAutoFit/>
          </a:bodyPr>
          <a:lstStyle/>
          <a:p>
            <a:r>
              <a:rPr lang="en-GB" i="1" dirty="0"/>
              <a:t>Gives linear variation of pressure in element</a:t>
            </a:r>
          </a:p>
          <a:p>
            <a:r>
              <a:rPr lang="en-GB" i="1" dirty="0"/>
              <a:t>and piecewise constant velocity via Darcy’s law</a:t>
            </a:r>
          </a:p>
        </p:txBody>
      </p:sp>
      <p:sp>
        <p:nvSpPr>
          <p:cNvPr id="14"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pPr/>
              <a:t>45</a:t>
            </a:fld>
            <a:endParaRPr lang="en-US" dirty="0"/>
          </a:p>
        </p:txBody>
      </p:sp>
      <p:sp>
        <p:nvSpPr>
          <p:cNvPr id="15" name="Date Placeholder 6"/>
          <p:cNvSpPr>
            <a:spLocks noGrp="1"/>
          </p:cNvSpPr>
          <p:nvPr>
            <p:ph type="dt" sz="half" idx="10"/>
          </p:nvPr>
        </p:nvSpPr>
        <p:spPr>
          <a:xfrm>
            <a:off x="35496" y="6492875"/>
            <a:ext cx="2133600" cy="365125"/>
          </a:xfrm>
        </p:spPr>
        <p:txBody>
          <a:bodyPr/>
          <a:lstStyle/>
          <a:p>
            <a:fld id="{670F7173-20DF-5644-8503-00F389326E08}" type="datetime1">
              <a:rPr lang="en-US" smtClean="0"/>
              <a:pPr/>
              <a:t>5/2/24</a:t>
            </a:fld>
            <a:endParaRPr lang="en-US"/>
          </a:p>
        </p:txBody>
      </p:sp>
      <p:sp>
        <p:nvSpPr>
          <p:cNvPr id="16" name="Footer Placeholder 8"/>
          <p:cNvSpPr>
            <a:spLocks noGrp="1"/>
          </p:cNvSpPr>
          <p:nvPr>
            <p:ph type="ftr" sz="quarter" idx="11"/>
          </p:nvPr>
        </p:nvSpPr>
        <p:spPr>
          <a:xfrm>
            <a:off x="3124200" y="6492875"/>
            <a:ext cx="2895600" cy="365125"/>
          </a:xfrm>
        </p:spPr>
        <p:txBody>
          <a:bodyPr/>
          <a:lstStyle/>
          <a:p>
            <a:endParaRPr lang="en-US" dirty="0"/>
          </a:p>
          <a:p>
            <a:r>
              <a:rPr lang="en-US" dirty="0"/>
              <a:t>FEM-FVM framework</a:t>
            </a:r>
          </a:p>
          <a:p>
            <a:endParaRPr lang="en-US" dirty="0"/>
          </a:p>
        </p:txBody>
      </p:sp>
      <p:sp>
        <p:nvSpPr>
          <p:cNvPr id="3" name="Text Box 10">
            <a:extLst>
              <a:ext uri="{FF2B5EF4-FFF2-40B4-BE49-F238E27FC236}">
                <a16:creationId xmlns:a16="http://schemas.microsoft.com/office/drawing/2014/main" id="{09D39CBC-58BD-7616-4877-8DEF2D523BB9}"/>
              </a:ext>
            </a:extLst>
          </p:cNvPr>
          <p:cNvSpPr txBox="1">
            <a:spLocks noChangeArrowheads="1"/>
          </p:cNvSpPr>
          <p:nvPr/>
        </p:nvSpPr>
        <p:spPr bwMode="auto">
          <a:xfrm>
            <a:off x="437098" y="2780928"/>
            <a:ext cx="678518"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r>
              <a:rPr lang="en-US" sz="2000" dirty="0">
                <a:latin typeface="Arial" charset="0"/>
              </a:rPr>
              <a:t>-</a:t>
            </a:r>
            <a:endParaRPr lang="en-GB" sz="2000" dirty="0">
              <a:latin typeface="Arial" charset="0"/>
            </a:endParaRPr>
          </a:p>
        </p:txBody>
      </p:sp>
      <p:sp>
        <p:nvSpPr>
          <p:cNvPr id="4" name="Text Box 10">
            <a:extLst>
              <a:ext uri="{FF2B5EF4-FFF2-40B4-BE49-F238E27FC236}">
                <a16:creationId xmlns:a16="http://schemas.microsoft.com/office/drawing/2014/main" id="{419D6BB9-EB4A-6079-5CF0-3C5D316AB216}"/>
              </a:ext>
            </a:extLst>
          </p:cNvPr>
          <p:cNvSpPr txBox="1">
            <a:spLocks noChangeArrowheads="1"/>
          </p:cNvSpPr>
          <p:nvPr/>
        </p:nvSpPr>
        <p:spPr bwMode="auto">
          <a:xfrm>
            <a:off x="1043608" y="3861048"/>
            <a:ext cx="678518"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r>
              <a:rPr lang="en-US" sz="2000" dirty="0">
                <a:latin typeface="Arial" charset="0"/>
              </a:rPr>
              <a:t>-</a:t>
            </a:r>
            <a:endParaRPr lang="en-GB" sz="2000" dirty="0">
              <a:latin typeface="Arial" charset="0"/>
            </a:endParaRPr>
          </a:p>
        </p:txBody>
      </p:sp>
    </p:spTree>
    <p:extLst>
      <p:ext uri="{BB962C8B-B14F-4D97-AF65-F5344CB8AC3E}">
        <p14:creationId xmlns:p14="http://schemas.microsoft.com/office/powerpoint/2010/main" val="18402002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6" name="Rectangle 2"/>
          <p:cNvSpPr>
            <a:spLocks noGrp="1" noChangeArrowheads="1"/>
          </p:cNvSpPr>
          <p:nvPr>
            <p:ph type="title"/>
          </p:nvPr>
        </p:nvSpPr>
        <p:spPr>
          <a:xfrm>
            <a:off x="323528" y="178346"/>
            <a:ext cx="7956376" cy="514350"/>
          </a:xfrm>
        </p:spPr>
        <p:txBody>
          <a:bodyPr>
            <a:normAutofit fontScale="90000"/>
          </a:bodyPr>
          <a:lstStyle/>
          <a:p>
            <a:r>
              <a:rPr lang="en-US" sz="2800" dirty="0"/>
              <a:t> Integration over element interpolation functions</a:t>
            </a:r>
            <a:endParaRPr lang="en-GB" sz="2800" dirty="0"/>
          </a:p>
        </p:txBody>
      </p:sp>
      <p:grpSp>
        <p:nvGrpSpPr>
          <p:cNvPr id="6" name="Group 5"/>
          <p:cNvGrpSpPr/>
          <p:nvPr/>
        </p:nvGrpSpPr>
        <p:grpSpPr>
          <a:xfrm>
            <a:off x="-127000" y="3845024"/>
            <a:ext cx="4264025" cy="2292350"/>
            <a:chOff x="-127000" y="3902075"/>
            <a:chExt cx="4264025" cy="2292350"/>
          </a:xfrm>
        </p:grpSpPr>
        <p:graphicFrame>
          <p:nvGraphicFramePr>
            <p:cNvPr id="1357827" name="Object 3"/>
            <p:cNvGraphicFramePr>
              <a:graphicFrameLocks noChangeAspect="1"/>
            </p:cNvGraphicFramePr>
            <p:nvPr>
              <p:extLst>
                <p:ext uri="{D42A27DB-BD31-4B8C-83A1-F6EECF244321}">
                  <p14:modId xmlns:p14="http://schemas.microsoft.com/office/powerpoint/2010/main" val="2071087132"/>
                </p:ext>
              </p:extLst>
            </p:nvPr>
          </p:nvGraphicFramePr>
          <p:xfrm>
            <a:off x="-127000" y="4797425"/>
            <a:ext cx="114300" cy="215900"/>
          </p:xfrm>
          <a:graphic>
            <a:graphicData uri="http://schemas.openxmlformats.org/presentationml/2006/ole">
              <mc:AlternateContent xmlns:mc="http://schemas.openxmlformats.org/markup-compatibility/2006">
                <mc:Choice xmlns:v="urn:schemas-microsoft-com:vml" Requires="v">
                  <p:oleObj r:id="rId3" imgW="114151" imgH="215619" progId="Equation.3">
                    <p:embed/>
                  </p:oleObj>
                </mc:Choice>
                <mc:Fallback>
                  <p:oleObj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4797425"/>
                          <a:ext cx="114300" cy="2159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357829" name="Object 5"/>
            <p:cNvGraphicFramePr>
              <a:graphicFrameLocks noChangeAspect="1"/>
            </p:cNvGraphicFramePr>
            <p:nvPr>
              <p:extLst>
                <p:ext uri="{D42A27DB-BD31-4B8C-83A1-F6EECF244321}">
                  <p14:modId xmlns:p14="http://schemas.microsoft.com/office/powerpoint/2010/main" val="1434486663"/>
                </p:ext>
              </p:extLst>
            </p:nvPr>
          </p:nvGraphicFramePr>
          <p:xfrm>
            <a:off x="841375" y="4984750"/>
            <a:ext cx="2859088" cy="301625"/>
          </p:xfrm>
          <a:graphic>
            <a:graphicData uri="http://schemas.openxmlformats.org/presentationml/2006/ole">
              <mc:AlternateContent xmlns:mc="http://schemas.openxmlformats.org/markup-compatibility/2006">
                <mc:Choice xmlns:v="urn:schemas-microsoft-com:vml" Requires="v">
                  <p:oleObj r:id="rId5" imgW="2043813" imgH="215806" progId="Equation.3">
                    <p:embed/>
                  </p:oleObj>
                </mc:Choice>
                <mc:Fallback>
                  <p:oleObj r:id="rId5" imgW="2043813" imgH="21580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375" y="4984750"/>
                          <a:ext cx="2859088" cy="3016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357830" name="Rectangle 6"/>
            <p:cNvSpPr>
              <a:spLocks noChangeArrowheads="1"/>
            </p:cNvSpPr>
            <p:nvPr/>
          </p:nvSpPr>
          <p:spPr bwMode="auto">
            <a:xfrm>
              <a:off x="506413" y="3902075"/>
              <a:ext cx="3630612" cy="2292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sz="1600" i="1" dirty="0">
                  <a:latin typeface="Arial" charset="0"/>
                  <a:cs typeface="Arial" charset="0"/>
                </a:rPr>
                <a:t>N</a:t>
              </a:r>
              <a:r>
                <a:rPr lang="en-US" sz="1600" i="1" baseline="-30000" dirty="0">
                  <a:latin typeface="Arial" charset="0"/>
                  <a:cs typeface="Arial" charset="0"/>
                </a:rPr>
                <a:t>1</a:t>
              </a:r>
              <a:r>
                <a:rPr lang="en-US" sz="1600" i="1" dirty="0">
                  <a:latin typeface="Arial" charset="0"/>
                  <a:cs typeface="Arial" charset="0"/>
                </a:rPr>
                <a:t> = 1</a:t>
              </a:r>
              <a:r>
                <a:rPr lang="en-US" sz="1600" dirty="0">
                  <a:latin typeface="Arial" charset="0"/>
                  <a:cs typeface="Arial" charset="0"/>
                </a:rPr>
                <a:t> at </a:t>
              </a:r>
              <a:r>
                <a:rPr lang="en-US" sz="1600" i="1" dirty="0">
                  <a:latin typeface="Arial" charset="0"/>
                  <a:cs typeface="Arial" charset="0"/>
                </a:rPr>
                <a:t>x</a:t>
              </a:r>
              <a:r>
                <a:rPr lang="en-US" sz="1600" i="1" baseline="-30000" dirty="0">
                  <a:latin typeface="Arial" charset="0"/>
                  <a:cs typeface="Arial" charset="0"/>
                </a:rPr>
                <a:t>1</a:t>
              </a:r>
              <a:r>
                <a:rPr lang="en-US" sz="1600" dirty="0">
                  <a:latin typeface="Arial" charset="0"/>
                  <a:cs typeface="Arial" charset="0"/>
                </a:rPr>
                <a:t> and </a:t>
              </a:r>
              <a:r>
                <a:rPr lang="en-US" sz="1600" i="1" dirty="0">
                  <a:latin typeface="Arial" charset="0"/>
                  <a:cs typeface="Arial" charset="0"/>
                </a:rPr>
                <a:t>N</a:t>
              </a:r>
              <a:r>
                <a:rPr lang="en-US" sz="1600" i="1" baseline="-30000" dirty="0">
                  <a:latin typeface="Arial" charset="0"/>
                  <a:cs typeface="Arial" charset="0"/>
                </a:rPr>
                <a:t>1</a:t>
              </a:r>
              <a:r>
                <a:rPr lang="en-US" sz="1600" i="1" dirty="0">
                  <a:latin typeface="Arial" charset="0"/>
                  <a:cs typeface="Arial" charset="0"/>
                </a:rPr>
                <a:t> = 0</a:t>
              </a:r>
              <a:r>
                <a:rPr lang="en-US" sz="1600" dirty="0">
                  <a:latin typeface="Arial" charset="0"/>
                  <a:cs typeface="Arial" charset="0"/>
                </a:rPr>
                <a:t> at </a:t>
              </a:r>
              <a:r>
                <a:rPr lang="en-US" sz="1600" i="1" dirty="0">
                  <a:latin typeface="Arial" charset="0"/>
                  <a:cs typeface="Arial" charset="0"/>
                </a:rPr>
                <a:t>x</a:t>
              </a:r>
              <a:r>
                <a:rPr lang="en-US" sz="1600" i="1" baseline="-30000" dirty="0">
                  <a:latin typeface="Arial" charset="0"/>
                  <a:cs typeface="Arial" charset="0"/>
                </a:rPr>
                <a:t>2</a:t>
              </a:r>
              <a:r>
                <a:rPr lang="en-US" sz="1600" dirty="0">
                  <a:latin typeface="Arial" charset="0"/>
                  <a:cs typeface="Arial" charset="0"/>
                </a:rPr>
                <a:t> while </a:t>
              </a:r>
              <a:r>
                <a:rPr lang="en-US" sz="1600" i="1" dirty="0">
                  <a:latin typeface="Arial" charset="0"/>
                  <a:cs typeface="Arial" charset="0"/>
                </a:rPr>
                <a:t>N</a:t>
              </a:r>
              <a:r>
                <a:rPr lang="en-US" sz="1600" i="1" baseline="-30000" dirty="0">
                  <a:latin typeface="Arial" charset="0"/>
                  <a:cs typeface="Arial" charset="0"/>
                </a:rPr>
                <a:t>2</a:t>
              </a:r>
              <a:r>
                <a:rPr lang="en-US" sz="1600" i="1" dirty="0">
                  <a:latin typeface="Arial" charset="0"/>
                  <a:cs typeface="Arial" charset="0"/>
                </a:rPr>
                <a:t> = 0</a:t>
              </a:r>
              <a:r>
                <a:rPr lang="en-US" sz="1600" dirty="0">
                  <a:latin typeface="Arial" charset="0"/>
                  <a:cs typeface="Arial" charset="0"/>
                </a:rPr>
                <a:t> at </a:t>
              </a:r>
              <a:r>
                <a:rPr lang="en-US" sz="1600" i="1" dirty="0">
                  <a:latin typeface="Arial" charset="0"/>
                  <a:cs typeface="Arial" charset="0"/>
                </a:rPr>
                <a:t>x</a:t>
              </a:r>
              <a:r>
                <a:rPr lang="en-US" sz="1600" i="1" baseline="-30000" dirty="0">
                  <a:latin typeface="Arial" charset="0"/>
                  <a:cs typeface="Arial" charset="0"/>
                </a:rPr>
                <a:t>1</a:t>
              </a:r>
              <a:r>
                <a:rPr lang="en-US" sz="1600" dirty="0">
                  <a:latin typeface="Arial" charset="0"/>
                  <a:cs typeface="Arial" charset="0"/>
                </a:rPr>
                <a:t> and </a:t>
              </a:r>
              <a:r>
                <a:rPr lang="en-US" sz="1600" i="1" dirty="0">
                  <a:latin typeface="Arial" charset="0"/>
                  <a:cs typeface="Arial" charset="0"/>
                </a:rPr>
                <a:t>N</a:t>
              </a:r>
              <a:r>
                <a:rPr lang="en-US" sz="1600" i="1" baseline="-30000" dirty="0">
                  <a:latin typeface="Arial" charset="0"/>
                  <a:cs typeface="Arial" charset="0"/>
                </a:rPr>
                <a:t>2</a:t>
              </a:r>
              <a:r>
                <a:rPr lang="en-US" sz="1600" i="1" dirty="0">
                  <a:latin typeface="Arial" charset="0"/>
                  <a:cs typeface="Arial" charset="0"/>
                </a:rPr>
                <a:t> = 1</a:t>
              </a:r>
              <a:r>
                <a:rPr lang="en-US" sz="1600" dirty="0">
                  <a:latin typeface="Arial" charset="0"/>
                  <a:cs typeface="Arial" charset="0"/>
                </a:rPr>
                <a:t> at </a:t>
              </a:r>
              <a:r>
                <a:rPr lang="en-US" sz="1600" i="1" dirty="0">
                  <a:latin typeface="Arial" charset="0"/>
                  <a:cs typeface="Arial" charset="0"/>
                </a:rPr>
                <a:t>x</a:t>
              </a:r>
              <a:r>
                <a:rPr lang="en-US" sz="1600" i="1" baseline="-30000" dirty="0">
                  <a:latin typeface="Arial" charset="0"/>
                  <a:cs typeface="Arial" charset="0"/>
                </a:rPr>
                <a:t>2</a:t>
              </a:r>
              <a:r>
                <a:rPr lang="en-US" sz="1600" dirty="0">
                  <a:latin typeface="Arial" charset="0"/>
                  <a:cs typeface="Times New Roman" charset="0"/>
                </a:rPr>
                <a:t>. </a:t>
              </a:r>
              <a:r>
                <a:rPr lang="en-US" sz="1600" dirty="0">
                  <a:latin typeface="Arial" charset="0"/>
                  <a:cs typeface="Arial" charset="0"/>
                </a:rPr>
                <a:t>It follows  that </a:t>
              </a:r>
              <a:r>
                <a:rPr lang="en-US" sz="1600" i="1" dirty="0">
                  <a:latin typeface="Arial" charset="0"/>
                  <a:cs typeface="Arial" charset="0"/>
                </a:rPr>
                <a:t>N</a:t>
              </a:r>
              <a:r>
                <a:rPr lang="en-US" sz="1600" i="1" baseline="-30000" dirty="0">
                  <a:latin typeface="Arial" charset="0"/>
                  <a:cs typeface="Arial" charset="0"/>
                </a:rPr>
                <a:t>1</a:t>
              </a:r>
              <a:r>
                <a:rPr lang="en-US" sz="1600" dirty="0">
                  <a:latin typeface="Arial" charset="0"/>
                  <a:cs typeface="Arial" charset="0"/>
                </a:rPr>
                <a:t> + </a:t>
              </a:r>
              <a:r>
                <a:rPr lang="en-US" sz="1600" i="1" dirty="0">
                  <a:latin typeface="Arial" charset="0"/>
                  <a:cs typeface="Arial" charset="0"/>
                </a:rPr>
                <a:t>N</a:t>
              </a:r>
              <a:r>
                <a:rPr lang="en-US" sz="1600" i="1" baseline="-30000" dirty="0">
                  <a:latin typeface="Arial" charset="0"/>
                  <a:cs typeface="Arial" charset="0"/>
                </a:rPr>
                <a:t>2</a:t>
              </a:r>
              <a:r>
                <a:rPr lang="en-US" sz="1600" dirty="0">
                  <a:latin typeface="Arial" charset="0"/>
                  <a:cs typeface="Arial" charset="0"/>
                </a:rPr>
                <a:t> sum to 1 in the closed interval [</a:t>
              </a:r>
              <a:r>
                <a:rPr lang="en-US" sz="1600" i="1" dirty="0">
                  <a:latin typeface="Arial" charset="0"/>
                  <a:cs typeface="Arial" charset="0"/>
                </a:rPr>
                <a:t>x</a:t>
              </a:r>
              <a:r>
                <a:rPr lang="en-US" sz="1600" i="1" baseline="-30000" dirty="0">
                  <a:latin typeface="Arial" charset="0"/>
                  <a:cs typeface="Arial" charset="0"/>
                </a:rPr>
                <a:t>1</a:t>
              </a:r>
              <a:r>
                <a:rPr lang="en-US" sz="1600" dirty="0">
                  <a:latin typeface="Arial" charset="0"/>
                  <a:cs typeface="Arial" charset="0"/>
                </a:rPr>
                <a:t>, </a:t>
              </a:r>
              <a:r>
                <a:rPr lang="en-US" sz="1600" i="1" dirty="0">
                  <a:latin typeface="Arial" charset="0"/>
                  <a:cs typeface="Arial" charset="0"/>
                </a:rPr>
                <a:t>x</a:t>
              </a:r>
              <a:r>
                <a:rPr lang="en-US" sz="1600" i="1" baseline="-30000" dirty="0">
                  <a:latin typeface="Arial" charset="0"/>
                  <a:cs typeface="Arial" charset="0"/>
                </a:rPr>
                <a:t>2</a:t>
              </a:r>
              <a:r>
                <a:rPr lang="en-US" sz="1600" dirty="0">
                  <a:latin typeface="Arial" charset="0"/>
                  <a:cs typeface="Arial" charset="0"/>
                </a:rPr>
                <a:t>]. Thus, </a:t>
              </a:r>
              <a:r>
                <a:rPr lang="en-US" sz="1600" i="1" dirty="0">
                  <a:latin typeface="Arial" charset="0"/>
                  <a:cs typeface="Arial" charset="0"/>
                </a:rPr>
                <a:t>P</a:t>
              </a:r>
              <a:endParaRPr lang="en-US" sz="1600" dirty="0">
                <a:latin typeface="Arial" charset="0"/>
                <a:cs typeface="Times New Roman" charset="0"/>
              </a:endParaRPr>
            </a:p>
            <a:p>
              <a:pPr eaLnBrk="0" hangingPunct="0"/>
              <a:br>
                <a:rPr lang="en-GB" sz="1600" dirty="0">
                  <a:latin typeface="Arial" charset="0"/>
                </a:rPr>
              </a:br>
              <a:endParaRPr lang="en-US" sz="1600" dirty="0">
                <a:latin typeface="Arial" charset="0"/>
                <a:cs typeface="Times New Roman" charset="0"/>
              </a:endParaRPr>
            </a:p>
            <a:p>
              <a:pPr eaLnBrk="0" hangingPunct="0"/>
              <a:r>
                <a:rPr lang="en-US" sz="1600" dirty="0">
                  <a:latin typeface="Arial" charset="0"/>
                  <a:cs typeface="Arial" charset="0"/>
                </a:rPr>
                <a:t>is linearly interpolated. Due to this property, the </a:t>
              </a:r>
              <a:r>
                <a:rPr lang="en-US" sz="1600" i="1" dirty="0">
                  <a:latin typeface="Arial" charset="0"/>
                  <a:cs typeface="Arial" charset="0"/>
                </a:rPr>
                <a:t>N</a:t>
              </a:r>
              <a:r>
                <a:rPr lang="en-US" sz="1600" dirty="0">
                  <a:latin typeface="Arial" charset="0"/>
                  <a:cs typeface="Arial" charset="0"/>
                </a:rPr>
                <a:t> functions are called interpolation functions.</a:t>
              </a:r>
              <a:endParaRPr lang="en-US" sz="1600" dirty="0">
                <a:latin typeface="Arial" charset="0"/>
              </a:endParaRPr>
            </a:p>
          </p:txBody>
        </p:sp>
      </p:grpSp>
      <p:grpSp>
        <p:nvGrpSpPr>
          <p:cNvPr id="2" name="Group 1"/>
          <p:cNvGrpSpPr/>
          <p:nvPr/>
        </p:nvGrpSpPr>
        <p:grpSpPr>
          <a:xfrm>
            <a:off x="492125" y="2341662"/>
            <a:ext cx="3862388" cy="1465262"/>
            <a:chOff x="492125" y="2398713"/>
            <a:chExt cx="3862388" cy="1465262"/>
          </a:xfrm>
        </p:grpSpPr>
        <p:graphicFrame>
          <p:nvGraphicFramePr>
            <p:cNvPr id="1357828" name="Object 4"/>
            <p:cNvGraphicFramePr>
              <a:graphicFrameLocks noChangeAspect="1"/>
            </p:cNvGraphicFramePr>
            <p:nvPr>
              <p:extLst>
                <p:ext uri="{D42A27DB-BD31-4B8C-83A1-F6EECF244321}">
                  <p14:modId xmlns:p14="http://schemas.microsoft.com/office/powerpoint/2010/main" val="299129842"/>
                </p:ext>
              </p:extLst>
            </p:nvPr>
          </p:nvGraphicFramePr>
          <p:xfrm>
            <a:off x="865188" y="3281363"/>
            <a:ext cx="2565400" cy="582612"/>
          </p:xfrm>
          <a:graphic>
            <a:graphicData uri="http://schemas.openxmlformats.org/presentationml/2006/ole">
              <mc:AlternateContent xmlns:mc="http://schemas.openxmlformats.org/markup-compatibility/2006">
                <mc:Choice xmlns:v="urn:schemas-microsoft-com:vml" Requires="v">
                  <p:oleObj r:id="rId7" imgW="1954951" imgH="444307" progId="Equation.3">
                    <p:embed/>
                  </p:oleObj>
                </mc:Choice>
                <mc:Fallback>
                  <p:oleObj r:id="rId7" imgW="1954951" imgH="44430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5188" y="3281363"/>
                          <a:ext cx="2565400" cy="58261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357831" name="Rectangle 7"/>
            <p:cNvSpPr>
              <a:spLocks noChangeArrowheads="1"/>
            </p:cNvSpPr>
            <p:nvPr/>
          </p:nvSpPr>
          <p:spPr bwMode="auto">
            <a:xfrm>
              <a:off x="492125" y="2398713"/>
              <a:ext cx="3862388" cy="825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sz="1600" dirty="0">
                  <a:latin typeface="Arial" charset="0"/>
                  <a:cs typeface="Arial" charset="0"/>
                </a:rPr>
                <a:t>Change of pressure in constant permeability domains can be approximated by linear functions </a:t>
              </a:r>
              <a:r>
                <a:rPr lang="en-US" sz="1600" i="1" dirty="0">
                  <a:latin typeface="Arial" charset="0"/>
                  <a:cs typeface="Arial" charset="0"/>
                </a:rPr>
                <a:t>N</a:t>
              </a:r>
              <a:r>
                <a:rPr lang="en-US" sz="1600" dirty="0">
                  <a:latin typeface="Arial" charset="0"/>
                  <a:cs typeface="Arial" charset="0"/>
                </a:rPr>
                <a:t>:</a:t>
              </a:r>
              <a:endParaRPr lang="en-US" sz="1600" dirty="0">
                <a:latin typeface="Arial" charset="0"/>
              </a:endParaRPr>
            </a:p>
          </p:txBody>
        </p:sp>
      </p:grpSp>
      <p:sp>
        <p:nvSpPr>
          <p:cNvPr id="1357832" name="Rectangle 8"/>
          <p:cNvSpPr>
            <a:spLocks noChangeArrowheads="1"/>
          </p:cNvSpPr>
          <p:nvPr/>
        </p:nvSpPr>
        <p:spPr bwMode="auto">
          <a:xfrm>
            <a:off x="-127000" y="4006949"/>
            <a:ext cx="9144000"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sz="1000">
                <a:latin typeface="Arial" charset="0"/>
                <a:cs typeface="Times New Roman" charset="0"/>
              </a:rPr>
              <a:t> </a:t>
            </a:r>
            <a:endParaRPr lang="en-US">
              <a:latin typeface="Arial" charset="0"/>
            </a:endParaRPr>
          </a:p>
        </p:txBody>
      </p:sp>
      <p:sp>
        <p:nvSpPr>
          <p:cNvPr id="1357834" name="Rectangle 10"/>
          <p:cNvSpPr>
            <a:spLocks noChangeArrowheads="1"/>
          </p:cNvSpPr>
          <p:nvPr/>
        </p:nvSpPr>
        <p:spPr bwMode="auto">
          <a:xfrm>
            <a:off x="2446338" y="287655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en-GB"/>
          </a:p>
        </p:txBody>
      </p:sp>
      <p:graphicFrame>
        <p:nvGraphicFramePr>
          <p:cNvPr id="1357837" name="Object 13"/>
          <p:cNvGraphicFramePr>
            <a:graphicFrameLocks noChangeAspect="1"/>
          </p:cNvGraphicFramePr>
          <p:nvPr>
            <p:extLst>
              <p:ext uri="{D42A27DB-BD31-4B8C-83A1-F6EECF244321}">
                <p14:modId xmlns:p14="http://schemas.microsoft.com/office/powerpoint/2010/main" val="501587464"/>
              </p:ext>
            </p:extLst>
          </p:nvPr>
        </p:nvGraphicFramePr>
        <p:xfrm>
          <a:off x="514350" y="1035149"/>
          <a:ext cx="3538538" cy="1052513"/>
        </p:xfrm>
        <a:graphic>
          <a:graphicData uri="http://schemas.openxmlformats.org/presentationml/2006/ole">
            <mc:AlternateContent xmlns:mc="http://schemas.openxmlformats.org/markup-compatibility/2006">
              <mc:Choice xmlns:v="urn:schemas-microsoft-com:vml" Requires="v">
                <p:oleObj name="Equation" r:id="rId9" imgW="2273300" imgH="685800" progId="Equation.DSMT4">
                  <p:embed/>
                </p:oleObj>
              </mc:Choice>
              <mc:Fallback>
                <p:oleObj name="Equation" r:id="rId9" imgW="2273300" imgH="685800" progId="Equation.DSMT4">
                  <p:embed/>
                  <p:pic>
                    <p:nvPicPr>
                      <p:cNvPr id="0" name=""/>
                      <p:cNvPicPr>
                        <a:picLocks noChangeAspect="1" noChangeArrowheads="1"/>
                      </p:cNvPicPr>
                      <p:nvPr/>
                    </p:nvPicPr>
                    <p:blipFill>
                      <a:blip r:embed="rId10"/>
                      <a:srcRect/>
                      <a:stretch>
                        <a:fillRect/>
                      </a:stretch>
                    </p:blipFill>
                    <p:spPr bwMode="auto">
                      <a:xfrm>
                        <a:off x="514350" y="1035149"/>
                        <a:ext cx="3538538" cy="1052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oup 3"/>
          <p:cNvGrpSpPr/>
          <p:nvPr/>
        </p:nvGrpSpPr>
        <p:grpSpPr>
          <a:xfrm>
            <a:off x="4394200" y="2519462"/>
            <a:ext cx="4198938" cy="1476375"/>
            <a:chOff x="4394200" y="2576513"/>
            <a:chExt cx="4198938" cy="1476375"/>
          </a:xfrm>
        </p:grpSpPr>
        <p:graphicFrame>
          <p:nvGraphicFramePr>
            <p:cNvPr id="1357835" name="Object 11"/>
            <p:cNvGraphicFramePr>
              <a:graphicFrameLocks noChangeAspect="1"/>
            </p:cNvGraphicFramePr>
            <p:nvPr>
              <p:extLst>
                <p:ext uri="{D42A27DB-BD31-4B8C-83A1-F6EECF244321}">
                  <p14:modId xmlns:p14="http://schemas.microsoft.com/office/powerpoint/2010/main" val="3952466225"/>
                </p:ext>
              </p:extLst>
            </p:nvPr>
          </p:nvGraphicFramePr>
          <p:xfrm>
            <a:off x="4394200" y="2947988"/>
            <a:ext cx="4198938" cy="1104900"/>
          </p:xfrm>
          <a:graphic>
            <a:graphicData uri="http://schemas.openxmlformats.org/presentationml/2006/ole">
              <mc:AlternateContent xmlns:mc="http://schemas.openxmlformats.org/markup-compatibility/2006">
                <mc:Choice xmlns:v="urn:schemas-microsoft-com:vml" Requires="v">
                  <p:oleObj name="Equation" r:id="rId11" imgW="2997000" imgH="787320" progId="Equation.3">
                    <p:embed/>
                  </p:oleObj>
                </mc:Choice>
                <mc:Fallback>
                  <p:oleObj name="Equation" r:id="rId11" imgW="2997000" imgH="78732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94200" y="2947988"/>
                          <a:ext cx="4198938" cy="11049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357839" name="Text Box 15"/>
            <p:cNvSpPr txBox="1">
              <a:spLocks noChangeArrowheads="1"/>
            </p:cNvSpPr>
            <p:nvPr/>
          </p:nvSpPr>
          <p:spPr bwMode="auto">
            <a:xfrm>
              <a:off x="5003800" y="2576513"/>
              <a:ext cx="25590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dirty="0">
                  <a:latin typeface="Arial" charset="0"/>
                </a:rPr>
                <a:t>Finite-element integrals</a:t>
              </a:r>
              <a:endParaRPr lang="en-GB" sz="1800" dirty="0">
                <a:latin typeface="Arial" charset="0"/>
              </a:endParaRPr>
            </a:p>
          </p:txBody>
        </p:sp>
      </p:grpSp>
      <p:grpSp>
        <p:nvGrpSpPr>
          <p:cNvPr id="3" name="Group 2"/>
          <p:cNvGrpSpPr/>
          <p:nvPr/>
        </p:nvGrpSpPr>
        <p:grpSpPr>
          <a:xfrm>
            <a:off x="5006975" y="836712"/>
            <a:ext cx="3702050" cy="1560512"/>
            <a:chOff x="5006975" y="893763"/>
            <a:chExt cx="3702050" cy="1560512"/>
          </a:xfrm>
        </p:grpSpPr>
        <p:graphicFrame>
          <p:nvGraphicFramePr>
            <p:cNvPr id="1357833" name="Object 9"/>
            <p:cNvGraphicFramePr>
              <a:graphicFrameLocks noChangeAspect="1"/>
            </p:cNvGraphicFramePr>
            <p:nvPr>
              <p:extLst>
                <p:ext uri="{D42A27DB-BD31-4B8C-83A1-F6EECF244321}">
                  <p14:modId xmlns:p14="http://schemas.microsoft.com/office/powerpoint/2010/main" val="2155706964"/>
                </p:ext>
              </p:extLst>
            </p:nvPr>
          </p:nvGraphicFramePr>
          <p:xfrm>
            <a:off x="5024438" y="1289050"/>
            <a:ext cx="3449637" cy="1165225"/>
          </p:xfrm>
          <a:graphic>
            <a:graphicData uri="http://schemas.openxmlformats.org/presentationml/2006/ole">
              <mc:AlternateContent xmlns:mc="http://schemas.openxmlformats.org/markup-compatibility/2006">
                <mc:Choice xmlns:v="urn:schemas-microsoft-com:vml" Requires="v">
                  <p:oleObj name="Equation" r:id="rId13" imgW="2577960" imgH="863280" progId="Equation.3">
                    <p:embed/>
                  </p:oleObj>
                </mc:Choice>
                <mc:Fallback>
                  <p:oleObj name="Equation" r:id="rId13" imgW="2577960" imgH="8632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24438" y="1289050"/>
                          <a:ext cx="3449637" cy="1165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1357840" name="Text Box 16"/>
            <p:cNvSpPr txBox="1">
              <a:spLocks noChangeArrowheads="1"/>
            </p:cNvSpPr>
            <p:nvPr/>
          </p:nvSpPr>
          <p:spPr bwMode="auto">
            <a:xfrm>
              <a:off x="5006975" y="893763"/>
              <a:ext cx="37020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dirty="0">
                  <a:latin typeface="Arial" charset="0"/>
                </a:rPr>
                <a:t>Differentiation of </a:t>
              </a:r>
              <a:r>
                <a:rPr lang="en-US" sz="1800" dirty="0" err="1">
                  <a:latin typeface="Arial" charset="0"/>
                </a:rPr>
                <a:t>interpol</a:t>
              </a:r>
              <a:r>
                <a:rPr lang="en-US" sz="1800" dirty="0">
                  <a:latin typeface="Arial" charset="0"/>
                </a:rPr>
                <a:t>. functions</a:t>
              </a:r>
              <a:endParaRPr lang="en-GB" sz="1800" dirty="0">
                <a:latin typeface="Arial" charset="0"/>
              </a:endParaRPr>
            </a:p>
          </p:txBody>
        </p:sp>
      </p:grpSp>
      <p:grpSp>
        <p:nvGrpSpPr>
          <p:cNvPr id="5" name="Group 4"/>
          <p:cNvGrpSpPr/>
          <p:nvPr/>
        </p:nvGrpSpPr>
        <p:grpSpPr>
          <a:xfrm>
            <a:off x="4427984" y="4092029"/>
            <a:ext cx="4434500" cy="2376264"/>
            <a:chOff x="4427984" y="4149080"/>
            <a:chExt cx="4434500" cy="2376264"/>
          </a:xfrm>
        </p:grpSpPr>
        <p:graphicFrame>
          <p:nvGraphicFramePr>
            <p:cNvPr id="1357836" name="Object 12"/>
            <p:cNvGraphicFramePr>
              <a:graphicFrameLocks noChangeAspect="1"/>
            </p:cNvGraphicFramePr>
            <p:nvPr>
              <p:extLst>
                <p:ext uri="{D42A27DB-BD31-4B8C-83A1-F6EECF244321}">
                  <p14:modId xmlns:p14="http://schemas.microsoft.com/office/powerpoint/2010/main" val="1712404454"/>
                </p:ext>
              </p:extLst>
            </p:nvPr>
          </p:nvGraphicFramePr>
          <p:xfrm>
            <a:off x="5059363" y="4603105"/>
            <a:ext cx="2643187" cy="1673225"/>
          </p:xfrm>
          <a:graphic>
            <a:graphicData uri="http://schemas.openxmlformats.org/presentationml/2006/ole">
              <mc:AlternateContent xmlns:mc="http://schemas.openxmlformats.org/markup-compatibility/2006">
                <mc:Choice xmlns:v="urn:schemas-microsoft-com:vml" Requires="v">
                  <p:oleObj name="Equation" r:id="rId15" imgW="2197080" imgH="1396800" progId="Equation.DSMT4">
                    <p:embed/>
                  </p:oleObj>
                </mc:Choice>
                <mc:Fallback>
                  <p:oleObj name="Equation" r:id="rId15" imgW="2197080" imgH="13968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59363" y="4603105"/>
                          <a:ext cx="2643187" cy="1673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1357838" name="Text Box 14"/>
            <p:cNvSpPr txBox="1">
              <a:spLocks noChangeArrowheads="1"/>
            </p:cNvSpPr>
            <p:nvPr/>
          </p:nvSpPr>
          <p:spPr bwMode="auto">
            <a:xfrm>
              <a:off x="4978400" y="4149080"/>
              <a:ext cx="32194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dirty="0">
                  <a:latin typeface="Arial" charset="0"/>
                </a:rPr>
                <a:t>Algebraic equation for domain</a:t>
              </a:r>
              <a:endParaRPr lang="en-GB" sz="1800" dirty="0">
                <a:latin typeface="Arial" charset="0"/>
              </a:endParaRPr>
            </a:p>
          </p:txBody>
        </p:sp>
        <p:sp>
          <p:nvSpPr>
            <p:cNvPr id="1357841" name="Text Box 17"/>
            <p:cNvSpPr txBox="1">
              <a:spLocks noChangeArrowheads="1"/>
            </p:cNvSpPr>
            <p:nvPr/>
          </p:nvSpPr>
          <p:spPr bwMode="auto">
            <a:xfrm>
              <a:off x="4427984" y="6186790"/>
              <a:ext cx="4434500"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i="1" dirty="0">
                  <a:latin typeface="Arial" charset="0"/>
                </a:rPr>
                <a:t>see </a:t>
              </a:r>
              <a:r>
                <a:rPr lang="en-US" sz="1600" i="1" dirty="0" err="1">
                  <a:latin typeface="Arial" charset="0"/>
                </a:rPr>
                <a:t>Zienkiewicz</a:t>
              </a:r>
              <a:r>
                <a:rPr lang="en-US" sz="1600" i="1" dirty="0">
                  <a:latin typeface="Arial" charset="0"/>
                </a:rPr>
                <a:t> &amp; Taylor, 2000, </a:t>
              </a:r>
              <a:r>
                <a:rPr lang="en-US" sz="1600" i="1" dirty="0" err="1">
                  <a:latin typeface="Arial" charset="0"/>
                </a:rPr>
                <a:t>Istok</a:t>
              </a:r>
              <a:r>
                <a:rPr lang="en-US" sz="1600" i="1" dirty="0">
                  <a:latin typeface="Arial" charset="0"/>
                </a:rPr>
                <a:t>, J., 1989</a:t>
              </a:r>
            </a:p>
          </p:txBody>
        </p:sp>
      </p:grpSp>
      <p:sp>
        <p:nvSpPr>
          <p:cNvPr id="23"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pPr/>
              <a:t>46</a:t>
            </a:fld>
            <a:endParaRPr lang="en-US" dirty="0"/>
          </a:p>
        </p:txBody>
      </p:sp>
      <p:sp>
        <p:nvSpPr>
          <p:cNvPr id="24" name="Date Placeholder 6"/>
          <p:cNvSpPr>
            <a:spLocks noGrp="1"/>
          </p:cNvSpPr>
          <p:nvPr>
            <p:ph type="dt" sz="half" idx="10"/>
          </p:nvPr>
        </p:nvSpPr>
        <p:spPr>
          <a:xfrm>
            <a:off x="35496" y="6492875"/>
            <a:ext cx="2133600" cy="365125"/>
          </a:xfrm>
        </p:spPr>
        <p:txBody>
          <a:bodyPr/>
          <a:lstStyle/>
          <a:p>
            <a:fld id="{670F7173-20DF-5644-8503-00F389326E08}" type="datetime1">
              <a:rPr lang="en-US" smtClean="0"/>
              <a:pPr/>
              <a:t>5/2/24</a:t>
            </a:fld>
            <a:endParaRPr lang="en-US"/>
          </a:p>
        </p:txBody>
      </p:sp>
      <p:sp>
        <p:nvSpPr>
          <p:cNvPr id="25" name="Footer Placeholder 8"/>
          <p:cNvSpPr>
            <a:spLocks noGrp="1"/>
          </p:cNvSpPr>
          <p:nvPr>
            <p:ph type="ftr" sz="quarter" idx="11"/>
          </p:nvPr>
        </p:nvSpPr>
        <p:spPr>
          <a:xfrm>
            <a:off x="3124200" y="6492875"/>
            <a:ext cx="2895600" cy="365125"/>
          </a:xfrm>
        </p:spPr>
        <p:txBody>
          <a:bodyPr/>
          <a:lstStyle/>
          <a:p>
            <a:endParaRPr lang="en-US" dirty="0"/>
          </a:p>
          <a:p>
            <a:r>
              <a:rPr lang="en-US" dirty="0"/>
              <a:t>FEM-FVM framework</a:t>
            </a:r>
          </a:p>
          <a:p>
            <a:endParaRPr lang="en-US" dirty="0"/>
          </a:p>
        </p:txBody>
      </p:sp>
    </p:spTree>
    <p:extLst>
      <p:ext uri="{BB962C8B-B14F-4D97-AF65-F5344CB8AC3E}">
        <p14:creationId xmlns:p14="http://schemas.microsoft.com/office/powerpoint/2010/main" val="238376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 – </a:t>
            </a:r>
            <a:r>
              <a:rPr lang="en-US" dirty="0" err="1"/>
              <a:t>FiniteElement</a:t>
            </a:r>
            <a:r>
              <a:rPr lang="en-US" dirty="0"/>
              <a:t>  “Bridge pattern”</a:t>
            </a:r>
          </a:p>
        </p:txBody>
      </p:sp>
      <p:sp>
        <p:nvSpPr>
          <p:cNvPr id="3" name="Content Placeholder 2"/>
          <p:cNvSpPr>
            <a:spLocks noGrp="1"/>
          </p:cNvSpPr>
          <p:nvPr>
            <p:ph idx="1"/>
          </p:nvPr>
        </p:nvSpPr>
        <p:spPr>
          <a:xfrm>
            <a:off x="457200" y="838200"/>
            <a:ext cx="8229600" cy="457200"/>
          </a:xfrm>
        </p:spPr>
        <p:txBody>
          <a:bodyPr/>
          <a:lstStyle/>
          <a:p>
            <a:pPr>
              <a:buNone/>
            </a:pPr>
            <a:r>
              <a:rPr lang="en-US" dirty="0" err="1"/>
              <a:t>FiniteElement</a:t>
            </a:r>
            <a:r>
              <a:rPr lang="en-US" dirty="0"/>
              <a:t> types are stored by </a:t>
            </a:r>
            <a:r>
              <a:rPr lang="en-US" dirty="0" err="1"/>
              <a:t>FiniteElementManager</a:t>
            </a:r>
            <a:endParaRPr lang="en-US" dirty="0"/>
          </a:p>
        </p:txBody>
      </p:sp>
      <p:sp>
        <p:nvSpPr>
          <p:cNvPr id="6" name="Slide Number Placeholder 5"/>
          <p:cNvSpPr>
            <a:spLocks noGrp="1"/>
          </p:cNvSpPr>
          <p:nvPr>
            <p:ph type="sldNum" sz="quarter" idx="12"/>
          </p:nvPr>
        </p:nvSpPr>
        <p:spPr/>
        <p:txBody>
          <a:bodyPr/>
          <a:lstStyle/>
          <a:p>
            <a:fld id="{223FD816-CC6A-BF43-8241-637E3E7EAA5A}" type="slidenum">
              <a:rPr lang="en-US" smtClean="0"/>
              <a:pPr/>
              <a:t>47</a:t>
            </a:fld>
            <a:endParaRPr lang="en-US" dirty="0"/>
          </a:p>
        </p:txBody>
      </p:sp>
      <p:sp>
        <p:nvSpPr>
          <p:cNvPr id="7" name="Date Placeholder 6"/>
          <p:cNvSpPr>
            <a:spLocks noGrp="1"/>
          </p:cNvSpPr>
          <p:nvPr>
            <p:ph type="dt" sz="half" idx="10"/>
          </p:nvPr>
        </p:nvSpPr>
        <p:spPr/>
        <p:txBody>
          <a:bodyPr/>
          <a:lstStyle/>
          <a:p>
            <a:fld id="{670F7173-20DF-5644-8503-00F389326E08}" type="datetime1">
              <a:rPr lang="en-US" smtClean="0"/>
              <a:pPr/>
              <a:t>5/2/24</a:t>
            </a:fld>
            <a:endParaRPr lang="en-US"/>
          </a:p>
        </p:txBody>
      </p:sp>
      <p:sp>
        <p:nvSpPr>
          <p:cNvPr id="9" name="Footer Placeholder 8"/>
          <p:cNvSpPr>
            <a:spLocks noGrp="1"/>
          </p:cNvSpPr>
          <p:nvPr>
            <p:ph type="ftr" sz="quarter" idx="11"/>
          </p:nvPr>
        </p:nvSpPr>
        <p:spPr/>
        <p:txBody>
          <a:bodyPr/>
          <a:lstStyle/>
          <a:p>
            <a:endParaRPr lang="en-US" dirty="0"/>
          </a:p>
          <a:p>
            <a:r>
              <a:rPr lang="en-US" dirty="0"/>
              <a:t>FEM-FVM framework</a:t>
            </a:r>
          </a:p>
          <a:p>
            <a:endParaRPr lang="en-US" dirty="0"/>
          </a:p>
        </p:txBody>
      </p:sp>
      <p:sp>
        <p:nvSpPr>
          <p:cNvPr id="5" name="Rectangle 4"/>
          <p:cNvSpPr/>
          <p:nvPr/>
        </p:nvSpPr>
        <p:spPr>
          <a:xfrm>
            <a:off x="5436096" y="4437112"/>
            <a:ext cx="2376264" cy="1584176"/>
          </a:xfrm>
          <a:prstGeom prst="rect">
            <a:avLst/>
          </a:prstGeom>
          <a:solidFill>
            <a:srgbClr val="FFFFFF"/>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DDF7E42-40F6-6F49-A0BC-5849026F5E54}"/>
              </a:ext>
            </a:extLst>
          </p:cNvPr>
          <p:cNvPicPr>
            <a:picLocks noChangeAspect="1"/>
          </p:cNvPicPr>
          <p:nvPr/>
        </p:nvPicPr>
        <p:blipFill rotWithShape="1">
          <a:blip r:embed="rId3"/>
          <a:srcRect r="9954"/>
          <a:stretch/>
        </p:blipFill>
        <p:spPr>
          <a:xfrm>
            <a:off x="539551" y="1462771"/>
            <a:ext cx="8229601" cy="4921200"/>
          </a:xfrm>
          <a:prstGeom prst="rect">
            <a:avLst/>
          </a:prstGeom>
        </p:spPr>
      </p:pic>
    </p:spTree>
    <p:extLst>
      <p:ext uri="{BB962C8B-B14F-4D97-AF65-F5344CB8AC3E}">
        <p14:creationId xmlns:p14="http://schemas.microsoft.com/office/powerpoint/2010/main" val="3118577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Element interface</a:t>
            </a:r>
          </a:p>
        </p:txBody>
      </p:sp>
      <p:sp>
        <p:nvSpPr>
          <p:cNvPr id="3" name="Content Placeholder 2"/>
          <p:cNvSpPr>
            <a:spLocks noGrp="1"/>
          </p:cNvSpPr>
          <p:nvPr>
            <p:ph idx="1"/>
          </p:nvPr>
        </p:nvSpPr>
        <p:spPr>
          <a:xfrm>
            <a:off x="457200" y="908719"/>
            <a:ext cx="8229600" cy="5832649"/>
          </a:xfrm>
        </p:spPr>
        <p:txBody>
          <a:bodyPr>
            <a:normAutofit lnSpcReduction="10000"/>
          </a:bodyPr>
          <a:lstStyle/>
          <a:p>
            <a:r>
              <a:rPr lang="en-US" sz="1800" dirty="0"/>
              <a:t>Overloaded with methods</a:t>
            </a:r>
          </a:p>
          <a:p>
            <a:r>
              <a:rPr lang="en-US" sz="1800" dirty="0"/>
              <a:t>Extra functionality has been factored out to policy classes, using static polymorphism:</a:t>
            </a:r>
          </a:p>
          <a:p>
            <a:pPr lvl="1"/>
            <a:r>
              <a:rPr lang="en-US" sz="1800" dirty="0" err="1"/>
              <a:t>FiniteElementTraits</a:t>
            </a:r>
            <a:r>
              <a:rPr lang="en-US" sz="1800" dirty="0"/>
              <a:t>&lt;uint32_t,template&lt; uint32_t&gt; class&gt;</a:t>
            </a:r>
          </a:p>
          <a:p>
            <a:pPr lvl="1"/>
            <a:r>
              <a:rPr lang="en-US" sz="1800" dirty="0" err="1"/>
              <a:t>FiniteVolumeTraits</a:t>
            </a:r>
            <a:r>
              <a:rPr lang="en-US" sz="1800" dirty="0"/>
              <a:t>&lt;uint32_t,template&lt; uint32_t&gt; class&gt;</a:t>
            </a:r>
          </a:p>
          <a:p>
            <a:pPr lvl="1"/>
            <a:r>
              <a:rPr lang="en-US" sz="1800" dirty="0" err="1"/>
              <a:t>ElementRemeshingTraits</a:t>
            </a:r>
            <a:r>
              <a:rPr lang="en-US" sz="1800" dirty="0"/>
              <a:t>&lt;uint32_t,template&lt;uint32_t&gt; class&gt;</a:t>
            </a:r>
          </a:p>
          <a:p>
            <a:pPr lvl="1"/>
            <a:r>
              <a:rPr lang="en-US" sz="1800" dirty="0"/>
              <a:t>Local </a:t>
            </a:r>
            <a:r>
              <a:rPr lang="en-US" sz="1800" dirty="0" err="1"/>
              <a:t>VariableStorage</a:t>
            </a:r>
            <a:r>
              <a:rPr lang="en-US" sz="1800" dirty="0"/>
              <a:t>&lt;uint32_t,template&lt;uint32_t&gt; class&gt;</a:t>
            </a:r>
          </a:p>
          <a:p>
            <a:r>
              <a:rPr lang="en-US" sz="1800" dirty="0"/>
              <a:t>To use these, just call their methods like member functions of the Element:</a:t>
            </a:r>
          </a:p>
          <a:p>
            <a:endParaRPr lang="en-US" sz="1800" dirty="0"/>
          </a:p>
          <a:p>
            <a:endParaRPr lang="en-US" sz="1800" dirty="0"/>
          </a:p>
          <a:p>
            <a:endParaRPr lang="en-US" sz="1800" dirty="0"/>
          </a:p>
          <a:p>
            <a:endParaRPr lang="en-US" sz="1800" dirty="0"/>
          </a:p>
          <a:p>
            <a:endParaRPr lang="en-US" sz="1800" dirty="0"/>
          </a:p>
          <a:p>
            <a:r>
              <a:rPr lang="en-US" sz="1800" b="1" dirty="0">
                <a:solidFill>
                  <a:srgbClr val="FF0000"/>
                </a:solidFill>
              </a:rPr>
              <a:t>Face</a:t>
            </a:r>
            <a:r>
              <a:rPr lang="en-US" sz="1800" dirty="0">
                <a:solidFill>
                  <a:srgbClr val="FF0000"/>
                </a:solidFill>
              </a:rPr>
              <a:t> and </a:t>
            </a:r>
            <a:r>
              <a:rPr lang="en-US" sz="1800" b="1" dirty="0" err="1">
                <a:solidFill>
                  <a:srgbClr val="FF0000"/>
                </a:solidFill>
              </a:rPr>
              <a:t>InterFace</a:t>
            </a:r>
            <a:r>
              <a:rPr lang="en-US" sz="1800" dirty="0">
                <a:solidFill>
                  <a:srgbClr val="FF0000"/>
                </a:solidFill>
              </a:rPr>
              <a:t> are separate classes with their own property placements and functionality, but they share these policies.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FEM-FVM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48</a:t>
            </a:fld>
            <a:endParaRPr lang="en-US"/>
          </a:p>
        </p:txBody>
      </p:sp>
      <p:grpSp>
        <p:nvGrpSpPr>
          <p:cNvPr id="12" name="Group 11"/>
          <p:cNvGrpSpPr/>
          <p:nvPr/>
        </p:nvGrpSpPr>
        <p:grpSpPr>
          <a:xfrm>
            <a:off x="1146261" y="4056222"/>
            <a:ext cx="4256209" cy="1605026"/>
            <a:chOff x="984804" y="5187500"/>
            <a:chExt cx="4256209" cy="1605026"/>
          </a:xfrm>
        </p:grpSpPr>
        <p:sp>
          <p:nvSpPr>
            <p:cNvPr id="8" name="TextBox 7"/>
            <p:cNvSpPr txBox="1"/>
            <p:nvPr/>
          </p:nvSpPr>
          <p:spPr>
            <a:xfrm>
              <a:off x="984804" y="5869196"/>
              <a:ext cx="4256209" cy="923330"/>
            </a:xfrm>
            <a:prstGeom prst="rect">
              <a:avLst/>
            </a:prstGeom>
            <a:noFill/>
          </p:spPr>
          <p:txBody>
            <a:bodyPr wrap="none" rtlCol="0">
              <a:spAutoFit/>
            </a:bodyPr>
            <a:lstStyle/>
            <a:p>
              <a:pPr algn="ctr"/>
              <a:r>
                <a:rPr lang="en-US" b="1" dirty="0" err="1">
                  <a:latin typeface="Courier New"/>
                  <a:cs typeface="Courier New"/>
                </a:rPr>
                <a:t>e.WeightAtIntegrationPoint</a:t>
              </a:r>
              <a:r>
                <a:rPr lang="en-US" b="1" dirty="0">
                  <a:latin typeface="Courier New"/>
                  <a:cs typeface="Courier New"/>
                </a:rPr>
                <a:t>(i)</a:t>
              </a:r>
            </a:p>
            <a:p>
              <a:pPr algn="ctr"/>
              <a:endParaRPr lang="de-AT" b="1" dirty="0">
                <a:latin typeface="Courier New"/>
                <a:cs typeface="Courier New"/>
              </a:endParaRPr>
            </a:p>
            <a:p>
              <a:pPr algn="ctr"/>
              <a:r>
                <a:rPr lang="de-AT" b="1" dirty="0">
                  <a:latin typeface="Courier New"/>
                  <a:cs typeface="Courier New"/>
                </a:rPr>
                <a:t>etc...</a:t>
              </a:r>
              <a:endParaRPr lang="en-US" b="1" dirty="0">
                <a:latin typeface="Courier New"/>
                <a:cs typeface="Courier New"/>
              </a:endParaRPr>
            </a:p>
          </p:txBody>
        </p:sp>
        <p:cxnSp>
          <p:nvCxnSpPr>
            <p:cNvPr id="9" name="Straight Arrow Connector 8"/>
            <p:cNvCxnSpPr/>
            <p:nvPr/>
          </p:nvCxnSpPr>
          <p:spPr>
            <a:xfrm>
              <a:off x="3100503" y="5187500"/>
              <a:ext cx="0" cy="668922"/>
            </a:xfrm>
            <a:prstGeom prst="straightConnector1">
              <a:avLst/>
            </a:prstGeom>
            <a:ln w="76200" cmpd="sng">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86721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placements on finite elements</a:t>
            </a:r>
          </a:p>
        </p:txBody>
      </p:sp>
      <p:sp>
        <p:nvSpPr>
          <p:cNvPr id="3" name="Date Placeholder 2"/>
          <p:cNvSpPr>
            <a:spLocks noGrp="1"/>
          </p:cNvSpPr>
          <p:nvPr>
            <p:ph type="dt" sz="half" idx="10"/>
          </p:nvPr>
        </p:nvSpPr>
        <p:spPr/>
        <p:txBody>
          <a:bodyPr/>
          <a:lstStyle/>
          <a:p>
            <a:fld id="{C1762EE7-3E26-8344-9AFB-A62088F617B5}" type="datetime1">
              <a:rPr lang="en-US" smtClean="0"/>
              <a:pPr/>
              <a:t>5/2/24</a:t>
            </a:fld>
            <a:endParaRPr lang="en-US" dirty="0"/>
          </a:p>
        </p:txBody>
      </p:sp>
      <p:sp>
        <p:nvSpPr>
          <p:cNvPr id="5" name="Slide Number Placeholder 4"/>
          <p:cNvSpPr>
            <a:spLocks noGrp="1"/>
          </p:cNvSpPr>
          <p:nvPr>
            <p:ph type="sldNum" sz="quarter" idx="12"/>
          </p:nvPr>
        </p:nvSpPr>
        <p:spPr/>
        <p:txBody>
          <a:bodyPr/>
          <a:lstStyle/>
          <a:p>
            <a:fld id="{223FD816-CC6A-BF43-8241-637E3E7EAA5A}" type="slidenum">
              <a:rPr lang="en-US" smtClean="0"/>
              <a:pPr/>
              <a:t>49</a:t>
            </a:fld>
            <a:endParaRPr lang="en-US"/>
          </a:p>
        </p:txBody>
      </p:sp>
      <p:grpSp>
        <p:nvGrpSpPr>
          <p:cNvPr id="6" name="Group 3"/>
          <p:cNvGrpSpPr>
            <a:grpSpLocks/>
          </p:cNvGrpSpPr>
          <p:nvPr/>
        </p:nvGrpSpPr>
        <p:grpSpPr bwMode="auto">
          <a:xfrm>
            <a:off x="442236" y="1571228"/>
            <a:ext cx="3314700" cy="3009900"/>
            <a:chOff x="1855" y="1489"/>
            <a:chExt cx="2088" cy="1896"/>
          </a:xfrm>
        </p:grpSpPr>
        <p:sp>
          <p:nvSpPr>
            <p:cNvPr id="7" name="Freeform 4"/>
            <p:cNvSpPr>
              <a:spLocks/>
            </p:cNvSpPr>
            <p:nvPr/>
          </p:nvSpPr>
          <p:spPr bwMode="auto">
            <a:xfrm>
              <a:off x="1927" y="1553"/>
              <a:ext cx="1943" cy="1763"/>
            </a:xfrm>
            <a:custGeom>
              <a:avLst/>
              <a:gdLst>
                <a:gd name="T0" fmla="*/ 0 w 1943"/>
                <a:gd name="T1" fmla="*/ 1486 h 1763"/>
                <a:gd name="T2" fmla="*/ 998 w 1943"/>
                <a:gd name="T3" fmla="*/ 0 h 1763"/>
                <a:gd name="T4" fmla="*/ 1943 w 1943"/>
                <a:gd name="T5" fmla="*/ 1763 h 1763"/>
                <a:gd name="T6" fmla="*/ 0 w 1943"/>
                <a:gd name="T7" fmla="*/ 1486 h 1763"/>
              </a:gdLst>
              <a:ahLst/>
              <a:cxnLst>
                <a:cxn ang="0">
                  <a:pos x="T0" y="T1"/>
                </a:cxn>
                <a:cxn ang="0">
                  <a:pos x="T2" y="T3"/>
                </a:cxn>
                <a:cxn ang="0">
                  <a:pos x="T4" y="T5"/>
                </a:cxn>
                <a:cxn ang="0">
                  <a:pos x="T6" y="T7"/>
                </a:cxn>
              </a:cxnLst>
              <a:rect l="0" t="0" r="r" b="b"/>
              <a:pathLst>
                <a:path w="1943" h="1763">
                  <a:moveTo>
                    <a:pt x="0" y="1486"/>
                  </a:moveTo>
                  <a:lnTo>
                    <a:pt x="998" y="0"/>
                  </a:lnTo>
                  <a:lnTo>
                    <a:pt x="1943" y="1763"/>
                  </a:lnTo>
                  <a:lnTo>
                    <a:pt x="0" y="1486"/>
                  </a:lnTo>
                  <a:close/>
                </a:path>
              </a:pathLst>
            </a:custGeom>
            <a:solidFill>
              <a:srgbClr val="FFFF00"/>
            </a:solidFill>
            <a:ln w="19050" cmpd="sng">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GB" dirty="0"/>
            </a:p>
          </p:txBody>
        </p:sp>
        <p:sp>
          <p:nvSpPr>
            <p:cNvPr id="8" name="Oval 5"/>
            <p:cNvSpPr>
              <a:spLocks noChangeArrowheads="1"/>
            </p:cNvSpPr>
            <p:nvPr/>
          </p:nvSpPr>
          <p:spPr bwMode="auto">
            <a:xfrm>
              <a:off x="1855" y="2968"/>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9" name="Oval 6"/>
            <p:cNvSpPr>
              <a:spLocks noChangeArrowheads="1"/>
            </p:cNvSpPr>
            <p:nvPr/>
          </p:nvSpPr>
          <p:spPr bwMode="auto">
            <a:xfrm>
              <a:off x="3793" y="3244"/>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0" name="Oval 7"/>
            <p:cNvSpPr>
              <a:spLocks noChangeArrowheads="1"/>
            </p:cNvSpPr>
            <p:nvPr/>
          </p:nvSpPr>
          <p:spPr bwMode="auto">
            <a:xfrm>
              <a:off x="2847" y="1489"/>
              <a:ext cx="150" cy="141"/>
            </a:xfrm>
            <a:prstGeom prst="ellipse">
              <a:avLst/>
            </a:prstGeom>
            <a:solidFill>
              <a:schemeClr val="accent2"/>
            </a:solidFill>
            <a:ln w="1905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GB"/>
            </a:p>
          </p:txBody>
        </p:sp>
      </p:grpSp>
      <p:sp>
        <p:nvSpPr>
          <p:cNvPr id="11" name="Text Box 8"/>
          <p:cNvSpPr txBox="1">
            <a:spLocks noChangeArrowheads="1"/>
          </p:cNvSpPr>
          <p:nvPr/>
        </p:nvSpPr>
        <p:spPr bwMode="auto">
          <a:xfrm>
            <a:off x="2269448" y="1315641"/>
            <a:ext cx="1870504"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latin typeface="Arial" charset="0"/>
              </a:rPr>
              <a:t>fluid pressure, </a:t>
            </a:r>
            <a:r>
              <a:rPr lang="en-US" i="1" dirty="0">
                <a:latin typeface="Arial" charset="0"/>
              </a:rPr>
              <a:t>p</a:t>
            </a:r>
          </a:p>
          <a:p>
            <a:r>
              <a:rPr lang="en-US" dirty="0">
                <a:latin typeface="Arial" charset="0"/>
              </a:rPr>
              <a:t>viscosity</a:t>
            </a:r>
            <a:r>
              <a:rPr lang="en-US" i="1" dirty="0">
                <a:latin typeface="Arial" charset="0"/>
              </a:rPr>
              <a:t>, μ</a:t>
            </a:r>
            <a:endParaRPr lang="en-GB" i="1" dirty="0">
              <a:latin typeface="Arial" charset="0"/>
            </a:endParaRPr>
          </a:p>
        </p:txBody>
      </p:sp>
      <p:sp>
        <p:nvSpPr>
          <p:cNvPr id="12" name="Text Box 9"/>
          <p:cNvSpPr txBox="1">
            <a:spLocks noChangeArrowheads="1"/>
          </p:cNvSpPr>
          <p:nvPr/>
        </p:nvSpPr>
        <p:spPr bwMode="auto">
          <a:xfrm>
            <a:off x="1195135" y="2785784"/>
            <a:ext cx="1685077"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dirty="0">
                <a:latin typeface="Arial" charset="0"/>
              </a:rPr>
              <a:t>Element</a:t>
            </a:r>
          </a:p>
          <a:p>
            <a:pPr algn="ctr"/>
            <a:r>
              <a:rPr lang="en-US" sz="1800" dirty="0">
                <a:latin typeface="Arial" charset="0"/>
              </a:rPr>
              <a:t>permeability, </a:t>
            </a:r>
            <a:r>
              <a:rPr lang="en-US" sz="1800" b="1" dirty="0">
                <a:latin typeface="Arial" charset="0"/>
              </a:rPr>
              <a:t>k</a:t>
            </a:r>
          </a:p>
          <a:p>
            <a:pPr algn="ctr"/>
            <a:r>
              <a:rPr lang="en-US" sz="1800" dirty="0">
                <a:latin typeface="Arial" charset="0"/>
              </a:rPr>
              <a:t>porosity, </a:t>
            </a:r>
            <a:r>
              <a:rPr lang="en-US" sz="1800" dirty="0" err="1">
                <a:latin typeface="Arial" charset="0"/>
              </a:rPr>
              <a:t>ϕ</a:t>
            </a:r>
            <a:endParaRPr lang="en-US" sz="1800" i="1" dirty="0">
              <a:latin typeface="Arial" charset="0"/>
            </a:endParaRPr>
          </a:p>
          <a:p>
            <a:pPr algn="ctr"/>
            <a:r>
              <a:rPr lang="en-US" sz="1800" dirty="0">
                <a:latin typeface="Arial" charset="0"/>
              </a:rPr>
              <a:t>velocity, </a:t>
            </a:r>
            <a:r>
              <a:rPr lang="en-US" sz="1800" i="1" dirty="0">
                <a:latin typeface="Arial" charset="0"/>
              </a:rPr>
              <a:t>v</a:t>
            </a:r>
            <a:endParaRPr lang="en-GB" sz="1800" i="1" dirty="0">
              <a:latin typeface="Arial" charset="0"/>
            </a:endParaRPr>
          </a:p>
        </p:txBody>
      </p:sp>
      <p:sp>
        <p:nvSpPr>
          <p:cNvPr id="13" name="Text Box 10"/>
          <p:cNvSpPr txBox="1">
            <a:spLocks noChangeArrowheads="1"/>
          </p:cNvSpPr>
          <p:nvPr/>
        </p:nvSpPr>
        <p:spPr bwMode="auto">
          <a:xfrm>
            <a:off x="323528" y="1603673"/>
            <a:ext cx="1584176"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r>
              <a:rPr lang="en-US" sz="2000" dirty="0">
                <a:latin typeface="Arial" charset="0"/>
              </a:rPr>
              <a:t>Variable placement</a:t>
            </a:r>
            <a:endParaRPr lang="en-GB" sz="2000" dirty="0">
              <a:latin typeface="Arial" charset="0"/>
            </a:endParaRPr>
          </a:p>
        </p:txBody>
      </p:sp>
      <p:grpSp>
        <p:nvGrpSpPr>
          <p:cNvPr id="14" name="Group 13"/>
          <p:cNvGrpSpPr/>
          <p:nvPr/>
        </p:nvGrpSpPr>
        <p:grpSpPr>
          <a:xfrm>
            <a:off x="3629893" y="1772816"/>
            <a:ext cx="5406603" cy="4714875"/>
            <a:chOff x="1800647" y="996950"/>
            <a:chExt cx="5406603" cy="4714875"/>
          </a:xfrm>
        </p:grpSpPr>
        <p:sp>
          <p:nvSpPr>
            <p:cNvPr id="15" name="Freeform 3"/>
            <p:cNvSpPr>
              <a:spLocks/>
            </p:cNvSpPr>
            <p:nvPr/>
          </p:nvSpPr>
          <p:spPr bwMode="auto">
            <a:xfrm>
              <a:off x="2516188" y="1801813"/>
              <a:ext cx="3857625" cy="3402012"/>
            </a:xfrm>
            <a:custGeom>
              <a:avLst/>
              <a:gdLst>
                <a:gd name="T0" fmla="*/ 0 w 2430"/>
                <a:gd name="T1" fmla="*/ 2147483647 h 2143"/>
                <a:gd name="T2" fmla="*/ 2147483647 w 2430"/>
                <a:gd name="T3" fmla="*/ 0 h 2143"/>
                <a:gd name="T4" fmla="*/ 2147483647 w 2430"/>
                <a:gd name="T5" fmla="*/ 2147483647 h 2143"/>
                <a:gd name="T6" fmla="*/ 0 w 2430"/>
                <a:gd name="T7" fmla="*/ 2147483647 h 2143"/>
                <a:gd name="T8" fmla="*/ 0 60000 65536"/>
                <a:gd name="T9" fmla="*/ 0 60000 65536"/>
                <a:gd name="T10" fmla="*/ 0 60000 65536"/>
                <a:gd name="T11" fmla="*/ 0 60000 65536"/>
                <a:gd name="T12" fmla="*/ 0 w 2430"/>
                <a:gd name="T13" fmla="*/ 0 h 2143"/>
                <a:gd name="T14" fmla="*/ 2430 w 2430"/>
                <a:gd name="T15" fmla="*/ 2143 h 2143"/>
              </a:gdLst>
              <a:ahLst/>
              <a:cxnLst>
                <a:cxn ang="T8">
                  <a:pos x="T0" y="T1"/>
                </a:cxn>
                <a:cxn ang="T9">
                  <a:pos x="T2" y="T3"/>
                </a:cxn>
                <a:cxn ang="T10">
                  <a:pos x="T4" y="T5"/>
                </a:cxn>
                <a:cxn ang="T11">
                  <a:pos x="T6" y="T7"/>
                </a:cxn>
              </a:cxnLst>
              <a:rect l="T12" t="T13" r="T14" b="T15"/>
              <a:pathLst>
                <a:path w="2430" h="2143">
                  <a:moveTo>
                    <a:pt x="0" y="2143"/>
                  </a:moveTo>
                  <a:lnTo>
                    <a:pt x="1252" y="0"/>
                  </a:lnTo>
                  <a:lnTo>
                    <a:pt x="2430" y="2104"/>
                  </a:lnTo>
                  <a:lnTo>
                    <a:pt x="0" y="2143"/>
                  </a:lnTo>
                  <a:close/>
                </a:path>
              </a:pathLst>
            </a:custGeom>
            <a:solidFill>
              <a:srgbClr val="FFFF00"/>
            </a:solidFill>
            <a:ln w="28575">
              <a:solidFill>
                <a:schemeClr val="tx1"/>
              </a:solidFill>
              <a:miter lim="800000"/>
              <a:headEnd/>
              <a:tailEnd/>
            </a:ln>
          </p:spPr>
          <p:txBody>
            <a:bodyPr wrap="none"/>
            <a:lstStyle/>
            <a:p>
              <a:endParaRPr lang="en-US" dirty="0"/>
            </a:p>
          </p:txBody>
        </p:sp>
        <p:sp>
          <p:nvSpPr>
            <p:cNvPr id="16" name="Oval 4"/>
            <p:cNvSpPr>
              <a:spLocks noChangeArrowheads="1"/>
            </p:cNvSpPr>
            <p:nvPr/>
          </p:nvSpPr>
          <p:spPr bwMode="auto">
            <a:xfrm>
              <a:off x="2378075" y="5080000"/>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7" name="Oval 5"/>
            <p:cNvSpPr>
              <a:spLocks noChangeArrowheads="1"/>
            </p:cNvSpPr>
            <p:nvPr/>
          </p:nvSpPr>
          <p:spPr bwMode="auto">
            <a:xfrm>
              <a:off x="6229350" y="5026025"/>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8" name="Oval 6"/>
            <p:cNvSpPr>
              <a:spLocks noChangeArrowheads="1"/>
            </p:cNvSpPr>
            <p:nvPr/>
          </p:nvSpPr>
          <p:spPr bwMode="auto">
            <a:xfrm>
              <a:off x="4359275" y="1671638"/>
              <a:ext cx="288925" cy="255587"/>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9" name="Line 7"/>
            <p:cNvSpPr>
              <a:spLocks noChangeShapeType="1"/>
            </p:cNvSpPr>
            <p:nvPr/>
          </p:nvSpPr>
          <p:spPr bwMode="auto">
            <a:xfrm>
              <a:off x="4503738" y="3863975"/>
              <a:ext cx="20637" cy="1306513"/>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0" name="Line 8"/>
            <p:cNvSpPr>
              <a:spLocks noChangeShapeType="1"/>
            </p:cNvSpPr>
            <p:nvPr/>
          </p:nvSpPr>
          <p:spPr bwMode="auto">
            <a:xfrm flipV="1">
              <a:off x="4505325" y="3535363"/>
              <a:ext cx="962025" cy="336550"/>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1" name="Line 9"/>
            <p:cNvSpPr>
              <a:spLocks noChangeShapeType="1"/>
            </p:cNvSpPr>
            <p:nvPr/>
          </p:nvSpPr>
          <p:spPr bwMode="auto">
            <a:xfrm>
              <a:off x="3551238" y="3433763"/>
              <a:ext cx="962025" cy="433387"/>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22" name="Line 10"/>
            <p:cNvSpPr>
              <a:spLocks noChangeShapeType="1"/>
            </p:cNvSpPr>
            <p:nvPr/>
          </p:nvSpPr>
          <p:spPr bwMode="auto">
            <a:xfrm flipV="1">
              <a:off x="4516438" y="4475163"/>
              <a:ext cx="598487" cy="34925"/>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23" name="Oval 11"/>
            <p:cNvSpPr>
              <a:spLocks noChangeArrowheads="1"/>
            </p:cNvSpPr>
            <p:nvPr/>
          </p:nvSpPr>
          <p:spPr bwMode="auto">
            <a:xfrm>
              <a:off x="3644900" y="4386263"/>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4" name="Oval 12"/>
            <p:cNvSpPr>
              <a:spLocks noChangeArrowheads="1"/>
            </p:cNvSpPr>
            <p:nvPr/>
          </p:nvSpPr>
          <p:spPr bwMode="auto">
            <a:xfrm>
              <a:off x="4429125" y="300513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5" name="Oval 13"/>
            <p:cNvSpPr>
              <a:spLocks noChangeArrowheads="1"/>
            </p:cNvSpPr>
            <p:nvPr/>
          </p:nvSpPr>
          <p:spPr bwMode="auto">
            <a:xfrm>
              <a:off x="5186363" y="440848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6" name="Text Box 14"/>
            <p:cNvSpPr txBox="1">
              <a:spLocks noChangeArrowheads="1"/>
            </p:cNvSpPr>
            <p:nvPr/>
          </p:nvSpPr>
          <p:spPr bwMode="auto">
            <a:xfrm>
              <a:off x="3744913" y="996950"/>
              <a:ext cx="151765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FiniteVolume</a:t>
              </a:r>
            </a:p>
            <a:p>
              <a:pPr eaLnBrk="1" hangingPunct="1"/>
              <a:r>
                <a:rPr lang="en-US" sz="1800">
                  <a:latin typeface="Arial" charset="0"/>
                </a:rPr>
                <a:t>=FEM node</a:t>
              </a:r>
              <a:endParaRPr lang="en-GB" sz="1800">
                <a:latin typeface="Arial" charset="0"/>
              </a:endParaRPr>
            </a:p>
          </p:txBody>
        </p:sp>
        <p:sp>
          <p:nvSpPr>
            <p:cNvPr id="27" name="Text Box 15"/>
            <p:cNvSpPr txBox="1">
              <a:spLocks noChangeArrowheads="1"/>
            </p:cNvSpPr>
            <p:nvPr/>
          </p:nvSpPr>
          <p:spPr bwMode="auto">
            <a:xfrm>
              <a:off x="3151935" y="4641850"/>
              <a:ext cx="1200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FV Sector</a:t>
              </a:r>
              <a:endParaRPr lang="en-GB" sz="1800" dirty="0">
                <a:latin typeface="Arial" charset="0"/>
              </a:endParaRPr>
            </a:p>
          </p:txBody>
        </p:sp>
        <p:sp>
          <p:nvSpPr>
            <p:cNvPr id="28" name="Text Box 16"/>
            <p:cNvSpPr txBox="1">
              <a:spLocks noChangeArrowheads="1"/>
            </p:cNvSpPr>
            <p:nvPr/>
          </p:nvSpPr>
          <p:spPr bwMode="auto">
            <a:xfrm>
              <a:off x="4021138" y="5208588"/>
              <a:ext cx="11112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FV Facet</a:t>
              </a:r>
              <a:endParaRPr lang="en-GB" sz="1800">
                <a:latin typeface="Arial" charset="0"/>
              </a:endParaRPr>
            </a:p>
          </p:txBody>
        </p:sp>
        <p:sp>
          <p:nvSpPr>
            <p:cNvPr id="29" name="Text Box 17"/>
            <p:cNvSpPr txBox="1">
              <a:spLocks noChangeArrowheads="1"/>
            </p:cNvSpPr>
            <p:nvPr/>
          </p:nvSpPr>
          <p:spPr bwMode="auto">
            <a:xfrm>
              <a:off x="1824038" y="5345113"/>
              <a:ext cx="13525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inside node</a:t>
              </a:r>
              <a:endParaRPr lang="en-GB" sz="1800">
                <a:latin typeface="Arial" charset="0"/>
              </a:endParaRPr>
            </a:p>
          </p:txBody>
        </p:sp>
        <p:sp>
          <p:nvSpPr>
            <p:cNvPr id="30" name="Text Box 18"/>
            <p:cNvSpPr txBox="1">
              <a:spLocks noChangeArrowheads="1"/>
            </p:cNvSpPr>
            <p:nvPr/>
          </p:nvSpPr>
          <p:spPr bwMode="auto">
            <a:xfrm>
              <a:off x="5715000" y="5235575"/>
              <a:ext cx="14922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outside node</a:t>
              </a:r>
              <a:endParaRPr lang="en-GB" sz="1800">
                <a:latin typeface="Arial" charset="0"/>
              </a:endParaRPr>
            </a:p>
          </p:txBody>
        </p:sp>
        <p:sp>
          <p:nvSpPr>
            <p:cNvPr id="31" name="Oval 19"/>
            <p:cNvSpPr>
              <a:spLocks noChangeArrowheads="1"/>
            </p:cNvSpPr>
            <p:nvPr/>
          </p:nvSpPr>
          <p:spPr bwMode="auto">
            <a:xfrm>
              <a:off x="4441825" y="4427538"/>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2" name="Oval 20"/>
            <p:cNvSpPr>
              <a:spLocks noChangeArrowheads="1"/>
            </p:cNvSpPr>
            <p:nvPr/>
          </p:nvSpPr>
          <p:spPr bwMode="auto">
            <a:xfrm>
              <a:off x="4895850" y="3638550"/>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3" name="Oval 21"/>
            <p:cNvSpPr>
              <a:spLocks noChangeArrowheads="1"/>
            </p:cNvSpPr>
            <p:nvPr/>
          </p:nvSpPr>
          <p:spPr bwMode="auto">
            <a:xfrm>
              <a:off x="3940175" y="3565525"/>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4" name="Text Box 22"/>
            <p:cNvSpPr txBox="1">
              <a:spLocks noChangeArrowheads="1"/>
            </p:cNvSpPr>
            <p:nvPr/>
          </p:nvSpPr>
          <p:spPr bwMode="auto">
            <a:xfrm>
              <a:off x="4033323" y="2656638"/>
              <a:ext cx="24955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sector integration point</a:t>
              </a:r>
              <a:endParaRPr lang="en-GB" sz="1800" dirty="0">
                <a:latin typeface="Arial" charset="0"/>
              </a:endParaRPr>
            </a:p>
          </p:txBody>
        </p:sp>
        <p:sp>
          <p:nvSpPr>
            <p:cNvPr id="35" name="Rectangle 23"/>
            <p:cNvSpPr>
              <a:spLocks noChangeArrowheads="1"/>
            </p:cNvSpPr>
            <p:nvPr/>
          </p:nvSpPr>
          <p:spPr bwMode="auto">
            <a:xfrm>
              <a:off x="1800647" y="1706984"/>
              <a:ext cx="2454275"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2000" dirty="0" err="1">
                  <a:latin typeface="Arial" charset="0"/>
                </a:rPr>
                <a:t>FiniteVolumeStencil</a:t>
              </a:r>
              <a:endParaRPr lang="en-US" sz="2000" dirty="0">
                <a:latin typeface="Arial" charset="0"/>
              </a:endParaRPr>
            </a:p>
            <a:p>
              <a:r>
                <a:rPr lang="en-US" dirty="0">
                  <a:latin typeface="Arial" charset="0"/>
                </a:rPr>
                <a:t>(as illustrated for linear triangle)</a:t>
              </a:r>
            </a:p>
          </p:txBody>
        </p:sp>
        <p:sp>
          <p:nvSpPr>
            <p:cNvPr id="36" name="Text Box 24"/>
            <p:cNvSpPr txBox="1">
              <a:spLocks noChangeArrowheads="1"/>
            </p:cNvSpPr>
            <p:nvPr/>
          </p:nvSpPr>
          <p:spPr bwMode="auto">
            <a:xfrm>
              <a:off x="5002910" y="3249698"/>
              <a:ext cx="1434698" cy="923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facet integration point</a:t>
              </a:r>
              <a:endParaRPr lang="en-GB" sz="1800" dirty="0">
                <a:latin typeface="Arial" charset="0"/>
              </a:endParaRPr>
            </a:p>
          </p:txBody>
        </p:sp>
        <p:sp>
          <p:nvSpPr>
            <p:cNvPr id="37" name="Line 25"/>
            <p:cNvSpPr>
              <a:spLocks noChangeShapeType="1"/>
            </p:cNvSpPr>
            <p:nvPr/>
          </p:nvSpPr>
          <p:spPr bwMode="auto">
            <a:xfrm flipV="1">
              <a:off x="5608638" y="2522538"/>
              <a:ext cx="752475" cy="95567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8" name="Line 26"/>
            <p:cNvSpPr>
              <a:spLocks noChangeShapeType="1"/>
            </p:cNvSpPr>
            <p:nvPr/>
          </p:nvSpPr>
          <p:spPr bwMode="auto">
            <a:xfrm flipH="1" flipV="1">
              <a:off x="2922588" y="2628900"/>
              <a:ext cx="596900" cy="75882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9" name="Line 27"/>
            <p:cNvSpPr>
              <a:spLocks noChangeShapeType="1"/>
            </p:cNvSpPr>
            <p:nvPr/>
          </p:nvSpPr>
          <p:spPr bwMode="auto">
            <a:xfrm flipV="1">
              <a:off x="6376988" y="1355725"/>
              <a:ext cx="146050" cy="115887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40" name="Text Box 24"/>
            <p:cNvSpPr txBox="1">
              <a:spLocks noChangeArrowheads="1"/>
            </p:cNvSpPr>
            <p:nvPr/>
          </p:nvSpPr>
          <p:spPr bwMode="auto">
            <a:xfrm rot="18000000">
              <a:off x="1825938" y="3596518"/>
              <a:ext cx="263557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err="1">
                  <a:latin typeface="Arial" charset="0"/>
                </a:rPr>
                <a:t>subface</a:t>
              </a:r>
              <a:r>
                <a:rPr lang="en-US" sz="1800" dirty="0">
                  <a:latin typeface="Arial" charset="0"/>
                </a:rPr>
                <a:t> of element face</a:t>
              </a:r>
              <a:endParaRPr lang="en-GB" sz="1800" dirty="0">
                <a:latin typeface="Arial" charset="0"/>
              </a:endParaRPr>
            </a:p>
          </p:txBody>
        </p:sp>
        <p:sp>
          <p:nvSpPr>
            <p:cNvPr id="41" name="TextBox 40"/>
            <p:cNvSpPr txBox="1"/>
            <p:nvPr/>
          </p:nvSpPr>
          <p:spPr>
            <a:xfrm>
              <a:off x="4336480" y="2030451"/>
              <a:ext cx="321272" cy="369332"/>
            </a:xfrm>
            <a:prstGeom prst="rect">
              <a:avLst/>
            </a:prstGeom>
            <a:noFill/>
          </p:spPr>
          <p:txBody>
            <a:bodyPr wrap="none" rtlCol="0">
              <a:spAutoFit/>
            </a:bodyPr>
            <a:lstStyle/>
            <a:p>
              <a:r>
                <a:rPr lang="en-US" dirty="0"/>
                <a:t>x</a:t>
              </a:r>
            </a:p>
          </p:txBody>
        </p:sp>
        <p:sp>
          <p:nvSpPr>
            <p:cNvPr id="42" name="TextBox 41"/>
            <p:cNvSpPr txBox="1"/>
            <p:nvPr/>
          </p:nvSpPr>
          <p:spPr>
            <a:xfrm>
              <a:off x="2809433" y="4739716"/>
              <a:ext cx="321272" cy="369332"/>
            </a:xfrm>
            <a:prstGeom prst="rect">
              <a:avLst/>
            </a:prstGeom>
            <a:noFill/>
          </p:spPr>
          <p:txBody>
            <a:bodyPr wrap="none" rtlCol="0">
              <a:spAutoFit/>
            </a:bodyPr>
            <a:lstStyle/>
            <a:p>
              <a:r>
                <a:rPr lang="en-US" dirty="0"/>
                <a:t>x</a:t>
              </a:r>
            </a:p>
          </p:txBody>
        </p:sp>
        <p:sp>
          <p:nvSpPr>
            <p:cNvPr id="43" name="TextBox 42"/>
            <p:cNvSpPr txBox="1"/>
            <p:nvPr/>
          </p:nvSpPr>
          <p:spPr>
            <a:xfrm>
              <a:off x="5802692" y="4683220"/>
              <a:ext cx="321272" cy="369332"/>
            </a:xfrm>
            <a:prstGeom prst="rect">
              <a:avLst/>
            </a:prstGeom>
            <a:noFill/>
          </p:spPr>
          <p:txBody>
            <a:bodyPr wrap="none" rtlCol="0">
              <a:spAutoFit/>
            </a:bodyPr>
            <a:lstStyle/>
            <a:p>
              <a:r>
                <a:rPr lang="en-US" dirty="0"/>
                <a:t>x</a:t>
              </a:r>
            </a:p>
          </p:txBody>
        </p:sp>
        <p:sp>
          <p:nvSpPr>
            <p:cNvPr id="44" name="Text Box 22"/>
            <p:cNvSpPr txBox="1">
              <a:spLocks noChangeArrowheads="1"/>
            </p:cNvSpPr>
            <p:nvPr/>
          </p:nvSpPr>
          <p:spPr bwMode="auto">
            <a:xfrm>
              <a:off x="4194099" y="2249211"/>
              <a:ext cx="218641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FE integration point</a:t>
              </a:r>
              <a:endParaRPr lang="en-GB" sz="1800" dirty="0">
                <a:latin typeface="Arial" charset="0"/>
              </a:endParaRPr>
            </a:p>
          </p:txBody>
        </p:sp>
      </p:grpSp>
      <p:sp>
        <p:nvSpPr>
          <p:cNvPr id="46" name="Footer Placeholder 5"/>
          <p:cNvSpPr>
            <a:spLocks noGrp="1"/>
          </p:cNvSpPr>
          <p:nvPr>
            <p:ph type="ftr" sz="quarter" idx="11"/>
          </p:nvPr>
        </p:nvSpPr>
        <p:spPr>
          <a:xfrm>
            <a:off x="3124200" y="6492875"/>
            <a:ext cx="2895600" cy="365125"/>
          </a:xfrm>
        </p:spPr>
        <p:txBody>
          <a:bodyPr/>
          <a:lstStyle/>
          <a:p>
            <a:endParaRPr lang="en-US" dirty="0"/>
          </a:p>
          <a:p>
            <a:r>
              <a:rPr lang="en-US" dirty="0"/>
              <a:t>Finite Volume Computations</a:t>
            </a:r>
          </a:p>
          <a:p>
            <a:endParaRPr lang="en-US" dirty="0"/>
          </a:p>
        </p:txBody>
      </p:sp>
    </p:spTree>
    <p:extLst>
      <p:ext uri="{BB962C8B-B14F-4D97-AF65-F5344CB8AC3E}">
        <p14:creationId xmlns:p14="http://schemas.microsoft.com/office/powerpoint/2010/main" val="14360200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p:txBody>
          <a:bodyPr/>
          <a:lstStyle/>
          <a:p>
            <a:r>
              <a:rPr lang="en-US" dirty="0"/>
              <a:t>Finite Volume </a:t>
            </a:r>
            <a:r>
              <a:rPr lang="en-US" dirty="0" err="1"/>
              <a:t>FrameWork</a:t>
            </a:r>
            <a:endParaRPr lang="en-US" dirty="0"/>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FEM-FVM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50</a:t>
            </a:fld>
            <a:endParaRPr lang="en-US"/>
          </a:p>
        </p:txBody>
      </p:sp>
    </p:spTree>
    <p:extLst>
      <p:ext uri="{BB962C8B-B14F-4D97-AF65-F5344CB8AC3E}">
        <p14:creationId xmlns:p14="http://schemas.microsoft.com/office/powerpoint/2010/main" val="12469540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76582" y="206674"/>
            <a:ext cx="8162925" cy="846062"/>
          </a:xfrm>
        </p:spPr>
        <p:txBody>
          <a:bodyPr>
            <a:normAutofit/>
          </a:bodyPr>
          <a:lstStyle/>
          <a:p>
            <a:pPr eaLnBrk="1" hangingPunct="1"/>
            <a:r>
              <a:rPr lang="en-US" dirty="0">
                <a:latin typeface="Arial" charset="0"/>
                <a:ea typeface="ＭＳ Ｐゴシック" charset="0"/>
                <a:cs typeface="ＭＳ Ｐゴシック" charset="0"/>
              </a:rPr>
              <a:t>Basic terminology</a:t>
            </a:r>
            <a:endParaRPr lang="en-GB" dirty="0">
              <a:latin typeface="Arial" charset="0"/>
              <a:ea typeface="ＭＳ Ｐゴシック" charset="0"/>
              <a:cs typeface="ＭＳ Ｐゴシック" charset="0"/>
            </a:endParaRPr>
          </a:p>
        </p:txBody>
      </p:sp>
      <p:sp>
        <p:nvSpPr>
          <p:cNvPr id="31774" name="Text Box 28"/>
          <p:cNvSpPr txBox="1">
            <a:spLocks noChangeArrowheads="1"/>
          </p:cNvSpPr>
          <p:nvPr/>
        </p:nvSpPr>
        <p:spPr bwMode="auto">
          <a:xfrm>
            <a:off x="1389800" y="5986463"/>
            <a:ext cx="609233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i="1" dirty="0">
                <a:latin typeface="+mj-lt"/>
              </a:rPr>
              <a:t>NB: Facet </a:t>
            </a:r>
            <a:r>
              <a:rPr lang="en-US" sz="1600" i="1" dirty="0" err="1">
                <a:latin typeface="+mj-lt"/>
              </a:rPr>
              <a:t>normals</a:t>
            </a:r>
            <a:r>
              <a:rPr lang="en-US" sz="1600" i="1" dirty="0">
                <a:latin typeface="+mj-lt"/>
              </a:rPr>
              <a:t> always point to node with higher local number</a:t>
            </a:r>
          </a:p>
        </p:txBody>
      </p:sp>
      <p:grpSp>
        <p:nvGrpSpPr>
          <p:cNvPr id="5" name="Group 4"/>
          <p:cNvGrpSpPr/>
          <p:nvPr/>
        </p:nvGrpSpPr>
        <p:grpSpPr>
          <a:xfrm>
            <a:off x="94492" y="1197488"/>
            <a:ext cx="5962165" cy="4714875"/>
            <a:chOff x="1245085" y="996950"/>
            <a:chExt cx="5962165" cy="4714875"/>
          </a:xfrm>
        </p:grpSpPr>
        <p:sp>
          <p:nvSpPr>
            <p:cNvPr id="31749" name="Freeform 3"/>
            <p:cNvSpPr>
              <a:spLocks/>
            </p:cNvSpPr>
            <p:nvPr/>
          </p:nvSpPr>
          <p:spPr bwMode="auto">
            <a:xfrm>
              <a:off x="2516188" y="1801813"/>
              <a:ext cx="3857625" cy="3402012"/>
            </a:xfrm>
            <a:custGeom>
              <a:avLst/>
              <a:gdLst>
                <a:gd name="T0" fmla="*/ 0 w 2430"/>
                <a:gd name="T1" fmla="*/ 2147483647 h 2143"/>
                <a:gd name="T2" fmla="*/ 2147483647 w 2430"/>
                <a:gd name="T3" fmla="*/ 0 h 2143"/>
                <a:gd name="T4" fmla="*/ 2147483647 w 2430"/>
                <a:gd name="T5" fmla="*/ 2147483647 h 2143"/>
                <a:gd name="T6" fmla="*/ 0 w 2430"/>
                <a:gd name="T7" fmla="*/ 2147483647 h 2143"/>
                <a:gd name="T8" fmla="*/ 0 60000 65536"/>
                <a:gd name="T9" fmla="*/ 0 60000 65536"/>
                <a:gd name="T10" fmla="*/ 0 60000 65536"/>
                <a:gd name="T11" fmla="*/ 0 60000 65536"/>
                <a:gd name="T12" fmla="*/ 0 w 2430"/>
                <a:gd name="T13" fmla="*/ 0 h 2143"/>
                <a:gd name="T14" fmla="*/ 2430 w 2430"/>
                <a:gd name="T15" fmla="*/ 2143 h 2143"/>
              </a:gdLst>
              <a:ahLst/>
              <a:cxnLst>
                <a:cxn ang="T8">
                  <a:pos x="T0" y="T1"/>
                </a:cxn>
                <a:cxn ang="T9">
                  <a:pos x="T2" y="T3"/>
                </a:cxn>
                <a:cxn ang="T10">
                  <a:pos x="T4" y="T5"/>
                </a:cxn>
                <a:cxn ang="T11">
                  <a:pos x="T6" y="T7"/>
                </a:cxn>
              </a:cxnLst>
              <a:rect l="T12" t="T13" r="T14" b="T15"/>
              <a:pathLst>
                <a:path w="2430" h="2143">
                  <a:moveTo>
                    <a:pt x="0" y="2143"/>
                  </a:moveTo>
                  <a:lnTo>
                    <a:pt x="1252" y="0"/>
                  </a:lnTo>
                  <a:lnTo>
                    <a:pt x="2430" y="2104"/>
                  </a:lnTo>
                  <a:lnTo>
                    <a:pt x="0" y="2143"/>
                  </a:lnTo>
                  <a:close/>
                </a:path>
              </a:pathLst>
            </a:custGeom>
            <a:solidFill>
              <a:srgbClr val="FFFF00"/>
            </a:solidFill>
            <a:ln w="28575">
              <a:solidFill>
                <a:schemeClr val="tx1"/>
              </a:solidFill>
              <a:miter lim="800000"/>
              <a:headEnd/>
              <a:tailEnd/>
            </a:ln>
          </p:spPr>
          <p:txBody>
            <a:bodyPr wrap="none"/>
            <a:lstStyle/>
            <a:p>
              <a:endParaRPr lang="en-US" dirty="0"/>
            </a:p>
          </p:txBody>
        </p:sp>
        <p:sp>
          <p:nvSpPr>
            <p:cNvPr id="31750" name="Oval 4"/>
            <p:cNvSpPr>
              <a:spLocks noChangeArrowheads="1"/>
            </p:cNvSpPr>
            <p:nvPr/>
          </p:nvSpPr>
          <p:spPr bwMode="auto">
            <a:xfrm>
              <a:off x="2378075" y="5080000"/>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31751" name="Oval 5"/>
            <p:cNvSpPr>
              <a:spLocks noChangeArrowheads="1"/>
            </p:cNvSpPr>
            <p:nvPr/>
          </p:nvSpPr>
          <p:spPr bwMode="auto">
            <a:xfrm>
              <a:off x="6229350" y="5026025"/>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31752" name="Oval 6"/>
            <p:cNvSpPr>
              <a:spLocks noChangeArrowheads="1"/>
            </p:cNvSpPr>
            <p:nvPr/>
          </p:nvSpPr>
          <p:spPr bwMode="auto">
            <a:xfrm>
              <a:off x="4359275" y="1671638"/>
              <a:ext cx="288925" cy="255587"/>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31753" name="Line 7"/>
            <p:cNvSpPr>
              <a:spLocks noChangeShapeType="1"/>
            </p:cNvSpPr>
            <p:nvPr/>
          </p:nvSpPr>
          <p:spPr bwMode="auto">
            <a:xfrm>
              <a:off x="4503738" y="3863975"/>
              <a:ext cx="20637" cy="1306513"/>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1754" name="Line 8"/>
            <p:cNvSpPr>
              <a:spLocks noChangeShapeType="1"/>
            </p:cNvSpPr>
            <p:nvPr/>
          </p:nvSpPr>
          <p:spPr bwMode="auto">
            <a:xfrm flipV="1">
              <a:off x="4505325" y="3535363"/>
              <a:ext cx="962025" cy="336550"/>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1755" name="Line 9"/>
            <p:cNvSpPr>
              <a:spLocks noChangeShapeType="1"/>
            </p:cNvSpPr>
            <p:nvPr/>
          </p:nvSpPr>
          <p:spPr bwMode="auto">
            <a:xfrm>
              <a:off x="3551238" y="3433763"/>
              <a:ext cx="962025" cy="433387"/>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1756" name="Line 10"/>
            <p:cNvSpPr>
              <a:spLocks noChangeShapeType="1"/>
            </p:cNvSpPr>
            <p:nvPr/>
          </p:nvSpPr>
          <p:spPr bwMode="auto">
            <a:xfrm flipV="1">
              <a:off x="4516438" y="4475163"/>
              <a:ext cx="598487" cy="34925"/>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31757" name="Oval 11"/>
            <p:cNvSpPr>
              <a:spLocks noChangeArrowheads="1"/>
            </p:cNvSpPr>
            <p:nvPr/>
          </p:nvSpPr>
          <p:spPr bwMode="auto">
            <a:xfrm>
              <a:off x="3644900" y="4386263"/>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58" name="Oval 12"/>
            <p:cNvSpPr>
              <a:spLocks noChangeArrowheads="1"/>
            </p:cNvSpPr>
            <p:nvPr/>
          </p:nvSpPr>
          <p:spPr bwMode="auto">
            <a:xfrm>
              <a:off x="4429125" y="300513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59" name="Oval 13"/>
            <p:cNvSpPr>
              <a:spLocks noChangeArrowheads="1"/>
            </p:cNvSpPr>
            <p:nvPr/>
          </p:nvSpPr>
          <p:spPr bwMode="auto">
            <a:xfrm>
              <a:off x="5186363" y="440848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0" name="Text Box 14"/>
            <p:cNvSpPr txBox="1">
              <a:spLocks noChangeArrowheads="1"/>
            </p:cNvSpPr>
            <p:nvPr/>
          </p:nvSpPr>
          <p:spPr bwMode="auto">
            <a:xfrm>
              <a:off x="3744913" y="996950"/>
              <a:ext cx="151765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FiniteVolume</a:t>
              </a:r>
            </a:p>
            <a:p>
              <a:pPr eaLnBrk="1" hangingPunct="1"/>
              <a:r>
                <a:rPr lang="en-US" sz="1800">
                  <a:latin typeface="Arial" charset="0"/>
                </a:rPr>
                <a:t>=FEM node</a:t>
              </a:r>
              <a:endParaRPr lang="en-GB" sz="1800">
                <a:latin typeface="Arial" charset="0"/>
              </a:endParaRPr>
            </a:p>
          </p:txBody>
        </p:sp>
        <p:sp>
          <p:nvSpPr>
            <p:cNvPr id="31761" name="Text Box 15"/>
            <p:cNvSpPr txBox="1">
              <a:spLocks noChangeArrowheads="1"/>
            </p:cNvSpPr>
            <p:nvPr/>
          </p:nvSpPr>
          <p:spPr bwMode="auto">
            <a:xfrm>
              <a:off x="3151935" y="4641850"/>
              <a:ext cx="1200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FV Sector</a:t>
              </a:r>
              <a:endParaRPr lang="en-GB" sz="1800" dirty="0">
                <a:latin typeface="Arial" charset="0"/>
              </a:endParaRPr>
            </a:p>
          </p:txBody>
        </p:sp>
        <p:sp>
          <p:nvSpPr>
            <p:cNvPr id="31762" name="Text Box 16"/>
            <p:cNvSpPr txBox="1">
              <a:spLocks noChangeArrowheads="1"/>
            </p:cNvSpPr>
            <p:nvPr/>
          </p:nvSpPr>
          <p:spPr bwMode="auto">
            <a:xfrm>
              <a:off x="4021138" y="5208588"/>
              <a:ext cx="11112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FV Facet</a:t>
              </a:r>
              <a:endParaRPr lang="en-GB" sz="1800">
                <a:latin typeface="Arial" charset="0"/>
              </a:endParaRPr>
            </a:p>
          </p:txBody>
        </p:sp>
        <p:sp>
          <p:nvSpPr>
            <p:cNvPr id="31763" name="Text Box 17"/>
            <p:cNvSpPr txBox="1">
              <a:spLocks noChangeArrowheads="1"/>
            </p:cNvSpPr>
            <p:nvPr/>
          </p:nvSpPr>
          <p:spPr bwMode="auto">
            <a:xfrm>
              <a:off x="1824038" y="5345113"/>
              <a:ext cx="13525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inside node</a:t>
              </a:r>
              <a:endParaRPr lang="en-GB" sz="1800">
                <a:latin typeface="Arial" charset="0"/>
              </a:endParaRPr>
            </a:p>
          </p:txBody>
        </p:sp>
        <p:sp>
          <p:nvSpPr>
            <p:cNvPr id="31764" name="Text Box 18"/>
            <p:cNvSpPr txBox="1">
              <a:spLocks noChangeArrowheads="1"/>
            </p:cNvSpPr>
            <p:nvPr/>
          </p:nvSpPr>
          <p:spPr bwMode="auto">
            <a:xfrm>
              <a:off x="5715000" y="5235575"/>
              <a:ext cx="14922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outside node</a:t>
              </a:r>
              <a:endParaRPr lang="en-GB" sz="1800">
                <a:latin typeface="Arial" charset="0"/>
              </a:endParaRPr>
            </a:p>
          </p:txBody>
        </p:sp>
        <p:sp>
          <p:nvSpPr>
            <p:cNvPr id="31765" name="Oval 19"/>
            <p:cNvSpPr>
              <a:spLocks noChangeArrowheads="1"/>
            </p:cNvSpPr>
            <p:nvPr/>
          </p:nvSpPr>
          <p:spPr bwMode="auto">
            <a:xfrm>
              <a:off x="4441825" y="4427538"/>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6" name="Oval 20"/>
            <p:cNvSpPr>
              <a:spLocks noChangeArrowheads="1"/>
            </p:cNvSpPr>
            <p:nvPr/>
          </p:nvSpPr>
          <p:spPr bwMode="auto">
            <a:xfrm>
              <a:off x="4895850" y="3638550"/>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7" name="Oval 21"/>
            <p:cNvSpPr>
              <a:spLocks noChangeArrowheads="1"/>
            </p:cNvSpPr>
            <p:nvPr/>
          </p:nvSpPr>
          <p:spPr bwMode="auto">
            <a:xfrm>
              <a:off x="3940175" y="3565525"/>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8" name="Text Box 22"/>
            <p:cNvSpPr txBox="1">
              <a:spLocks noChangeArrowheads="1"/>
            </p:cNvSpPr>
            <p:nvPr/>
          </p:nvSpPr>
          <p:spPr bwMode="auto">
            <a:xfrm>
              <a:off x="4033323" y="2656638"/>
              <a:ext cx="24955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sector integration point</a:t>
              </a:r>
              <a:endParaRPr lang="en-GB" sz="1800" dirty="0">
                <a:latin typeface="Arial" charset="0"/>
              </a:endParaRPr>
            </a:p>
          </p:txBody>
        </p:sp>
        <p:sp>
          <p:nvSpPr>
            <p:cNvPr id="31769" name="Rectangle 23"/>
            <p:cNvSpPr>
              <a:spLocks noChangeArrowheads="1"/>
            </p:cNvSpPr>
            <p:nvPr/>
          </p:nvSpPr>
          <p:spPr bwMode="auto">
            <a:xfrm>
              <a:off x="1245085" y="1963969"/>
              <a:ext cx="2454275"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2000" dirty="0" err="1">
                  <a:latin typeface="Arial" charset="0"/>
                </a:rPr>
                <a:t>FiniteVolumeStencil</a:t>
              </a:r>
              <a:endParaRPr lang="en-US" sz="2000" dirty="0">
                <a:latin typeface="Arial" charset="0"/>
              </a:endParaRPr>
            </a:p>
            <a:p>
              <a:r>
                <a:rPr lang="en-US" dirty="0">
                  <a:latin typeface="Arial" charset="0"/>
                </a:rPr>
                <a:t>(as illustrated for linear triangle)</a:t>
              </a:r>
            </a:p>
          </p:txBody>
        </p:sp>
        <p:sp>
          <p:nvSpPr>
            <p:cNvPr id="31770" name="Text Box 24"/>
            <p:cNvSpPr txBox="1">
              <a:spLocks noChangeArrowheads="1"/>
            </p:cNvSpPr>
            <p:nvPr/>
          </p:nvSpPr>
          <p:spPr bwMode="auto">
            <a:xfrm>
              <a:off x="5002910" y="3249698"/>
              <a:ext cx="1434698" cy="923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facet integration point</a:t>
              </a:r>
              <a:endParaRPr lang="en-GB" sz="1800" dirty="0">
                <a:latin typeface="Arial" charset="0"/>
              </a:endParaRPr>
            </a:p>
          </p:txBody>
        </p:sp>
        <p:sp>
          <p:nvSpPr>
            <p:cNvPr id="31771" name="Line 25"/>
            <p:cNvSpPr>
              <a:spLocks noChangeShapeType="1"/>
            </p:cNvSpPr>
            <p:nvPr/>
          </p:nvSpPr>
          <p:spPr bwMode="auto">
            <a:xfrm flipV="1">
              <a:off x="5608638" y="2522538"/>
              <a:ext cx="752475" cy="95567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1772" name="Line 26"/>
            <p:cNvSpPr>
              <a:spLocks noChangeShapeType="1"/>
            </p:cNvSpPr>
            <p:nvPr/>
          </p:nvSpPr>
          <p:spPr bwMode="auto">
            <a:xfrm flipH="1" flipV="1">
              <a:off x="2922588" y="2628900"/>
              <a:ext cx="596900" cy="75882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1773" name="Line 27"/>
            <p:cNvSpPr>
              <a:spLocks noChangeShapeType="1"/>
            </p:cNvSpPr>
            <p:nvPr/>
          </p:nvSpPr>
          <p:spPr bwMode="auto">
            <a:xfrm flipV="1">
              <a:off x="6376988" y="1355725"/>
              <a:ext cx="146050" cy="1158875"/>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31" name="Text Box 24"/>
            <p:cNvSpPr txBox="1">
              <a:spLocks noChangeArrowheads="1"/>
            </p:cNvSpPr>
            <p:nvPr/>
          </p:nvSpPr>
          <p:spPr bwMode="auto">
            <a:xfrm rot="18000000">
              <a:off x="1825938" y="3596518"/>
              <a:ext cx="263557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err="1">
                  <a:latin typeface="Arial" charset="0"/>
                </a:rPr>
                <a:t>subface</a:t>
              </a:r>
              <a:r>
                <a:rPr lang="en-US" sz="1800" dirty="0">
                  <a:latin typeface="Arial" charset="0"/>
                </a:rPr>
                <a:t> of element face</a:t>
              </a:r>
              <a:endParaRPr lang="en-GB" sz="1800" dirty="0">
                <a:latin typeface="Arial" charset="0"/>
              </a:endParaRPr>
            </a:p>
          </p:txBody>
        </p:sp>
        <p:sp>
          <p:nvSpPr>
            <p:cNvPr id="2" name="TextBox 1"/>
            <p:cNvSpPr txBox="1"/>
            <p:nvPr/>
          </p:nvSpPr>
          <p:spPr>
            <a:xfrm>
              <a:off x="4336480" y="2030451"/>
              <a:ext cx="321272" cy="369332"/>
            </a:xfrm>
            <a:prstGeom prst="rect">
              <a:avLst/>
            </a:prstGeom>
            <a:noFill/>
          </p:spPr>
          <p:txBody>
            <a:bodyPr wrap="none" rtlCol="0">
              <a:spAutoFit/>
            </a:bodyPr>
            <a:lstStyle/>
            <a:p>
              <a:r>
                <a:rPr lang="en-US" dirty="0"/>
                <a:t>x</a:t>
              </a:r>
            </a:p>
          </p:txBody>
        </p:sp>
        <p:sp>
          <p:nvSpPr>
            <p:cNvPr id="33" name="TextBox 32"/>
            <p:cNvSpPr txBox="1"/>
            <p:nvPr/>
          </p:nvSpPr>
          <p:spPr>
            <a:xfrm>
              <a:off x="2809433" y="4739716"/>
              <a:ext cx="321272" cy="369332"/>
            </a:xfrm>
            <a:prstGeom prst="rect">
              <a:avLst/>
            </a:prstGeom>
            <a:noFill/>
          </p:spPr>
          <p:txBody>
            <a:bodyPr wrap="none" rtlCol="0">
              <a:spAutoFit/>
            </a:bodyPr>
            <a:lstStyle/>
            <a:p>
              <a:r>
                <a:rPr lang="en-US" dirty="0"/>
                <a:t>x</a:t>
              </a:r>
            </a:p>
          </p:txBody>
        </p:sp>
        <p:sp>
          <p:nvSpPr>
            <p:cNvPr id="34" name="TextBox 33"/>
            <p:cNvSpPr txBox="1"/>
            <p:nvPr/>
          </p:nvSpPr>
          <p:spPr>
            <a:xfrm>
              <a:off x="5802692" y="4683220"/>
              <a:ext cx="321272" cy="369332"/>
            </a:xfrm>
            <a:prstGeom prst="rect">
              <a:avLst/>
            </a:prstGeom>
            <a:noFill/>
          </p:spPr>
          <p:txBody>
            <a:bodyPr wrap="none" rtlCol="0">
              <a:spAutoFit/>
            </a:bodyPr>
            <a:lstStyle/>
            <a:p>
              <a:r>
                <a:rPr lang="en-US" dirty="0"/>
                <a:t>x</a:t>
              </a:r>
            </a:p>
          </p:txBody>
        </p:sp>
        <p:sp>
          <p:nvSpPr>
            <p:cNvPr id="35" name="Text Box 22"/>
            <p:cNvSpPr txBox="1">
              <a:spLocks noChangeArrowheads="1"/>
            </p:cNvSpPr>
            <p:nvPr/>
          </p:nvSpPr>
          <p:spPr bwMode="auto">
            <a:xfrm>
              <a:off x="4194099" y="2249211"/>
              <a:ext cx="218641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FE integration point</a:t>
              </a:r>
              <a:endParaRPr lang="en-GB" sz="1800" dirty="0">
                <a:latin typeface="Arial" charset="0"/>
              </a:endParaRPr>
            </a:p>
          </p:txBody>
        </p:sp>
      </p:grpSp>
      <p:sp>
        <p:nvSpPr>
          <p:cNvPr id="4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5/2/24</a:t>
            </a:fld>
            <a:endParaRPr lang="en-US" dirty="0">
              <a:solidFill>
                <a:prstClr val="white">
                  <a:lumMod val="65000"/>
                </a:prstClr>
              </a:solidFill>
              <a:ea typeface="+mn-ea"/>
            </a:endParaRPr>
          </a:p>
        </p:txBody>
      </p:sp>
      <p:sp>
        <p:nvSpPr>
          <p:cNvPr id="4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42"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51</a:t>
            </a:fld>
            <a:endParaRPr lang="en-US" dirty="0">
              <a:solidFill>
                <a:prstClr val="white">
                  <a:lumMod val="65000"/>
                </a:prstClr>
              </a:solidFill>
              <a:ea typeface="+mn-ea"/>
            </a:endParaRPr>
          </a:p>
        </p:txBody>
      </p:sp>
      <p:pic>
        <p:nvPicPr>
          <p:cNvPr id="43" name="Picture 42"/>
          <p:cNvPicPr>
            <a:picLocks noChangeAspect="1"/>
          </p:cNvPicPr>
          <p:nvPr/>
        </p:nvPicPr>
        <p:blipFill>
          <a:blip r:embed="rId3"/>
          <a:stretch>
            <a:fillRect/>
          </a:stretch>
        </p:blipFill>
        <p:spPr>
          <a:xfrm>
            <a:off x="5452968" y="3358704"/>
            <a:ext cx="3443882" cy="1689673"/>
          </a:xfrm>
          <a:prstGeom prst="rect">
            <a:avLst/>
          </a:prstGeom>
        </p:spPr>
      </p:pic>
      <p:sp>
        <p:nvSpPr>
          <p:cNvPr id="44" name="Rectangle 43"/>
          <p:cNvSpPr/>
          <p:nvPr/>
        </p:nvSpPr>
        <p:spPr>
          <a:xfrm>
            <a:off x="4620304" y="188640"/>
            <a:ext cx="4523696" cy="2492990"/>
          </a:xfrm>
          <a:prstGeom prst="rect">
            <a:avLst/>
          </a:prstGeom>
        </p:spPr>
        <p:txBody>
          <a:bodyPr wrap="square">
            <a:spAutoFit/>
          </a:bodyPr>
          <a:lstStyle/>
          <a:p>
            <a:r>
              <a:rPr lang="en-US" sz="1200" dirty="0" err="1">
                <a:solidFill>
                  <a:srgbClr val="0000FF"/>
                </a:solidFill>
                <a:latin typeface="Courier"/>
                <a:cs typeface="Courier"/>
              </a:rPr>
              <a:t>enum</a:t>
            </a:r>
            <a:r>
              <a:rPr lang="en-US" sz="1200" dirty="0">
                <a:solidFill>
                  <a:srgbClr val="0000FF"/>
                </a:solidFill>
                <a:latin typeface="Courier"/>
                <a:cs typeface="Courier"/>
              </a:rPr>
              <a:t> </a:t>
            </a:r>
            <a:r>
              <a:rPr lang="en-US" sz="1200" dirty="0">
                <a:latin typeface="Courier"/>
                <a:cs typeface="Courier"/>
              </a:rPr>
              <a:t>PLACEMENT { ELEMENT_INTEGRATION_POINT,</a:t>
            </a:r>
          </a:p>
          <a:p>
            <a:r>
              <a:rPr lang="en-US" sz="1200" dirty="0">
                <a:latin typeface="Courier"/>
                <a:cs typeface="Courier"/>
              </a:rPr>
              <a:t>                 SECTOR_INTEGRATION_POINT,</a:t>
            </a:r>
          </a:p>
          <a:p>
            <a:r>
              <a:rPr lang="en-US" sz="1200" dirty="0">
                <a:latin typeface="Courier"/>
                <a:cs typeface="Courier"/>
              </a:rPr>
              <a:t>                 FACET_INTEGRATION_POINT,</a:t>
            </a:r>
          </a:p>
          <a:p>
            <a:r>
              <a:rPr lang="en-US" sz="1200" dirty="0">
                <a:latin typeface="Courier"/>
                <a:cs typeface="Courier"/>
              </a:rPr>
              <a:t>                 NODE,</a:t>
            </a:r>
          </a:p>
          <a:p>
            <a:r>
              <a:rPr lang="en-US" sz="1200" dirty="0">
                <a:latin typeface="Courier"/>
                <a:cs typeface="Courier"/>
              </a:rPr>
              <a:t>                 EDGE,</a:t>
            </a:r>
          </a:p>
          <a:p>
            <a:r>
              <a:rPr lang="en-US" sz="1200" dirty="0">
                <a:latin typeface="Courier"/>
                <a:cs typeface="Courier"/>
              </a:rPr>
              <a:t>                 FACE,</a:t>
            </a:r>
          </a:p>
          <a:p>
            <a:r>
              <a:rPr lang="en-US" sz="1200" dirty="0">
                <a:latin typeface="Courier"/>
                <a:cs typeface="Courier"/>
              </a:rPr>
              <a:t>                 INTER_FACE,</a:t>
            </a:r>
          </a:p>
          <a:p>
            <a:r>
              <a:rPr lang="en-US" sz="1200" dirty="0">
                <a:latin typeface="Courier"/>
                <a:cs typeface="Courier"/>
              </a:rPr>
              <a:t>                 ELEMENT,</a:t>
            </a:r>
          </a:p>
          <a:p>
            <a:r>
              <a:rPr lang="en-US" sz="1200" dirty="0">
                <a:latin typeface="Courier"/>
                <a:cs typeface="Courier"/>
              </a:rPr>
              <a:t>                 REGION,</a:t>
            </a:r>
          </a:p>
          <a:p>
            <a:r>
              <a:rPr lang="en-US" sz="1200" dirty="0">
                <a:latin typeface="Courier"/>
                <a:cs typeface="Courier"/>
              </a:rPr>
              <a:t>                 BOUNDARY,</a:t>
            </a:r>
          </a:p>
          <a:p>
            <a:r>
              <a:rPr lang="en-US" sz="1200" dirty="0">
                <a:latin typeface="Courier"/>
                <a:cs typeface="Courier"/>
              </a:rPr>
              <a:t>                 SPLIT_BOUNDARY,</a:t>
            </a:r>
          </a:p>
          <a:p>
            <a:r>
              <a:rPr lang="en-US" sz="1200" dirty="0">
                <a:latin typeface="Courier"/>
                <a:cs typeface="Courier"/>
              </a:rPr>
              <a:t>                 MODEL,</a:t>
            </a:r>
          </a:p>
          <a:p>
            <a:r>
              <a:rPr lang="en-US" sz="1200" dirty="0">
                <a:latin typeface="Courier"/>
                <a:cs typeface="Courier"/>
              </a:rPr>
              <a:t>                 UNDEFINED };</a:t>
            </a:r>
          </a:p>
        </p:txBody>
      </p:sp>
    </p:spTree>
    <p:extLst>
      <p:ext uri="{BB962C8B-B14F-4D97-AF65-F5344CB8AC3E}">
        <p14:creationId xmlns:p14="http://schemas.microsoft.com/office/powerpoint/2010/main" val="6994125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Rectangle 4"/>
          <p:cNvSpPr>
            <a:spLocks noGrp="1" noChangeArrowheads="1"/>
          </p:cNvSpPr>
          <p:nvPr>
            <p:ph type="title"/>
          </p:nvPr>
        </p:nvSpPr>
        <p:spPr>
          <a:xfrm>
            <a:off x="1192213" y="120650"/>
            <a:ext cx="7723187" cy="671513"/>
          </a:xfrm>
        </p:spPr>
        <p:txBody>
          <a:bodyPr/>
          <a:lstStyle/>
          <a:p>
            <a:pPr eaLnBrk="1" hangingPunct="1"/>
            <a:r>
              <a:rPr lang="en-US" sz="2800">
                <a:latin typeface="Arial" charset="0"/>
                <a:ea typeface="ＭＳ Ｐゴシック" charset="0"/>
                <a:cs typeface="ＭＳ Ｐゴシック" charset="0"/>
              </a:rPr>
              <a:t>Finite-element finite-volume stencils</a:t>
            </a:r>
            <a:endParaRPr lang="en-GB" sz="2400">
              <a:latin typeface="Arial" charset="0"/>
              <a:ea typeface="ＭＳ Ｐゴシック" charset="0"/>
              <a:cs typeface="ＭＳ Ｐゴシック" charset="0"/>
            </a:endParaRPr>
          </a:p>
        </p:txBody>
      </p:sp>
      <p:pic>
        <p:nvPicPr>
          <p:cNvPr id="23555" name="Picture 3" descr="FVStencilPy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813" y="4000500"/>
            <a:ext cx="3160712" cy="2673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3556" name="Rectangle 6"/>
          <p:cNvSpPr>
            <a:spLocks noChangeArrowheads="1"/>
          </p:cNvSpPr>
          <p:nvPr/>
        </p:nvSpPr>
        <p:spPr bwMode="auto">
          <a:xfrm>
            <a:off x="2171700" y="1433513"/>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endParaRPr lang="en-US"/>
          </a:p>
        </p:txBody>
      </p:sp>
      <p:sp>
        <p:nvSpPr>
          <p:cNvPr id="23557" name="Rectangle 7"/>
          <p:cNvSpPr>
            <a:spLocks noChangeArrowheads="1"/>
          </p:cNvSpPr>
          <p:nvPr/>
        </p:nvSpPr>
        <p:spPr bwMode="auto">
          <a:xfrm>
            <a:off x="2220913" y="1474788"/>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endParaRPr lang="en-US"/>
          </a:p>
        </p:txBody>
      </p:sp>
      <p:pic>
        <p:nvPicPr>
          <p:cNvPr id="23558" name="Picture 8" descr="AssebledPolyMesh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3913" y="4171593"/>
            <a:ext cx="3017837" cy="21605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3560" name="Picture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87575" y="828675"/>
            <a:ext cx="5440363" cy="2976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 name="TextBox 10"/>
          <p:cNvSpPr txBox="1"/>
          <p:nvPr/>
        </p:nvSpPr>
        <p:spPr>
          <a:xfrm>
            <a:off x="2801938" y="3835400"/>
            <a:ext cx="3198812" cy="339725"/>
          </a:xfrm>
          <a:prstGeom prst="rect">
            <a:avLst/>
          </a:prstGeom>
          <a:noFill/>
        </p:spPr>
        <p:txBody>
          <a:bodyPr wrap="none">
            <a:spAutoFit/>
          </a:bodyPr>
          <a:lstStyle/>
          <a:p>
            <a:pPr>
              <a:defRPr/>
            </a:pPr>
            <a:r>
              <a:rPr lang="en-US" sz="1600" i="1" dirty="0" err="1">
                <a:latin typeface="+mn-lt"/>
                <a:ea typeface="+mn-ea"/>
                <a:cs typeface="+mn-cs"/>
              </a:rPr>
              <a:t>Paluszny</a:t>
            </a:r>
            <a:r>
              <a:rPr lang="en-US" sz="1600" i="1" dirty="0">
                <a:latin typeface="+mn-lt"/>
                <a:ea typeface="+mn-ea"/>
                <a:cs typeface="+mn-cs"/>
              </a:rPr>
              <a:t> et al. (2007, </a:t>
            </a:r>
            <a:r>
              <a:rPr lang="en-US" sz="1600" i="1" dirty="0" err="1">
                <a:latin typeface="+mn-lt"/>
                <a:ea typeface="+mn-ea"/>
                <a:cs typeface="+mn-cs"/>
              </a:rPr>
              <a:t>Geofluids</a:t>
            </a:r>
            <a:r>
              <a:rPr lang="en-US" sz="1600" i="1" dirty="0">
                <a:latin typeface="+mn-lt"/>
                <a:ea typeface="+mn-ea"/>
                <a:cs typeface="+mn-cs"/>
              </a:rPr>
              <a:t>)</a:t>
            </a:r>
          </a:p>
        </p:txBody>
      </p:sp>
      <p:sp>
        <p:nvSpPr>
          <p:cNvPr id="12" name="TextBox 11"/>
          <p:cNvSpPr txBox="1"/>
          <p:nvPr/>
        </p:nvSpPr>
        <p:spPr>
          <a:xfrm>
            <a:off x="635000" y="1455738"/>
            <a:ext cx="1316038" cy="1323975"/>
          </a:xfrm>
          <a:prstGeom prst="rect">
            <a:avLst/>
          </a:prstGeom>
          <a:noFill/>
        </p:spPr>
        <p:txBody>
          <a:bodyPr>
            <a:spAutoFit/>
          </a:bodyPr>
          <a:lstStyle/>
          <a:p>
            <a:pPr>
              <a:defRPr/>
            </a:pPr>
            <a:r>
              <a:rPr lang="en-US" sz="2000" dirty="0">
                <a:solidFill>
                  <a:srgbClr val="000090"/>
                </a:solidFill>
                <a:latin typeface="Arial"/>
                <a:ea typeface="+mn-ea"/>
                <a:cs typeface="Arial"/>
              </a:rPr>
              <a:t>For </a:t>
            </a:r>
          </a:p>
          <a:p>
            <a:pPr>
              <a:defRPr/>
            </a:pPr>
            <a:r>
              <a:rPr lang="en-US" sz="2000" dirty="0">
                <a:solidFill>
                  <a:srgbClr val="000090"/>
                </a:solidFill>
                <a:latin typeface="Arial"/>
                <a:ea typeface="+mn-ea"/>
                <a:cs typeface="Arial"/>
              </a:rPr>
              <a:t>single element types </a:t>
            </a:r>
          </a:p>
        </p:txBody>
      </p:sp>
      <p:sp>
        <p:nvSpPr>
          <p:cNvPr id="13" name="TextBox 12"/>
          <p:cNvSpPr txBox="1"/>
          <p:nvPr/>
        </p:nvSpPr>
        <p:spPr>
          <a:xfrm>
            <a:off x="677863" y="4572000"/>
            <a:ext cx="1314450" cy="1631950"/>
          </a:xfrm>
          <a:prstGeom prst="rect">
            <a:avLst/>
          </a:prstGeom>
          <a:noFill/>
        </p:spPr>
        <p:txBody>
          <a:bodyPr>
            <a:spAutoFit/>
          </a:bodyPr>
          <a:lstStyle/>
          <a:p>
            <a:pPr>
              <a:defRPr/>
            </a:pPr>
            <a:r>
              <a:rPr lang="en-US" sz="2000" dirty="0">
                <a:solidFill>
                  <a:srgbClr val="000090"/>
                </a:solidFill>
                <a:latin typeface="Arial"/>
                <a:ea typeface="+mn-ea"/>
                <a:cs typeface="Arial"/>
              </a:rPr>
              <a:t>FV cells</a:t>
            </a:r>
          </a:p>
          <a:p>
            <a:pPr>
              <a:defRPr/>
            </a:pPr>
            <a:r>
              <a:rPr lang="en-US" sz="2000" dirty="0">
                <a:solidFill>
                  <a:srgbClr val="000090"/>
                </a:solidFill>
                <a:latin typeface="Arial"/>
                <a:ea typeface="+mn-ea"/>
                <a:cs typeface="Arial"/>
              </a:rPr>
              <a:t>shared by</a:t>
            </a:r>
          </a:p>
          <a:p>
            <a:pPr>
              <a:defRPr/>
            </a:pPr>
            <a:r>
              <a:rPr lang="en-US" sz="2000" dirty="0">
                <a:solidFill>
                  <a:srgbClr val="000090"/>
                </a:solidFill>
                <a:latin typeface="Arial"/>
                <a:ea typeface="+mn-ea"/>
                <a:cs typeface="Arial"/>
              </a:rPr>
              <a:t>different</a:t>
            </a:r>
          </a:p>
          <a:p>
            <a:pPr>
              <a:defRPr/>
            </a:pPr>
            <a:r>
              <a:rPr lang="en-US" sz="2000" dirty="0">
                <a:solidFill>
                  <a:srgbClr val="000090"/>
                </a:solidFill>
                <a:latin typeface="Arial"/>
                <a:ea typeface="+mn-ea"/>
                <a:cs typeface="Arial"/>
              </a:rPr>
              <a:t>element </a:t>
            </a:r>
          </a:p>
          <a:p>
            <a:pPr>
              <a:defRPr/>
            </a:pPr>
            <a:r>
              <a:rPr lang="en-US" sz="2000" dirty="0">
                <a:solidFill>
                  <a:srgbClr val="000090"/>
                </a:solidFill>
                <a:latin typeface="Arial"/>
                <a:ea typeface="+mn-ea"/>
                <a:cs typeface="Arial"/>
              </a:rPr>
              <a:t>types</a:t>
            </a:r>
          </a:p>
        </p:txBody>
      </p:sp>
      <p:sp>
        <p:nvSpPr>
          <p:cNvPr id="214018" name="Rectangle 2"/>
          <p:cNvSpPr>
            <a:spLocks noChangeArrowheads="1"/>
          </p:cNvSpPr>
          <p:nvPr/>
        </p:nvSpPr>
        <p:spPr bwMode="auto">
          <a:xfrm>
            <a:off x="1979712" y="1832700"/>
            <a:ext cx="6268508" cy="1020236"/>
          </a:xfrm>
          <a:prstGeom prst="rect">
            <a:avLst/>
          </a:prstGeom>
          <a:solidFill>
            <a:schemeClr val="bg1">
              <a:alpha val="77000"/>
            </a:schemeClr>
          </a:solidFill>
          <a:ln>
            <a:noFill/>
          </a:ln>
        </p:spPr>
        <p:txBody>
          <a:bodyPr wrap="none" anchor="ctr"/>
          <a:lstStyle/>
          <a:p>
            <a:pPr>
              <a:buFontTx/>
              <a:buChar char="•"/>
            </a:pPr>
            <a:r>
              <a:rPr lang="en-US" sz="1600" dirty="0">
                <a:solidFill>
                  <a:srgbClr val="000000"/>
                </a:solidFill>
                <a:latin typeface="Arial" charset="0"/>
              </a:rPr>
              <a:t> Finite volume mesh is not stored</a:t>
            </a:r>
          </a:p>
          <a:p>
            <a:pPr>
              <a:buFontTx/>
              <a:buChar char="•"/>
            </a:pPr>
            <a:r>
              <a:rPr lang="en-US" sz="1600" dirty="0">
                <a:solidFill>
                  <a:srgbClr val="000000"/>
                </a:solidFill>
                <a:latin typeface="Arial" charset="0"/>
              </a:rPr>
              <a:t> </a:t>
            </a:r>
            <a:r>
              <a:rPr lang="en-US" sz="1600" b="1" dirty="0" err="1">
                <a:solidFill>
                  <a:srgbClr val="000000"/>
                </a:solidFill>
                <a:latin typeface="Arial" charset="0"/>
              </a:rPr>
              <a:t>FiniteVolumeStencil</a:t>
            </a:r>
            <a:r>
              <a:rPr lang="en-US" sz="1600" dirty="0" err="1">
                <a:solidFill>
                  <a:srgbClr val="000000"/>
                </a:solidFill>
                <a:latin typeface="Arial" charset="0"/>
              </a:rPr>
              <a:t>s</a:t>
            </a:r>
            <a:r>
              <a:rPr lang="en-US" sz="1600" dirty="0">
                <a:solidFill>
                  <a:srgbClr val="000000"/>
                </a:solidFill>
                <a:latin typeface="Arial" charset="0"/>
              </a:rPr>
              <a:t> for each FE type which has a reference </a:t>
            </a:r>
          </a:p>
          <a:p>
            <a:r>
              <a:rPr lang="en-US" sz="1600" dirty="0">
                <a:solidFill>
                  <a:srgbClr val="000000"/>
                </a:solidFill>
                <a:latin typeface="Arial" charset="0"/>
              </a:rPr>
              <a:t>  representation in parametric space</a:t>
            </a:r>
          </a:p>
          <a:p>
            <a:pPr>
              <a:buFontTx/>
              <a:buChar char="•"/>
            </a:pPr>
            <a:r>
              <a:rPr lang="en-US" sz="1600" dirty="0">
                <a:solidFill>
                  <a:srgbClr val="000000"/>
                </a:solidFill>
                <a:latin typeface="Arial" charset="0"/>
              </a:rPr>
              <a:t>Jacobi transformations applied via </a:t>
            </a:r>
            <a:r>
              <a:rPr lang="en-US" sz="1600" b="1" dirty="0" err="1">
                <a:solidFill>
                  <a:srgbClr val="000000"/>
                </a:solidFill>
                <a:latin typeface="Arial" charset="0"/>
              </a:rPr>
              <a:t>FiniteVolumeTraits</a:t>
            </a:r>
            <a:r>
              <a:rPr lang="en-US" sz="1600" b="1" dirty="0">
                <a:solidFill>
                  <a:srgbClr val="000000"/>
                </a:solidFill>
                <a:latin typeface="Arial" charset="0"/>
              </a:rPr>
              <a:t> </a:t>
            </a:r>
          </a:p>
          <a:p>
            <a:r>
              <a:rPr lang="en-US" sz="1600" dirty="0">
                <a:solidFill>
                  <a:srgbClr val="000000"/>
                </a:solidFill>
                <a:latin typeface="Arial" charset="0"/>
              </a:rPr>
              <a:t>  to get physical space properties</a:t>
            </a:r>
          </a:p>
        </p:txBody>
      </p:sp>
      <p:sp>
        <p:nvSpPr>
          <p:cNvPr id="15"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5/2/24</a:t>
            </a:fld>
            <a:endParaRPr lang="en-US" dirty="0">
              <a:solidFill>
                <a:prstClr val="white">
                  <a:lumMod val="65000"/>
                </a:prstClr>
              </a:solidFill>
              <a:ea typeface="+mn-ea"/>
            </a:endParaRPr>
          </a:p>
        </p:txBody>
      </p:sp>
      <p:sp>
        <p:nvSpPr>
          <p:cNvPr id="16"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7"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52</a:t>
            </a:fld>
            <a:endParaRPr lang="en-US" dirty="0">
              <a:solidFill>
                <a:prstClr val="white">
                  <a:lumMod val="65000"/>
                </a:prstClr>
              </a:solidFill>
              <a:ea typeface="+mn-ea"/>
            </a:endParaRPr>
          </a:p>
        </p:txBody>
      </p:sp>
    </p:spTree>
    <p:extLst>
      <p:ext uri="{BB962C8B-B14F-4D97-AF65-F5344CB8AC3E}">
        <p14:creationId xmlns:p14="http://schemas.microsoft.com/office/powerpoint/2010/main" val="4139461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0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401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40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401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401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40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build="p"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457200" y="83560"/>
            <a:ext cx="8229600" cy="442856"/>
          </a:xfrm>
        </p:spPr>
        <p:txBody>
          <a:bodyPr>
            <a:noAutofit/>
          </a:bodyPr>
          <a:lstStyle/>
          <a:p>
            <a:pPr eaLnBrk="1" hangingPunct="1"/>
            <a:r>
              <a:rPr lang="en-US" sz="2800" dirty="0"/>
              <a:t>Element </a:t>
            </a:r>
            <a:r>
              <a:rPr lang="en-US" sz="2800" dirty="0" err="1"/>
              <a:t>FiniteVolumePolicy</a:t>
            </a:r>
            <a:r>
              <a:rPr lang="en-US" sz="2800" dirty="0"/>
              <a:t>: interface</a:t>
            </a:r>
            <a:endParaRPr lang="en-GB" sz="2800" dirty="0"/>
          </a:p>
        </p:txBody>
      </p:sp>
      <p:sp>
        <p:nvSpPr>
          <p:cNvPr id="2" name="Content Placeholder 1"/>
          <p:cNvSpPr>
            <a:spLocks noGrp="1"/>
          </p:cNvSpPr>
          <p:nvPr>
            <p:ph idx="1"/>
          </p:nvPr>
        </p:nvSpPr>
        <p:spPr>
          <a:xfrm>
            <a:off x="457199" y="605243"/>
            <a:ext cx="8413791" cy="890443"/>
          </a:xfrm>
        </p:spPr>
        <p:txBody>
          <a:bodyPr>
            <a:normAutofit fontScale="85000" lnSpcReduction="10000"/>
          </a:bodyPr>
          <a:lstStyle/>
          <a:p>
            <a:pPr marL="0" indent="0">
              <a:buNone/>
            </a:pPr>
            <a:r>
              <a:rPr lang="en-US" dirty="0"/>
              <a:t>implemented in </a:t>
            </a:r>
            <a:r>
              <a:rPr lang="en-US" b="1" dirty="0" err="1"/>
              <a:t>FiniteVolumePolicty</a:t>
            </a:r>
            <a:r>
              <a:rPr lang="en-US" b="1" dirty="0"/>
              <a:t> </a:t>
            </a:r>
            <a:r>
              <a:rPr lang="en-US" dirty="0"/>
              <a:t>base class of Element / Face / Interface:</a:t>
            </a:r>
          </a:p>
          <a:p>
            <a:r>
              <a:rPr lang="en-US" dirty="0"/>
              <a:t>Methods are fast, but parametric space computations are faster</a:t>
            </a:r>
          </a:p>
        </p:txBody>
      </p:sp>
      <p:grpSp>
        <p:nvGrpSpPr>
          <p:cNvPr id="7" name="Group 6"/>
          <p:cNvGrpSpPr/>
          <p:nvPr/>
        </p:nvGrpSpPr>
        <p:grpSpPr>
          <a:xfrm>
            <a:off x="2699641" y="4134045"/>
            <a:ext cx="3340100" cy="2332038"/>
            <a:chOff x="2699641" y="3975281"/>
            <a:chExt cx="3340100" cy="2332038"/>
          </a:xfrm>
        </p:grpSpPr>
        <p:sp>
          <p:nvSpPr>
            <p:cNvPr id="33802" name="Text Box 8"/>
            <p:cNvSpPr txBox="1">
              <a:spLocks noChangeArrowheads="1"/>
            </p:cNvSpPr>
            <p:nvPr/>
          </p:nvSpPr>
          <p:spPr bwMode="auto">
            <a:xfrm>
              <a:off x="4036316" y="4859519"/>
              <a:ext cx="1993900"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dirty="0" err="1">
                  <a:solidFill>
                    <a:prstClr val="black"/>
                  </a:solidFill>
                  <a:latin typeface="Arial" charset="0"/>
                  <a:ea typeface="+mn-ea"/>
                  <a:cs typeface="+mn-cs"/>
                </a:rPr>
                <a:t>FiniteVolumeStencil</a:t>
              </a:r>
              <a:endParaRPr lang="en-GB" sz="1600" dirty="0">
                <a:solidFill>
                  <a:prstClr val="black"/>
                </a:solidFill>
                <a:latin typeface="Arial" charset="0"/>
                <a:ea typeface="+mn-ea"/>
                <a:cs typeface="+mn-cs"/>
              </a:endParaRPr>
            </a:p>
          </p:txBody>
        </p:sp>
        <p:sp>
          <p:nvSpPr>
            <p:cNvPr id="33803" name="Text Box 9"/>
            <p:cNvSpPr txBox="1">
              <a:spLocks noChangeArrowheads="1"/>
            </p:cNvSpPr>
            <p:nvPr/>
          </p:nvSpPr>
          <p:spPr bwMode="auto">
            <a:xfrm>
              <a:off x="2713929" y="5407206"/>
              <a:ext cx="2795587"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FiniteVolumeStencilManager</a:t>
              </a:r>
              <a:endParaRPr lang="en-GB" sz="1600">
                <a:solidFill>
                  <a:prstClr val="black"/>
                </a:solidFill>
                <a:latin typeface="Arial" charset="0"/>
                <a:ea typeface="+mn-ea"/>
                <a:cs typeface="+mn-cs"/>
              </a:endParaRPr>
            </a:p>
          </p:txBody>
        </p:sp>
        <p:sp>
          <p:nvSpPr>
            <p:cNvPr id="33804" name="Text Box 10"/>
            <p:cNvSpPr txBox="1">
              <a:spLocks noChangeArrowheads="1"/>
            </p:cNvSpPr>
            <p:nvPr/>
          </p:nvSpPr>
          <p:spPr bwMode="auto">
            <a:xfrm>
              <a:off x="2777429" y="5951719"/>
              <a:ext cx="3192462"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FV_IntegrationPointsAndWeights</a:t>
              </a:r>
              <a:endParaRPr lang="en-GB" sz="1600">
                <a:solidFill>
                  <a:prstClr val="black"/>
                </a:solidFill>
                <a:latin typeface="Arial" charset="0"/>
                <a:ea typeface="+mn-ea"/>
                <a:cs typeface="+mn-cs"/>
              </a:endParaRPr>
            </a:p>
          </p:txBody>
        </p:sp>
        <p:sp>
          <p:nvSpPr>
            <p:cNvPr id="33805" name="Text Box 12"/>
            <p:cNvSpPr txBox="1">
              <a:spLocks noChangeArrowheads="1"/>
            </p:cNvSpPr>
            <p:nvPr/>
          </p:nvSpPr>
          <p:spPr bwMode="auto">
            <a:xfrm>
              <a:off x="4047429" y="3975281"/>
              <a:ext cx="1893887"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FiniteVolumeTraits</a:t>
              </a:r>
              <a:endParaRPr lang="en-GB" sz="1600">
                <a:solidFill>
                  <a:prstClr val="black"/>
                </a:solidFill>
                <a:latin typeface="Arial" charset="0"/>
                <a:ea typeface="+mn-ea"/>
                <a:cs typeface="+mn-cs"/>
              </a:endParaRPr>
            </a:p>
          </p:txBody>
        </p:sp>
        <p:sp>
          <p:nvSpPr>
            <p:cNvPr id="33806" name="Text Box 13"/>
            <p:cNvSpPr txBox="1">
              <a:spLocks noChangeArrowheads="1"/>
            </p:cNvSpPr>
            <p:nvPr/>
          </p:nvSpPr>
          <p:spPr bwMode="auto">
            <a:xfrm>
              <a:off x="2709166" y="4857931"/>
              <a:ext cx="947738" cy="355600"/>
            </a:xfrm>
            <a:prstGeom prst="rect">
              <a:avLst/>
            </a:prstGeom>
            <a:noFill/>
            <a:ln w="19050">
              <a:solidFill>
                <a:srgbClr val="B2B2B2"/>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srgbClr val="B2B2B2"/>
                  </a:solidFill>
                  <a:latin typeface="Arial" charset="0"/>
                  <a:ea typeface="+mn-ea"/>
                  <a:cs typeface="+mn-cs"/>
                </a:rPr>
                <a:t>Element</a:t>
              </a:r>
              <a:endParaRPr lang="en-GB" sz="1600">
                <a:solidFill>
                  <a:srgbClr val="B2B2B2"/>
                </a:solidFill>
                <a:latin typeface="Arial" charset="0"/>
                <a:ea typeface="+mn-ea"/>
                <a:cs typeface="+mn-cs"/>
              </a:endParaRPr>
            </a:p>
          </p:txBody>
        </p:sp>
        <p:sp>
          <p:nvSpPr>
            <p:cNvPr id="33811" name="Rectangle 18"/>
            <p:cNvSpPr>
              <a:spLocks noChangeArrowheads="1"/>
            </p:cNvSpPr>
            <p:nvPr/>
          </p:nvSpPr>
          <p:spPr bwMode="auto">
            <a:xfrm>
              <a:off x="2810766" y="4302306"/>
              <a:ext cx="2513013" cy="244475"/>
            </a:xfrm>
            <a:prstGeom prst="rect">
              <a:avLst/>
            </a:prstGeom>
            <a:noFill/>
            <a:ln w="9525">
              <a:noFill/>
              <a:miter lim="800000"/>
              <a:headEnd/>
              <a:tailEnd/>
            </a:ln>
          </p:spPr>
          <p:txBody>
            <a:bodyPr wrap="none">
              <a:prstTxWarp prst="textNoShape">
                <a:avLst/>
              </a:prstTxWarp>
              <a:spAutoFit/>
            </a:bodyPr>
            <a:lstStyle/>
            <a:p>
              <a:pPr defTabSz="457200" fontAlgn="auto">
                <a:spcBef>
                  <a:spcPts val="0"/>
                </a:spcBef>
                <a:spcAft>
                  <a:spcPts val="0"/>
                </a:spcAft>
              </a:pPr>
              <a:r>
                <a:rPr lang="en-US" sz="1000" dirty="0">
                  <a:solidFill>
                    <a:prstClr val="black"/>
                  </a:solidFill>
                  <a:latin typeface="Arial" charset="0"/>
                  <a:ea typeface="+mn-ea"/>
                  <a:cs typeface="+mn-cs"/>
                </a:rPr>
                <a:t>additional FV functionality for the Element</a:t>
              </a:r>
              <a:endParaRPr lang="en-GB" sz="1000" dirty="0">
                <a:solidFill>
                  <a:prstClr val="black"/>
                </a:solidFill>
                <a:latin typeface="Arial" charset="0"/>
                <a:ea typeface="+mn-ea"/>
                <a:cs typeface="+mn-cs"/>
              </a:endParaRPr>
            </a:p>
          </p:txBody>
        </p:sp>
        <p:cxnSp>
          <p:nvCxnSpPr>
            <p:cNvPr id="33817" name="AutoShape 24"/>
            <p:cNvCxnSpPr>
              <a:cxnSpLocks noChangeShapeType="1"/>
              <a:stCxn id="33806" idx="3"/>
              <a:endCxn id="33802" idx="1"/>
            </p:cNvCxnSpPr>
            <p:nvPr/>
          </p:nvCxnSpPr>
          <p:spPr bwMode="auto">
            <a:xfrm>
              <a:off x="3666429" y="5035731"/>
              <a:ext cx="360362" cy="1588"/>
            </a:xfrm>
            <a:prstGeom prst="straightConnector1">
              <a:avLst/>
            </a:prstGeom>
            <a:noFill/>
            <a:ln w="19050">
              <a:solidFill>
                <a:schemeClr val="tx1"/>
              </a:solidFill>
              <a:miter lim="800000"/>
              <a:headEnd/>
              <a:tailEnd/>
            </a:ln>
          </p:spPr>
        </p:cxnSp>
        <p:cxnSp>
          <p:nvCxnSpPr>
            <p:cNvPr id="33818" name="AutoShape 25"/>
            <p:cNvCxnSpPr>
              <a:cxnSpLocks noChangeShapeType="1"/>
              <a:stCxn id="33805" idx="1"/>
              <a:endCxn id="33806" idx="1"/>
            </p:cNvCxnSpPr>
            <p:nvPr/>
          </p:nvCxnSpPr>
          <p:spPr bwMode="auto">
            <a:xfrm rot="10800000" flipV="1">
              <a:off x="2699641" y="4153081"/>
              <a:ext cx="1338263" cy="882650"/>
            </a:xfrm>
            <a:prstGeom prst="bentConnector3">
              <a:avLst>
                <a:gd name="adj1" fmla="val 116370"/>
              </a:avLst>
            </a:prstGeom>
            <a:noFill/>
            <a:ln w="19050">
              <a:solidFill>
                <a:schemeClr val="tx1"/>
              </a:solidFill>
              <a:miter lim="800000"/>
              <a:headEnd/>
              <a:tailEnd/>
            </a:ln>
          </p:spPr>
        </p:cxnSp>
        <p:cxnSp>
          <p:nvCxnSpPr>
            <p:cNvPr id="33819" name="AutoShape 26"/>
            <p:cNvCxnSpPr>
              <a:cxnSpLocks noChangeShapeType="1"/>
              <a:stCxn id="33802" idx="3"/>
              <a:endCxn id="33803" idx="3"/>
            </p:cNvCxnSpPr>
            <p:nvPr/>
          </p:nvCxnSpPr>
          <p:spPr bwMode="auto">
            <a:xfrm flipH="1">
              <a:off x="5519041" y="5037319"/>
              <a:ext cx="520700" cy="547687"/>
            </a:xfrm>
            <a:prstGeom prst="bentConnector3">
              <a:avLst>
                <a:gd name="adj1" fmla="val -42074"/>
              </a:avLst>
            </a:prstGeom>
            <a:noFill/>
            <a:ln w="19050">
              <a:solidFill>
                <a:schemeClr val="tx1"/>
              </a:solidFill>
              <a:miter lim="800000"/>
              <a:headEnd/>
              <a:tailEnd/>
            </a:ln>
          </p:spPr>
        </p:cxnSp>
        <p:cxnSp>
          <p:nvCxnSpPr>
            <p:cNvPr id="33820" name="AutoShape 27"/>
            <p:cNvCxnSpPr>
              <a:cxnSpLocks noChangeShapeType="1"/>
              <a:stCxn id="33803" idx="2"/>
              <a:endCxn id="33804" idx="0"/>
            </p:cNvCxnSpPr>
            <p:nvPr/>
          </p:nvCxnSpPr>
          <p:spPr bwMode="auto">
            <a:xfrm rot="16200000" flipH="1">
              <a:off x="4158553" y="5726294"/>
              <a:ext cx="169863" cy="261938"/>
            </a:xfrm>
            <a:prstGeom prst="bentConnector3">
              <a:avLst>
                <a:gd name="adj1" fmla="val 49532"/>
              </a:avLst>
            </a:prstGeom>
            <a:noFill/>
            <a:ln w="19050">
              <a:solidFill>
                <a:schemeClr val="tx1"/>
              </a:solidFill>
              <a:miter lim="800000"/>
              <a:headEnd/>
              <a:tailEnd/>
            </a:ln>
          </p:spPr>
        </p:cxnSp>
      </p:grpSp>
      <p:sp>
        <p:nvSpPr>
          <p:cNvPr id="6" name="Rectangle 5"/>
          <p:cNvSpPr/>
          <p:nvPr/>
        </p:nvSpPr>
        <p:spPr>
          <a:xfrm>
            <a:off x="71814" y="1313988"/>
            <a:ext cx="9063840" cy="2677656"/>
          </a:xfrm>
          <a:prstGeom prst="rect">
            <a:avLst/>
          </a:prstGeom>
        </p:spPr>
        <p:txBody>
          <a:bodyPr wrap="square">
            <a:spAutoFit/>
          </a:bodyPr>
          <a:lstStyle/>
          <a:p>
            <a:r>
              <a:rPr lang="en-US" sz="1200" dirty="0">
                <a:latin typeface="Courier"/>
                <a:cs typeface="Courier"/>
              </a:rPr>
              <a:t>double   </a:t>
            </a:r>
            <a:r>
              <a:rPr lang="en-US" sz="1200" dirty="0" err="1">
                <a:latin typeface="Courier"/>
                <a:cs typeface="Courier"/>
              </a:rPr>
              <a:t>SectorVolume</a:t>
            </a:r>
            <a:r>
              <a:rPr lang="en-US" sz="1200" dirty="0">
                <a:latin typeface="Courier"/>
                <a:cs typeface="Courier"/>
              </a:rPr>
              <a:t>( uint32_t </a:t>
            </a:r>
            <a:r>
              <a:rPr lang="en-US" sz="1200" dirty="0" err="1">
                <a:latin typeface="Courier"/>
                <a:cs typeface="Courier"/>
              </a:rPr>
              <a:t>iSector</a:t>
            </a:r>
            <a:r>
              <a:rPr lang="en-US" sz="1200" dirty="0">
                <a:latin typeface="Courier"/>
                <a:cs typeface="Courier"/>
              </a:rPr>
              <a:t> ) </a:t>
            </a:r>
            <a:r>
              <a:rPr lang="en-US" sz="1200" dirty="0">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   </a:t>
            </a:r>
            <a:r>
              <a:rPr lang="en-US" sz="1200" dirty="0" err="1">
                <a:latin typeface="Courier"/>
                <a:cs typeface="Courier"/>
              </a:rPr>
              <a:t>FacetArea</a:t>
            </a:r>
            <a:r>
              <a:rPr lang="en-US" sz="1200" dirty="0">
                <a:latin typeface="Courier"/>
                <a:cs typeface="Courier"/>
              </a:rPr>
              <a:t>( uit32_t </a:t>
            </a:r>
            <a:r>
              <a:rPr lang="en-US" sz="1200" dirty="0" err="1">
                <a:latin typeface="Courier"/>
                <a:cs typeface="Courier"/>
              </a:rPr>
              <a:t>iFacet</a:t>
            </a:r>
            <a:r>
              <a:rPr lang="en-US" sz="1200" dirty="0">
                <a:latin typeface="Courier"/>
                <a:cs typeface="Courier"/>
              </a:rPr>
              <a:t> ) </a:t>
            </a:r>
            <a:r>
              <a:rPr lang="en-US" sz="1200" dirty="0">
                <a:solidFill>
                  <a:srgbClr val="0000FF"/>
                </a:solidFill>
                <a:latin typeface="Courier"/>
                <a:cs typeface="Courier"/>
              </a:rPr>
              <a:t>const</a:t>
            </a:r>
            <a:r>
              <a:rPr lang="en-US" sz="1200" dirty="0">
                <a:latin typeface="Courier"/>
                <a:cs typeface="Courier"/>
              </a:rPr>
              <a:t>; </a:t>
            </a:r>
          </a:p>
          <a:p>
            <a:r>
              <a:rPr lang="en-US" sz="1200" dirty="0">
                <a:latin typeface="Courier"/>
                <a:cs typeface="Courier"/>
              </a:rPr>
              <a:t>Point&lt;3U&gt;  </a:t>
            </a:r>
            <a:r>
              <a:rPr lang="en-US" sz="1200" dirty="0" err="1">
                <a:latin typeface="Courier"/>
                <a:cs typeface="Courier"/>
              </a:rPr>
              <a:t>FacetNormal</a:t>
            </a:r>
            <a:r>
              <a:rPr lang="en-US" sz="1200" dirty="0">
                <a:latin typeface="Courier"/>
                <a:cs typeface="Courier"/>
              </a:rPr>
              <a:t>( uint32_t </a:t>
            </a:r>
            <a:r>
              <a:rPr lang="en-US" sz="1200" dirty="0" err="1">
                <a:latin typeface="Courier"/>
                <a:cs typeface="Courier"/>
              </a:rPr>
              <a:t>iFacet</a:t>
            </a:r>
            <a:r>
              <a:rPr lang="en-US" sz="1200" dirty="0">
                <a:latin typeface="Courier"/>
                <a:cs typeface="Courier"/>
              </a:rPr>
              <a:t> ) </a:t>
            </a:r>
            <a:r>
              <a:rPr lang="en-US" sz="1200" dirty="0">
                <a:solidFill>
                  <a:srgbClr val="0000FF"/>
                </a:solidFill>
                <a:latin typeface="Courier"/>
                <a:cs typeface="Courier"/>
              </a:rPr>
              <a:t>const</a:t>
            </a:r>
            <a:r>
              <a:rPr lang="en-US" sz="1200" dirty="0">
                <a:latin typeface="Courier"/>
                <a:cs typeface="Courier"/>
              </a:rPr>
              <a:t>; </a:t>
            </a:r>
          </a:p>
          <a:p>
            <a:r>
              <a:rPr lang="en-US" sz="1200" dirty="0">
                <a:latin typeface="Courier"/>
                <a:cs typeface="Courier"/>
              </a:rPr>
              <a:t>double   </a:t>
            </a:r>
            <a:r>
              <a:rPr lang="en-US" sz="1200" dirty="0" err="1">
                <a:latin typeface="Courier"/>
                <a:cs typeface="Courier"/>
              </a:rPr>
              <a:t>FacetIntegral</a:t>
            </a:r>
            <a:r>
              <a:rPr lang="en-US" sz="1200" dirty="0">
                <a:latin typeface="Courier"/>
                <a:cs typeface="Courier"/>
              </a:rPr>
              <a:t>( uint32_t </a:t>
            </a:r>
            <a:r>
              <a:rPr lang="en-US" sz="1200" dirty="0" err="1">
                <a:latin typeface="Courier"/>
                <a:cs typeface="Courier"/>
              </a:rPr>
              <a:t>iFacet</a:t>
            </a:r>
            <a:r>
              <a:rPr lang="en-US" sz="1200" dirty="0">
                <a:latin typeface="Courier"/>
                <a:cs typeface="Courier"/>
              </a:rPr>
              <a:t>, </a:t>
            </a:r>
            <a:r>
              <a:rPr lang="en-US" sz="1200" dirty="0">
                <a:solidFill>
                  <a:srgbClr val="0000FF"/>
                </a:solidFill>
                <a:latin typeface="Courier"/>
                <a:cs typeface="Courier"/>
              </a:rPr>
              <a:t>const </a:t>
            </a:r>
            <a:r>
              <a:rPr lang="en-US" sz="1200" dirty="0">
                <a:latin typeface="Courier"/>
                <a:cs typeface="Courier"/>
              </a:rPr>
              <a:t>Index&amp; ) </a:t>
            </a:r>
            <a:r>
              <a:rPr lang="en-US" sz="1200" dirty="0">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   </a:t>
            </a:r>
            <a:r>
              <a:rPr lang="en-US" sz="1200" dirty="0" err="1">
                <a:latin typeface="Courier"/>
                <a:cs typeface="Courier"/>
              </a:rPr>
              <a:t>SectorIntegral</a:t>
            </a:r>
            <a:r>
              <a:rPr lang="en-US" sz="1200" dirty="0">
                <a:latin typeface="Courier"/>
                <a:cs typeface="Courier"/>
              </a:rPr>
              <a:t>( uint32_t </a:t>
            </a:r>
            <a:r>
              <a:rPr lang="en-US" sz="1200" dirty="0" err="1">
                <a:latin typeface="Courier"/>
                <a:cs typeface="Courier"/>
              </a:rPr>
              <a:t>iSector</a:t>
            </a:r>
            <a:r>
              <a:rPr lang="en-US" sz="1200" dirty="0">
                <a:latin typeface="Courier"/>
                <a:cs typeface="Courier"/>
              </a:rPr>
              <a:t>, </a:t>
            </a:r>
            <a:r>
              <a:rPr lang="en-US" sz="1200" dirty="0">
                <a:solidFill>
                  <a:srgbClr val="0000FF"/>
                </a:solidFill>
                <a:latin typeface="Courier"/>
                <a:cs typeface="Courier"/>
              </a:rPr>
              <a:t>const </a:t>
            </a:r>
            <a:r>
              <a:rPr lang="en-US" sz="1200" dirty="0">
                <a:latin typeface="Courier"/>
                <a:cs typeface="Courier"/>
              </a:rPr>
              <a:t>Index&amp; ) </a:t>
            </a:r>
            <a:r>
              <a:rPr lang="en-US" sz="1200" dirty="0">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   </a:t>
            </a:r>
            <a:r>
              <a:rPr lang="en-US" sz="1200" dirty="0" err="1">
                <a:latin typeface="Courier"/>
                <a:cs typeface="Courier"/>
              </a:rPr>
              <a:t>PropertyValueAtFacetIntegrationPoint</a:t>
            </a:r>
            <a:r>
              <a:rPr lang="en-US" sz="1200" dirty="0">
                <a:latin typeface="Courier"/>
                <a:cs typeface="Courier"/>
              </a:rPr>
              <a:t>( uint32_t </a:t>
            </a:r>
            <a:r>
              <a:rPr lang="en-US" sz="1200" dirty="0" err="1">
                <a:latin typeface="Courier"/>
                <a:cs typeface="Courier"/>
              </a:rPr>
              <a:t>iFacet</a:t>
            </a:r>
            <a:r>
              <a:rPr lang="en-US" sz="1200" dirty="0">
                <a:latin typeface="Courier"/>
                <a:cs typeface="Courier"/>
              </a:rPr>
              <a:t>, uint32_t, </a:t>
            </a:r>
            <a:r>
              <a:rPr lang="en-US" sz="1200" dirty="0">
                <a:solidFill>
                  <a:srgbClr val="0000FF"/>
                </a:solidFill>
                <a:latin typeface="Courier"/>
                <a:cs typeface="Courier"/>
              </a:rPr>
              <a:t>const </a:t>
            </a:r>
            <a:r>
              <a:rPr lang="en-US" sz="1200" dirty="0">
                <a:latin typeface="Courier"/>
                <a:cs typeface="Courier"/>
              </a:rPr>
              <a:t>Index&amp; ) </a:t>
            </a:r>
            <a:r>
              <a:rPr lang="en-US" sz="1200" dirty="0">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   </a:t>
            </a:r>
            <a:r>
              <a:rPr lang="en-US" sz="1200" dirty="0" err="1">
                <a:latin typeface="Courier"/>
                <a:cs typeface="Courier"/>
              </a:rPr>
              <a:t>PropertyValueAtSectorIntegrationPoint</a:t>
            </a:r>
            <a:r>
              <a:rPr lang="en-US" sz="1200" dirty="0">
                <a:latin typeface="Courier"/>
                <a:cs typeface="Courier"/>
              </a:rPr>
              <a:t>( uint32_t </a:t>
            </a:r>
            <a:r>
              <a:rPr lang="en-US" sz="1200" dirty="0" err="1">
                <a:latin typeface="Courier"/>
                <a:cs typeface="Courier"/>
              </a:rPr>
              <a:t>iSector</a:t>
            </a:r>
            <a:r>
              <a:rPr lang="en-US" sz="1200" dirty="0">
                <a:latin typeface="Courier"/>
                <a:cs typeface="Courier"/>
              </a:rPr>
              <a:t>, uint32_t, </a:t>
            </a:r>
            <a:r>
              <a:rPr lang="en-US" sz="1200" dirty="0">
                <a:solidFill>
                  <a:srgbClr val="0000FF"/>
                </a:solidFill>
                <a:latin typeface="Courier"/>
                <a:cs typeface="Courier"/>
              </a:rPr>
              <a:t>const </a:t>
            </a:r>
            <a:r>
              <a:rPr lang="en-US" sz="1200" dirty="0">
                <a:latin typeface="Courier"/>
                <a:cs typeface="Courier"/>
              </a:rPr>
              <a:t>Index&amp; ) </a:t>
            </a:r>
            <a:r>
              <a:rPr lang="en-US" sz="1200" dirty="0">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   </a:t>
            </a:r>
            <a:r>
              <a:rPr lang="en-US" sz="1200" dirty="0" err="1">
                <a:latin typeface="Courier"/>
                <a:cs typeface="Courier"/>
              </a:rPr>
              <a:t>ProjectionOnFacetNormal</a:t>
            </a:r>
            <a:r>
              <a:rPr lang="en-US" sz="1200" dirty="0">
                <a:latin typeface="Courier"/>
                <a:cs typeface="Courier"/>
              </a:rPr>
              <a:t>( uint32_t </a:t>
            </a:r>
            <a:r>
              <a:rPr lang="en-US" sz="1200" dirty="0" err="1">
                <a:latin typeface="Courier"/>
                <a:cs typeface="Courier"/>
              </a:rPr>
              <a:t>iFacet</a:t>
            </a:r>
            <a:r>
              <a:rPr lang="en-US" sz="1200" dirty="0">
                <a:latin typeface="Courier"/>
                <a:cs typeface="Courier"/>
              </a:rPr>
              <a:t>, </a:t>
            </a:r>
            <a:r>
              <a:rPr lang="en-US" sz="1200" dirty="0">
                <a:solidFill>
                  <a:srgbClr val="0000FF"/>
                </a:solidFill>
                <a:latin typeface="Courier"/>
                <a:cs typeface="Courier"/>
              </a:rPr>
              <a:t>const </a:t>
            </a:r>
            <a:r>
              <a:rPr lang="en-US" sz="1200" dirty="0" err="1">
                <a:latin typeface="Courier"/>
                <a:cs typeface="Courier"/>
              </a:rPr>
              <a:t>VectorVariable</a:t>
            </a:r>
            <a:r>
              <a:rPr lang="en-US" sz="1200" dirty="0">
                <a:latin typeface="Courier"/>
                <a:cs typeface="Courier"/>
              </a:rPr>
              <a:t>&lt;3U&gt;&amp; ) </a:t>
            </a:r>
            <a:r>
              <a:rPr lang="en-US" sz="1200" dirty="0">
                <a:solidFill>
                  <a:srgbClr val="0000FF"/>
                </a:solidFill>
                <a:latin typeface="Courier"/>
                <a:cs typeface="Courier"/>
              </a:rPr>
              <a:t>const</a:t>
            </a:r>
            <a:r>
              <a:rPr lang="en-US" sz="1200" dirty="0">
                <a:latin typeface="Courier"/>
                <a:cs typeface="Courier"/>
              </a:rPr>
              <a:t>;</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N_AtFacetIntegrationPoint</a:t>
            </a:r>
            <a:r>
              <a:rPr lang="en-US" sz="1200" dirty="0">
                <a:latin typeface="Courier"/>
                <a:cs typeface="Courier"/>
              </a:rPr>
              <a:t>( uint32_t </a:t>
            </a:r>
            <a:r>
              <a:rPr lang="en-US" sz="1200" dirty="0" err="1">
                <a:latin typeface="Courier"/>
                <a:cs typeface="Courier"/>
              </a:rPr>
              <a:t>iFacet</a:t>
            </a:r>
            <a:r>
              <a:rPr lang="en-US" sz="1200" dirty="0">
                <a:latin typeface="Courier"/>
                <a:cs typeface="Courier"/>
              </a:rPr>
              <a:t>, uint32_t </a:t>
            </a:r>
            <a:r>
              <a:rPr lang="en-US" sz="1200" dirty="0" err="1">
                <a:latin typeface="Courier"/>
                <a:cs typeface="Courier"/>
              </a:rPr>
              <a:t>ip</a:t>
            </a:r>
            <a:r>
              <a:rPr lang="en-US" sz="1200" dirty="0">
                <a:latin typeface="Courier"/>
                <a:cs typeface="Courier"/>
              </a:rPr>
              <a:t> ) </a:t>
            </a:r>
            <a:r>
              <a:rPr lang="en-US" sz="1200" dirty="0">
                <a:solidFill>
                  <a:srgbClr val="0000FF"/>
                </a:solidFill>
                <a:latin typeface="Courier"/>
                <a:cs typeface="Courier"/>
              </a:rPr>
              <a:t>const</a:t>
            </a:r>
            <a:r>
              <a:rPr lang="en-US" sz="1200" dirty="0">
                <a:latin typeface="Courier"/>
                <a:cs typeface="Courier"/>
              </a:rPr>
              <a:t>;   </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N_AtSectorIntegrationPoint</a:t>
            </a:r>
            <a:r>
              <a:rPr lang="en-US" sz="1200" dirty="0">
                <a:latin typeface="Courier"/>
                <a:cs typeface="Courier"/>
              </a:rPr>
              <a:t>( uint32_t </a:t>
            </a:r>
            <a:r>
              <a:rPr lang="en-US" sz="1200" dirty="0" err="1">
                <a:latin typeface="Courier"/>
                <a:cs typeface="Courier"/>
              </a:rPr>
              <a:t>iSector</a:t>
            </a:r>
            <a:r>
              <a:rPr lang="en-US" sz="1200" dirty="0">
                <a:latin typeface="Courier"/>
                <a:cs typeface="Courier"/>
              </a:rPr>
              <a:t>, uint32_t </a:t>
            </a:r>
            <a:r>
              <a:rPr lang="en-US" sz="1200" dirty="0" err="1">
                <a:latin typeface="Courier"/>
                <a:cs typeface="Courier"/>
              </a:rPr>
              <a:t>ip</a:t>
            </a:r>
            <a:r>
              <a:rPr lang="en-US" sz="1200" dirty="0">
                <a:latin typeface="Courier"/>
                <a:cs typeface="Courier"/>
              </a:rPr>
              <a:t> ) </a:t>
            </a:r>
            <a:r>
              <a:rPr lang="en-US" sz="1200" dirty="0">
                <a:solidFill>
                  <a:srgbClr val="0000FF"/>
                </a:solidFill>
                <a:latin typeface="Courier"/>
                <a:cs typeface="Courier"/>
              </a:rPr>
              <a:t>const</a:t>
            </a:r>
            <a:r>
              <a:rPr lang="en-US" sz="1200" dirty="0">
                <a:latin typeface="Courier"/>
                <a:cs typeface="Courier"/>
              </a:rPr>
              <a:t>; </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a:t>
            </a:r>
            <a:r>
              <a:rPr lang="en-US" sz="1200" dirty="0">
                <a:latin typeface="Courier"/>
                <a:cs typeface="Courier"/>
              </a:rPr>
              <a:t>( const Point&lt;3U&gt;&amp; </a:t>
            </a:r>
            <a:r>
              <a:rPr lang="en-US" sz="1200" dirty="0" err="1">
                <a:latin typeface="Courier"/>
                <a:cs typeface="Courier"/>
              </a:rPr>
              <a:t>rst</a:t>
            </a:r>
            <a:r>
              <a:rPr lang="en-US" sz="1200" dirty="0">
                <a:latin typeface="Courier"/>
                <a:cs typeface="Courier"/>
              </a:rPr>
              <a:t> ) </a:t>
            </a:r>
            <a:r>
              <a:rPr lang="en-US" sz="1200" dirty="0">
                <a:solidFill>
                  <a:srgbClr val="0000FF"/>
                </a:solidFill>
                <a:latin typeface="Courier"/>
                <a:cs typeface="Courier"/>
              </a:rPr>
              <a:t>const</a:t>
            </a:r>
            <a:r>
              <a:rPr lang="en-US" sz="1200" dirty="0">
                <a:latin typeface="Courier"/>
                <a:cs typeface="Courier"/>
              </a:rPr>
              <a:t>;</a:t>
            </a:r>
          </a:p>
          <a:p>
            <a:r>
              <a:rPr lang="en-US" sz="1200" dirty="0">
                <a:latin typeface="Courier"/>
                <a:cs typeface="Courier"/>
              </a:rPr>
              <a:t>Point&lt;3U&gt;  </a:t>
            </a:r>
            <a:r>
              <a:rPr lang="en-US" sz="1200" dirty="0" err="1">
                <a:latin typeface="Courier"/>
                <a:cs typeface="Courier"/>
              </a:rPr>
              <a:t>RstToXYZ</a:t>
            </a:r>
            <a:r>
              <a:rPr lang="en-US" sz="1200" dirty="0">
                <a:latin typeface="Courier"/>
                <a:cs typeface="Courier"/>
              </a:rPr>
              <a:t>( </a:t>
            </a:r>
            <a:r>
              <a:rPr lang="en-US" sz="1200" dirty="0" err="1">
                <a:latin typeface="Courier"/>
                <a:cs typeface="Courier"/>
              </a:rPr>
              <a:t>const</a:t>
            </a:r>
            <a:r>
              <a:rPr lang="en-US" sz="1200" dirty="0">
                <a:latin typeface="Courier"/>
                <a:cs typeface="Courier"/>
              </a:rPr>
              <a:t> Point&lt;3U&gt;&amp; </a:t>
            </a:r>
            <a:r>
              <a:rPr lang="en-US" sz="1200" dirty="0" err="1">
                <a:latin typeface="Courier"/>
                <a:cs typeface="Courier"/>
              </a:rPr>
              <a:t>rst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etc.</a:t>
            </a:r>
          </a:p>
        </p:txBody>
      </p:sp>
      <p:sp>
        <p:nvSpPr>
          <p:cNvPr id="8" name="TextBox 7"/>
          <p:cNvSpPr txBox="1"/>
          <p:nvPr/>
        </p:nvSpPr>
        <p:spPr>
          <a:xfrm>
            <a:off x="6454283" y="3577402"/>
            <a:ext cx="2494983" cy="1077218"/>
          </a:xfrm>
          <a:prstGeom prst="rect">
            <a:avLst/>
          </a:prstGeom>
          <a:noFill/>
        </p:spPr>
        <p:txBody>
          <a:bodyPr wrap="square" rtlCol="0">
            <a:spAutoFit/>
          </a:bodyPr>
          <a:lstStyle/>
          <a:p>
            <a:r>
              <a:rPr lang="en-US" sz="1600" i="1" dirty="0">
                <a:latin typeface="Arial"/>
                <a:cs typeface="Arial"/>
              </a:rPr>
              <a:t>To learn how these computations are done, look at </a:t>
            </a:r>
            <a:r>
              <a:rPr lang="en-US" sz="1600" i="1" dirty="0" err="1">
                <a:latin typeface="Arial"/>
                <a:cs typeface="Arial"/>
              </a:rPr>
              <a:t>Paluszny</a:t>
            </a:r>
            <a:r>
              <a:rPr lang="en-US" sz="1600" i="1" dirty="0">
                <a:latin typeface="Arial"/>
                <a:cs typeface="Arial"/>
              </a:rPr>
              <a:t> et al. (2007, </a:t>
            </a:r>
            <a:r>
              <a:rPr lang="en-US" sz="1600" i="1" dirty="0" err="1">
                <a:latin typeface="Arial"/>
                <a:cs typeface="Arial"/>
              </a:rPr>
              <a:t>Geofluids</a:t>
            </a:r>
            <a:r>
              <a:rPr lang="en-US" sz="1600" i="1" dirty="0">
                <a:latin typeface="Arial"/>
                <a:cs typeface="Arial"/>
              </a:rPr>
              <a:t>)</a:t>
            </a:r>
          </a:p>
        </p:txBody>
      </p:sp>
      <p:sp>
        <p:nvSpPr>
          <p:cNvPr id="39"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5/2/24</a:t>
            </a:fld>
            <a:endParaRPr lang="en-US" dirty="0">
              <a:solidFill>
                <a:prstClr val="white">
                  <a:lumMod val="65000"/>
                </a:prstClr>
              </a:solidFill>
              <a:ea typeface="+mn-ea"/>
            </a:endParaRPr>
          </a:p>
        </p:txBody>
      </p:sp>
      <p:sp>
        <p:nvSpPr>
          <p:cNvPr id="40"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41"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53</a:t>
            </a:fld>
            <a:endParaRPr lang="en-US" dirty="0">
              <a:solidFill>
                <a:prstClr val="white">
                  <a:lumMod val="65000"/>
                </a:prstClr>
              </a:solidFill>
              <a:ea typeface="+mn-ea"/>
            </a:endParaRPr>
          </a:p>
        </p:txBody>
      </p:sp>
      <p:sp>
        <p:nvSpPr>
          <p:cNvPr id="9" name="TextBox 8"/>
          <p:cNvSpPr txBox="1"/>
          <p:nvPr/>
        </p:nvSpPr>
        <p:spPr>
          <a:xfrm>
            <a:off x="808204" y="4810943"/>
            <a:ext cx="1472083" cy="1200329"/>
          </a:xfrm>
          <a:prstGeom prst="rect">
            <a:avLst/>
          </a:prstGeom>
          <a:noFill/>
        </p:spPr>
        <p:txBody>
          <a:bodyPr wrap="square" rtlCol="0">
            <a:spAutoFit/>
          </a:bodyPr>
          <a:lstStyle/>
          <a:p>
            <a:r>
              <a:rPr lang="en-US" i="1" dirty="0">
                <a:latin typeface="Arial"/>
                <a:cs typeface="Arial"/>
              </a:rPr>
              <a:t>Framework provided through Model</a:t>
            </a:r>
          </a:p>
        </p:txBody>
      </p:sp>
      <p:sp>
        <p:nvSpPr>
          <p:cNvPr id="43" name="TextBox 42"/>
          <p:cNvSpPr txBox="1"/>
          <p:nvPr/>
        </p:nvSpPr>
        <p:spPr>
          <a:xfrm>
            <a:off x="6117710" y="6002507"/>
            <a:ext cx="1472083" cy="523220"/>
          </a:xfrm>
          <a:prstGeom prst="rect">
            <a:avLst/>
          </a:prstGeom>
          <a:noFill/>
        </p:spPr>
        <p:txBody>
          <a:bodyPr wrap="square" rtlCol="0">
            <a:spAutoFit/>
          </a:bodyPr>
          <a:lstStyle/>
          <a:p>
            <a:r>
              <a:rPr lang="en-US" sz="1400" i="1" dirty="0">
                <a:latin typeface="Arial"/>
                <a:cs typeface="Arial"/>
              </a:rPr>
              <a:t>data container for </a:t>
            </a:r>
            <a:r>
              <a:rPr lang="en-US" sz="1400" i="1" dirty="0" err="1">
                <a:latin typeface="Arial"/>
                <a:cs typeface="Arial"/>
              </a:rPr>
              <a:t>initialisation</a:t>
            </a:r>
            <a:endParaRPr lang="en-US" sz="1400" i="1" dirty="0">
              <a:latin typeface="Arial"/>
              <a:cs typeface="Arial"/>
            </a:endParaRPr>
          </a:p>
        </p:txBody>
      </p:sp>
      <p:sp>
        <p:nvSpPr>
          <p:cNvPr id="44" name="TextBox 43"/>
          <p:cNvSpPr txBox="1"/>
          <p:nvPr/>
        </p:nvSpPr>
        <p:spPr>
          <a:xfrm>
            <a:off x="6366633" y="5520487"/>
            <a:ext cx="1864198" cy="523220"/>
          </a:xfrm>
          <a:prstGeom prst="rect">
            <a:avLst/>
          </a:prstGeom>
          <a:noFill/>
        </p:spPr>
        <p:txBody>
          <a:bodyPr wrap="square" rtlCol="0">
            <a:spAutoFit/>
          </a:bodyPr>
          <a:lstStyle/>
          <a:p>
            <a:r>
              <a:rPr lang="en-US" sz="1400" i="1" dirty="0">
                <a:latin typeface="Arial"/>
                <a:cs typeface="Arial"/>
              </a:rPr>
              <a:t>Container of available stencils</a:t>
            </a:r>
          </a:p>
        </p:txBody>
      </p:sp>
      <p:sp>
        <p:nvSpPr>
          <p:cNvPr id="45" name="TextBox 44"/>
          <p:cNvSpPr txBox="1"/>
          <p:nvPr/>
        </p:nvSpPr>
        <p:spPr>
          <a:xfrm>
            <a:off x="6369419" y="4930176"/>
            <a:ext cx="1864198" cy="523220"/>
          </a:xfrm>
          <a:prstGeom prst="rect">
            <a:avLst/>
          </a:prstGeom>
          <a:noFill/>
        </p:spPr>
        <p:txBody>
          <a:bodyPr wrap="square" rtlCol="0">
            <a:spAutoFit/>
          </a:bodyPr>
          <a:lstStyle/>
          <a:p>
            <a:r>
              <a:rPr lang="en-US" sz="1400" i="1" dirty="0">
                <a:latin typeface="Arial"/>
                <a:cs typeface="Arial"/>
              </a:rPr>
              <a:t>FV in parametric space representation</a:t>
            </a:r>
          </a:p>
        </p:txBody>
      </p:sp>
      <p:sp>
        <p:nvSpPr>
          <p:cNvPr id="46" name="TextBox 45"/>
          <p:cNvSpPr txBox="1"/>
          <p:nvPr/>
        </p:nvSpPr>
        <p:spPr>
          <a:xfrm>
            <a:off x="2815823" y="3822466"/>
            <a:ext cx="3603450" cy="307777"/>
          </a:xfrm>
          <a:prstGeom prst="rect">
            <a:avLst/>
          </a:prstGeom>
          <a:noFill/>
        </p:spPr>
        <p:txBody>
          <a:bodyPr wrap="square" rtlCol="0">
            <a:spAutoFit/>
          </a:bodyPr>
          <a:lstStyle/>
          <a:p>
            <a:r>
              <a:rPr lang="en-US" sz="1400" i="1" dirty="0">
                <a:latin typeface="Arial"/>
                <a:cs typeface="Arial"/>
              </a:rPr>
              <a:t>FV interface of element, face or interface</a:t>
            </a:r>
          </a:p>
        </p:txBody>
      </p:sp>
      <p:sp>
        <p:nvSpPr>
          <p:cNvPr id="47" name="TextBox 46"/>
          <p:cNvSpPr txBox="1"/>
          <p:nvPr/>
        </p:nvSpPr>
        <p:spPr>
          <a:xfrm>
            <a:off x="120270" y="3820914"/>
            <a:ext cx="3603450" cy="307777"/>
          </a:xfrm>
          <a:prstGeom prst="rect">
            <a:avLst/>
          </a:prstGeom>
          <a:noFill/>
        </p:spPr>
        <p:txBody>
          <a:bodyPr wrap="square" rtlCol="0">
            <a:spAutoFit/>
          </a:bodyPr>
          <a:lstStyle/>
          <a:p>
            <a:r>
              <a:rPr lang="en-US" sz="1400" dirty="0" err="1">
                <a:latin typeface="Arial"/>
                <a:cs typeface="Arial"/>
              </a:rPr>
              <a:t>finiteVolumeAuxiliaryFunctions</a:t>
            </a:r>
            <a:r>
              <a:rPr lang="en-US" sz="1400" dirty="0">
                <a:latin typeface="Arial"/>
                <a:cs typeface="Arial"/>
              </a:rPr>
              <a:t>  +</a:t>
            </a:r>
          </a:p>
        </p:txBody>
      </p:sp>
    </p:spTree>
    <p:extLst>
      <p:ext uri="{BB962C8B-B14F-4D97-AF65-F5344CB8AC3E}">
        <p14:creationId xmlns:p14="http://schemas.microsoft.com/office/powerpoint/2010/main" val="20409062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5086"/>
            <a:ext cx="8229600" cy="914400"/>
          </a:xfrm>
        </p:spPr>
        <p:txBody>
          <a:bodyPr>
            <a:normAutofit fontScale="90000"/>
          </a:bodyPr>
          <a:lstStyle/>
          <a:p>
            <a:r>
              <a:rPr lang="en-US" dirty="0"/>
              <a:t>(Legacy) </a:t>
            </a:r>
            <a:r>
              <a:rPr lang="en-US" dirty="0" err="1"/>
              <a:t>NodeCenteredFiniteVolumeTransport</a:t>
            </a:r>
            <a:endParaRPr lang="en-US" dirty="0"/>
          </a:p>
        </p:txBody>
      </p:sp>
      <p:sp>
        <p:nvSpPr>
          <p:cNvPr id="3" name="Content Placeholder 2"/>
          <p:cNvSpPr>
            <a:spLocks noGrp="1"/>
          </p:cNvSpPr>
          <p:nvPr>
            <p:ph idx="1"/>
          </p:nvPr>
        </p:nvSpPr>
        <p:spPr>
          <a:xfrm>
            <a:off x="461830" y="1039485"/>
            <a:ext cx="8197504" cy="4549755"/>
          </a:xfrm>
        </p:spPr>
        <p:txBody>
          <a:bodyPr>
            <a:normAutofit/>
          </a:bodyPr>
          <a:lstStyle/>
          <a:p>
            <a:r>
              <a:rPr lang="en-US" dirty="0"/>
              <a:t>In collaboration with </a:t>
            </a:r>
            <a:r>
              <a:rPr lang="en-US" b="1" dirty="0" err="1"/>
              <a:t>NodeCenteredFiniteVolumeAlgorithm</a:t>
            </a:r>
            <a:r>
              <a:rPr lang="en-US" dirty="0"/>
              <a:t>, </a:t>
            </a:r>
            <a:r>
              <a:rPr lang="en-US" b="1" dirty="0" err="1"/>
              <a:t>StencilProcessor</a:t>
            </a:r>
            <a:r>
              <a:rPr lang="en-US" dirty="0"/>
              <a:t>, and </a:t>
            </a:r>
            <a:r>
              <a:rPr lang="en-US" b="1" dirty="0" err="1"/>
              <a:t>finiteVolumeAuxiliaryFunctions</a:t>
            </a:r>
            <a:r>
              <a:rPr lang="en-US" dirty="0"/>
              <a:t> (limiters etc.) calculations are done.</a:t>
            </a:r>
          </a:p>
          <a:p>
            <a:r>
              <a:rPr lang="en-US" dirty="0"/>
              <a:t>Base class NCFVT implements different schemes for single phase transport and CFL calculation.</a:t>
            </a:r>
          </a:p>
          <a:p>
            <a:r>
              <a:rPr lang="en-US" dirty="0"/>
              <a:t>Subclasses implement implicit and explicit transport schemes for slightly compressible two-phase flow</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5/2/24</a:t>
            </a:fld>
            <a:endParaRPr lang="en-US" dirty="0">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54</a:t>
            </a:fld>
            <a:endParaRPr lang="en-US">
              <a:solidFill>
                <a:prstClr val="white">
                  <a:lumMod val="65000"/>
                </a:prstClr>
              </a:solidFill>
            </a:endParaRPr>
          </a:p>
        </p:txBody>
      </p:sp>
      <p:sp>
        <p:nvSpPr>
          <p:cNvPr id="7" name="Text Box 12"/>
          <p:cNvSpPr txBox="1">
            <a:spLocks noChangeArrowheads="1"/>
          </p:cNvSpPr>
          <p:nvPr/>
        </p:nvSpPr>
        <p:spPr bwMode="auto">
          <a:xfrm>
            <a:off x="899592" y="3958317"/>
            <a:ext cx="3575819" cy="338554"/>
          </a:xfrm>
          <a:prstGeom prst="rect">
            <a:avLst/>
          </a:prstGeom>
          <a:noFill/>
          <a:ln w="19050">
            <a:solidFill>
              <a:schemeClr val="tx1"/>
            </a:solidFill>
            <a:miter lim="800000"/>
            <a:headEnd/>
            <a:tailEnd/>
          </a:ln>
        </p:spPr>
        <p:txBody>
          <a:bodyPr wrap="none">
            <a:prstTxWarp prst="textNoShape">
              <a:avLst/>
            </a:prstTxWarp>
            <a:spAutoFit/>
          </a:bodyPr>
          <a:lstStyle/>
          <a:p>
            <a:r>
              <a:rPr lang="en-US" sz="1600" dirty="0" err="1">
                <a:latin typeface="Arial" charset="0"/>
              </a:rPr>
              <a:t>NodeCenteredFiniteVolumeTransport</a:t>
            </a:r>
            <a:endParaRPr lang="en-GB" sz="1600" dirty="0">
              <a:latin typeface="Arial" charset="0"/>
            </a:endParaRPr>
          </a:p>
        </p:txBody>
      </p:sp>
      <p:sp>
        <p:nvSpPr>
          <p:cNvPr id="8" name="Text Box 12"/>
          <p:cNvSpPr txBox="1">
            <a:spLocks noChangeArrowheads="1"/>
          </p:cNvSpPr>
          <p:nvPr/>
        </p:nvSpPr>
        <p:spPr bwMode="auto">
          <a:xfrm>
            <a:off x="4932040" y="3958317"/>
            <a:ext cx="3572012" cy="338554"/>
          </a:xfrm>
          <a:prstGeom prst="rect">
            <a:avLst/>
          </a:prstGeom>
          <a:noFill/>
          <a:ln w="19050">
            <a:solidFill>
              <a:schemeClr val="tx1"/>
            </a:solidFill>
            <a:miter lim="800000"/>
            <a:headEnd/>
            <a:tailEnd/>
          </a:ln>
        </p:spPr>
        <p:txBody>
          <a:bodyPr wrap="none">
            <a:prstTxWarp prst="textNoShape">
              <a:avLst/>
            </a:prstTxWarp>
            <a:spAutoFit/>
          </a:bodyPr>
          <a:lstStyle/>
          <a:p>
            <a:r>
              <a:rPr lang="en-US" sz="1600" dirty="0" err="1">
                <a:latin typeface="Arial" charset="0"/>
              </a:rPr>
              <a:t>NodeCenteredFiniteVolumeAlgorithm</a:t>
            </a:r>
            <a:endParaRPr lang="en-GB" sz="1600" dirty="0">
              <a:latin typeface="Arial" charset="0"/>
            </a:endParaRPr>
          </a:p>
        </p:txBody>
      </p:sp>
      <p:sp>
        <p:nvSpPr>
          <p:cNvPr id="12" name="Text Box 12"/>
          <p:cNvSpPr txBox="1">
            <a:spLocks noChangeArrowheads="1"/>
          </p:cNvSpPr>
          <p:nvPr/>
        </p:nvSpPr>
        <p:spPr bwMode="auto">
          <a:xfrm>
            <a:off x="3331743" y="5985044"/>
            <a:ext cx="5172309" cy="338554"/>
          </a:xfrm>
          <a:prstGeom prst="rect">
            <a:avLst/>
          </a:prstGeom>
          <a:noFill/>
          <a:ln w="19050">
            <a:solidFill>
              <a:schemeClr val="tx1"/>
            </a:solidFill>
            <a:miter lim="800000"/>
            <a:headEnd/>
            <a:tailEnd/>
          </a:ln>
        </p:spPr>
        <p:txBody>
          <a:bodyPr wrap="none">
            <a:prstTxWarp prst="textNoShape">
              <a:avLst/>
            </a:prstTxWarp>
            <a:spAutoFit/>
          </a:bodyPr>
          <a:lstStyle/>
          <a:p>
            <a:r>
              <a:rPr lang="en-US" sz="1600" dirty="0" err="1">
                <a:latin typeface="Arial" charset="0"/>
              </a:rPr>
              <a:t>TwoPhaseImplicitNodeCenteredFiniteVolumeTransport</a:t>
            </a:r>
            <a:endParaRPr lang="en-GB" sz="1600" dirty="0">
              <a:latin typeface="Arial" charset="0"/>
            </a:endParaRPr>
          </a:p>
        </p:txBody>
      </p:sp>
      <p:cxnSp>
        <p:nvCxnSpPr>
          <p:cNvPr id="14" name="Elbow Connector 13"/>
          <p:cNvCxnSpPr>
            <a:stCxn id="10" idx="0"/>
            <a:endCxn id="7" idx="2"/>
          </p:cNvCxnSpPr>
          <p:nvPr/>
        </p:nvCxnSpPr>
        <p:spPr>
          <a:xfrm rot="5400000" flipH="1" flipV="1">
            <a:off x="2238878" y="4420537"/>
            <a:ext cx="572289" cy="324959"/>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Elbow Connector 17"/>
          <p:cNvCxnSpPr>
            <a:stCxn id="11" idx="0"/>
            <a:endCxn id="7" idx="2"/>
          </p:cNvCxnSpPr>
          <p:nvPr/>
        </p:nvCxnSpPr>
        <p:spPr>
          <a:xfrm rot="16200000" flipV="1">
            <a:off x="2483923" y="4500450"/>
            <a:ext cx="1123092" cy="715933"/>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Elbow Connector 19"/>
          <p:cNvCxnSpPr>
            <a:stCxn id="12" idx="0"/>
            <a:endCxn id="7" idx="1"/>
          </p:cNvCxnSpPr>
          <p:nvPr/>
        </p:nvCxnSpPr>
        <p:spPr>
          <a:xfrm rot="16200000" flipV="1">
            <a:off x="2480020" y="2547166"/>
            <a:ext cx="1857450" cy="5018306"/>
          </a:xfrm>
          <a:prstGeom prst="bentConnector4">
            <a:avLst>
              <a:gd name="adj1" fmla="val 45443"/>
              <a:gd name="adj2" fmla="val 104555"/>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 Box 12"/>
          <p:cNvSpPr txBox="1">
            <a:spLocks noChangeArrowheads="1"/>
          </p:cNvSpPr>
          <p:nvPr/>
        </p:nvSpPr>
        <p:spPr bwMode="auto">
          <a:xfrm>
            <a:off x="249675" y="4869160"/>
            <a:ext cx="4225736" cy="338554"/>
          </a:xfrm>
          <a:prstGeom prst="rect">
            <a:avLst/>
          </a:prstGeom>
          <a:solidFill>
            <a:schemeClr val="bg1"/>
          </a:solidFill>
          <a:ln w="19050">
            <a:solidFill>
              <a:schemeClr val="tx1"/>
            </a:solidFill>
            <a:miter lim="800000"/>
            <a:headEnd/>
            <a:tailEnd/>
          </a:ln>
        </p:spPr>
        <p:txBody>
          <a:bodyPr wrap="none">
            <a:prstTxWarp prst="textNoShape">
              <a:avLst/>
            </a:prstTxWarp>
            <a:spAutoFit/>
          </a:bodyPr>
          <a:lstStyle/>
          <a:p>
            <a:r>
              <a:rPr lang="en-US" sz="1600" dirty="0" err="1">
                <a:latin typeface="Arial" charset="0"/>
              </a:rPr>
              <a:t>ExplicitNodeCenteredFiniteVolumeTransport</a:t>
            </a:r>
            <a:endParaRPr lang="en-GB" sz="1600" dirty="0">
              <a:latin typeface="Arial" charset="0"/>
            </a:endParaRPr>
          </a:p>
        </p:txBody>
      </p:sp>
      <p:sp>
        <p:nvSpPr>
          <p:cNvPr id="11" name="Text Box 12"/>
          <p:cNvSpPr txBox="1">
            <a:spLocks noChangeArrowheads="1"/>
          </p:cNvSpPr>
          <p:nvPr/>
        </p:nvSpPr>
        <p:spPr bwMode="auto">
          <a:xfrm>
            <a:off x="811519" y="5419963"/>
            <a:ext cx="5183831" cy="338554"/>
          </a:xfrm>
          <a:prstGeom prst="rect">
            <a:avLst/>
          </a:prstGeom>
          <a:solidFill>
            <a:schemeClr val="bg1"/>
          </a:solidFill>
          <a:ln w="19050">
            <a:solidFill>
              <a:schemeClr val="tx1"/>
            </a:solidFill>
            <a:miter lim="800000"/>
            <a:headEnd/>
            <a:tailEnd/>
          </a:ln>
        </p:spPr>
        <p:txBody>
          <a:bodyPr wrap="none">
            <a:prstTxWarp prst="textNoShape">
              <a:avLst/>
            </a:prstTxWarp>
            <a:spAutoFit/>
          </a:bodyPr>
          <a:lstStyle/>
          <a:p>
            <a:r>
              <a:rPr lang="en-US" sz="1600" dirty="0" err="1">
                <a:latin typeface="Arial" charset="0"/>
              </a:rPr>
              <a:t>TwoPhaseExplicitNodeCenteredFiniteVolumeTransport</a:t>
            </a:r>
            <a:endParaRPr lang="en-GB" sz="1600" dirty="0">
              <a:latin typeface="Arial" charset="0"/>
            </a:endParaRPr>
          </a:p>
        </p:txBody>
      </p:sp>
      <p:cxnSp>
        <p:nvCxnSpPr>
          <p:cNvPr id="22" name="Straight Connector 21"/>
          <p:cNvCxnSpPr>
            <a:stCxn id="8" idx="1"/>
            <a:endCxn id="7" idx="3"/>
          </p:cNvCxnSpPr>
          <p:nvPr/>
        </p:nvCxnSpPr>
        <p:spPr>
          <a:xfrm flipH="1">
            <a:off x="4475411" y="4127594"/>
            <a:ext cx="45662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48577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2"/>
          <p:cNvSpPr>
            <a:spLocks noGrp="1"/>
          </p:cNvSpPr>
          <p:nvPr>
            <p:ph type="sldNum" sz="quarter" idx="12"/>
          </p:nvPr>
        </p:nvSpPr>
        <p:spPr>
          <a:xfrm>
            <a:off x="5354067" y="6548438"/>
            <a:ext cx="3754437" cy="309562"/>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1A7F17D9-629B-CC4B-A810-FAC757F24DDB}" type="slidenum">
              <a:rPr lang="en-GB" sz="1000">
                <a:latin typeface="Arial" charset="0"/>
              </a:rPr>
              <a:pPr eaLnBrk="1" hangingPunct="1"/>
              <a:t>55</a:t>
            </a:fld>
            <a:endParaRPr lang="en-GB" sz="1000" dirty="0">
              <a:latin typeface="Arial" charset="0"/>
            </a:endParaRPr>
          </a:p>
        </p:txBody>
      </p:sp>
      <p:sp>
        <p:nvSpPr>
          <p:cNvPr id="25602" name="Rectangle 2"/>
          <p:cNvSpPr>
            <a:spLocks noChangeArrowheads="1"/>
          </p:cNvSpPr>
          <p:nvPr/>
        </p:nvSpPr>
        <p:spPr bwMode="auto">
          <a:xfrm>
            <a:off x="0" y="134938"/>
            <a:ext cx="9144000"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spAutoFit/>
          </a:bodyPr>
          <a:lstStyle/>
          <a:p>
            <a:pPr algn="ctr"/>
            <a:r>
              <a:rPr lang="en-GB" sz="2800" dirty="0">
                <a:solidFill>
                  <a:srgbClr val="FF0066"/>
                </a:solidFill>
                <a:latin typeface="Arial" charset="0"/>
              </a:rPr>
              <a:t>Simplified flow equations, 2-phase slightly compressible</a:t>
            </a:r>
          </a:p>
        </p:txBody>
      </p:sp>
      <p:graphicFrame>
        <p:nvGraphicFramePr>
          <p:cNvPr id="25603" name="Object 2"/>
          <p:cNvGraphicFramePr>
            <a:graphicFrameLocks noChangeAspect="1"/>
          </p:cNvGraphicFramePr>
          <p:nvPr/>
        </p:nvGraphicFramePr>
        <p:xfrm>
          <a:off x="825500" y="3736975"/>
          <a:ext cx="6729413" cy="876300"/>
        </p:xfrm>
        <a:graphic>
          <a:graphicData uri="http://schemas.openxmlformats.org/presentationml/2006/ole">
            <mc:AlternateContent xmlns:mc="http://schemas.openxmlformats.org/markup-compatibility/2006">
              <mc:Choice xmlns:v="urn:schemas-microsoft-com:vml" Requires="v">
                <p:oleObj name="Equation" r:id="rId3" imgW="4102100" imgH="533400" progId="Equation.3">
                  <p:embed/>
                </p:oleObj>
              </mc:Choice>
              <mc:Fallback>
                <p:oleObj name="Equation" r:id="rId3" imgW="4102100" imgH="533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0" y="3736975"/>
                        <a:ext cx="6729413" cy="876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25604" name="Text Box 4"/>
          <p:cNvSpPr txBox="1">
            <a:spLocks noChangeArrowheads="1"/>
          </p:cNvSpPr>
          <p:nvPr/>
        </p:nvSpPr>
        <p:spPr bwMode="auto">
          <a:xfrm>
            <a:off x="442913" y="3421063"/>
            <a:ext cx="8459787"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1800" dirty="0">
                <a:solidFill>
                  <a:srgbClr val="000090"/>
                </a:solidFill>
                <a:latin typeface="Arial" charset="0"/>
              </a:rPr>
              <a:t>FVM + FEM: Transport equation solved explicitly or implicitly  </a:t>
            </a:r>
            <a:endParaRPr lang="en-GB" sz="1800" dirty="0">
              <a:solidFill>
                <a:srgbClr val="000090"/>
              </a:solidFill>
              <a:latin typeface="Arial" charset="0"/>
            </a:endParaRPr>
          </a:p>
        </p:txBody>
      </p:sp>
      <p:sp>
        <p:nvSpPr>
          <p:cNvPr id="25605" name="Text Box 5"/>
          <p:cNvSpPr txBox="1">
            <a:spLocks noChangeArrowheads="1"/>
          </p:cNvSpPr>
          <p:nvPr/>
        </p:nvSpPr>
        <p:spPr bwMode="auto">
          <a:xfrm>
            <a:off x="349250" y="723900"/>
            <a:ext cx="8701088"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1800" dirty="0">
                <a:solidFill>
                  <a:srgbClr val="000090"/>
                </a:solidFill>
                <a:latin typeface="Arial" charset="0"/>
              </a:rPr>
              <a:t>FEM: Global pressure equation including gravity effects but </a:t>
            </a:r>
            <a:r>
              <a:rPr lang="en-US" sz="1800" u="sng" dirty="0">
                <a:solidFill>
                  <a:srgbClr val="000090"/>
                </a:solidFill>
                <a:latin typeface="Arial" charset="0"/>
              </a:rPr>
              <a:t>not</a:t>
            </a:r>
            <a:r>
              <a:rPr lang="en-US" sz="1800" dirty="0">
                <a:solidFill>
                  <a:srgbClr val="000090"/>
                </a:solidFill>
                <a:latin typeface="Arial" charset="0"/>
              </a:rPr>
              <a:t> capillary pressure</a:t>
            </a:r>
            <a:endParaRPr lang="en-GB" sz="1800" dirty="0">
              <a:solidFill>
                <a:srgbClr val="000090"/>
              </a:solidFill>
              <a:latin typeface="Arial" charset="0"/>
            </a:endParaRPr>
          </a:p>
        </p:txBody>
      </p:sp>
      <p:graphicFrame>
        <p:nvGraphicFramePr>
          <p:cNvPr id="25606" name="Object 3"/>
          <p:cNvGraphicFramePr>
            <a:graphicFrameLocks noChangeAspect="1"/>
          </p:cNvGraphicFramePr>
          <p:nvPr/>
        </p:nvGraphicFramePr>
        <p:xfrm>
          <a:off x="471488" y="1187450"/>
          <a:ext cx="4849812" cy="630238"/>
        </p:xfrm>
        <a:graphic>
          <a:graphicData uri="http://schemas.openxmlformats.org/presentationml/2006/ole">
            <mc:AlternateContent xmlns:mc="http://schemas.openxmlformats.org/markup-compatibility/2006">
              <mc:Choice xmlns:v="urn:schemas-microsoft-com:vml" Requires="v">
                <p:oleObj name="Equation" r:id="rId5" imgW="3035300" imgH="393700" progId="Equation.DSMT4">
                  <p:embed/>
                </p:oleObj>
              </mc:Choice>
              <mc:Fallback>
                <p:oleObj name="Equation" r:id="rId5" imgW="3035300" imgH="3937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488" y="1187450"/>
                        <a:ext cx="4849812" cy="630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25607" name="Text Box 7"/>
          <p:cNvSpPr txBox="1">
            <a:spLocks noChangeArrowheads="1"/>
          </p:cNvSpPr>
          <p:nvPr/>
        </p:nvSpPr>
        <p:spPr bwMode="auto">
          <a:xfrm>
            <a:off x="339725" y="1922463"/>
            <a:ext cx="8804275"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1800">
                <a:solidFill>
                  <a:srgbClr val="000090"/>
                </a:solidFill>
                <a:latin typeface="Arial" charset="0"/>
              </a:rPr>
              <a:t>Post-processing: Darcy velocity (including buoyancy-driven flow of fluid mixture)      </a:t>
            </a:r>
            <a:endParaRPr lang="en-GB" sz="1800">
              <a:solidFill>
                <a:srgbClr val="000090"/>
              </a:solidFill>
              <a:latin typeface="Arial" charset="0"/>
            </a:endParaRPr>
          </a:p>
        </p:txBody>
      </p:sp>
      <p:graphicFrame>
        <p:nvGraphicFramePr>
          <p:cNvPr id="25608" name="Object 4"/>
          <p:cNvGraphicFramePr>
            <a:graphicFrameLocks noChangeAspect="1"/>
          </p:cNvGraphicFramePr>
          <p:nvPr/>
        </p:nvGraphicFramePr>
        <p:xfrm>
          <a:off x="831850" y="2339975"/>
          <a:ext cx="7037388" cy="989013"/>
        </p:xfrm>
        <a:graphic>
          <a:graphicData uri="http://schemas.openxmlformats.org/presentationml/2006/ole">
            <mc:AlternateContent xmlns:mc="http://schemas.openxmlformats.org/markup-compatibility/2006">
              <mc:Choice xmlns:v="urn:schemas-microsoft-com:vml" Requires="v">
                <p:oleObj name="Equation" r:id="rId7" imgW="5067300" imgH="711200" progId="Equation.3">
                  <p:embed/>
                </p:oleObj>
              </mc:Choice>
              <mc:Fallback>
                <p:oleObj name="Equation" r:id="rId7" imgW="5067300" imgH="71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850" y="2339975"/>
                        <a:ext cx="7037388" cy="989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9" name="Object 5"/>
          <p:cNvGraphicFramePr>
            <a:graphicFrameLocks noChangeAspect="1"/>
          </p:cNvGraphicFramePr>
          <p:nvPr/>
        </p:nvGraphicFramePr>
        <p:xfrm>
          <a:off x="1428750" y="4956175"/>
          <a:ext cx="7356475" cy="769938"/>
        </p:xfrm>
        <a:graphic>
          <a:graphicData uri="http://schemas.openxmlformats.org/presentationml/2006/ole">
            <mc:AlternateContent xmlns:mc="http://schemas.openxmlformats.org/markup-compatibility/2006">
              <mc:Choice xmlns:v="urn:schemas-microsoft-com:vml" Requires="v">
                <p:oleObj name="Equation" r:id="rId9" imgW="4610100" imgH="482600" progId="Equation.3">
                  <p:embed/>
                </p:oleObj>
              </mc:Choice>
              <mc:Fallback>
                <p:oleObj name="Equation" r:id="rId9" imgW="4610100" imgH="482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8750" y="4956175"/>
                        <a:ext cx="7356475" cy="769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0" name="Object 6"/>
          <p:cNvGraphicFramePr>
            <a:graphicFrameLocks noChangeAspect="1"/>
          </p:cNvGraphicFramePr>
          <p:nvPr/>
        </p:nvGraphicFramePr>
        <p:xfrm>
          <a:off x="6669088" y="1146175"/>
          <a:ext cx="1196975" cy="666750"/>
        </p:xfrm>
        <a:graphic>
          <a:graphicData uri="http://schemas.openxmlformats.org/presentationml/2006/ole">
            <mc:AlternateContent xmlns:mc="http://schemas.openxmlformats.org/markup-compatibility/2006">
              <mc:Choice xmlns:v="urn:schemas-microsoft-com:vml" Requires="v">
                <p:oleObj name="Equation" r:id="rId11" imgW="603166" imgH="603166" progId="Equation.DSMT4">
                  <p:embed/>
                </p:oleObj>
              </mc:Choice>
              <mc:Fallback>
                <p:oleObj name="Equation" r:id="rId11" imgW="603166" imgH="603166"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69088" y="1146175"/>
                        <a:ext cx="1196975" cy="666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25611" name="Text Box 4"/>
          <p:cNvSpPr txBox="1">
            <a:spLocks noChangeArrowheads="1"/>
          </p:cNvSpPr>
          <p:nvPr/>
        </p:nvSpPr>
        <p:spPr bwMode="auto">
          <a:xfrm>
            <a:off x="488950" y="5900738"/>
            <a:ext cx="4751388"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1800">
                <a:solidFill>
                  <a:srgbClr val="000090"/>
                </a:solidFill>
                <a:latin typeface="Arial" charset="0"/>
              </a:rPr>
              <a:t>FEM: Nonlinear saturation diffusion</a:t>
            </a:r>
            <a:endParaRPr lang="en-GB" sz="1800">
              <a:solidFill>
                <a:srgbClr val="000090"/>
              </a:solidFill>
              <a:latin typeface="Arial" charset="0"/>
            </a:endParaRPr>
          </a:p>
        </p:txBody>
      </p:sp>
      <p:sp>
        <p:nvSpPr>
          <p:cNvPr id="22" name="TextBox 21"/>
          <p:cNvSpPr txBox="1"/>
          <p:nvPr/>
        </p:nvSpPr>
        <p:spPr>
          <a:xfrm>
            <a:off x="293688" y="4783138"/>
            <a:ext cx="1016000" cy="915987"/>
          </a:xfrm>
          <a:prstGeom prst="rect">
            <a:avLst/>
          </a:prstGeom>
          <a:noFill/>
        </p:spPr>
        <p:txBody>
          <a:bodyPr>
            <a:spAutoFit/>
          </a:bodyPr>
          <a:lstStyle/>
          <a:p>
            <a:pPr>
              <a:defRPr/>
            </a:pPr>
            <a:r>
              <a:rPr lang="en-US" dirty="0">
                <a:solidFill>
                  <a:srgbClr val="FF0000"/>
                </a:solidFill>
                <a:latin typeface="+mn-lt"/>
                <a:ea typeface="+mn-ea"/>
                <a:cs typeface="+mn-cs"/>
              </a:rPr>
              <a:t>for implicit solution</a:t>
            </a:r>
          </a:p>
        </p:txBody>
      </p:sp>
      <p:sp>
        <p:nvSpPr>
          <p:cNvPr id="14" name="TextBox 13"/>
          <p:cNvSpPr txBox="1"/>
          <p:nvPr/>
        </p:nvSpPr>
        <p:spPr>
          <a:xfrm>
            <a:off x="4572000" y="4498975"/>
            <a:ext cx="3033907" cy="369332"/>
          </a:xfrm>
          <a:prstGeom prst="rect">
            <a:avLst/>
          </a:prstGeom>
          <a:noFill/>
        </p:spPr>
        <p:txBody>
          <a:bodyPr wrap="none">
            <a:spAutoFit/>
          </a:bodyPr>
          <a:lstStyle/>
          <a:p>
            <a:pPr>
              <a:defRPr/>
            </a:pPr>
            <a:r>
              <a:rPr lang="en-US" dirty="0">
                <a:latin typeface="+mn-lt"/>
                <a:ea typeface="+mn-ea"/>
                <a:cs typeface="+mn-cs"/>
              </a:rPr>
              <a:t>FEM term (in implicit solution)</a:t>
            </a:r>
          </a:p>
        </p:txBody>
      </p:sp>
      <p:sp>
        <p:nvSpPr>
          <p:cNvPr id="25614" name="Text Box 15"/>
          <p:cNvSpPr txBox="1">
            <a:spLocks noChangeArrowheads="1"/>
          </p:cNvSpPr>
          <p:nvPr/>
        </p:nvSpPr>
        <p:spPr bwMode="auto">
          <a:xfrm>
            <a:off x="5638800" y="6170613"/>
            <a:ext cx="268605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GB" sz="1800" dirty="0">
                <a:latin typeface="Arial" charset="0"/>
                <a:cs typeface="Arial" charset="0"/>
              </a:rPr>
              <a:t>NB: </a:t>
            </a:r>
            <a:r>
              <a:rPr lang="en-GB" sz="1800" b="1" dirty="0">
                <a:latin typeface="Arial" charset="0"/>
                <a:cs typeface="Arial" charset="0"/>
              </a:rPr>
              <a:t>g</a:t>
            </a:r>
            <a:r>
              <a:rPr lang="en-GB" sz="1800" dirty="0">
                <a:latin typeface="Arial" charset="0"/>
                <a:cs typeface="Arial" charset="0"/>
              </a:rPr>
              <a:t> is pointing upward</a:t>
            </a:r>
            <a:endParaRPr lang="en-US" sz="1800" dirty="0">
              <a:latin typeface="Arial" charset="0"/>
              <a:cs typeface="Arial" charset="0"/>
            </a:endParaRPr>
          </a:p>
        </p:txBody>
      </p:sp>
      <p:sp>
        <p:nvSpPr>
          <p:cNvPr id="16" name="Date Placeholder 2"/>
          <p:cNvSpPr>
            <a:spLocks noGrp="1"/>
          </p:cNvSpPr>
          <p:nvPr>
            <p:ph type="dt" sz="half" idx="10"/>
          </p:nvPr>
        </p:nvSpPr>
        <p:spPr>
          <a:xfrm>
            <a:off x="35496" y="6492875"/>
            <a:ext cx="2133600" cy="365125"/>
          </a:xfrm>
        </p:spPr>
        <p:txBody>
          <a:bodyPr/>
          <a:lstStyle/>
          <a:p>
            <a:fld id="{C1762EE7-3E26-8344-9AFB-A62088F617B5}" type="datetime1">
              <a:rPr lang="en-US" smtClean="0"/>
              <a:pPr/>
              <a:t>5/2/24</a:t>
            </a:fld>
            <a:endParaRPr lang="en-US" dirty="0"/>
          </a:p>
        </p:txBody>
      </p:sp>
      <p:sp>
        <p:nvSpPr>
          <p:cNvPr id="18" name="Footer Placeholder 5"/>
          <p:cNvSpPr>
            <a:spLocks noGrp="1"/>
          </p:cNvSpPr>
          <p:nvPr>
            <p:ph type="ftr" sz="quarter" idx="11"/>
          </p:nvPr>
        </p:nvSpPr>
        <p:spPr>
          <a:xfrm>
            <a:off x="3124200" y="6492875"/>
            <a:ext cx="2895600" cy="365125"/>
          </a:xfrm>
        </p:spPr>
        <p:txBody>
          <a:bodyPr/>
          <a:lstStyle/>
          <a:p>
            <a:endParaRPr lang="en-US" dirty="0"/>
          </a:p>
          <a:p>
            <a:r>
              <a:rPr lang="en-US" dirty="0"/>
              <a:t>Finite Volume Computations</a:t>
            </a:r>
          </a:p>
          <a:p>
            <a:endParaRPr lang="en-US" dirty="0"/>
          </a:p>
        </p:txBody>
      </p:sp>
    </p:spTree>
    <p:extLst>
      <p:ext uri="{BB962C8B-B14F-4D97-AF65-F5344CB8AC3E}">
        <p14:creationId xmlns:p14="http://schemas.microsoft.com/office/powerpoint/2010/main" val="24081214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ChangeArrowheads="1"/>
          </p:cNvSpPr>
          <p:nvPr/>
        </p:nvSpPr>
        <p:spPr bwMode="auto">
          <a:xfrm>
            <a:off x="0" y="25400"/>
            <a:ext cx="9144000"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spAutoFit/>
          </a:bodyPr>
          <a:lstStyle/>
          <a:p>
            <a:pPr algn="ctr"/>
            <a:r>
              <a:rPr lang="en-GB" sz="2800" dirty="0">
                <a:solidFill>
                  <a:srgbClr val="FF0066"/>
                </a:solidFill>
                <a:latin typeface="Arial" charset="0"/>
              </a:rPr>
              <a:t>Black-oil style 2-phase flow equations</a:t>
            </a:r>
          </a:p>
        </p:txBody>
      </p:sp>
      <p:sp>
        <p:nvSpPr>
          <p:cNvPr id="27650" name="Text Box 5"/>
          <p:cNvSpPr txBox="1">
            <a:spLocks noChangeArrowheads="1"/>
          </p:cNvSpPr>
          <p:nvPr/>
        </p:nvSpPr>
        <p:spPr bwMode="auto">
          <a:xfrm>
            <a:off x="280988" y="520700"/>
            <a:ext cx="8701087"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1800" dirty="0">
                <a:solidFill>
                  <a:srgbClr val="000090"/>
                </a:solidFill>
                <a:latin typeface="Arial" charset="0"/>
              </a:rPr>
              <a:t>FEM: Pressure equations including gravity effects but </a:t>
            </a:r>
            <a:r>
              <a:rPr lang="en-US" sz="1800" u="sng" dirty="0">
                <a:solidFill>
                  <a:srgbClr val="000090"/>
                </a:solidFill>
                <a:latin typeface="Arial" charset="0"/>
              </a:rPr>
              <a:t>not</a:t>
            </a:r>
            <a:r>
              <a:rPr lang="en-US" sz="1800" dirty="0">
                <a:solidFill>
                  <a:srgbClr val="000090"/>
                </a:solidFill>
                <a:latin typeface="Arial" charset="0"/>
              </a:rPr>
              <a:t> capillary pressure</a:t>
            </a:r>
            <a:endParaRPr lang="en-GB" sz="1800" dirty="0">
              <a:solidFill>
                <a:srgbClr val="000090"/>
              </a:solidFill>
              <a:latin typeface="Arial" charset="0"/>
            </a:endParaRPr>
          </a:p>
        </p:txBody>
      </p:sp>
      <p:graphicFrame>
        <p:nvGraphicFramePr>
          <p:cNvPr id="27651" name="Object 2"/>
          <p:cNvGraphicFramePr>
            <a:graphicFrameLocks noChangeAspect="1"/>
          </p:cNvGraphicFramePr>
          <p:nvPr/>
        </p:nvGraphicFramePr>
        <p:xfrm>
          <a:off x="388938" y="1025525"/>
          <a:ext cx="8429625" cy="3346450"/>
        </p:xfrm>
        <a:graphic>
          <a:graphicData uri="http://schemas.openxmlformats.org/presentationml/2006/ole">
            <mc:AlternateContent xmlns:mc="http://schemas.openxmlformats.org/markup-compatibility/2006">
              <mc:Choice xmlns:v="urn:schemas-microsoft-com:vml" Requires="v">
                <p:oleObj name="Equation" r:id="rId3" imgW="6477000" imgH="2565400" progId="Equation.DSMT4">
                  <p:embed/>
                </p:oleObj>
              </mc:Choice>
              <mc:Fallback>
                <p:oleObj name="Equation" r:id="rId3" imgW="6477000" imgH="2565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8" y="1025525"/>
                        <a:ext cx="8429625" cy="3346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27652" name="Text Box 7"/>
          <p:cNvSpPr txBox="1">
            <a:spLocks noChangeArrowheads="1"/>
          </p:cNvSpPr>
          <p:nvPr/>
        </p:nvSpPr>
        <p:spPr bwMode="auto">
          <a:xfrm>
            <a:off x="339725" y="4762500"/>
            <a:ext cx="880427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1800">
                <a:solidFill>
                  <a:srgbClr val="000090"/>
                </a:solidFill>
                <a:latin typeface="Arial" charset="0"/>
              </a:rPr>
              <a:t>Post-processing: Darcy velocity (including buoyancy-driven flow of fluid mixture)      </a:t>
            </a:r>
            <a:endParaRPr lang="en-GB" sz="1800">
              <a:solidFill>
                <a:srgbClr val="000090"/>
              </a:solidFill>
              <a:latin typeface="Arial" charset="0"/>
            </a:endParaRPr>
          </a:p>
        </p:txBody>
      </p:sp>
      <p:graphicFrame>
        <p:nvGraphicFramePr>
          <p:cNvPr id="27653" name="Object 3"/>
          <p:cNvGraphicFramePr>
            <a:graphicFrameLocks noChangeAspect="1"/>
          </p:cNvGraphicFramePr>
          <p:nvPr/>
        </p:nvGraphicFramePr>
        <p:xfrm>
          <a:off x="831850" y="5180013"/>
          <a:ext cx="7037388" cy="989012"/>
        </p:xfrm>
        <a:graphic>
          <a:graphicData uri="http://schemas.openxmlformats.org/presentationml/2006/ole">
            <mc:AlternateContent xmlns:mc="http://schemas.openxmlformats.org/markup-compatibility/2006">
              <mc:Choice xmlns:v="urn:schemas-microsoft-com:vml" Requires="v">
                <p:oleObj name="Equation" r:id="rId5" imgW="5067300" imgH="711200" progId="Equation.DSMT4">
                  <p:embed/>
                </p:oleObj>
              </mc:Choice>
              <mc:Fallback>
                <p:oleObj name="Equation" r:id="rId5" imgW="5067300" imgH="711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1850" y="5180013"/>
                        <a:ext cx="7037388" cy="989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7" name="Date Placeholder 2"/>
          <p:cNvSpPr>
            <a:spLocks noGrp="1"/>
          </p:cNvSpPr>
          <p:nvPr>
            <p:ph type="dt" sz="half" idx="10"/>
          </p:nvPr>
        </p:nvSpPr>
        <p:spPr>
          <a:xfrm>
            <a:off x="35496" y="6492875"/>
            <a:ext cx="2133600" cy="365125"/>
          </a:xfrm>
        </p:spPr>
        <p:txBody>
          <a:bodyPr/>
          <a:lstStyle/>
          <a:p>
            <a:fld id="{C1762EE7-3E26-8344-9AFB-A62088F617B5}" type="datetime1">
              <a:rPr lang="en-US" smtClean="0"/>
              <a:pPr/>
              <a:t>5/2/24</a:t>
            </a:fld>
            <a:endParaRPr lang="en-US" dirty="0"/>
          </a:p>
        </p:txBody>
      </p:sp>
      <p:sp>
        <p:nvSpPr>
          <p:cNvPr id="8" name="Slide Number Placeholder 4"/>
          <p:cNvSpPr>
            <a:spLocks noGrp="1"/>
          </p:cNvSpPr>
          <p:nvPr>
            <p:ph type="sldNum" sz="quarter" idx="12"/>
          </p:nvPr>
        </p:nvSpPr>
        <p:spPr>
          <a:xfrm>
            <a:off x="6974904" y="6492875"/>
            <a:ext cx="2133600" cy="365125"/>
          </a:xfrm>
        </p:spPr>
        <p:txBody>
          <a:bodyPr/>
          <a:lstStyle/>
          <a:p>
            <a:fld id="{223FD816-CC6A-BF43-8241-637E3E7EAA5A}" type="slidenum">
              <a:rPr lang="en-US" smtClean="0"/>
              <a:pPr/>
              <a:t>56</a:t>
            </a:fld>
            <a:endParaRPr lang="en-US"/>
          </a:p>
        </p:txBody>
      </p:sp>
      <p:sp>
        <p:nvSpPr>
          <p:cNvPr id="9" name="Footer Placeholder 5"/>
          <p:cNvSpPr>
            <a:spLocks noGrp="1"/>
          </p:cNvSpPr>
          <p:nvPr>
            <p:ph type="ftr" sz="quarter" idx="11"/>
          </p:nvPr>
        </p:nvSpPr>
        <p:spPr>
          <a:xfrm>
            <a:off x="3124200" y="6492875"/>
            <a:ext cx="2895600" cy="365125"/>
          </a:xfrm>
        </p:spPr>
        <p:txBody>
          <a:bodyPr/>
          <a:lstStyle/>
          <a:p>
            <a:endParaRPr lang="en-US" dirty="0"/>
          </a:p>
          <a:p>
            <a:r>
              <a:rPr lang="en-US" dirty="0"/>
              <a:t>Finite Volume Computations</a:t>
            </a:r>
          </a:p>
          <a:p>
            <a:endParaRPr lang="en-US" dirty="0"/>
          </a:p>
        </p:txBody>
      </p:sp>
    </p:spTree>
    <p:extLst>
      <p:ext uri="{BB962C8B-B14F-4D97-AF65-F5344CB8AC3E}">
        <p14:creationId xmlns:p14="http://schemas.microsoft.com/office/powerpoint/2010/main" val="37870839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a:xfrm>
            <a:off x="107504" y="116632"/>
            <a:ext cx="8784976" cy="584776"/>
          </a:xfrm>
        </p:spPr>
        <p:txBody>
          <a:bodyPr>
            <a:normAutofit fontScale="90000"/>
          </a:bodyPr>
          <a:lstStyle/>
          <a:p>
            <a:pPr eaLnBrk="1" hangingPunct="1"/>
            <a:r>
              <a:rPr lang="en-US" dirty="0">
                <a:latin typeface="Arial" charset="0"/>
              </a:rPr>
              <a:t>Higher-order accurate single-phase tracer transport</a:t>
            </a:r>
            <a:endParaRPr lang="en-GB" dirty="0">
              <a:latin typeface="Arial" charset="0"/>
            </a:endParaRPr>
          </a:p>
        </p:txBody>
      </p:sp>
      <p:graphicFrame>
        <p:nvGraphicFramePr>
          <p:cNvPr id="46082" name="Object 2"/>
          <p:cNvGraphicFramePr>
            <a:graphicFrameLocks noChangeAspect="1"/>
          </p:cNvGraphicFramePr>
          <p:nvPr/>
        </p:nvGraphicFramePr>
        <p:xfrm>
          <a:off x="1077913" y="1243013"/>
          <a:ext cx="6319837" cy="3282950"/>
        </p:xfrm>
        <a:graphic>
          <a:graphicData uri="http://schemas.openxmlformats.org/presentationml/2006/ole">
            <mc:AlternateContent xmlns:mc="http://schemas.openxmlformats.org/markup-compatibility/2006">
              <mc:Choice xmlns:v="urn:schemas-microsoft-com:vml" Requires="v">
                <p:oleObj name="Equation" r:id="rId3" imgW="2590560" imgH="1574640" progId="Equation.3">
                  <p:embed/>
                </p:oleObj>
              </mc:Choice>
              <mc:Fallback>
                <p:oleObj name="Equation" r:id="rId3" imgW="2590560" imgH="1574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13" y="1243013"/>
                        <a:ext cx="6319837" cy="32829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6083" name="Object 3"/>
          <p:cNvGraphicFramePr>
            <a:graphicFrameLocks noChangeAspect="1"/>
          </p:cNvGraphicFramePr>
          <p:nvPr/>
        </p:nvGraphicFramePr>
        <p:xfrm>
          <a:off x="839788" y="4748213"/>
          <a:ext cx="7288212" cy="1614487"/>
        </p:xfrm>
        <a:graphic>
          <a:graphicData uri="http://schemas.openxmlformats.org/presentationml/2006/ole">
            <mc:AlternateContent xmlns:mc="http://schemas.openxmlformats.org/markup-compatibility/2006">
              <mc:Choice xmlns:v="urn:schemas-microsoft-com:vml" Requires="v">
                <p:oleObj name="Equation" r:id="rId5" imgW="3327120" imgH="736560" progId="Equation.DSMT4">
                  <p:embed/>
                </p:oleObj>
              </mc:Choice>
              <mc:Fallback>
                <p:oleObj name="Equation" r:id="rId5" imgW="3327120" imgH="73656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788" y="4748213"/>
                        <a:ext cx="7288212" cy="16144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6"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7"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57</a:t>
            </a:fld>
            <a:endParaRPr lang="en-US" dirty="0">
              <a:solidFill>
                <a:prstClr val="white">
                  <a:lumMod val="65000"/>
                </a:prstClr>
              </a:solidFill>
              <a:ea typeface="+mn-ea"/>
            </a:endParaRPr>
          </a:p>
        </p:txBody>
      </p:sp>
      <p:sp>
        <p:nvSpPr>
          <p:cNvPr id="2" name="TextBox 1">
            <a:extLst>
              <a:ext uri="{FF2B5EF4-FFF2-40B4-BE49-F238E27FC236}">
                <a16:creationId xmlns:a16="http://schemas.microsoft.com/office/drawing/2014/main" id="{152F7983-B8E2-8B84-5B7A-B40C7D4F0B63}"/>
              </a:ext>
            </a:extLst>
          </p:cNvPr>
          <p:cNvSpPr txBox="1"/>
          <p:nvPr/>
        </p:nvSpPr>
        <p:spPr>
          <a:xfrm>
            <a:off x="395536" y="701408"/>
            <a:ext cx="7632848" cy="369332"/>
          </a:xfrm>
          <a:prstGeom prst="rect">
            <a:avLst/>
          </a:prstGeom>
          <a:noFill/>
        </p:spPr>
        <p:txBody>
          <a:bodyPr wrap="square" rtlCol="0">
            <a:spAutoFit/>
          </a:bodyPr>
          <a:lstStyle/>
          <a:p>
            <a:r>
              <a:rPr lang="en-US" i="1" dirty="0">
                <a:latin typeface="Arial" panose="020B0604020202020204" pitchFamily="34" charset="0"/>
                <a:cs typeface="Arial" panose="020B0604020202020204" pitchFamily="34" charset="0"/>
              </a:rPr>
              <a:t>This and following slides as described in </a:t>
            </a:r>
            <a:r>
              <a:rPr lang="en-US" i="1" dirty="0" err="1">
                <a:latin typeface="Arial" panose="020B0604020202020204" pitchFamily="34" charset="0"/>
                <a:cs typeface="Arial" panose="020B0604020202020204" pitchFamily="34" charset="0"/>
              </a:rPr>
              <a:t>Matthai</a:t>
            </a:r>
            <a:r>
              <a:rPr lang="en-US" i="1" dirty="0">
                <a:latin typeface="Arial" panose="020B0604020202020204" pitchFamily="34" charset="0"/>
                <a:cs typeface="Arial" panose="020B0604020202020204" pitchFamily="34" charset="0"/>
              </a:rPr>
              <a:t> et al. 2009 (TIPM)</a:t>
            </a:r>
          </a:p>
        </p:txBody>
      </p:sp>
    </p:spTree>
    <p:extLst>
      <p:ext uri="{BB962C8B-B14F-4D97-AF65-F5344CB8AC3E}">
        <p14:creationId xmlns:p14="http://schemas.microsoft.com/office/powerpoint/2010/main" val="39844346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Rectangle 2"/>
          <p:cNvSpPr>
            <a:spLocks noGrp="1" noChangeArrowheads="1"/>
          </p:cNvSpPr>
          <p:nvPr>
            <p:ph type="title"/>
          </p:nvPr>
        </p:nvSpPr>
        <p:spPr>
          <a:xfrm>
            <a:off x="271463" y="249238"/>
            <a:ext cx="8640762" cy="396875"/>
          </a:xfrm>
        </p:spPr>
        <p:txBody>
          <a:bodyPr>
            <a:noAutofit/>
          </a:bodyPr>
          <a:lstStyle/>
          <a:p>
            <a:pPr eaLnBrk="1" hangingPunct="1"/>
            <a:r>
              <a:rPr lang="en-US" sz="2400" dirty="0">
                <a:latin typeface="Arial" charset="0"/>
              </a:rPr>
              <a:t>First-Order Implicit FV Solution of Transport Equation</a:t>
            </a:r>
            <a:endParaRPr lang="en-GB" sz="2400" dirty="0">
              <a:latin typeface="Arial" charset="0"/>
            </a:endParaRPr>
          </a:p>
        </p:txBody>
      </p:sp>
      <p:graphicFrame>
        <p:nvGraphicFramePr>
          <p:cNvPr id="52226" name="Object 2"/>
          <p:cNvGraphicFramePr>
            <a:graphicFrameLocks noChangeAspect="1"/>
          </p:cNvGraphicFramePr>
          <p:nvPr/>
        </p:nvGraphicFramePr>
        <p:xfrm>
          <a:off x="857250" y="749300"/>
          <a:ext cx="3360738" cy="663575"/>
        </p:xfrm>
        <a:graphic>
          <a:graphicData uri="http://schemas.openxmlformats.org/presentationml/2006/ole">
            <mc:AlternateContent xmlns:mc="http://schemas.openxmlformats.org/markup-compatibility/2006">
              <mc:Choice xmlns:v="urn:schemas-microsoft-com:vml" Requires="v">
                <p:oleObj name="Equation" r:id="rId3" imgW="2120760" imgH="419040" progId="Equation.3">
                  <p:embed/>
                </p:oleObj>
              </mc:Choice>
              <mc:Fallback>
                <p:oleObj name="Equation" r:id="rId3" imgW="2120760" imgH="419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749300"/>
                        <a:ext cx="3360738" cy="663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2227" name="Object 3"/>
          <p:cNvGraphicFramePr>
            <a:graphicFrameLocks noChangeAspect="1"/>
          </p:cNvGraphicFramePr>
          <p:nvPr/>
        </p:nvGraphicFramePr>
        <p:xfrm>
          <a:off x="1038225" y="2036763"/>
          <a:ext cx="5416550" cy="2806700"/>
        </p:xfrm>
        <a:graphic>
          <a:graphicData uri="http://schemas.openxmlformats.org/presentationml/2006/ole">
            <mc:AlternateContent xmlns:mc="http://schemas.openxmlformats.org/markup-compatibility/2006">
              <mc:Choice xmlns:v="urn:schemas-microsoft-com:vml" Requires="v">
                <p:oleObj name="Equation" r:id="rId5" imgW="4178160" imgH="2171520" progId="Equation.3">
                  <p:embed/>
                </p:oleObj>
              </mc:Choice>
              <mc:Fallback>
                <p:oleObj name="Equation" r:id="rId5" imgW="4178160" imgH="21715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8225" y="2036763"/>
                        <a:ext cx="5416550" cy="28067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2231" name="Text Box 6"/>
          <p:cNvSpPr txBox="1">
            <a:spLocks noChangeArrowheads="1"/>
          </p:cNvSpPr>
          <p:nvPr/>
        </p:nvSpPr>
        <p:spPr bwMode="auto">
          <a:xfrm>
            <a:off x="846138" y="5013176"/>
            <a:ext cx="372593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00090"/>
                </a:solidFill>
                <a:latin typeface="Arial"/>
                <a:cs typeface="Arial"/>
              </a:rPr>
              <a:t>Boundary In- &amp; Outflow Conditions</a:t>
            </a:r>
            <a:endParaRPr lang="en-GB" sz="1800" dirty="0">
              <a:solidFill>
                <a:srgbClr val="000090"/>
              </a:solidFill>
              <a:latin typeface="Arial"/>
              <a:cs typeface="Arial"/>
            </a:endParaRPr>
          </a:p>
        </p:txBody>
      </p:sp>
      <p:sp>
        <p:nvSpPr>
          <p:cNvPr id="52232" name="Text Box 7"/>
          <p:cNvSpPr txBox="1">
            <a:spLocks noChangeArrowheads="1"/>
          </p:cNvSpPr>
          <p:nvPr/>
        </p:nvSpPr>
        <p:spPr bwMode="auto">
          <a:xfrm>
            <a:off x="869950" y="1570038"/>
            <a:ext cx="352057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000090"/>
                </a:solidFill>
                <a:latin typeface="Arial"/>
                <a:cs typeface="Arial"/>
              </a:rPr>
              <a:t>Finite Volume / Surface Integrals</a:t>
            </a:r>
            <a:endParaRPr lang="en-GB" sz="1800">
              <a:solidFill>
                <a:srgbClr val="000090"/>
              </a:solidFill>
              <a:latin typeface="Arial"/>
              <a:cs typeface="Arial"/>
            </a:endParaRPr>
          </a:p>
        </p:txBody>
      </p:sp>
      <p:graphicFrame>
        <p:nvGraphicFramePr>
          <p:cNvPr id="52228" name="Object 4"/>
          <p:cNvGraphicFramePr>
            <a:graphicFrameLocks noChangeAspect="1"/>
          </p:cNvGraphicFramePr>
          <p:nvPr>
            <p:extLst>
              <p:ext uri="{D42A27DB-BD31-4B8C-83A1-F6EECF244321}">
                <p14:modId xmlns:p14="http://schemas.microsoft.com/office/powerpoint/2010/main" val="1770466135"/>
              </p:ext>
            </p:extLst>
          </p:nvPr>
        </p:nvGraphicFramePr>
        <p:xfrm>
          <a:off x="958850" y="5391001"/>
          <a:ext cx="3878263" cy="1247775"/>
        </p:xfrm>
        <a:graphic>
          <a:graphicData uri="http://schemas.openxmlformats.org/presentationml/2006/ole">
            <mc:AlternateContent xmlns:mc="http://schemas.openxmlformats.org/markup-compatibility/2006">
              <mc:Choice xmlns:v="urn:schemas-microsoft-com:vml" Requires="v">
                <p:oleObj name="Equation" r:id="rId7" imgW="2997000" imgH="965160" progId="Equation.3">
                  <p:embed/>
                </p:oleObj>
              </mc:Choice>
              <mc:Fallback>
                <p:oleObj name="Equation" r:id="rId7" imgW="2997000" imgH="96516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8850" y="5391001"/>
                        <a:ext cx="3878263" cy="12477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2229" name="Object 5"/>
          <p:cNvGraphicFramePr>
            <a:graphicFrameLocks noChangeAspect="1"/>
          </p:cNvGraphicFramePr>
          <p:nvPr/>
        </p:nvGraphicFramePr>
        <p:xfrm>
          <a:off x="5815013" y="908050"/>
          <a:ext cx="2722562" cy="315913"/>
        </p:xfrm>
        <a:graphic>
          <a:graphicData uri="http://schemas.openxmlformats.org/presentationml/2006/ole">
            <mc:AlternateContent xmlns:mc="http://schemas.openxmlformats.org/markup-compatibility/2006">
              <mc:Choice xmlns:v="urn:schemas-microsoft-com:vml" Requires="v">
                <p:oleObj name="Equation" r:id="rId9" imgW="1523880" imgH="177480" progId="Equation.DSMT4">
                  <p:embed/>
                </p:oleObj>
              </mc:Choice>
              <mc:Fallback>
                <p:oleObj name="Equation" r:id="rId9" imgW="1523880" imgH="1774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15013" y="908050"/>
                        <a:ext cx="2722562" cy="3159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2233" name="Text Box 10"/>
          <p:cNvSpPr txBox="1">
            <a:spLocks noChangeArrowheads="1"/>
          </p:cNvSpPr>
          <p:nvPr/>
        </p:nvSpPr>
        <p:spPr bwMode="auto">
          <a:xfrm>
            <a:off x="4549775" y="865188"/>
            <a:ext cx="885825"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where</a:t>
            </a:r>
            <a:endParaRPr lang="en-GB" sz="1800"/>
          </a:p>
        </p:txBody>
      </p:sp>
      <p:sp>
        <p:nvSpPr>
          <p:cNvPr id="52234" name="Text Box 11"/>
          <p:cNvSpPr txBox="1">
            <a:spLocks noChangeArrowheads="1"/>
          </p:cNvSpPr>
          <p:nvPr/>
        </p:nvSpPr>
        <p:spPr bwMode="auto">
          <a:xfrm>
            <a:off x="5018088" y="1241425"/>
            <a:ext cx="3971925" cy="517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400"/>
              <a:t>As expressed for an incompressible fluid in terms of fluid volume conservation.</a:t>
            </a:r>
            <a:endParaRPr lang="en-GB" sz="1400"/>
          </a:p>
        </p:txBody>
      </p:sp>
      <p:sp>
        <p:nvSpPr>
          <p:cNvPr id="52235" name="Text Box 12"/>
          <p:cNvSpPr txBox="1">
            <a:spLocks noChangeArrowheads="1"/>
          </p:cNvSpPr>
          <p:nvPr/>
        </p:nvSpPr>
        <p:spPr bwMode="auto">
          <a:xfrm>
            <a:off x="4973638" y="5489426"/>
            <a:ext cx="1439862"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in-flow (+)</a:t>
            </a:r>
          </a:p>
        </p:txBody>
      </p:sp>
      <p:sp>
        <p:nvSpPr>
          <p:cNvPr id="52236" name="Text Box 13"/>
          <p:cNvSpPr txBox="1">
            <a:spLocks noChangeArrowheads="1"/>
          </p:cNvSpPr>
          <p:nvPr/>
        </p:nvSpPr>
        <p:spPr bwMode="auto">
          <a:xfrm>
            <a:off x="4968875" y="6116488"/>
            <a:ext cx="1520825"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out-flow (-)</a:t>
            </a:r>
          </a:p>
        </p:txBody>
      </p:sp>
      <p:sp>
        <p:nvSpPr>
          <p:cNvPr id="13"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14"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5"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58</a:t>
            </a:fld>
            <a:endParaRPr lang="en-US" dirty="0">
              <a:solidFill>
                <a:prstClr val="white">
                  <a:lumMod val="65000"/>
                </a:prstClr>
              </a:solidFill>
              <a:ea typeface="+mn-ea"/>
            </a:endParaRPr>
          </a:p>
        </p:txBody>
      </p:sp>
    </p:spTree>
    <p:extLst>
      <p:ext uri="{BB962C8B-B14F-4D97-AF65-F5344CB8AC3E}">
        <p14:creationId xmlns:p14="http://schemas.microsoft.com/office/powerpoint/2010/main" val="21916011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050"/>
          <p:cNvSpPr>
            <a:spLocks noGrp="1" noChangeArrowheads="1"/>
          </p:cNvSpPr>
          <p:nvPr>
            <p:ph type="title"/>
          </p:nvPr>
        </p:nvSpPr>
        <p:spPr>
          <a:xfrm>
            <a:off x="515938" y="688975"/>
            <a:ext cx="8162925" cy="954088"/>
          </a:xfrm>
        </p:spPr>
        <p:txBody>
          <a:bodyPr/>
          <a:lstStyle/>
          <a:p>
            <a:pPr eaLnBrk="1" hangingPunct="1"/>
            <a:r>
              <a:rPr lang="en-US">
                <a:latin typeface="Arial" charset="0"/>
              </a:rPr>
              <a:t>Inclusion of diffusive fluxes in FV framework</a:t>
            </a:r>
            <a:br>
              <a:rPr lang="en-US">
                <a:latin typeface="Arial" charset="0"/>
              </a:rPr>
            </a:br>
            <a:r>
              <a:rPr lang="en-US" sz="2400">
                <a:solidFill>
                  <a:schemeClr val="tx1"/>
                </a:solidFill>
                <a:latin typeface="Arial" charset="0"/>
              </a:rPr>
              <a:t>NB: we do this with the FEM now</a:t>
            </a:r>
            <a:endParaRPr lang="en-GB" sz="2400">
              <a:solidFill>
                <a:schemeClr val="tx1"/>
              </a:solidFill>
              <a:latin typeface="Arial" charset="0"/>
            </a:endParaRPr>
          </a:p>
        </p:txBody>
      </p:sp>
      <p:graphicFrame>
        <p:nvGraphicFramePr>
          <p:cNvPr id="54274" name="Object 2"/>
          <p:cNvGraphicFramePr>
            <a:graphicFrameLocks noChangeAspect="1"/>
          </p:cNvGraphicFramePr>
          <p:nvPr/>
        </p:nvGraphicFramePr>
        <p:xfrm>
          <a:off x="504825" y="1976438"/>
          <a:ext cx="8286750" cy="3587750"/>
        </p:xfrm>
        <a:graphic>
          <a:graphicData uri="http://schemas.openxmlformats.org/presentationml/2006/ole">
            <mc:AlternateContent xmlns:mc="http://schemas.openxmlformats.org/markup-compatibility/2006">
              <mc:Choice xmlns:v="urn:schemas-microsoft-com:vml" Requires="v">
                <p:oleObj name="Equation" r:id="rId3" imgW="5676840" imgH="2463480" progId="Equation.DSMT4">
                  <p:embed/>
                </p:oleObj>
              </mc:Choice>
              <mc:Fallback>
                <p:oleObj name="Equation" r:id="rId3" imgW="5676840" imgH="246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825" y="1976438"/>
                        <a:ext cx="8286750" cy="35877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8"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9"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59</a:t>
            </a:fld>
            <a:endParaRPr lang="en-US" dirty="0">
              <a:solidFill>
                <a:prstClr val="white">
                  <a:lumMod val="65000"/>
                </a:prstClr>
              </a:solidFill>
              <a:ea typeface="+mn-ea"/>
            </a:endParaRPr>
          </a:p>
        </p:txBody>
      </p:sp>
    </p:spTree>
    <p:extLst>
      <p:ext uri="{BB962C8B-B14F-4D97-AF65-F5344CB8AC3E}">
        <p14:creationId xmlns:p14="http://schemas.microsoft.com/office/powerpoint/2010/main" val="41992356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ChangeArrowheads="1"/>
          </p:cNvSpPr>
          <p:nvPr/>
        </p:nvSpPr>
        <p:spPr bwMode="auto">
          <a:xfrm>
            <a:off x="642938" y="514350"/>
            <a:ext cx="8099425"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spAutoFit/>
          </a:bodyPr>
          <a:lstStyle/>
          <a:p>
            <a:r>
              <a:rPr lang="en-US" sz="2800" dirty="0">
                <a:solidFill>
                  <a:srgbClr val="FF0066"/>
                </a:solidFill>
                <a:latin typeface="Arial" charset="0"/>
              </a:rPr>
              <a:t>Iterative higher-order FV solution with Theta time differencing</a:t>
            </a:r>
            <a:endParaRPr lang="en-GB" sz="2800" dirty="0">
              <a:solidFill>
                <a:srgbClr val="FF0066"/>
              </a:solidFill>
              <a:latin typeface="Arial" charset="0"/>
            </a:endParaRPr>
          </a:p>
        </p:txBody>
      </p:sp>
      <p:graphicFrame>
        <p:nvGraphicFramePr>
          <p:cNvPr id="58370" name="Object 2"/>
          <p:cNvGraphicFramePr>
            <a:graphicFrameLocks noChangeAspect="1"/>
          </p:cNvGraphicFramePr>
          <p:nvPr/>
        </p:nvGraphicFramePr>
        <p:xfrm>
          <a:off x="1279525" y="2614613"/>
          <a:ext cx="6789738" cy="2736850"/>
        </p:xfrm>
        <a:graphic>
          <a:graphicData uri="http://schemas.openxmlformats.org/presentationml/2006/ole">
            <mc:AlternateContent xmlns:mc="http://schemas.openxmlformats.org/markup-compatibility/2006">
              <mc:Choice xmlns:v="urn:schemas-microsoft-com:vml" Requires="v">
                <p:oleObj name="Equation" r:id="rId3" imgW="3327120" imgH="1346040" progId="Equation.DSMT4">
                  <p:embed/>
                </p:oleObj>
              </mc:Choice>
              <mc:Fallback>
                <p:oleObj name="Equation" r:id="rId3" imgW="3327120" imgH="1346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9525" y="2614613"/>
                        <a:ext cx="6789738" cy="27368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8372" name="Text Box 6"/>
          <p:cNvSpPr txBox="1">
            <a:spLocks noChangeArrowheads="1"/>
          </p:cNvSpPr>
          <p:nvPr/>
        </p:nvSpPr>
        <p:spPr bwMode="auto">
          <a:xfrm>
            <a:off x="703263" y="1839913"/>
            <a:ext cx="7261225"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LHS stays the same; extra surface integrals are added to RHS:</a:t>
            </a:r>
            <a:endParaRPr lang="en-GB" sz="2000">
              <a:latin typeface="Arial" charset="0"/>
            </a:endParaRPr>
          </a:p>
        </p:txBody>
      </p:sp>
      <p:sp>
        <p:nvSpPr>
          <p:cNvPr id="58373" name="Line 27"/>
          <p:cNvSpPr>
            <a:spLocks noChangeShapeType="1"/>
          </p:cNvSpPr>
          <p:nvPr/>
        </p:nvSpPr>
        <p:spPr bwMode="auto">
          <a:xfrm flipH="1">
            <a:off x="1790700" y="3130550"/>
            <a:ext cx="231775" cy="565150"/>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58374" name="Line 28"/>
          <p:cNvSpPr>
            <a:spLocks noChangeShapeType="1"/>
          </p:cNvSpPr>
          <p:nvPr/>
        </p:nvSpPr>
        <p:spPr bwMode="auto">
          <a:xfrm>
            <a:off x="3600450" y="3121025"/>
            <a:ext cx="163513" cy="534988"/>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58375" name="Line 29"/>
          <p:cNvSpPr>
            <a:spLocks noChangeShapeType="1"/>
          </p:cNvSpPr>
          <p:nvPr/>
        </p:nvSpPr>
        <p:spPr bwMode="auto">
          <a:xfrm flipH="1">
            <a:off x="4257675" y="3443288"/>
            <a:ext cx="1781175" cy="1116012"/>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58376" name="Line 30"/>
          <p:cNvSpPr>
            <a:spLocks noChangeShapeType="1"/>
          </p:cNvSpPr>
          <p:nvPr/>
        </p:nvSpPr>
        <p:spPr bwMode="auto">
          <a:xfrm>
            <a:off x="6400800" y="3502025"/>
            <a:ext cx="520700" cy="1062038"/>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58377" name="TextBox 8"/>
          <p:cNvSpPr txBox="1">
            <a:spLocks noChangeArrowheads="1"/>
          </p:cNvSpPr>
          <p:nvPr/>
        </p:nvSpPr>
        <p:spPr bwMode="auto">
          <a:xfrm>
            <a:off x="5453063" y="5661248"/>
            <a:ext cx="2754312"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i="1" dirty="0">
                <a:latin typeface="Arial" charset="0"/>
                <a:cs typeface="Arial" charset="0"/>
              </a:rPr>
              <a:t>Matthai et al. TIPM 2009</a:t>
            </a: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60</a:t>
            </a:fld>
            <a:endParaRPr lang="en-US" dirty="0">
              <a:solidFill>
                <a:prstClr val="white">
                  <a:lumMod val="65000"/>
                </a:prstClr>
              </a:solidFill>
              <a:ea typeface="+mn-ea"/>
            </a:endParaRPr>
          </a:p>
        </p:txBody>
      </p:sp>
    </p:spTree>
    <p:extLst>
      <p:ext uri="{BB962C8B-B14F-4D97-AF65-F5344CB8AC3E}">
        <p14:creationId xmlns:p14="http://schemas.microsoft.com/office/powerpoint/2010/main" val="23231225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074"/>
          <p:cNvSpPr>
            <a:spLocks noChangeArrowheads="1"/>
          </p:cNvSpPr>
          <p:nvPr/>
        </p:nvSpPr>
        <p:spPr bwMode="auto">
          <a:xfrm>
            <a:off x="0" y="785813"/>
            <a:ext cx="9144000"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spAutoFit/>
          </a:bodyPr>
          <a:lstStyle/>
          <a:p>
            <a:pPr algn="ctr"/>
            <a:r>
              <a:rPr lang="en-US" sz="2800" dirty="0">
                <a:solidFill>
                  <a:srgbClr val="FF0066"/>
                </a:solidFill>
                <a:latin typeface="Arial" charset="0"/>
              </a:rPr>
              <a:t>Iterative Higher-Order FV Solution with Theta Time Differencing and Diffusion</a:t>
            </a:r>
            <a:endParaRPr lang="en-GB" sz="2800" dirty="0">
              <a:solidFill>
                <a:srgbClr val="FF0066"/>
              </a:solidFill>
              <a:latin typeface="Arial" charset="0"/>
            </a:endParaRPr>
          </a:p>
        </p:txBody>
      </p:sp>
      <p:graphicFrame>
        <p:nvGraphicFramePr>
          <p:cNvPr id="60418" name="Object 2"/>
          <p:cNvGraphicFramePr>
            <a:graphicFrameLocks noChangeAspect="1"/>
          </p:cNvGraphicFramePr>
          <p:nvPr/>
        </p:nvGraphicFramePr>
        <p:xfrm>
          <a:off x="804863" y="3146425"/>
          <a:ext cx="7410450" cy="2590800"/>
        </p:xfrm>
        <a:graphic>
          <a:graphicData uri="http://schemas.openxmlformats.org/presentationml/2006/ole">
            <mc:AlternateContent xmlns:mc="http://schemas.openxmlformats.org/markup-compatibility/2006">
              <mc:Choice xmlns:v="urn:schemas-microsoft-com:vml" Requires="v">
                <p:oleObj name="Equation" r:id="rId3" imgW="3873240" imgH="1358640" progId="Equation.DSMT4">
                  <p:embed/>
                </p:oleObj>
              </mc:Choice>
              <mc:Fallback>
                <p:oleObj name="Equation" r:id="rId3" imgW="3873240" imgH="1358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3" y="3146425"/>
                        <a:ext cx="7410450" cy="2590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0420" name="Text Box 3076"/>
          <p:cNvSpPr txBox="1">
            <a:spLocks noChangeArrowheads="1"/>
          </p:cNvSpPr>
          <p:nvPr/>
        </p:nvSpPr>
        <p:spPr bwMode="auto">
          <a:xfrm>
            <a:off x="803275" y="2008188"/>
            <a:ext cx="65595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LHS stays the same; extra surface integrals are added to RHS:</a:t>
            </a:r>
            <a:endParaRPr lang="en-GB" sz="1800">
              <a:latin typeface="Arial" charset="0"/>
            </a:endParaRPr>
          </a:p>
        </p:txBody>
      </p:sp>
      <p:sp>
        <p:nvSpPr>
          <p:cNvPr id="60421" name="Line 3077"/>
          <p:cNvSpPr>
            <a:spLocks noChangeShapeType="1"/>
          </p:cNvSpPr>
          <p:nvPr/>
        </p:nvSpPr>
        <p:spPr bwMode="auto">
          <a:xfrm flipH="1">
            <a:off x="1174750" y="3617913"/>
            <a:ext cx="231775" cy="565150"/>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0422" name="Line 3078"/>
          <p:cNvSpPr>
            <a:spLocks noChangeShapeType="1"/>
          </p:cNvSpPr>
          <p:nvPr/>
        </p:nvSpPr>
        <p:spPr bwMode="auto">
          <a:xfrm>
            <a:off x="3268663" y="3684588"/>
            <a:ext cx="246062" cy="376237"/>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0423" name="Line 3079"/>
          <p:cNvSpPr>
            <a:spLocks noChangeShapeType="1"/>
          </p:cNvSpPr>
          <p:nvPr/>
        </p:nvSpPr>
        <p:spPr bwMode="auto">
          <a:xfrm flipH="1">
            <a:off x="3975100" y="3640138"/>
            <a:ext cx="1274763" cy="1398587"/>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0424" name="Line 3080"/>
          <p:cNvSpPr>
            <a:spLocks noChangeShapeType="1"/>
          </p:cNvSpPr>
          <p:nvPr/>
        </p:nvSpPr>
        <p:spPr bwMode="auto">
          <a:xfrm>
            <a:off x="5686425" y="3649663"/>
            <a:ext cx="620713" cy="1295400"/>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0425" name="Text Box 3081"/>
          <p:cNvSpPr txBox="1">
            <a:spLocks noChangeArrowheads="1"/>
          </p:cNvSpPr>
          <p:nvPr/>
        </p:nvSpPr>
        <p:spPr bwMode="auto">
          <a:xfrm>
            <a:off x="706438" y="2476500"/>
            <a:ext cx="15684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First iteration:</a:t>
            </a:r>
            <a:endParaRPr lang="en-GB" sz="1800">
              <a:latin typeface="Arial" charset="0"/>
            </a:endParaRP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61</a:t>
            </a:fld>
            <a:endParaRPr lang="en-US" dirty="0">
              <a:solidFill>
                <a:prstClr val="white">
                  <a:lumMod val="65000"/>
                </a:prstClr>
              </a:solidFill>
              <a:ea typeface="+mn-ea"/>
            </a:endParaRPr>
          </a:p>
        </p:txBody>
      </p:sp>
    </p:spTree>
    <p:extLst>
      <p:ext uri="{BB962C8B-B14F-4D97-AF65-F5344CB8AC3E}">
        <p14:creationId xmlns:p14="http://schemas.microsoft.com/office/powerpoint/2010/main" val="19011329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ChangeArrowheads="1"/>
          </p:cNvSpPr>
          <p:nvPr/>
        </p:nvSpPr>
        <p:spPr bwMode="auto">
          <a:xfrm>
            <a:off x="0" y="414338"/>
            <a:ext cx="9144000"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spAutoFit/>
          </a:bodyPr>
          <a:lstStyle/>
          <a:p>
            <a:pPr algn="ctr"/>
            <a:r>
              <a:rPr lang="en-US" sz="2800" dirty="0">
                <a:solidFill>
                  <a:srgbClr val="FF0066"/>
                </a:solidFill>
                <a:latin typeface="Arial" charset="0"/>
              </a:rPr>
              <a:t>Iterative Higher-Order FV Solution with Theta Time Differencing and Diffusion</a:t>
            </a:r>
            <a:endParaRPr lang="en-GB" sz="2800" dirty="0">
              <a:solidFill>
                <a:srgbClr val="FF0066"/>
              </a:solidFill>
              <a:latin typeface="Arial" charset="0"/>
            </a:endParaRPr>
          </a:p>
        </p:txBody>
      </p:sp>
      <p:graphicFrame>
        <p:nvGraphicFramePr>
          <p:cNvPr id="62466" name="Object 2"/>
          <p:cNvGraphicFramePr>
            <a:graphicFrameLocks noChangeAspect="1"/>
          </p:cNvGraphicFramePr>
          <p:nvPr/>
        </p:nvGraphicFramePr>
        <p:xfrm>
          <a:off x="1327150" y="2773363"/>
          <a:ext cx="6365875" cy="2592387"/>
        </p:xfrm>
        <a:graphic>
          <a:graphicData uri="http://schemas.openxmlformats.org/presentationml/2006/ole">
            <mc:AlternateContent xmlns:mc="http://schemas.openxmlformats.org/markup-compatibility/2006">
              <mc:Choice xmlns:v="urn:schemas-microsoft-com:vml" Requires="v">
                <p:oleObj name="Equation" r:id="rId3" imgW="3327120" imgH="1358640" progId="Equation.DSMT4">
                  <p:embed/>
                </p:oleObj>
              </mc:Choice>
              <mc:Fallback>
                <p:oleObj name="Equation" r:id="rId3" imgW="3327120" imgH="1358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7150" y="2773363"/>
                        <a:ext cx="6365875" cy="25923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2468" name="Text Box 4"/>
          <p:cNvSpPr txBox="1">
            <a:spLocks noChangeArrowheads="1"/>
          </p:cNvSpPr>
          <p:nvPr/>
        </p:nvSpPr>
        <p:spPr bwMode="auto">
          <a:xfrm>
            <a:off x="803275" y="1865313"/>
            <a:ext cx="65595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LHS stays the same; extra surface integrals are added to RHS:</a:t>
            </a:r>
            <a:endParaRPr lang="en-GB" sz="1800">
              <a:latin typeface="Arial" charset="0"/>
            </a:endParaRPr>
          </a:p>
        </p:txBody>
      </p:sp>
      <p:sp>
        <p:nvSpPr>
          <p:cNvPr id="62469" name="Line 5"/>
          <p:cNvSpPr>
            <a:spLocks noChangeShapeType="1"/>
          </p:cNvSpPr>
          <p:nvPr/>
        </p:nvSpPr>
        <p:spPr bwMode="auto">
          <a:xfrm flipH="1">
            <a:off x="2197100" y="3263900"/>
            <a:ext cx="231775" cy="565150"/>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2470" name="Line 6"/>
          <p:cNvSpPr>
            <a:spLocks noChangeShapeType="1"/>
          </p:cNvSpPr>
          <p:nvPr/>
        </p:nvSpPr>
        <p:spPr bwMode="auto">
          <a:xfrm flipH="1">
            <a:off x="4387850" y="3287713"/>
            <a:ext cx="85725" cy="409575"/>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2471" name="Line 7"/>
          <p:cNvSpPr>
            <a:spLocks noChangeShapeType="1"/>
          </p:cNvSpPr>
          <p:nvPr/>
        </p:nvSpPr>
        <p:spPr bwMode="auto">
          <a:xfrm flipH="1">
            <a:off x="4940300" y="3327400"/>
            <a:ext cx="1274763" cy="1398588"/>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2472" name="Line 8"/>
          <p:cNvSpPr>
            <a:spLocks noChangeShapeType="1"/>
          </p:cNvSpPr>
          <p:nvPr/>
        </p:nvSpPr>
        <p:spPr bwMode="auto">
          <a:xfrm>
            <a:off x="7124700" y="3311525"/>
            <a:ext cx="271463" cy="1295400"/>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62473" name="Text Box 9"/>
          <p:cNvSpPr txBox="1">
            <a:spLocks noChangeArrowheads="1"/>
          </p:cNvSpPr>
          <p:nvPr/>
        </p:nvSpPr>
        <p:spPr bwMode="auto">
          <a:xfrm>
            <a:off x="177800" y="2333625"/>
            <a:ext cx="20764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All other iterations:</a:t>
            </a:r>
            <a:endParaRPr lang="en-GB" sz="1800">
              <a:latin typeface="Arial" charset="0"/>
            </a:endParaRP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62</a:t>
            </a:fld>
            <a:endParaRPr lang="en-US" dirty="0">
              <a:solidFill>
                <a:prstClr val="white">
                  <a:lumMod val="65000"/>
                </a:prstClr>
              </a:solidFill>
              <a:ea typeface="+mn-ea"/>
            </a:endParaRPr>
          </a:p>
        </p:txBody>
      </p:sp>
    </p:spTree>
    <p:extLst>
      <p:ext uri="{BB962C8B-B14F-4D97-AF65-F5344CB8AC3E}">
        <p14:creationId xmlns:p14="http://schemas.microsoft.com/office/powerpoint/2010/main" val="16320812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8" name="Rectangle 1047"/>
          <p:cNvSpPr>
            <a:spLocks noChangeArrowheads="1"/>
          </p:cNvSpPr>
          <p:nvPr/>
        </p:nvSpPr>
        <p:spPr bwMode="auto">
          <a:xfrm>
            <a:off x="768350" y="1196975"/>
            <a:ext cx="393700" cy="417513"/>
          </a:xfrm>
          <a:prstGeom prst="rect">
            <a:avLst/>
          </a:prstGeom>
          <a:solidFill>
            <a:srgbClr val="FFC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64519" name="Rectangle 1046"/>
          <p:cNvSpPr>
            <a:spLocks noChangeArrowheads="1"/>
          </p:cNvSpPr>
          <p:nvPr/>
        </p:nvSpPr>
        <p:spPr bwMode="auto">
          <a:xfrm>
            <a:off x="1868488" y="1665288"/>
            <a:ext cx="263525" cy="32543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64520" name="Rectangle 1045"/>
          <p:cNvSpPr>
            <a:spLocks noChangeArrowheads="1"/>
          </p:cNvSpPr>
          <p:nvPr/>
        </p:nvSpPr>
        <p:spPr bwMode="auto">
          <a:xfrm>
            <a:off x="6240463" y="2087563"/>
            <a:ext cx="263525" cy="32543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64521" name="Text Box 1026"/>
          <p:cNvSpPr txBox="1">
            <a:spLocks noChangeArrowheads="1"/>
          </p:cNvSpPr>
          <p:nvPr/>
        </p:nvSpPr>
        <p:spPr bwMode="auto">
          <a:xfrm>
            <a:off x="639763" y="366713"/>
            <a:ext cx="6816725"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3200" dirty="0">
                <a:solidFill>
                  <a:srgbClr val="FF0066"/>
                </a:solidFill>
                <a:latin typeface="Arial" charset="0"/>
              </a:rPr>
              <a:t>Spatial Limiting of </a:t>
            </a:r>
            <a:r>
              <a:rPr lang="en-US" sz="3200" dirty="0" err="1">
                <a:solidFill>
                  <a:srgbClr val="FF0066"/>
                </a:solidFill>
                <a:latin typeface="Arial" charset="0"/>
              </a:rPr>
              <a:t>Advected</a:t>
            </a:r>
            <a:r>
              <a:rPr lang="en-US" sz="3200" dirty="0">
                <a:solidFill>
                  <a:srgbClr val="FF0066"/>
                </a:solidFill>
                <a:latin typeface="Arial" charset="0"/>
              </a:rPr>
              <a:t> Quantity</a:t>
            </a:r>
            <a:endParaRPr lang="en-GB" sz="3200" dirty="0">
              <a:solidFill>
                <a:srgbClr val="FF0066"/>
              </a:solidFill>
              <a:latin typeface="Arial" charset="0"/>
            </a:endParaRPr>
          </a:p>
        </p:txBody>
      </p:sp>
      <p:graphicFrame>
        <p:nvGraphicFramePr>
          <p:cNvPr id="64514" name="Object 2"/>
          <p:cNvGraphicFramePr>
            <a:graphicFrameLocks noChangeAspect="1"/>
          </p:cNvGraphicFramePr>
          <p:nvPr/>
        </p:nvGraphicFramePr>
        <p:xfrm>
          <a:off x="795338" y="1241425"/>
          <a:ext cx="4405312" cy="3465513"/>
        </p:xfrm>
        <a:graphic>
          <a:graphicData uri="http://schemas.openxmlformats.org/presentationml/2006/ole">
            <mc:AlternateContent xmlns:mc="http://schemas.openxmlformats.org/markup-compatibility/2006">
              <mc:Choice xmlns:v="urn:schemas-microsoft-com:vml" Requires="v">
                <p:oleObj name="Equation" r:id="rId3" imgW="2819160" imgH="2222280" progId="Equation.3">
                  <p:embed/>
                </p:oleObj>
              </mc:Choice>
              <mc:Fallback>
                <p:oleObj name="Equation" r:id="rId3" imgW="2819160" imgH="22222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338" y="1241425"/>
                        <a:ext cx="4405312" cy="34655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4522" name="Text Box 1028"/>
          <p:cNvSpPr txBox="1">
            <a:spLocks noChangeArrowheads="1"/>
          </p:cNvSpPr>
          <p:nvPr/>
        </p:nvSpPr>
        <p:spPr bwMode="auto">
          <a:xfrm>
            <a:off x="947738" y="5067300"/>
            <a:ext cx="4064000" cy="1190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err="1">
                <a:latin typeface="Arial" charset="0"/>
                <a:sym typeface="Symbol" charset="0"/>
              </a:rPr>
              <a:t>ψ</a:t>
            </a:r>
            <a:r>
              <a:rPr lang="en-US" sz="1800" baseline="-25000" dirty="0" err="1">
                <a:latin typeface="Arial" charset="0"/>
              </a:rPr>
              <a:t>min</a:t>
            </a:r>
            <a:r>
              <a:rPr lang="en-US" sz="1800" dirty="0">
                <a:latin typeface="Arial" charset="0"/>
              </a:rPr>
              <a:t> and </a:t>
            </a:r>
            <a:r>
              <a:rPr lang="en-US" sz="1800" dirty="0" err="1">
                <a:latin typeface="Arial" charset="0"/>
                <a:sym typeface="Symbol" charset="0"/>
              </a:rPr>
              <a:t>ψ</a:t>
            </a:r>
            <a:r>
              <a:rPr lang="en-US" sz="1800" baseline="-25000" dirty="0" err="1">
                <a:latin typeface="Arial" charset="0"/>
              </a:rPr>
              <a:t>max</a:t>
            </a:r>
            <a:r>
              <a:rPr lang="en-US" sz="1800" dirty="0">
                <a:latin typeface="Arial" charset="0"/>
              </a:rPr>
              <a:t> refer to minimum and maximum values of </a:t>
            </a:r>
            <a:r>
              <a:rPr lang="en-US" sz="1800" dirty="0" err="1">
                <a:latin typeface="Arial" charset="0"/>
              </a:rPr>
              <a:t>advected</a:t>
            </a:r>
            <a:r>
              <a:rPr lang="en-US" sz="1800" dirty="0">
                <a:latin typeface="Arial" charset="0"/>
              </a:rPr>
              <a:t> property at upstream FV and its immediate neighbor cells.</a:t>
            </a:r>
            <a:endParaRPr lang="en-GB" sz="1800" dirty="0">
              <a:latin typeface="Arial" charset="0"/>
            </a:endParaRPr>
          </a:p>
        </p:txBody>
      </p:sp>
      <p:grpSp>
        <p:nvGrpSpPr>
          <p:cNvPr id="64523" name="Group 1029"/>
          <p:cNvGrpSpPr>
            <a:grpSpLocks/>
          </p:cNvGrpSpPr>
          <p:nvPr/>
        </p:nvGrpSpPr>
        <p:grpSpPr bwMode="auto">
          <a:xfrm>
            <a:off x="5434013" y="3184525"/>
            <a:ext cx="3211512" cy="3282950"/>
            <a:chOff x="3278" y="1746"/>
            <a:chExt cx="2023" cy="2068"/>
          </a:xfrm>
        </p:grpSpPr>
        <p:sp>
          <p:nvSpPr>
            <p:cNvPr id="64524" name="Rectangle 1030"/>
            <p:cNvSpPr>
              <a:spLocks noChangeArrowheads="1"/>
            </p:cNvSpPr>
            <p:nvPr/>
          </p:nvSpPr>
          <p:spPr bwMode="auto">
            <a:xfrm>
              <a:off x="3842" y="1982"/>
              <a:ext cx="1459" cy="1386"/>
            </a:xfrm>
            <a:prstGeom prst="rect">
              <a:avLst/>
            </a:prstGeom>
            <a:solidFill>
              <a:schemeClr val="accent1"/>
            </a:solidFill>
            <a:ln w="19050">
              <a:solidFill>
                <a:schemeClr val="tx1"/>
              </a:solidFill>
              <a:miter lim="800000"/>
              <a:headEnd/>
              <a:tailEnd/>
            </a:ln>
          </p:spPr>
          <p:txBody>
            <a:bodyPr wrap="none" anchor="ctr"/>
            <a:lstStyle/>
            <a:p>
              <a:endParaRPr lang="en-US"/>
            </a:p>
          </p:txBody>
        </p:sp>
        <p:sp>
          <p:nvSpPr>
            <p:cNvPr id="64525" name="Line 1031"/>
            <p:cNvSpPr>
              <a:spLocks noChangeShapeType="1"/>
            </p:cNvSpPr>
            <p:nvPr/>
          </p:nvSpPr>
          <p:spPr bwMode="auto">
            <a:xfrm>
              <a:off x="4257" y="1977"/>
              <a:ext cx="0" cy="1450"/>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64526" name="Line 1032"/>
            <p:cNvSpPr>
              <a:spLocks noChangeShapeType="1"/>
            </p:cNvSpPr>
            <p:nvPr/>
          </p:nvSpPr>
          <p:spPr bwMode="auto">
            <a:xfrm>
              <a:off x="4866" y="1980"/>
              <a:ext cx="0" cy="1450"/>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64527" name="Line 1033"/>
            <p:cNvSpPr>
              <a:spLocks noChangeShapeType="1"/>
            </p:cNvSpPr>
            <p:nvPr/>
          </p:nvSpPr>
          <p:spPr bwMode="auto">
            <a:xfrm flipH="1">
              <a:off x="3842" y="1982"/>
              <a:ext cx="1454" cy="1381"/>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64528" name="Freeform 1034"/>
            <p:cNvSpPr>
              <a:spLocks/>
            </p:cNvSpPr>
            <p:nvPr/>
          </p:nvSpPr>
          <p:spPr bwMode="auto">
            <a:xfrm>
              <a:off x="4257" y="2397"/>
              <a:ext cx="610" cy="576"/>
            </a:xfrm>
            <a:custGeom>
              <a:avLst/>
              <a:gdLst>
                <a:gd name="T0" fmla="*/ 0 w 610"/>
                <a:gd name="T1" fmla="*/ 576 h 576"/>
                <a:gd name="T2" fmla="*/ 610 w 610"/>
                <a:gd name="T3" fmla="*/ 576 h 576"/>
                <a:gd name="T4" fmla="*/ 610 w 610"/>
                <a:gd name="T5" fmla="*/ 0 h 576"/>
                <a:gd name="T6" fmla="*/ 268 w 610"/>
                <a:gd name="T7" fmla="*/ 0 h 576"/>
                <a:gd name="T8" fmla="*/ 0 w 610"/>
                <a:gd name="T9" fmla="*/ 576 h 576"/>
                <a:gd name="T10" fmla="*/ 0 60000 65536"/>
                <a:gd name="T11" fmla="*/ 0 60000 65536"/>
                <a:gd name="T12" fmla="*/ 0 60000 65536"/>
                <a:gd name="T13" fmla="*/ 0 60000 65536"/>
                <a:gd name="T14" fmla="*/ 0 60000 65536"/>
                <a:gd name="T15" fmla="*/ 0 w 610"/>
                <a:gd name="T16" fmla="*/ 0 h 576"/>
                <a:gd name="T17" fmla="*/ 610 w 610"/>
                <a:gd name="T18" fmla="*/ 576 h 576"/>
              </a:gdLst>
              <a:ahLst/>
              <a:cxnLst>
                <a:cxn ang="T10">
                  <a:pos x="T0" y="T1"/>
                </a:cxn>
                <a:cxn ang="T11">
                  <a:pos x="T2" y="T3"/>
                </a:cxn>
                <a:cxn ang="T12">
                  <a:pos x="T4" y="T5"/>
                </a:cxn>
                <a:cxn ang="T13">
                  <a:pos x="T6" y="T7"/>
                </a:cxn>
                <a:cxn ang="T14">
                  <a:pos x="T8" y="T9"/>
                </a:cxn>
              </a:cxnLst>
              <a:rect l="T15" t="T16" r="T17" b="T18"/>
              <a:pathLst>
                <a:path w="610" h="576">
                  <a:moveTo>
                    <a:pt x="0" y="576"/>
                  </a:moveTo>
                  <a:lnTo>
                    <a:pt x="610" y="576"/>
                  </a:lnTo>
                  <a:lnTo>
                    <a:pt x="610" y="0"/>
                  </a:lnTo>
                  <a:lnTo>
                    <a:pt x="268" y="0"/>
                  </a:lnTo>
                  <a:lnTo>
                    <a:pt x="0" y="576"/>
                  </a:lnTo>
                  <a:close/>
                </a:path>
              </a:pathLst>
            </a:custGeom>
            <a:solidFill>
              <a:schemeClr val="tx1"/>
            </a:solidFill>
            <a:ln w="9525">
              <a:solidFill>
                <a:schemeClr val="tx1"/>
              </a:solidFill>
              <a:miter lim="800000"/>
              <a:headEnd/>
              <a:tailEnd/>
            </a:ln>
          </p:spPr>
          <p:txBody>
            <a:bodyPr wrap="none"/>
            <a:lstStyle/>
            <a:p>
              <a:endParaRPr lang="en-US"/>
            </a:p>
          </p:txBody>
        </p:sp>
        <p:sp>
          <p:nvSpPr>
            <p:cNvPr id="64529" name="Line 1035"/>
            <p:cNvSpPr>
              <a:spLocks noChangeShapeType="1"/>
            </p:cNvSpPr>
            <p:nvPr/>
          </p:nvSpPr>
          <p:spPr bwMode="auto">
            <a:xfrm flipH="1">
              <a:off x="3778" y="2402"/>
              <a:ext cx="1089" cy="0"/>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64530" name="Line 1036"/>
            <p:cNvSpPr>
              <a:spLocks noChangeShapeType="1"/>
            </p:cNvSpPr>
            <p:nvPr/>
          </p:nvSpPr>
          <p:spPr bwMode="auto">
            <a:xfrm flipH="1">
              <a:off x="3777" y="2972"/>
              <a:ext cx="1089" cy="0"/>
            </a:xfrm>
            <a:prstGeom prst="line">
              <a:avLst/>
            </a:prstGeom>
            <a:noFill/>
            <a:ln w="9525">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64531" name="Text Box 1037"/>
            <p:cNvSpPr txBox="1">
              <a:spLocks noChangeArrowheads="1"/>
            </p:cNvSpPr>
            <p:nvPr/>
          </p:nvSpPr>
          <p:spPr bwMode="auto">
            <a:xfrm>
              <a:off x="4081" y="3378"/>
              <a:ext cx="35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0.0</a:t>
              </a:r>
              <a:endParaRPr lang="en-GB" sz="1800"/>
            </a:p>
          </p:txBody>
        </p:sp>
        <p:sp>
          <p:nvSpPr>
            <p:cNvPr id="64532" name="Text Box 1038"/>
            <p:cNvSpPr txBox="1">
              <a:spLocks noChangeArrowheads="1"/>
            </p:cNvSpPr>
            <p:nvPr/>
          </p:nvSpPr>
          <p:spPr bwMode="auto">
            <a:xfrm>
              <a:off x="4690" y="3373"/>
              <a:ext cx="35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1.0</a:t>
              </a:r>
              <a:endParaRPr lang="en-GB" sz="1800"/>
            </a:p>
          </p:txBody>
        </p:sp>
        <p:sp>
          <p:nvSpPr>
            <p:cNvPr id="64533" name="Text Box 1039"/>
            <p:cNvSpPr txBox="1">
              <a:spLocks noChangeArrowheads="1"/>
            </p:cNvSpPr>
            <p:nvPr/>
          </p:nvSpPr>
          <p:spPr bwMode="auto">
            <a:xfrm>
              <a:off x="3455" y="2854"/>
              <a:ext cx="35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0.0</a:t>
              </a:r>
              <a:endParaRPr lang="en-GB" sz="1800"/>
            </a:p>
          </p:txBody>
        </p:sp>
        <p:sp>
          <p:nvSpPr>
            <p:cNvPr id="64534" name="Text Box 1040"/>
            <p:cNvSpPr txBox="1">
              <a:spLocks noChangeArrowheads="1"/>
            </p:cNvSpPr>
            <p:nvPr/>
          </p:nvSpPr>
          <p:spPr bwMode="auto">
            <a:xfrm>
              <a:off x="3459" y="2283"/>
              <a:ext cx="35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1.0</a:t>
              </a:r>
              <a:endParaRPr lang="en-GB" sz="1800"/>
            </a:p>
          </p:txBody>
        </p:sp>
        <p:sp>
          <p:nvSpPr>
            <p:cNvPr id="64535" name="Text Box 1041"/>
            <p:cNvSpPr txBox="1">
              <a:spLocks noChangeArrowheads="1"/>
            </p:cNvSpPr>
            <p:nvPr/>
          </p:nvSpPr>
          <p:spPr bwMode="auto">
            <a:xfrm>
              <a:off x="4013" y="1746"/>
              <a:ext cx="109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NVD Diagram</a:t>
              </a:r>
              <a:endParaRPr lang="en-GB" sz="1800"/>
            </a:p>
          </p:txBody>
        </p:sp>
        <p:graphicFrame>
          <p:nvGraphicFramePr>
            <p:cNvPr id="64516" name="Object 4"/>
            <p:cNvGraphicFramePr>
              <a:graphicFrameLocks noChangeAspect="1"/>
            </p:cNvGraphicFramePr>
            <p:nvPr/>
          </p:nvGraphicFramePr>
          <p:xfrm>
            <a:off x="4448" y="3453"/>
            <a:ext cx="322" cy="361"/>
          </p:xfrm>
          <a:graphic>
            <a:graphicData uri="http://schemas.openxmlformats.org/presentationml/2006/ole">
              <mc:AlternateContent xmlns:mc="http://schemas.openxmlformats.org/markup-compatibility/2006">
                <mc:Choice xmlns:v="urn:schemas-microsoft-com:vml" Requires="v">
                  <p:oleObj name="Equation" r:id="rId5" imgW="203040" imgH="228600" progId="Equation.3">
                    <p:embed/>
                  </p:oleObj>
                </mc:Choice>
                <mc:Fallback>
                  <p:oleObj name="Equation" r:id="rId5" imgW="20304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8" y="3453"/>
                          <a:ext cx="322" cy="36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4517" name="Object 5"/>
            <p:cNvGraphicFramePr>
              <a:graphicFrameLocks noChangeAspect="1"/>
            </p:cNvGraphicFramePr>
            <p:nvPr/>
          </p:nvGraphicFramePr>
          <p:xfrm>
            <a:off x="3278" y="2510"/>
            <a:ext cx="342" cy="401"/>
          </p:xfrm>
          <a:graphic>
            <a:graphicData uri="http://schemas.openxmlformats.org/presentationml/2006/ole">
              <mc:AlternateContent xmlns:mc="http://schemas.openxmlformats.org/markup-compatibility/2006">
                <mc:Choice xmlns:v="urn:schemas-microsoft-com:vml" Requires="v">
                  <p:oleObj name="Equation" r:id="rId7" imgW="215640" imgH="253800" progId="Equation.DSMT4">
                    <p:embed/>
                  </p:oleObj>
                </mc:Choice>
                <mc:Fallback>
                  <p:oleObj name="Equation" r:id="rId7" imgW="215640" imgH="253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8" y="2510"/>
                          <a:ext cx="342" cy="40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pic>
        <p:nvPicPr>
          <p:cNvPr id="2" name="Picture 1"/>
          <p:cNvPicPr>
            <a:picLocks noChangeAspect="1"/>
          </p:cNvPicPr>
          <p:nvPr/>
        </p:nvPicPr>
        <p:blipFill>
          <a:blip r:embed="rId9"/>
          <a:stretch>
            <a:fillRect/>
          </a:stretch>
        </p:blipFill>
        <p:spPr>
          <a:xfrm rot="10800000">
            <a:off x="6252585" y="1665531"/>
            <a:ext cx="2374900" cy="1130300"/>
          </a:xfrm>
          <a:prstGeom prst="rect">
            <a:avLst/>
          </a:prstGeom>
        </p:spPr>
      </p:pic>
      <p:sp>
        <p:nvSpPr>
          <p:cNvPr id="24"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25"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26"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63</a:t>
            </a:fld>
            <a:endParaRPr lang="en-US" dirty="0">
              <a:solidFill>
                <a:prstClr val="white">
                  <a:lumMod val="65000"/>
                </a:prstClr>
              </a:solidFill>
              <a:ea typeface="+mn-ea"/>
            </a:endParaRPr>
          </a:p>
        </p:txBody>
      </p:sp>
    </p:spTree>
    <p:extLst>
      <p:ext uri="{BB962C8B-B14F-4D97-AF65-F5344CB8AC3E}">
        <p14:creationId xmlns:p14="http://schemas.microsoft.com/office/powerpoint/2010/main" val="8370555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7"/>
          <p:cNvSpPr>
            <a:spLocks noChangeArrowheads="1"/>
          </p:cNvSpPr>
          <p:nvPr/>
        </p:nvSpPr>
        <p:spPr bwMode="auto">
          <a:xfrm>
            <a:off x="803275" y="1512888"/>
            <a:ext cx="384175" cy="384175"/>
          </a:xfrm>
          <a:prstGeom prst="rect">
            <a:avLst/>
          </a:prstGeom>
          <a:solidFill>
            <a:srgbClr val="FFC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66565" name="Rectangle 2"/>
          <p:cNvSpPr>
            <a:spLocks noGrp="1" noChangeArrowheads="1"/>
          </p:cNvSpPr>
          <p:nvPr>
            <p:ph type="title"/>
          </p:nvPr>
        </p:nvSpPr>
        <p:spPr>
          <a:xfrm>
            <a:off x="400050" y="319088"/>
            <a:ext cx="8153400" cy="519112"/>
          </a:xfrm>
        </p:spPr>
        <p:txBody>
          <a:bodyPr/>
          <a:lstStyle/>
          <a:p>
            <a:pPr algn="ctr" eaLnBrk="1" hangingPunct="1"/>
            <a:r>
              <a:rPr lang="en-US" sz="2800">
                <a:latin typeface="Arial" charset="0"/>
              </a:rPr>
              <a:t>Theta Time Differencing</a:t>
            </a:r>
            <a:endParaRPr lang="en-GB" sz="2800">
              <a:latin typeface="Arial" charset="0"/>
            </a:endParaRPr>
          </a:p>
        </p:txBody>
      </p:sp>
      <p:graphicFrame>
        <p:nvGraphicFramePr>
          <p:cNvPr id="66562" name="Object 2"/>
          <p:cNvGraphicFramePr>
            <a:graphicFrameLocks noChangeAspect="1"/>
          </p:cNvGraphicFramePr>
          <p:nvPr/>
        </p:nvGraphicFramePr>
        <p:xfrm>
          <a:off x="817563" y="1085850"/>
          <a:ext cx="5461000" cy="5187950"/>
        </p:xfrm>
        <a:graphic>
          <a:graphicData uri="http://schemas.openxmlformats.org/presentationml/2006/ole">
            <mc:AlternateContent xmlns:mc="http://schemas.openxmlformats.org/markup-compatibility/2006">
              <mc:Choice xmlns:v="urn:schemas-microsoft-com:vml" Requires="v">
                <p:oleObj name="Equation" r:id="rId3" imgW="3149280" imgH="2997000" progId="Equation.3">
                  <p:embed/>
                </p:oleObj>
              </mc:Choice>
              <mc:Fallback>
                <p:oleObj name="Equation" r:id="rId3" imgW="3149280" imgH="2997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563" y="1085850"/>
                        <a:ext cx="5461000" cy="51879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6563"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DSMT4">
                  <p:embed/>
                </p:oleObj>
              </mc:Choice>
              <mc:Fallback>
                <p:oleObj name="Equation" r:id="rId5" imgW="114120" imgH="215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6566" name="Text Box 6"/>
          <p:cNvSpPr txBox="1">
            <a:spLocks noChangeArrowheads="1"/>
          </p:cNvSpPr>
          <p:nvPr/>
        </p:nvSpPr>
        <p:spPr bwMode="auto">
          <a:xfrm>
            <a:off x="6286500" y="1577975"/>
            <a:ext cx="2133600" cy="137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a:t>Idea</a:t>
            </a:r>
          </a:p>
          <a:p>
            <a:pPr eaLnBrk="1" hangingPunct="1"/>
            <a:r>
              <a:rPr lang="en-US" i="1">
                <a:sym typeface="Symbol" charset="0"/>
              </a:rPr>
              <a:t>θ</a:t>
            </a:r>
            <a:r>
              <a:rPr lang="en-US" sz="1800"/>
              <a:t>should be</a:t>
            </a:r>
          </a:p>
          <a:p>
            <a:pPr eaLnBrk="1" hangingPunct="1"/>
            <a:r>
              <a:rPr lang="en-US" sz="1800"/>
              <a:t>as close to ½ as </a:t>
            </a:r>
          </a:p>
          <a:p>
            <a:pPr eaLnBrk="1" hangingPunct="1"/>
            <a:r>
              <a:rPr lang="en-US" sz="1800"/>
              <a:t>possible </a:t>
            </a:r>
            <a:endParaRPr lang="en-GB" sz="1800"/>
          </a:p>
        </p:txBody>
      </p:sp>
      <p:sp>
        <p:nvSpPr>
          <p:cNvPr id="7"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8"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9"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64</a:t>
            </a:fld>
            <a:endParaRPr lang="en-US" dirty="0">
              <a:solidFill>
                <a:prstClr val="white">
                  <a:lumMod val="65000"/>
                </a:prstClr>
              </a:solidFill>
              <a:ea typeface="+mn-ea"/>
            </a:endParaRPr>
          </a:p>
        </p:txBody>
      </p:sp>
    </p:spTree>
    <p:extLst>
      <p:ext uri="{BB962C8B-B14F-4D97-AF65-F5344CB8AC3E}">
        <p14:creationId xmlns:p14="http://schemas.microsoft.com/office/powerpoint/2010/main" val="6090078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1026"/>
          <p:cNvSpPr>
            <a:spLocks noGrp="1" noChangeArrowheads="1"/>
          </p:cNvSpPr>
          <p:nvPr>
            <p:ph type="title"/>
          </p:nvPr>
        </p:nvSpPr>
        <p:spPr>
          <a:xfrm>
            <a:off x="631825" y="885825"/>
            <a:ext cx="7605713" cy="822325"/>
          </a:xfrm>
        </p:spPr>
        <p:txBody>
          <a:bodyPr>
            <a:normAutofit fontScale="90000"/>
          </a:bodyPr>
          <a:lstStyle/>
          <a:p>
            <a:pPr algn="ctr" eaLnBrk="1" hangingPunct="1"/>
            <a:r>
              <a:rPr lang="en-US" sz="2400">
                <a:latin typeface="Arial" charset="0"/>
              </a:rPr>
              <a:t>Averting Divergence-Related Negative Contributions to Solution Matrix</a:t>
            </a:r>
            <a:endParaRPr lang="en-GB" sz="2400">
              <a:latin typeface="Arial" charset="0"/>
            </a:endParaRPr>
          </a:p>
        </p:txBody>
      </p:sp>
      <p:graphicFrame>
        <p:nvGraphicFramePr>
          <p:cNvPr id="68610" name="Object 2"/>
          <p:cNvGraphicFramePr>
            <a:graphicFrameLocks noChangeAspect="1"/>
          </p:cNvGraphicFramePr>
          <p:nvPr/>
        </p:nvGraphicFramePr>
        <p:xfrm>
          <a:off x="622300" y="2006600"/>
          <a:ext cx="7899400" cy="3411538"/>
        </p:xfrm>
        <a:graphic>
          <a:graphicData uri="http://schemas.openxmlformats.org/presentationml/2006/ole">
            <mc:AlternateContent xmlns:mc="http://schemas.openxmlformats.org/markup-compatibility/2006">
              <mc:Choice xmlns:v="urn:schemas-microsoft-com:vml" Requires="v">
                <p:oleObj name="Equation" r:id="rId3" imgW="4292280" imgH="1854000" progId="Equation.DSMT4">
                  <p:embed/>
                </p:oleObj>
              </mc:Choice>
              <mc:Fallback>
                <p:oleObj name="Equation" r:id="rId3" imgW="4292280" imgH="1854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 y="2006600"/>
                        <a:ext cx="7899400" cy="34115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8612" name="Text Box 1028"/>
          <p:cNvSpPr txBox="1">
            <a:spLocks noChangeArrowheads="1"/>
          </p:cNvSpPr>
          <p:nvPr/>
        </p:nvSpPr>
        <p:spPr bwMode="auto">
          <a:xfrm>
            <a:off x="1912938" y="5722938"/>
            <a:ext cx="5932487"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Sigma is only used to calculate the omega value !</a:t>
            </a:r>
            <a:endParaRPr lang="en-GB" sz="1800"/>
          </a:p>
        </p:txBody>
      </p:sp>
      <p:pic>
        <p:nvPicPr>
          <p:cNvPr id="68613" name="Picture 1029" descr="omega-balan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6038" y="3003550"/>
            <a:ext cx="3349625" cy="2486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7"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8"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65</a:t>
            </a:fld>
            <a:endParaRPr lang="en-US" dirty="0">
              <a:solidFill>
                <a:prstClr val="white">
                  <a:lumMod val="65000"/>
                </a:prstClr>
              </a:solidFill>
              <a:ea typeface="+mn-ea"/>
            </a:endParaRPr>
          </a:p>
        </p:txBody>
      </p:sp>
    </p:spTree>
    <p:extLst>
      <p:ext uri="{BB962C8B-B14F-4D97-AF65-F5344CB8AC3E}">
        <p14:creationId xmlns:p14="http://schemas.microsoft.com/office/powerpoint/2010/main" val="33851365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Freeform 24"/>
          <p:cNvSpPr>
            <a:spLocks/>
          </p:cNvSpPr>
          <p:nvPr/>
        </p:nvSpPr>
        <p:spPr bwMode="auto">
          <a:xfrm>
            <a:off x="5353050" y="4487863"/>
            <a:ext cx="2876550" cy="1187450"/>
          </a:xfrm>
          <a:custGeom>
            <a:avLst/>
            <a:gdLst>
              <a:gd name="T0" fmla="*/ 0 w 1812"/>
              <a:gd name="T1" fmla="*/ 0 h 748"/>
              <a:gd name="T2" fmla="*/ 264 w 1812"/>
              <a:gd name="T3" fmla="*/ 0 h 748"/>
              <a:gd name="T4" fmla="*/ 264 w 1812"/>
              <a:gd name="T5" fmla="*/ 211 h 748"/>
              <a:gd name="T6" fmla="*/ 774 w 1812"/>
              <a:gd name="T7" fmla="*/ 211 h 748"/>
              <a:gd name="T8" fmla="*/ 779 w 1812"/>
              <a:gd name="T9" fmla="*/ 594 h 748"/>
              <a:gd name="T10" fmla="*/ 1161 w 1812"/>
              <a:gd name="T11" fmla="*/ 594 h 748"/>
              <a:gd name="T12" fmla="*/ 1157 w 1812"/>
              <a:gd name="T13" fmla="*/ 748 h 748"/>
              <a:gd name="T14" fmla="*/ 1812 w 1812"/>
              <a:gd name="T15" fmla="*/ 739 h 748"/>
              <a:gd name="T16" fmla="*/ 0 60000 65536"/>
              <a:gd name="T17" fmla="*/ 0 60000 65536"/>
              <a:gd name="T18" fmla="*/ 0 60000 65536"/>
              <a:gd name="T19" fmla="*/ 0 60000 65536"/>
              <a:gd name="T20" fmla="*/ 0 60000 65536"/>
              <a:gd name="T21" fmla="*/ 0 60000 65536"/>
              <a:gd name="T22" fmla="*/ 0 60000 65536"/>
              <a:gd name="T23" fmla="*/ 0 60000 65536"/>
              <a:gd name="T24" fmla="*/ 0 w 1812"/>
              <a:gd name="T25" fmla="*/ 0 h 748"/>
              <a:gd name="T26" fmla="*/ 1812 w 1812"/>
              <a:gd name="T27" fmla="*/ 748 h 7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12" h="748">
                <a:moveTo>
                  <a:pt x="0" y="0"/>
                </a:moveTo>
                <a:lnTo>
                  <a:pt x="264" y="0"/>
                </a:lnTo>
                <a:lnTo>
                  <a:pt x="264" y="211"/>
                </a:lnTo>
                <a:lnTo>
                  <a:pt x="774" y="211"/>
                </a:lnTo>
                <a:lnTo>
                  <a:pt x="779" y="594"/>
                </a:lnTo>
                <a:lnTo>
                  <a:pt x="1161" y="594"/>
                </a:lnTo>
                <a:lnTo>
                  <a:pt x="1157" y="748"/>
                </a:lnTo>
                <a:lnTo>
                  <a:pt x="1812" y="739"/>
                </a:lnTo>
              </a:path>
            </a:pathLst>
          </a:custGeom>
          <a:noFill/>
          <a:ln w="19050">
            <a:solidFill>
              <a:srgbClr val="B2B2B2"/>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US"/>
          </a:p>
        </p:txBody>
      </p:sp>
      <p:sp>
        <p:nvSpPr>
          <p:cNvPr id="56326" name="Rectangle 2"/>
          <p:cNvSpPr>
            <a:spLocks noGrp="1" noChangeArrowheads="1"/>
          </p:cNvSpPr>
          <p:nvPr>
            <p:ph type="title"/>
          </p:nvPr>
        </p:nvSpPr>
        <p:spPr>
          <a:xfrm>
            <a:off x="0" y="220663"/>
            <a:ext cx="9144000" cy="396875"/>
          </a:xfrm>
        </p:spPr>
        <p:txBody>
          <a:bodyPr>
            <a:noAutofit/>
          </a:bodyPr>
          <a:lstStyle/>
          <a:p>
            <a:pPr algn="ctr" eaLnBrk="1" hangingPunct="1"/>
            <a:r>
              <a:rPr lang="en-US" sz="2400" dirty="0" err="1">
                <a:latin typeface="Arial" charset="0"/>
              </a:rPr>
              <a:t>Bijective</a:t>
            </a:r>
            <a:r>
              <a:rPr lang="en-US" sz="2400" dirty="0">
                <a:latin typeface="Arial" charset="0"/>
              </a:rPr>
              <a:t>-Mapping between FV &amp; FEM </a:t>
            </a:r>
            <a:r>
              <a:rPr lang="en-US" sz="2400" dirty="0" err="1">
                <a:latin typeface="Arial" charset="0"/>
              </a:rPr>
              <a:t>Discretisation</a:t>
            </a:r>
            <a:endParaRPr lang="en-US" sz="2400" dirty="0">
              <a:latin typeface="Arial" charset="0"/>
            </a:endParaRPr>
          </a:p>
        </p:txBody>
      </p:sp>
      <p:graphicFrame>
        <p:nvGraphicFramePr>
          <p:cNvPr id="56322" name="Object 2"/>
          <p:cNvGraphicFramePr>
            <a:graphicFrameLocks noChangeAspect="1"/>
          </p:cNvGraphicFramePr>
          <p:nvPr/>
        </p:nvGraphicFramePr>
        <p:xfrm>
          <a:off x="749300" y="2447925"/>
          <a:ext cx="7351713" cy="579438"/>
        </p:xfrm>
        <a:graphic>
          <a:graphicData uri="http://schemas.openxmlformats.org/presentationml/2006/ole">
            <mc:AlternateContent xmlns:mc="http://schemas.openxmlformats.org/markup-compatibility/2006">
              <mc:Choice xmlns:v="urn:schemas-microsoft-com:vml" Requires="v">
                <p:oleObj name="Equation" r:id="rId3" imgW="5143320" imgH="406080" progId="Equation.3">
                  <p:embed/>
                </p:oleObj>
              </mc:Choice>
              <mc:Fallback>
                <p:oleObj name="Equation" r:id="rId3" imgW="5143320" imgH="4060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300" y="2447925"/>
                        <a:ext cx="7351713" cy="5794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6323" name="Object 3"/>
          <p:cNvGraphicFramePr>
            <a:graphicFrameLocks noChangeAspect="1"/>
          </p:cNvGraphicFramePr>
          <p:nvPr/>
        </p:nvGraphicFramePr>
        <p:xfrm>
          <a:off x="1128713" y="3086100"/>
          <a:ext cx="2984500" cy="3243263"/>
        </p:xfrm>
        <a:graphic>
          <a:graphicData uri="http://schemas.openxmlformats.org/presentationml/2006/ole">
            <mc:AlternateContent xmlns:mc="http://schemas.openxmlformats.org/markup-compatibility/2006">
              <mc:Choice xmlns:v="urn:schemas-microsoft-com:vml" Requires="v">
                <p:oleObj name="Equation" r:id="rId5" imgW="2031840" imgH="2209680" progId="Equation.3">
                  <p:embed/>
                </p:oleObj>
              </mc:Choice>
              <mc:Fallback>
                <p:oleObj name="Equation" r:id="rId5" imgW="2031840" imgH="22096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8713" y="3086100"/>
                        <a:ext cx="2984500" cy="32432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6324" name="Object 4"/>
          <p:cNvGraphicFramePr>
            <a:graphicFrameLocks noChangeAspect="1"/>
          </p:cNvGraphicFramePr>
          <p:nvPr/>
        </p:nvGraphicFramePr>
        <p:xfrm>
          <a:off x="1123950" y="704850"/>
          <a:ext cx="6064250" cy="1511300"/>
        </p:xfrm>
        <a:graphic>
          <a:graphicData uri="http://schemas.openxmlformats.org/presentationml/2006/ole">
            <mc:AlternateContent xmlns:mc="http://schemas.openxmlformats.org/markup-compatibility/2006">
              <mc:Choice xmlns:v="urn:schemas-microsoft-com:vml" Requires="v">
                <p:oleObj name="Equation" r:id="rId7" imgW="3771720" imgH="939600" progId="Equation.DSMT4">
                  <p:embed/>
                </p:oleObj>
              </mc:Choice>
              <mc:Fallback>
                <p:oleObj name="Equation" r:id="rId7" imgW="3771720" imgH="939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3950" y="704850"/>
                        <a:ext cx="6064250" cy="15113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56327" name="Group 19"/>
          <p:cNvGrpSpPr>
            <a:grpSpLocks/>
          </p:cNvGrpSpPr>
          <p:nvPr/>
        </p:nvGrpSpPr>
        <p:grpSpPr bwMode="auto">
          <a:xfrm>
            <a:off x="5291138" y="4268788"/>
            <a:ext cx="2946400" cy="1857375"/>
            <a:chOff x="3359" y="2636"/>
            <a:chExt cx="1856" cy="1170"/>
          </a:xfrm>
        </p:grpSpPr>
        <p:sp>
          <p:nvSpPr>
            <p:cNvPr id="56333" name="Line 13"/>
            <p:cNvSpPr>
              <a:spLocks noChangeShapeType="1"/>
            </p:cNvSpPr>
            <p:nvPr/>
          </p:nvSpPr>
          <p:spPr bwMode="auto">
            <a:xfrm flipV="1">
              <a:off x="3394" y="2636"/>
              <a:ext cx="0" cy="1170"/>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56334" name="Line 7"/>
            <p:cNvSpPr>
              <a:spLocks noChangeShapeType="1"/>
            </p:cNvSpPr>
            <p:nvPr/>
          </p:nvSpPr>
          <p:spPr bwMode="auto">
            <a:xfrm>
              <a:off x="3377" y="3518"/>
              <a:ext cx="1838" cy="0"/>
            </a:xfrm>
            <a:prstGeom prst="line">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56335" name="Oval 8"/>
            <p:cNvSpPr>
              <a:spLocks noChangeArrowheads="1"/>
            </p:cNvSpPr>
            <p:nvPr/>
          </p:nvSpPr>
          <p:spPr bwMode="auto">
            <a:xfrm>
              <a:off x="3359" y="3478"/>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6" name="Oval 9"/>
            <p:cNvSpPr>
              <a:spLocks noChangeArrowheads="1"/>
            </p:cNvSpPr>
            <p:nvPr/>
          </p:nvSpPr>
          <p:spPr bwMode="auto">
            <a:xfrm>
              <a:off x="3908" y="3482"/>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7" name="Oval 10"/>
            <p:cNvSpPr>
              <a:spLocks noChangeArrowheads="1"/>
            </p:cNvSpPr>
            <p:nvPr/>
          </p:nvSpPr>
          <p:spPr bwMode="auto">
            <a:xfrm>
              <a:off x="4374" y="3481"/>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8" name="Oval 11"/>
            <p:cNvSpPr>
              <a:spLocks noChangeArrowheads="1"/>
            </p:cNvSpPr>
            <p:nvPr/>
          </p:nvSpPr>
          <p:spPr bwMode="auto">
            <a:xfrm>
              <a:off x="5018" y="3478"/>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9" name="Oval 12"/>
            <p:cNvSpPr>
              <a:spLocks noChangeArrowheads="1"/>
            </p:cNvSpPr>
            <p:nvPr/>
          </p:nvSpPr>
          <p:spPr bwMode="auto">
            <a:xfrm>
              <a:off x="4684" y="3481"/>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40" name="Line 14"/>
            <p:cNvSpPr>
              <a:spLocks noChangeShapeType="1"/>
            </p:cNvSpPr>
            <p:nvPr/>
          </p:nvSpPr>
          <p:spPr bwMode="auto">
            <a:xfrm>
              <a:off x="3677" y="3298"/>
              <a:ext cx="0" cy="448"/>
            </a:xfrm>
            <a:prstGeom prst="line">
              <a:avLst/>
            </a:prstGeom>
            <a:noFill/>
            <a:ln w="19050">
              <a:solidFill>
                <a:srgbClr val="0000FF"/>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56341" name="Line 15"/>
            <p:cNvSpPr>
              <a:spLocks noChangeShapeType="1"/>
            </p:cNvSpPr>
            <p:nvPr/>
          </p:nvSpPr>
          <p:spPr bwMode="auto">
            <a:xfrm>
              <a:off x="4177" y="3302"/>
              <a:ext cx="0" cy="448"/>
            </a:xfrm>
            <a:prstGeom prst="line">
              <a:avLst/>
            </a:prstGeom>
            <a:noFill/>
            <a:ln w="19050">
              <a:solidFill>
                <a:srgbClr val="0000FF"/>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56342" name="Line 16"/>
            <p:cNvSpPr>
              <a:spLocks noChangeShapeType="1"/>
            </p:cNvSpPr>
            <p:nvPr/>
          </p:nvSpPr>
          <p:spPr bwMode="auto">
            <a:xfrm>
              <a:off x="4561" y="3306"/>
              <a:ext cx="0" cy="448"/>
            </a:xfrm>
            <a:prstGeom prst="line">
              <a:avLst/>
            </a:prstGeom>
            <a:noFill/>
            <a:ln w="19050">
              <a:solidFill>
                <a:srgbClr val="0000FF"/>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56343" name="Line 17"/>
            <p:cNvSpPr>
              <a:spLocks noChangeShapeType="1"/>
            </p:cNvSpPr>
            <p:nvPr/>
          </p:nvSpPr>
          <p:spPr bwMode="auto">
            <a:xfrm>
              <a:off x="4885" y="3310"/>
              <a:ext cx="0" cy="448"/>
            </a:xfrm>
            <a:prstGeom prst="line">
              <a:avLst/>
            </a:prstGeom>
            <a:noFill/>
            <a:ln w="19050">
              <a:solidFill>
                <a:srgbClr val="0000FF"/>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sp>
          <p:nvSpPr>
            <p:cNvPr id="56344" name="Line 18"/>
            <p:cNvSpPr>
              <a:spLocks noChangeShapeType="1"/>
            </p:cNvSpPr>
            <p:nvPr/>
          </p:nvSpPr>
          <p:spPr bwMode="auto">
            <a:xfrm>
              <a:off x="5209" y="3314"/>
              <a:ext cx="0" cy="448"/>
            </a:xfrm>
            <a:prstGeom prst="line">
              <a:avLst/>
            </a:prstGeom>
            <a:noFill/>
            <a:ln w="19050">
              <a:solidFill>
                <a:srgbClr val="0000FF"/>
              </a:solidFill>
              <a:miter lim="800000"/>
              <a:headEnd/>
              <a:tailEnd/>
            </a:ln>
            <a:extLst>
              <a:ext uri="{909E8E84-426E-40dd-AFC4-6F175D3DCCD1}">
                <a14:hiddenFill xmlns="" xmlns:a14="http://schemas.microsoft.com/office/drawing/2010/main">
                  <a:noFill/>
                </a14:hiddenFill>
              </a:ext>
            </a:extLst>
          </p:spPr>
          <p:txBody>
            <a:bodyPr wrap="none"/>
            <a:lstStyle/>
            <a:p>
              <a:endParaRPr lang="en-US"/>
            </a:p>
          </p:txBody>
        </p:sp>
      </p:grpSp>
      <p:sp>
        <p:nvSpPr>
          <p:cNvPr id="56328" name="Freeform 20"/>
          <p:cNvSpPr>
            <a:spLocks/>
          </p:cNvSpPr>
          <p:nvPr/>
        </p:nvSpPr>
        <p:spPr bwMode="auto">
          <a:xfrm>
            <a:off x="5346700" y="4487863"/>
            <a:ext cx="2876550" cy="1187450"/>
          </a:xfrm>
          <a:custGeom>
            <a:avLst/>
            <a:gdLst>
              <a:gd name="T0" fmla="*/ 0 w 1812"/>
              <a:gd name="T1" fmla="*/ 0 h 748"/>
              <a:gd name="T2" fmla="*/ 545 w 1812"/>
              <a:gd name="T3" fmla="*/ 0 h 748"/>
              <a:gd name="T4" fmla="*/ 1020 w 1812"/>
              <a:gd name="T5" fmla="*/ 748 h 748"/>
              <a:gd name="T6" fmla="*/ 1812 w 1812"/>
              <a:gd name="T7" fmla="*/ 748 h 748"/>
              <a:gd name="T8" fmla="*/ 0 60000 65536"/>
              <a:gd name="T9" fmla="*/ 0 60000 65536"/>
              <a:gd name="T10" fmla="*/ 0 60000 65536"/>
              <a:gd name="T11" fmla="*/ 0 60000 65536"/>
              <a:gd name="T12" fmla="*/ 0 w 1812"/>
              <a:gd name="T13" fmla="*/ 0 h 748"/>
              <a:gd name="T14" fmla="*/ 1812 w 1812"/>
              <a:gd name="T15" fmla="*/ 748 h 748"/>
            </a:gdLst>
            <a:ahLst/>
            <a:cxnLst>
              <a:cxn ang="T8">
                <a:pos x="T0" y="T1"/>
              </a:cxn>
              <a:cxn ang="T9">
                <a:pos x="T2" y="T3"/>
              </a:cxn>
              <a:cxn ang="T10">
                <a:pos x="T4" y="T5"/>
              </a:cxn>
              <a:cxn ang="T11">
                <a:pos x="T6" y="T7"/>
              </a:cxn>
            </a:cxnLst>
            <a:rect l="T12" t="T13" r="T14" b="T15"/>
            <a:pathLst>
              <a:path w="1812" h="748">
                <a:moveTo>
                  <a:pt x="0" y="0"/>
                </a:moveTo>
                <a:lnTo>
                  <a:pt x="545" y="0"/>
                </a:lnTo>
                <a:lnTo>
                  <a:pt x="1020" y="748"/>
                </a:lnTo>
                <a:lnTo>
                  <a:pt x="1812" y="748"/>
                </a:lnTo>
              </a:path>
            </a:pathLst>
          </a:custGeom>
          <a:noFill/>
          <a:ln w="19050">
            <a:solidFill>
              <a:srgbClr val="33CC33"/>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US"/>
          </a:p>
        </p:txBody>
      </p:sp>
      <p:sp>
        <p:nvSpPr>
          <p:cNvPr id="56329" name="Freeform 21"/>
          <p:cNvSpPr>
            <a:spLocks/>
          </p:cNvSpPr>
          <p:nvPr/>
        </p:nvSpPr>
        <p:spPr bwMode="auto">
          <a:xfrm>
            <a:off x="5346700" y="4181475"/>
            <a:ext cx="2876550" cy="1751013"/>
          </a:xfrm>
          <a:custGeom>
            <a:avLst/>
            <a:gdLst>
              <a:gd name="T0" fmla="*/ 0 w 1812"/>
              <a:gd name="T1" fmla="*/ 193 h 1103"/>
              <a:gd name="T2" fmla="*/ 550 w 1812"/>
              <a:gd name="T3" fmla="*/ 0 h 1103"/>
              <a:gd name="T4" fmla="*/ 1016 w 1812"/>
              <a:gd name="T5" fmla="*/ 1103 h 1103"/>
              <a:gd name="T6" fmla="*/ 1328 w 1812"/>
              <a:gd name="T7" fmla="*/ 936 h 1103"/>
              <a:gd name="T8" fmla="*/ 1812 w 1812"/>
              <a:gd name="T9" fmla="*/ 941 h 1103"/>
              <a:gd name="T10" fmla="*/ 0 60000 65536"/>
              <a:gd name="T11" fmla="*/ 0 60000 65536"/>
              <a:gd name="T12" fmla="*/ 0 60000 65536"/>
              <a:gd name="T13" fmla="*/ 0 60000 65536"/>
              <a:gd name="T14" fmla="*/ 0 60000 65536"/>
              <a:gd name="T15" fmla="*/ 0 w 1812"/>
              <a:gd name="T16" fmla="*/ 0 h 1103"/>
              <a:gd name="T17" fmla="*/ 1812 w 1812"/>
              <a:gd name="T18" fmla="*/ 1103 h 1103"/>
            </a:gdLst>
            <a:ahLst/>
            <a:cxnLst>
              <a:cxn ang="T10">
                <a:pos x="T0" y="T1"/>
              </a:cxn>
              <a:cxn ang="T11">
                <a:pos x="T2" y="T3"/>
              </a:cxn>
              <a:cxn ang="T12">
                <a:pos x="T4" y="T5"/>
              </a:cxn>
              <a:cxn ang="T13">
                <a:pos x="T6" y="T7"/>
              </a:cxn>
              <a:cxn ang="T14">
                <a:pos x="T8" y="T9"/>
              </a:cxn>
            </a:cxnLst>
            <a:rect l="T15" t="T16" r="T17" b="T18"/>
            <a:pathLst>
              <a:path w="1812" h="1103">
                <a:moveTo>
                  <a:pt x="0" y="193"/>
                </a:moveTo>
                <a:lnTo>
                  <a:pt x="550" y="0"/>
                </a:lnTo>
                <a:lnTo>
                  <a:pt x="1016" y="1103"/>
                </a:lnTo>
                <a:lnTo>
                  <a:pt x="1328" y="936"/>
                </a:lnTo>
                <a:lnTo>
                  <a:pt x="1812" y="941"/>
                </a:lnTo>
              </a:path>
            </a:pathLst>
          </a:custGeom>
          <a:noFill/>
          <a:ln w="19050">
            <a:solidFill>
              <a:srgbClr val="0000FF"/>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US"/>
          </a:p>
        </p:txBody>
      </p:sp>
      <p:sp>
        <p:nvSpPr>
          <p:cNvPr id="56330" name="Text Box 22"/>
          <p:cNvSpPr txBox="1">
            <a:spLocks noChangeArrowheads="1"/>
          </p:cNvSpPr>
          <p:nvPr/>
        </p:nvSpPr>
        <p:spPr bwMode="auto">
          <a:xfrm>
            <a:off x="6354763" y="4256088"/>
            <a:ext cx="652462"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33CC33"/>
                </a:solidFill>
              </a:rPr>
              <a:t>FEM</a:t>
            </a:r>
            <a:endParaRPr lang="en-GB" sz="1800">
              <a:solidFill>
                <a:srgbClr val="33CC33"/>
              </a:solidFill>
            </a:endParaRPr>
          </a:p>
        </p:txBody>
      </p:sp>
      <p:sp>
        <p:nvSpPr>
          <p:cNvPr id="56331" name="Text Box 23"/>
          <p:cNvSpPr txBox="1">
            <a:spLocks noChangeArrowheads="1"/>
          </p:cNvSpPr>
          <p:nvPr/>
        </p:nvSpPr>
        <p:spPr bwMode="auto">
          <a:xfrm>
            <a:off x="6042025" y="3808413"/>
            <a:ext cx="2405063"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0000FF"/>
                </a:solidFill>
              </a:rPr>
              <a:t>Mapped: FV </a:t>
            </a:r>
            <a:r>
              <a:rPr lang="en-US" sz="1800">
                <a:solidFill>
                  <a:srgbClr val="0000FF"/>
                </a:solidFill>
                <a:sym typeface="MT Extra" charset="0"/>
              </a:rPr>
              <a:t></a:t>
            </a:r>
            <a:r>
              <a:rPr lang="en-US" sz="1800">
                <a:solidFill>
                  <a:srgbClr val="0000FF"/>
                </a:solidFill>
              </a:rPr>
              <a:t> FEM</a:t>
            </a:r>
            <a:endParaRPr lang="en-GB" sz="1800">
              <a:solidFill>
                <a:srgbClr val="0000FF"/>
              </a:solidFill>
            </a:endParaRPr>
          </a:p>
        </p:txBody>
      </p:sp>
      <p:sp>
        <p:nvSpPr>
          <p:cNvPr id="56332" name="Text Box 25"/>
          <p:cNvSpPr txBox="1">
            <a:spLocks noChangeArrowheads="1"/>
          </p:cNvSpPr>
          <p:nvPr/>
        </p:nvSpPr>
        <p:spPr bwMode="auto">
          <a:xfrm>
            <a:off x="6583363" y="4632325"/>
            <a:ext cx="2398712"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808080"/>
                </a:solidFill>
              </a:rPr>
              <a:t>FV </a:t>
            </a:r>
            <a:r>
              <a:rPr lang="en-US" sz="1400">
                <a:solidFill>
                  <a:srgbClr val="808080"/>
                </a:solidFill>
              </a:rPr>
              <a:t>(piecewise constant)</a:t>
            </a:r>
            <a:endParaRPr lang="en-GB" sz="1400">
              <a:solidFill>
                <a:srgbClr val="808080"/>
              </a:solidFill>
            </a:endParaRPr>
          </a:p>
        </p:txBody>
      </p:sp>
      <p:sp>
        <p:nvSpPr>
          <p:cNvPr id="25"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5/2/24</a:t>
            </a:fld>
            <a:endParaRPr lang="en-US" dirty="0">
              <a:solidFill>
                <a:prstClr val="white">
                  <a:lumMod val="65000"/>
                </a:prstClr>
              </a:solidFill>
              <a:ea typeface="+mn-ea"/>
            </a:endParaRPr>
          </a:p>
        </p:txBody>
      </p:sp>
      <p:sp>
        <p:nvSpPr>
          <p:cNvPr id="26"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27"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66</a:t>
            </a:fld>
            <a:endParaRPr lang="en-US" dirty="0">
              <a:solidFill>
                <a:prstClr val="white">
                  <a:lumMod val="65000"/>
                </a:prstClr>
              </a:solidFill>
              <a:ea typeface="+mn-ea"/>
            </a:endParaRPr>
          </a:p>
        </p:txBody>
      </p:sp>
    </p:spTree>
    <p:extLst>
      <p:ext uri="{BB962C8B-B14F-4D97-AF65-F5344CB8AC3E}">
        <p14:creationId xmlns:p14="http://schemas.microsoft.com/office/powerpoint/2010/main" val="19625404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ea typeface="+mj-ea"/>
              </a:rPr>
              <a:t>A typical calculation operator-splitting calculation</a:t>
            </a:r>
          </a:p>
        </p:txBody>
      </p:sp>
      <p:sp>
        <p:nvSpPr>
          <p:cNvPr id="3" name="Content Placeholder 2"/>
          <p:cNvSpPr>
            <a:spLocks noGrp="1"/>
          </p:cNvSpPr>
          <p:nvPr>
            <p:ph idx="1"/>
          </p:nvPr>
        </p:nvSpPr>
        <p:spPr/>
        <p:txBody>
          <a:bodyPr rtlCol="0">
            <a:normAutofit lnSpcReduction="10000"/>
          </a:bodyPr>
          <a:lstStyle/>
          <a:p>
            <a:pPr marL="457200" indent="-457200" fontAlgn="auto">
              <a:buFont typeface="+mj-lt"/>
              <a:buAutoNum type="arabicPeriod"/>
              <a:defRPr/>
            </a:pPr>
            <a:r>
              <a:rPr lang="en-US" dirty="0">
                <a:ea typeface="+mn-ea"/>
              </a:rPr>
              <a:t>Compute pressure</a:t>
            </a:r>
          </a:p>
          <a:p>
            <a:pPr marL="457200" indent="-457200" fontAlgn="auto">
              <a:buFont typeface="+mj-lt"/>
              <a:buAutoNum type="arabicPeriod"/>
              <a:defRPr/>
            </a:pPr>
            <a:r>
              <a:rPr lang="en-US" dirty="0">
                <a:ea typeface="+mn-ea"/>
              </a:rPr>
              <a:t>Compute total velocity etc.</a:t>
            </a:r>
          </a:p>
          <a:p>
            <a:pPr marL="457200" indent="-457200" fontAlgn="auto">
              <a:buFont typeface="+mj-lt"/>
              <a:buAutoNum type="arabicPeriod"/>
              <a:defRPr/>
            </a:pPr>
            <a:r>
              <a:rPr lang="en-US" dirty="0">
                <a:ea typeface="+mn-ea"/>
              </a:rPr>
              <a:t>Update phase densities and viscosities,</a:t>
            </a:r>
          </a:p>
          <a:p>
            <a:pPr marL="457200" indent="-457200" fontAlgn="auto">
              <a:buFont typeface="+mj-lt"/>
              <a:buAutoNum type="arabicPeriod"/>
              <a:defRPr/>
            </a:pPr>
            <a:r>
              <a:rPr lang="en-US" dirty="0">
                <a:ea typeface="+mn-ea"/>
              </a:rPr>
              <a:t>Update multiphase flow terms / constitutive relations, </a:t>
            </a:r>
          </a:p>
          <a:p>
            <a:pPr marL="457200" indent="-457200" fontAlgn="auto">
              <a:buFont typeface="+mj-lt"/>
              <a:buAutoNum type="arabicPeriod"/>
              <a:defRPr/>
            </a:pPr>
            <a:r>
              <a:rPr lang="en-US" dirty="0">
                <a:ea typeface="+mn-ea"/>
              </a:rPr>
              <a:t>Determine time increment</a:t>
            </a:r>
          </a:p>
          <a:p>
            <a:pPr marL="457200" indent="-457200" fontAlgn="auto">
              <a:buFont typeface="+mj-lt"/>
              <a:buAutoNum type="arabicPeriod"/>
              <a:defRPr/>
            </a:pPr>
            <a:r>
              <a:rPr lang="en-US" dirty="0">
                <a:ea typeface="+mn-ea"/>
              </a:rPr>
              <a:t>Accumulate (higher-order) interior stencils</a:t>
            </a:r>
          </a:p>
          <a:p>
            <a:pPr marL="857250" lvl="1" indent="-457200" fontAlgn="auto">
              <a:buFont typeface="Arial"/>
              <a:buChar char="–"/>
              <a:defRPr/>
            </a:pPr>
            <a:r>
              <a:rPr lang="en-US" dirty="0">
                <a:ea typeface="+mn-ea"/>
              </a:rPr>
              <a:t>Compute viscous, gravitational and capillary fluxes</a:t>
            </a:r>
          </a:p>
          <a:p>
            <a:pPr marL="857250" lvl="1" indent="-457200" fontAlgn="auto">
              <a:buFont typeface="Arial"/>
              <a:buChar char="–"/>
              <a:defRPr/>
            </a:pPr>
            <a:r>
              <a:rPr lang="en-US" dirty="0">
                <a:ea typeface="+mn-ea"/>
              </a:rPr>
              <a:t>Determine upwind direction on basis of composite flux</a:t>
            </a:r>
          </a:p>
          <a:p>
            <a:pPr marL="857250" lvl="1" indent="-457200" fontAlgn="auto">
              <a:buFont typeface="Arial"/>
              <a:buChar char="–"/>
              <a:defRPr/>
            </a:pPr>
            <a:r>
              <a:rPr lang="en-US" dirty="0">
                <a:ea typeface="+mn-ea"/>
              </a:rPr>
              <a:t>Establish flux balances and pressure-change dependent source / sink terms</a:t>
            </a:r>
          </a:p>
          <a:p>
            <a:pPr marL="457200" indent="-457200" fontAlgn="auto">
              <a:buFont typeface="+mj-lt"/>
              <a:buAutoNum type="arabicPeriod"/>
              <a:defRPr/>
            </a:pPr>
            <a:r>
              <a:rPr lang="en-US" dirty="0">
                <a:ea typeface="+mn-ea"/>
              </a:rPr>
              <a:t>Accumulate lower order boundary stencils </a:t>
            </a:r>
          </a:p>
          <a:p>
            <a:pPr marL="457200" indent="-457200" fontAlgn="auto">
              <a:buFont typeface="+mj-lt"/>
              <a:buAutoNum type="arabicPeriod"/>
              <a:defRPr/>
            </a:pPr>
            <a:r>
              <a:rPr lang="en-US" dirty="0">
                <a:ea typeface="+mn-ea"/>
              </a:rPr>
              <a:t>Solve transport problem</a:t>
            </a:r>
          </a:p>
          <a:p>
            <a:pPr marL="457200" indent="-457200" fontAlgn="auto">
              <a:buFont typeface="+mj-lt"/>
              <a:buAutoNum type="arabicPeriod"/>
              <a:defRPr/>
            </a:pPr>
            <a:r>
              <a:rPr lang="en-US" dirty="0">
                <a:ea typeface="+mn-ea"/>
              </a:rPr>
              <a:t>Transfer results to model</a:t>
            </a:r>
          </a:p>
        </p:txBody>
      </p:sp>
      <p:sp>
        <p:nvSpPr>
          <p:cNvPr id="130051" name="Date Placeholder 3"/>
          <p:cNvSpPr>
            <a:spLocks noGrp="1"/>
          </p:cNvSpPr>
          <p:nvPr>
            <p:ph type="dt"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77321CB8-8112-8642-9864-83895599D9AA}" type="datetime1">
              <a:rPr lang="en-US" sz="1200">
                <a:solidFill>
                  <a:srgbClr val="A6A6A6"/>
                </a:solidFill>
                <a:latin typeface="Arial" charset="0"/>
                <a:cs typeface="Arial" charset="0"/>
              </a:rPr>
              <a:pPr eaLnBrk="1" hangingPunct="1"/>
              <a:t>5/2/24</a:t>
            </a:fld>
            <a:endParaRPr lang="en-US" sz="1200">
              <a:solidFill>
                <a:srgbClr val="A6A6A6"/>
              </a:solidFill>
              <a:latin typeface="Arial" charset="0"/>
              <a:cs typeface="Arial" charset="0"/>
            </a:endParaRPr>
          </a:p>
        </p:txBody>
      </p:sp>
      <p:sp>
        <p:nvSpPr>
          <p:cNvPr id="130052" name="Footer Placeholder 4"/>
          <p:cNvSpPr>
            <a:spLocks noGrp="1"/>
          </p:cNvSpPr>
          <p:nvPr>
            <p:ph type="ftr" sz="quarter" idx="1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solidFill>
                  <a:srgbClr val="A6A6A6"/>
                </a:solidFill>
                <a:latin typeface="Arial" charset="0"/>
                <a:cs typeface="Arial" charset="0"/>
              </a:rPr>
              <a:t>CSMP Generic Transport Scheme</a:t>
            </a:r>
          </a:p>
        </p:txBody>
      </p:sp>
      <p:sp>
        <p:nvSpPr>
          <p:cNvPr id="130053"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CB729F43-3496-3940-B294-E9261DD99606}" type="slidenum">
              <a:rPr lang="en-US" sz="1200">
                <a:solidFill>
                  <a:srgbClr val="A6A6A6"/>
                </a:solidFill>
                <a:latin typeface="Arial" charset="0"/>
                <a:cs typeface="Arial" charset="0"/>
              </a:rPr>
              <a:pPr eaLnBrk="1" hangingPunct="1"/>
              <a:t>67</a:t>
            </a:fld>
            <a:endParaRPr lang="en-US" sz="1200">
              <a:solidFill>
                <a:srgbClr val="A6A6A6"/>
              </a:solidFill>
              <a:latin typeface="Arial" charset="0"/>
              <a:cs typeface="Arial" charset="0"/>
            </a:endParaRPr>
          </a:p>
        </p:txBody>
      </p:sp>
    </p:spTree>
    <p:extLst>
      <p:ext uri="{BB962C8B-B14F-4D97-AF65-F5344CB8AC3E}">
        <p14:creationId xmlns:p14="http://schemas.microsoft.com/office/powerpoint/2010/main" val="8280954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a:spLocks noGrp="1"/>
          </p:cNvSpPr>
          <p:nvPr>
            <p:ph type="sldNum" sz="quarter" idx="12"/>
          </p:nvPr>
        </p:nvSpPr>
        <p:spPr>
          <a:xfrm>
            <a:off x="5969000" y="6548438"/>
            <a:ext cx="3060700" cy="309562"/>
          </a:xfrm>
          <a:noFill/>
        </p:spPr>
        <p:txBody>
          <a:bodyPr/>
          <a:lstStyle/>
          <a:p>
            <a:fld id="{48014009-F9A0-704D-89CC-CD71E8F961D4}" type="slidenum">
              <a:rPr lang="en-GB"/>
              <a:pPr/>
              <a:t>68</a:t>
            </a:fld>
            <a:endParaRPr lang="en-GB"/>
          </a:p>
        </p:txBody>
      </p:sp>
      <p:sp>
        <p:nvSpPr>
          <p:cNvPr id="29699" name="Rectangle 2"/>
          <p:cNvSpPr>
            <a:spLocks noGrp="1" noChangeArrowheads="1"/>
          </p:cNvSpPr>
          <p:nvPr>
            <p:ph type="title"/>
          </p:nvPr>
        </p:nvSpPr>
        <p:spPr>
          <a:xfrm>
            <a:off x="404813" y="116632"/>
            <a:ext cx="8162925" cy="579437"/>
          </a:xfrm>
        </p:spPr>
        <p:txBody>
          <a:bodyPr/>
          <a:lstStyle/>
          <a:p>
            <a:pPr eaLnBrk="1" hangingPunct="1"/>
            <a:r>
              <a:rPr lang="en-US" dirty="0"/>
              <a:t>Computational procedure</a:t>
            </a:r>
          </a:p>
        </p:txBody>
      </p:sp>
      <p:grpSp>
        <p:nvGrpSpPr>
          <p:cNvPr id="2" name="Group 3"/>
          <p:cNvGrpSpPr>
            <a:grpSpLocks noGrp="1" noChangeAspect="1"/>
          </p:cNvGrpSpPr>
          <p:nvPr/>
        </p:nvGrpSpPr>
        <p:grpSpPr bwMode="auto">
          <a:xfrm>
            <a:off x="195263" y="866775"/>
            <a:ext cx="8702675" cy="5508625"/>
            <a:chOff x="278" y="684"/>
            <a:chExt cx="5234" cy="3147"/>
          </a:xfrm>
        </p:grpSpPr>
        <p:sp>
          <p:nvSpPr>
            <p:cNvPr id="29701" name="AutoShape 4"/>
            <p:cNvSpPr>
              <a:spLocks noChangeAspect="1" noChangeArrowheads="1" noTextEdit="1"/>
            </p:cNvSpPr>
            <p:nvPr/>
          </p:nvSpPr>
          <p:spPr bwMode="auto">
            <a:xfrm>
              <a:off x="278" y="684"/>
              <a:ext cx="5234" cy="3147"/>
            </a:xfrm>
            <a:prstGeom prst="rect">
              <a:avLst/>
            </a:prstGeom>
            <a:noFill/>
            <a:ln w="9525">
              <a:noFill/>
              <a:miter lim="800000"/>
              <a:headEnd/>
              <a:tailEnd/>
            </a:ln>
          </p:spPr>
          <p:txBody>
            <a:bodyPr>
              <a:prstTxWarp prst="textNoShape">
                <a:avLst/>
              </a:prstTxWarp>
            </a:bodyPr>
            <a:lstStyle/>
            <a:p>
              <a:endParaRPr lang="en-US"/>
            </a:p>
          </p:txBody>
        </p:sp>
        <p:sp>
          <p:nvSpPr>
            <p:cNvPr id="29702" name="_s1412101"/>
            <p:cNvSpPr>
              <a:spLocks noChangeArrowheads="1" noTextEdit="1"/>
            </p:cNvSpPr>
            <p:nvPr/>
          </p:nvSpPr>
          <p:spPr bwMode="auto">
            <a:xfrm>
              <a:off x="1985" y="920"/>
              <a:ext cx="1820" cy="1819"/>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69 w 21600"/>
                <a:gd name="T19" fmla="*/ 3159 h 21600"/>
                <a:gd name="T20" fmla="*/ 18431 w 21600"/>
                <a:gd name="T21" fmla="*/ 1844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3" name="_s1412102"/>
            <p:cNvSpPr>
              <a:spLocks noChangeArrowheads="1" noTextEdit="1"/>
            </p:cNvSpPr>
            <p:nvPr/>
          </p:nvSpPr>
          <p:spPr bwMode="auto">
            <a:xfrm rot="5400000">
              <a:off x="2413" y="1348"/>
              <a:ext cx="1819" cy="1820"/>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59 w 21600"/>
                <a:gd name="T19" fmla="*/ 3169 h 21600"/>
                <a:gd name="T20" fmla="*/ 18441 w 21600"/>
                <a:gd name="T21" fmla="*/ 1843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4" name="_s1412103"/>
            <p:cNvSpPr>
              <a:spLocks noChangeArrowheads="1" noTextEdit="1"/>
            </p:cNvSpPr>
            <p:nvPr/>
          </p:nvSpPr>
          <p:spPr bwMode="auto">
            <a:xfrm rot="10800000">
              <a:off x="1985" y="1776"/>
              <a:ext cx="1820" cy="1819"/>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69 w 21600"/>
                <a:gd name="T19" fmla="*/ 3159 h 21600"/>
                <a:gd name="T20" fmla="*/ 18431 w 21600"/>
                <a:gd name="T21" fmla="*/ 1844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5" name="_s1412104"/>
            <p:cNvSpPr>
              <a:spLocks noChangeArrowheads="1" noTextEdit="1"/>
            </p:cNvSpPr>
            <p:nvPr/>
          </p:nvSpPr>
          <p:spPr bwMode="auto">
            <a:xfrm rot="-5400000">
              <a:off x="1557" y="1348"/>
              <a:ext cx="1819" cy="1820"/>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59 w 21600"/>
                <a:gd name="T19" fmla="*/ 3169 h 21600"/>
                <a:gd name="T20" fmla="*/ 18441 w 21600"/>
                <a:gd name="T21" fmla="*/ 1843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6" name="_s1412105"/>
            <p:cNvSpPr>
              <a:spLocks noChangeArrowheads="1"/>
            </p:cNvSpPr>
            <p:nvPr/>
          </p:nvSpPr>
          <p:spPr bwMode="auto">
            <a:xfrm>
              <a:off x="3380" y="1085"/>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a:latin typeface="Arial" charset="0"/>
                </a:rPr>
                <a:t>Solve pressure equation</a:t>
              </a:r>
            </a:p>
            <a:p>
              <a:pPr algn="ctr"/>
              <a:r>
                <a:rPr lang="en-US">
                  <a:latin typeface="Arial" charset="0"/>
                </a:rPr>
                <a:t>with SAMG solver</a:t>
              </a:r>
            </a:p>
          </p:txBody>
        </p:sp>
        <p:sp>
          <p:nvSpPr>
            <p:cNvPr id="29707" name="_s1412106"/>
            <p:cNvSpPr>
              <a:spLocks noChangeArrowheads="1"/>
            </p:cNvSpPr>
            <p:nvPr/>
          </p:nvSpPr>
          <p:spPr bwMode="auto">
            <a:xfrm>
              <a:off x="3381" y="2742"/>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dirty="0">
                  <a:latin typeface="Arial" charset="0"/>
                </a:rPr>
                <a:t>Compute facet fluxes</a:t>
              </a:r>
            </a:p>
          </p:txBody>
        </p:sp>
        <p:sp>
          <p:nvSpPr>
            <p:cNvPr id="29708" name="_s1412107"/>
            <p:cNvSpPr>
              <a:spLocks noChangeArrowheads="1"/>
            </p:cNvSpPr>
            <p:nvPr/>
          </p:nvSpPr>
          <p:spPr bwMode="auto">
            <a:xfrm>
              <a:off x="1524" y="2743"/>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dirty="0">
                  <a:latin typeface="Arial" charset="0"/>
                </a:rPr>
                <a:t>Solve transport equation</a:t>
              </a:r>
            </a:p>
            <a:p>
              <a:pPr algn="ctr"/>
              <a:r>
                <a:rPr lang="en-US" dirty="0">
                  <a:latin typeface="Arial" charset="0"/>
                </a:rPr>
                <a:t>explicitly or</a:t>
              </a:r>
            </a:p>
            <a:p>
              <a:pPr algn="ctr"/>
              <a:r>
                <a:rPr lang="en-US" dirty="0">
                  <a:latin typeface="Arial" charset="0"/>
                </a:rPr>
                <a:t>implicitly with SAMG</a:t>
              </a:r>
            </a:p>
          </p:txBody>
        </p:sp>
        <p:sp>
          <p:nvSpPr>
            <p:cNvPr id="29709" name="_s1412108"/>
            <p:cNvSpPr>
              <a:spLocks noChangeArrowheads="1"/>
            </p:cNvSpPr>
            <p:nvPr/>
          </p:nvSpPr>
          <p:spPr bwMode="auto">
            <a:xfrm>
              <a:off x="1723" y="1086"/>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dirty="0">
                  <a:latin typeface="Arial" charset="0"/>
                </a:rPr>
                <a:t>Compute</a:t>
              </a:r>
            </a:p>
            <a:p>
              <a:pPr algn="ctr"/>
              <a:r>
                <a:rPr lang="en-US" dirty="0">
                  <a:latin typeface="Arial" charset="0"/>
                </a:rPr>
                <a:t>flow properties</a:t>
              </a:r>
            </a:p>
          </p:txBody>
        </p:sp>
      </p:grpSp>
      <p:sp>
        <p:nvSpPr>
          <p:cNvPr id="14" name="Footer Placeholder 14"/>
          <p:cNvSpPr>
            <a:spLocks noGrp="1"/>
          </p:cNvSpPr>
          <p:nvPr>
            <p:ph type="ftr" sz="quarter" idx="11"/>
          </p:nvPr>
        </p:nvSpPr>
        <p:spPr>
          <a:xfrm>
            <a:off x="3124200" y="6492875"/>
            <a:ext cx="2895600" cy="365125"/>
          </a:xfrm>
        </p:spPr>
        <p:txBody>
          <a:bodyPr/>
          <a:lstStyle/>
          <a:p>
            <a:r>
              <a:rPr lang="en-US" dirty="0"/>
              <a:t>FEM-FVM framework</a:t>
            </a:r>
          </a:p>
        </p:txBody>
      </p:sp>
      <p:sp>
        <p:nvSpPr>
          <p:cNvPr id="15" name="Date Placeholder 31"/>
          <p:cNvSpPr>
            <a:spLocks noGrp="1"/>
          </p:cNvSpPr>
          <p:nvPr>
            <p:ph type="dt" sz="half" idx="10"/>
          </p:nvPr>
        </p:nvSpPr>
        <p:spPr>
          <a:xfrm>
            <a:off x="176213" y="6428184"/>
            <a:ext cx="2881312" cy="457200"/>
          </a:xfrm>
        </p:spPr>
        <p:txBody>
          <a:bodyPr/>
          <a:lstStyle/>
          <a:p>
            <a:fld id="{6B3C9685-A190-4943-8807-66FB64A554CC}" type="datetime1">
              <a:rPr lang="en-US" smtClean="0"/>
              <a:pPr/>
              <a:t>5/2/24</a:t>
            </a:fld>
            <a:endParaRPr lang="en-US" dirty="0"/>
          </a:p>
        </p:txBody>
      </p:sp>
      <p:sp>
        <p:nvSpPr>
          <p:cNvPr id="3" name="TextBox 2"/>
          <p:cNvSpPr txBox="1"/>
          <p:nvPr/>
        </p:nvSpPr>
        <p:spPr>
          <a:xfrm>
            <a:off x="5757199" y="1385785"/>
            <a:ext cx="2824135" cy="369332"/>
          </a:xfrm>
          <a:prstGeom prst="rect">
            <a:avLst/>
          </a:prstGeom>
          <a:noFill/>
        </p:spPr>
        <p:txBody>
          <a:bodyPr wrap="none" rtlCol="0">
            <a:spAutoFit/>
          </a:bodyPr>
          <a:lstStyle/>
          <a:p>
            <a:r>
              <a:rPr lang="en-US" dirty="0"/>
              <a:t>Finite Element Computation</a:t>
            </a:r>
          </a:p>
        </p:txBody>
      </p:sp>
      <p:sp>
        <p:nvSpPr>
          <p:cNvPr id="17" name="TextBox 16"/>
          <p:cNvSpPr txBox="1"/>
          <p:nvPr/>
        </p:nvSpPr>
        <p:spPr>
          <a:xfrm>
            <a:off x="755576" y="5687691"/>
            <a:ext cx="2771950" cy="369332"/>
          </a:xfrm>
          <a:prstGeom prst="rect">
            <a:avLst/>
          </a:prstGeom>
          <a:noFill/>
        </p:spPr>
        <p:txBody>
          <a:bodyPr wrap="none" rtlCol="0">
            <a:spAutoFit/>
          </a:bodyPr>
          <a:lstStyle/>
          <a:p>
            <a:r>
              <a:rPr lang="en-US" dirty="0"/>
              <a:t>Finite Volume Computation</a:t>
            </a:r>
          </a:p>
        </p:txBody>
      </p:sp>
    </p:spTree>
    <p:extLst>
      <p:ext uri="{BB962C8B-B14F-4D97-AF65-F5344CB8AC3E}">
        <p14:creationId xmlns:p14="http://schemas.microsoft.com/office/powerpoint/2010/main" val="35411157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327129" y="315198"/>
            <a:ext cx="8816871" cy="519112"/>
          </a:xfrm>
        </p:spPr>
        <p:txBody>
          <a:bodyPr>
            <a:normAutofit fontScale="90000"/>
          </a:bodyPr>
          <a:lstStyle/>
          <a:p>
            <a:pPr eaLnBrk="1" hangingPunct="1"/>
            <a:r>
              <a:rPr lang="en-US" sz="2800" dirty="0"/>
              <a:t>What currently happens when the NCFV transport is instantiated</a:t>
            </a:r>
            <a:endParaRPr lang="en-GB" sz="2800" dirty="0"/>
          </a:p>
        </p:txBody>
      </p:sp>
      <p:sp>
        <p:nvSpPr>
          <p:cNvPr id="35845" name="Rectangle 3"/>
          <p:cNvSpPr>
            <a:spLocks noGrp="1" noChangeArrowheads="1"/>
          </p:cNvSpPr>
          <p:nvPr>
            <p:ph type="body" idx="1"/>
          </p:nvPr>
        </p:nvSpPr>
        <p:spPr>
          <a:xfrm>
            <a:off x="441325" y="1196752"/>
            <a:ext cx="8308975" cy="5288111"/>
          </a:xfrm>
        </p:spPr>
        <p:txBody>
          <a:bodyPr>
            <a:normAutofit/>
          </a:bodyPr>
          <a:lstStyle/>
          <a:p>
            <a:pPr eaLnBrk="1" hangingPunct="1">
              <a:lnSpc>
                <a:spcPct val="90000"/>
              </a:lnSpc>
              <a:spcAft>
                <a:spcPct val="85000"/>
              </a:spcAft>
            </a:pPr>
            <a:r>
              <a:rPr lang="en-US" sz="2000" dirty="0"/>
              <a:t>Finite volume stencil class instances of  </a:t>
            </a:r>
            <a:r>
              <a:rPr lang="en-US" sz="2000" b="1" dirty="0" err="1"/>
              <a:t>FiniteVolumeStencil</a:t>
            </a:r>
            <a:r>
              <a:rPr lang="en-US" sz="2000" b="1" dirty="0"/>
              <a:t> </a:t>
            </a:r>
            <a:r>
              <a:rPr lang="en-US" sz="2000" dirty="0"/>
              <a:t>are constructed and initialized with data from </a:t>
            </a:r>
            <a:r>
              <a:rPr lang="en-US" sz="2000" b="1" dirty="0" err="1"/>
              <a:t>FV_IntegrationPointAnd</a:t>
            </a:r>
            <a:r>
              <a:rPr lang="en-US" b="1" dirty="0" err="1"/>
              <a:t>Weights</a:t>
            </a:r>
            <a:r>
              <a:rPr lang="en-US" dirty="0"/>
              <a:t> </a:t>
            </a:r>
            <a:r>
              <a:rPr lang="en-US" sz="2000" dirty="0"/>
              <a:t>for the different finite element types</a:t>
            </a:r>
          </a:p>
          <a:p>
            <a:pPr eaLnBrk="1" hangingPunct="1">
              <a:lnSpc>
                <a:spcPct val="90000"/>
              </a:lnSpc>
              <a:spcAft>
                <a:spcPct val="85000"/>
              </a:spcAft>
            </a:pPr>
            <a:r>
              <a:rPr lang="en-US" sz="2000" dirty="0"/>
              <a:t>Specific stencils are associated with corresponding elements as managed by the </a:t>
            </a:r>
            <a:r>
              <a:rPr lang="en-US" sz="2000" b="1" dirty="0" err="1"/>
              <a:t>FiniteVolumeStencilManager</a:t>
            </a:r>
            <a:endParaRPr lang="en-US" sz="2000" b="1" dirty="0"/>
          </a:p>
          <a:p>
            <a:pPr>
              <a:lnSpc>
                <a:spcPct val="90000"/>
              </a:lnSpc>
              <a:spcAft>
                <a:spcPct val="85000"/>
              </a:spcAft>
            </a:pPr>
            <a:r>
              <a:rPr lang="en-US" sz="2000" b="1" dirty="0" err="1"/>
              <a:t>FV_Parameter</a:t>
            </a:r>
            <a:r>
              <a:rPr lang="en-US" sz="2000" b="1" dirty="0"/>
              <a:t> </a:t>
            </a:r>
            <a:r>
              <a:rPr lang="en-US" sz="2000" dirty="0"/>
              <a:t>instances are initialized doing computations </a:t>
            </a:r>
            <a:r>
              <a:rPr lang="en-US" dirty="0"/>
              <a:t>with the </a:t>
            </a:r>
            <a:r>
              <a:rPr lang="en-US" b="1" dirty="0" err="1"/>
              <a:t>FiniteVolumeStencil</a:t>
            </a:r>
            <a:r>
              <a:rPr lang="en-US" b="1" dirty="0"/>
              <a:t> </a:t>
            </a:r>
            <a:r>
              <a:rPr lang="en-US" dirty="0"/>
              <a:t>objects and are </a:t>
            </a:r>
            <a:r>
              <a:rPr lang="en-US" sz="2000" dirty="0"/>
              <a:t>stored in the STENCIL_DATA vector inside of the </a:t>
            </a:r>
            <a:r>
              <a:rPr lang="en-US" sz="2000" b="1" dirty="0" err="1"/>
              <a:t>NodeCenteredFiniteVolumeTransport</a:t>
            </a:r>
            <a:r>
              <a:rPr lang="en-US" sz="2000" b="1" dirty="0"/>
              <a:t>. </a:t>
            </a:r>
            <a:r>
              <a:rPr lang="en-US" dirty="0"/>
              <a:t>I</a:t>
            </a:r>
            <a:r>
              <a:rPr lang="en-US" sz="2000" dirty="0"/>
              <a:t>nitialized are with facet </a:t>
            </a:r>
            <a:r>
              <a:rPr lang="en-US" sz="2000" dirty="0" err="1"/>
              <a:t>normals</a:t>
            </a:r>
            <a:r>
              <a:rPr lang="en-US" sz="2000" dirty="0"/>
              <a:t>, facet areas, and sector volumes for accelerated lookup and projections during run.  </a:t>
            </a:r>
          </a:p>
          <a:p>
            <a:pPr eaLnBrk="1" hangingPunct="1">
              <a:lnSpc>
                <a:spcPct val="90000"/>
              </a:lnSpc>
              <a:spcAft>
                <a:spcPct val="85000"/>
              </a:spcAft>
            </a:pPr>
            <a:r>
              <a:rPr lang="en-US" sz="2000" dirty="0"/>
              <a:t>FV-pore volumes and flux balance arrays are also computed. For higher order accurate transport schemes, a node connectivity graph and SMINMAX array values are initialized for the limiting, see Matthai et al. (2010, TIPM).</a:t>
            </a:r>
            <a:endParaRPr lang="en-GB" sz="2000" dirty="0"/>
          </a:p>
        </p:txBody>
      </p:sp>
      <p:sp>
        <p:nvSpPr>
          <p:cNvPr id="7"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5/2/24</a:t>
            </a:fld>
            <a:endParaRPr lang="en-US" dirty="0">
              <a:solidFill>
                <a:prstClr val="white">
                  <a:lumMod val="65000"/>
                </a:prstClr>
              </a:solidFill>
            </a:endParaRPr>
          </a:p>
        </p:txBody>
      </p:sp>
      <p:sp>
        <p:nvSpPr>
          <p:cNvPr id="8"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9"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69</a:t>
            </a:fld>
            <a:endParaRPr lang="en-US">
              <a:solidFill>
                <a:prstClr val="white">
                  <a:lumMod val="65000"/>
                </a:prstClr>
              </a:solidFill>
            </a:endParaRPr>
          </a:p>
        </p:txBody>
      </p:sp>
    </p:spTree>
    <p:extLst>
      <p:ext uri="{BB962C8B-B14F-4D97-AF65-F5344CB8AC3E}">
        <p14:creationId xmlns:p14="http://schemas.microsoft.com/office/powerpoint/2010/main" val="16512949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228600" y="201285"/>
            <a:ext cx="8162925" cy="579437"/>
          </a:xfrm>
        </p:spPr>
        <p:txBody>
          <a:bodyPr/>
          <a:lstStyle/>
          <a:p>
            <a:pPr eaLnBrk="1" hangingPunct="1"/>
            <a:r>
              <a:rPr lang="en-US" dirty="0"/>
              <a:t>CFL calculation</a:t>
            </a:r>
            <a:endParaRPr lang="en-GB" dirty="0"/>
          </a:p>
        </p:txBody>
      </p:sp>
      <p:sp>
        <p:nvSpPr>
          <p:cNvPr id="37893" name="Rectangle 3"/>
          <p:cNvSpPr>
            <a:spLocks noGrp="1" noChangeArrowheads="1"/>
          </p:cNvSpPr>
          <p:nvPr>
            <p:ph type="body" idx="1"/>
          </p:nvPr>
        </p:nvSpPr>
        <p:spPr>
          <a:xfrm>
            <a:off x="228600" y="838200"/>
            <a:ext cx="8804274" cy="4953000"/>
          </a:xfrm>
        </p:spPr>
        <p:txBody>
          <a:bodyPr>
            <a:noAutofit/>
          </a:bodyPr>
          <a:lstStyle/>
          <a:p>
            <a:pPr eaLnBrk="1" hangingPunct="1">
              <a:spcAft>
                <a:spcPct val="50000"/>
              </a:spcAft>
            </a:pPr>
            <a:r>
              <a:rPr lang="en-US" dirty="0"/>
              <a:t>CFL is currently calculated using the element length in the direction of flow, see NCFVT::</a:t>
            </a:r>
            <a:r>
              <a:rPr lang="en-US" b="1" dirty="0" err="1"/>
              <a:t>AnisotropicCourantIncrement</a:t>
            </a:r>
            <a:r>
              <a:rPr lang="en-US" b="1" dirty="0"/>
              <a:t>()</a:t>
            </a:r>
            <a:r>
              <a:rPr lang="en-US" dirty="0"/>
              <a:t>. This only considers viscous and gravitationally driven flow since capillary spreading is computed with the FE method.</a:t>
            </a:r>
          </a:p>
          <a:p>
            <a:pPr>
              <a:spcAft>
                <a:spcPct val="50000"/>
              </a:spcAft>
            </a:pPr>
            <a:r>
              <a:rPr lang="en-US" dirty="0"/>
              <a:t>A limiting value is specified by the user for the case when there is no flow.</a:t>
            </a:r>
            <a:endParaRPr lang="en-GB" dirty="0"/>
          </a:p>
          <a:p>
            <a:pPr eaLnBrk="1" hangingPunct="1">
              <a:spcAft>
                <a:spcPct val="50000"/>
              </a:spcAft>
            </a:pPr>
            <a:r>
              <a:rPr lang="en-US" dirty="0"/>
              <a:t>For explicit calculations, </a:t>
            </a:r>
            <a:r>
              <a:rPr lang="en-US" i="1" dirty="0" err="1"/>
              <a:t>df/ds</a:t>
            </a:r>
            <a:r>
              <a:rPr lang="en-US" i="1" baseline="-25000" dirty="0" err="1"/>
              <a:t>max</a:t>
            </a:r>
            <a:r>
              <a:rPr lang="en-US" dirty="0"/>
              <a:t> is used in the calculation of the 2-phase CFL limit because the resulting step size will be sufficiently small even when </a:t>
            </a:r>
            <a:r>
              <a:rPr lang="en-US" i="1" dirty="0" err="1"/>
              <a:t>df/ds</a:t>
            </a:r>
            <a:r>
              <a:rPr lang="en-US" dirty="0"/>
              <a:t> increases from the current to subsequent iterations. For implicit calculations this is not necessary and the virtual CFL method should be overloaded in such schemes to be less restrictive.</a:t>
            </a:r>
          </a:p>
          <a:p>
            <a:pPr eaLnBrk="1" hangingPunct="1">
              <a:spcAft>
                <a:spcPct val="50000"/>
              </a:spcAft>
            </a:pPr>
            <a:r>
              <a:rPr lang="en-US" dirty="0"/>
              <a:t>To use </a:t>
            </a:r>
            <a:r>
              <a:rPr lang="en-US" dirty="0" err="1"/>
              <a:t>explit</a:t>
            </a:r>
            <a:r>
              <a:rPr lang="en-US" dirty="0"/>
              <a:t> schemes CFL calculation must simultaneously address viscous, gravitational, and capillary terms CFL = max( </a:t>
            </a:r>
            <a:r>
              <a:rPr lang="en-US" dirty="0" err="1"/>
              <a:t>visc_CFL</a:t>
            </a:r>
            <a:r>
              <a:rPr lang="en-US" dirty="0"/>
              <a:t>…) so that even if one of these is zero a meaningful value is established.</a:t>
            </a:r>
          </a:p>
          <a:p>
            <a:pPr eaLnBrk="1" hangingPunct="1">
              <a:spcAft>
                <a:spcPct val="50000"/>
              </a:spcAft>
            </a:pPr>
            <a:r>
              <a:rPr lang="en-US" dirty="0"/>
              <a:t>For these reasons the CFL methods are virtual so that they can be </a:t>
            </a:r>
            <a:r>
              <a:rPr lang="en-US" dirty="0" err="1"/>
              <a:t>overriden</a:t>
            </a:r>
            <a:r>
              <a:rPr lang="en-US" dirty="0"/>
              <a:t> in the subclasses.</a:t>
            </a:r>
          </a:p>
        </p:txBody>
      </p:sp>
      <p:sp>
        <p:nvSpPr>
          <p:cNvPr id="7"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5/2/24</a:t>
            </a:fld>
            <a:endParaRPr lang="en-US" dirty="0">
              <a:solidFill>
                <a:prstClr val="white">
                  <a:lumMod val="65000"/>
                </a:prstClr>
              </a:solidFill>
            </a:endParaRPr>
          </a:p>
        </p:txBody>
      </p:sp>
      <p:sp>
        <p:nvSpPr>
          <p:cNvPr id="8"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9"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70</a:t>
            </a:fld>
            <a:endParaRPr lang="en-US">
              <a:solidFill>
                <a:prstClr val="white">
                  <a:lumMod val="65000"/>
                </a:prstClr>
              </a:solidFill>
            </a:endParaRPr>
          </a:p>
        </p:txBody>
      </p:sp>
    </p:spTree>
    <p:extLst>
      <p:ext uri="{BB962C8B-B14F-4D97-AF65-F5344CB8AC3E}">
        <p14:creationId xmlns:p14="http://schemas.microsoft.com/office/powerpoint/2010/main" val="1876247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166688" y="314325"/>
            <a:ext cx="8154987" cy="457200"/>
          </a:xfrm>
        </p:spPr>
        <p:txBody>
          <a:bodyPr>
            <a:normAutofit fontScale="90000"/>
          </a:bodyPr>
          <a:lstStyle/>
          <a:p>
            <a:pPr eaLnBrk="1" hangingPunct="1"/>
            <a:r>
              <a:rPr lang="en-US" sz="2400" dirty="0">
                <a:latin typeface="Arial" charset="0"/>
                <a:ea typeface="ＭＳ Ｐゴシック" charset="0"/>
                <a:cs typeface="ＭＳ Ｐゴシック" charset="0"/>
              </a:rPr>
              <a:t>Legacy node-centered FE-FV scheme: participating classes</a:t>
            </a:r>
            <a:endParaRPr lang="en-GB" sz="2400" dirty="0">
              <a:latin typeface="Arial" charset="0"/>
              <a:ea typeface="ＭＳ Ｐゴシック" charset="0"/>
              <a:cs typeface="ＭＳ Ｐゴシック" charset="0"/>
            </a:endParaRPr>
          </a:p>
        </p:txBody>
      </p:sp>
      <p:sp>
        <p:nvSpPr>
          <p:cNvPr id="44036" name="Text Box 3"/>
          <p:cNvSpPr txBox="1">
            <a:spLocks noChangeArrowheads="1"/>
          </p:cNvSpPr>
          <p:nvPr/>
        </p:nvSpPr>
        <p:spPr bwMode="auto">
          <a:xfrm>
            <a:off x="258763" y="1987550"/>
            <a:ext cx="4216400"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ExplicitNodeCenteredFiniteVolumeTransport</a:t>
            </a:r>
            <a:endParaRPr lang="en-GB" sz="1600">
              <a:latin typeface="Arial" charset="0"/>
            </a:endParaRPr>
          </a:p>
        </p:txBody>
      </p:sp>
      <p:sp>
        <p:nvSpPr>
          <p:cNvPr id="44037" name="Text Box 4"/>
          <p:cNvSpPr txBox="1">
            <a:spLocks noChangeArrowheads="1"/>
          </p:cNvSpPr>
          <p:nvPr/>
        </p:nvSpPr>
        <p:spPr bwMode="auto">
          <a:xfrm>
            <a:off x="4383088" y="2932113"/>
            <a:ext cx="3562350"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NodeCenteredFiniteVolumeAlgorithm</a:t>
            </a:r>
            <a:endParaRPr lang="en-GB" sz="1600">
              <a:latin typeface="Arial" charset="0"/>
            </a:endParaRPr>
          </a:p>
        </p:txBody>
      </p:sp>
      <p:sp>
        <p:nvSpPr>
          <p:cNvPr id="44038" name="Text Box 5"/>
          <p:cNvSpPr txBox="1">
            <a:spLocks noChangeArrowheads="1"/>
          </p:cNvSpPr>
          <p:nvPr/>
        </p:nvSpPr>
        <p:spPr bwMode="auto">
          <a:xfrm>
            <a:off x="4391025" y="3971925"/>
            <a:ext cx="1725613"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StencilProcessor</a:t>
            </a:r>
            <a:endParaRPr lang="en-GB" sz="1600">
              <a:latin typeface="Arial" charset="0"/>
            </a:endParaRPr>
          </a:p>
        </p:txBody>
      </p:sp>
      <p:sp>
        <p:nvSpPr>
          <p:cNvPr id="44039" name="Text Box 6"/>
          <p:cNvSpPr txBox="1">
            <a:spLocks noChangeArrowheads="1"/>
          </p:cNvSpPr>
          <p:nvPr/>
        </p:nvSpPr>
        <p:spPr bwMode="auto">
          <a:xfrm>
            <a:off x="2667000" y="1047750"/>
            <a:ext cx="3575050"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NodeCenteredFiniteVolumeTransport</a:t>
            </a:r>
            <a:endParaRPr lang="en-GB" sz="1600">
              <a:latin typeface="Arial" charset="0"/>
            </a:endParaRPr>
          </a:p>
        </p:txBody>
      </p:sp>
      <p:sp>
        <p:nvSpPr>
          <p:cNvPr id="44040" name="Text Box 7"/>
          <p:cNvSpPr txBox="1">
            <a:spLocks noChangeArrowheads="1"/>
          </p:cNvSpPr>
          <p:nvPr/>
        </p:nvSpPr>
        <p:spPr bwMode="auto">
          <a:xfrm>
            <a:off x="4676775" y="1989138"/>
            <a:ext cx="4240213"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TwoPhaseImplicitNodeCenteredFVTransport</a:t>
            </a:r>
            <a:endParaRPr lang="en-GB" sz="1600">
              <a:latin typeface="Arial" charset="0"/>
            </a:endParaRPr>
          </a:p>
        </p:txBody>
      </p:sp>
      <p:sp>
        <p:nvSpPr>
          <p:cNvPr id="44041" name="Text Box 8"/>
          <p:cNvSpPr txBox="1">
            <a:spLocks noChangeArrowheads="1"/>
          </p:cNvSpPr>
          <p:nvPr/>
        </p:nvSpPr>
        <p:spPr bwMode="auto">
          <a:xfrm>
            <a:off x="1638300" y="4633913"/>
            <a:ext cx="1993900"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FiniteVolumeStencil</a:t>
            </a:r>
            <a:endParaRPr lang="en-GB" sz="1600">
              <a:latin typeface="Arial" charset="0"/>
            </a:endParaRPr>
          </a:p>
        </p:txBody>
      </p:sp>
      <p:sp>
        <p:nvSpPr>
          <p:cNvPr id="44042" name="Text Box 9"/>
          <p:cNvSpPr txBox="1">
            <a:spLocks noChangeArrowheads="1"/>
          </p:cNvSpPr>
          <p:nvPr/>
        </p:nvSpPr>
        <p:spPr bwMode="auto">
          <a:xfrm>
            <a:off x="315913" y="5181600"/>
            <a:ext cx="2795587"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FiniteVolumeStencilManager</a:t>
            </a:r>
            <a:endParaRPr lang="en-GB" sz="1600">
              <a:latin typeface="Arial" charset="0"/>
            </a:endParaRPr>
          </a:p>
        </p:txBody>
      </p:sp>
      <p:sp>
        <p:nvSpPr>
          <p:cNvPr id="44043" name="Text Box 10"/>
          <p:cNvSpPr txBox="1">
            <a:spLocks noChangeArrowheads="1"/>
          </p:cNvSpPr>
          <p:nvPr/>
        </p:nvSpPr>
        <p:spPr bwMode="auto">
          <a:xfrm>
            <a:off x="379413" y="5726113"/>
            <a:ext cx="3192462"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FV_IntegrationPointsAndWeights</a:t>
            </a:r>
            <a:endParaRPr lang="en-GB" sz="1600">
              <a:latin typeface="Arial" charset="0"/>
            </a:endParaRPr>
          </a:p>
        </p:txBody>
      </p:sp>
      <p:sp>
        <p:nvSpPr>
          <p:cNvPr id="44044" name="Text Box 12"/>
          <p:cNvSpPr txBox="1">
            <a:spLocks noChangeArrowheads="1"/>
          </p:cNvSpPr>
          <p:nvPr/>
        </p:nvSpPr>
        <p:spPr bwMode="auto">
          <a:xfrm>
            <a:off x="1649413" y="3749675"/>
            <a:ext cx="1893887"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FiniteVolumeTraits</a:t>
            </a:r>
            <a:endParaRPr lang="en-GB" sz="1600">
              <a:latin typeface="Arial" charset="0"/>
            </a:endParaRPr>
          </a:p>
        </p:txBody>
      </p:sp>
      <p:sp>
        <p:nvSpPr>
          <p:cNvPr id="44045" name="Text Box 13"/>
          <p:cNvSpPr txBox="1">
            <a:spLocks noChangeArrowheads="1"/>
          </p:cNvSpPr>
          <p:nvPr/>
        </p:nvSpPr>
        <p:spPr bwMode="auto">
          <a:xfrm>
            <a:off x="311150" y="4632325"/>
            <a:ext cx="947738" cy="355600"/>
          </a:xfrm>
          <a:prstGeom prst="rect">
            <a:avLst/>
          </a:prstGeom>
          <a:noFill/>
          <a:ln w="19050">
            <a:solidFill>
              <a:srgbClr val="B2B2B2"/>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solidFill>
                  <a:srgbClr val="B2B2B2"/>
                </a:solidFill>
                <a:latin typeface="Arial" charset="0"/>
              </a:rPr>
              <a:t>Element</a:t>
            </a:r>
            <a:endParaRPr lang="en-GB" sz="1600">
              <a:solidFill>
                <a:srgbClr val="B2B2B2"/>
              </a:solidFill>
              <a:latin typeface="Arial" charset="0"/>
            </a:endParaRPr>
          </a:p>
        </p:txBody>
      </p:sp>
      <p:sp>
        <p:nvSpPr>
          <p:cNvPr id="44046" name="Rectangle 14"/>
          <p:cNvSpPr>
            <a:spLocks noChangeArrowheads="1"/>
          </p:cNvSpPr>
          <p:nvPr/>
        </p:nvSpPr>
        <p:spPr bwMode="auto">
          <a:xfrm>
            <a:off x="4267200" y="4402138"/>
            <a:ext cx="4741863"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000">
                <a:latin typeface="Arial" charset="0"/>
              </a:rPr>
              <a:t>e</a:t>
            </a:r>
            <a:r>
              <a:rPr lang="en-GB" sz="1000">
                <a:latin typeface="Arial" charset="0"/>
              </a:rPr>
              <a:t>.ConnectedFiniteVolumeStencil()-&gt;SurfaceEdge( i, inside_node, outside_node );</a:t>
            </a:r>
          </a:p>
        </p:txBody>
      </p:sp>
      <p:sp>
        <p:nvSpPr>
          <p:cNvPr id="44047" name="Text Box 15"/>
          <p:cNvSpPr txBox="1">
            <a:spLocks noChangeArrowheads="1"/>
          </p:cNvSpPr>
          <p:nvPr/>
        </p:nvSpPr>
        <p:spPr bwMode="auto">
          <a:xfrm>
            <a:off x="4360863" y="4921250"/>
            <a:ext cx="1712912"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TwoPhaseModel</a:t>
            </a:r>
            <a:endParaRPr lang="en-GB" sz="1600">
              <a:latin typeface="Arial" charset="0"/>
            </a:endParaRPr>
          </a:p>
        </p:txBody>
      </p:sp>
      <p:sp>
        <p:nvSpPr>
          <p:cNvPr id="44048" name="Text Box 16"/>
          <p:cNvSpPr txBox="1">
            <a:spLocks noChangeArrowheads="1"/>
          </p:cNvSpPr>
          <p:nvPr/>
        </p:nvSpPr>
        <p:spPr bwMode="auto">
          <a:xfrm>
            <a:off x="500063" y="2936875"/>
            <a:ext cx="1524000"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FV_Parameter</a:t>
            </a:r>
            <a:endParaRPr lang="en-GB" sz="1600">
              <a:latin typeface="Arial" charset="0"/>
            </a:endParaRPr>
          </a:p>
        </p:txBody>
      </p:sp>
      <p:sp>
        <p:nvSpPr>
          <p:cNvPr id="44049" name="Rectangle 17"/>
          <p:cNvSpPr>
            <a:spLocks noChangeArrowheads="1"/>
          </p:cNvSpPr>
          <p:nvPr/>
        </p:nvSpPr>
        <p:spPr bwMode="auto">
          <a:xfrm>
            <a:off x="4371975" y="3400425"/>
            <a:ext cx="3413125"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000">
                <a:latin typeface="Arial" charset="0"/>
              </a:rPr>
              <a:t>assembly and solution of FV matrix equations, SAMG etc.</a:t>
            </a:r>
            <a:endParaRPr lang="en-GB" sz="1000">
              <a:latin typeface="Arial" charset="0"/>
            </a:endParaRPr>
          </a:p>
        </p:txBody>
      </p:sp>
      <p:sp>
        <p:nvSpPr>
          <p:cNvPr id="44050" name="Rectangle 18"/>
          <p:cNvSpPr>
            <a:spLocks noChangeArrowheads="1"/>
          </p:cNvSpPr>
          <p:nvPr/>
        </p:nvSpPr>
        <p:spPr bwMode="auto">
          <a:xfrm>
            <a:off x="412750" y="4076700"/>
            <a:ext cx="2513013"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000">
                <a:latin typeface="Arial" charset="0"/>
              </a:rPr>
              <a:t>additional FV functionality for the Element</a:t>
            </a:r>
            <a:endParaRPr lang="en-GB" sz="1000">
              <a:latin typeface="Arial" charset="0"/>
            </a:endParaRPr>
          </a:p>
        </p:txBody>
      </p:sp>
      <p:sp>
        <p:nvSpPr>
          <p:cNvPr id="44051" name="Rectangle 19"/>
          <p:cNvSpPr>
            <a:spLocks noChangeArrowheads="1"/>
          </p:cNvSpPr>
          <p:nvPr/>
        </p:nvSpPr>
        <p:spPr bwMode="auto">
          <a:xfrm>
            <a:off x="4249738" y="5262563"/>
            <a:ext cx="4270375"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000">
                <a:latin typeface="Arial" charset="0"/>
              </a:rPr>
              <a:t>two-phase flow properties etc., advection, diffusion and gravity multipliers</a:t>
            </a:r>
            <a:endParaRPr lang="en-GB" sz="1000">
              <a:latin typeface="Arial" charset="0"/>
            </a:endParaRPr>
          </a:p>
        </p:txBody>
      </p:sp>
      <p:cxnSp>
        <p:nvCxnSpPr>
          <p:cNvPr id="44052" name="AutoShape 20"/>
          <p:cNvCxnSpPr>
            <a:cxnSpLocks noChangeShapeType="1"/>
            <a:stCxn id="44039" idx="2"/>
            <a:endCxn id="44036" idx="0"/>
          </p:cNvCxnSpPr>
          <p:nvPr/>
        </p:nvCxnSpPr>
        <p:spPr bwMode="auto">
          <a:xfrm rot="5400000">
            <a:off x="3128169" y="651669"/>
            <a:ext cx="565150" cy="2087562"/>
          </a:xfrm>
          <a:prstGeom prst="bentConnector3">
            <a:avLst>
              <a:gd name="adj1" fmla="val 50000"/>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4053" name="AutoShape 21"/>
          <p:cNvCxnSpPr>
            <a:cxnSpLocks noChangeShapeType="1"/>
            <a:stCxn id="44039" idx="2"/>
            <a:endCxn id="44040" idx="0"/>
          </p:cNvCxnSpPr>
          <p:nvPr/>
        </p:nvCxnSpPr>
        <p:spPr bwMode="auto">
          <a:xfrm rot="16200000" flipH="1">
            <a:off x="5342731" y="524669"/>
            <a:ext cx="566738" cy="2343150"/>
          </a:xfrm>
          <a:prstGeom prst="bentConnector3">
            <a:avLst>
              <a:gd name="adj1" fmla="val 49861"/>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4054" name="AutoShape 22"/>
          <p:cNvCxnSpPr>
            <a:cxnSpLocks noChangeShapeType="1"/>
            <a:stCxn id="44036" idx="2"/>
            <a:endCxn id="44048" idx="3"/>
          </p:cNvCxnSpPr>
          <p:nvPr/>
        </p:nvCxnSpPr>
        <p:spPr bwMode="auto">
          <a:xfrm rot="5400000">
            <a:off x="1819276" y="2566987"/>
            <a:ext cx="762000" cy="333375"/>
          </a:xfrm>
          <a:prstGeom prst="bentConnector2">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4055" name="AutoShape 23"/>
          <p:cNvCxnSpPr>
            <a:cxnSpLocks noChangeShapeType="1"/>
            <a:stCxn id="44036" idx="2"/>
            <a:endCxn id="44044" idx="0"/>
          </p:cNvCxnSpPr>
          <p:nvPr/>
        </p:nvCxnSpPr>
        <p:spPr bwMode="auto">
          <a:xfrm rot="16200000" flipH="1">
            <a:off x="1788319" y="2931319"/>
            <a:ext cx="1387475" cy="230187"/>
          </a:xfrm>
          <a:prstGeom prst="bentConnector3">
            <a:avLst>
              <a:gd name="adj1" fmla="val 50000"/>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4056" name="AutoShape 24"/>
          <p:cNvCxnSpPr>
            <a:cxnSpLocks noChangeShapeType="1"/>
            <a:stCxn id="44045" idx="3"/>
            <a:endCxn id="44041" idx="1"/>
          </p:cNvCxnSpPr>
          <p:nvPr/>
        </p:nvCxnSpPr>
        <p:spPr bwMode="auto">
          <a:xfrm>
            <a:off x="1268413" y="4810125"/>
            <a:ext cx="360362" cy="1588"/>
          </a:xfrm>
          <a:prstGeom prst="straightConnector1">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4057" name="AutoShape 25"/>
          <p:cNvCxnSpPr>
            <a:cxnSpLocks noChangeShapeType="1"/>
            <a:stCxn id="44044" idx="1"/>
            <a:endCxn id="44045" idx="1"/>
          </p:cNvCxnSpPr>
          <p:nvPr/>
        </p:nvCxnSpPr>
        <p:spPr bwMode="auto">
          <a:xfrm rot="10800000" flipV="1">
            <a:off x="301625" y="3927475"/>
            <a:ext cx="1338263" cy="882650"/>
          </a:xfrm>
          <a:prstGeom prst="bentConnector3">
            <a:avLst>
              <a:gd name="adj1" fmla="val 116370"/>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4058" name="AutoShape 26"/>
          <p:cNvCxnSpPr>
            <a:cxnSpLocks noChangeShapeType="1"/>
            <a:stCxn id="44041" idx="3"/>
            <a:endCxn id="44042" idx="3"/>
          </p:cNvCxnSpPr>
          <p:nvPr/>
        </p:nvCxnSpPr>
        <p:spPr bwMode="auto">
          <a:xfrm flipH="1">
            <a:off x="3121025" y="4811713"/>
            <a:ext cx="520700" cy="547687"/>
          </a:xfrm>
          <a:prstGeom prst="bentConnector3">
            <a:avLst>
              <a:gd name="adj1" fmla="val -42074"/>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4059" name="AutoShape 27"/>
          <p:cNvCxnSpPr>
            <a:cxnSpLocks noChangeShapeType="1"/>
            <a:stCxn id="44042" idx="2"/>
            <a:endCxn id="44043" idx="0"/>
          </p:cNvCxnSpPr>
          <p:nvPr/>
        </p:nvCxnSpPr>
        <p:spPr bwMode="auto">
          <a:xfrm rot="16200000" flipH="1">
            <a:off x="1760537" y="5500688"/>
            <a:ext cx="169863" cy="261938"/>
          </a:xfrm>
          <a:prstGeom prst="bentConnector3">
            <a:avLst>
              <a:gd name="adj1" fmla="val 49532"/>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sp>
        <p:nvSpPr>
          <p:cNvPr id="44060" name="Text Box 28"/>
          <p:cNvSpPr txBox="1">
            <a:spLocks noChangeArrowheads="1"/>
          </p:cNvSpPr>
          <p:nvPr/>
        </p:nvSpPr>
        <p:spPr bwMode="auto">
          <a:xfrm>
            <a:off x="255588" y="2422525"/>
            <a:ext cx="4249737" cy="355600"/>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TwoPhaseExplicitNodeCenteredFVTransport</a:t>
            </a:r>
            <a:endParaRPr lang="en-GB" sz="1600">
              <a:latin typeface="Arial" charset="0"/>
            </a:endParaRPr>
          </a:p>
        </p:txBody>
      </p:sp>
      <p:sp>
        <p:nvSpPr>
          <p:cNvPr id="44061" name="Text Box 29"/>
          <p:cNvSpPr txBox="1">
            <a:spLocks noChangeArrowheads="1"/>
          </p:cNvSpPr>
          <p:nvPr/>
        </p:nvSpPr>
        <p:spPr bwMode="auto">
          <a:xfrm>
            <a:off x="6354763" y="3970338"/>
            <a:ext cx="2366962" cy="3556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ExplicitStencilProcessor</a:t>
            </a:r>
            <a:endParaRPr lang="en-GB" sz="1600">
              <a:latin typeface="Arial" charset="0"/>
            </a:endParaRPr>
          </a:p>
        </p:txBody>
      </p:sp>
      <p:sp>
        <p:nvSpPr>
          <p:cNvPr id="31"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5/2/24</a:t>
            </a:fld>
            <a:endParaRPr lang="en-US" dirty="0">
              <a:solidFill>
                <a:prstClr val="white">
                  <a:lumMod val="65000"/>
                </a:prstClr>
              </a:solidFill>
            </a:endParaRPr>
          </a:p>
        </p:txBody>
      </p:sp>
      <p:sp>
        <p:nvSpPr>
          <p:cNvPr id="32"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33"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71</a:t>
            </a:fld>
            <a:endParaRPr lang="en-US">
              <a:solidFill>
                <a:prstClr val="white">
                  <a:lumMod val="65000"/>
                </a:prstClr>
              </a:solidFill>
            </a:endParaRPr>
          </a:p>
        </p:txBody>
      </p:sp>
    </p:spTree>
    <p:extLst>
      <p:ext uri="{BB962C8B-B14F-4D97-AF65-F5344CB8AC3E}">
        <p14:creationId xmlns:p14="http://schemas.microsoft.com/office/powerpoint/2010/main" val="41650741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158750" y="142875"/>
            <a:ext cx="7412038" cy="366713"/>
          </a:xfrm>
        </p:spPr>
        <p:txBody>
          <a:bodyPr/>
          <a:lstStyle/>
          <a:p>
            <a:pPr eaLnBrk="1" hangingPunct="1"/>
            <a:r>
              <a:rPr lang="en-US" sz="1800">
                <a:latin typeface="Arial" charset="0"/>
                <a:ea typeface="ＭＳ Ｐゴシック" charset="0"/>
                <a:cs typeface="ＭＳ Ｐゴシック" charset="0"/>
              </a:rPr>
              <a:t>Node-centered CVFE scheme</a:t>
            </a:r>
            <a:endParaRPr lang="en-GB" sz="1800">
              <a:latin typeface="Arial" charset="0"/>
              <a:ea typeface="ＭＳ Ｐゴシック" charset="0"/>
              <a:cs typeface="ＭＳ Ｐゴシック" charset="0"/>
            </a:endParaRPr>
          </a:p>
        </p:txBody>
      </p:sp>
      <p:sp>
        <p:nvSpPr>
          <p:cNvPr id="46084" name="Text Box 3"/>
          <p:cNvSpPr txBox="1">
            <a:spLocks noChangeArrowheads="1"/>
          </p:cNvSpPr>
          <p:nvPr/>
        </p:nvSpPr>
        <p:spPr bwMode="auto">
          <a:xfrm>
            <a:off x="730250" y="1558925"/>
            <a:ext cx="3206750" cy="293688"/>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ExplicitNodeCenteredFiniteVolumeTransport</a:t>
            </a:r>
            <a:endParaRPr lang="en-GB" sz="1200">
              <a:latin typeface="Arial" charset="0"/>
            </a:endParaRPr>
          </a:p>
        </p:txBody>
      </p:sp>
      <p:sp>
        <p:nvSpPr>
          <p:cNvPr id="46085" name="Text Box 4"/>
          <p:cNvSpPr txBox="1">
            <a:spLocks noChangeArrowheads="1"/>
          </p:cNvSpPr>
          <p:nvPr/>
        </p:nvSpPr>
        <p:spPr bwMode="auto">
          <a:xfrm>
            <a:off x="3163888" y="2654300"/>
            <a:ext cx="2716212" cy="293688"/>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NodeCenteredFiniteVolumeAlgorithm</a:t>
            </a:r>
            <a:endParaRPr lang="en-GB" sz="1200">
              <a:latin typeface="Arial" charset="0"/>
            </a:endParaRPr>
          </a:p>
        </p:txBody>
      </p:sp>
      <p:sp>
        <p:nvSpPr>
          <p:cNvPr id="46086" name="Text Box 5"/>
          <p:cNvSpPr txBox="1">
            <a:spLocks noChangeArrowheads="1"/>
          </p:cNvSpPr>
          <p:nvPr/>
        </p:nvSpPr>
        <p:spPr bwMode="auto">
          <a:xfrm>
            <a:off x="5794375" y="3128963"/>
            <a:ext cx="1343025"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StencilProcessor</a:t>
            </a:r>
            <a:endParaRPr lang="en-GB" sz="1200">
              <a:latin typeface="Arial" charset="0"/>
            </a:endParaRPr>
          </a:p>
        </p:txBody>
      </p:sp>
      <p:sp>
        <p:nvSpPr>
          <p:cNvPr id="46087" name="Text Box 6"/>
          <p:cNvSpPr txBox="1">
            <a:spLocks noChangeArrowheads="1"/>
          </p:cNvSpPr>
          <p:nvPr/>
        </p:nvSpPr>
        <p:spPr bwMode="auto">
          <a:xfrm>
            <a:off x="3821113" y="906463"/>
            <a:ext cx="2725737"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NodeCenteredFiniteVolumeTransport</a:t>
            </a:r>
            <a:endParaRPr lang="en-GB" sz="1200">
              <a:latin typeface="Arial" charset="0"/>
            </a:endParaRPr>
          </a:p>
        </p:txBody>
      </p:sp>
      <p:sp>
        <p:nvSpPr>
          <p:cNvPr id="46088" name="Text Box 7"/>
          <p:cNvSpPr txBox="1">
            <a:spLocks noChangeArrowheads="1"/>
          </p:cNvSpPr>
          <p:nvPr/>
        </p:nvSpPr>
        <p:spPr bwMode="auto">
          <a:xfrm>
            <a:off x="4787900" y="1906588"/>
            <a:ext cx="3225800"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TwoPhaseImplicitNodeCenteredFVTransport</a:t>
            </a:r>
            <a:endParaRPr lang="en-GB" sz="1200">
              <a:latin typeface="Arial" charset="0"/>
            </a:endParaRPr>
          </a:p>
        </p:txBody>
      </p:sp>
      <p:sp>
        <p:nvSpPr>
          <p:cNvPr id="46089" name="Text Box 14"/>
          <p:cNvSpPr txBox="1">
            <a:spLocks noChangeArrowheads="1"/>
          </p:cNvSpPr>
          <p:nvPr/>
        </p:nvSpPr>
        <p:spPr bwMode="auto">
          <a:xfrm>
            <a:off x="5226050" y="5481638"/>
            <a:ext cx="1333500"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TwoPhaseModel</a:t>
            </a:r>
            <a:endParaRPr lang="en-GB" sz="1200">
              <a:latin typeface="Arial" charset="0"/>
            </a:endParaRPr>
          </a:p>
        </p:txBody>
      </p:sp>
      <p:cxnSp>
        <p:nvCxnSpPr>
          <p:cNvPr id="46090" name="AutoShape 19"/>
          <p:cNvCxnSpPr>
            <a:cxnSpLocks noChangeShapeType="1"/>
            <a:stCxn id="46087" idx="2"/>
            <a:endCxn id="46084" idx="0"/>
          </p:cNvCxnSpPr>
          <p:nvPr/>
        </p:nvCxnSpPr>
        <p:spPr bwMode="auto">
          <a:xfrm rot="5400000">
            <a:off x="3589337" y="-46037"/>
            <a:ext cx="339725" cy="2851150"/>
          </a:xfrm>
          <a:prstGeom prst="bentConnector3">
            <a:avLst>
              <a:gd name="adj1" fmla="val 49532"/>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6091" name="AutoShape 20"/>
          <p:cNvCxnSpPr>
            <a:cxnSpLocks noChangeShapeType="1"/>
            <a:stCxn id="46087" idx="2"/>
            <a:endCxn id="46088" idx="0"/>
          </p:cNvCxnSpPr>
          <p:nvPr/>
        </p:nvCxnSpPr>
        <p:spPr bwMode="auto">
          <a:xfrm rot="16200000" flipH="1">
            <a:off x="5449094" y="945356"/>
            <a:ext cx="687388" cy="1216025"/>
          </a:xfrm>
          <a:prstGeom prst="bentConnector3">
            <a:avLst>
              <a:gd name="adj1" fmla="val 49884"/>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sp>
        <p:nvSpPr>
          <p:cNvPr id="46092" name="AutoShape 32"/>
          <p:cNvSpPr>
            <a:spLocks noChangeArrowheads="1"/>
          </p:cNvSpPr>
          <p:nvPr/>
        </p:nvSpPr>
        <p:spPr bwMode="auto">
          <a:xfrm>
            <a:off x="2220913" y="1447800"/>
            <a:ext cx="231775" cy="107950"/>
          </a:xfrm>
          <a:prstGeom prst="triangle">
            <a:avLst>
              <a:gd name="adj" fmla="val 50000"/>
            </a:avLst>
          </a:prstGeom>
          <a:solidFill>
            <a:schemeClr val="tx1"/>
          </a:solidFill>
          <a:ln w="9525">
            <a:solidFill>
              <a:schemeClr val="tx1"/>
            </a:solidFill>
            <a:miter lim="800000"/>
            <a:headEnd/>
            <a:tailEnd/>
          </a:ln>
        </p:spPr>
        <p:txBody>
          <a:bodyPr wrap="none" anchor="ctr"/>
          <a:lstStyle/>
          <a:p>
            <a:endParaRPr lang="en-GB"/>
          </a:p>
        </p:txBody>
      </p:sp>
      <p:sp>
        <p:nvSpPr>
          <p:cNvPr id="46093" name="AutoShape 33"/>
          <p:cNvSpPr>
            <a:spLocks noChangeArrowheads="1"/>
          </p:cNvSpPr>
          <p:nvPr/>
        </p:nvSpPr>
        <p:spPr bwMode="auto">
          <a:xfrm>
            <a:off x="6273800" y="1800225"/>
            <a:ext cx="231775" cy="107950"/>
          </a:xfrm>
          <a:prstGeom prst="triangle">
            <a:avLst>
              <a:gd name="adj" fmla="val 50000"/>
            </a:avLst>
          </a:prstGeom>
          <a:solidFill>
            <a:schemeClr val="tx1"/>
          </a:solidFill>
          <a:ln w="9525">
            <a:solidFill>
              <a:schemeClr val="tx1"/>
            </a:solidFill>
            <a:miter lim="800000"/>
            <a:headEnd/>
            <a:tailEnd/>
          </a:ln>
        </p:spPr>
        <p:txBody>
          <a:bodyPr wrap="none" anchor="ctr"/>
          <a:lstStyle/>
          <a:p>
            <a:endParaRPr lang="en-GB"/>
          </a:p>
        </p:txBody>
      </p:sp>
      <p:cxnSp>
        <p:nvCxnSpPr>
          <p:cNvPr id="46094" name="AutoShape 34"/>
          <p:cNvCxnSpPr>
            <a:cxnSpLocks noChangeShapeType="1"/>
            <a:stCxn id="46088" idx="1"/>
            <a:endCxn id="46085" idx="0"/>
          </p:cNvCxnSpPr>
          <p:nvPr/>
        </p:nvCxnSpPr>
        <p:spPr bwMode="auto">
          <a:xfrm rot="10800000" flipV="1">
            <a:off x="4522788" y="2054225"/>
            <a:ext cx="255587" cy="590550"/>
          </a:xfrm>
          <a:prstGeom prst="bentConnector2">
            <a:avLst/>
          </a:prstGeom>
          <a:noFill/>
          <a:ln w="19050">
            <a:solidFill>
              <a:schemeClr val="tx1"/>
            </a:solidFill>
            <a:miter lim="800000"/>
            <a:headEnd/>
            <a:tailEnd type="arrow" w="med" len="med"/>
          </a:ln>
          <a:extLst>
            <a:ext uri="{909E8E84-426E-40dd-AFC4-6F175D3DCCD1}">
              <a14:hiddenFill xmlns="" xmlns:a14="http://schemas.microsoft.com/office/drawing/2010/main">
                <a:noFill/>
              </a14:hiddenFill>
            </a:ext>
          </a:extLst>
        </p:spPr>
      </p:cxnSp>
      <p:cxnSp>
        <p:nvCxnSpPr>
          <p:cNvPr id="46095" name="AutoShape 35"/>
          <p:cNvCxnSpPr>
            <a:cxnSpLocks noChangeShapeType="1"/>
            <a:stCxn id="46084" idx="3"/>
            <a:endCxn id="46085" idx="1"/>
          </p:cNvCxnSpPr>
          <p:nvPr/>
        </p:nvCxnSpPr>
        <p:spPr bwMode="auto">
          <a:xfrm flipH="1">
            <a:off x="3154363" y="1706563"/>
            <a:ext cx="792162" cy="1095375"/>
          </a:xfrm>
          <a:prstGeom prst="bentConnector5">
            <a:avLst>
              <a:gd name="adj1" fmla="val -27657"/>
              <a:gd name="adj2" fmla="val 49856"/>
              <a:gd name="adj3" fmla="val 127657"/>
            </a:avLst>
          </a:prstGeom>
          <a:noFill/>
          <a:ln w="19050">
            <a:solidFill>
              <a:schemeClr val="tx1"/>
            </a:solidFill>
            <a:prstDash val="sysDot"/>
            <a:miter lim="800000"/>
            <a:headEnd/>
            <a:tailEnd type="arrow" w="med" len="med"/>
          </a:ln>
          <a:extLst>
            <a:ext uri="{909E8E84-426E-40dd-AFC4-6F175D3DCCD1}">
              <a14:hiddenFill xmlns="" xmlns:a14="http://schemas.microsoft.com/office/drawing/2010/main">
                <a:noFill/>
              </a14:hiddenFill>
            </a:ext>
          </a:extLst>
        </p:spPr>
      </p:cxnSp>
      <p:sp>
        <p:nvSpPr>
          <p:cNvPr id="46096" name="Text Box 36"/>
          <p:cNvSpPr txBox="1">
            <a:spLocks noChangeArrowheads="1"/>
          </p:cNvSpPr>
          <p:nvPr/>
        </p:nvSpPr>
        <p:spPr bwMode="auto">
          <a:xfrm>
            <a:off x="5665788" y="3513138"/>
            <a:ext cx="3236912" cy="1730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900"/>
              <a:t>    InitializeFirstOrder();</a:t>
            </a:r>
          </a:p>
          <a:p>
            <a:pPr eaLnBrk="1" hangingPunct="1"/>
            <a:r>
              <a:rPr lang="en-US" sz="900"/>
              <a:t>    InitializeSecondOrder();</a:t>
            </a:r>
          </a:p>
          <a:p>
            <a:pPr eaLnBrk="1" hangingPunct="1"/>
            <a:r>
              <a:rPr lang="en-US" sz="900"/>
              <a:t>    InitializeAdvectedVariableValues();</a:t>
            </a:r>
          </a:p>
          <a:p>
            <a:pPr eaLnBrk="1" hangingPunct="1"/>
            <a:r>
              <a:rPr lang="en-US" sz="900"/>
              <a:t>    InitializeLimitedDiffusiveFluxes();</a:t>
            </a:r>
          </a:p>
          <a:p>
            <a:pPr eaLnBrk="1" hangingPunct="1"/>
            <a:r>
              <a:rPr lang="en-US" sz="900"/>
              <a:t>    IsotropicallyLimitTransportProperties();</a:t>
            </a:r>
          </a:p>
          <a:p>
            <a:pPr eaLnBrk="1" hangingPunct="1"/>
            <a:r>
              <a:rPr lang="en-US" sz="900"/>
              <a:t>    LimitExplicitSourceTerm();</a:t>
            </a:r>
          </a:p>
          <a:p>
            <a:pPr eaLnBrk="1" hangingPunct="1"/>
            <a:r>
              <a:rPr lang="en-US" sz="900"/>
              <a:t>    EvaluateThetaValues();</a:t>
            </a:r>
          </a:p>
          <a:p>
            <a:pPr eaLnBrk="1" hangingPunct="1"/>
            <a:r>
              <a:rPr lang="en-US" sz="900"/>
              <a:t>    AccumulateImplicitTwoPhaseSolution1();</a:t>
            </a:r>
          </a:p>
          <a:p>
            <a:pPr eaLnBrk="1" hangingPunct="1"/>
            <a:r>
              <a:rPr lang="en-US" sz="900"/>
              <a:t>    AccumulateExplicitAdvectionSolution2(); </a:t>
            </a:r>
          </a:p>
          <a:p>
            <a:pPr eaLnBrk="1" hangingPunct="1"/>
            <a:r>
              <a:rPr lang="en-US" sz="900"/>
              <a:t>    AccumulateExplicitAdvectionDiffusionSolution2(); </a:t>
            </a:r>
          </a:p>
          <a:p>
            <a:pPr eaLnBrk="1" hangingPunct="1"/>
            <a:r>
              <a:rPr lang="en-US" sz="900"/>
              <a:t>    AccumulateExplicitTwoPhaseSolution1(); </a:t>
            </a:r>
          </a:p>
          <a:p>
            <a:pPr eaLnBrk="1" hangingPunct="1"/>
            <a:r>
              <a:rPr lang="en-US" sz="900"/>
              <a:t>    AccumulateExplicitTwoPhaseSolution2();</a:t>
            </a:r>
          </a:p>
        </p:txBody>
      </p:sp>
      <p:grpSp>
        <p:nvGrpSpPr>
          <p:cNvPr id="46097" name="Group 38"/>
          <p:cNvGrpSpPr>
            <a:grpSpLocks/>
          </p:cNvGrpSpPr>
          <p:nvPr/>
        </p:nvGrpSpPr>
        <p:grpSpPr bwMode="auto">
          <a:xfrm>
            <a:off x="7627938" y="1279525"/>
            <a:ext cx="1249362" cy="352425"/>
            <a:chOff x="279" y="1881"/>
            <a:chExt cx="787" cy="222"/>
          </a:xfrm>
          <a:solidFill>
            <a:srgbClr val="FFFFFF"/>
          </a:solidFill>
        </p:grpSpPr>
        <p:sp>
          <p:nvSpPr>
            <p:cNvPr id="46123" name="Text Box 15"/>
            <p:cNvSpPr txBox="1">
              <a:spLocks noChangeArrowheads="1"/>
            </p:cNvSpPr>
            <p:nvPr/>
          </p:nvSpPr>
          <p:spPr bwMode="auto">
            <a:xfrm>
              <a:off x="315" y="1881"/>
              <a:ext cx="751" cy="185"/>
            </a:xfrm>
            <a:prstGeom prst="rect">
              <a:avLst/>
            </a:prstGeom>
            <a:grp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FV_Parameter</a:t>
              </a:r>
              <a:endParaRPr lang="en-GB" sz="1200">
                <a:latin typeface="Arial" charset="0"/>
              </a:endParaRPr>
            </a:p>
          </p:txBody>
        </p:sp>
        <p:sp>
          <p:nvSpPr>
            <p:cNvPr id="46124" name="Text Box 37"/>
            <p:cNvSpPr txBox="1">
              <a:spLocks noChangeArrowheads="1"/>
            </p:cNvSpPr>
            <p:nvPr/>
          </p:nvSpPr>
          <p:spPr bwMode="auto">
            <a:xfrm>
              <a:off x="279" y="1918"/>
              <a:ext cx="751" cy="185"/>
            </a:xfrm>
            <a:prstGeom prst="rect">
              <a:avLst/>
            </a:prstGeom>
            <a:grp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FV_Parameter</a:t>
              </a:r>
              <a:endParaRPr lang="en-GB" sz="1200">
                <a:latin typeface="Arial" charset="0"/>
              </a:endParaRPr>
            </a:p>
          </p:txBody>
        </p:sp>
      </p:grpSp>
      <p:sp>
        <p:nvSpPr>
          <p:cNvPr id="46098" name="Text Box 8"/>
          <p:cNvSpPr txBox="1">
            <a:spLocks noChangeArrowheads="1"/>
          </p:cNvSpPr>
          <p:nvPr/>
        </p:nvSpPr>
        <p:spPr bwMode="auto">
          <a:xfrm>
            <a:off x="2282825" y="4699000"/>
            <a:ext cx="1544638" cy="293688"/>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FiniteVolumeStencil</a:t>
            </a:r>
            <a:endParaRPr lang="en-GB" sz="1200">
              <a:latin typeface="Arial" charset="0"/>
            </a:endParaRPr>
          </a:p>
        </p:txBody>
      </p:sp>
      <p:sp>
        <p:nvSpPr>
          <p:cNvPr id="46099" name="Text Box 9"/>
          <p:cNvSpPr txBox="1">
            <a:spLocks noChangeArrowheads="1"/>
          </p:cNvSpPr>
          <p:nvPr/>
        </p:nvSpPr>
        <p:spPr bwMode="auto">
          <a:xfrm>
            <a:off x="1349375" y="5246688"/>
            <a:ext cx="2143125"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FiniteVolumeStencilManager</a:t>
            </a:r>
            <a:endParaRPr lang="en-GB" sz="1200">
              <a:latin typeface="Arial" charset="0"/>
            </a:endParaRPr>
          </a:p>
        </p:txBody>
      </p:sp>
      <p:sp>
        <p:nvSpPr>
          <p:cNvPr id="46100" name="Text Box 10"/>
          <p:cNvSpPr txBox="1">
            <a:spLocks noChangeArrowheads="1"/>
          </p:cNvSpPr>
          <p:nvPr/>
        </p:nvSpPr>
        <p:spPr bwMode="auto">
          <a:xfrm>
            <a:off x="1023938" y="5894388"/>
            <a:ext cx="2441575"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FV_IntegrationPointsAndWeights</a:t>
            </a:r>
            <a:endParaRPr lang="en-GB" sz="1200">
              <a:latin typeface="Arial" charset="0"/>
            </a:endParaRPr>
          </a:p>
        </p:txBody>
      </p:sp>
      <p:sp>
        <p:nvSpPr>
          <p:cNvPr id="46101" name="Text Box 11"/>
          <p:cNvSpPr txBox="1">
            <a:spLocks noChangeArrowheads="1"/>
          </p:cNvSpPr>
          <p:nvPr/>
        </p:nvSpPr>
        <p:spPr bwMode="auto">
          <a:xfrm>
            <a:off x="1289050" y="4129088"/>
            <a:ext cx="1470025"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FiniteVolumeTraits</a:t>
            </a:r>
            <a:endParaRPr lang="en-GB" sz="1200">
              <a:latin typeface="Arial" charset="0"/>
            </a:endParaRPr>
          </a:p>
        </p:txBody>
      </p:sp>
      <p:sp>
        <p:nvSpPr>
          <p:cNvPr id="46102" name="Text Box 12"/>
          <p:cNvSpPr txBox="1">
            <a:spLocks noChangeArrowheads="1"/>
          </p:cNvSpPr>
          <p:nvPr/>
        </p:nvSpPr>
        <p:spPr bwMode="auto">
          <a:xfrm>
            <a:off x="955675" y="4697413"/>
            <a:ext cx="760413"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Element</a:t>
            </a:r>
            <a:endParaRPr lang="en-GB" sz="1200">
              <a:latin typeface="Arial" charset="0"/>
            </a:endParaRPr>
          </a:p>
        </p:txBody>
      </p:sp>
      <p:cxnSp>
        <p:nvCxnSpPr>
          <p:cNvPr id="46103" name="AutoShape 23"/>
          <p:cNvCxnSpPr>
            <a:cxnSpLocks noChangeShapeType="1"/>
            <a:stCxn id="46102" idx="3"/>
            <a:endCxn id="46098" idx="1"/>
          </p:cNvCxnSpPr>
          <p:nvPr/>
        </p:nvCxnSpPr>
        <p:spPr bwMode="auto">
          <a:xfrm>
            <a:off x="1725613" y="4845050"/>
            <a:ext cx="547687" cy="1588"/>
          </a:xfrm>
          <a:prstGeom prst="straightConnector1">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6104" name="AutoShape 24"/>
          <p:cNvCxnSpPr>
            <a:cxnSpLocks noChangeShapeType="1"/>
            <a:stCxn id="46101" idx="1"/>
            <a:endCxn id="46102" idx="1"/>
          </p:cNvCxnSpPr>
          <p:nvPr/>
        </p:nvCxnSpPr>
        <p:spPr bwMode="auto">
          <a:xfrm rot="10800000" flipV="1">
            <a:off x="946150" y="4276725"/>
            <a:ext cx="333375" cy="568325"/>
          </a:xfrm>
          <a:prstGeom prst="bentConnector3">
            <a:avLst>
              <a:gd name="adj1" fmla="val 165713"/>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6105" name="AutoShape 25"/>
          <p:cNvCxnSpPr>
            <a:cxnSpLocks noChangeShapeType="1"/>
            <a:stCxn id="46098" idx="3"/>
            <a:endCxn id="46099" idx="3"/>
          </p:cNvCxnSpPr>
          <p:nvPr/>
        </p:nvCxnSpPr>
        <p:spPr bwMode="auto">
          <a:xfrm flipH="1">
            <a:off x="3502025" y="4846638"/>
            <a:ext cx="334963" cy="547687"/>
          </a:xfrm>
          <a:prstGeom prst="bentConnector3">
            <a:avLst>
              <a:gd name="adj1" fmla="val -64931"/>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6106" name="AutoShape 26"/>
          <p:cNvCxnSpPr>
            <a:cxnSpLocks noChangeShapeType="1"/>
            <a:stCxn id="46099" idx="2"/>
            <a:endCxn id="46100" idx="0"/>
          </p:cNvCxnSpPr>
          <p:nvPr/>
        </p:nvCxnSpPr>
        <p:spPr bwMode="auto">
          <a:xfrm rot="5400000">
            <a:off x="2165350" y="5629275"/>
            <a:ext cx="334963" cy="176213"/>
          </a:xfrm>
          <a:prstGeom prst="bentConnector3">
            <a:avLst>
              <a:gd name="adj1" fmla="val 49764"/>
            </a:avLst>
          </a:prstGeom>
          <a:noFill/>
          <a:ln w="19050">
            <a:solidFill>
              <a:schemeClr val="tx1"/>
            </a:solidFill>
            <a:miter lim="800000"/>
            <a:headEnd/>
            <a:tailEnd type="arrow" w="med" len="med"/>
          </a:ln>
          <a:extLst>
            <a:ext uri="{909E8E84-426E-40dd-AFC4-6F175D3DCCD1}">
              <a14:hiddenFill xmlns="" xmlns:a14="http://schemas.microsoft.com/office/drawing/2010/main">
                <a:noFill/>
              </a14:hiddenFill>
            </a:ext>
          </a:extLst>
        </p:spPr>
      </p:cxnSp>
      <p:sp>
        <p:nvSpPr>
          <p:cNvPr id="46107" name="AutoShape 41"/>
          <p:cNvSpPr>
            <a:spLocks noChangeArrowheads="1"/>
          </p:cNvSpPr>
          <p:nvPr/>
        </p:nvSpPr>
        <p:spPr bwMode="auto">
          <a:xfrm>
            <a:off x="3513138" y="5330825"/>
            <a:ext cx="255587" cy="131763"/>
          </a:xfrm>
          <a:prstGeom prst="diamond">
            <a:avLst/>
          </a:prstGeom>
          <a:solidFill>
            <a:schemeClr val="tx1"/>
          </a:solidFill>
          <a:ln w="9525">
            <a:solidFill>
              <a:schemeClr val="tx1"/>
            </a:solidFill>
            <a:miter lim="800000"/>
            <a:headEnd/>
            <a:tailEnd/>
          </a:ln>
        </p:spPr>
        <p:txBody>
          <a:bodyPr wrap="none" anchor="ctr"/>
          <a:lstStyle/>
          <a:p>
            <a:endParaRPr lang="en-GB"/>
          </a:p>
        </p:txBody>
      </p:sp>
      <p:sp>
        <p:nvSpPr>
          <p:cNvPr id="46108" name="AutoShape 42"/>
          <p:cNvSpPr>
            <a:spLocks noChangeArrowheads="1"/>
          </p:cNvSpPr>
          <p:nvPr/>
        </p:nvSpPr>
        <p:spPr bwMode="auto">
          <a:xfrm>
            <a:off x="1719263" y="4781550"/>
            <a:ext cx="255587" cy="131763"/>
          </a:xfrm>
          <a:prstGeom prst="diamond">
            <a:avLst/>
          </a:prstGeom>
          <a:solidFill>
            <a:schemeClr val="accent1"/>
          </a:solidFill>
          <a:ln w="12700">
            <a:solidFill>
              <a:schemeClr val="tx1"/>
            </a:solidFill>
            <a:miter lim="800000"/>
            <a:headEnd/>
            <a:tailEnd/>
          </a:ln>
        </p:spPr>
        <p:txBody>
          <a:bodyPr wrap="none" anchor="ctr"/>
          <a:lstStyle/>
          <a:p>
            <a:endParaRPr lang="en-GB"/>
          </a:p>
        </p:txBody>
      </p:sp>
      <p:sp>
        <p:nvSpPr>
          <p:cNvPr id="46109" name="Text Box 43"/>
          <p:cNvSpPr txBox="1">
            <a:spLocks noChangeArrowheads="1"/>
          </p:cNvSpPr>
          <p:nvPr/>
        </p:nvSpPr>
        <p:spPr bwMode="auto">
          <a:xfrm>
            <a:off x="893763" y="4770438"/>
            <a:ext cx="760412" cy="293687"/>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Element</a:t>
            </a:r>
            <a:endParaRPr lang="en-GB" sz="1200">
              <a:latin typeface="Arial" charset="0"/>
            </a:endParaRPr>
          </a:p>
        </p:txBody>
      </p:sp>
      <p:sp>
        <p:nvSpPr>
          <p:cNvPr id="46110" name="Text Box 45"/>
          <p:cNvSpPr txBox="1">
            <a:spLocks noChangeArrowheads="1"/>
          </p:cNvSpPr>
          <p:nvPr/>
        </p:nvSpPr>
        <p:spPr bwMode="auto">
          <a:xfrm>
            <a:off x="3168650" y="3194050"/>
            <a:ext cx="633413" cy="293688"/>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Solver</a:t>
            </a:r>
            <a:endParaRPr lang="en-GB" sz="1200">
              <a:latin typeface="Arial" charset="0"/>
            </a:endParaRPr>
          </a:p>
        </p:txBody>
      </p:sp>
      <p:cxnSp>
        <p:nvCxnSpPr>
          <p:cNvPr id="46111" name="AutoShape 46"/>
          <p:cNvCxnSpPr>
            <a:cxnSpLocks noChangeShapeType="1"/>
            <a:stCxn id="46085" idx="2"/>
            <a:endCxn id="46110" idx="0"/>
          </p:cNvCxnSpPr>
          <p:nvPr/>
        </p:nvCxnSpPr>
        <p:spPr bwMode="auto">
          <a:xfrm rot="5400000">
            <a:off x="3890963" y="2552700"/>
            <a:ext cx="227012" cy="1036638"/>
          </a:xfrm>
          <a:prstGeom prst="bentConnector3">
            <a:avLst>
              <a:gd name="adj1" fmla="val 49648"/>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sp>
        <p:nvSpPr>
          <p:cNvPr id="46112" name="AutoShape 47"/>
          <p:cNvSpPr>
            <a:spLocks noChangeArrowheads="1"/>
          </p:cNvSpPr>
          <p:nvPr/>
        </p:nvSpPr>
        <p:spPr bwMode="auto">
          <a:xfrm>
            <a:off x="4197350" y="3008313"/>
            <a:ext cx="255588" cy="131762"/>
          </a:xfrm>
          <a:prstGeom prst="diamond">
            <a:avLst/>
          </a:prstGeom>
          <a:solidFill>
            <a:schemeClr val="tx1"/>
          </a:solidFill>
          <a:ln w="9525">
            <a:solidFill>
              <a:schemeClr val="tx1"/>
            </a:solidFill>
            <a:miter lim="800000"/>
            <a:headEnd/>
            <a:tailEnd/>
          </a:ln>
        </p:spPr>
        <p:txBody>
          <a:bodyPr wrap="none" anchor="ctr"/>
          <a:lstStyle/>
          <a:p>
            <a:endParaRPr lang="en-GB"/>
          </a:p>
        </p:txBody>
      </p:sp>
      <p:cxnSp>
        <p:nvCxnSpPr>
          <p:cNvPr id="46113" name="AutoShape 48"/>
          <p:cNvCxnSpPr>
            <a:cxnSpLocks noChangeShapeType="1"/>
            <a:stCxn id="46086" idx="3"/>
            <a:endCxn id="46124" idx="2"/>
          </p:cNvCxnSpPr>
          <p:nvPr/>
        </p:nvCxnSpPr>
        <p:spPr bwMode="auto">
          <a:xfrm flipV="1">
            <a:off x="7146925" y="1641475"/>
            <a:ext cx="1077913" cy="1635125"/>
          </a:xfrm>
          <a:prstGeom prst="bentConnector2">
            <a:avLst/>
          </a:prstGeom>
          <a:noFill/>
          <a:ln w="19050">
            <a:solidFill>
              <a:srgbClr val="0000FF"/>
            </a:solidFill>
            <a:miter lim="800000"/>
            <a:headEnd/>
            <a:tailEnd type="arrow" w="med" len="med"/>
          </a:ln>
          <a:extLst>
            <a:ext uri="{909E8E84-426E-40dd-AFC4-6F175D3DCCD1}">
              <a14:hiddenFill xmlns="" xmlns:a14="http://schemas.microsoft.com/office/drawing/2010/main">
                <a:noFill/>
              </a14:hiddenFill>
            </a:ext>
          </a:extLst>
        </p:spPr>
      </p:cxnSp>
      <p:cxnSp>
        <p:nvCxnSpPr>
          <p:cNvPr id="46114" name="AutoShape 49"/>
          <p:cNvCxnSpPr>
            <a:cxnSpLocks noChangeShapeType="1"/>
            <a:stCxn id="46086" idx="1"/>
            <a:endCxn id="46089" idx="1"/>
          </p:cNvCxnSpPr>
          <p:nvPr/>
        </p:nvCxnSpPr>
        <p:spPr bwMode="auto">
          <a:xfrm rot="10800000" flipV="1">
            <a:off x="5216525" y="3276600"/>
            <a:ext cx="568325" cy="2352675"/>
          </a:xfrm>
          <a:prstGeom prst="bentConnector3">
            <a:avLst>
              <a:gd name="adj1" fmla="val 138546"/>
            </a:avLst>
          </a:prstGeom>
          <a:noFill/>
          <a:ln w="19050">
            <a:solidFill>
              <a:srgbClr val="0000FF"/>
            </a:solidFill>
            <a:miter lim="800000"/>
            <a:headEnd/>
            <a:tailEnd type="arrow" w="med" len="med"/>
          </a:ln>
          <a:extLst>
            <a:ext uri="{909E8E84-426E-40dd-AFC4-6F175D3DCCD1}">
              <a14:hiddenFill xmlns="" xmlns:a14="http://schemas.microsoft.com/office/drawing/2010/main">
                <a:noFill/>
              </a14:hiddenFill>
            </a:ext>
          </a:extLst>
        </p:spPr>
      </p:cxnSp>
      <p:cxnSp>
        <p:nvCxnSpPr>
          <p:cNvPr id="46115" name="AutoShape 50"/>
          <p:cNvCxnSpPr>
            <a:cxnSpLocks noChangeShapeType="1"/>
            <a:stCxn id="46086" idx="1"/>
            <a:endCxn id="46101" idx="3"/>
          </p:cNvCxnSpPr>
          <p:nvPr/>
        </p:nvCxnSpPr>
        <p:spPr bwMode="auto">
          <a:xfrm rot="10800000" flipV="1">
            <a:off x="2768600" y="3276600"/>
            <a:ext cx="3016250" cy="1000125"/>
          </a:xfrm>
          <a:prstGeom prst="bentConnector3">
            <a:avLst>
              <a:gd name="adj1" fmla="val 50000"/>
            </a:avLst>
          </a:prstGeom>
          <a:noFill/>
          <a:ln w="19050">
            <a:solidFill>
              <a:srgbClr val="0000FF"/>
            </a:solidFill>
            <a:miter lim="800000"/>
            <a:headEnd/>
            <a:tailEnd type="arrow" w="med" len="med"/>
          </a:ln>
          <a:extLst>
            <a:ext uri="{909E8E84-426E-40dd-AFC4-6F175D3DCCD1}">
              <a14:hiddenFill xmlns="" xmlns:a14="http://schemas.microsoft.com/office/drawing/2010/main">
                <a:noFill/>
              </a14:hiddenFill>
            </a:ext>
          </a:extLst>
        </p:spPr>
      </p:cxnSp>
      <p:cxnSp>
        <p:nvCxnSpPr>
          <p:cNvPr id="46116" name="AutoShape 51"/>
          <p:cNvCxnSpPr>
            <a:cxnSpLocks noChangeShapeType="1"/>
            <a:stCxn id="46088" idx="2"/>
            <a:endCxn id="46086" idx="0"/>
          </p:cNvCxnSpPr>
          <p:nvPr/>
        </p:nvCxnSpPr>
        <p:spPr bwMode="auto">
          <a:xfrm rot="16200000" flipH="1">
            <a:off x="5978525" y="2632075"/>
            <a:ext cx="909638" cy="65088"/>
          </a:xfrm>
          <a:prstGeom prst="bentConnector3">
            <a:avLst>
              <a:gd name="adj1" fmla="val 49912"/>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cxnSp>
        <p:nvCxnSpPr>
          <p:cNvPr id="46117" name="AutoShape 52"/>
          <p:cNvCxnSpPr>
            <a:cxnSpLocks noChangeShapeType="1"/>
            <a:stCxn id="46084" idx="2"/>
          </p:cNvCxnSpPr>
          <p:nvPr/>
        </p:nvCxnSpPr>
        <p:spPr bwMode="auto">
          <a:xfrm rot="16200000" flipH="1">
            <a:off x="4054475" y="141288"/>
            <a:ext cx="615950" cy="4057650"/>
          </a:xfrm>
          <a:prstGeom prst="bentConnector2">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sp>
        <p:nvSpPr>
          <p:cNvPr id="46118" name="Text Box 53"/>
          <p:cNvSpPr txBox="1">
            <a:spLocks noChangeArrowheads="1"/>
          </p:cNvSpPr>
          <p:nvPr/>
        </p:nvSpPr>
        <p:spPr bwMode="auto">
          <a:xfrm>
            <a:off x="5227638" y="5954713"/>
            <a:ext cx="1443037"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solidFill>
                  <a:srgbClr val="0000FF"/>
                </a:solidFill>
                <a:latin typeface="Arial" charset="0"/>
              </a:rPr>
              <a:t>ThreePhaseModel</a:t>
            </a:r>
            <a:endParaRPr lang="en-GB" sz="1200">
              <a:solidFill>
                <a:srgbClr val="0000FF"/>
              </a:solidFill>
              <a:latin typeface="Arial" charset="0"/>
            </a:endParaRPr>
          </a:p>
        </p:txBody>
      </p:sp>
      <p:sp>
        <p:nvSpPr>
          <p:cNvPr id="46119" name="AutoShape 54"/>
          <p:cNvSpPr>
            <a:spLocks noChangeArrowheads="1"/>
          </p:cNvSpPr>
          <p:nvPr/>
        </p:nvSpPr>
        <p:spPr bwMode="auto">
          <a:xfrm>
            <a:off x="6300788" y="2206625"/>
            <a:ext cx="173037" cy="188913"/>
          </a:xfrm>
          <a:prstGeom prst="diamond">
            <a:avLst/>
          </a:prstGeom>
          <a:solidFill>
            <a:schemeClr val="accent1"/>
          </a:solidFill>
          <a:ln w="12700">
            <a:solidFill>
              <a:schemeClr val="tx1"/>
            </a:solidFill>
            <a:miter lim="800000"/>
            <a:headEnd/>
            <a:tailEnd/>
          </a:ln>
        </p:spPr>
        <p:txBody>
          <a:bodyPr wrap="none" anchor="ctr"/>
          <a:lstStyle/>
          <a:p>
            <a:endParaRPr lang="en-GB"/>
          </a:p>
        </p:txBody>
      </p:sp>
      <p:sp>
        <p:nvSpPr>
          <p:cNvPr id="46120" name="AutoShape 55"/>
          <p:cNvSpPr>
            <a:spLocks noChangeArrowheads="1"/>
          </p:cNvSpPr>
          <p:nvPr/>
        </p:nvSpPr>
        <p:spPr bwMode="auto">
          <a:xfrm>
            <a:off x="2249488" y="1870075"/>
            <a:ext cx="173037" cy="188913"/>
          </a:xfrm>
          <a:prstGeom prst="diamond">
            <a:avLst/>
          </a:prstGeom>
          <a:solidFill>
            <a:schemeClr val="accent1"/>
          </a:solidFill>
          <a:ln w="12700">
            <a:solidFill>
              <a:schemeClr val="tx1"/>
            </a:solidFill>
            <a:miter lim="800000"/>
            <a:headEnd/>
            <a:tailEnd/>
          </a:ln>
        </p:spPr>
        <p:txBody>
          <a:bodyPr wrap="none" anchor="ctr"/>
          <a:lstStyle/>
          <a:p>
            <a:endParaRPr lang="en-GB"/>
          </a:p>
        </p:txBody>
      </p:sp>
      <p:sp>
        <p:nvSpPr>
          <p:cNvPr id="46121" name="Text Box 7"/>
          <p:cNvSpPr txBox="1">
            <a:spLocks noChangeArrowheads="1"/>
          </p:cNvSpPr>
          <p:nvPr/>
        </p:nvSpPr>
        <p:spPr bwMode="auto">
          <a:xfrm>
            <a:off x="195263" y="641350"/>
            <a:ext cx="3233737" cy="293688"/>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TwoPhaseExplicitNodeCenteredFVTransport</a:t>
            </a:r>
            <a:endParaRPr lang="en-GB" sz="1200">
              <a:latin typeface="Arial" charset="0"/>
            </a:endParaRPr>
          </a:p>
        </p:txBody>
      </p:sp>
      <p:sp>
        <p:nvSpPr>
          <p:cNvPr id="46122" name="Text Box 5"/>
          <p:cNvSpPr txBox="1">
            <a:spLocks noChangeArrowheads="1"/>
          </p:cNvSpPr>
          <p:nvPr/>
        </p:nvSpPr>
        <p:spPr bwMode="auto">
          <a:xfrm>
            <a:off x="201613" y="992188"/>
            <a:ext cx="1824037" cy="293687"/>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ExplicitStencilProcessor</a:t>
            </a:r>
            <a:endParaRPr lang="en-GB" sz="1200">
              <a:latin typeface="Arial" charset="0"/>
            </a:endParaRPr>
          </a:p>
        </p:txBody>
      </p:sp>
      <p:sp>
        <p:nvSpPr>
          <p:cNvPr id="46"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5/2/24</a:t>
            </a:fld>
            <a:endParaRPr lang="en-US" dirty="0">
              <a:solidFill>
                <a:prstClr val="white">
                  <a:lumMod val="65000"/>
                </a:prstClr>
              </a:solidFill>
            </a:endParaRPr>
          </a:p>
        </p:txBody>
      </p:sp>
      <p:sp>
        <p:nvSpPr>
          <p:cNvPr id="47"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48"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72</a:t>
            </a:fld>
            <a:endParaRPr lang="en-US">
              <a:solidFill>
                <a:prstClr val="white">
                  <a:lumMod val="65000"/>
                </a:prstClr>
              </a:solidFill>
            </a:endParaRPr>
          </a:p>
        </p:txBody>
      </p:sp>
    </p:spTree>
    <p:extLst>
      <p:ext uri="{BB962C8B-B14F-4D97-AF65-F5344CB8AC3E}">
        <p14:creationId xmlns:p14="http://schemas.microsoft.com/office/powerpoint/2010/main" val="32619064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42"/>
          <p:cNvSpPr>
            <a:spLocks noChangeArrowheads="1"/>
          </p:cNvSpPr>
          <p:nvPr/>
        </p:nvSpPr>
        <p:spPr bwMode="auto">
          <a:xfrm>
            <a:off x="4483100" y="1228725"/>
            <a:ext cx="88900" cy="5021263"/>
          </a:xfrm>
          <a:prstGeom prst="rect">
            <a:avLst/>
          </a:prstGeom>
          <a:solidFill>
            <a:schemeClr val="accent1"/>
          </a:solidFill>
          <a:ln w="9525">
            <a:solidFill>
              <a:schemeClr val="bg2"/>
            </a:solidFill>
            <a:miter lim="800000"/>
            <a:headEnd/>
            <a:tailEnd/>
          </a:ln>
        </p:spPr>
        <p:txBody>
          <a:bodyPr wrap="none" anchor="ctr"/>
          <a:lstStyle/>
          <a:p>
            <a:endParaRPr lang="en-GB"/>
          </a:p>
        </p:txBody>
      </p:sp>
      <p:sp>
        <p:nvSpPr>
          <p:cNvPr id="48132" name="Rectangle 2"/>
          <p:cNvSpPr>
            <a:spLocks noChangeArrowheads="1"/>
          </p:cNvSpPr>
          <p:nvPr/>
        </p:nvSpPr>
        <p:spPr bwMode="auto">
          <a:xfrm>
            <a:off x="1868488" y="2874963"/>
            <a:ext cx="1038225" cy="276225"/>
          </a:xfrm>
          <a:prstGeom prst="rect">
            <a:avLst/>
          </a:prstGeom>
          <a:solidFill>
            <a:srgbClr val="FFFFFF"/>
          </a:solidFill>
          <a:ln w="19050">
            <a:solidFill>
              <a:schemeClr val="tx1"/>
            </a:solidFill>
            <a:miter lim="800000"/>
            <a:headEnd/>
            <a:tailEnd/>
          </a:ln>
        </p:spPr>
        <p:txBody>
          <a:bodyPr wrap="none" anchor="ctr"/>
          <a:lstStyle/>
          <a:p>
            <a:endParaRPr lang="en-GB"/>
          </a:p>
        </p:txBody>
      </p:sp>
      <p:sp>
        <p:nvSpPr>
          <p:cNvPr id="48133" name="Freeform 3"/>
          <p:cNvSpPr>
            <a:spLocks/>
          </p:cNvSpPr>
          <p:nvPr/>
        </p:nvSpPr>
        <p:spPr bwMode="auto">
          <a:xfrm>
            <a:off x="5307013" y="2001838"/>
            <a:ext cx="95250" cy="4241800"/>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GB"/>
          </a:p>
        </p:txBody>
      </p:sp>
      <p:sp>
        <p:nvSpPr>
          <p:cNvPr id="48134" name="Rectangle 4"/>
          <p:cNvSpPr>
            <a:spLocks noChangeArrowheads="1"/>
          </p:cNvSpPr>
          <p:nvPr/>
        </p:nvSpPr>
        <p:spPr bwMode="auto">
          <a:xfrm>
            <a:off x="5178425" y="3144838"/>
            <a:ext cx="666750" cy="282575"/>
          </a:xfrm>
          <a:prstGeom prst="rect">
            <a:avLst/>
          </a:prstGeom>
          <a:solidFill>
            <a:srgbClr val="FFFFFF"/>
          </a:solidFill>
          <a:ln w="19050">
            <a:solidFill>
              <a:schemeClr val="tx1"/>
            </a:solidFill>
            <a:miter lim="800000"/>
            <a:headEnd/>
            <a:tailEnd/>
          </a:ln>
        </p:spPr>
        <p:txBody>
          <a:bodyPr wrap="none" anchor="ctr"/>
          <a:lstStyle/>
          <a:p>
            <a:endParaRPr lang="en-GB"/>
          </a:p>
        </p:txBody>
      </p:sp>
      <p:sp>
        <p:nvSpPr>
          <p:cNvPr id="48135" name="Rectangle 5"/>
          <p:cNvSpPr>
            <a:spLocks noGrp="1" noChangeArrowheads="1"/>
          </p:cNvSpPr>
          <p:nvPr>
            <p:ph type="title"/>
          </p:nvPr>
        </p:nvSpPr>
        <p:spPr>
          <a:xfrm>
            <a:off x="447675" y="246063"/>
            <a:ext cx="5110163" cy="579437"/>
          </a:xfrm>
        </p:spPr>
        <p:txBody>
          <a:bodyPr>
            <a:normAutofit/>
          </a:bodyPr>
          <a:lstStyle/>
          <a:p>
            <a:pPr eaLnBrk="1" hangingPunct="1"/>
            <a:r>
              <a:rPr lang="en-US" dirty="0">
                <a:latin typeface="Arial" charset="0"/>
                <a:ea typeface="ＭＳ Ｐゴシック" charset="0"/>
                <a:cs typeface="ＭＳ Ｐゴシック" charset="0"/>
              </a:rPr>
              <a:t>Execution sequence</a:t>
            </a:r>
            <a:endParaRPr lang="en-GB" dirty="0">
              <a:latin typeface="Arial" charset="0"/>
              <a:ea typeface="ＭＳ Ｐゴシック" charset="0"/>
              <a:cs typeface="ＭＳ Ｐゴシック" charset="0"/>
            </a:endParaRPr>
          </a:p>
        </p:txBody>
      </p:sp>
      <p:sp>
        <p:nvSpPr>
          <p:cNvPr id="48136" name="Text Box 6"/>
          <p:cNvSpPr txBox="1">
            <a:spLocks noChangeArrowheads="1"/>
          </p:cNvSpPr>
          <p:nvPr/>
        </p:nvSpPr>
        <p:spPr bwMode="auto">
          <a:xfrm>
            <a:off x="592138" y="1393825"/>
            <a:ext cx="2705100" cy="263525"/>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ExplicitNodeCenteredFiniteVolumeTransport</a:t>
            </a:r>
            <a:endParaRPr lang="en-GB" sz="1000">
              <a:latin typeface="Arial" charset="0"/>
            </a:endParaRPr>
          </a:p>
        </p:txBody>
      </p:sp>
      <p:sp>
        <p:nvSpPr>
          <p:cNvPr id="48137" name="Text Box 7"/>
          <p:cNvSpPr txBox="1">
            <a:spLocks noChangeArrowheads="1"/>
          </p:cNvSpPr>
          <p:nvPr/>
        </p:nvSpPr>
        <p:spPr bwMode="auto">
          <a:xfrm>
            <a:off x="1890713" y="4037013"/>
            <a:ext cx="2573337" cy="263525"/>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StencilProcessor, ExplicitStencilProcessor</a:t>
            </a:r>
            <a:endParaRPr lang="en-GB" sz="1000">
              <a:latin typeface="Arial" charset="0"/>
            </a:endParaRPr>
          </a:p>
        </p:txBody>
      </p:sp>
      <p:sp>
        <p:nvSpPr>
          <p:cNvPr id="48138" name="Text Box 8"/>
          <p:cNvSpPr txBox="1">
            <a:spLocks noChangeArrowheads="1"/>
          </p:cNvSpPr>
          <p:nvPr/>
        </p:nvSpPr>
        <p:spPr bwMode="auto">
          <a:xfrm>
            <a:off x="1817688" y="1746250"/>
            <a:ext cx="2303462" cy="263525"/>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NodeCenteredFiniteVolumeTransport</a:t>
            </a:r>
            <a:endParaRPr lang="en-GB" sz="1000">
              <a:latin typeface="Arial" charset="0"/>
            </a:endParaRPr>
          </a:p>
        </p:txBody>
      </p:sp>
      <p:sp>
        <p:nvSpPr>
          <p:cNvPr id="48139" name="Text Box 9"/>
          <p:cNvSpPr txBox="1">
            <a:spLocks noChangeArrowheads="1"/>
          </p:cNvSpPr>
          <p:nvPr/>
        </p:nvSpPr>
        <p:spPr bwMode="auto">
          <a:xfrm>
            <a:off x="5122863" y="3205163"/>
            <a:ext cx="666750"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Element</a:t>
            </a:r>
            <a:endParaRPr lang="en-GB" sz="1000">
              <a:latin typeface="Arial" charset="0"/>
            </a:endParaRPr>
          </a:p>
        </p:txBody>
      </p:sp>
      <p:sp>
        <p:nvSpPr>
          <p:cNvPr id="48140" name="Text Box 10"/>
          <p:cNvSpPr txBox="1">
            <a:spLocks noChangeArrowheads="1"/>
          </p:cNvSpPr>
          <p:nvPr/>
        </p:nvSpPr>
        <p:spPr bwMode="auto">
          <a:xfrm>
            <a:off x="6908800" y="965200"/>
            <a:ext cx="1144588" cy="263525"/>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TwoPhaseModel</a:t>
            </a:r>
            <a:endParaRPr lang="en-GB" sz="1000">
              <a:latin typeface="Arial" charset="0"/>
            </a:endParaRPr>
          </a:p>
        </p:txBody>
      </p:sp>
      <p:sp>
        <p:nvSpPr>
          <p:cNvPr id="48141" name="Freeform 13"/>
          <p:cNvSpPr>
            <a:spLocks/>
          </p:cNvSpPr>
          <p:nvPr/>
        </p:nvSpPr>
        <p:spPr bwMode="auto">
          <a:xfrm>
            <a:off x="1646238" y="1655763"/>
            <a:ext cx="88900" cy="4745037"/>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GB"/>
          </a:p>
        </p:txBody>
      </p:sp>
      <p:sp>
        <p:nvSpPr>
          <p:cNvPr id="48142" name="Text Box 14"/>
          <p:cNvSpPr txBox="1">
            <a:spLocks noChangeArrowheads="1"/>
          </p:cNvSpPr>
          <p:nvPr/>
        </p:nvSpPr>
        <p:spPr bwMode="auto">
          <a:xfrm>
            <a:off x="1820863" y="2827338"/>
            <a:ext cx="1025525"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FV_Parameter</a:t>
            </a:r>
            <a:endParaRPr lang="en-GB" sz="1000">
              <a:latin typeface="Arial" charset="0"/>
            </a:endParaRPr>
          </a:p>
        </p:txBody>
      </p:sp>
      <p:sp>
        <p:nvSpPr>
          <p:cNvPr id="48143" name="Text Box 15"/>
          <p:cNvSpPr txBox="1">
            <a:spLocks noChangeArrowheads="1"/>
          </p:cNvSpPr>
          <p:nvPr/>
        </p:nvSpPr>
        <p:spPr bwMode="auto">
          <a:xfrm>
            <a:off x="5597525" y="965200"/>
            <a:ext cx="1066800" cy="263525"/>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Model</a:t>
            </a:r>
            <a:endParaRPr lang="en-GB" sz="1000">
              <a:latin typeface="Arial" charset="0"/>
            </a:endParaRPr>
          </a:p>
        </p:txBody>
      </p:sp>
      <p:sp>
        <p:nvSpPr>
          <p:cNvPr id="48144" name="Freeform 16"/>
          <p:cNvSpPr>
            <a:spLocks/>
          </p:cNvSpPr>
          <p:nvPr/>
        </p:nvSpPr>
        <p:spPr bwMode="auto">
          <a:xfrm>
            <a:off x="6062663" y="1223963"/>
            <a:ext cx="88900" cy="4991100"/>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GB"/>
          </a:p>
        </p:txBody>
      </p:sp>
      <p:sp>
        <p:nvSpPr>
          <p:cNvPr id="48145" name="Text Box 17"/>
          <p:cNvSpPr txBox="1">
            <a:spLocks noChangeArrowheads="1"/>
          </p:cNvSpPr>
          <p:nvPr/>
        </p:nvSpPr>
        <p:spPr bwMode="auto">
          <a:xfrm>
            <a:off x="4895850" y="1747838"/>
            <a:ext cx="1819275"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FiniteVolumeStencilManager</a:t>
            </a:r>
            <a:endParaRPr lang="en-GB" sz="1000">
              <a:latin typeface="Arial" charset="0"/>
            </a:endParaRPr>
          </a:p>
        </p:txBody>
      </p:sp>
      <p:sp>
        <p:nvSpPr>
          <p:cNvPr id="48146" name="Freeform 18"/>
          <p:cNvSpPr>
            <a:spLocks/>
          </p:cNvSpPr>
          <p:nvPr/>
        </p:nvSpPr>
        <p:spPr bwMode="auto">
          <a:xfrm>
            <a:off x="7426325" y="1223963"/>
            <a:ext cx="88900" cy="4991100"/>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lstStyle/>
          <a:p>
            <a:endParaRPr lang="en-GB"/>
          </a:p>
        </p:txBody>
      </p:sp>
      <p:sp>
        <p:nvSpPr>
          <p:cNvPr id="48147" name="Line 19"/>
          <p:cNvSpPr>
            <a:spLocks noChangeShapeType="1"/>
          </p:cNvSpPr>
          <p:nvPr/>
        </p:nvSpPr>
        <p:spPr bwMode="auto">
          <a:xfrm flipV="1">
            <a:off x="5648325" y="3476625"/>
            <a:ext cx="0" cy="557213"/>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GB"/>
          </a:p>
        </p:txBody>
      </p:sp>
      <p:sp>
        <p:nvSpPr>
          <p:cNvPr id="48148" name="Text Box 20"/>
          <p:cNvSpPr txBox="1">
            <a:spLocks noChangeArrowheads="1"/>
          </p:cNvSpPr>
          <p:nvPr/>
        </p:nvSpPr>
        <p:spPr bwMode="auto">
          <a:xfrm>
            <a:off x="6313488" y="2195513"/>
            <a:ext cx="2062162"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FV_IntegrationPointsAndWeights</a:t>
            </a:r>
            <a:endParaRPr lang="en-GB" sz="1000">
              <a:latin typeface="Arial" charset="0"/>
            </a:endParaRPr>
          </a:p>
        </p:txBody>
      </p:sp>
      <p:cxnSp>
        <p:nvCxnSpPr>
          <p:cNvPr id="48149" name="AutoShape 21"/>
          <p:cNvCxnSpPr>
            <a:cxnSpLocks noChangeShapeType="1"/>
            <a:stCxn id="48145" idx="3"/>
            <a:endCxn id="48148" idx="0"/>
          </p:cNvCxnSpPr>
          <p:nvPr/>
        </p:nvCxnSpPr>
        <p:spPr bwMode="auto">
          <a:xfrm>
            <a:off x="6724650" y="1879600"/>
            <a:ext cx="620713" cy="306388"/>
          </a:xfrm>
          <a:prstGeom prst="bentConnector2">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cxnSp>
      <p:cxnSp>
        <p:nvCxnSpPr>
          <p:cNvPr id="48150" name="AutoShape 22"/>
          <p:cNvCxnSpPr>
            <a:cxnSpLocks noChangeShapeType="1"/>
            <a:stCxn id="48148" idx="1"/>
            <a:endCxn id="48152" idx="3"/>
          </p:cNvCxnSpPr>
          <p:nvPr/>
        </p:nvCxnSpPr>
        <p:spPr bwMode="auto">
          <a:xfrm flipH="1">
            <a:off x="5942013" y="2327275"/>
            <a:ext cx="361950" cy="4763"/>
          </a:xfrm>
          <a:prstGeom prst="straightConnector1">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cxnSp>
      <p:sp>
        <p:nvSpPr>
          <p:cNvPr id="48151" name="Rectangle 23"/>
          <p:cNvSpPr>
            <a:spLocks noChangeArrowheads="1"/>
          </p:cNvSpPr>
          <p:nvPr/>
        </p:nvSpPr>
        <p:spPr bwMode="auto">
          <a:xfrm>
            <a:off x="4548188" y="2273300"/>
            <a:ext cx="1285875" cy="247650"/>
          </a:xfrm>
          <a:prstGeom prst="rect">
            <a:avLst/>
          </a:prstGeom>
          <a:solidFill>
            <a:srgbClr val="FFFFFF"/>
          </a:solidFill>
          <a:ln w="19050">
            <a:solidFill>
              <a:schemeClr val="tx1"/>
            </a:solidFill>
            <a:miter lim="800000"/>
            <a:headEnd/>
            <a:tailEnd/>
          </a:ln>
        </p:spPr>
        <p:txBody>
          <a:bodyPr wrap="none" anchor="ctr"/>
          <a:lstStyle/>
          <a:p>
            <a:endParaRPr lang="en-GB"/>
          </a:p>
        </p:txBody>
      </p:sp>
      <p:sp>
        <p:nvSpPr>
          <p:cNvPr id="48152" name="Text Box 24"/>
          <p:cNvSpPr txBox="1">
            <a:spLocks noChangeArrowheads="1"/>
          </p:cNvSpPr>
          <p:nvPr/>
        </p:nvSpPr>
        <p:spPr bwMode="auto">
          <a:xfrm>
            <a:off x="4611688" y="2200275"/>
            <a:ext cx="1320800"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FiniteVolumeStencil</a:t>
            </a:r>
            <a:endParaRPr lang="en-GB" sz="1000">
              <a:latin typeface="Arial" charset="0"/>
            </a:endParaRPr>
          </a:p>
        </p:txBody>
      </p:sp>
      <p:cxnSp>
        <p:nvCxnSpPr>
          <p:cNvPr id="48153" name="AutoShape 25"/>
          <p:cNvCxnSpPr>
            <a:cxnSpLocks noChangeShapeType="1"/>
            <a:stCxn id="48139" idx="0"/>
            <a:endCxn id="48151" idx="2"/>
          </p:cNvCxnSpPr>
          <p:nvPr/>
        </p:nvCxnSpPr>
        <p:spPr bwMode="auto">
          <a:xfrm rot="5400000" flipH="1">
            <a:off x="4991100" y="2730500"/>
            <a:ext cx="665163" cy="265113"/>
          </a:xfrm>
          <a:prstGeom prst="bentConnector3">
            <a:avLst>
              <a:gd name="adj1" fmla="val 49880"/>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cxnSp>
      <p:sp>
        <p:nvSpPr>
          <p:cNvPr id="48154" name="Rectangle 26"/>
          <p:cNvSpPr>
            <a:spLocks noChangeArrowheads="1"/>
          </p:cNvSpPr>
          <p:nvPr/>
        </p:nvSpPr>
        <p:spPr bwMode="auto">
          <a:xfrm>
            <a:off x="1703388" y="3241675"/>
            <a:ext cx="11684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000" u="sng">
                <a:latin typeface="Arial" charset="0"/>
              </a:rPr>
              <a:t>TransportPhase()</a:t>
            </a:r>
            <a:endParaRPr lang="en-GB" sz="1000" u="sng">
              <a:latin typeface="Arial" charset="0"/>
            </a:endParaRPr>
          </a:p>
        </p:txBody>
      </p:sp>
      <p:sp>
        <p:nvSpPr>
          <p:cNvPr id="48155" name="Text Box 27"/>
          <p:cNvSpPr txBox="1">
            <a:spLocks noChangeArrowheads="1"/>
          </p:cNvSpPr>
          <p:nvPr/>
        </p:nvSpPr>
        <p:spPr bwMode="auto">
          <a:xfrm>
            <a:off x="5243513" y="4041775"/>
            <a:ext cx="1258887"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FiniteVolumeTraits</a:t>
            </a:r>
            <a:endParaRPr lang="en-GB" sz="1000">
              <a:latin typeface="Arial" charset="0"/>
            </a:endParaRPr>
          </a:p>
        </p:txBody>
      </p:sp>
      <p:sp>
        <p:nvSpPr>
          <p:cNvPr id="48156" name="Rectangle 28"/>
          <p:cNvSpPr>
            <a:spLocks noChangeArrowheads="1"/>
          </p:cNvSpPr>
          <p:nvPr/>
        </p:nvSpPr>
        <p:spPr bwMode="auto">
          <a:xfrm>
            <a:off x="1838325" y="3452813"/>
            <a:ext cx="3127375"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GB" sz="1000">
                <a:latin typeface="Arial" charset="0"/>
              </a:rPr>
              <a:t>SolveNonConservativeTransportEquation1stOrder</a:t>
            </a:r>
            <a:r>
              <a:rPr lang="en-US" sz="1000">
                <a:latin typeface="Arial" charset="0"/>
              </a:rPr>
              <a:t>()</a:t>
            </a:r>
          </a:p>
          <a:p>
            <a:r>
              <a:rPr lang="en-GB" sz="1000">
                <a:latin typeface="Arial" charset="0"/>
              </a:rPr>
              <a:t>SolveNonConservativeTransportEquation</a:t>
            </a:r>
            <a:r>
              <a:rPr lang="en-US" sz="1000">
                <a:latin typeface="Arial" charset="0"/>
              </a:rPr>
              <a:t>2nd</a:t>
            </a:r>
            <a:r>
              <a:rPr lang="en-GB" sz="1000">
                <a:latin typeface="Arial" charset="0"/>
              </a:rPr>
              <a:t>Order</a:t>
            </a:r>
            <a:r>
              <a:rPr lang="en-US" sz="1000">
                <a:latin typeface="Arial" charset="0"/>
              </a:rPr>
              <a:t>()</a:t>
            </a:r>
            <a:endParaRPr lang="en-GB" sz="1000">
              <a:latin typeface="Arial" charset="0"/>
            </a:endParaRPr>
          </a:p>
        </p:txBody>
      </p:sp>
      <p:cxnSp>
        <p:nvCxnSpPr>
          <p:cNvPr id="48157" name="AutoShape 29"/>
          <p:cNvCxnSpPr>
            <a:cxnSpLocks noChangeShapeType="1"/>
            <a:stCxn id="48155" idx="1"/>
            <a:endCxn id="48137" idx="3"/>
          </p:cNvCxnSpPr>
          <p:nvPr/>
        </p:nvCxnSpPr>
        <p:spPr bwMode="auto">
          <a:xfrm flipH="1" flipV="1">
            <a:off x="4473575" y="4168775"/>
            <a:ext cx="760413" cy="4763"/>
          </a:xfrm>
          <a:prstGeom prst="straightConnector1">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cxnSp>
      <p:sp>
        <p:nvSpPr>
          <p:cNvPr id="48158" name="Rectangle 30"/>
          <p:cNvSpPr>
            <a:spLocks noChangeArrowheads="1"/>
          </p:cNvSpPr>
          <p:nvPr/>
        </p:nvSpPr>
        <p:spPr bwMode="auto">
          <a:xfrm>
            <a:off x="2471738" y="5113338"/>
            <a:ext cx="1895475" cy="1311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000">
                <a:latin typeface="Arial" charset="0"/>
              </a:rPr>
              <a:t>AccumulateLHS()</a:t>
            </a:r>
          </a:p>
          <a:p>
            <a:r>
              <a:rPr lang="en-US" sz="1000">
                <a:latin typeface="Arial" charset="0"/>
              </a:rPr>
              <a:t>AccumulateRHS()</a:t>
            </a:r>
          </a:p>
          <a:p>
            <a:r>
              <a:rPr lang="en-US" sz="1000">
                <a:latin typeface="Arial" charset="0"/>
              </a:rPr>
              <a:t>AccumulateHigherOrderRHS()</a:t>
            </a:r>
          </a:p>
          <a:p>
            <a:r>
              <a:rPr lang="en-US" sz="1000">
                <a:latin typeface="Arial" charset="0"/>
              </a:rPr>
              <a:t>AddToRHS()</a:t>
            </a:r>
          </a:p>
          <a:p>
            <a:r>
              <a:rPr lang="en-US" sz="1000">
                <a:latin typeface="Arial" charset="0"/>
              </a:rPr>
              <a:t>SolveMatrixEquation()</a:t>
            </a:r>
          </a:p>
          <a:p>
            <a:r>
              <a:rPr lang="en-US" sz="1000" u="sng">
                <a:latin typeface="Arial" charset="0"/>
              </a:rPr>
              <a:t>OutputResults()</a:t>
            </a:r>
          </a:p>
          <a:p>
            <a:r>
              <a:rPr lang="en-US" sz="1000">
                <a:latin typeface="Arial" charset="0"/>
              </a:rPr>
              <a:t>ResetLHS()</a:t>
            </a:r>
          </a:p>
          <a:p>
            <a:r>
              <a:rPr lang="en-US" sz="1000">
                <a:latin typeface="Arial" charset="0"/>
              </a:rPr>
              <a:t>ResetRHS()</a:t>
            </a:r>
            <a:endParaRPr lang="en-GB" sz="1000">
              <a:latin typeface="Arial" charset="0"/>
            </a:endParaRPr>
          </a:p>
        </p:txBody>
      </p:sp>
      <p:cxnSp>
        <p:nvCxnSpPr>
          <p:cNvPr id="48159" name="AutoShape 31"/>
          <p:cNvCxnSpPr>
            <a:cxnSpLocks noChangeShapeType="1"/>
            <a:stCxn id="48158" idx="3"/>
          </p:cNvCxnSpPr>
          <p:nvPr/>
        </p:nvCxnSpPr>
        <p:spPr bwMode="auto">
          <a:xfrm flipV="1">
            <a:off x="4367213" y="5759450"/>
            <a:ext cx="1679575" cy="9525"/>
          </a:xfrm>
          <a:prstGeom prst="straightConnector1">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cxnSp>
      <p:sp>
        <p:nvSpPr>
          <p:cNvPr id="48160" name="Rectangle 32"/>
          <p:cNvSpPr>
            <a:spLocks noChangeArrowheads="1"/>
          </p:cNvSpPr>
          <p:nvPr/>
        </p:nvSpPr>
        <p:spPr bwMode="auto">
          <a:xfrm>
            <a:off x="1970088" y="4314825"/>
            <a:ext cx="2384425"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GB" sz="1000">
                <a:latin typeface="Arial" charset="0"/>
              </a:rPr>
              <a:t>AccumulateExplicitTwoPhaseSolution</a:t>
            </a:r>
            <a:r>
              <a:rPr lang="en-US" sz="1000">
                <a:latin typeface="Arial" charset="0"/>
              </a:rPr>
              <a:t>()</a:t>
            </a:r>
            <a:endParaRPr lang="en-GB" sz="1000">
              <a:latin typeface="Arial" charset="0"/>
            </a:endParaRPr>
          </a:p>
        </p:txBody>
      </p:sp>
      <p:cxnSp>
        <p:nvCxnSpPr>
          <p:cNvPr id="48161" name="AutoShape 33"/>
          <p:cNvCxnSpPr>
            <a:cxnSpLocks noChangeShapeType="1"/>
            <a:stCxn id="48160" idx="2"/>
            <a:endCxn id="48167" idx="0"/>
          </p:cNvCxnSpPr>
          <p:nvPr/>
        </p:nvCxnSpPr>
        <p:spPr bwMode="auto">
          <a:xfrm flipH="1">
            <a:off x="2401888" y="4559300"/>
            <a:ext cx="760412" cy="211138"/>
          </a:xfrm>
          <a:prstGeom prst="straightConnector1">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cxnSp>
      <p:sp>
        <p:nvSpPr>
          <p:cNvPr id="48162" name="Line 34"/>
          <p:cNvSpPr>
            <a:spLocks noChangeShapeType="1"/>
          </p:cNvSpPr>
          <p:nvPr/>
        </p:nvSpPr>
        <p:spPr bwMode="auto">
          <a:xfrm flipH="1">
            <a:off x="4286250" y="4451350"/>
            <a:ext cx="3141663" cy="0"/>
          </a:xfrm>
          <a:prstGeom prst="line">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GB"/>
          </a:p>
        </p:txBody>
      </p:sp>
      <p:sp>
        <p:nvSpPr>
          <p:cNvPr id="48163" name="Text Box 35"/>
          <p:cNvSpPr txBox="1">
            <a:spLocks noChangeArrowheads="1"/>
          </p:cNvSpPr>
          <p:nvPr/>
        </p:nvSpPr>
        <p:spPr bwMode="auto">
          <a:xfrm>
            <a:off x="5267325" y="1358900"/>
            <a:ext cx="1397000" cy="263525"/>
          </a:xfrm>
          <a:prstGeom prst="rect">
            <a:avLst/>
          </a:prstGeom>
          <a:solidFill>
            <a:srgbClr val="FFFFFF"/>
          </a:solidFill>
          <a:ln w="19050">
            <a:solidFill>
              <a:schemeClr val="tx1"/>
            </a:solidFill>
            <a:miter lim="800000"/>
            <a:headEnd/>
            <a:tailEnd/>
          </a:ln>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Mesh</a:t>
            </a:r>
            <a:endParaRPr lang="en-GB" sz="1000">
              <a:latin typeface="Arial" charset="0"/>
            </a:endParaRPr>
          </a:p>
        </p:txBody>
      </p:sp>
      <p:cxnSp>
        <p:nvCxnSpPr>
          <p:cNvPr id="48164" name="AutoShape 36"/>
          <p:cNvCxnSpPr>
            <a:cxnSpLocks noChangeShapeType="1"/>
            <a:stCxn id="48155" idx="0"/>
            <a:endCxn id="48132" idx="3"/>
          </p:cNvCxnSpPr>
          <p:nvPr/>
        </p:nvCxnSpPr>
        <p:spPr bwMode="auto">
          <a:xfrm rot="5400000" flipH="1">
            <a:off x="3885406" y="2043907"/>
            <a:ext cx="1019175" cy="2957512"/>
          </a:xfrm>
          <a:prstGeom prst="bentConnector2">
            <a:avLst/>
          </a:prstGeom>
          <a:noFill/>
          <a:ln w="19050">
            <a:solidFill>
              <a:schemeClr val="tx1"/>
            </a:solidFill>
            <a:miter lim="800000"/>
            <a:headEnd/>
            <a:tailEnd type="triangle" w="med" len="med"/>
          </a:ln>
          <a:extLst>
            <a:ext uri="{909E8E84-426E-40dd-AFC4-6F175D3DCCD1}">
              <a14:hiddenFill xmlns="" xmlns:a14="http://schemas.microsoft.com/office/drawing/2010/main">
                <a:noFill/>
              </a14:hiddenFill>
            </a:ext>
          </a:extLst>
        </p:spPr>
      </p:cxnSp>
      <p:sp>
        <p:nvSpPr>
          <p:cNvPr id="48165" name="Rectangle 37"/>
          <p:cNvSpPr>
            <a:spLocks noChangeArrowheads="1"/>
          </p:cNvSpPr>
          <p:nvPr/>
        </p:nvSpPr>
        <p:spPr bwMode="auto">
          <a:xfrm>
            <a:off x="444500" y="1751013"/>
            <a:ext cx="1158875"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1000" u="sng">
                <a:latin typeface="Arial" charset="0"/>
              </a:rPr>
              <a:t>Constructor()</a:t>
            </a:r>
          </a:p>
          <a:p>
            <a:r>
              <a:rPr lang="en-US" sz="1000" i="1">
                <a:latin typeface="Arial" charset="0"/>
              </a:rPr>
              <a:t>decision whether 1</a:t>
            </a:r>
            <a:r>
              <a:rPr lang="en-US" sz="1000" i="1" baseline="30000">
                <a:latin typeface="Arial" charset="0"/>
              </a:rPr>
              <a:t>st</a:t>
            </a:r>
            <a:r>
              <a:rPr lang="en-US" sz="1000" i="1">
                <a:latin typeface="Arial" charset="0"/>
              </a:rPr>
              <a:t> or higher order</a:t>
            </a:r>
            <a:endParaRPr lang="en-GB" sz="1000" i="1">
              <a:latin typeface="Arial" charset="0"/>
            </a:endParaRPr>
          </a:p>
        </p:txBody>
      </p:sp>
      <p:cxnSp>
        <p:nvCxnSpPr>
          <p:cNvPr id="48166" name="AutoShape 38"/>
          <p:cNvCxnSpPr>
            <a:cxnSpLocks noChangeShapeType="1"/>
            <a:stCxn id="48138" idx="3"/>
            <a:endCxn id="48136" idx="3"/>
          </p:cNvCxnSpPr>
          <p:nvPr/>
        </p:nvCxnSpPr>
        <p:spPr bwMode="auto">
          <a:xfrm flipH="1" flipV="1">
            <a:off x="3306763" y="1525588"/>
            <a:ext cx="823912" cy="352425"/>
          </a:xfrm>
          <a:prstGeom prst="bentConnector3">
            <a:avLst>
              <a:gd name="adj1" fmla="val -26588"/>
            </a:avLst>
          </a:prstGeom>
          <a:noFill/>
          <a:ln w="19050">
            <a:solidFill>
              <a:schemeClr val="tx1"/>
            </a:solidFill>
            <a:miter lim="800000"/>
            <a:headEnd/>
            <a:tailEnd/>
          </a:ln>
          <a:extLst>
            <a:ext uri="{909E8E84-426E-40dd-AFC4-6F175D3DCCD1}">
              <a14:hiddenFill xmlns="" xmlns:a14="http://schemas.microsoft.com/office/drawing/2010/main">
                <a:noFill/>
              </a14:hiddenFill>
            </a:ext>
          </a:extLst>
        </p:spPr>
      </p:cxnSp>
      <p:sp>
        <p:nvSpPr>
          <p:cNvPr id="48167" name="Text Box 39"/>
          <p:cNvSpPr txBox="1">
            <a:spLocks noChangeArrowheads="1"/>
          </p:cNvSpPr>
          <p:nvPr/>
        </p:nvSpPr>
        <p:spPr bwMode="auto">
          <a:xfrm>
            <a:off x="1252538" y="4779963"/>
            <a:ext cx="2297112"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NodeCenteredFiniteVolumeAlgorithm</a:t>
            </a:r>
            <a:endParaRPr lang="en-GB" sz="1000">
              <a:latin typeface="Arial" charset="0"/>
            </a:endParaRPr>
          </a:p>
        </p:txBody>
      </p:sp>
      <p:sp>
        <p:nvSpPr>
          <p:cNvPr id="48168" name="Freeform 40"/>
          <p:cNvSpPr>
            <a:spLocks/>
          </p:cNvSpPr>
          <p:nvPr/>
        </p:nvSpPr>
        <p:spPr bwMode="auto">
          <a:xfrm>
            <a:off x="3295650" y="1462088"/>
            <a:ext cx="111125" cy="117475"/>
          </a:xfrm>
          <a:custGeom>
            <a:avLst/>
            <a:gdLst>
              <a:gd name="T0" fmla="*/ 2147483647 w 70"/>
              <a:gd name="T1" fmla="*/ 2147483647 h 74"/>
              <a:gd name="T2" fmla="*/ 2147483647 w 70"/>
              <a:gd name="T3" fmla="*/ 2147483647 h 74"/>
              <a:gd name="T4" fmla="*/ 0 w 70"/>
              <a:gd name="T5" fmla="*/ 0 h 74"/>
              <a:gd name="T6" fmla="*/ 2147483647 w 70"/>
              <a:gd name="T7" fmla="*/ 2147483647 h 74"/>
              <a:gd name="T8" fmla="*/ 0 60000 65536"/>
              <a:gd name="T9" fmla="*/ 0 60000 65536"/>
              <a:gd name="T10" fmla="*/ 0 60000 65536"/>
              <a:gd name="T11" fmla="*/ 0 60000 65536"/>
              <a:gd name="T12" fmla="*/ 0 w 70"/>
              <a:gd name="T13" fmla="*/ 0 h 74"/>
              <a:gd name="T14" fmla="*/ 70 w 70"/>
              <a:gd name="T15" fmla="*/ 74 h 74"/>
            </a:gdLst>
            <a:ahLst/>
            <a:cxnLst>
              <a:cxn ang="T8">
                <a:pos x="T0" y="T1"/>
              </a:cxn>
              <a:cxn ang="T9">
                <a:pos x="T2" y="T3"/>
              </a:cxn>
              <a:cxn ang="T10">
                <a:pos x="T4" y="T5"/>
              </a:cxn>
              <a:cxn ang="T11">
                <a:pos x="T6" y="T7"/>
              </a:cxn>
            </a:cxnLst>
            <a:rect l="T12" t="T13" r="T14" b="T15"/>
            <a:pathLst>
              <a:path w="70" h="74">
                <a:moveTo>
                  <a:pt x="5" y="74"/>
                </a:moveTo>
                <a:lnTo>
                  <a:pt x="70" y="35"/>
                </a:lnTo>
                <a:lnTo>
                  <a:pt x="0" y="0"/>
                </a:lnTo>
                <a:lnTo>
                  <a:pt x="5" y="74"/>
                </a:lnTo>
                <a:close/>
              </a:path>
            </a:pathLst>
          </a:custGeom>
          <a:solidFill>
            <a:schemeClr val="tx1"/>
          </a:solidFill>
          <a:ln w="9525">
            <a:solidFill>
              <a:schemeClr val="tx1"/>
            </a:solidFill>
            <a:miter lim="800000"/>
            <a:headEnd/>
            <a:tailEnd/>
          </a:ln>
        </p:spPr>
        <p:txBody>
          <a:bodyPr wrap="none"/>
          <a:lstStyle/>
          <a:p>
            <a:endParaRPr lang="en-GB"/>
          </a:p>
        </p:txBody>
      </p:sp>
      <p:sp>
        <p:nvSpPr>
          <p:cNvPr id="48169" name="Line 45"/>
          <p:cNvSpPr>
            <a:spLocks noChangeShapeType="1"/>
          </p:cNvSpPr>
          <p:nvPr/>
        </p:nvSpPr>
        <p:spPr bwMode="auto">
          <a:xfrm>
            <a:off x="4114800" y="1955800"/>
            <a:ext cx="779463" cy="0"/>
          </a:xfrm>
          <a:prstGeom prst="line">
            <a:avLst/>
          </a:prstGeom>
          <a:noFill/>
          <a:ln w="952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GB"/>
          </a:p>
        </p:txBody>
      </p:sp>
      <p:sp>
        <p:nvSpPr>
          <p:cNvPr id="44"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5/2/24</a:t>
            </a:fld>
            <a:endParaRPr lang="en-US" dirty="0">
              <a:solidFill>
                <a:prstClr val="white">
                  <a:lumMod val="65000"/>
                </a:prstClr>
              </a:solidFill>
            </a:endParaRPr>
          </a:p>
        </p:txBody>
      </p:sp>
      <p:sp>
        <p:nvSpPr>
          <p:cNvPr id="45"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46"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73</a:t>
            </a:fld>
            <a:endParaRPr lang="en-US">
              <a:solidFill>
                <a:prstClr val="white">
                  <a:lumMod val="65000"/>
                </a:prstClr>
              </a:solidFill>
            </a:endParaRPr>
          </a:p>
        </p:txBody>
      </p:sp>
    </p:spTree>
    <p:extLst>
      <p:ext uri="{BB962C8B-B14F-4D97-AF65-F5344CB8AC3E}">
        <p14:creationId xmlns:p14="http://schemas.microsoft.com/office/powerpoint/2010/main" val="22856397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a:xfrm>
            <a:off x="404813" y="-95598"/>
            <a:ext cx="8485187" cy="1076326"/>
          </a:xfrm>
        </p:spPr>
        <p:txBody>
          <a:bodyPr>
            <a:normAutofit/>
          </a:bodyPr>
          <a:lstStyle/>
          <a:p>
            <a:r>
              <a:rPr lang="en-GB" sz="2800" dirty="0">
                <a:latin typeface="Arial Narrow" charset="0"/>
                <a:ea typeface="ＭＳ Ｐゴシック" charset="0"/>
                <a:cs typeface="Arial Narrow" charset="0"/>
              </a:rPr>
              <a:t>Variations of the theme: </a:t>
            </a:r>
            <a:r>
              <a:rPr lang="en-GB" sz="2800" dirty="0">
                <a:latin typeface="Arial" charset="0"/>
                <a:ea typeface="ＭＳ Ｐゴシック" charset="0"/>
                <a:cs typeface="ＭＳ Ｐゴシック" charset="0"/>
              </a:rPr>
              <a:t>CSMP transport schemes</a:t>
            </a:r>
          </a:p>
        </p:txBody>
      </p:sp>
      <p:sp>
        <p:nvSpPr>
          <p:cNvPr id="5" name="Content Placeholder 4"/>
          <p:cNvSpPr>
            <a:spLocks noGrp="1"/>
          </p:cNvSpPr>
          <p:nvPr>
            <p:ph idx="1"/>
          </p:nvPr>
        </p:nvSpPr>
        <p:spPr>
          <a:xfrm>
            <a:off x="441325" y="692696"/>
            <a:ext cx="8667179" cy="5500688"/>
          </a:xfrm>
        </p:spPr>
        <p:txBody>
          <a:bodyPr>
            <a:noAutofit/>
          </a:bodyPr>
          <a:lstStyle/>
          <a:p>
            <a:pPr marL="0" indent="0">
              <a:buFont typeface="Wingdings" charset="0"/>
              <a:buNone/>
              <a:defRPr/>
            </a:pPr>
            <a:r>
              <a:rPr lang="en-GB" sz="1600" dirty="0"/>
              <a:t>Discretization approaches supported by CSMP and transport schemes we have implemented for different purposes:</a:t>
            </a:r>
          </a:p>
          <a:p>
            <a:pPr marL="0" indent="0">
              <a:buFont typeface="Wingdings" charset="0"/>
              <a:buNone/>
              <a:defRPr/>
            </a:pPr>
            <a:r>
              <a:rPr lang="en-GB" sz="1600" b="1" dirty="0"/>
              <a:t>Spatial </a:t>
            </a:r>
            <a:r>
              <a:rPr lang="en-GB" sz="1600" b="1" dirty="0" err="1"/>
              <a:t>discretizations</a:t>
            </a:r>
            <a:r>
              <a:rPr lang="en-GB" sz="1600" b="1" dirty="0"/>
              <a:t>: </a:t>
            </a:r>
            <a:r>
              <a:rPr lang="en-GB" sz="1600" dirty="0"/>
              <a:t>- CVFE, FEMFVM with embedded discontinuities, FECFVM</a:t>
            </a:r>
          </a:p>
          <a:p>
            <a:pPr marL="0" indent="0">
              <a:buFont typeface="Wingdings" charset="0"/>
              <a:buNone/>
              <a:defRPr/>
            </a:pPr>
            <a:r>
              <a:rPr lang="en-GB" sz="1600" dirty="0"/>
              <a:t>- Advection - dispersion – decay (passive transport)</a:t>
            </a:r>
          </a:p>
          <a:p>
            <a:pPr marL="0" indent="0">
              <a:buFont typeface="Wingdings" charset="0"/>
              <a:buNone/>
              <a:defRPr/>
            </a:pPr>
            <a:r>
              <a:rPr lang="en-GB" sz="1600" dirty="0"/>
              <a:t>- volume-based slightly compressible 2-phase and species transport</a:t>
            </a:r>
          </a:p>
          <a:p>
            <a:pPr marL="0" indent="0">
              <a:buFont typeface="Wingdings" charset="0"/>
              <a:buNone/>
              <a:defRPr/>
            </a:pPr>
            <a:r>
              <a:rPr lang="en-GB" sz="1600" dirty="0"/>
              <a:t>- mass-based compressible 3-phase </a:t>
            </a:r>
          </a:p>
          <a:p>
            <a:pPr>
              <a:buFontTx/>
              <a:buChar char="-"/>
              <a:defRPr/>
            </a:pPr>
            <a:r>
              <a:rPr lang="en-GB" sz="1600" dirty="0"/>
              <a:t>Black-oil</a:t>
            </a:r>
          </a:p>
          <a:p>
            <a:pPr>
              <a:buFontTx/>
              <a:buChar char="-"/>
              <a:defRPr/>
            </a:pPr>
            <a:r>
              <a:rPr lang="en-GB" sz="1600" dirty="0"/>
              <a:t>multiphase multi-component transport (C# in oil phase etc.)</a:t>
            </a:r>
          </a:p>
          <a:p>
            <a:pPr marL="0" indent="0">
              <a:buFont typeface="Wingdings" charset="0"/>
              <a:buNone/>
              <a:defRPr/>
            </a:pPr>
            <a:r>
              <a:rPr lang="en-GB" sz="1600" b="1" dirty="0"/>
              <a:t>Time-stepping &amp; flux calculation</a:t>
            </a:r>
          </a:p>
          <a:p>
            <a:pPr marL="0" indent="0">
              <a:buFont typeface="Wingdings" charset="0"/>
              <a:buNone/>
              <a:defRPr/>
            </a:pPr>
            <a:r>
              <a:rPr lang="en-GB" sz="1600" dirty="0"/>
              <a:t>- IMPES (</a:t>
            </a:r>
            <a:r>
              <a:rPr lang="en-GB" sz="1600" dirty="0" err="1"/>
              <a:t>substepping</a:t>
            </a:r>
            <a:r>
              <a:rPr lang="en-GB" sz="1600" dirty="0"/>
              <a:t>)</a:t>
            </a:r>
          </a:p>
          <a:p>
            <a:pPr marL="0" indent="0">
              <a:buFont typeface="Wingdings" charset="0"/>
              <a:buNone/>
              <a:defRPr/>
            </a:pPr>
            <a:r>
              <a:rPr lang="en-GB" sz="1600" dirty="0"/>
              <a:t>- IMPIMS</a:t>
            </a:r>
          </a:p>
          <a:p>
            <a:pPr marL="0" indent="0">
              <a:buFont typeface="Wingdings" charset="0"/>
              <a:buNone/>
              <a:defRPr/>
            </a:pPr>
            <a:r>
              <a:rPr lang="en-GB" sz="1600" dirty="0"/>
              <a:t>- higher-order methods and multi-dimensional flux limiting</a:t>
            </a:r>
          </a:p>
          <a:p>
            <a:pPr marL="0" indent="0">
              <a:buFont typeface="Wingdings" charset="0"/>
              <a:buNone/>
              <a:defRPr/>
            </a:pPr>
            <a:r>
              <a:rPr lang="en-GB" sz="1600" dirty="0"/>
              <a:t>- IMPIMS - theta-limited (2nd order in space and time)</a:t>
            </a:r>
          </a:p>
          <a:p>
            <a:pPr marL="0" indent="0">
              <a:buFont typeface="Wingdings" charset="0"/>
              <a:buNone/>
              <a:defRPr/>
            </a:pPr>
            <a:r>
              <a:rPr lang="en-GB" sz="1600" dirty="0"/>
              <a:t>- IMPIMS - large-time step linearized method (streamline alternative)</a:t>
            </a:r>
          </a:p>
          <a:p>
            <a:pPr marL="0" indent="0">
              <a:buFont typeface="Wingdings" charset="0"/>
              <a:buNone/>
              <a:defRPr/>
            </a:pPr>
            <a:r>
              <a:rPr lang="en-GB" sz="1600" dirty="0"/>
              <a:t>- line-search Newton-</a:t>
            </a:r>
            <a:r>
              <a:rPr lang="en-GB" sz="1600" dirty="0" err="1"/>
              <a:t>Raphson</a:t>
            </a:r>
            <a:r>
              <a:rPr lang="en-GB" sz="1600" dirty="0"/>
              <a:t> extension of Jenny method</a:t>
            </a:r>
          </a:p>
          <a:p>
            <a:pPr marL="0" indent="0">
              <a:buFont typeface="Wingdings" charset="0"/>
              <a:buNone/>
              <a:defRPr/>
            </a:pPr>
            <a:r>
              <a:rPr lang="en-GB" sz="1600" dirty="0"/>
              <a:t>- DES</a:t>
            </a:r>
          </a:p>
        </p:txBody>
      </p:sp>
      <p:sp>
        <p:nvSpPr>
          <p:cNvPr id="7"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5/2/24</a:t>
            </a:fld>
            <a:endParaRPr lang="en-US" dirty="0">
              <a:solidFill>
                <a:prstClr val="white">
                  <a:lumMod val="65000"/>
                </a:prstClr>
              </a:solidFill>
            </a:endParaRPr>
          </a:p>
        </p:txBody>
      </p:sp>
      <p:sp>
        <p:nvSpPr>
          <p:cNvPr id="8"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9"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74</a:t>
            </a:fld>
            <a:endParaRPr lang="en-US">
              <a:solidFill>
                <a:prstClr val="white">
                  <a:lumMod val="65000"/>
                </a:prstClr>
              </a:solidFill>
            </a:endParaRPr>
          </a:p>
        </p:txBody>
      </p:sp>
    </p:spTree>
    <p:extLst>
      <p:ext uri="{BB962C8B-B14F-4D97-AF65-F5344CB8AC3E}">
        <p14:creationId xmlns:p14="http://schemas.microsoft.com/office/powerpoint/2010/main" val="9361514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noAutofit/>
          </a:bodyPr>
          <a:lstStyle/>
          <a:p>
            <a:pPr eaLnBrk="1" hangingPunct="1"/>
            <a:r>
              <a:rPr lang="en-US" sz="2800" dirty="0"/>
              <a:t>Classes supporting your own FVM functionality</a:t>
            </a:r>
            <a:endParaRPr lang="en-GB" sz="2800" dirty="0"/>
          </a:p>
        </p:txBody>
      </p:sp>
      <p:sp>
        <p:nvSpPr>
          <p:cNvPr id="2" name="Content Placeholder 1"/>
          <p:cNvSpPr>
            <a:spLocks noGrp="1"/>
          </p:cNvSpPr>
          <p:nvPr>
            <p:ph idx="1"/>
          </p:nvPr>
        </p:nvSpPr>
        <p:spPr/>
        <p:txBody>
          <a:bodyPr/>
          <a:lstStyle/>
          <a:p>
            <a:r>
              <a:rPr lang="en-US" dirty="0"/>
              <a:t>Elements have pointers to </a:t>
            </a:r>
            <a:r>
              <a:rPr lang="en-US" b="1" dirty="0" err="1"/>
              <a:t>FiniteVolumeStencil</a:t>
            </a:r>
            <a:r>
              <a:rPr lang="en-US" dirty="0"/>
              <a:t> instances</a:t>
            </a:r>
          </a:p>
          <a:p>
            <a:r>
              <a:rPr lang="en-US" dirty="0"/>
              <a:t>Stencils are </a:t>
            </a:r>
            <a:r>
              <a:rPr lang="en-US" dirty="0" err="1"/>
              <a:t>initialised</a:t>
            </a:r>
            <a:r>
              <a:rPr lang="en-US" dirty="0"/>
              <a:t> from data stored in </a:t>
            </a:r>
            <a:r>
              <a:rPr lang="en-US" b="1" dirty="0" err="1"/>
              <a:t>FV_IntegrationPointsAndsWeights</a:t>
            </a:r>
            <a:endParaRPr lang="en-US" b="1" dirty="0"/>
          </a:p>
          <a:p>
            <a:r>
              <a:rPr lang="en-US" dirty="0"/>
              <a:t>Stencils are stored / managed by </a:t>
            </a:r>
            <a:r>
              <a:rPr lang="en-US" b="1" dirty="0" err="1"/>
              <a:t>FiniteVolumeStencilManager</a:t>
            </a:r>
            <a:endParaRPr lang="en-US" b="1" dirty="0"/>
          </a:p>
          <a:p>
            <a:r>
              <a:rPr lang="en-US" b="1" dirty="0" err="1"/>
              <a:t>FiniteVolumeTraits</a:t>
            </a:r>
            <a:r>
              <a:rPr lang="en-US" dirty="0"/>
              <a:t> class provides high-level interface to FVM calculations. For efficiency reasons </a:t>
            </a:r>
            <a:r>
              <a:rPr lang="en-US" dirty="0" err="1"/>
              <a:t>specialisations</a:t>
            </a:r>
            <a:r>
              <a:rPr lang="en-US" dirty="0"/>
              <a:t> for 1-3D were implemented.</a:t>
            </a:r>
          </a:p>
        </p:txBody>
      </p:sp>
      <p:sp>
        <p:nvSpPr>
          <p:cNvPr id="31" name="Footer Placeholder 22"/>
          <p:cNvSpPr>
            <a:spLocks noGrp="1"/>
          </p:cNvSpPr>
          <p:nvPr>
            <p:ph type="ftr" sz="quarter" idx="11"/>
          </p:nvPr>
        </p:nvSpPr>
        <p:spPr/>
        <p:txBody>
          <a:bodyPr/>
          <a:lstStyle/>
          <a:p>
            <a:r>
              <a:rPr lang="en-US" dirty="0"/>
              <a:t>FEM-FVM framework</a:t>
            </a:r>
          </a:p>
        </p:txBody>
      </p:sp>
      <p:sp>
        <p:nvSpPr>
          <p:cNvPr id="33795" name="Slide Number Placeholder 4"/>
          <p:cNvSpPr>
            <a:spLocks noGrp="1"/>
          </p:cNvSpPr>
          <p:nvPr>
            <p:ph type="sldNum" sz="quarter" idx="12"/>
          </p:nvPr>
        </p:nvSpPr>
        <p:spPr>
          <a:noFill/>
        </p:spPr>
        <p:txBody>
          <a:bodyPr/>
          <a:lstStyle/>
          <a:p>
            <a:fld id="{722F9214-CD9A-7C4C-9874-41AEBE7A43AD}" type="slidenum">
              <a:rPr lang="en-US"/>
              <a:pPr/>
              <a:t>75</a:t>
            </a:fld>
            <a:endParaRPr lang="en-US"/>
          </a:p>
        </p:txBody>
      </p:sp>
      <p:sp>
        <p:nvSpPr>
          <p:cNvPr id="33802" name="Text Box 8"/>
          <p:cNvSpPr txBox="1">
            <a:spLocks noChangeArrowheads="1"/>
          </p:cNvSpPr>
          <p:nvPr/>
        </p:nvSpPr>
        <p:spPr bwMode="auto">
          <a:xfrm>
            <a:off x="4016700" y="4673278"/>
            <a:ext cx="1993900"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FiniteVolumeStencil</a:t>
            </a:r>
            <a:endParaRPr lang="en-GB" sz="1600">
              <a:latin typeface="Arial" charset="0"/>
            </a:endParaRPr>
          </a:p>
        </p:txBody>
      </p:sp>
      <p:sp>
        <p:nvSpPr>
          <p:cNvPr id="33803" name="Text Box 9"/>
          <p:cNvSpPr txBox="1">
            <a:spLocks noChangeArrowheads="1"/>
          </p:cNvSpPr>
          <p:nvPr/>
        </p:nvSpPr>
        <p:spPr bwMode="auto">
          <a:xfrm>
            <a:off x="2694313" y="5220965"/>
            <a:ext cx="2795587"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FiniteVolumeStencilManager</a:t>
            </a:r>
            <a:endParaRPr lang="en-GB" sz="1600">
              <a:latin typeface="Arial" charset="0"/>
            </a:endParaRPr>
          </a:p>
        </p:txBody>
      </p:sp>
      <p:sp>
        <p:nvSpPr>
          <p:cNvPr id="33804" name="Text Box 10"/>
          <p:cNvSpPr txBox="1">
            <a:spLocks noChangeArrowheads="1"/>
          </p:cNvSpPr>
          <p:nvPr/>
        </p:nvSpPr>
        <p:spPr bwMode="auto">
          <a:xfrm>
            <a:off x="2757813" y="5765478"/>
            <a:ext cx="3192462"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FV_IntegrationPointsAndWeights</a:t>
            </a:r>
            <a:endParaRPr lang="en-GB" sz="1600">
              <a:latin typeface="Arial" charset="0"/>
            </a:endParaRPr>
          </a:p>
        </p:txBody>
      </p:sp>
      <p:sp>
        <p:nvSpPr>
          <p:cNvPr id="33805" name="Text Box 12"/>
          <p:cNvSpPr txBox="1">
            <a:spLocks noChangeArrowheads="1"/>
          </p:cNvSpPr>
          <p:nvPr/>
        </p:nvSpPr>
        <p:spPr bwMode="auto">
          <a:xfrm>
            <a:off x="4027813" y="3789040"/>
            <a:ext cx="1893887"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FiniteVolumeTraits</a:t>
            </a:r>
            <a:endParaRPr lang="en-GB" sz="1600">
              <a:latin typeface="Arial" charset="0"/>
            </a:endParaRPr>
          </a:p>
        </p:txBody>
      </p:sp>
      <p:sp>
        <p:nvSpPr>
          <p:cNvPr id="33806" name="Text Box 13"/>
          <p:cNvSpPr txBox="1">
            <a:spLocks noChangeArrowheads="1"/>
          </p:cNvSpPr>
          <p:nvPr/>
        </p:nvSpPr>
        <p:spPr bwMode="auto">
          <a:xfrm>
            <a:off x="2689550" y="4671690"/>
            <a:ext cx="947738" cy="355600"/>
          </a:xfrm>
          <a:prstGeom prst="rect">
            <a:avLst/>
          </a:prstGeom>
          <a:noFill/>
          <a:ln w="19050">
            <a:solidFill>
              <a:srgbClr val="B2B2B2"/>
            </a:solidFill>
            <a:miter lim="800000"/>
            <a:headEnd/>
            <a:tailEnd/>
          </a:ln>
        </p:spPr>
        <p:txBody>
          <a:bodyPr wrap="none">
            <a:prstTxWarp prst="textNoShape">
              <a:avLst/>
            </a:prstTxWarp>
            <a:spAutoFit/>
          </a:bodyPr>
          <a:lstStyle/>
          <a:p>
            <a:r>
              <a:rPr lang="en-US" sz="1600">
                <a:solidFill>
                  <a:srgbClr val="B2B2B2"/>
                </a:solidFill>
                <a:latin typeface="Arial" charset="0"/>
              </a:rPr>
              <a:t>Element</a:t>
            </a:r>
            <a:endParaRPr lang="en-GB" sz="1600">
              <a:solidFill>
                <a:srgbClr val="B2B2B2"/>
              </a:solidFill>
              <a:latin typeface="Arial" charset="0"/>
            </a:endParaRPr>
          </a:p>
        </p:txBody>
      </p:sp>
      <p:sp>
        <p:nvSpPr>
          <p:cNvPr id="33811" name="Rectangle 18"/>
          <p:cNvSpPr>
            <a:spLocks noChangeArrowheads="1"/>
          </p:cNvSpPr>
          <p:nvPr/>
        </p:nvSpPr>
        <p:spPr bwMode="auto">
          <a:xfrm>
            <a:off x="2791150" y="4116065"/>
            <a:ext cx="2513013" cy="244475"/>
          </a:xfrm>
          <a:prstGeom prst="rect">
            <a:avLst/>
          </a:prstGeom>
          <a:noFill/>
          <a:ln w="9525">
            <a:noFill/>
            <a:miter lim="800000"/>
            <a:headEnd/>
            <a:tailEnd/>
          </a:ln>
        </p:spPr>
        <p:txBody>
          <a:bodyPr wrap="none">
            <a:prstTxWarp prst="textNoShape">
              <a:avLst/>
            </a:prstTxWarp>
            <a:spAutoFit/>
          </a:bodyPr>
          <a:lstStyle/>
          <a:p>
            <a:r>
              <a:rPr lang="en-US" sz="1000">
                <a:latin typeface="Arial" charset="0"/>
              </a:rPr>
              <a:t>additional FV functionality for the Element</a:t>
            </a:r>
            <a:endParaRPr lang="en-GB" sz="1000">
              <a:latin typeface="Arial" charset="0"/>
            </a:endParaRPr>
          </a:p>
        </p:txBody>
      </p:sp>
      <p:cxnSp>
        <p:nvCxnSpPr>
          <p:cNvPr id="33817" name="AutoShape 24"/>
          <p:cNvCxnSpPr>
            <a:cxnSpLocks noChangeShapeType="1"/>
            <a:stCxn id="33806" idx="3"/>
            <a:endCxn id="33802" idx="1"/>
          </p:cNvCxnSpPr>
          <p:nvPr/>
        </p:nvCxnSpPr>
        <p:spPr bwMode="auto">
          <a:xfrm>
            <a:off x="3646813" y="4849490"/>
            <a:ext cx="360362" cy="1588"/>
          </a:xfrm>
          <a:prstGeom prst="straightConnector1">
            <a:avLst/>
          </a:prstGeom>
          <a:noFill/>
          <a:ln w="19050">
            <a:solidFill>
              <a:schemeClr val="tx1"/>
            </a:solidFill>
            <a:miter lim="800000"/>
            <a:headEnd/>
            <a:tailEnd/>
          </a:ln>
        </p:spPr>
      </p:cxnSp>
      <p:cxnSp>
        <p:nvCxnSpPr>
          <p:cNvPr id="33818" name="AutoShape 25"/>
          <p:cNvCxnSpPr>
            <a:cxnSpLocks noChangeShapeType="1"/>
            <a:stCxn id="33805" idx="1"/>
            <a:endCxn id="33806" idx="1"/>
          </p:cNvCxnSpPr>
          <p:nvPr/>
        </p:nvCxnSpPr>
        <p:spPr bwMode="auto">
          <a:xfrm rot="10800000" flipV="1">
            <a:off x="2680025" y="3966840"/>
            <a:ext cx="1338263" cy="882650"/>
          </a:xfrm>
          <a:prstGeom prst="bentConnector3">
            <a:avLst>
              <a:gd name="adj1" fmla="val 116370"/>
            </a:avLst>
          </a:prstGeom>
          <a:noFill/>
          <a:ln w="19050">
            <a:solidFill>
              <a:schemeClr val="tx1"/>
            </a:solidFill>
            <a:miter lim="800000"/>
            <a:headEnd/>
            <a:tailEnd/>
          </a:ln>
        </p:spPr>
      </p:cxnSp>
      <p:cxnSp>
        <p:nvCxnSpPr>
          <p:cNvPr id="33819" name="AutoShape 26"/>
          <p:cNvCxnSpPr>
            <a:cxnSpLocks noChangeShapeType="1"/>
            <a:stCxn id="33802" idx="3"/>
            <a:endCxn id="33803" idx="3"/>
          </p:cNvCxnSpPr>
          <p:nvPr/>
        </p:nvCxnSpPr>
        <p:spPr bwMode="auto">
          <a:xfrm flipH="1">
            <a:off x="5499425" y="4851078"/>
            <a:ext cx="520700" cy="547687"/>
          </a:xfrm>
          <a:prstGeom prst="bentConnector3">
            <a:avLst>
              <a:gd name="adj1" fmla="val -42074"/>
            </a:avLst>
          </a:prstGeom>
          <a:noFill/>
          <a:ln w="19050">
            <a:solidFill>
              <a:schemeClr val="tx1"/>
            </a:solidFill>
            <a:miter lim="800000"/>
            <a:headEnd/>
            <a:tailEnd/>
          </a:ln>
        </p:spPr>
      </p:cxnSp>
      <p:cxnSp>
        <p:nvCxnSpPr>
          <p:cNvPr id="33820" name="AutoShape 27"/>
          <p:cNvCxnSpPr>
            <a:cxnSpLocks noChangeShapeType="1"/>
            <a:stCxn id="33803" idx="2"/>
            <a:endCxn id="33804" idx="0"/>
          </p:cNvCxnSpPr>
          <p:nvPr/>
        </p:nvCxnSpPr>
        <p:spPr bwMode="auto">
          <a:xfrm rot="16200000" flipH="1">
            <a:off x="4138937" y="5540053"/>
            <a:ext cx="169863" cy="261938"/>
          </a:xfrm>
          <a:prstGeom prst="bentConnector3">
            <a:avLst>
              <a:gd name="adj1" fmla="val 49532"/>
            </a:avLst>
          </a:prstGeom>
          <a:noFill/>
          <a:ln w="19050">
            <a:solidFill>
              <a:schemeClr val="tx1"/>
            </a:solidFill>
            <a:miter lim="800000"/>
            <a:headEnd/>
            <a:tailEnd/>
          </a:ln>
        </p:spPr>
      </p:cxnSp>
      <p:sp>
        <p:nvSpPr>
          <p:cNvPr id="16" name="Date Placeholder 31"/>
          <p:cNvSpPr>
            <a:spLocks noGrp="1"/>
          </p:cNvSpPr>
          <p:nvPr>
            <p:ph type="dt" sz="half" idx="10"/>
          </p:nvPr>
        </p:nvSpPr>
        <p:spPr>
          <a:xfrm>
            <a:off x="176213" y="6428184"/>
            <a:ext cx="2881312" cy="457200"/>
          </a:xfrm>
        </p:spPr>
        <p:txBody>
          <a:bodyPr/>
          <a:lstStyle/>
          <a:p>
            <a:fld id="{6B3C9685-A190-4943-8807-66FB64A554CC}" type="datetime1">
              <a:rPr lang="en-US" smtClean="0"/>
              <a:pPr/>
              <a:t>5/2/24</a:t>
            </a:fld>
            <a:endParaRPr lang="en-US" dirty="0"/>
          </a:p>
        </p:txBody>
      </p:sp>
    </p:spTree>
    <p:extLst>
      <p:ext uri="{BB962C8B-B14F-4D97-AF65-F5344CB8AC3E}">
        <p14:creationId xmlns:p14="http://schemas.microsoft.com/office/powerpoint/2010/main" val="29780753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a:xfrm>
            <a:off x="722312" y="4406900"/>
            <a:ext cx="8170167" cy="1362075"/>
          </a:xfrm>
        </p:spPr>
        <p:txBody>
          <a:bodyPr>
            <a:normAutofit/>
          </a:bodyPr>
          <a:lstStyle/>
          <a:p>
            <a:r>
              <a:rPr lang="en-US" dirty="0"/>
              <a:t>Support FOR EMBEDDED DISCONTINUITIES</a:t>
            </a:r>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FEM-FVM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76</a:t>
            </a:fld>
            <a:endParaRPr lang="en-US"/>
          </a:p>
        </p:txBody>
      </p:sp>
    </p:spTree>
    <p:extLst>
      <p:ext uri="{BB962C8B-B14F-4D97-AF65-F5344CB8AC3E}">
        <p14:creationId xmlns:p14="http://schemas.microsoft.com/office/powerpoint/2010/main" val="42067966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3"/>
          <p:cNvSpPr>
            <a:spLocks noGrp="1"/>
          </p:cNvSpPr>
          <p:nvPr>
            <p:ph type="sldNum" sz="quarter" idx="10"/>
          </p:nvPr>
        </p:nvSpPr>
        <p:spPr/>
        <p:txBody>
          <a:bodyPr/>
          <a:lstStyle/>
          <a:p>
            <a:fld id="{D22311B6-7BCB-114D-8A48-5353C3963DD3}" type="slidenum">
              <a:rPr lang="en-US" smtClean="0"/>
              <a:pPr/>
              <a:t>77</a:t>
            </a:fld>
            <a:endParaRPr lang="en-US" dirty="0"/>
          </a:p>
        </p:txBody>
      </p:sp>
      <p:sp>
        <p:nvSpPr>
          <p:cNvPr id="532482" name="Rectangle 2"/>
          <p:cNvSpPr>
            <a:spLocks noGrp="1" noChangeArrowheads="1"/>
          </p:cNvSpPr>
          <p:nvPr>
            <p:ph type="title"/>
          </p:nvPr>
        </p:nvSpPr>
        <p:spPr/>
        <p:txBody>
          <a:bodyPr>
            <a:normAutofit/>
          </a:bodyPr>
          <a:lstStyle/>
          <a:p>
            <a:r>
              <a:rPr lang="en-US" dirty="0"/>
              <a:t>EDS </a:t>
            </a:r>
            <a:r>
              <a:rPr lang="en-US" b="1" dirty="0" err="1"/>
              <a:t>SplitBoundary</a:t>
            </a:r>
            <a:r>
              <a:rPr lang="en-US" dirty="0"/>
              <a:t> -based </a:t>
            </a:r>
            <a:r>
              <a:rPr lang="en-US" dirty="0" err="1"/>
              <a:t>discretisation</a:t>
            </a:r>
            <a:endParaRPr lang="en-US" dirty="0"/>
          </a:p>
        </p:txBody>
      </p:sp>
      <p:sp>
        <p:nvSpPr>
          <p:cNvPr id="532483" name="Rectangle 3"/>
          <p:cNvSpPr>
            <a:spLocks noGrp="1" noChangeArrowheads="1"/>
          </p:cNvSpPr>
          <p:nvPr>
            <p:ph type="body" idx="1"/>
          </p:nvPr>
        </p:nvSpPr>
        <p:spPr>
          <a:xfrm>
            <a:off x="285750" y="906463"/>
            <a:ext cx="8605838" cy="876300"/>
          </a:xfrm>
        </p:spPr>
        <p:txBody>
          <a:bodyPr>
            <a:normAutofit/>
          </a:bodyPr>
          <a:lstStyle/>
          <a:p>
            <a:pPr>
              <a:lnSpc>
                <a:spcPct val="90000"/>
              </a:lnSpc>
            </a:pPr>
            <a:r>
              <a:rPr lang="en-US" dirty="0"/>
              <a:t>Lower dimensional </a:t>
            </a:r>
            <a:r>
              <a:rPr lang="en-US" b="1" dirty="0" err="1"/>
              <a:t>InterFace</a:t>
            </a:r>
            <a:r>
              <a:rPr lang="en-US" dirty="0"/>
              <a:t> objects connect </a:t>
            </a:r>
            <a:r>
              <a:rPr lang="en-US" dirty="0" err="1"/>
              <a:t>multiplicated</a:t>
            </a:r>
            <a:r>
              <a:rPr lang="en-US" dirty="0"/>
              <a:t> nodes.</a:t>
            </a:r>
          </a:p>
          <a:p>
            <a:pPr>
              <a:lnSpc>
                <a:spcPct val="90000"/>
              </a:lnSpc>
            </a:pPr>
            <a:r>
              <a:rPr lang="en-US" dirty="0" err="1"/>
              <a:t>InterFace</a:t>
            </a:r>
            <a:r>
              <a:rPr lang="en-US" dirty="0"/>
              <a:t> objects are used to apply transfer terms.</a:t>
            </a:r>
          </a:p>
        </p:txBody>
      </p:sp>
      <p:grpSp>
        <p:nvGrpSpPr>
          <p:cNvPr id="2" name="Group 22"/>
          <p:cNvGrpSpPr>
            <a:grpSpLocks/>
          </p:cNvGrpSpPr>
          <p:nvPr/>
        </p:nvGrpSpPr>
        <p:grpSpPr bwMode="auto">
          <a:xfrm>
            <a:off x="706438" y="2209800"/>
            <a:ext cx="6624637" cy="4089400"/>
            <a:chOff x="445" y="1392"/>
            <a:chExt cx="4173" cy="2576"/>
          </a:xfrm>
        </p:grpSpPr>
        <p:grpSp>
          <p:nvGrpSpPr>
            <p:cNvPr id="3" name="Group 14"/>
            <p:cNvGrpSpPr>
              <a:grpSpLocks/>
            </p:cNvGrpSpPr>
            <p:nvPr/>
          </p:nvGrpSpPr>
          <p:grpSpPr bwMode="auto">
            <a:xfrm>
              <a:off x="445" y="1392"/>
              <a:ext cx="4173" cy="2576"/>
              <a:chOff x="445" y="1527"/>
              <a:chExt cx="4173" cy="2576"/>
            </a:xfrm>
          </p:grpSpPr>
          <p:pic>
            <p:nvPicPr>
              <p:cNvPr id="532484" name="Picture 4" descr="fracture_tip"/>
              <p:cNvPicPr>
                <a:picLocks noChangeAspect="1" noChangeArrowheads="1"/>
              </p:cNvPicPr>
              <p:nvPr/>
            </p:nvPicPr>
            <p:blipFill>
              <a:blip r:embed="rId2"/>
              <a:srcRect/>
              <a:stretch>
                <a:fillRect/>
              </a:stretch>
            </p:blipFill>
            <p:spPr bwMode="auto">
              <a:xfrm>
                <a:off x="1016" y="1527"/>
                <a:ext cx="3594" cy="2300"/>
              </a:xfrm>
              <a:prstGeom prst="rect">
                <a:avLst/>
              </a:prstGeom>
              <a:noFill/>
            </p:spPr>
          </p:pic>
          <p:sp>
            <p:nvSpPr>
              <p:cNvPr id="532485" name="Text Box 5"/>
              <p:cNvSpPr txBox="1">
                <a:spLocks noChangeArrowheads="1"/>
              </p:cNvSpPr>
              <p:nvPr/>
            </p:nvSpPr>
            <p:spPr bwMode="auto">
              <a:xfrm>
                <a:off x="1583" y="3853"/>
                <a:ext cx="1894" cy="250"/>
              </a:xfrm>
              <a:prstGeom prst="rect">
                <a:avLst/>
              </a:prstGeom>
              <a:noFill/>
              <a:ln w="9525">
                <a:noFill/>
                <a:miter lim="800000"/>
                <a:headEnd/>
                <a:tailEnd/>
              </a:ln>
              <a:effectLst/>
            </p:spPr>
            <p:txBody>
              <a:bodyPr wrap="none">
                <a:prstTxWarp prst="textNoShape">
                  <a:avLst/>
                </a:prstTxWarp>
                <a:spAutoFit/>
              </a:bodyPr>
              <a:lstStyle/>
              <a:p>
                <a:r>
                  <a:rPr lang="en-US" sz="2000" dirty="0">
                    <a:latin typeface="Arial" pitchFamily="-65" charset="0"/>
                  </a:rPr>
                  <a:t>2D hybrid element model</a:t>
                </a:r>
              </a:p>
            </p:txBody>
          </p:sp>
          <p:sp>
            <p:nvSpPr>
              <p:cNvPr id="532486" name="Text Box 6"/>
              <p:cNvSpPr txBox="1">
                <a:spLocks noChangeArrowheads="1"/>
              </p:cNvSpPr>
              <p:nvPr/>
            </p:nvSpPr>
            <p:spPr bwMode="auto">
              <a:xfrm>
                <a:off x="445" y="1799"/>
                <a:ext cx="878" cy="446"/>
              </a:xfrm>
              <a:prstGeom prst="rect">
                <a:avLst/>
              </a:prstGeom>
              <a:noFill/>
              <a:ln w="9525">
                <a:noFill/>
                <a:miter lim="800000"/>
                <a:headEnd/>
                <a:tailEnd/>
              </a:ln>
              <a:effectLst/>
            </p:spPr>
            <p:txBody>
              <a:bodyPr>
                <a:prstTxWarp prst="textNoShape">
                  <a:avLst/>
                </a:prstTxWarp>
                <a:spAutoFit/>
              </a:bodyPr>
              <a:lstStyle/>
              <a:p>
                <a:pPr algn="l"/>
                <a:r>
                  <a:rPr lang="en-US" sz="2000" dirty="0" err="1">
                    <a:latin typeface="Arial" pitchFamily="-65" charset="0"/>
                  </a:rPr>
                  <a:t>InterFace</a:t>
                </a:r>
                <a:r>
                  <a:rPr lang="en-US" sz="2000" dirty="0">
                    <a:latin typeface="Arial" pitchFamily="-65" charset="0"/>
                  </a:rPr>
                  <a:t> objects</a:t>
                </a:r>
              </a:p>
            </p:txBody>
          </p:sp>
          <p:sp>
            <p:nvSpPr>
              <p:cNvPr id="532487" name="Text Box 7"/>
              <p:cNvSpPr txBox="1">
                <a:spLocks noChangeArrowheads="1"/>
              </p:cNvSpPr>
              <p:nvPr/>
            </p:nvSpPr>
            <p:spPr bwMode="auto">
              <a:xfrm>
                <a:off x="1829" y="1984"/>
                <a:ext cx="878" cy="442"/>
              </a:xfrm>
              <a:prstGeom prst="rect">
                <a:avLst/>
              </a:prstGeom>
              <a:noFill/>
              <a:ln w="9525">
                <a:noFill/>
                <a:miter lim="800000"/>
                <a:headEnd/>
                <a:tailEnd/>
              </a:ln>
              <a:effectLst/>
            </p:spPr>
            <p:txBody>
              <a:bodyPr>
                <a:prstTxWarp prst="textNoShape">
                  <a:avLst/>
                </a:prstTxWarp>
                <a:spAutoFit/>
              </a:bodyPr>
              <a:lstStyle/>
              <a:p>
                <a:pPr algn="ctr"/>
                <a:r>
                  <a:rPr lang="en-US" sz="2000" dirty="0">
                    <a:latin typeface="Arial" pitchFamily="-65" charset="0"/>
                  </a:rPr>
                  <a:t>duplicate Node</a:t>
                </a:r>
              </a:p>
            </p:txBody>
          </p:sp>
          <p:sp>
            <p:nvSpPr>
              <p:cNvPr id="532488" name="Text Box 8"/>
              <p:cNvSpPr txBox="1">
                <a:spLocks noChangeArrowheads="1"/>
              </p:cNvSpPr>
              <p:nvPr/>
            </p:nvSpPr>
            <p:spPr bwMode="auto">
              <a:xfrm>
                <a:off x="2930" y="2764"/>
                <a:ext cx="878" cy="250"/>
              </a:xfrm>
              <a:prstGeom prst="rect">
                <a:avLst/>
              </a:prstGeom>
              <a:noFill/>
              <a:ln w="9525">
                <a:noFill/>
                <a:miter lim="800000"/>
                <a:headEnd/>
                <a:tailEnd/>
              </a:ln>
              <a:effectLst/>
            </p:spPr>
            <p:txBody>
              <a:bodyPr>
                <a:prstTxWarp prst="textNoShape">
                  <a:avLst/>
                </a:prstTxWarp>
                <a:spAutoFit/>
              </a:bodyPr>
              <a:lstStyle/>
              <a:p>
                <a:pPr algn="ctr"/>
                <a:r>
                  <a:rPr lang="en-US" sz="2000" dirty="0">
                    <a:latin typeface="Arial" pitchFamily="-65" charset="0"/>
                  </a:rPr>
                  <a:t>fracture</a:t>
                </a:r>
              </a:p>
            </p:txBody>
          </p:sp>
          <p:sp>
            <p:nvSpPr>
              <p:cNvPr id="532489" name="Text Box 9"/>
              <p:cNvSpPr txBox="1">
                <a:spLocks noChangeArrowheads="1"/>
              </p:cNvSpPr>
              <p:nvPr/>
            </p:nvSpPr>
            <p:spPr bwMode="auto">
              <a:xfrm>
                <a:off x="3740" y="2334"/>
                <a:ext cx="878" cy="250"/>
              </a:xfrm>
              <a:prstGeom prst="rect">
                <a:avLst/>
              </a:prstGeom>
              <a:noFill/>
              <a:ln w="9525">
                <a:noFill/>
                <a:miter lim="800000"/>
                <a:headEnd/>
                <a:tailEnd/>
              </a:ln>
              <a:effectLst/>
            </p:spPr>
            <p:txBody>
              <a:bodyPr>
                <a:prstTxWarp prst="textNoShape">
                  <a:avLst/>
                </a:prstTxWarp>
                <a:spAutoFit/>
              </a:bodyPr>
              <a:lstStyle/>
              <a:p>
                <a:pPr algn="ctr"/>
                <a:r>
                  <a:rPr lang="en-US" sz="2000">
                    <a:solidFill>
                      <a:schemeClr val="bg1"/>
                    </a:solidFill>
                    <a:latin typeface="Arial" pitchFamily="-65" charset="0"/>
                  </a:rPr>
                  <a:t>matrix</a:t>
                </a:r>
              </a:p>
            </p:txBody>
          </p:sp>
          <p:sp>
            <p:nvSpPr>
              <p:cNvPr id="532490" name="Line 10"/>
              <p:cNvSpPr>
                <a:spLocks noChangeShapeType="1"/>
              </p:cNvSpPr>
              <p:nvPr/>
            </p:nvSpPr>
            <p:spPr bwMode="auto">
              <a:xfrm>
                <a:off x="1182" y="1971"/>
                <a:ext cx="283" cy="202"/>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sp>
            <p:nvSpPr>
              <p:cNvPr id="532491" name="Line 11"/>
              <p:cNvSpPr>
                <a:spLocks noChangeShapeType="1"/>
              </p:cNvSpPr>
              <p:nvPr/>
            </p:nvSpPr>
            <p:spPr bwMode="auto">
              <a:xfrm>
                <a:off x="839" y="2248"/>
                <a:ext cx="662" cy="233"/>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sp>
            <p:nvSpPr>
              <p:cNvPr id="532492" name="Line 12"/>
              <p:cNvSpPr>
                <a:spLocks noChangeShapeType="1"/>
              </p:cNvSpPr>
              <p:nvPr/>
            </p:nvSpPr>
            <p:spPr bwMode="auto">
              <a:xfrm flipV="1">
                <a:off x="2521" y="2228"/>
                <a:ext cx="116" cy="56"/>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sp>
            <p:nvSpPr>
              <p:cNvPr id="532493" name="Line 13"/>
              <p:cNvSpPr>
                <a:spLocks noChangeShapeType="1"/>
              </p:cNvSpPr>
              <p:nvPr/>
            </p:nvSpPr>
            <p:spPr bwMode="auto">
              <a:xfrm>
                <a:off x="2491" y="2334"/>
                <a:ext cx="50" cy="187"/>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grpSp>
        <p:graphicFrame>
          <p:nvGraphicFramePr>
            <p:cNvPr id="532495" name="Object 15"/>
            <p:cNvGraphicFramePr>
              <a:graphicFrameLocks noChangeAspect="1"/>
            </p:cNvGraphicFramePr>
            <p:nvPr/>
          </p:nvGraphicFramePr>
          <p:xfrm>
            <a:off x="1595" y="1830"/>
            <a:ext cx="255" cy="353"/>
          </p:xfrm>
          <a:graphic>
            <a:graphicData uri="http://schemas.openxmlformats.org/presentationml/2006/ole">
              <mc:AlternateContent xmlns:mc="http://schemas.openxmlformats.org/markup-compatibility/2006">
                <mc:Choice xmlns:v="urn:schemas-microsoft-com:vml" Requires="v">
                  <p:oleObj name="Equation" r:id="rId3" imgW="164880" imgH="228600" progId="Equation.3">
                    <p:embed/>
                  </p:oleObj>
                </mc:Choice>
                <mc:Fallback>
                  <p:oleObj name="Equation" r:id="rId3" imgW="16488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5" y="1830"/>
                          <a:ext cx="255" cy="353"/>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532496" name="Oval 16"/>
            <p:cNvSpPr>
              <a:spLocks noChangeArrowheads="1"/>
            </p:cNvSpPr>
            <p:nvPr/>
          </p:nvSpPr>
          <p:spPr bwMode="auto">
            <a:xfrm>
              <a:off x="2617" y="2041"/>
              <a:ext cx="91" cy="76"/>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sp>
          <p:nvSpPr>
            <p:cNvPr id="532499" name="Oval 19"/>
            <p:cNvSpPr>
              <a:spLocks noChangeArrowheads="1"/>
            </p:cNvSpPr>
            <p:nvPr/>
          </p:nvSpPr>
          <p:spPr bwMode="auto">
            <a:xfrm>
              <a:off x="2480" y="2425"/>
              <a:ext cx="91" cy="76"/>
            </a:xfrm>
            <a:prstGeom prst="ellipse">
              <a:avLst/>
            </a:prstGeom>
            <a:solidFill>
              <a:schemeClr val="accent1"/>
            </a:solidFill>
            <a:ln w="9525">
              <a:solidFill>
                <a:schemeClr val="tx1"/>
              </a:solidFill>
              <a:round/>
              <a:headEnd/>
              <a:tailEnd/>
            </a:ln>
            <a:effectLst/>
          </p:spPr>
          <p:txBody>
            <a:bodyPr wrap="none" anchor="ctr">
              <a:prstTxWarp prst="textNoShape">
                <a:avLst/>
              </a:prstTxWarp>
            </a:bodyPr>
            <a:lstStyle/>
            <a:p>
              <a:endParaRPr lang="en-US"/>
            </a:p>
          </p:txBody>
        </p:sp>
        <p:sp>
          <p:nvSpPr>
            <p:cNvPr id="532500" name="Oval 20"/>
            <p:cNvSpPr>
              <a:spLocks noChangeArrowheads="1"/>
            </p:cNvSpPr>
            <p:nvPr/>
          </p:nvSpPr>
          <p:spPr bwMode="auto">
            <a:xfrm>
              <a:off x="2444" y="2536"/>
              <a:ext cx="91" cy="76"/>
            </a:xfrm>
            <a:prstGeom prst="ellipse">
              <a:avLst/>
            </a:prstGeom>
            <a:solidFill>
              <a:schemeClr val="accent1"/>
            </a:solidFill>
            <a:ln w="9525">
              <a:solidFill>
                <a:schemeClr val="tx1"/>
              </a:solidFill>
              <a:round/>
              <a:headEnd/>
              <a:tailEnd/>
            </a:ln>
            <a:effectLst/>
          </p:spPr>
          <p:txBody>
            <a:bodyPr wrap="none" anchor="ctr">
              <a:prstTxWarp prst="textNoShape">
                <a:avLst/>
              </a:prstTxWarp>
            </a:bodyPr>
            <a:lstStyle/>
            <a:p>
              <a:endParaRPr lang="en-US"/>
            </a:p>
          </p:txBody>
        </p:sp>
        <p:sp>
          <p:nvSpPr>
            <p:cNvPr id="532501" name="Oval 21"/>
            <p:cNvSpPr>
              <a:spLocks noChangeArrowheads="1"/>
            </p:cNvSpPr>
            <p:nvPr/>
          </p:nvSpPr>
          <p:spPr bwMode="auto">
            <a:xfrm>
              <a:off x="2362" y="2879"/>
              <a:ext cx="91" cy="76"/>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grpSp>
      <p:sp>
        <p:nvSpPr>
          <p:cNvPr id="22" name="Date Placeholder 21"/>
          <p:cNvSpPr>
            <a:spLocks noGrp="1"/>
          </p:cNvSpPr>
          <p:nvPr>
            <p:ph type="dt" sz="half" idx="10"/>
          </p:nvPr>
        </p:nvSpPr>
        <p:spPr/>
        <p:txBody>
          <a:bodyPr/>
          <a:lstStyle/>
          <a:p>
            <a:fld id="{785E1565-2DE9-024A-94A8-6E2D50DCA9EC}" type="datetime1">
              <a:rPr lang="en-US" smtClean="0"/>
              <a:pPr/>
              <a:t>5/2/24</a:t>
            </a:fld>
            <a:endParaRPr lang="en-US"/>
          </a:p>
        </p:txBody>
      </p:sp>
      <p:sp>
        <p:nvSpPr>
          <p:cNvPr id="23" name="Footer Placeholder 22"/>
          <p:cNvSpPr>
            <a:spLocks noGrp="1"/>
          </p:cNvSpPr>
          <p:nvPr>
            <p:ph type="ftr" sz="quarter" idx="11"/>
          </p:nvPr>
        </p:nvSpPr>
        <p:spPr/>
        <p:txBody>
          <a:bodyPr/>
          <a:lstStyle/>
          <a:p>
            <a:r>
              <a:rPr lang="en-US" dirty="0"/>
              <a:t>FEM-FVM framework</a:t>
            </a:r>
          </a:p>
        </p:txBody>
      </p:sp>
      <p:sp>
        <p:nvSpPr>
          <p:cNvPr id="24" name="Slide Number Placeholder 4"/>
          <p:cNvSpPr>
            <a:spLocks noGrp="1"/>
          </p:cNvSpPr>
          <p:nvPr>
            <p:ph type="sldNum" sz="quarter" idx="4294967295"/>
          </p:nvPr>
        </p:nvSpPr>
        <p:spPr>
          <a:xfrm>
            <a:off x="6858000" y="6477000"/>
            <a:ext cx="2133600" cy="365125"/>
          </a:xfrm>
          <a:prstGeom prst="rect">
            <a:avLst/>
          </a:prstGeom>
        </p:spPr>
        <p:txBody>
          <a:bodyPr/>
          <a:lstStyle/>
          <a:p>
            <a:pPr algn="r"/>
            <a:fld id="{223FD816-CC6A-BF43-8241-637E3E7EAA5A}" type="slidenum">
              <a:rPr lang="en-US" sz="1400" smtClean="0">
                <a:solidFill>
                  <a:schemeClr val="bg1">
                    <a:lumMod val="65000"/>
                  </a:schemeClr>
                </a:solidFill>
                <a:latin typeface="Arial"/>
                <a:cs typeface="Arial"/>
              </a:rPr>
              <a:pPr algn="r"/>
              <a:t>77</a:t>
            </a:fld>
            <a:endParaRPr lang="en-US" sz="1400" dirty="0">
              <a:solidFill>
                <a:schemeClr val="bg1">
                  <a:lumMod val="65000"/>
                </a:schemeClr>
              </a:solidFill>
              <a:latin typeface="Arial"/>
              <a:cs typeface="Arial"/>
            </a:endParaRPr>
          </a:p>
        </p:txBody>
      </p:sp>
    </p:spTree>
    <p:extLst>
      <p:ext uri="{BB962C8B-B14F-4D97-AF65-F5344CB8AC3E}">
        <p14:creationId xmlns:p14="http://schemas.microsoft.com/office/powerpoint/2010/main" val="26341941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3464" name="Picture 8"/>
          <p:cNvPicPr>
            <a:picLocks noChangeAspect="1" noChangeArrowheads="1"/>
          </p:cNvPicPr>
          <p:nvPr/>
        </p:nvPicPr>
        <p:blipFill>
          <a:blip r:embed="rId3"/>
          <a:srcRect/>
          <a:stretch>
            <a:fillRect/>
          </a:stretch>
        </p:blipFill>
        <p:spPr bwMode="auto">
          <a:xfrm>
            <a:off x="1320271" y="4077072"/>
            <a:ext cx="5903912" cy="674687"/>
          </a:xfrm>
          <a:prstGeom prst="rect">
            <a:avLst/>
          </a:prstGeom>
          <a:noFill/>
          <a:ln w="9525">
            <a:noFill/>
            <a:miter lim="800000"/>
            <a:headEnd/>
            <a:tailEnd/>
          </a:ln>
          <a:effectLst/>
        </p:spPr>
      </p:pic>
      <p:sp>
        <p:nvSpPr>
          <p:cNvPr id="9" name="Slide Number Placeholder 3"/>
          <p:cNvSpPr>
            <a:spLocks noGrp="1"/>
          </p:cNvSpPr>
          <p:nvPr>
            <p:ph type="sldNum" sz="quarter" idx="10"/>
          </p:nvPr>
        </p:nvSpPr>
        <p:spPr/>
        <p:txBody>
          <a:bodyPr/>
          <a:lstStyle/>
          <a:p>
            <a:fld id="{473A43D5-C301-074F-BFB8-EFE21F2161E5}" type="slidenum">
              <a:rPr lang="da-DK"/>
              <a:pPr/>
              <a:t>78</a:t>
            </a:fld>
            <a:endParaRPr lang="da-DK"/>
          </a:p>
        </p:txBody>
      </p:sp>
      <p:sp>
        <p:nvSpPr>
          <p:cNvPr id="403458" name="Rectangle 2"/>
          <p:cNvSpPr>
            <a:spLocks noGrp="1" noChangeArrowheads="1"/>
          </p:cNvSpPr>
          <p:nvPr>
            <p:ph type="body" idx="1"/>
          </p:nvPr>
        </p:nvSpPr>
        <p:spPr/>
        <p:txBody>
          <a:bodyPr/>
          <a:lstStyle/>
          <a:p>
            <a:endParaRPr lang="en-GB" dirty="0"/>
          </a:p>
          <a:p>
            <a:endParaRPr lang="en-GB" dirty="0"/>
          </a:p>
          <a:p>
            <a:endParaRPr lang="en-GB" dirty="0"/>
          </a:p>
        </p:txBody>
      </p:sp>
      <p:sp>
        <p:nvSpPr>
          <p:cNvPr id="403459" name="Rectangle 3"/>
          <p:cNvSpPr>
            <a:spLocks noGrp="1" noChangeArrowheads="1"/>
          </p:cNvSpPr>
          <p:nvPr>
            <p:ph type="title"/>
          </p:nvPr>
        </p:nvSpPr>
        <p:spPr>
          <a:xfrm>
            <a:off x="342900" y="324379"/>
            <a:ext cx="7810500" cy="638175"/>
          </a:xfrm>
        </p:spPr>
        <p:txBody>
          <a:bodyPr>
            <a:normAutofit/>
          </a:bodyPr>
          <a:lstStyle/>
          <a:p>
            <a:r>
              <a:rPr lang="en-US" sz="2800" dirty="0"/>
              <a:t>EDF integrals in implicit FEFVM solution </a:t>
            </a:r>
            <a:endParaRPr lang="en-GB" sz="2800" dirty="0"/>
          </a:p>
        </p:txBody>
      </p:sp>
      <p:sp>
        <p:nvSpPr>
          <p:cNvPr id="403460" name="Rectangle 4"/>
          <p:cNvSpPr>
            <a:spLocks noGrp="1" noChangeArrowheads="1"/>
          </p:cNvSpPr>
          <p:nvPr>
            <p:ph type="body" idx="1"/>
          </p:nvPr>
        </p:nvSpPr>
        <p:spPr>
          <a:xfrm>
            <a:off x="334434" y="1124479"/>
            <a:ext cx="7694613" cy="4968875"/>
          </a:xfrm>
          <a:noFill/>
          <a:ln/>
        </p:spPr>
        <p:txBody>
          <a:bodyPr/>
          <a:lstStyle/>
          <a:p>
            <a:pPr lvl="1">
              <a:buNone/>
            </a:pPr>
            <a:r>
              <a:rPr lang="en-US" dirty="0"/>
              <a:t>Pressure equation (FE)</a:t>
            </a:r>
          </a:p>
          <a:p>
            <a:pPr lvl="1">
              <a:buFontTx/>
              <a:buNone/>
            </a:pPr>
            <a:endParaRPr lang="en-US" dirty="0"/>
          </a:p>
          <a:p>
            <a:pPr lvl="1">
              <a:buFontTx/>
              <a:buNone/>
            </a:pPr>
            <a:endParaRPr lang="en-US" dirty="0"/>
          </a:p>
          <a:p>
            <a:pPr lvl="1">
              <a:buFontTx/>
              <a:buNone/>
            </a:pPr>
            <a:endParaRPr lang="en-US" dirty="0"/>
          </a:p>
          <a:p>
            <a:pPr lvl="1">
              <a:buFontTx/>
              <a:buNone/>
            </a:pPr>
            <a:endParaRPr lang="en-US" dirty="0"/>
          </a:p>
          <a:p>
            <a:pPr lvl="1">
              <a:buFontTx/>
              <a:buNone/>
            </a:pPr>
            <a:r>
              <a:rPr lang="en-US" dirty="0" err="1"/>
              <a:t>Advective</a:t>
            </a:r>
            <a:r>
              <a:rPr lang="en-US" dirty="0"/>
              <a:t> and diffusive transfer modeled via operator splitting:</a:t>
            </a:r>
          </a:p>
          <a:p>
            <a:pPr lvl="1"/>
            <a:r>
              <a:rPr lang="en-US" dirty="0"/>
              <a:t>Advection (FV-Implicit)</a:t>
            </a:r>
          </a:p>
          <a:p>
            <a:pPr lvl="1">
              <a:buFontTx/>
              <a:buNone/>
            </a:pPr>
            <a:endParaRPr lang="en-US" dirty="0"/>
          </a:p>
          <a:p>
            <a:pPr lvl="1"/>
            <a:r>
              <a:rPr lang="en-US" dirty="0"/>
              <a:t>Diffusion (FE-Implicit)</a:t>
            </a:r>
          </a:p>
          <a:p>
            <a:pPr lvl="1">
              <a:buFontTx/>
              <a:buNone/>
            </a:pPr>
            <a:endParaRPr lang="en-US" dirty="0"/>
          </a:p>
          <a:p>
            <a:pPr lvl="1" algn="just"/>
            <a:endParaRPr lang="en-US" dirty="0"/>
          </a:p>
        </p:txBody>
      </p:sp>
      <p:pic>
        <p:nvPicPr>
          <p:cNvPr id="403462" name="Picture 6" descr="StencilSplitNode"/>
          <p:cNvPicPr>
            <a:picLocks noChangeAspect="1" noChangeArrowheads="1"/>
          </p:cNvPicPr>
          <p:nvPr/>
        </p:nvPicPr>
        <p:blipFill>
          <a:blip r:embed="rId4"/>
          <a:srcRect/>
          <a:stretch>
            <a:fillRect/>
          </a:stretch>
        </p:blipFill>
        <p:spPr bwMode="auto">
          <a:xfrm>
            <a:off x="7019925" y="188913"/>
            <a:ext cx="1800225" cy="1795462"/>
          </a:xfrm>
          <a:prstGeom prst="rect">
            <a:avLst/>
          </a:prstGeom>
          <a:noFill/>
        </p:spPr>
      </p:pic>
      <p:pic>
        <p:nvPicPr>
          <p:cNvPr id="403463" name="Picture 7"/>
          <p:cNvPicPr>
            <a:picLocks noChangeAspect="1" noChangeArrowheads="1"/>
          </p:cNvPicPr>
          <p:nvPr/>
        </p:nvPicPr>
        <p:blipFill>
          <a:blip r:embed="rId5"/>
          <a:srcRect/>
          <a:stretch>
            <a:fillRect/>
          </a:stretch>
        </p:blipFill>
        <p:spPr bwMode="auto">
          <a:xfrm>
            <a:off x="1100138" y="1761067"/>
            <a:ext cx="5761037" cy="1252538"/>
          </a:xfrm>
          <a:prstGeom prst="rect">
            <a:avLst/>
          </a:prstGeom>
          <a:noFill/>
          <a:ln w="9525">
            <a:noFill/>
            <a:miter lim="800000"/>
            <a:headEnd/>
            <a:tailEnd/>
          </a:ln>
          <a:effectLst/>
        </p:spPr>
      </p:pic>
      <p:pic>
        <p:nvPicPr>
          <p:cNvPr id="403465" name="Picture 9"/>
          <p:cNvPicPr>
            <a:picLocks noChangeAspect="1" noChangeArrowheads="1"/>
          </p:cNvPicPr>
          <p:nvPr/>
        </p:nvPicPr>
        <p:blipFill>
          <a:blip r:embed="rId6"/>
          <a:srcRect/>
          <a:stretch>
            <a:fillRect/>
          </a:stretch>
        </p:blipFill>
        <p:spPr bwMode="auto">
          <a:xfrm>
            <a:off x="1285346" y="5085184"/>
            <a:ext cx="5689600" cy="581025"/>
          </a:xfrm>
          <a:prstGeom prst="rect">
            <a:avLst/>
          </a:prstGeom>
          <a:noFill/>
          <a:ln w="9525">
            <a:noFill/>
            <a:miter lim="800000"/>
            <a:headEnd/>
            <a:tailEnd/>
          </a:ln>
          <a:effectLst/>
        </p:spPr>
      </p:pic>
      <p:sp>
        <p:nvSpPr>
          <p:cNvPr id="10" name="Date Placeholder 9"/>
          <p:cNvSpPr>
            <a:spLocks noGrp="1"/>
          </p:cNvSpPr>
          <p:nvPr>
            <p:ph type="dt" sz="half" idx="10"/>
          </p:nvPr>
        </p:nvSpPr>
        <p:spPr/>
        <p:txBody>
          <a:bodyPr/>
          <a:lstStyle/>
          <a:p>
            <a:fld id="{7A2108F6-103A-CB48-BA02-170BDAAC6AC4}" type="datetime1">
              <a:rPr lang="en-US" smtClean="0"/>
              <a:pPr/>
              <a:t>5/2/24</a:t>
            </a:fld>
            <a:endParaRPr lang="en-US"/>
          </a:p>
        </p:txBody>
      </p:sp>
      <p:sp>
        <p:nvSpPr>
          <p:cNvPr id="11" name="Footer Placeholder 10"/>
          <p:cNvSpPr>
            <a:spLocks noGrp="1"/>
          </p:cNvSpPr>
          <p:nvPr>
            <p:ph type="ftr" sz="quarter" idx="11"/>
          </p:nvPr>
        </p:nvSpPr>
        <p:spPr/>
        <p:txBody>
          <a:bodyPr/>
          <a:lstStyle/>
          <a:p>
            <a:r>
              <a:rPr lang="en-US" dirty="0"/>
              <a:t>FEM-FVM framework</a:t>
            </a:r>
          </a:p>
        </p:txBody>
      </p:sp>
      <p:sp>
        <p:nvSpPr>
          <p:cNvPr id="12" name="Slide Number Placeholder 4"/>
          <p:cNvSpPr>
            <a:spLocks noGrp="1"/>
          </p:cNvSpPr>
          <p:nvPr>
            <p:ph type="sldNum" sz="quarter" idx="4294967295"/>
          </p:nvPr>
        </p:nvSpPr>
        <p:spPr>
          <a:xfrm>
            <a:off x="6858000" y="6416675"/>
            <a:ext cx="2133600" cy="365125"/>
          </a:xfrm>
          <a:prstGeom prst="rect">
            <a:avLst/>
          </a:prstGeom>
        </p:spPr>
        <p:txBody>
          <a:bodyPr/>
          <a:lstStyle/>
          <a:p>
            <a:pPr algn="r"/>
            <a:fld id="{223FD816-CC6A-BF43-8241-637E3E7EAA5A}" type="slidenum">
              <a:rPr lang="en-US" sz="1400" smtClean="0">
                <a:solidFill>
                  <a:schemeClr val="bg1">
                    <a:lumMod val="65000"/>
                  </a:schemeClr>
                </a:solidFill>
                <a:latin typeface="Arial"/>
                <a:cs typeface="Arial"/>
              </a:rPr>
              <a:pPr algn="r"/>
              <a:t>78</a:t>
            </a:fld>
            <a:endParaRPr lang="en-US" sz="1400" dirty="0">
              <a:solidFill>
                <a:schemeClr val="bg1">
                  <a:lumMod val="65000"/>
                </a:schemeClr>
              </a:solidFill>
              <a:latin typeface="Arial"/>
              <a:cs typeface="Arial"/>
            </a:endParaRPr>
          </a:p>
        </p:txBody>
      </p:sp>
      <p:sp>
        <p:nvSpPr>
          <p:cNvPr id="2" name="TextBox 1"/>
          <p:cNvSpPr txBox="1"/>
          <p:nvPr/>
        </p:nvSpPr>
        <p:spPr>
          <a:xfrm>
            <a:off x="4716016" y="5877272"/>
            <a:ext cx="3822721" cy="369332"/>
          </a:xfrm>
          <a:prstGeom prst="rect">
            <a:avLst/>
          </a:prstGeom>
          <a:noFill/>
        </p:spPr>
        <p:txBody>
          <a:bodyPr wrap="none" rtlCol="0">
            <a:spAutoFit/>
          </a:bodyPr>
          <a:lstStyle/>
          <a:p>
            <a:r>
              <a:rPr lang="en-US" i="1" dirty="0">
                <a:latin typeface="Arial"/>
                <a:cs typeface="Arial"/>
              </a:rPr>
              <a:t>see Nick and Matthai (2011, V.Z.J.)</a:t>
            </a:r>
          </a:p>
        </p:txBody>
      </p:sp>
    </p:spTree>
    <p:extLst>
      <p:ext uri="{BB962C8B-B14F-4D97-AF65-F5344CB8AC3E}">
        <p14:creationId xmlns:p14="http://schemas.microsoft.com/office/powerpoint/2010/main" val="11220942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a:xfrm>
            <a:off x="228600" y="304800"/>
            <a:ext cx="8305799" cy="736600"/>
          </a:xfrm>
        </p:spPr>
        <p:txBody>
          <a:bodyPr>
            <a:normAutofit fontScale="90000"/>
          </a:bodyPr>
          <a:lstStyle/>
          <a:p>
            <a:r>
              <a:rPr lang="en-US" dirty="0"/>
              <a:t>Bridging </a:t>
            </a:r>
            <a:r>
              <a:rPr lang="en-US" dirty="0" err="1"/>
              <a:t>SplitBoundarys</a:t>
            </a:r>
            <a:r>
              <a:rPr lang="en-US" dirty="0"/>
              <a:t> using </a:t>
            </a:r>
            <a:r>
              <a:rPr lang="en-US" dirty="0" err="1"/>
              <a:t>InterFace</a:t>
            </a:r>
            <a:r>
              <a:rPr lang="en-US" dirty="0"/>
              <a:t> elements in implicit fluid pressure computation</a:t>
            </a:r>
          </a:p>
        </p:txBody>
      </p:sp>
      <p:sp>
        <p:nvSpPr>
          <p:cNvPr id="543747" name="Rectangle 3"/>
          <p:cNvSpPr>
            <a:spLocks noGrp="1" noChangeArrowheads="1"/>
          </p:cNvSpPr>
          <p:nvPr>
            <p:ph type="body" idx="1"/>
          </p:nvPr>
        </p:nvSpPr>
        <p:spPr>
          <a:xfrm>
            <a:off x="285750" y="1196752"/>
            <a:ext cx="8605838" cy="1268412"/>
          </a:xfrm>
        </p:spPr>
        <p:txBody>
          <a:bodyPr/>
          <a:lstStyle/>
          <a:p>
            <a:r>
              <a:rPr lang="en-US" dirty="0"/>
              <a:t>To treat </a:t>
            </a:r>
            <a:r>
              <a:rPr lang="en-US" dirty="0" err="1"/>
              <a:t>multiplicated</a:t>
            </a:r>
            <a:r>
              <a:rPr lang="en-US" dirty="0"/>
              <a:t> interface nodes as one, the duplicates receive unity entries in diagonal of solution matrix</a:t>
            </a:r>
          </a:p>
          <a:p>
            <a:r>
              <a:rPr lang="en-US" dirty="0"/>
              <a:t>Interface nodes are then coupled with minus 1 off-diagonal terms:</a:t>
            </a:r>
          </a:p>
        </p:txBody>
      </p:sp>
      <p:graphicFrame>
        <p:nvGraphicFramePr>
          <p:cNvPr id="543748" name="Object 4"/>
          <p:cNvGraphicFramePr>
            <a:graphicFrameLocks noChangeAspect="1"/>
          </p:cNvGraphicFramePr>
          <p:nvPr/>
        </p:nvGraphicFramePr>
        <p:xfrm>
          <a:off x="708025" y="2808288"/>
          <a:ext cx="3957638" cy="2895600"/>
        </p:xfrm>
        <a:graphic>
          <a:graphicData uri="http://schemas.openxmlformats.org/presentationml/2006/ole">
            <mc:AlternateContent xmlns:mc="http://schemas.openxmlformats.org/markup-compatibility/2006">
              <mc:Choice xmlns:v="urn:schemas-microsoft-com:vml" Requires="v">
                <p:oleObj name="Equation" r:id="rId2" imgW="1562040" imgH="1143000" progId="Equation.3">
                  <p:embed/>
                </p:oleObj>
              </mc:Choice>
              <mc:Fallback>
                <p:oleObj name="Equation" r:id="rId2" imgW="1562040" imgH="1143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25" y="2808288"/>
                        <a:ext cx="3957638" cy="28956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nvGrpSpPr>
          <p:cNvPr id="2" name="Group 17"/>
          <p:cNvGrpSpPr>
            <a:grpSpLocks/>
          </p:cNvGrpSpPr>
          <p:nvPr/>
        </p:nvGrpSpPr>
        <p:grpSpPr bwMode="auto">
          <a:xfrm>
            <a:off x="5341938" y="2487613"/>
            <a:ext cx="2806700" cy="3487737"/>
            <a:chOff x="3445" y="1348"/>
            <a:chExt cx="1768" cy="2197"/>
          </a:xfrm>
        </p:grpSpPr>
        <p:sp>
          <p:nvSpPr>
            <p:cNvPr id="543749" name="Freeform 5"/>
            <p:cNvSpPr>
              <a:spLocks/>
            </p:cNvSpPr>
            <p:nvPr/>
          </p:nvSpPr>
          <p:spPr bwMode="auto">
            <a:xfrm>
              <a:off x="3499" y="1632"/>
              <a:ext cx="805" cy="784"/>
            </a:xfrm>
            <a:custGeom>
              <a:avLst/>
              <a:gdLst/>
              <a:ahLst/>
              <a:cxnLst>
                <a:cxn ang="0">
                  <a:pos x="0" y="0"/>
                </a:cxn>
                <a:cxn ang="0">
                  <a:pos x="474" y="320"/>
                </a:cxn>
                <a:cxn ang="0">
                  <a:pos x="805" y="784"/>
                </a:cxn>
              </a:cxnLst>
              <a:rect l="0" t="0" r="r" b="b"/>
              <a:pathLst>
                <a:path w="805" h="784">
                  <a:moveTo>
                    <a:pt x="0" y="0"/>
                  </a:moveTo>
                  <a:lnTo>
                    <a:pt x="474" y="320"/>
                  </a:lnTo>
                  <a:lnTo>
                    <a:pt x="805" y="784"/>
                  </a:lnTo>
                </a:path>
              </a:pathLst>
            </a:custGeom>
            <a:noFill/>
            <a:ln w="28575" cmpd="sng">
              <a:solidFill>
                <a:schemeClr val="tx1"/>
              </a:solidFill>
              <a:round/>
              <a:headEnd/>
              <a:tailEnd/>
            </a:ln>
            <a:effectLst/>
          </p:spPr>
          <p:txBody>
            <a:bodyPr>
              <a:prstTxWarp prst="textNoShape">
                <a:avLst/>
              </a:prstTxWarp>
            </a:bodyPr>
            <a:lstStyle/>
            <a:p>
              <a:endParaRPr lang="en-US"/>
            </a:p>
          </p:txBody>
        </p:sp>
        <p:sp>
          <p:nvSpPr>
            <p:cNvPr id="543750" name="Line 6"/>
            <p:cNvSpPr>
              <a:spLocks noChangeShapeType="1"/>
            </p:cNvSpPr>
            <p:nvPr/>
          </p:nvSpPr>
          <p:spPr bwMode="auto">
            <a:xfrm>
              <a:off x="4331" y="2480"/>
              <a:ext cx="592" cy="912"/>
            </a:xfrm>
            <a:prstGeom prst="line">
              <a:avLst/>
            </a:prstGeom>
            <a:noFill/>
            <a:ln w="28575">
              <a:solidFill>
                <a:schemeClr val="tx1"/>
              </a:solidFill>
              <a:round/>
              <a:headEnd/>
              <a:tailEnd/>
            </a:ln>
            <a:effectLst/>
          </p:spPr>
          <p:txBody>
            <a:bodyPr>
              <a:prstTxWarp prst="textNoShape">
                <a:avLst/>
              </a:prstTxWarp>
            </a:bodyPr>
            <a:lstStyle/>
            <a:p>
              <a:endParaRPr lang="en-US"/>
            </a:p>
          </p:txBody>
        </p:sp>
        <p:sp>
          <p:nvSpPr>
            <p:cNvPr id="543751" name="Oval 7"/>
            <p:cNvSpPr>
              <a:spLocks noChangeArrowheads="1"/>
            </p:cNvSpPr>
            <p:nvPr/>
          </p:nvSpPr>
          <p:spPr bwMode="auto">
            <a:xfrm>
              <a:off x="3445" y="1568"/>
              <a:ext cx="123" cy="128"/>
            </a:xfrm>
            <a:prstGeom prst="ellipse">
              <a:avLst/>
            </a:prstGeom>
            <a:solidFill>
              <a:schemeClr val="bg2"/>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2" name="Oval 8"/>
            <p:cNvSpPr>
              <a:spLocks noChangeArrowheads="1"/>
            </p:cNvSpPr>
            <p:nvPr/>
          </p:nvSpPr>
          <p:spPr bwMode="auto">
            <a:xfrm>
              <a:off x="3906" y="1880"/>
              <a:ext cx="123" cy="128"/>
            </a:xfrm>
            <a:prstGeom prst="ellipse">
              <a:avLst/>
            </a:prstGeom>
            <a:solidFill>
              <a:schemeClr val="bg2"/>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3" name="Oval 9"/>
            <p:cNvSpPr>
              <a:spLocks noChangeArrowheads="1"/>
            </p:cNvSpPr>
            <p:nvPr/>
          </p:nvSpPr>
          <p:spPr bwMode="auto">
            <a:xfrm>
              <a:off x="4207" y="2304"/>
              <a:ext cx="123" cy="128"/>
            </a:xfrm>
            <a:prstGeom prst="ellipse">
              <a:avLst/>
            </a:prstGeom>
            <a:solidFill>
              <a:schemeClr val="bg2"/>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4" name="Oval 10"/>
            <p:cNvSpPr>
              <a:spLocks noChangeArrowheads="1"/>
            </p:cNvSpPr>
            <p:nvPr/>
          </p:nvSpPr>
          <p:spPr bwMode="auto">
            <a:xfrm>
              <a:off x="4289" y="2456"/>
              <a:ext cx="123" cy="128"/>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5" name="Oval 11"/>
            <p:cNvSpPr>
              <a:spLocks noChangeArrowheads="1"/>
            </p:cNvSpPr>
            <p:nvPr/>
          </p:nvSpPr>
          <p:spPr bwMode="auto">
            <a:xfrm>
              <a:off x="4862" y="3317"/>
              <a:ext cx="123" cy="128"/>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6" name="Text Box 12"/>
            <p:cNvSpPr txBox="1">
              <a:spLocks noChangeArrowheads="1"/>
            </p:cNvSpPr>
            <p:nvPr/>
          </p:nvSpPr>
          <p:spPr bwMode="auto">
            <a:xfrm>
              <a:off x="3512" y="1348"/>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a</a:t>
              </a:r>
            </a:p>
          </p:txBody>
        </p:sp>
        <p:sp>
          <p:nvSpPr>
            <p:cNvPr id="543757" name="Text Box 13"/>
            <p:cNvSpPr txBox="1">
              <a:spLocks noChangeArrowheads="1"/>
            </p:cNvSpPr>
            <p:nvPr/>
          </p:nvSpPr>
          <p:spPr bwMode="auto">
            <a:xfrm>
              <a:off x="4016" y="1666"/>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b</a:t>
              </a:r>
            </a:p>
          </p:txBody>
        </p:sp>
        <p:sp>
          <p:nvSpPr>
            <p:cNvPr id="543758" name="Text Box 14"/>
            <p:cNvSpPr txBox="1">
              <a:spLocks noChangeArrowheads="1"/>
            </p:cNvSpPr>
            <p:nvPr/>
          </p:nvSpPr>
          <p:spPr bwMode="auto">
            <a:xfrm>
              <a:off x="4307" y="2095"/>
              <a:ext cx="212"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c</a:t>
              </a:r>
            </a:p>
          </p:txBody>
        </p:sp>
        <p:sp>
          <p:nvSpPr>
            <p:cNvPr id="543759" name="Text Box 15"/>
            <p:cNvSpPr txBox="1">
              <a:spLocks noChangeArrowheads="1"/>
            </p:cNvSpPr>
            <p:nvPr/>
          </p:nvSpPr>
          <p:spPr bwMode="auto">
            <a:xfrm>
              <a:off x="4422" y="2326"/>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d</a:t>
              </a:r>
            </a:p>
          </p:txBody>
        </p:sp>
        <p:sp>
          <p:nvSpPr>
            <p:cNvPr id="543760" name="Text Box 16"/>
            <p:cNvSpPr txBox="1">
              <a:spLocks noChangeArrowheads="1"/>
            </p:cNvSpPr>
            <p:nvPr/>
          </p:nvSpPr>
          <p:spPr bwMode="auto">
            <a:xfrm>
              <a:off x="4990" y="3257"/>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e</a:t>
              </a:r>
            </a:p>
          </p:txBody>
        </p:sp>
      </p:grpSp>
      <p:sp>
        <p:nvSpPr>
          <p:cNvPr id="543762" name="Rectangle 18"/>
          <p:cNvSpPr>
            <a:spLocks noChangeArrowheads="1"/>
          </p:cNvSpPr>
          <p:nvPr/>
        </p:nvSpPr>
        <p:spPr bwMode="auto">
          <a:xfrm>
            <a:off x="6561138" y="3232150"/>
            <a:ext cx="1404937" cy="457200"/>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1D mesh</a:t>
            </a:r>
          </a:p>
        </p:txBody>
      </p:sp>
      <p:sp>
        <p:nvSpPr>
          <p:cNvPr id="543763" name="Line 19"/>
          <p:cNvSpPr>
            <a:spLocks noChangeShapeType="1"/>
          </p:cNvSpPr>
          <p:nvPr/>
        </p:nvSpPr>
        <p:spPr bwMode="auto">
          <a:xfrm flipH="1">
            <a:off x="6278563" y="3997325"/>
            <a:ext cx="873125" cy="449263"/>
          </a:xfrm>
          <a:prstGeom prst="line">
            <a:avLst/>
          </a:prstGeom>
          <a:noFill/>
          <a:ln w="19050">
            <a:solidFill>
              <a:schemeClr val="tx1"/>
            </a:solidFill>
            <a:prstDash val="sysDot"/>
            <a:round/>
            <a:headEnd/>
            <a:tailEnd/>
          </a:ln>
          <a:effectLst/>
        </p:spPr>
        <p:txBody>
          <a:bodyPr>
            <a:prstTxWarp prst="textNoShape">
              <a:avLst/>
            </a:prstTxWarp>
          </a:bodyPr>
          <a:lstStyle/>
          <a:p>
            <a:endParaRPr lang="en-US"/>
          </a:p>
        </p:txBody>
      </p:sp>
      <p:sp>
        <p:nvSpPr>
          <p:cNvPr id="543764" name="Rectangle 20"/>
          <p:cNvSpPr>
            <a:spLocks noChangeArrowheads="1"/>
          </p:cNvSpPr>
          <p:nvPr/>
        </p:nvSpPr>
        <p:spPr bwMode="auto">
          <a:xfrm>
            <a:off x="5500688" y="4341813"/>
            <a:ext cx="1354137" cy="457200"/>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interface</a:t>
            </a:r>
          </a:p>
        </p:txBody>
      </p:sp>
      <p:sp>
        <p:nvSpPr>
          <p:cNvPr id="543765" name="Rectangle 21"/>
          <p:cNvSpPr>
            <a:spLocks noChangeArrowheads="1"/>
          </p:cNvSpPr>
          <p:nvPr/>
        </p:nvSpPr>
        <p:spPr bwMode="auto">
          <a:xfrm>
            <a:off x="4922838" y="2392363"/>
            <a:ext cx="466725" cy="457200"/>
          </a:xfrm>
          <a:prstGeom prst="rect">
            <a:avLst/>
          </a:prstGeom>
          <a:noFill/>
          <a:ln w="9525">
            <a:noFill/>
            <a:miter lim="800000"/>
            <a:headEnd/>
            <a:tailEnd/>
          </a:ln>
          <a:effectLst/>
        </p:spPr>
        <p:txBody>
          <a:bodyPr wrap="none">
            <a:prstTxWarp prst="textNoShape">
              <a:avLst/>
            </a:prstTxWarp>
            <a:spAutoFit/>
          </a:bodyPr>
          <a:lstStyle/>
          <a:p>
            <a:r>
              <a:rPr lang="en-US" i="1">
                <a:latin typeface="Arial" pitchFamily="-65" charset="0"/>
              </a:rPr>
              <a:t>p</a:t>
            </a:r>
            <a:r>
              <a:rPr lang="en-US" i="1" baseline="-25000">
                <a:latin typeface="Arial" pitchFamily="-65" charset="0"/>
              </a:rPr>
              <a:t>1</a:t>
            </a:r>
          </a:p>
        </p:txBody>
      </p:sp>
      <p:sp>
        <p:nvSpPr>
          <p:cNvPr id="543766" name="Rectangle 22"/>
          <p:cNvSpPr>
            <a:spLocks noChangeArrowheads="1"/>
          </p:cNvSpPr>
          <p:nvPr/>
        </p:nvSpPr>
        <p:spPr bwMode="auto">
          <a:xfrm>
            <a:off x="7473950" y="5754688"/>
            <a:ext cx="466725" cy="457200"/>
          </a:xfrm>
          <a:prstGeom prst="rect">
            <a:avLst/>
          </a:prstGeom>
          <a:noFill/>
          <a:ln w="9525">
            <a:noFill/>
            <a:miter lim="800000"/>
            <a:headEnd/>
            <a:tailEnd/>
          </a:ln>
          <a:effectLst/>
        </p:spPr>
        <p:txBody>
          <a:bodyPr wrap="none">
            <a:prstTxWarp prst="textNoShape">
              <a:avLst/>
            </a:prstTxWarp>
            <a:spAutoFit/>
          </a:bodyPr>
          <a:lstStyle/>
          <a:p>
            <a:r>
              <a:rPr lang="en-US" i="1">
                <a:latin typeface="Arial" pitchFamily="-65" charset="0"/>
              </a:rPr>
              <a:t>p</a:t>
            </a:r>
            <a:r>
              <a:rPr lang="en-US" i="1" baseline="-25000">
                <a:latin typeface="Arial" pitchFamily="-65" charset="0"/>
              </a:rPr>
              <a:t>2</a:t>
            </a:r>
          </a:p>
        </p:txBody>
      </p:sp>
      <p:sp>
        <p:nvSpPr>
          <p:cNvPr id="23" name="Slide Number Placeholder 22"/>
          <p:cNvSpPr>
            <a:spLocks noGrp="1"/>
          </p:cNvSpPr>
          <p:nvPr>
            <p:ph type="sldNum" sz="quarter" idx="12"/>
          </p:nvPr>
        </p:nvSpPr>
        <p:spPr/>
        <p:txBody>
          <a:bodyPr/>
          <a:lstStyle/>
          <a:p>
            <a:fld id="{223FD816-CC6A-BF43-8241-637E3E7EAA5A}" type="slidenum">
              <a:rPr lang="en-US" smtClean="0"/>
              <a:pPr/>
              <a:t>79</a:t>
            </a:fld>
            <a:endParaRPr lang="en-US"/>
          </a:p>
        </p:txBody>
      </p:sp>
      <p:sp>
        <p:nvSpPr>
          <p:cNvPr id="24" name="Date Placeholder 23"/>
          <p:cNvSpPr>
            <a:spLocks noGrp="1"/>
          </p:cNvSpPr>
          <p:nvPr>
            <p:ph type="dt" sz="half" idx="10"/>
          </p:nvPr>
        </p:nvSpPr>
        <p:spPr/>
        <p:txBody>
          <a:bodyPr/>
          <a:lstStyle/>
          <a:p>
            <a:fld id="{8BD55A80-09C5-8649-A699-560A07E05973}" type="datetime1">
              <a:rPr lang="en-US" smtClean="0"/>
              <a:pPr/>
              <a:t>5/2/24</a:t>
            </a:fld>
            <a:endParaRPr lang="en-US"/>
          </a:p>
        </p:txBody>
      </p:sp>
      <p:sp>
        <p:nvSpPr>
          <p:cNvPr id="25" name="Footer Placeholder 24"/>
          <p:cNvSpPr>
            <a:spLocks noGrp="1"/>
          </p:cNvSpPr>
          <p:nvPr>
            <p:ph type="ftr" sz="quarter" idx="11"/>
          </p:nvPr>
        </p:nvSpPr>
        <p:spPr/>
        <p:txBody>
          <a:bodyPr/>
          <a:lstStyle/>
          <a:p>
            <a:endParaRPr lang="en-US" dirty="0"/>
          </a:p>
          <a:p>
            <a:r>
              <a:rPr lang="en-US" dirty="0"/>
              <a:t>FEM-FVM framework</a:t>
            </a:r>
          </a:p>
          <a:p>
            <a:endParaRPr lang="en-US" dirty="0"/>
          </a:p>
        </p:txBody>
      </p:sp>
    </p:spTree>
    <p:extLst>
      <p:ext uri="{BB962C8B-B14F-4D97-AF65-F5344CB8AC3E}">
        <p14:creationId xmlns:p14="http://schemas.microsoft.com/office/powerpoint/2010/main" val="3916989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1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0" y="-1"/>
            <a:ext cx="9177959" cy="6886407"/>
          </a:xfrm>
          <a:prstGeom prst="rect">
            <a:avLst/>
          </a:prstGeom>
        </p:spPr>
      </p:pic>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457200" y="914400"/>
            <a:ext cx="8229600" cy="5578475"/>
          </a:xfrm>
        </p:spPr>
        <p:txBody>
          <a:bodyPr>
            <a:normAutofit/>
          </a:bodyPr>
          <a:lstStyle/>
          <a:p>
            <a:pPr marL="457200" indent="-457200">
              <a:spcBef>
                <a:spcPts val="1300"/>
              </a:spcBef>
              <a:spcAft>
                <a:spcPts val="1800"/>
              </a:spcAft>
              <a:buFont typeface="+mj-lt"/>
              <a:buAutoNum type="arabicPeriod"/>
            </a:pPr>
            <a:r>
              <a:rPr lang="en-US" sz="2400" dirty="0"/>
              <a:t>Introduction</a:t>
            </a:r>
          </a:p>
          <a:p>
            <a:pPr marL="457200" indent="-457200">
              <a:spcBef>
                <a:spcPts val="1300"/>
              </a:spcBef>
              <a:spcAft>
                <a:spcPts val="1800"/>
              </a:spcAft>
              <a:buFont typeface="+mj-lt"/>
              <a:buAutoNum type="arabicPeriod"/>
            </a:pPr>
            <a:r>
              <a:rPr lang="en-US" sz="2400" dirty="0"/>
              <a:t>CSMP variable types and their management</a:t>
            </a:r>
          </a:p>
          <a:p>
            <a:pPr marL="457200" indent="-457200">
              <a:spcBef>
                <a:spcPts val="1300"/>
              </a:spcBef>
              <a:spcAft>
                <a:spcPts val="1800"/>
              </a:spcAft>
              <a:buFont typeface="+mj-lt"/>
              <a:buAutoNum type="arabicPeriod"/>
            </a:pPr>
            <a:r>
              <a:rPr lang="en-US" sz="2400" dirty="0"/>
              <a:t>The Model, its Regions and Boundaries</a:t>
            </a:r>
          </a:p>
          <a:p>
            <a:pPr marL="457200" indent="-457200">
              <a:spcBef>
                <a:spcPts val="1300"/>
              </a:spcBef>
              <a:spcAft>
                <a:spcPts val="1800"/>
              </a:spcAft>
              <a:buFont typeface="+mj-lt"/>
              <a:buAutoNum type="arabicPeriod"/>
            </a:pPr>
            <a:r>
              <a:rPr lang="en-US" sz="2400" dirty="0"/>
              <a:t>Hybrid finite element – finite volume discretization</a:t>
            </a:r>
          </a:p>
          <a:p>
            <a:pPr marL="457200" indent="-457200">
              <a:spcBef>
                <a:spcPts val="1300"/>
              </a:spcBef>
              <a:spcAft>
                <a:spcPts val="1800"/>
              </a:spcAft>
              <a:buFont typeface="+mj-lt"/>
              <a:buAutoNum type="arabicPeriod"/>
            </a:pPr>
            <a:r>
              <a:rPr lang="en-US" sz="2400" dirty="0">
                <a:solidFill>
                  <a:srgbClr val="FFFF00"/>
                </a:solidFill>
              </a:rPr>
              <a:t>Solving PDE’s: the </a:t>
            </a:r>
            <a:r>
              <a:rPr lang="en-US" sz="2400" dirty="0" err="1">
                <a:solidFill>
                  <a:srgbClr val="FFFF00"/>
                </a:solidFill>
              </a:rPr>
              <a:t>PDE_Integrator</a:t>
            </a:r>
            <a:r>
              <a:rPr lang="en-US" sz="2400" dirty="0">
                <a:solidFill>
                  <a:srgbClr val="FFFF00"/>
                </a:solidFill>
              </a:rPr>
              <a:t> framework</a:t>
            </a:r>
          </a:p>
          <a:p>
            <a:pPr marL="457200" indent="-457200">
              <a:spcBef>
                <a:spcPts val="1300"/>
              </a:spcBef>
              <a:spcAft>
                <a:spcPts val="1800"/>
              </a:spcAft>
              <a:buFont typeface="+mj-lt"/>
              <a:buAutoNum type="arabicPeriod"/>
            </a:pPr>
            <a:r>
              <a:rPr lang="en-US" sz="2400" dirty="0"/>
              <a:t>Constitutive relationships: Visitors etc.</a:t>
            </a:r>
          </a:p>
          <a:p>
            <a:pPr marL="457200" indent="-457200">
              <a:spcBef>
                <a:spcPts val="1300"/>
              </a:spcBef>
              <a:spcAft>
                <a:spcPts val="1800"/>
              </a:spcAft>
              <a:buFont typeface="+mj-lt"/>
              <a:buAutoNum type="arabicPeriod"/>
            </a:pPr>
            <a:r>
              <a:rPr lang="en-US" sz="2400" dirty="0"/>
              <a:t>Advanced topics</a:t>
            </a:r>
          </a:p>
          <a:p>
            <a:pPr marL="457200" indent="-457200">
              <a:spcBef>
                <a:spcPts val="1300"/>
              </a:spcBef>
              <a:spcAft>
                <a:spcPts val="1800"/>
              </a:spcAft>
              <a:buFont typeface="+mj-lt"/>
              <a:buAutoNum type="arabicPeriod"/>
            </a:pPr>
            <a:endParaRPr lang="en-US" sz="2400"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a:xfrm>
            <a:off x="3124200" y="6492875"/>
            <a:ext cx="3464024" cy="365125"/>
          </a:xfrm>
        </p:spPr>
        <p:txBody>
          <a:bodyPr/>
          <a:lstStyle/>
          <a:p>
            <a:r>
              <a:rPr lang="en-US" dirty="0"/>
              <a:t>CSMP++ API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80</a:t>
            </a:fld>
            <a:endParaRPr lang="en-US"/>
          </a:p>
        </p:txBody>
      </p:sp>
    </p:spTree>
    <p:extLst>
      <p:ext uri="{BB962C8B-B14F-4D97-AF65-F5344CB8AC3E}">
        <p14:creationId xmlns:p14="http://schemas.microsoft.com/office/powerpoint/2010/main" val="13826683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PDE_Integrator</a:t>
            </a:r>
            <a:r>
              <a:rPr lang="en-US" dirty="0"/>
              <a:t> -&gt; </a:t>
            </a:r>
            <a:r>
              <a:rPr lang="en-US" dirty="0" err="1"/>
              <a:t>PDE_Integrator</a:t>
            </a:r>
            <a:endParaRPr lang="en-US" dirty="0"/>
          </a:p>
        </p:txBody>
      </p:sp>
      <p:sp>
        <p:nvSpPr>
          <p:cNvPr id="3" name="Date Placeholder 2"/>
          <p:cNvSpPr>
            <a:spLocks noGrp="1"/>
          </p:cNvSpPr>
          <p:nvPr>
            <p:ph type="dt" sz="half" idx="10"/>
          </p:nvPr>
        </p:nvSpPr>
        <p:spPr/>
        <p:txBody>
          <a:bodyPr/>
          <a:lstStyle/>
          <a:p>
            <a:fld id="{C1762EE7-3E26-8344-9AFB-A62088F617B5}" type="datetime1">
              <a:rPr lang="en-US" smtClean="0"/>
              <a:pPr/>
              <a:t>5/2/24</a:t>
            </a:fld>
            <a:endParaRPr lang="en-US"/>
          </a:p>
        </p:txBody>
      </p:sp>
      <p:sp>
        <p:nvSpPr>
          <p:cNvPr id="4" name="Footer Placeholder 3"/>
          <p:cNvSpPr>
            <a:spLocks noGrp="1"/>
          </p:cNvSpPr>
          <p:nvPr>
            <p:ph type="ftr" sz="quarter" idx="11"/>
          </p:nvPr>
        </p:nvSpPr>
        <p:spPr/>
        <p:txBody>
          <a:bodyPr/>
          <a:lstStyle/>
          <a:p>
            <a:r>
              <a:rPr lang="en-US" dirty="0" err="1"/>
              <a:t>PDE_Integrator</a:t>
            </a:r>
            <a:r>
              <a:rPr lang="en-US" dirty="0"/>
              <a:t> framework</a:t>
            </a:r>
          </a:p>
        </p:txBody>
      </p:sp>
      <p:sp>
        <p:nvSpPr>
          <p:cNvPr id="5" name="Slide Number Placeholder 4"/>
          <p:cNvSpPr>
            <a:spLocks noGrp="1"/>
          </p:cNvSpPr>
          <p:nvPr>
            <p:ph type="sldNum" sz="quarter" idx="12"/>
          </p:nvPr>
        </p:nvSpPr>
        <p:spPr/>
        <p:txBody>
          <a:bodyPr/>
          <a:lstStyle/>
          <a:p>
            <a:fld id="{223FD816-CC6A-BF43-8241-637E3E7EAA5A}" type="slidenum">
              <a:rPr lang="en-US" smtClean="0"/>
              <a:pPr/>
              <a:t>81</a:t>
            </a:fld>
            <a:endParaRPr lang="en-US"/>
          </a:p>
        </p:txBody>
      </p:sp>
      <p:sp>
        <p:nvSpPr>
          <p:cNvPr id="6" name="TextBox 5"/>
          <p:cNvSpPr txBox="1"/>
          <p:nvPr/>
        </p:nvSpPr>
        <p:spPr>
          <a:xfrm>
            <a:off x="1247542" y="2667000"/>
            <a:ext cx="2903359" cy="369332"/>
          </a:xfrm>
          <a:prstGeom prst="rect">
            <a:avLst/>
          </a:prstGeom>
          <a:noFill/>
          <a:ln w="12700" cap="flat" cmpd="sng" algn="ctr">
            <a:solidFill>
              <a:schemeClr val="tx1"/>
            </a:solidFill>
            <a:prstDash val="solid"/>
            <a:round/>
            <a:headEnd type="none" w="med" len="med"/>
            <a:tailEnd type="none" w="med" len="med"/>
          </a:ln>
        </p:spPr>
        <p:txBody>
          <a:bodyPr wrap="none" rtlCol="0">
            <a:spAutoFit/>
          </a:bodyPr>
          <a:lstStyle/>
          <a:p>
            <a:r>
              <a:rPr lang="en-US" dirty="0" err="1">
                <a:latin typeface="Arial"/>
                <a:cs typeface="Arial"/>
              </a:rPr>
              <a:t>PicardAlgorithm</a:t>
            </a:r>
            <a:r>
              <a:rPr lang="en-US" dirty="0">
                <a:latin typeface="Arial"/>
                <a:cs typeface="Arial"/>
              </a:rPr>
              <a:t>&lt;uint32_t&gt;</a:t>
            </a:r>
          </a:p>
        </p:txBody>
      </p:sp>
      <p:sp>
        <p:nvSpPr>
          <p:cNvPr id="7" name="TextBox 6"/>
          <p:cNvSpPr txBox="1"/>
          <p:nvPr/>
        </p:nvSpPr>
        <p:spPr>
          <a:xfrm>
            <a:off x="683568" y="1307068"/>
            <a:ext cx="8148384" cy="369332"/>
          </a:xfrm>
          <a:prstGeom prst="rect">
            <a:avLst/>
          </a:prstGeom>
          <a:noFill/>
          <a:ln w="12700" cap="flat" cmpd="sng" algn="ctr">
            <a:solidFill>
              <a:schemeClr val="tx1"/>
            </a:solidFill>
            <a:prstDash val="solid"/>
            <a:round/>
            <a:headEnd type="none" w="med" len="med"/>
            <a:tailEnd type="none" w="med" len="med"/>
          </a:ln>
        </p:spPr>
        <p:txBody>
          <a:bodyPr wrap="none" rtlCol="0">
            <a:spAutoFit/>
          </a:bodyPr>
          <a:lstStyle/>
          <a:p>
            <a:r>
              <a:rPr lang="en-US" dirty="0" err="1">
                <a:latin typeface="Arial"/>
                <a:cs typeface="Arial"/>
              </a:rPr>
              <a:t>PDE_Integrator</a:t>
            </a:r>
            <a:r>
              <a:rPr lang="en-US" dirty="0">
                <a:latin typeface="Arial"/>
                <a:cs typeface="Arial"/>
              </a:rPr>
              <a:t>&lt;uint32_t, template&lt;uint32_t&gt; class SIMPLICIAL_COMPLEX&gt;</a:t>
            </a:r>
          </a:p>
        </p:txBody>
      </p:sp>
      <p:sp>
        <p:nvSpPr>
          <p:cNvPr id="8" name="TextBox 7"/>
          <p:cNvSpPr txBox="1"/>
          <p:nvPr/>
        </p:nvSpPr>
        <p:spPr>
          <a:xfrm>
            <a:off x="1189778" y="3549134"/>
            <a:ext cx="3018775" cy="369332"/>
          </a:xfrm>
          <a:prstGeom prst="rect">
            <a:avLst/>
          </a:prstGeom>
          <a:noFill/>
          <a:ln w="12700" cap="flat" cmpd="sng" algn="ctr">
            <a:solidFill>
              <a:schemeClr val="tx1"/>
            </a:solidFill>
            <a:prstDash val="solid"/>
            <a:round/>
            <a:headEnd type="none" w="med" len="med"/>
            <a:tailEnd type="none" w="med" len="med"/>
          </a:ln>
        </p:spPr>
        <p:txBody>
          <a:bodyPr wrap="none" rtlCol="0">
            <a:spAutoFit/>
          </a:bodyPr>
          <a:lstStyle/>
          <a:p>
            <a:r>
              <a:rPr lang="en-US" dirty="0" err="1">
                <a:latin typeface="Arial"/>
                <a:cs typeface="Arial"/>
              </a:rPr>
              <a:t>UpwindAlgorithm</a:t>
            </a:r>
            <a:r>
              <a:rPr lang="en-US" dirty="0">
                <a:latin typeface="Arial"/>
                <a:cs typeface="Arial"/>
              </a:rPr>
              <a:t>&lt;uint32_t&gt;</a:t>
            </a:r>
          </a:p>
        </p:txBody>
      </p:sp>
      <p:sp>
        <p:nvSpPr>
          <p:cNvPr id="9" name="TextBox 8"/>
          <p:cNvSpPr txBox="1"/>
          <p:nvPr/>
        </p:nvSpPr>
        <p:spPr>
          <a:xfrm>
            <a:off x="5321651" y="3733800"/>
            <a:ext cx="3031599" cy="369332"/>
          </a:xfrm>
          <a:prstGeom prst="rect">
            <a:avLst/>
          </a:prstGeom>
          <a:noFill/>
          <a:ln w="12700" cap="flat" cmpd="sng" algn="ctr">
            <a:solidFill>
              <a:schemeClr val="tx1"/>
            </a:solidFill>
            <a:prstDash val="solid"/>
            <a:round/>
            <a:headEnd type="none" w="med" len="med"/>
            <a:tailEnd type="none" w="med" len="med"/>
          </a:ln>
        </p:spPr>
        <p:txBody>
          <a:bodyPr wrap="none" rtlCol="0">
            <a:spAutoFit/>
          </a:bodyPr>
          <a:lstStyle/>
          <a:p>
            <a:r>
              <a:rPr lang="en-US" dirty="0" err="1">
                <a:latin typeface="Arial"/>
                <a:cs typeface="Arial"/>
              </a:rPr>
              <a:t>NewtonAlgorithm</a:t>
            </a:r>
            <a:r>
              <a:rPr lang="en-US" dirty="0">
                <a:latin typeface="Arial"/>
                <a:cs typeface="Arial"/>
              </a:rPr>
              <a:t>&lt;uint32_t&gt;</a:t>
            </a:r>
          </a:p>
        </p:txBody>
      </p:sp>
      <p:sp>
        <p:nvSpPr>
          <p:cNvPr id="10" name="TextBox 9"/>
          <p:cNvSpPr txBox="1"/>
          <p:nvPr/>
        </p:nvSpPr>
        <p:spPr>
          <a:xfrm>
            <a:off x="4724400" y="2667000"/>
            <a:ext cx="3070071" cy="369332"/>
          </a:xfrm>
          <a:prstGeom prst="rect">
            <a:avLst/>
          </a:prstGeom>
          <a:noFill/>
          <a:ln w="12700" cap="flat" cmpd="sng" algn="ctr">
            <a:solidFill>
              <a:schemeClr val="tx1"/>
            </a:solidFill>
            <a:prstDash val="solid"/>
            <a:round/>
            <a:headEnd type="none" w="med" len="med"/>
            <a:tailEnd type="none" w="med" len="med"/>
          </a:ln>
        </p:spPr>
        <p:txBody>
          <a:bodyPr wrap="none" rtlCol="0">
            <a:spAutoFit/>
          </a:bodyPr>
          <a:lstStyle/>
          <a:p>
            <a:r>
              <a:rPr lang="en-US" dirty="0" err="1">
                <a:latin typeface="Arial"/>
                <a:cs typeface="Arial"/>
              </a:rPr>
              <a:t>IterativeAlgorithm</a:t>
            </a:r>
            <a:r>
              <a:rPr lang="en-US" dirty="0">
                <a:latin typeface="Arial"/>
                <a:cs typeface="Arial"/>
              </a:rPr>
              <a:t>&lt;uint32_t&gt;</a:t>
            </a:r>
          </a:p>
        </p:txBody>
      </p:sp>
      <p:sp>
        <p:nvSpPr>
          <p:cNvPr id="11" name="TextBox 10"/>
          <p:cNvSpPr txBox="1"/>
          <p:nvPr/>
        </p:nvSpPr>
        <p:spPr>
          <a:xfrm>
            <a:off x="457200" y="4495800"/>
            <a:ext cx="3557384" cy="369332"/>
          </a:xfrm>
          <a:prstGeom prst="rect">
            <a:avLst/>
          </a:prstGeom>
          <a:noFill/>
          <a:ln w="12700" cap="flat" cmpd="sng" algn="ctr">
            <a:solidFill>
              <a:schemeClr val="tx1"/>
            </a:solidFill>
            <a:prstDash val="solid"/>
            <a:round/>
            <a:headEnd type="none" w="med" len="med"/>
            <a:tailEnd type="none" w="med" len="med"/>
          </a:ln>
        </p:spPr>
        <p:txBody>
          <a:bodyPr wrap="none" rtlCol="0">
            <a:spAutoFit/>
          </a:bodyPr>
          <a:lstStyle/>
          <a:p>
            <a:r>
              <a:rPr lang="en-US" dirty="0" err="1">
                <a:latin typeface="Arial"/>
                <a:cs typeface="Arial"/>
              </a:rPr>
              <a:t>DiscontinuityAlgorithm</a:t>
            </a:r>
            <a:r>
              <a:rPr lang="en-US" dirty="0">
                <a:latin typeface="Arial"/>
                <a:cs typeface="Arial"/>
              </a:rPr>
              <a:t>&lt;uint32_t&gt;</a:t>
            </a:r>
          </a:p>
        </p:txBody>
      </p:sp>
      <p:cxnSp>
        <p:nvCxnSpPr>
          <p:cNvPr id="13" name="Elbow Connector 12"/>
          <p:cNvCxnSpPr>
            <a:stCxn id="10" idx="0"/>
            <a:endCxn id="7" idx="3"/>
          </p:cNvCxnSpPr>
          <p:nvPr/>
        </p:nvCxnSpPr>
        <p:spPr>
          <a:xfrm rot="5400000" flipH="1" flipV="1">
            <a:off x="6958061" y="793109"/>
            <a:ext cx="1175266" cy="2572516"/>
          </a:xfrm>
          <a:prstGeom prst="bentConnector4">
            <a:avLst>
              <a:gd name="adj1" fmla="val 42144"/>
              <a:gd name="adj2" fmla="val 108886"/>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Elbow Connector 15"/>
          <p:cNvCxnSpPr>
            <a:stCxn id="9" idx="0"/>
          </p:cNvCxnSpPr>
          <p:nvPr/>
        </p:nvCxnSpPr>
        <p:spPr>
          <a:xfrm rot="16200000" flipV="1">
            <a:off x="6145531" y="3041879"/>
            <a:ext cx="697469" cy="686373"/>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Elbow Connector 18"/>
          <p:cNvCxnSpPr>
            <a:stCxn id="6" idx="0"/>
            <a:endCxn id="10" idx="1"/>
          </p:cNvCxnSpPr>
          <p:nvPr/>
        </p:nvCxnSpPr>
        <p:spPr>
          <a:xfrm rot="16200000" flipH="1">
            <a:off x="3619478" y="1746744"/>
            <a:ext cx="184666" cy="2025178"/>
          </a:xfrm>
          <a:prstGeom prst="bentConnector4">
            <a:avLst>
              <a:gd name="adj1" fmla="val -123791"/>
              <a:gd name="adj2" fmla="val 8584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283968" y="4941168"/>
            <a:ext cx="4402832" cy="1477328"/>
          </a:xfrm>
          <a:prstGeom prst="rect">
            <a:avLst/>
          </a:prstGeom>
          <a:noFill/>
        </p:spPr>
        <p:txBody>
          <a:bodyPr wrap="square" rtlCol="0">
            <a:spAutoFit/>
          </a:bodyPr>
          <a:lstStyle/>
          <a:p>
            <a:r>
              <a:rPr lang="en-US" dirty="0" err="1">
                <a:solidFill>
                  <a:srgbClr val="000090"/>
                </a:solidFill>
                <a:latin typeface="Arial"/>
                <a:cs typeface="Arial"/>
              </a:rPr>
              <a:t>SteadyStateDiffusionSolver</a:t>
            </a:r>
            <a:endParaRPr lang="en-US" dirty="0">
              <a:solidFill>
                <a:srgbClr val="000090"/>
              </a:solidFill>
              <a:latin typeface="Arial"/>
              <a:cs typeface="Arial"/>
            </a:endParaRPr>
          </a:p>
          <a:p>
            <a:r>
              <a:rPr lang="en-US" dirty="0" err="1">
                <a:solidFill>
                  <a:srgbClr val="000090"/>
                </a:solidFill>
                <a:latin typeface="Arial"/>
                <a:cs typeface="Arial"/>
              </a:rPr>
              <a:t>TransientDiffusionSolver</a:t>
            </a:r>
            <a:endParaRPr lang="en-US" dirty="0">
              <a:solidFill>
                <a:srgbClr val="000090"/>
              </a:solidFill>
              <a:latin typeface="Arial"/>
              <a:cs typeface="Arial"/>
            </a:endParaRPr>
          </a:p>
          <a:p>
            <a:endParaRPr lang="en-US" dirty="0">
              <a:solidFill>
                <a:srgbClr val="000090"/>
              </a:solidFill>
              <a:latin typeface="Arial"/>
              <a:cs typeface="Arial"/>
            </a:endParaRPr>
          </a:p>
          <a:p>
            <a:r>
              <a:rPr lang="en-US" dirty="0" err="1">
                <a:solidFill>
                  <a:srgbClr val="000090"/>
                </a:solidFill>
                <a:latin typeface="Arial"/>
                <a:cs typeface="Arial"/>
              </a:rPr>
              <a:t>SteadyStateAdvectionDiffusionSolver</a:t>
            </a:r>
            <a:endParaRPr lang="en-US" dirty="0">
              <a:solidFill>
                <a:srgbClr val="000090"/>
              </a:solidFill>
              <a:latin typeface="Arial"/>
              <a:cs typeface="Arial"/>
            </a:endParaRPr>
          </a:p>
          <a:p>
            <a:r>
              <a:rPr lang="en-US" dirty="0" err="1">
                <a:solidFill>
                  <a:srgbClr val="000090"/>
                </a:solidFill>
                <a:latin typeface="Arial"/>
                <a:cs typeface="Arial"/>
              </a:rPr>
              <a:t>TransientAdvectionDiffusionSolver</a:t>
            </a:r>
            <a:endParaRPr lang="en-US" dirty="0">
              <a:solidFill>
                <a:srgbClr val="000090"/>
              </a:solidFill>
              <a:latin typeface="Arial"/>
              <a:cs typeface="Arial"/>
            </a:endParaRPr>
          </a:p>
        </p:txBody>
      </p:sp>
      <p:sp>
        <p:nvSpPr>
          <p:cNvPr id="12" name="TextBox 11"/>
          <p:cNvSpPr txBox="1"/>
          <p:nvPr/>
        </p:nvSpPr>
        <p:spPr>
          <a:xfrm>
            <a:off x="4211960" y="4501071"/>
            <a:ext cx="4339988" cy="369332"/>
          </a:xfrm>
          <a:prstGeom prst="rect">
            <a:avLst/>
          </a:prstGeom>
          <a:noFill/>
        </p:spPr>
        <p:txBody>
          <a:bodyPr wrap="none" rtlCol="0">
            <a:spAutoFit/>
          </a:bodyPr>
          <a:lstStyle/>
          <a:p>
            <a:r>
              <a:rPr lang="en-GB" dirty="0"/>
              <a:t>higher level classes derived from Integrators</a:t>
            </a:r>
          </a:p>
        </p:txBody>
      </p:sp>
      <p:sp>
        <p:nvSpPr>
          <p:cNvPr id="14" name="TextBox 13"/>
          <p:cNvSpPr txBox="1"/>
          <p:nvPr/>
        </p:nvSpPr>
        <p:spPr>
          <a:xfrm>
            <a:off x="1388128" y="5880844"/>
            <a:ext cx="2880320" cy="523220"/>
          </a:xfrm>
          <a:prstGeom prst="rect">
            <a:avLst/>
          </a:prstGeom>
          <a:noFill/>
        </p:spPr>
        <p:txBody>
          <a:bodyPr wrap="square" rtlCol="0">
            <a:spAutoFit/>
          </a:bodyPr>
          <a:lstStyle/>
          <a:p>
            <a:r>
              <a:rPr lang="en-US" sz="1400" dirty="0">
                <a:solidFill>
                  <a:srgbClr val="FF0000"/>
                </a:solidFill>
              </a:rPr>
              <a:t>add checks that these guys are not applied at </a:t>
            </a:r>
            <a:r>
              <a:rPr lang="en-US" sz="1400" dirty="0" err="1">
                <a:solidFill>
                  <a:srgbClr val="FF0000"/>
                </a:solidFill>
              </a:rPr>
              <a:t>Peclet</a:t>
            </a:r>
            <a:r>
              <a:rPr lang="en-US" sz="1400" dirty="0">
                <a:solidFill>
                  <a:srgbClr val="FF0000"/>
                </a:solidFill>
              </a:rPr>
              <a:t> numbers &gt; 1</a:t>
            </a:r>
          </a:p>
        </p:txBody>
      </p:sp>
    </p:spTree>
    <p:extLst>
      <p:ext uri="{BB962C8B-B14F-4D97-AF65-F5344CB8AC3E}">
        <p14:creationId xmlns:p14="http://schemas.microsoft.com/office/powerpoint/2010/main" val="7871256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p:spPr>
        <p:txBody>
          <a:bodyPr/>
          <a:lstStyle/>
          <a:p>
            <a:fld id="{7E845F40-2000-E343-8B8A-78FAFEAE9363}" type="slidenum">
              <a:rPr lang="en-US" smtClean="0"/>
              <a:pPr/>
              <a:t>82</a:t>
            </a:fld>
            <a:endParaRPr lang="en-US"/>
          </a:p>
        </p:txBody>
      </p:sp>
      <p:sp>
        <p:nvSpPr>
          <p:cNvPr id="60419" name="Rectangle 2"/>
          <p:cNvSpPr>
            <a:spLocks noGrp="1" noChangeArrowheads="1"/>
          </p:cNvSpPr>
          <p:nvPr>
            <p:ph type="title"/>
          </p:nvPr>
        </p:nvSpPr>
        <p:spPr>
          <a:xfrm>
            <a:off x="457200" y="149225"/>
            <a:ext cx="8686799" cy="623888"/>
          </a:xfrm>
        </p:spPr>
        <p:txBody>
          <a:bodyPr>
            <a:normAutofit fontScale="90000"/>
          </a:bodyPr>
          <a:lstStyle/>
          <a:p>
            <a:r>
              <a:rPr lang="en-US" sz="3600" dirty="0" err="1"/>
              <a:t>PDE_Integrator</a:t>
            </a:r>
            <a:r>
              <a:rPr lang="en-US" sz="3600" dirty="0"/>
              <a:t> framework to solve </a:t>
            </a:r>
            <a:r>
              <a:rPr lang="en-US" sz="3600" dirty="0" err="1"/>
              <a:t>PDEs</a:t>
            </a:r>
            <a:endParaRPr lang="en-US" sz="3600" dirty="0"/>
          </a:p>
        </p:txBody>
      </p:sp>
      <p:pic>
        <p:nvPicPr>
          <p:cNvPr id="60421" name="Picture 4" descr="fig"/>
          <p:cNvPicPr>
            <a:picLocks noChangeAspect="1" noChangeArrowheads="1"/>
          </p:cNvPicPr>
          <p:nvPr/>
        </p:nvPicPr>
        <p:blipFill>
          <a:blip r:embed="rId3"/>
          <a:srcRect/>
          <a:stretch>
            <a:fillRect/>
          </a:stretch>
        </p:blipFill>
        <p:spPr bwMode="auto">
          <a:xfrm>
            <a:off x="788988" y="984250"/>
            <a:ext cx="7529512" cy="5699125"/>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F4666588-5881-2F43-AC7D-1D05D91452C5}" type="datetime1">
              <a:rPr lang="en-US" smtClean="0"/>
              <a:pPr/>
              <a:t>5/2/24</a:t>
            </a:fld>
            <a:endParaRPr lang="en-US"/>
          </a:p>
        </p:txBody>
      </p:sp>
      <p:sp>
        <p:nvSpPr>
          <p:cNvPr id="7" name="Footer Placeholder 6"/>
          <p:cNvSpPr>
            <a:spLocks noGrp="1"/>
          </p:cNvSpPr>
          <p:nvPr>
            <p:ph type="ftr" sz="quarter" idx="11"/>
          </p:nvPr>
        </p:nvSpPr>
        <p:spPr/>
        <p:txBody>
          <a:bodyPr/>
          <a:lstStyle/>
          <a:p>
            <a:endParaRPr lang="en-US" dirty="0"/>
          </a:p>
          <a:p>
            <a:r>
              <a:rPr lang="en-US" dirty="0" err="1"/>
              <a:t>PDE_Integrator</a:t>
            </a:r>
            <a:r>
              <a:rPr lang="en-US" dirty="0"/>
              <a:t> framework</a:t>
            </a:r>
          </a:p>
          <a:p>
            <a:endParaRPr lang="en-US" dirty="0"/>
          </a:p>
        </p:txBody>
      </p:sp>
      <p:sp>
        <p:nvSpPr>
          <p:cNvPr id="11" name="TextBox 10"/>
          <p:cNvSpPr txBox="1"/>
          <p:nvPr/>
        </p:nvSpPr>
        <p:spPr>
          <a:xfrm>
            <a:off x="2483768" y="1403484"/>
            <a:ext cx="1344338" cy="338554"/>
          </a:xfrm>
          <a:prstGeom prst="rect">
            <a:avLst/>
          </a:prstGeom>
          <a:solidFill>
            <a:schemeClr val="bg1"/>
          </a:solidFill>
          <a:ln>
            <a:solidFill>
              <a:schemeClr val="tx1"/>
            </a:solidFill>
          </a:ln>
        </p:spPr>
        <p:txBody>
          <a:bodyPr wrap="none" rtlCol="0">
            <a:spAutoFit/>
          </a:bodyPr>
          <a:lstStyle/>
          <a:p>
            <a:r>
              <a:rPr lang="en-US" sz="1600" dirty="0" err="1">
                <a:latin typeface="Arial Narrow"/>
                <a:cs typeface="Arial Narrow"/>
              </a:rPr>
              <a:t>PDE_Integrator</a:t>
            </a:r>
            <a:endParaRPr lang="en-US" sz="1600" dirty="0">
              <a:latin typeface="Arial Narrow"/>
              <a:cs typeface="Arial Narrow"/>
            </a:endParaRPr>
          </a:p>
        </p:txBody>
      </p:sp>
      <p:sp>
        <p:nvSpPr>
          <p:cNvPr id="12" name="TextBox 11"/>
          <p:cNvSpPr txBox="1"/>
          <p:nvPr/>
        </p:nvSpPr>
        <p:spPr>
          <a:xfrm>
            <a:off x="6660232" y="980728"/>
            <a:ext cx="1008112" cy="369332"/>
          </a:xfrm>
          <a:prstGeom prst="rect">
            <a:avLst/>
          </a:prstGeom>
          <a:solidFill>
            <a:schemeClr val="bg1"/>
          </a:solidFill>
          <a:ln>
            <a:solidFill>
              <a:schemeClr val="tx1"/>
            </a:solidFill>
          </a:ln>
        </p:spPr>
        <p:txBody>
          <a:bodyPr wrap="square" rtlCol="0">
            <a:spAutoFit/>
          </a:bodyPr>
          <a:lstStyle/>
          <a:p>
            <a:pPr algn="ctr"/>
            <a:r>
              <a:rPr lang="en-US" dirty="0">
                <a:latin typeface="Arial"/>
                <a:cs typeface="Arial"/>
              </a:rPr>
              <a:t>Model</a:t>
            </a:r>
          </a:p>
        </p:txBody>
      </p:sp>
      <p:sp>
        <p:nvSpPr>
          <p:cNvPr id="13" name="TextBox 12"/>
          <p:cNvSpPr txBox="1"/>
          <p:nvPr/>
        </p:nvSpPr>
        <p:spPr>
          <a:xfrm>
            <a:off x="7710833" y="1196752"/>
            <a:ext cx="717765" cy="338554"/>
          </a:xfrm>
          <a:prstGeom prst="rect">
            <a:avLst/>
          </a:prstGeom>
          <a:solidFill>
            <a:schemeClr val="bg1"/>
          </a:solidFill>
          <a:ln>
            <a:solidFill>
              <a:schemeClr val="tx1"/>
            </a:solidFill>
          </a:ln>
        </p:spPr>
        <p:txBody>
          <a:bodyPr wrap="none" rtlCol="0">
            <a:spAutoFit/>
          </a:bodyPr>
          <a:lstStyle/>
          <a:p>
            <a:r>
              <a:rPr lang="en-US" sz="1600" dirty="0">
                <a:latin typeface="Arial Narrow"/>
                <a:cs typeface="Arial Narrow"/>
              </a:rPr>
              <a:t>Region</a:t>
            </a:r>
          </a:p>
        </p:txBody>
      </p:sp>
      <p:sp>
        <p:nvSpPr>
          <p:cNvPr id="2" name="TextBox 1"/>
          <p:cNvSpPr txBox="1"/>
          <p:nvPr/>
        </p:nvSpPr>
        <p:spPr>
          <a:xfrm>
            <a:off x="6660232" y="6453336"/>
            <a:ext cx="1584176" cy="369332"/>
          </a:xfrm>
          <a:prstGeom prst="rect">
            <a:avLst/>
          </a:prstGeom>
          <a:solidFill>
            <a:srgbClr val="FFFFFF"/>
          </a:solidFill>
        </p:spPr>
        <p:txBody>
          <a:bodyPr wrap="square" rtlCol="0">
            <a:spAutoFit/>
          </a:bodyPr>
          <a:lstStyle/>
          <a:p>
            <a:endParaRPr lang="en-US" dirty="0"/>
          </a:p>
        </p:txBody>
      </p:sp>
    </p:spTree>
    <p:extLst>
      <p:ext uri="{BB962C8B-B14F-4D97-AF65-F5344CB8AC3E}">
        <p14:creationId xmlns:p14="http://schemas.microsoft.com/office/powerpoint/2010/main" val="8777799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p:spPr>
        <p:txBody>
          <a:bodyPr/>
          <a:lstStyle/>
          <a:p>
            <a:fld id="{BEA245AA-FCFC-454F-AE3B-200DB7287F10}" type="slidenum">
              <a:rPr lang="en-US" smtClean="0"/>
              <a:pPr/>
              <a:t>83</a:t>
            </a:fld>
            <a:endParaRPr lang="en-US"/>
          </a:p>
        </p:txBody>
      </p:sp>
      <p:sp>
        <p:nvSpPr>
          <p:cNvPr id="62467" name="Rectangle 2"/>
          <p:cNvSpPr>
            <a:spLocks noGrp="1" noChangeArrowheads="1"/>
          </p:cNvSpPr>
          <p:nvPr>
            <p:ph type="title"/>
          </p:nvPr>
        </p:nvSpPr>
        <p:spPr>
          <a:xfrm>
            <a:off x="35496" y="138336"/>
            <a:ext cx="9108504" cy="914400"/>
          </a:xfrm>
        </p:spPr>
        <p:txBody>
          <a:bodyPr>
            <a:normAutofit fontScale="90000"/>
          </a:bodyPr>
          <a:lstStyle/>
          <a:p>
            <a:pPr algn="ctr" eaLnBrk="1" hangingPunct="1"/>
            <a:r>
              <a:rPr lang="en-US" dirty="0"/>
              <a:t>Interaction of </a:t>
            </a:r>
            <a:r>
              <a:rPr lang="en-US" dirty="0" err="1"/>
              <a:t>PDE_Integrator</a:t>
            </a:r>
            <a:r>
              <a:rPr lang="en-US" dirty="0"/>
              <a:t> with FE bridge pattern</a:t>
            </a:r>
          </a:p>
        </p:txBody>
      </p:sp>
      <p:pic>
        <p:nvPicPr>
          <p:cNvPr id="62468" name="Picture 3" descr="algoelemcollab"/>
          <p:cNvPicPr>
            <a:picLocks noChangeAspect="1" noChangeArrowheads="1"/>
          </p:cNvPicPr>
          <p:nvPr/>
        </p:nvPicPr>
        <p:blipFill>
          <a:blip r:embed="rId3"/>
          <a:srcRect b="2420"/>
          <a:stretch>
            <a:fillRect/>
          </a:stretch>
        </p:blipFill>
        <p:spPr bwMode="auto">
          <a:xfrm>
            <a:off x="2239963" y="1295400"/>
            <a:ext cx="5121275" cy="4800600"/>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897DD750-D529-CD46-A392-75FDF4D42D49}" type="datetime1">
              <a:rPr lang="en-US" smtClean="0"/>
              <a:pPr/>
              <a:t>5/2/24</a:t>
            </a:fld>
            <a:endParaRPr lang="en-US"/>
          </a:p>
        </p:txBody>
      </p:sp>
      <p:sp>
        <p:nvSpPr>
          <p:cNvPr id="6" name="Footer Placeholder 5"/>
          <p:cNvSpPr>
            <a:spLocks noGrp="1"/>
          </p:cNvSpPr>
          <p:nvPr>
            <p:ph type="ftr" sz="quarter" idx="11"/>
          </p:nvPr>
        </p:nvSpPr>
        <p:spPr/>
        <p:txBody>
          <a:bodyPr/>
          <a:lstStyle/>
          <a:p>
            <a:endParaRPr lang="en-US" dirty="0"/>
          </a:p>
          <a:p>
            <a:r>
              <a:rPr lang="en-US" dirty="0" err="1"/>
              <a:t>PDE_Integrator</a:t>
            </a:r>
            <a:r>
              <a:rPr lang="en-US" dirty="0"/>
              <a:t> framework</a:t>
            </a:r>
          </a:p>
          <a:p>
            <a:endParaRPr lang="en-US" dirty="0"/>
          </a:p>
        </p:txBody>
      </p:sp>
      <p:sp>
        <p:nvSpPr>
          <p:cNvPr id="2" name="TextBox 1"/>
          <p:cNvSpPr txBox="1"/>
          <p:nvPr/>
        </p:nvSpPr>
        <p:spPr>
          <a:xfrm>
            <a:off x="1691680" y="1268760"/>
            <a:ext cx="2306040" cy="461665"/>
          </a:xfrm>
          <a:prstGeom prst="rect">
            <a:avLst/>
          </a:prstGeom>
          <a:solidFill>
            <a:schemeClr val="bg1"/>
          </a:solidFill>
          <a:ln>
            <a:solidFill>
              <a:schemeClr val="tx1"/>
            </a:solidFill>
          </a:ln>
        </p:spPr>
        <p:txBody>
          <a:bodyPr wrap="none" rtlCol="0">
            <a:spAutoFit/>
          </a:bodyPr>
          <a:lstStyle/>
          <a:p>
            <a:r>
              <a:rPr lang="en-US" sz="2400" dirty="0" err="1">
                <a:latin typeface="Arial"/>
                <a:cs typeface="Arial"/>
              </a:rPr>
              <a:t>PDE_Integrator</a:t>
            </a:r>
            <a:endParaRPr lang="en-US" sz="2400" dirty="0">
              <a:latin typeface="Arial"/>
              <a:cs typeface="Arial"/>
            </a:endParaRPr>
          </a:p>
        </p:txBody>
      </p:sp>
      <p:sp>
        <p:nvSpPr>
          <p:cNvPr id="8" name="TextBox 7"/>
          <p:cNvSpPr txBox="1"/>
          <p:nvPr/>
        </p:nvSpPr>
        <p:spPr>
          <a:xfrm>
            <a:off x="5748186" y="6021288"/>
            <a:ext cx="1920158" cy="369332"/>
          </a:xfrm>
          <a:prstGeom prst="rect">
            <a:avLst/>
          </a:prstGeom>
          <a:solidFill>
            <a:srgbClr val="FFFFFF"/>
          </a:solidFill>
        </p:spPr>
        <p:txBody>
          <a:bodyPr wrap="square" rtlCol="0">
            <a:spAutoFit/>
          </a:bodyPr>
          <a:lstStyle/>
          <a:p>
            <a:endParaRPr lang="en-US" dirty="0"/>
          </a:p>
        </p:txBody>
      </p:sp>
      <p:sp>
        <p:nvSpPr>
          <p:cNvPr id="9" name="TextBox 8"/>
          <p:cNvSpPr txBox="1"/>
          <p:nvPr/>
        </p:nvSpPr>
        <p:spPr>
          <a:xfrm>
            <a:off x="4716016" y="2420888"/>
            <a:ext cx="1584093" cy="648072"/>
          </a:xfrm>
          <a:prstGeom prst="rect">
            <a:avLst/>
          </a:prstGeom>
          <a:solidFill>
            <a:srgbClr val="FFFFFF"/>
          </a:solidFill>
        </p:spPr>
        <p:txBody>
          <a:bodyPr wrap="square" rtlCol="0">
            <a:spAutoFit/>
          </a:bodyPr>
          <a:lstStyle/>
          <a:p>
            <a:endParaRPr lang="en-US" dirty="0"/>
          </a:p>
        </p:txBody>
      </p:sp>
      <p:sp>
        <p:nvSpPr>
          <p:cNvPr id="10" name="TextBox 9"/>
          <p:cNvSpPr txBox="1"/>
          <p:nvPr/>
        </p:nvSpPr>
        <p:spPr>
          <a:xfrm>
            <a:off x="3059915" y="3861048"/>
            <a:ext cx="1584093" cy="648072"/>
          </a:xfrm>
          <a:prstGeom prst="rect">
            <a:avLst/>
          </a:prstGeom>
          <a:solidFill>
            <a:srgbClr val="FFFFFF"/>
          </a:solidFill>
        </p:spPr>
        <p:txBody>
          <a:bodyPr wrap="square" rtlCol="0">
            <a:spAutoFit/>
          </a:bodyPr>
          <a:lstStyle/>
          <a:p>
            <a:endParaRPr lang="en-US" dirty="0"/>
          </a:p>
        </p:txBody>
      </p:sp>
      <p:sp>
        <p:nvSpPr>
          <p:cNvPr id="11" name="TextBox 10"/>
          <p:cNvSpPr txBox="1"/>
          <p:nvPr/>
        </p:nvSpPr>
        <p:spPr>
          <a:xfrm>
            <a:off x="3089917" y="4509120"/>
            <a:ext cx="1584093" cy="648072"/>
          </a:xfrm>
          <a:prstGeom prst="rect">
            <a:avLst/>
          </a:prstGeom>
          <a:solidFill>
            <a:srgbClr val="FFFFFF"/>
          </a:solidFill>
        </p:spPr>
        <p:txBody>
          <a:bodyPr wrap="square" rtlCol="0">
            <a:spAutoFit/>
          </a:bodyPr>
          <a:lstStyle/>
          <a:p>
            <a:endParaRPr lang="en-US" dirty="0"/>
          </a:p>
        </p:txBody>
      </p:sp>
      <p:sp>
        <p:nvSpPr>
          <p:cNvPr id="12" name="TextBox 11"/>
          <p:cNvSpPr txBox="1"/>
          <p:nvPr/>
        </p:nvSpPr>
        <p:spPr>
          <a:xfrm>
            <a:off x="1619755" y="5443877"/>
            <a:ext cx="1584093" cy="648072"/>
          </a:xfrm>
          <a:prstGeom prst="rect">
            <a:avLst/>
          </a:prstGeom>
          <a:solidFill>
            <a:srgbClr val="FFFFFF"/>
          </a:solidFill>
        </p:spPr>
        <p:txBody>
          <a:bodyPr wrap="square" rtlCol="0">
            <a:spAutoFit/>
          </a:bodyPr>
          <a:lstStyle/>
          <a:p>
            <a:endParaRPr lang="en-US" dirty="0"/>
          </a:p>
        </p:txBody>
      </p:sp>
    </p:spTree>
    <p:extLst>
      <p:ext uri="{BB962C8B-B14F-4D97-AF65-F5344CB8AC3E}">
        <p14:creationId xmlns:p14="http://schemas.microsoft.com/office/powerpoint/2010/main" val="21081045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err="1"/>
              <a:t>PDE_Integrator</a:t>
            </a:r>
            <a:r>
              <a:rPr lang="en-US" dirty="0"/>
              <a:t>    library</a:t>
            </a:r>
          </a:p>
        </p:txBody>
      </p:sp>
      <p:sp>
        <p:nvSpPr>
          <p:cNvPr id="7" name="Content Placeholder 6"/>
          <p:cNvSpPr>
            <a:spLocks noGrp="1"/>
          </p:cNvSpPr>
          <p:nvPr>
            <p:ph idx="1"/>
          </p:nvPr>
        </p:nvSpPr>
        <p:spPr/>
        <p:txBody>
          <a:bodyPr>
            <a:normAutofit/>
          </a:bodyPr>
          <a:lstStyle/>
          <a:p>
            <a:r>
              <a:rPr lang="en-US" dirty="0"/>
              <a:t>Classes derived from the </a:t>
            </a:r>
            <a:r>
              <a:rPr lang="en-US" dirty="0" err="1"/>
              <a:t>PDE_Integrator</a:t>
            </a:r>
            <a:r>
              <a:rPr lang="en-US" dirty="0"/>
              <a:t> base class template</a:t>
            </a:r>
          </a:p>
          <a:p>
            <a:r>
              <a:rPr lang="en-US" dirty="0"/>
              <a:t>Should all be called …Integrator</a:t>
            </a:r>
          </a:p>
          <a:p>
            <a:r>
              <a:rPr lang="en-US" dirty="0"/>
              <a:t>Currently, in we have:</a:t>
            </a:r>
          </a:p>
          <a:p>
            <a:pPr marL="0" indent="0">
              <a:buNone/>
            </a:pPr>
            <a:r>
              <a:rPr lang="en-US" dirty="0"/>
              <a:t>     Pending name changes:</a:t>
            </a:r>
          </a:p>
          <a:p>
            <a:pPr lvl="1"/>
            <a:r>
              <a:rPr lang="en-US" dirty="0" err="1"/>
              <a:t>Iterative</a:t>
            </a:r>
            <a:r>
              <a:rPr lang="en-US" dirty="0" err="1">
                <a:solidFill>
                  <a:srgbClr val="FF0000"/>
                </a:solidFill>
              </a:rPr>
              <a:t>Integrator</a:t>
            </a:r>
            <a:endParaRPr lang="en-US" dirty="0">
              <a:solidFill>
                <a:srgbClr val="FF0000"/>
              </a:solidFill>
            </a:endParaRPr>
          </a:p>
          <a:p>
            <a:pPr lvl="1"/>
            <a:r>
              <a:rPr lang="en-US" dirty="0" err="1"/>
              <a:t>Newton</a:t>
            </a:r>
            <a:r>
              <a:rPr lang="en-US" dirty="0" err="1">
                <a:solidFill>
                  <a:srgbClr val="FF0000"/>
                </a:solidFill>
              </a:rPr>
              <a:t>Integrator</a:t>
            </a:r>
            <a:endParaRPr lang="en-US" dirty="0">
              <a:solidFill>
                <a:srgbClr val="FF0000"/>
              </a:solidFill>
            </a:endParaRPr>
          </a:p>
          <a:p>
            <a:pPr lvl="1"/>
            <a:r>
              <a:rPr lang="en-US" dirty="0" err="1"/>
              <a:t>Picard</a:t>
            </a:r>
            <a:r>
              <a:rPr lang="en-US" dirty="0" err="1">
                <a:solidFill>
                  <a:srgbClr val="FF0000"/>
                </a:solidFill>
              </a:rPr>
              <a:t>Integrator</a:t>
            </a:r>
            <a:endParaRPr lang="en-US" dirty="0">
              <a:solidFill>
                <a:srgbClr val="FF0000"/>
              </a:solidFill>
            </a:endParaRPr>
          </a:p>
          <a:p>
            <a:pPr lvl="1"/>
            <a:r>
              <a:rPr lang="en-US" dirty="0" err="1"/>
              <a:t>SteadyStateDiffusion</a:t>
            </a:r>
            <a:r>
              <a:rPr lang="en-US" dirty="0" err="1">
                <a:solidFill>
                  <a:srgbClr val="FF0000"/>
                </a:solidFill>
              </a:rPr>
              <a:t>Integrator</a:t>
            </a:r>
            <a:endParaRPr lang="en-US" dirty="0">
              <a:solidFill>
                <a:srgbClr val="FF0000"/>
              </a:solidFill>
            </a:endParaRPr>
          </a:p>
          <a:p>
            <a:pPr lvl="1"/>
            <a:r>
              <a:rPr lang="en-US" dirty="0" err="1"/>
              <a:t>TransientDiffusion</a:t>
            </a:r>
            <a:r>
              <a:rPr lang="en-US" dirty="0" err="1">
                <a:solidFill>
                  <a:srgbClr val="FF0000"/>
                </a:solidFill>
              </a:rPr>
              <a:t>Integrator</a:t>
            </a:r>
            <a:endParaRPr lang="en-US" dirty="0">
              <a:solidFill>
                <a:srgbClr val="FF0000"/>
              </a:solidFill>
            </a:endParaRPr>
          </a:p>
          <a:p>
            <a:pPr lvl="1"/>
            <a:endParaRPr lang="en-US" dirty="0"/>
          </a:p>
          <a:p>
            <a:r>
              <a:rPr lang="en-US" dirty="0" err="1"/>
              <a:t>parallelPlatePermeabilityFromChannelWidth</a:t>
            </a:r>
            <a:r>
              <a:rPr lang="en-US" dirty="0"/>
              <a:t>()</a:t>
            </a:r>
          </a:p>
          <a:p>
            <a:endParaRPr lang="en-US" dirty="0"/>
          </a:p>
          <a:p>
            <a:endParaRPr lang="en-US" dirty="0"/>
          </a:p>
        </p:txBody>
      </p:sp>
      <p:sp>
        <p:nvSpPr>
          <p:cNvPr id="64514" name="Slide Number Placeholder 3"/>
          <p:cNvSpPr>
            <a:spLocks noGrp="1"/>
          </p:cNvSpPr>
          <p:nvPr>
            <p:ph type="sldNum" sz="quarter" idx="12"/>
          </p:nvPr>
        </p:nvSpPr>
        <p:spPr>
          <a:noFill/>
        </p:spPr>
        <p:txBody>
          <a:bodyPr/>
          <a:lstStyle/>
          <a:p>
            <a:fld id="{ECB5650D-B848-0941-8132-DE32BC57C29B}" type="slidenum">
              <a:rPr lang="en-US" smtClean="0"/>
              <a:pPr/>
              <a:t>84</a:t>
            </a:fld>
            <a:endParaRPr lang="en-US"/>
          </a:p>
        </p:txBody>
      </p:sp>
      <p:sp>
        <p:nvSpPr>
          <p:cNvPr id="8" name="Date Placeholder 7"/>
          <p:cNvSpPr>
            <a:spLocks noGrp="1"/>
          </p:cNvSpPr>
          <p:nvPr>
            <p:ph type="dt" sz="half" idx="10"/>
          </p:nvPr>
        </p:nvSpPr>
        <p:spPr/>
        <p:txBody>
          <a:bodyPr/>
          <a:lstStyle/>
          <a:p>
            <a:fld id="{C086A18A-0B24-E14F-B0D8-A368468CDDF2}" type="datetime1">
              <a:rPr lang="en-US" smtClean="0"/>
              <a:pPr/>
              <a:t>5/2/24</a:t>
            </a:fld>
            <a:endParaRPr lang="en-US"/>
          </a:p>
        </p:txBody>
      </p:sp>
      <p:sp>
        <p:nvSpPr>
          <p:cNvPr id="9" name="Footer Placeholder 8"/>
          <p:cNvSpPr>
            <a:spLocks noGrp="1"/>
          </p:cNvSpPr>
          <p:nvPr>
            <p:ph type="ftr" sz="quarter" idx="11"/>
          </p:nvPr>
        </p:nvSpPr>
        <p:spPr/>
        <p:txBody>
          <a:bodyPr/>
          <a:lstStyle/>
          <a:p>
            <a:endParaRPr lang="en-US" dirty="0"/>
          </a:p>
          <a:p>
            <a:r>
              <a:rPr lang="en-US" dirty="0" err="1"/>
              <a:t>PDE_Integrator</a:t>
            </a:r>
            <a:r>
              <a:rPr lang="en-US" dirty="0"/>
              <a:t> framework</a:t>
            </a:r>
          </a:p>
          <a:p>
            <a:endParaRPr lang="en-US" dirty="0"/>
          </a:p>
        </p:txBody>
      </p:sp>
    </p:spTree>
    <p:extLst>
      <p:ext uri="{BB962C8B-B14F-4D97-AF65-F5344CB8AC3E}">
        <p14:creationId xmlns:p14="http://schemas.microsoft.com/office/powerpoint/2010/main" val="13841027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PDE_Integrator</a:t>
            </a:r>
            <a:r>
              <a:rPr lang="en-US" dirty="0"/>
              <a:t> and Boundaries</a:t>
            </a:r>
          </a:p>
        </p:txBody>
      </p:sp>
      <p:sp>
        <p:nvSpPr>
          <p:cNvPr id="3" name="Content Placeholder 2"/>
          <p:cNvSpPr>
            <a:spLocks noGrp="1"/>
          </p:cNvSpPr>
          <p:nvPr>
            <p:ph idx="1"/>
          </p:nvPr>
        </p:nvSpPr>
        <p:spPr>
          <a:xfrm>
            <a:off x="457200" y="914400"/>
            <a:ext cx="8229600" cy="5578475"/>
          </a:xfrm>
        </p:spPr>
        <p:txBody>
          <a:bodyPr>
            <a:normAutofit/>
          </a:bodyPr>
          <a:lstStyle/>
          <a:p>
            <a:r>
              <a:rPr lang="en-US" dirty="0"/>
              <a:t>To emulate Box shaped model functionality, CSMP automatically creates the boundaries FRONT, BACK... if it is given a CAD model with correspondingly named entities. The old boundary functionality and high-level interfaces are then supported by </a:t>
            </a:r>
            <a:r>
              <a:rPr lang="en-US" b="1" dirty="0"/>
              <a:t>Boundary </a:t>
            </a:r>
            <a:r>
              <a:rPr lang="en-US" dirty="0"/>
              <a:t>and </a:t>
            </a:r>
            <a:r>
              <a:rPr lang="en-US" b="1" dirty="0" err="1"/>
              <a:t>ModelSubDomain</a:t>
            </a:r>
            <a:r>
              <a:rPr lang="en-US" b="1" dirty="0"/>
              <a:t> </a:t>
            </a:r>
            <a:r>
              <a:rPr lang="en-US" dirty="0"/>
              <a:t>interfaces rather than with distributed boundary flags. </a:t>
            </a:r>
          </a:p>
          <a:p>
            <a:r>
              <a:rPr lang="en-US" dirty="0"/>
              <a:t>Edges = boundaries of Boundaries, consisting of line elements are used to set boundary conditions for computations on boundaries. To do this, these edges must have a unique name in the CAD model.</a:t>
            </a:r>
          </a:p>
          <a:p>
            <a:r>
              <a:rPr lang="en-US" dirty="0"/>
              <a:t>Face and </a:t>
            </a:r>
            <a:r>
              <a:rPr lang="en-US" dirty="0" err="1"/>
              <a:t>InterFace</a:t>
            </a:r>
            <a:r>
              <a:rPr lang="en-US" dirty="0"/>
              <a:t> objects do not belong to the Region “Model”.</a:t>
            </a:r>
          </a:p>
          <a:p>
            <a:r>
              <a:rPr lang="en-US" b="1" dirty="0"/>
              <a:t>CSMP detects automatically whether Boundary surfaces contact the volume to that the </a:t>
            </a:r>
            <a:r>
              <a:rPr lang="en-US" b="1" dirty="0" err="1"/>
              <a:t>PDE_Integrator</a:t>
            </a:r>
            <a:r>
              <a:rPr lang="en-US" b="1" dirty="0"/>
              <a:t> applies when the solution or a dependent variable is flagged NEUMANN, CONSTANT_FLUX or ROBIN boundary integrals need to be used in the accumulation occurs.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err="1"/>
              <a:t>PDE_Integrator</a:t>
            </a:r>
            <a:r>
              <a:rPr lang="en-US" dirty="0"/>
              <a:t>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85</a:t>
            </a:fld>
            <a:endParaRPr lang="en-US"/>
          </a:p>
        </p:txBody>
      </p:sp>
    </p:spTree>
    <p:extLst>
      <p:ext uri="{BB962C8B-B14F-4D97-AF65-F5344CB8AC3E}">
        <p14:creationId xmlns:p14="http://schemas.microsoft.com/office/powerpoint/2010/main" val="9665853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Accumulation of boundary integrals</a:t>
            </a:r>
          </a:p>
        </p:txBody>
      </p:sp>
      <p:sp>
        <p:nvSpPr>
          <p:cNvPr id="3" name="Content Placeholder 2"/>
          <p:cNvSpPr>
            <a:spLocks noGrp="1"/>
          </p:cNvSpPr>
          <p:nvPr>
            <p:ph idx="1"/>
          </p:nvPr>
        </p:nvSpPr>
        <p:spPr>
          <a:xfrm>
            <a:off x="457200" y="914400"/>
            <a:ext cx="8229600" cy="5578475"/>
          </a:xfrm>
        </p:spPr>
        <p:txBody>
          <a:bodyPr>
            <a:normAutofit fontScale="85000" lnSpcReduction="20000"/>
          </a:bodyPr>
          <a:lstStyle/>
          <a:p>
            <a:pPr marL="457200" indent="-457200">
              <a:buFont typeface="+mj-lt"/>
              <a:buAutoNum type="arabicPeriod"/>
            </a:pPr>
            <a:r>
              <a:rPr lang="en-US" dirty="0" err="1"/>
              <a:t>PDE_Integrator</a:t>
            </a:r>
            <a:r>
              <a:rPr lang="en-US" dirty="0"/>
              <a:t> detects surface (Face / </a:t>
            </a:r>
            <a:r>
              <a:rPr lang="en-US" dirty="0" err="1"/>
              <a:t>InterFace</a:t>
            </a:r>
            <a:r>
              <a:rPr lang="en-US" dirty="0"/>
              <a:t>) integrals</a:t>
            </a:r>
          </a:p>
          <a:p>
            <a:pPr marL="457200" indent="-457200">
              <a:buFont typeface="+mj-lt"/>
              <a:buAutoNum type="arabicPeriod"/>
            </a:pPr>
            <a:r>
              <a:rPr lang="en-US" dirty="0"/>
              <a:t>If there are such surface integrals,  in the accumulation an extra loop over the Face or </a:t>
            </a:r>
            <a:r>
              <a:rPr lang="en-US" dirty="0" err="1"/>
              <a:t>InterFaces</a:t>
            </a:r>
            <a:r>
              <a:rPr lang="en-US" dirty="0"/>
              <a:t> is executed, collecting their contributions </a:t>
            </a:r>
          </a:p>
          <a:p>
            <a:pPr marL="857250" lvl="1" indent="-457200"/>
            <a:r>
              <a:rPr lang="en-US" dirty="0"/>
              <a:t>To determine which </a:t>
            </a:r>
            <a:r>
              <a:rPr lang="en-US" dirty="0" err="1"/>
              <a:t>Boundarys</a:t>
            </a:r>
            <a:r>
              <a:rPr lang="en-US" dirty="0"/>
              <a:t> are involved, all are looped over while checking their names </a:t>
            </a:r>
          </a:p>
          <a:p>
            <a:pPr marL="857250" lvl="1" indent="-457200"/>
            <a:r>
              <a:rPr lang="en-US" dirty="0"/>
              <a:t>Only those whose name contains that of the region to which the </a:t>
            </a:r>
            <a:r>
              <a:rPr lang="en-US" dirty="0" err="1"/>
              <a:t>PDE_Integrator</a:t>
            </a:r>
            <a:r>
              <a:rPr lang="en-US" dirty="0"/>
              <a:t> applies are accumulated (do not forget special cases BACK, LEFT…, and do not leave naming to user, i.e. BOUNDARY1). Other special cases exist if the PDE integrator is applied to the entire Model</a:t>
            </a:r>
          </a:p>
          <a:p>
            <a:pPr marL="0" indent="0">
              <a:buNone/>
            </a:pPr>
            <a:r>
              <a:rPr lang="en-US" b="1" dirty="0"/>
              <a:t>Conventions</a:t>
            </a:r>
          </a:p>
          <a:p>
            <a:pPr marL="457200" indent="-457200"/>
            <a:r>
              <a:rPr lang="en-US" dirty="0"/>
              <a:t>Positive source terms / inflows are accumulated “as is”, as the normal to an external Boundary is outward pointing </a:t>
            </a:r>
            <a:r>
              <a:rPr lang="en-US" dirty="0" err="1"/>
              <a:t>w.r.t.</a:t>
            </a:r>
            <a:r>
              <a:rPr lang="en-US" dirty="0"/>
              <a:t> the computational domain; else (somewhere on the model interior) they are treated as negative</a:t>
            </a:r>
          </a:p>
          <a:p>
            <a:pPr marL="457200" indent="-457200"/>
            <a:r>
              <a:rPr lang="en-US" dirty="0"/>
              <a:t>Although without special consequence for computations, variable flags should be used to indicate the user’s intent of their </a:t>
            </a:r>
            <a:r>
              <a:rPr lang="en-US" dirty="0" err="1"/>
              <a:t>assigment</a:t>
            </a:r>
            <a:r>
              <a:rPr lang="en-US" dirty="0"/>
              <a:t> (e.g., Neumann for a basal heat flux etc.)</a:t>
            </a:r>
          </a:p>
          <a:p>
            <a:pPr marL="457200" indent="-457200"/>
            <a:r>
              <a:rPr lang="en-US" dirty="0"/>
              <a:t>All surface integrals are subclasses of </a:t>
            </a:r>
            <a:r>
              <a:rPr lang="en-US" dirty="0" err="1"/>
              <a:t>MathOperatorRHS</a:t>
            </a:r>
            <a:r>
              <a:rPr lang="en-US" dirty="0"/>
              <a:t>; therefore, only the accumulation of RHS terms is affected by the refactoring.</a:t>
            </a:r>
          </a:p>
          <a:p>
            <a:pPr marL="457200" indent="-457200"/>
            <a:r>
              <a:rPr lang="en-US" dirty="0"/>
              <a:t>NB: Surface-associated variables exist only on Boundaries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err="1"/>
              <a:t>PDE_Integrator</a:t>
            </a:r>
            <a:r>
              <a:rPr lang="en-US" dirty="0"/>
              <a:t>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86</a:t>
            </a:fld>
            <a:endParaRPr lang="en-US"/>
          </a:p>
        </p:txBody>
      </p:sp>
    </p:spTree>
    <p:extLst>
      <p:ext uri="{BB962C8B-B14F-4D97-AF65-F5344CB8AC3E}">
        <p14:creationId xmlns:p14="http://schemas.microsoft.com/office/powerpoint/2010/main" val="40646241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a:xfrm>
            <a:off x="722312" y="4406900"/>
            <a:ext cx="8170167" cy="1362075"/>
          </a:xfrm>
        </p:spPr>
        <p:txBody>
          <a:bodyPr/>
          <a:lstStyle/>
          <a:p>
            <a:r>
              <a:rPr lang="en-US" dirty="0"/>
              <a:t>PDE OPERATORS</a:t>
            </a:r>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err="1"/>
              <a:t>PDE_Integrator</a:t>
            </a:r>
            <a:r>
              <a:rPr lang="en-US" dirty="0"/>
              <a:t>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87</a:t>
            </a:fld>
            <a:endParaRPr lang="en-US"/>
          </a:p>
        </p:txBody>
      </p:sp>
    </p:spTree>
    <p:extLst>
      <p:ext uri="{BB962C8B-B14F-4D97-AF65-F5344CB8AC3E}">
        <p14:creationId xmlns:p14="http://schemas.microsoft.com/office/powerpoint/2010/main" val="12620194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PDE_Operators</a:t>
            </a:r>
            <a:endParaRPr lang="en-US" dirty="0"/>
          </a:p>
        </p:txBody>
      </p:sp>
      <p:sp>
        <p:nvSpPr>
          <p:cNvPr id="3" name="Content Placeholder 2"/>
          <p:cNvSpPr>
            <a:spLocks noGrp="1"/>
          </p:cNvSpPr>
          <p:nvPr>
            <p:ph idx="1"/>
          </p:nvPr>
        </p:nvSpPr>
        <p:spPr>
          <a:xfrm>
            <a:off x="457200" y="914400"/>
            <a:ext cx="8229600" cy="5578475"/>
          </a:xfrm>
        </p:spPr>
        <p:txBody>
          <a:bodyPr>
            <a:normAutofit/>
          </a:bodyPr>
          <a:lstStyle/>
          <a:p>
            <a:pPr>
              <a:buNone/>
            </a:pPr>
            <a:r>
              <a:rPr lang="en-US" dirty="0"/>
              <a:t>Needed for the computation of element integrals arising from the governing equations.</a:t>
            </a:r>
          </a:p>
          <a:p>
            <a:pPr>
              <a:buNone/>
            </a:pPr>
            <a:r>
              <a:rPr lang="en-US" dirty="0"/>
              <a:t>Subclasses of </a:t>
            </a:r>
            <a:r>
              <a:rPr lang="en-US" b="1" dirty="0" err="1"/>
              <a:t>MathOperatorLHS</a:t>
            </a:r>
            <a:r>
              <a:rPr lang="en-US" b="1" dirty="0"/>
              <a:t> </a:t>
            </a:r>
            <a:r>
              <a:rPr lang="en-US" dirty="0"/>
              <a:t>and </a:t>
            </a:r>
            <a:r>
              <a:rPr lang="en-US" b="1" dirty="0" err="1"/>
              <a:t>MathOperatorRHS</a:t>
            </a:r>
            <a:r>
              <a:rPr lang="en-US" b="1" dirty="0"/>
              <a:t> </a:t>
            </a:r>
          </a:p>
          <a:p>
            <a:pPr>
              <a:buNone/>
            </a:pPr>
            <a:r>
              <a:rPr lang="en-US" dirty="0"/>
              <a:t>Functionality:  Computation of FE integral contributions to the global solution matrix and right-hand side vector, see  DOXYGEN documentation.</a:t>
            </a:r>
          </a:p>
          <a:p>
            <a:pPr marL="0" indent="0">
              <a:buNone/>
            </a:pPr>
            <a:r>
              <a:rPr lang="en-US" dirty="0" err="1">
                <a:solidFill>
                  <a:srgbClr val="000000"/>
                </a:solidFill>
                <a:latin typeface="Menlo-Regular"/>
              </a:rPr>
              <a:t>source.</a:t>
            </a:r>
            <a:r>
              <a:rPr lang="en-US" dirty="0" err="1">
                <a:solidFill>
                  <a:srgbClr val="203C3F"/>
                </a:solidFill>
                <a:latin typeface="Menlo-Regular"/>
              </a:rPr>
              <a:t>MultiplyWithTimeIncrement</a:t>
            </a:r>
            <a:r>
              <a:rPr lang="en-US" dirty="0">
                <a:solidFill>
                  <a:srgbClr val="000000"/>
                </a:solidFill>
                <a:latin typeface="Menlo-Regular"/>
              </a:rPr>
              <a:t>(</a:t>
            </a:r>
            <a:r>
              <a:rPr lang="en-US" dirty="0">
                <a:solidFill>
                  <a:srgbClr val="B40062"/>
                </a:solidFill>
                <a:latin typeface="Menlo-Regular"/>
              </a:rPr>
              <a:t>true</a:t>
            </a:r>
            <a:r>
              <a:rPr lang="en-US" dirty="0">
                <a:solidFill>
                  <a:srgbClr val="000000"/>
                </a:solidFill>
                <a:latin typeface="Menlo-Regular"/>
              </a:rPr>
              <a:t>);</a:t>
            </a:r>
          </a:p>
          <a:p>
            <a:pPr marL="0" indent="0">
              <a:buNone/>
            </a:pPr>
            <a:r>
              <a:rPr lang="fr-FR" dirty="0">
                <a:solidFill>
                  <a:srgbClr val="000000"/>
                </a:solidFill>
                <a:latin typeface="Menlo-Regular"/>
              </a:rPr>
              <a:t>                                         </a:t>
            </a:r>
            <a:r>
              <a:rPr lang="fr-FR" dirty="0" err="1">
                <a:solidFill>
                  <a:srgbClr val="000000"/>
                </a:solidFill>
                <a:latin typeface="Menlo-Regular"/>
              </a:rPr>
              <a:t>source.</a:t>
            </a:r>
            <a:r>
              <a:rPr lang="fr-FR" dirty="0" err="1">
                <a:solidFill>
                  <a:srgbClr val="203C3F"/>
                </a:solidFill>
                <a:latin typeface="Menlo-Regular"/>
              </a:rPr>
              <a:t>AddAccumulateLater</a:t>
            </a:r>
            <a:r>
              <a:rPr lang="fr-FR" dirty="0">
                <a:solidFill>
                  <a:srgbClr val="000000"/>
                </a:solidFill>
                <a:latin typeface="Menlo-Regular"/>
              </a:rPr>
              <a:t>();</a:t>
            </a:r>
          </a:p>
          <a:p>
            <a:pPr marL="0" indent="0">
              <a:buNone/>
            </a:pPr>
            <a:r>
              <a:rPr lang="fr-FR" dirty="0">
                <a:solidFill>
                  <a:srgbClr val="000000"/>
                </a:solidFill>
                <a:latin typeface="Menlo-Regular"/>
              </a:rPr>
              <a:t>                                         </a:t>
            </a:r>
            <a:r>
              <a:rPr lang="fr-FR" dirty="0" err="1">
                <a:solidFill>
                  <a:srgbClr val="000000"/>
                </a:solidFill>
                <a:latin typeface="Menlo-Regular"/>
              </a:rPr>
              <a:t>source.</a:t>
            </a:r>
            <a:r>
              <a:rPr lang="fr-FR" dirty="0" err="1">
                <a:solidFill>
                  <a:srgbClr val="203C3F"/>
                </a:solidFill>
                <a:latin typeface="Menlo-Regular"/>
              </a:rPr>
              <a:t>LumpedFormulation</a:t>
            </a:r>
            <a:r>
              <a:rPr lang="fr-FR" dirty="0">
                <a:solidFill>
                  <a:srgbClr val="000000"/>
                </a:solidFill>
                <a:latin typeface="Menlo-Regular"/>
              </a:rPr>
              <a:t>(</a:t>
            </a:r>
            <a:r>
              <a:rPr lang="fr-FR" dirty="0" err="1">
                <a:solidFill>
                  <a:srgbClr val="B40062"/>
                </a:solidFill>
                <a:latin typeface="Menlo-Regular"/>
              </a:rPr>
              <a:t>true</a:t>
            </a:r>
            <a:r>
              <a:rPr lang="fr-FR" dirty="0">
                <a:solidFill>
                  <a:srgbClr val="000000"/>
                </a:solidFill>
                <a:latin typeface="Menlo-Regular"/>
              </a:rPr>
              <a:t>);</a:t>
            </a:r>
            <a:endParaRPr lang="en-US"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err="1"/>
              <a:t>PDE_Integrator</a:t>
            </a:r>
            <a:r>
              <a:rPr lang="en-US" dirty="0"/>
              <a:t>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88</a:t>
            </a:fld>
            <a:endParaRPr lang="en-US"/>
          </a:p>
        </p:txBody>
      </p:sp>
    </p:spTree>
    <p:extLst>
      <p:ext uri="{BB962C8B-B14F-4D97-AF65-F5344CB8AC3E}">
        <p14:creationId xmlns:p14="http://schemas.microsoft.com/office/powerpoint/2010/main" val="646772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a:xfrm>
            <a:off x="722312" y="4406900"/>
            <a:ext cx="8170167" cy="1362075"/>
          </a:xfrm>
        </p:spPr>
        <p:txBody>
          <a:bodyPr/>
          <a:lstStyle/>
          <a:p>
            <a:r>
              <a:rPr lang="en-US" dirty="0"/>
              <a:t>SOLVER</a:t>
            </a:r>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err="1"/>
              <a:t>PDE_Integrator</a:t>
            </a:r>
            <a:r>
              <a:rPr lang="en-US" dirty="0"/>
              <a:t>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89</a:t>
            </a:fld>
            <a:endParaRPr lang="en-US"/>
          </a:p>
        </p:txBody>
      </p:sp>
    </p:spTree>
    <p:extLst>
      <p:ext uri="{BB962C8B-B14F-4D97-AF65-F5344CB8AC3E}">
        <p14:creationId xmlns:p14="http://schemas.microsoft.com/office/powerpoint/2010/main" val="25598939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p:cNvSpPr>
          <p:nvPr>
            <p:ph type="sldNum" sz="quarter" idx="12"/>
          </p:nvPr>
        </p:nvSpPr>
        <p:spPr>
          <a:noFill/>
        </p:spPr>
        <p:txBody>
          <a:bodyPr/>
          <a:lstStyle/>
          <a:p>
            <a:fld id="{7A7B7676-0607-6247-A39B-465251591395}" type="slidenum">
              <a:rPr lang="en-US" smtClean="0"/>
              <a:pPr/>
              <a:t>90</a:t>
            </a:fld>
            <a:endParaRPr lang="en-US"/>
          </a:p>
        </p:txBody>
      </p:sp>
      <p:sp>
        <p:nvSpPr>
          <p:cNvPr id="70659" name="Rectangle 2"/>
          <p:cNvSpPr>
            <a:spLocks noGrp="1" noChangeArrowheads="1"/>
          </p:cNvSpPr>
          <p:nvPr>
            <p:ph type="title"/>
          </p:nvPr>
        </p:nvSpPr>
        <p:spPr>
          <a:xfrm>
            <a:off x="609600" y="96838"/>
            <a:ext cx="8229600" cy="1017587"/>
          </a:xfrm>
        </p:spPr>
        <p:txBody>
          <a:bodyPr>
            <a:noAutofit/>
          </a:bodyPr>
          <a:lstStyle/>
          <a:p>
            <a:pPr eaLnBrk="1" hangingPunct="1"/>
            <a:r>
              <a:rPr lang="en-US" dirty="0"/>
              <a:t>Strategy pattern: Linear algebraic solvers</a:t>
            </a:r>
          </a:p>
        </p:txBody>
      </p:sp>
      <p:grpSp>
        <p:nvGrpSpPr>
          <p:cNvPr id="2" name="Group 3"/>
          <p:cNvGrpSpPr>
            <a:grpSpLocks/>
          </p:cNvGrpSpPr>
          <p:nvPr/>
        </p:nvGrpSpPr>
        <p:grpSpPr bwMode="auto">
          <a:xfrm>
            <a:off x="1028700" y="1320800"/>
            <a:ext cx="7391400" cy="4597400"/>
            <a:chOff x="672" y="992"/>
            <a:chExt cx="4656" cy="2896"/>
          </a:xfrm>
        </p:grpSpPr>
        <p:sp>
          <p:nvSpPr>
            <p:cNvPr id="70661" name="Text Box 4"/>
            <p:cNvSpPr txBox="1">
              <a:spLocks noChangeArrowheads="1"/>
            </p:cNvSpPr>
            <p:nvPr/>
          </p:nvSpPr>
          <p:spPr bwMode="auto">
            <a:xfrm>
              <a:off x="768" y="1968"/>
              <a:ext cx="816" cy="179"/>
            </a:xfrm>
            <a:prstGeom prst="rect">
              <a:avLst/>
            </a:prstGeom>
            <a:noFill/>
            <a:ln w="9525">
              <a:solidFill>
                <a:schemeClr val="tx1"/>
              </a:solidFill>
              <a:miter lim="800000"/>
              <a:headEnd/>
              <a:tailEnd/>
            </a:ln>
          </p:spPr>
          <p:txBody>
            <a:bodyPr>
              <a:prstTxWarp prst="textNoShape">
                <a:avLst/>
              </a:prstTxWarp>
              <a:spAutoFit/>
            </a:bodyPr>
            <a:lstStyle/>
            <a:p>
              <a:pPr algn="ctr" eaLnBrk="0" hangingPunct="0">
                <a:spcBef>
                  <a:spcPct val="50000"/>
                </a:spcBef>
              </a:pPr>
              <a:r>
                <a:rPr lang="de-DE" sz="1200" b="1"/>
                <a:t>SAMG-Solver</a:t>
              </a:r>
            </a:p>
          </p:txBody>
        </p:sp>
        <p:sp>
          <p:nvSpPr>
            <p:cNvPr id="70662" name="Text Box 5"/>
            <p:cNvSpPr txBox="1">
              <a:spLocks noChangeArrowheads="1"/>
            </p:cNvSpPr>
            <p:nvPr/>
          </p:nvSpPr>
          <p:spPr bwMode="auto">
            <a:xfrm>
              <a:off x="2208" y="1968"/>
              <a:ext cx="768" cy="179"/>
            </a:xfrm>
            <a:prstGeom prst="rect">
              <a:avLst/>
            </a:prstGeom>
            <a:noFill/>
            <a:ln w="9525">
              <a:solidFill>
                <a:schemeClr val="tx1"/>
              </a:solidFill>
              <a:miter lim="800000"/>
              <a:headEnd/>
              <a:tailEnd/>
            </a:ln>
          </p:spPr>
          <p:txBody>
            <a:bodyPr>
              <a:prstTxWarp prst="textNoShape">
                <a:avLst/>
              </a:prstTxWarp>
              <a:spAutoFit/>
            </a:bodyPr>
            <a:lstStyle/>
            <a:p>
              <a:pPr algn="ctr" eaLnBrk="0" hangingPunct="0">
                <a:spcBef>
                  <a:spcPct val="50000"/>
                </a:spcBef>
              </a:pPr>
              <a:r>
                <a:rPr lang="de-DE" sz="1200" b="1"/>
                <a:t>GE-Solver</a:t>
              </a:r>
            </a:p>
          </p:txBody>
        </p:sp>
        <p:sp>
          <p:nvSpPr>
            <p:cNvPr id="70663" name="Text Box 6"/>
            <p:cNvSpPr txBox="1">
              <a:spLocks noChangeArrowheads="1"/>
            </p:cNvSpPr>
            <p:nvPr/>
          </p:nvSpPr>
          <p:spPr bwMode="auto">
            <a:xfrm>
              <a:off x="3648" y="1968"/>
              <a:ext cx="768" cy="150"/>
            </a:xfrm>
            <a:prstGeom prst="rect">
              <a:avLst/>
            </a:prstGeom>
            <a:noFill/>
            <a:ln w="9525">
              <a:solidFill>
                <a:schemeClr val="tx1"/>
              </a:solidFill>
              <a:miter lim="800000"/>
              <a:headEnd/>
              <a:tailEnd/>
            </a:ln>
          </p:spPr>
          <p:txBody>
            <a:bodyPr>
              <a:prstTxWarp prst="textNoShape">
                <a:avLst/>
              </a:prstTxWarp>
              <a:spAutoFit/>
            </a:bodyPr>
            <a:lstStyle/>
            <a:p>
              <a:pPr algn="ctr" eaLnBrk="0" hangingPunct="0">
                <a:spcBef>
                  <a:spcPct val="50000"/>
                </a:spcBef>
              </a:pPr>
              <a:r>
                <a:rPr lang="de-DE" sz="900"/>
                <a:t>...</a:t>
              </a:r>
            </a:p>
          </p:txBody>
        </p:sp>
        <p:sp>
          <p:nvSpPr>
            <p:cNvPr id="70664" name="AutoShape 7"/>
            <p:cNvSpPr>
              <a:spLocks noChangeArrowheads="1"/>
            </p:cNvSpPr>
            <p:nvPr/>
          </p:nvSpPr>
          <p:spPr bwMode="auto">
            <a:xfrm>
              <a:off x="2544" y="1632"/>
              <a:ext cx="96" cy="96"/>
            </a:xfrm>
            <a:prstGeom prst="triangle">
              <a:avLst>
                <a:gd name="adj" fmla="val 50000"/>
              </a:avLst>
            </a:prstGeom>
            <a:noFill/>
            <a:ln w="9525">
              <a:solidFill>
                <a:schemeClr val="tx1"/>
              </a:solidFill>
              <a:miter lim="800000"/>
              <a:headEnd/>
              <a:tailEnd/>
            </a:ln>
          </p:spPr>
          <p:txBody>
            <a:bodyPr wrap="none" anchor="ctr">
              <a:prstTxWarp prst="textNoShape">
                <a:avLst/>
              </a:prstTxWarp>
            </a:bodyPr>
            <a:lstStyle/>
            <a:p>
              <a:endParaRPr lang="en-US"/>
            </a:p>
          </p:txBody>
        </p:sp>
        <p:cxnSp>
          <p:nvCxnSpPr>
            <p:cNvPr id="70665" name="AutoShape 8"/>
            <p:cNvCxnSpPr>
              <a:cxnSpLocks noChangeShapeType="1"/>
              <a:stCxn id="70664" idx="3"/>
              <a:endCxn id="70661" idx="0"/>
            </p:cNvCxnSpPr>
            <p:nvPr/>
          </p:nvCxnSpPr>
          <p:spPr bwMode="auto">
            <a:xfrm rot="5400000">
              <a:off x="1764" y="1140"/>
              <a:ext cx="240" cy="1416"/>
            </a:xfrm>
            <a:prstGeom prst="bentConnector3">
              <a:avLst>
                <a:gd name="adj1" fmla="val 50000"/>
              </a:avLst>
            </a:prstGeom>
            <a:noFill/>
            <a:ln w="9525">
              <a:solidFill>
                <a:schemeClr val="tx1"/>
              </a:solidFill>
              <a:miter lim="800000"/>
              <a:headEnd/>
              <a:tailEnd/>
            </a:ln>
          </p:spPr>
        </p:cxnSp>
        <p:cxnSp>
          <p:nvCxnSpPr>
            <p:cNvPr id="70666" name="AutoShape 9"/>
            <p:cNvCxnSpPr>
              <a:cxnSpLocks noChangeShapeType="1"/>
              <a:stCxn id="70664" idx="3"/>
              <a:endCxn id="70663" idx="0"/>
            </p:cNvCxnSpPr>
            <p:nvPr/>
          </p:nvCxnSpPr>
          <p:spPr bwMode="auto">
            <a:xfrm rot="16200000" flipH="1">
              <a:off x="3192" y="1128"/>
              <a:ext cx="240" cy="1440"/>
            </a:xfrm>
            <a:prstGeom prst="bentConnector3">
              <a:avLst>
                <a:gd name="adj1" fmla="val 50000"/>
              </a:avLst>
            </a:prstGeom>
            <a:noFill/>
            <a:ln w="9525">
              <a:solidFill>
                <a:schemeClr val="tx1"/>
              </a:solidFill>
              <a:miter lim="800000"/>
              <a:headEnd/>
              <a:tailEnd/>
            </a:ln>
          </p:spPr>
        </p:cxnSp>
        <p:cxnSp>
          <p:nvCxnSpPr>
            <p:cNvPr id="70667" name="AutoShape 10"/>
            <p:cNvCxnSpPr>
              <a:cxnSpLocks noChangeShapeType="1"/>
              <a:stCxn id="70664" idx="3"/>
              <a:endCxn id="70662" idx="0"/>
            </p:cNvCxnSpPr>
            <p:nvPr/>
          </p:nvCxnSpPr>
          <p:spPr bwMode="auto">
            <a:xfrm>
              <a:off x="2592" y="1728"/>
              <a:ext cx="0" cy="240"/>
            </a:xfrm>
            <a:prstGeom prst="straightConnector1">
              <a:avLst/>
            </a:prstGeom>
            <a:noFill/>
            <a:ln w="9525">
              <a:solidFill>
                <a:schemeClr val="tx1"/>
              </a:solidFill>
              <a:round/>
              <a:headEnd/>
              <a:tailEnd/>
            </a:ln>
          </p:spPr>
        </p:cxnSp>
        <p:sp>
          <p:nvSpPr>
            <p:cNvPr id="70668" name="AutoShape 11"/>
            <p:cNvSpPr>
              <a:spLocks noChangeArrowheads="1"/>
            </p:cNvSpPr>
            <p:nvPr/>
          </p:nvSpPr>
          <p:spPr bwMode="auto">
            <a:xfrm>
              <a:off x="1104" y="2160"/>
              <a:ext cx="96" cy="144"/>
            </a:xfrm>
            <a:prstGeom prst="flowChartDecision">
              <a:avLst/>
            </a:prstGeom>
            <a:noFill/>
            <a:ln w="9525">
              <a:solidFill>
                <a:schemeClr val="tx1"/>
              </a:solidFill>
              <a:miter lim="800000"/>
              <a:headEnd/>
              <a:tailEnd/>
            </a:ln>
          </p:spPr>
          <p:txBody>
            <a:bodyPr wrap="none" anchor="ctr">
              <a:prstTxWarp prst="textNoShape">
                <a:avLst/>
              </a:prstTxWarp>
            </a:bodyPr>
            <a:lstStyle/>
            <a:p>
              <a:endParaRPr lang="en-US"/>
            </a:p>
          </p:txBody>
        </p:sp>
        <p:grpSp>
          <p:nvGrpSpPr>
            <p:cNvPr id="3" name="Group 12"/>
            <p:cNvGrpSpPr>
              <a:grpSpLocks/>
            </p:cNvGrpSpPr>
            <p:nvPr/>
          </p:nvGrpSpPr>
          <p:grpSpPr bwMode="auto">
            <a:xfrm>
              <a:off x="672" y="992"/>
              <a:ext cx="2448" cy="600"/>
              <a:chOff x="672" y="624"/>
              <a:chExt cx="2448" cy="600"/>
            </a:xfrm>
          </p:grpSpPr>
          <p:sp>
            <p:nvSpPr>
              <p:cNvPr id="70692" name="Text Box 13"/>
              <p:cNvSpPr txBox="1">
                <a:spLocks noChangeArrowheads="1"/>
              </p:cNvSpPr>
              <p:nvPr/>
            </p:nvSpPr>
            <p:spPr bwMode="auto">
              <a:xfrm>
                <a:off x="672" y="624"/>
                <a:ext cx="768" cy="179"/>
              </a:xfrm>
              <a:prstGeom prst="rect">
                <a:avLst/>
              </a:prstGeom>
              <a:noFill/>
              <a:ln w="9525">
                <a:solidFill>
                  <a:schemeClr val="tx1"/>
                </a:solidFill>
                <a:miter lim="800000"/>
                <a:headEnd/>
                <a:tailEnd/>
              </a:ln>
            </p:spPr>
            <p:txBody>
              <a:bodyPr>
                <a:prstTxWarp prst="textNoShape">
                  <a:avLst/>
                </a:prstTxWarp>
                <a:spAutoFit/>
              </a:bodyPr>
              <a:lstStyle/>
              <a:p>
                <a:pPr algn="ctr" eaLnBrk="0" hangingPunct="0">
                  <a:spcBef>
                    <a:spcPct val="50000"/>
                  </a:spcBef>
                </a:pPr>
                <a:r>
                  <a:rPr lang="de-DE" sz="1200" b="1"/>
                  <a:t>Algorithm</a:t>
                </a:r>
              </a:p>
            </p:txBody>
          </p:sp>
          <p:sp>
            <p:nvSpPr>
              <p:cNvPr id="70693" name="Text Box 14"/>
              <p:cNvSpPr txBox="1">
                <a:spLocks noChangeArrowheads="1"/>
              </p:cNvSpPr>
              <p:nvPr/>
            </p:nvSpPr>
            <p:spPr bwMode="auto">
              <a:xfrm>
                <a:off x="2112" y="624"/>
                <a:ext cx="1008" cy="179"/>
              </a:xfrm>
              <a:prstGeom prst="rect">
                <a:avLst/>
              </a:prstGeom>
              <a:noFill/>
              <a:ln w="9525">
                <a:solidFill>
                  <a:schemeClr val="tx1"/>
                </a:solidFill>
                <a:miter lim="800000"/>
                <a:headEnd/>
                <a:tailEnd/>
              </a:ln>
            </p:spPr>
            <p:txBody>
              <a:bodyPr>
                <a:prstTxWarp prst="textNoShape">
                  <a:avLst/>
                </a:prstTxWarp>
                <a:spAutoFit/>
              </a:bodyPr>
              <a:lstStyle/>
              <a:p>
                <a:pPr algn="ctr" eaLnBrk="0" hangingPunct="0">
                  <a:spcBef>
                    <a:spcPct val="50000"/>
                  </a:spcBef>
                </a:pPr>
                <a:r>
                  <a:rPr lang="de-DE" sz="1200" b="1"/>
                  <a:t>Solver</a:t>
                </a:r>
              </a:p>
            </p:txBody>
          </p:sp>
          <p:sp>
            <p:nvSpPr>
              <p:cNvPr id="70694" name="AutoShape 15"/>
              <p:cNvSpPr>
                <a:spLocks noChangeArrowheads="1"/>
              </p:cNvSpPr>
              <p:nvPr/>
            </p:nvSpPr>
            <p:spPr bwMode="auto">
              <a:xfrm>
                <a:off x="1440" y="672"/>
                <a:ext cx="144" cy="96"/>
              </a:xfrm>
              <a:prstGeom prst="flowChartDecision">
                <a:avLst/>
              </a:prstGeom>
              <a:noFill/>
              <a:ln w="9525">
                <a:solidFill>
                  <a:schemeClr val="tx1"/>
                </a:solidFill>
                <a:miter lim="800000"/>
                <a:headEnd/>
                <a:tailEnd/>
              </a:ln>
            </p:spPr>
            <p:txBody>
              <a:bodyPr wrap="none" anchor="ctr">
                <a:prstTxWarp prst="textNoShape">
                  <a:avLst/>
                </a:prstTxWarp>
              </a:bodyPr>
              <a:lstStyle/>
              <a:p>
                <a:endParaRPr lang="en-US"/>
              </a:p>
            </p:txBody>
          </p:sp>
          <p:cxnSp>
            <p:nvCxnSpPr>
              <p:cNvPr id="70695" name="AutoShape 16"/>
              <p:cNvCxnSpPr>
                <a:cxnSpLocks noChangeShapeType="1"/>
                <a:stCxn id="70694" idx="3"/>
                <a:endCxn id="70693" idx="1"/>
              </p:cNvCxnSpPr>
              <p:nvPr/>
            </p:nvCxnSpPr>
            <p:spPr bwMode="auto">
              <a:xfrm>
                <a:off x="1584" y="720"/>
                <a:ext cx="528" cy="3"/>
              </a:xfrm>
              <a:prstGeom prst="straightConnector1">
                <a:avLst/>
              </a:prstGeom>
              <a:noFill/>
              <a:ln w="9525">
                <a:solidFill>
                  <a:schemeClr val="tx1"/>
                </a:solidFill>
                <a:round/>
                <a:headEnd/>
                <a:tailEnd type="triangle" w="med" len="med"/>
              </a:ln>
            </p:spPr>
          </p:cxnSp>
          <p:sp>
            <p:nvSpPr>
              <p:cNvPr id="70696" name="Text Box 17"/>
              <p:cNvSpPr txBox="1">
                <a:spLocks noChangeArrowheads="1"/>
              </p:cNvSpPr>
              <p:nvPr/>
            </p:nvSpPr>
            <p:spPr bwMode="auto">
              <a:xfrm>
                <a:off x="2112" y="816"/>
                <a:ext cx="1008" cy="408"/>
              </a:xfrm>
              <a:prstGeom prst="rect">
                <a:avLst/>
              </a:prstGeom>
              <a:noFill/>
              <a:ln w="9525">
                <a:solidFill>
                  <a:schemeClr val="tx1"/>
                </a:solidFill>
                <a:miter lim="800000"/>
                <a:headEnd/>
                <a:tailEnd/>
              </a:ln>
            </p:spPr>
            <p:txBody>
              <a:bodyPr>
                <a:prstTxWarp prst="textNoShape">
                  <a:avLst/>
                </a:prstTxWarp>
                <a:spAutoFit/>
              </a:bodyPr>
              <a:lstStyle/>
              <a:p>
                <a:pPr eaLnBrk="0" hangingPunct="0">
                  <a:spcBef>
                    <a:spcPct val="50000"/>
                  </a:spcBef>
                </a:pPr>
                <a:r>
                  <a:rPr lang="de-DE" sz="900" dirty="0" err="1"/>
                  <a:t>SolveMatrixEquation(A,x</a:t>
                </a:r>
                <a:r>
                  <a:rPr lang="de-DE" sz="900" dirty="0"/>
                  <a:t>)</a:t>
                </a:r>
              </a:p>
              <a:p>
                <a:pPr eaLnBrk="0" hangingPunct="0">
                  <a:spcBef>
                    <a:spcPct val="50000"/>
                  </a:spcBef>
                </a:pPr>
                <a:r>
                  <a:rPr lang="de-DE" sz="900" dirty="0" err="1"/>
                  <a:t>Tolerance(tol</a:t>
                </a:r>
                <a:r>
                  <a:rPr lang="de-DE" sz="900" dirty="0"/>
                  <a:t>)</a:t>
                </a:r>
              </a:p>
              <a:p>
                <a:pPr eaLnBrk="0" hangingPunct="0">
                  <a:spcBef>
                    <a:spcPct val="50000"/>
                  </a:spcBef>
                </a:pPr>
                <a:r>
                  <a:rPr lang="de-DE" sz="900" dirty="0"/>
                  <a:t>Residual()</a:t>
                </a:r>
              </a:p>
            </p:txBody>
          </p:sp>
        </p:grpSp>
        <p:sp>
          <p:nvSpPr>
            <p:cNvPr id="70670" name="Text Box 18"/>
            <p:cNvSpPr txBox="1">
              <a:spLocks noChangeArrowheads="1"/>
            </p:cNvSpPr>
            <p:nvPr/>
          </p:nvSpPr>
          <p:spPr bwMode="auto">
            <a:xfrm>
              <a:off x="720" y="2490"/>
              <a:ext cx="864" cy="179"/>
            </a:xfrm>
            <a:prstGeom prst="rect">
              <a:avLst/>
            </a:prstGeom>
            <a:noFill/>
            <a:ln w="9525">
              <a:solidFill>
                <a:schemeClr val="tx1"/>
              </a:solidFill>
              <a:miter lim="800000"/>
              <a:headEnd/>
              <a:tailEnd/>
            </a:ln>
          </p:spPr>
          <p:txBody>
            <a:bodyPr>
              <a:prstTxWarp prst="textNoShape">
                <a:avLst/>
              </a:prstTxWarp>
              <a:spAutoFit/>
            </a:bodyPr>
            <a:lstStyle/>
            <a:p>
              <a:pPr algn="ctr" eaLnBrk="0" hangingPunct="0">
                <a:spcBef>
                  <a:spcPct val="50000"/>
                </a:spcBef>
              </a:pPr>
              <a:r>
                <a:rPr lang="de-DE" sz="1200" b="1"/>
                <a:t>SAMG-Settings</a:t>
              </a:r>
            </a:p>
          </p:txBody>
        </p:sp>
        <p:cxnSp>
          <p:nvCxnSpPr>
            <p:cNvPr id="70671" name="AutoShape 19"/>
            <p:cNvCxnSpPr>
              <a:cxnSpLocks noChangeShapeType="1"/>
              <a:stCxn id="70668" idx="2"/>
              <a:endCxn id="70670" idx="0"/>
            </p:cNvCxnSpPr>
            <p:nvPr/>
          </p:nvCxnSpPr>
          <p:spPr bwMode="auto">
            <a:xfrm>
              <a:off x="1152" y="2304"/>
              <a:ext cx="0" cy="186"/>
            </a:xfrm>
            <a:prstGeom prst="straightConnector1">
              <a:avLst/>
            </a:prstGeom>
            <a:noFill/>
            <a:ln w="9525">
              <a:solidFill>
                <a:schemeClr val="tx1"/>
              </a:solidFill>
              <a:round/>
              <a:headEnd/>
              <a:tailEnd/>
            </a:ln>
          </p:spPr>
        </p:cxnSp>
        <p:sp>
          <p:nvSpPr>
            <p:cNvPr id="70672" name="Text Box 20"/>
            <p:cNvSpPr txBox="1">
              <a:spLocks noChangeArrowheads="1"/>
            </p:cNvSpPr>
            <p:nvPr/>
          </p:nvSpPr>
          <p:spPr bwMode="auto">
            <a:xfrm>
              <a:off x="720" y="2688"/>
              <a:ext cx="864" cy="279"/>
            </a:xfrm>
            <a:prstGeom prst="rect">
              <a:avLst/>
            </a:prstGeom>
            <a:noFill/>
            <a:ln w="9525">
              <a:solidFill>
                <a:schemeClr val="tx1"/>
              </a:solidFill>
              <a:miter lim="800000"/>
              <a:headEnd/>
              <a:tailEnd/>
            </a:ln>
          </p:spPr>
          <p:txBody>
            <a:bodyPr>
              <a:prstTxWarp prst="textNoShape">
                <a:avLst/>
              </a:prstTxWarp>
              <a:spAutoFit/>
            </a:bodyPr>
            <a:lstStyle/>
            <a:p>
              <a:pPr eaLnBrk="0" hangingPunct="0">
                <a:spcBef>
                  <a:spcPct val="50000"/>
                </a:spcBef>
              </a:pPr>
              <a:r>
                <a:rPr lang="de-DE" sz="900"/>
                <a:t>Set...()</a:t>
              </a:r>
            </a:p>
            <a:p>
              <a:pPr eaLnBrk="0" hangingPunct="0">
                <a:spcBef>
                  <a:spcPct val="50000"/>
                </a:spcBef>
              </a:pPr>
              <a:r>
                <a:rPr lang="de-DE" sz="900"/>
                <a:t>Get...()</a:t>
              </a:r>
            </a:p>
          </p:txBody>
        </p:sp>
        <p:grpSp>
          <p:nvGrpSpPr>
            <p:cNvPr id="4" name="Group 21"/>
            <p:cNvGrpSpPr>
              <a:grpSpLocks/>
            </p:cNvGrpSpPr>
            <p:nvPr/>
          </p:nvGrpSpPr>
          <p:grpSpPr bwMode="auto">
            <a:xfrm>
              <a:off x="720" y="3264"/>
              <a:ext cx="960" cy="624"/>
              <a:chOff x="960" y="3360"/>
              <a:chExt cx="960" cy="624"/>
            </a:xfrm>
          </p:grpSpPr>
          <p:sp>
            <p:nvSpPr>
              <p:cNvPr id="70690" name="AutoShape 22"/>
              <p:cNvSpPr>
                <a:spLocks noChangeArrowheads="1"/>
              </p:cNvSpPr>
              <p:nvPr/>
            </p:nvSpPr>
            <p:spPr bwMode="auto">
              <a:xfrm>
                <a:off x="960" y="3360"/>
                <a:ext cx="960" cy="624"/>
              </a:xfrm>
              <a:prstGeom prst="foldedCorner">
                <a:avLst>
                  <a:gd name="adj" fmla="val 12500"/>
                </a:avLst>
              </a:prstGeom>
              <a:noFill/>
              <a:ln w="9525">
                <a:solidFill>
                  <a:schemeClr val="tx1"/>
                </a:solidFill>
                <a:round/>
                <a:headEnd/>
                <a:tailEnd/>
              </a:ln>
            </p:spPr>
            <p:txBody>
              <a:bodyPr wrap="none" anchor="ctr">
                <a:prstTxWarp prst="textNoShape">
                  <a:avLst/>
                </a:prstTxWarp>
              </a:bodyPr>
              <a:lstStyle/>
              <a:p>
                <a:endParaRPr lang="en-US"/>
              </a:p>
            </p:txBody>
          </p:sp>
          <p:sp>
            <p:nvSpPr>
              <p:cNvPr id="70691" name="Text Box 23"/>
              <p:cNvSpPr txBox="1">
                <a:spLocks noChangeArrowheads="1"/>
              </p:cNvSpPr>
              <p:nvPr/>
            </p:nvSpPr>
            <p:spPr bwMode="auto">
              <a:xfrm>
                <a:off x="1008" y="3408"/>
                <a:ext cx="864" cy="488"/>
              </a:xfrm>
              <a:prstGeom prst="rect">
                <a:avLst/>
              </a:prstGeom>
              <a:noFill/>
              <a:ln w="9525">
                <a:noFill/>
                <a:miter lim="800000"/>
                <a:headEnd/>
                <a:tailEnd/>
              </a:ln>
            </p:spPr>
            <p:txBody>
              <a:bodyPr>
                <a:prstTxWarp prst="textNoShape">
                  <a:avLst/>
                </a:prstTxWarp>
                <a:spAutoFit/>
              </a:bodyPr>
              <a:lstStyle/>
              <a:p>
                <a:pPr eaLnBrk="0" hangingPunct="0">
                  <a:spcBef>
                    <a:spcPct val="50000"/>
                  </a:spcBef>
                </a:pPr>
                <a:r>
                  <a:rPr lang="de-DE" sz="900"/>
                  <a:t>Set-methods for all subswitches (ca. 50!), Get-methods for compound switches (ca. 20!)</a:t>
                </a:r>
              </a:p>
            </p:txBody>
          </p:sp>
        </p:grpSp>
        <p:sp>
          <p:nvSpPr>
            <p:cNvPr id="70674" name="Oval 24"/>
            <p:cNvSpPr>
              <a:spLocks noChangeArrowheads="1"/>
            </p:cNvSpPr>
            <p:nvPr/>
          </p:nvSpPr>
          <p:spPr bwMode="auto">
            <a:xfrm>
              <a:off x="1056" y="2832"/>
              <a:ext cx="48" cy="48"/>
            </a:xfrm>
            <a:prstGeom prst="ellipse">
              <a:avLst/>
            </a:prstGeom>
            <a:noFill/>
            <a:ln w="9525">
              <a:solidFill>
                <a:schemeClr val="tx1"/>
              </a:solidFill>
              <a:round/>
              <a:headEnd/>
              <a:tailEnd/>
            </a:ln>
          </p:spPr>
          <p:txBody>
            <a:bodyPr wrap="none" anchor="ctr">
              <a:prstTxWarp prst="textNoShape">
                <a:avLst/>
              </a:prstTxWarp>
            </a:bodyPr>
            <a:lstStyle/>
            <a:p>
              <a:endParaRPr lang="en-US"/>
            </a:p>
          </p:txBody>
        </p:sp>
        <p:cxnSp>
          <p:nvCxnSpPr>
            <p:cNvPr id="70675" name="AutoShape 25"/>
            <p:cNvCxnSpPr>
              <a:cxnSpLocks noChangeShapeType="1"/>
              <a:stCxn id="70674" idx="4"/>
              <a:endCxn id="70690" idx="0"/>
            </p:cNvCxnSpPr>
            <p:nvPr/>
          </p:nvCxnSpPr>
          <p:spPr bwMode="auto">
            <a:xfrm>
              <a:off x="1080" y="2880"/>
              <a:ext cx="120" cy="384"/>
            </a:xfrm>
            <a:prstGeom prst="straightConnector1">
              <a:avLst/>
            </a:prstGeom>
            <a:noFill/>
            <a:ln w="9525">
              <a:solidFill>
                <a:schemeClr val="tx1"/>
              </a:solidFill>
              <a:round/>
              <a:headEnd/>
              <a:tailEnd/>
            </a:ln>
          </p:spPr>
        </p:cxnSp>
        <p:grpSp>
          <p:nvGrpSpPr>
            <p:cNvPr id="5" name="Group 26"/>
            <p:cNvGrpSpPr>
              <a:grpSpLocks/>
            </p:cNvGrpSpPr>
            <p:nvPr/>
          </p:nvGrpSpPr>
          <p:grpSpPr bwMode="auto">
            <a:xfrm>
              <a:off x="2400" y="2496"/>
              <a:ext cx="1584" cy="471"/>
              <a:chOff x="2592" y="2496"/>
              <a:chExt cx="1584" cy="471"/>
            </a:xfrm>
          </p:grpSpPr>
          <p:sp>
            <p:nvSpPr>
              <p:cNvPr id="70688" name="Text Box 27"/>
              <p:cNvSpPr txBox="1">
                <a:spLocks noChangeArrowheads="1"/>
              </p:cNvSpPr>
              <p:nvPr/>
            </p:nvSpPr>
            <p:spPr bwMode="auto">
              <a:xfrm>
                <a:off x="2592" y="2688"/>
                <a:ext cx="1584" cy="279"/>
              </a:xfrm>
              <a:prstGeom prst="rect">
                <a:avLst/>
              </a:prstGeom>
              <a:noFill/>
              <a:ln w="9525">
                <a:solidFill>
                  <a:schemeClr val="tx1"/>
                </a:solidFill>
                <a:miter lim="800000"/>
                <a:headEnd/>
                <a:tailEnd/>
              </a:ln>
            </p:spPr>
            <p:txBody>
              <a:bodyPr>
                <a:prstTxWarp prst="textNoShape">
                  <a:avLst/>
                </a:prstTxWarp>
                <a:spAutoFit/>
              </a:bodyPr>
              <a:lstStyle/>
              <a:p>
                <a:pPr eaLnBrk="0" hangingPunct="0">
                  <a:spcBef>
                    <a:spcPct val="50000"/>
                  </a:spcBef>
                </a:pPr>
                <a:r>
                  <a:rPr lang="de-DE" sz="900"/>
                  <a:t>SAMG-Settings SettingsFromFile(filename)</a:t>
                </a:r>
              </a:p>
              <a:p>
                <a:pPr eaLnBrk="0" hangingPunct="0">
                  <a:spcBef>
                    <a:spcPct val="50000"/>
                  </a:spcBef>
                </a:pPr>
                <a:r>
                  <a:rPr lang="de-DE" sz="900"/>
                  <a:t>SAMG-Settings NamedSetting(name)</a:t>
                </a:r>
              </a:p>
            </p:txBody>
          </p:sp>
          <p:sp>
            <p:nvSpPr>
              <p:cNvPr id="70689" name="Text Box 28"/>
              <p:cNvSpPr txBox="1">
                <a:spLocks noChangeArrowheads="1"/>
              </p:cNvSpPr>
              <p:nvPr/>
            </p:nvSpPr>
            <p:spPr bwMode="auto">
              <a:xfrm>
                <a:off x="2592" y="2496"/>
                <a:ext cx="1584" cy="179"/>
              </a:xfrm>
              <a:prstGeom prst="rect">
                <a:avLst/>
              </a:prstGeom>
              <a:noFill/>
              <a:ln w="9525">
                <a:solidFill>
                  <a:schemeClr val="tx1"/>
                </a:solidFill>
                <a:miter lim="800000"/>
                <a:headEnd/>
                <a:tailEnd/>
              </a:ln>
            </p:spPr>
            <p:txBody>
              <a:bodyPr>
                <a:prstTxWarp prst="textNoShape">
                  <a:avLst/>
                </a:prstTxWarp>
                <a:spAutoFit/>
              </a:bodyPr>
              <a:lstStyle/>
              <a:p>
                <a:pPr algn="ctr" eaLnBrk="0" hangingPunct="0">
                  <a:spcBef>
                    <a:spcPct val="50000"/>
                  </a:spcBef>
                </a:pPr>
                <a:r>
                  <a:rPr lang="de-DE" sz="1200" b="1"/>
                  <a:t>SAMG-Solver-Configurator</a:t>
                </a:r>
              </a:p>
            </p:txBody>
          </p:sp>
        </p:grpSp>
        <p:cxnSp>
          <p:nvCxnSpPr>
            <p:cNvPr id="70677" name="AutoShape 29"/>
            <p:cNvCxnSpPr>
              <a:cxnSpLocks noChangeShapeType="1"/>
              <a:stCxn id="70672" idx="3"/>
              <a:endCxn id="70688" idx="1"/>
            </p:cNvCxnSpPr>
            <p:nvPr/>
          </p:nvCxnSpPr>
          <p:spPr bwMode="auto">
            <a:xfrm>
              <a:off x="1584" y="2840"/>
              <a:ext cx="816" cy="0"/>
            </a:xfrm>
            <a:prstGeom prst="straightConnector1">
              <a:avLst/>
            </a:prstGeom>
            <a:noFill/>
            <a:ln w="9525">
              <a:solidFill>
                <a:schemeClr val="tx1"/>
              </a:solidFill>
              <a:round/>
              <a:headEnd/>
              <a:tailEnd/>
            </a:ln>
          </p:spPr>
        </p:cxnSp>
        <p:grpSp>
          <p:nvGrpSpPr>
            <p:cNvPr id="6" name="Group 30"/>
            <p:cNvGrpSpPr>
              <a:grpSpLocks/>
            </p:cNvGrpSpPr>
            <p:nvPr/>
          </p:nvGrpSpPr>
          <p:grpSpPr bwMode="auto">
            <a:xfrm>
              <a:off x="4368" y="2496"/>
              <a:ext cx="960" cy="432"/>
              <a:chOff x="960" y="3360"/>
              <a:chExt cx="960" cy="624"/>
            </a:xfrm>
          </p:grpSpPr>
          <p:sp>
            <p:nvSpPr>
              <p:cNvPr id="70686" name="AutoShape 31"/>
              <p:cNvSpPr>
                <a:spLocks noChangeArrowheads="1"/>
              </p:cNvSpPr>
              <p:nvPr/>
            </p:nvSpPr>
            <p:spPr bwMode="auto">
              <a:xfrm>
                <a:off x="960" y="3360"/>
                <a:ext cx="960" cy="624"/>
              </a:xfrm>
              <a:prstGeom prst="foldedCorner">
                <a:avLst>
                  <a:gd name="adj" fmla="val 12500"/>
                </a:avLst>
              </a:prstGeom>
              <a:noFill/>
              <a:ln w="9525">
                <a:solidFill>
                  <a:schemeClr val="tx1"/>
                </a:solidFill>
                <a:round/>
                <a:headEnd/>
                <a:tailEnd/>
              </a:ln>
            </p:spPr>
            <p:txBody>
              <a:bodyPr wrap="none" anchor="ctr">
                <a:prstTxWarp prst="textNoShape">
                  <a:avLst/>
                </a:prstTxWarp>
              </a:bodyPr>
              <a:lstStyle/>
              <a:p>
                <a:endParaRPr lang="en-US"/>
              </a:p>
            </p:txBody>
          </p:sp>
          <p:sp>
            <p:nvSpPr>
              <p:cNvPr id="70687" name="Text Box 32"/>
              <p:cNvSpPr txBox="1">
                <a:spLocks noChangeArrowheads="1"/>
              </p:cNvSpPr>
              <p:nvPr/>
            </p:nvSpPr>
            <p:spPr bwMode="auto">
              <a:xfrm>
                <a:off x="1008" y="3408"/>
                <a:ext cx="864" cy="456"/>
              </a:xfrm>
              <a:prstGeom prst="rect">
                <a:avLst/>
              </a:prstGeom>
              <a:noFill/>
              <a:ln w="9525">
                <a:noFill/>
                <a:miter lim="800000"/>
                <a:headEnd/>
                <a:tailEnd/>
              </a:ln>
            </p:spPr>
            <p:txBody>
              <a:bodyPr>
                <a:prstTxWarp prst="textNoShape">
                  <a:avLst/>
                </a:prstTxWarp>
                <a:spAutoFit/>
              </a:bodyPr>
              <a:lstStyle/>
              <a:p>
                <a:pPr eaLnBrk="0" hangingPunct="0">
                  <a:spcBef>
                    <a:spcPct val="50000"/>
                  </a:spcBef>
                </a:pPr>
                <a:r>
                  <a:rPr lang="de-DE" sz="900"/>
                  <a:t>Collaboration with configuration file reader?</a:t>
                </a:r>
              </a:p>
            </p:txBody>
          </p:sp>
        </p:grpSp>
        <p:grpSp>
          <p:nvGrpSpPr>
            <p:cNvPr id="7" name="Group 33"/>
            <p:cNvGrpSpPr>
              <a:grpSpLocks/>
            </p:cNvGrpSpPr>
            <p:nvPr/>
          </p:nvGrpSpPr>
          <p:grpSpPr bwMode="auto">
            <a:xfrm>
              <a:off x="4080" y="3264"/>
              <a:ext cx="960" cy="528"/>
              <a:chOff x="960" y="3360"/>
              <a:chExt cx="960" cy="624"/>
            </a:xfrm>
          </p:grpSpPr>
          <p:sp>
            <p:nvSpPr>
              <p:cNvPr id="70684" name="AutoShape 34"/>
              <p:cNvSpPr>
                <a:spLocks noChangeArrowheads="1"/>
              </p:cNvSpPr>
              <p:nvPr/>
            </p:nvSpPr>
            <p:spPr bwMode="auto">
              <a:xfrm>
                <a:off x="960" y="3360"/>
                <a:ext cx="960" cy="624"/>
              </a:xfrm>
              <a:prstGeom prst="foldedCorner">
                <a:avLst>
                  <a:gd name="adj" fmla="val 12500"/>
                </a:avLst>
              </a:prstGeom>
              <a:noFill/>
              <a:ln w="9525">
                <a:solidFill>
                  <a:schemeClr val="tx1"/>
                </a:solidFill>
                <a:round/>
                <a:headEnd/>
                <a:tailEnd/>
              </a:ln>
            </p:spPr>
            <p:txBody>
              <a:bodyPr wrap="none" anchor="ctr">
                <a:prstTxWarp prst="textNoShape">
                  <a:avLst/>
                </a:prstTxWarp>
              </a:bodyPr>
              <a:lstStyle/>
              <a:p>
                <a:endParaRPr lang="en-US"/>
              </a:p>
            </p:txBody>
          </p:sp>
          <p:sp>
            <p:nvSpPr>
              <p:cNvPr id="70685" name="Text Box 35"/>
              <p:cNvSpPr txBox="1">
                <a:spLocks noChangeArrowheads="1"/>
              </p:cNvSpPr>
              <p:nvPr/>
            </p:nvSpPr>
            <p:spPr bwMode="auto">
              <a:xfrm>
                <a:off x="1008" y="3408"/>
                <a:ext cx="864" cy="476"/>
              </a:xfrm>
              <a:prstGeom prst="rect">
                <a:avLst/>
              </a:prstGeom>
              <a:noFill/>
              <a:ln w="9525">
                <a:noFill/>
                <a:miter lim="800000"/>
                <a:headEnd/>
                <a:tailEnd/>
              </a:ln>
            </p:spPr>
            <p:txBody>
              <a:bodyPr>
                <a:prstTxWarp prst="textNoShape">
                  <a:avLst/>
                </a:prstTxWarp>
                <a:spAutoFit/>
              </a:bodyPr>
              <a:lstStyle/>
              <a:p>
                <a:pPr eaLnBrk="0" hangingPunct="0">
                  <a:spcBef>
                    <a:spcPct val="50000"/>
                  </a:spcBef>
                </a:pPr>
                <a:r>
                  <a:rPr lang="de-DE" sz="900"/>
                  <a:t>Collection of predefined, named settings. Extendable in subclasses.</a:t>
                </a:r>
              </a:p>
            </p:txBody>
          </p:sp>
        </p:grpSp>
        <p:sp>
          <p:nvSpPr>
            <p:cNvPr id="70680" name="Oval 36"/>
            <p:cNvSpPr>
              <a:spLocks noChangeArrowheads="1"/>
            </p:cNvSpPr>
            <p:nvPr/>
          </p:nvSpPr>
          <p:spPr bwMode="auto">
            <a:xfrm>
              <a:off x="3888" y="2880"/>
              <a:ext cx="48" cy="48"/>
            </a:xfrm>
            <a:prstGeom prst="ellipse">
              <a:avLst/>
            </a:prstGeom>
            <a:noFill/>
            <a:ln w="9525">
              <a:solidFill>
                <a:schemeClr val="tx1"/>
              </a:solidFill>
              <a:round/>
              <a:headEnd/>
              <a:tailEnd/>
            </a:ln>
          </p:spPr>
          <p:txBody>
            <a:bodyPr wrap="none" anchor="ctr">
              <a:prstTxWarp prst="textNoShape">
                <a:avLst/>
              </a:prstTxWarp>
            </a:bodyPr>
            <a:lstStyle/>
            <a:p>
              <a:endParaRPr lang="en-US"/>
            </a:p>
          </p:txBody>
        </p:sp>
        <p:sp>
          <p:nvSpPr>
            <p:cNvPr id="70681" name="Oval 37"/>
            <p:cNvSpPr>
              <a:spLocks noChangeArrowheads="1"/>
            </p:cNvSpPr>
            <p:nvPr/>
          </p:nvSpPr>
          <p:spPr bwMode="auto">
            <a:xfrm>
              <a:off x="3888" y="2736"/>
              <a:ext cx="48" cy="48"/>
            </a:xfrm>
            <a:prstGeom prst="ellipse">
              <a:avLst/>
            </a:prstGeom>
            <a:noFill/>
            <a:ln w="9525">
              <a:solidFill>
                <a:schemeClr val="tx1"/>
              </a:solidFill>
              <a:round/>
              <a:headEnd/>
              <a:tailEnd/>
            </a:ln>
          </p:spPr>
          <p:txBody>
            <a:bodyPr wrap="none" anchor="ctr">
              <a:prstTxWarp prst="textNoShape">
                <a:avLst/>
              </a:prstTxWarp>
            </a:bodyPr>
            <a:lstStyle/>
            <a:p>
              <a:endParaRPr lang="en-US"/>
            </a:p>
          </p:txBody>
        </p:sp>
        <p:cxnSp>
          <p:nvCxnSpPr>
            <p:cNvPr id="70682" name="AutoShape 38"/>
            <p:cNvCxnSpPr>
              <a:cxnSpLocks noChangeShapeType="1"/>
              <a:stCxn id="70681" idx="0"/>
              <a:endCxn id="70686" idx="1"/>
            </p:cNvCxnSpPr>
            <p:nvPr/>
          </p:nvCxnSpPr>
          <p:spPr bwMode="auto">
            <a:xfrm flipV="1">
              <a:off x="3912" y="2712"/>
              <a:ext cx="456" cy="24"/>
            </a:xfrm>
            <a:prstGeom prst="straightConnector1">
              <a:avLst/>
            </a:prstGeom>
            <a:noFill/>
            <a:ln w="9525">
              <a:solidFill>
                <a:schemeClr val="tx1"/>
              </a:solidFill>
              <a:round/>
              <a:headEnd/>
              <a:tailEnd/>
            </a:ln>
          </p:spPr>
        </p:cxnSp>
        <p:cxnSp>
          <p:nvCxnSpPr>
            <p:cNvPr id="70683" name="AutoShape 39"/>
            <p:cNvCxnSpPr>
              <a:cxnSpLocks noChangeShapeType="1"/>
              <a:stCxn id="70680" idx="3"/>
              <a:endCxn id="70684" idx="0"/>
            </p:cNvCxnSpPr>
            <p:nvPr/>
          </p:nvCxnSpPr>
          <p:spPr bwMode="auto">
            <a:xfrm>
              <a:off x="3895" y="2921"/>
              <a:ext cx="665" cy="343"/>
            </a:xfrm>
            <a:prstGeom prst="straightConnector1">
              <a:avLst/>
            </a:prstGeom>
            <a:noFill/>
            <a:ln w="9525">
              <a:solidFill>
                <a:schemeClr val="tx1"/>
              </a:solidFill>
              <a:round/>
              <a:headEnd/>
              <a:tailEnd/>
            </a:ln>
          </p:spPr>
        </p:cxnSp>
      </p:grpSp>
      <p:sp>
        <p:nvSpPr>
          <p:cNvPr id="41" name="Date Placeholder 40"/>
          <p:cNvSpPr>
            <a:spLocks noGrp="1"/>
          </p:cNvSpPr>
          <p:nvPr>
            <p:ph type="dt" sz="half" idx="10"/>
          </p:nvPr>
        </p:nvSpPr>
        <p:spPr/>
        <p:txBody>
          <a:bodyPr/>
          <a:lstStyle/>
          <a:p>
            <a:fld id="{FE963501-2C6F-A642-93FF-7E6CB09033AF}" type="datetime1">
              <a:rPr lang="en-US" smtClean="0"/>
              <a:pPr/>
              <a:t>5/2/24</a:t>
            </a:fld>
            <a:endParaRPr lang="en-US"/>
          </a:p>
        </p:txBody>
      </p:sp>
      <p:sp>
        <p:nvSpPr>
          <p:cNvPr id="42" name="Footer Placeholder 41"/>
          <p:cNvSpPr>
            <a:spLocks noGrp="1"/>
          </p:cNvSpPr>
          <p:nvPr>
            <p:ph type="ftr" sz="quarter" idx="11"/>
          </p:nvPr>
        </p:nvSpPr>
        <p:spPr/>
        <p:txBody>
          <a:bodyPr/>
          <a:lstStyle/>
          <a:p>
            <a:endParaRPr lang="en-US" dirty="0"/>
          </a:p>
          <a:p>
            <a:r>
              <a:rPr lang="en-US" dirty="0" err="1"/>
              <a:t>PDE_Integrator</a:t>
            </a:r>
            <a:r>
              <a:rPr lang="en-US" dirty="0"/>
              <a:t> framework</a:t>
            </a:r>
          </a:p>
          <a:p>
            <a:endParaRPr lang="en-US" dirty="0"/>
          </a:p>
        </p:txBody>
      </p:sp>
      <p:sp>
        <p:nvSpPr>
          <p:cNvPr id="8" name="TextBox 7"/>
          <p:cNvSpPr txBox="1"/>
          <p:nvPr/>
        </p:nvSpPr>
        <p:spPr>
          <a:xfrm>
            <a:off x="637191" y="1275034"/>
            <a:ext cx="1774845" cy="369332"/>
          </a:xfrm>
          <a:prstGeom prst="rect">
            <a:avLst/>
          </a:prstGeom>
          <a:solidFill>
            <a:schemeClr val="bg1"/>
          </a:solidFill>
          <a:ln>
            <a:solidFill>
              <a:schemeClr val="tx1"/>
            </a:solidFill>
          </a:ln>
        </p:spPr>
        <p:txBody>
          <a:bodyPr wrap="none" rtlCol="0">
            <a:spAutoFit/>
          </a:bodyPr>
          <a:lstStyle/>
          <a:p>
            <a:r>
              <a:rPr lang="en-US" dirty="0" err="1">
                <a:latin typeface="Arial" panose="020B0604020202020204" pitchFamily="34" charset="0"/>
                <a:cs typeface="Arial" panose="020B0604020202020204" pitchFamily="34" charset="0"/>
              </a:rPr>
              <a:t>PDE_Integrator</a:t>
            </a:r>
            <a:endParaRPr lang="en-US" dirty="0">
              <a:latin typeface="Arial" panose="020B0604020202020204" pitchFamily="34" charset="0"/>
              <a:cs typeface="Arial" panose="020B0604020202020204" pitchFamily="34" charset="0"/>
            </a:endParaRPr>
          </a:p>
        </p:txBody>
      </p:sp>
      <p:sp>
        <p:nvSpPr>
          <p:cNvPr id="9" name="TextBox 8"/>
          <p:cNvSpPr txBox="1"/>
          <p:nvPr/>
        </p:nvSpPr>
        <p:spPr>
          <a:xfrm>
            <a:off x="3563888" y="5003800"/>
            <a:ext cx="2113943" cy="646331"/>
          </a:xfrm>
          <a:prstGeom prst="rect">
            <a:avLst/>
          </a:prstGeom>
          <a:noFill/>
        </p:spPr>
        <p:txBody>
          <a:bodyPr wrap="none" rtlCol="0">
            <a:spAutoFit/>
          </a:bodyPr>
          <a:lstStyle/>
          <a:p>
            <a:r>
              <a:rPr lang="en-US" dirty="0"/>
              <a:t>+ Solver profiles,</a:t>
            </a:r>
          </a:p>
          <a:p>
            <a:r>
              <a:rPr lang="en-US" dirty="0"/>
              <a:t>see solver/ directory</a:t>
            </a:r>
          </a:p>
        </p:txBody>
      </p:sp>
    </p:spTree>
    <p:extLst>
      <p:ext uri="{BB962C8B-B14F-4D97-AF65-F5344CB8AC3E}">
        <p14:creationId xmlns:p14="http://schemas.microsoft.com/office/powerpoint/2010/main" val="3296147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368" y="332656"/>
            <a:ext cx="8229600" cy="914400"/>
          </a:xfrm>
        </p:spPr>
        <p:txBody>
          <a:bodyPr>
            <a:normAutofit fontScale="90000"/>
          </a:bodyPr>
          <a:lstStyle/>
          <a:p>
            <a:r>
              <a:rPr lang="en-US" dirty="0"/>
              <a:t>CSMP_DEFAULT_LINEAR_SOLVER or </a:t>
            </a:r>
            <a:r>
              <a:rPr lang="en-US" dirty="0" err="1"/>
              <a:t>SAMG_Solver</a:t>
            </a:r>
            <a:r>
              <a:rPr lang="en-US" dirty="0"/>
              <a:t>   and   </a:t>
            </a:r>
            <a:r>
              <a:rPr lang="en-US" dirty="0" err="1"/>
              <a:t>SAMG_Settings</a:t>
            </a:r>
            <a:endParaRPr lang="en-US" dirty="0"/>
          </a:p>
        </p:txBody>
      </p:sp>
      <p:sp>
        <p:nvSpPr>
          <p:cNvPr id="3" name="Content Placeholder 2"/>
          <p:cNvSpPr>
            <a:spLocks noGrp="1"/>
          </p:cNvSpPr>
          <p:nvPr>
            <p:ph idx="1"/>
          </p:nvPr>
        </p:nvSpPr>
        <p:spPr>
          <a:xfrm>
            <a:off x="457200" y="1484784"/>
            <a:ext cx="8229600" cy="4641379"/>
          </a:xfrm>
        </p:spPr>
        <p:txBody>
          <a:bodyPr>
            <a:normAutofit/>
          </a:bodyPr>
          <a:lstStyle/>
          <a:p>
            <a:r>
              <a:rPr lang="en-US" sz="2400" dirty="0"/>
              <a:t>Can be permanently associated with </a:t>
            </a:r>
            <a:r>
              <a:rPr lang="en-US" sz="2400" dirty="0" err="1"/>
              <a:t>PDE_Integrator</a:t>
            </a:r>
            <a:endParaRPr lang="en-US" sz="2400" dirty="0"/>
          </a:p>
          <a:p>
            <a:r>
              <a:rPr lang="en-US" sz="2400" dirty="0"/>
              <a:t>User can specify which instance of the optional SAMG DLLs they want to dispatch computations to.</a:t>
            </a:r>
          </a:p>
          <a:p>
            <a:r>
              <a:rPr lang="en-US" sz="2400" dirty="0"/>
              <a:t>SAMG solver instances distinguish correctly between steady-state / first call type computations and transient runs where the solution of the previous timestep is used as an initial guess (also of the initial residual) and a relative tolerance is used to measure convergence</a:t>
            </a:r>
          </a:p>
          <a:p>
            <a:r>
              <a:rPr lang="en-US" sz="2400" dirty="0"/>
              <a:t>Various configuration options exist with regard to updating the Solver setup so that computation time can be </a:t>
            </a:r>
            <a:r>
              <a:rPr lang="en-US" sz="2400" dirty="0" err="1"/>
              <a:t>minimised</a:t>
            </a:r>
            <a:r>
              <a:rPr lang="en-US" sz="2400" dirty="0"/>
              <a:t>, see </a:t>
            </a:r>
            <a:r>
              <a:rPr lang="en-US" sz="2400" dirty="0" err="1"/>
              <a:t>SAMG_Solver</a:t>
            </a:r>
            <a:r>
              <a:rPr lang="en-US" sz="2400" dirty="0"/>
              <a:t> profiles.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err="1"/>
              <a:t>PDE_Integrator</a:t>
            </a:r>
            <a:r>
              <a:rPr lang="en-US" dirty="0"/>
              <a:t>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91</a:t>
            </a:fld>
            <a:endParaRPr lang="en-US"/>
          </a:p>
        </p:txBody>
      </p:sp>
    </p:spTree>
    <p:extLst>
      <p:ext uri="{BB962C8B-B14F-4D97-AF65-F5344CB8AC3E}">
        <p14:creationId xmlns:p14="http://schemas.microsoft.com/office/powerpoint/2010/main" val="28559695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1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0" y="-1"/>
            <a:ext cx="9177959" cy="6886407"/>
          </a:xfrm>
          <a:prstGeom prst="rect">
            <a:avLst/>
          </a:prstGeom>
        </p:spPr>
      </p:pic>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457200" y="914400"/>
            <a:ext cx="8229600" cy="5578475"/>
          </a:xfrm>
        </p:spPr>
        <p:txBody>
          <a:bodyPr>
            <a:normAutofit/>
          </a:bodyPr>
          <a:lstStyle/>
          <a:p>
            <a:pPr marL="457200" indent="-457200">
              <a:spcBef>
                <a:spcPts val="1300"/>
              </a:spcBef>
              <a:spcAft>
                <a:spcPts val="1800"/>
              </a:spcAft>
              <a:buFont typeface="+mj-lt"/>
              <a:buAutoNum type="arabicPeriod"/>
            </a:pPr>
            <a:r>
              <a:rPr lang="en-US" sz="2400" dirty="0"/>
              <a:t>Introduction</a:t>
            </a:r>
          </a:p>
          <a:p>
            <a:pPr marL="457200" indent="-457200">
              <a:spcBef>
                <a:spcPts val="1300"/>
              </a:spcBef>
              <a:spcAft>
                <a:spcPts val="1800"/>
              </a:spcAft>
              <a:buFont typeface="+mj-lt"/>
              <a:buAutoNum type="arabicPeriod"/>
            </a:pPr>
            <a:r>
              <a:rPr lang="en-US" sz="2400" dirty="0"/>
              <a:t>CSMP variable types and their management</a:t>
            </a:r>
          </a:p>
          <a:p>
            <a:pPr marL="457200" indent="-457200">
              <a:spcBef>
                <a:spcPts val="1300"/>
              </a:spcBef>
              <a:spcAft>
                <a:spcPts val="1800"/>
              </a:spcAft>
              <a:buFont typeface="+mj-lt"/>
              <a:buAutoNum type="arabicPeriod"/>
            </a:pPr>
            <a:r>
              <a:rPr lang="en-US" sz="2400" dirty="0"/>
              <a:t>The Model, its Regions and Boundaries</a:t>
            </a:r>
          </a:p>
          <a:p>
            <a:pPr marL="457200" indent="-457200">
              <a:spcBef>
                <a:spcPts val="1300"/>
              </a:spcBef>
              <a:spcAft>
                <a:spcPts val="1800"/>
              </a:spcAft>
              <a:buFont typeface="+mj-lt"/>
              <a:buAutoNum type="arabicPeriod"/>
            </a:pPr>
            <a:r>
              <a:rPr lang="en-US" sz="2400" dirty="0"/>
              <a:t>Hybrid finite element – finite volume discretization</a:t>
            </a:r>
          </a:p>
          <a:p>
            <a:pPr marL="457200" indent="-457200">
              <a:spcBef>
                <a:spcPts val="1300"/>
              </a:spcBef>
              <a:spcAft>
                <a:spcPts val="1800"/>
              </a:spcAft>
              <a:buFont typeface="+mj-lt"/>
              <a:buAutoNum type="arabicPeriod"/>
            </a:pPr>
            <a:r>
              <a:rPr lang="en-US" sz="2400" dirty="0"/>
              <a:t>Solving PDE’s: the </a:t>
            </a:r>
            <a:r>
              <a:rPr lang="en-US" sz="2400" dirty="0" err="1"/>
              <a:t>PDE_Integrator</a:t>
            </a:r>
            <a:r>
              <a:rPr lang="en-US" sz="2400" dirty="0"/>
              <a:t> framework</a:t>
            </a:r>
          </a:p>
          <a:p>
            <a:pPr marL="457200" indent="-457200">
              <a:spcBef>
                <a:spcPts val="1300"/>
              </a:spcBef>
              <a:spcAft>
                <a:spcPts val="1800"/>
              </a:spcAft>
              <a:buFont typeface="+mj-lt"/>
              <a:buAutoNum type="arabicPeriod"/>
            </a:pPr>
            <a:r>
              <a:rPr lang="en-US" sz="2400" dirty="0">
                <a:solidFill>
                  <a:srgbClr val="FFFF00"/>
                </a:solidFill>
              </a:rPr>
              <a:t>Constitutive relationships: Visitors etc.</a:t>
            </a:r>
          </a:p>
          <a:p>
            <a:pPr marL="457200" indent="-457200">
              <a:spcBef>
                <a:spcPts val="1300"/>
              </a:spcBef>
              <a:spcAft>
                <a:spcPts val="1800"/>
              </a:spcAft>
              <a:buFont typeface="+mj-lt"/>
              <a:buAutoNum type="arabicPeriod"/>
            </a:pPr>
            <a:r>
              <a:rPr lang="en-US" sz="2400" dirty="0"/>
              <a:t>Advanced topics</a:t>
            </a:r>
          </a:p>
          <a:p>
            <a:pPr marL="457200" indent="-457200">
              <a:spcBef>
                <a:spcPts val="1300"/>
              </a:spcBef>
              <a:spcAft>
                <a:spcPts val="1800"/>
              </a:spcAft>
              <a:buFont typeface="+mj-lt"/>
              <a:buAutoNum type="arabicPeriod"/>
            </a:pPr>
            <a:endParaRPr lang="en-US" sz="2400"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a:xfrm>
            <a:off x="3124200" y="6492875"/>
            <a:ext cx="3464024" cy="365125"/>
          </a:xfrm>
        </p:spPr>
        <p:txBody>
          <a:bodyPr/>
          <a:lstStyle/>
          <a:p>
            <a:r>
              <a:rPr lang="en-US" dirty="0" err="1"/>
              <a:t>OpenCSMP</a:t>
            </a:r>
            <a:r>
              <a:rPr lang="en-US" dirty="0"/>
              <a:t>  API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92</a:t>
            </a:fld>
            <a:endParaRPr lang="en-US"/>
          </a:p>
        </p:txBody>
      </p:sp>
    </p:spTree>
    <p:extLst>
      <p:ext uri="{BB962C8B-B14F-4D97-AF65-F5344CB8AC3E}">
        <p14:creationId xmlns:p14="http://schemas.microsoft.com/office/powerpoint/2010/main" val="13826683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53DE7AC3-399E-7448-ABE5-53A059089054}" type="slidenum">
              <a:rPr lang="en-US" smtClean="0"/>
              <a:pPr/>
              <a:t>93</a:t>
            </a:fld>
            <a:endParaRPr lang="en-US"/>
          </a:p>
        </p:txBody>
      </p:sp>
      <p:sp>
        <p:nvSpPr>
          <p:cNvPr id="54275" name="Rectangle 2"/>
          <p:cNvSpPr>
            <a:spLocks noGrp="1" noChangeArrowheads="1"/>
          </p:cNvSpPr>
          <p:nvPr>
            <p:ph type="title"/>
          </p:nvPr>
        </p:nvSpPr>
        <p:spPr>
          <a:xfrm>
            <a:off x="457201" y="96839"/>
            <a:ext cx="7632700" cy="817562"/>
          </a:xfrm>
        </p:spPr>
        <p:txBody>
          <a:bodyPr/>
          <a:lstStyle/>
          <a:p>
            <a:pPr eaLnBrk="1" hangingPunct="1"/>
            <a:r>
              <a:rPr lang="en-US" dirty="0"/>
              <a:t>Visitor  (design pattern (Gamma et al.))</a:t>
            </a:r>
          </a:p>
        </p:txBody>
      </p:sp>
      <p:sp>
        <p:nvSpPr>
          <p:cNvPr id="54276" name="Rectangle 3"/>
          <p:cNvSpPr>
            <a:spLocks noGrp="1" noChangeArrowheads="1"/>
          </p:cNvSpPr>
          <p:nvPr>
            <p:ph type="body" idx="1"/>
          </p:nvPr>
        </p:nvSpPr>
        <p:spPr/>
        <p:txBody>
          <a:bodyPr/>
          <a:lstStyle/>
          <a:p>
            <a:pPr eaLnBrk="1" hangingPunct="1"/>
            <a:r>
              <a:rPr lang="en-US" dirty="0"/>
              <a:t>Visit Region-Boundary-Element-Node hierarchy with full access to FEM / FVM interfaces and their </a:t>
            </a:r>
            <a:r>
              <a:rPr lang="en-US" i="1" dirty="0"/>
              <a:t>traits</a:t>
            </a:r>
          </a:p>
        </p:txBody>
      </p:sp>
      <p:pic>
        <p:nvPicPr>
          <p:cNvPr id="54277" name="Picture 4" descr="fig"/>
          <p:cNvPicPr>
            <a:picLocks noChangeAspect="1" noChangeArrowheads="1"/>
          </p:cNvPicPr>
          <p:nvPr/>
        </p:nvPicPr>
        <p:blipFill>
          <a:blip r:embed="rId3"/>
          <a:srcRect b="4790"/>
          <a:stretch>
            <a:fillRect/>
          </a:stretch>
        </p:blipFill>
        <p:spPr bwMode="auto">
          <a:xfrm>
            <a:off x="935038" y="1781175"/>
            <a:ext cx="7710487" cy="4543425"/>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06B13145-2408-7141-947C-3C827C4B173D}" type="datetime1">
              <a:rPr lang="en-US" smtClean="0"/>
              <a:pPr/>
              <a:t>5/2/24</a:t>
            </a:fld>
            <a:endParaRPr lang="en-US"/>
          </a:p>
        </p:txBody>
      </p:sp>
      <p:sp>
        <p:nvSpPr>
          <p:cNvPr id="7" name="Footer Placeholder 6"/>
          <p:cNvSpPr>
            <a:spLocks noGrp="1"/>
          </p:cNvSpPr>
          <p:nvPr>
            <p:ph type="ftr" sz="quarter" idx="11"/>
          </p:nvPr>
        </p:nvSpPr>
        <p:spPr/>
        <p:txBody>
          <a:bodyPr/>
          <a:lstStyle/>
          <a:p>
            <a:r>
              <a:rPr lang="en-US" dirty="0"/>
              <a:t>Visitors</a:t>
            </a:r>
          </a:p>
        </p:txBody>
      </p:sp>
      <p:sp>
        <p:nvSpPr>
          <p:cNvPr id="2" name="TextBox 1"/>
          <p:cNvSpPr txBox="1"/>
          <p:nvPr/>
        </p:nvSpPr>
        <p:spPr>
          <a:xfrm>
            <a:off x="4932040" y="2247255"/>
            <a:ext cx="1620564" cy="461665"/>
          </a:xfrm>
          <a:prstGeom prst="rect">
            <a:avLst/>
          </a:prstGeom>
          <a:solidFill>
            <a:schemeClr val="bg1"/>
          </a:solidFill>
          <a:ln w="19050" cmpd="sng">
            <a:solidFill>
              <a:schemeClr val="tx1"/>
            </a:solidFill>
          </a:ln>
        </p:spPr>
        <p:txBody>
          <a:bodyPr wrap="square" rtlCol="0">
            <a:spAutoFit/>
          </a:bodyPr>
          <a:lstStyle/>
          <a:p>
            <a:pPr algn="ctr"/>
            <a:r>
              <a:rPr lang="en-US" sz="2400" dirty="0"/>
              <a:t>Model</a:t>
            </a:r>
          </a:p>
        </p:txBody>
      </p:sp>
      <p:sp>
        <p:nvSpPr>
          <p:cNvPr id="9" name="TextBox 8"/>
          <p:cNvSpPr txBox="1"/>
          <p:nvPr/>
        </p:nvSpPr>
        <p:spPr>
          <a:xfrm>
            <a:off x="7164288" y="2607295"/>
            <a:ext cx="1213645" cy="461665"/>
          </a:xfrm>
          <a:prstGeom prst="rect">
            <a:avLst/>
          </a:prstGeom>
          <a:solidFill>
            <a:schemeClr val="bg1"/>
          </a:solidFill>
          <a:ln w="19050" cmpd="sng">
            <a:solidFill>
              <a:schemeClr val="tx1"/>
            </a:solidFill>
          </a:ln>
        </p:spPr>
        <p:txBody>
          <a:bodyPr wrap="square" rtlCol="0">
            <a:spAutoFit/>
          </a:bodyPr>
          <a:lstStyle/>
          <a:p>
            <a:pPr algn="ctr"/>
            <a:r>
              <a:rPr lang="en-US" sz="2400" dirty="0"/>
              <a:t>Region</a:t>
            </a:r>
          </a:p>
        </p:txBody>
      </p:sp>
      <p:sp>
        <p:nvSpPr>
          <p:cNvPr id="10" name="TextBox 9"/>
          <p:cNvSpPr txBox="1"/>
          <p:nvPr/>
        </p:nvSpPr>
        <p:spPr>
          <a:xfrm>
            <a:off x="542627" y="2247255"/>
            <a:ext cx="2664296" cy="461665"/>
          </a:xfrm>
          <a:prstGeom prst="rect">
            <a:avLst/>
          </a:prstGeom>
          <a:solidFill>
            <a:schemeClr val="bg1"/>
          </a:solidFill>
          <a:ln w="19050" cmpd="sng">
            <a:solidFill>
              <a:schemeClr val="tx1"/>
            </a:solidFill>
          </a:ln>
        </p:spPr>
        <p:txBody>
          <a:bodyPr wrap="square" rtlCol="0">
            <a:spAutoFit/>
          </a:bodyPr>
          <a:lstStyle/>
          <a:p>
            <a:pPr algn="ctr"/>
            <a:r>
              <a:rPr lang="en-US" sz="2400" dirty="0"/>
              <a:t>Visitor</a:t>
            </a:r>
          </a:p>
        </p:txBody>
      </p:sp>
    </p:spTree>
    <p:extLst>
      <p:ext uri="{BB962C8B-B14F-4D97-AF65-F5344CB8AC3E}">
        <p14:creationId xmlns:p14="http://schemas.microsoft.com/office/powerpoint/2010/main" val="42047960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lstStyle/>
          <a:p>
            <a:r>
              <a:rPr lang="en-US" dirty="0"/>
              <a:t>How to use visitors correctly</a:t>
            </a:r>
          </a:p>
        </p:txBody>
      </p:sp>
      <p:sp>
        <p:nvSpPr>
          <p:cNvPr id="3" name="Content Placeholder 2"/>
          <p:cNvSpPr>
            <a:spLocks noGrp="1"/>
          </p:cNvSpPr>
          <p:nvPr>
            <p:ph idx="1"/>
          </p:nvPr>
        </p:nvSpPr>
        <p:spPr>
          <a:xfrm>
            <a:off x="107504" y="730845"/>
            <a:ext cx="8856984" cy="5578475"/>
          </a:xfrm>
        </p:spPr>
        <p:txBody>
          <a:bodyPr>
            <a:noAutofit/>
          </a:bodyPr>
          <a:lstStyle/>
          <a:p>
            <a:pPr marL="177800" indent="-177800"/>
            <a:r>
              <a:rPr lang="en-US" sz="1800" dirty="0"/>
              <a:t>Visitors give access to the full object hierarchy of Model</a:t>
            </a:r>
          </a:p>
          <a:p>
            <a:pPr marL="177800" indent="-177800"/>
            <a:r>
              <a:rPr lang="en-US" sz="1800" dirty="0"/>
              <a:t>A distinction is made between application level and target level:</a:t>
            </a:r>
          </a:p>
          <a:p>
            <a:pPr marL="577850" lvl="2" indent="-177800"/>
            <a:r>
              <a:rPr lang="en-US" sz="1800" dirty="0"/>
              <a:t>The </a:t>
            </a:r>
            <a:r>
              <a:rPr lang="en-US" sz="1800" i="1" dirty="0"/>
              <a:t>application level </a:t>
            </a:r>
            <a:r>
              <a:rPr lang="en-US" sz="1800" dirty="0"/>
              <a:t>denotes the entry point of the visitor into the object hierarchy of a model. Thus, if the level is element, the visitor will be applied element by element. Options are Model, Region, Boundary, </a:t>
            </a:r>
            <a:r>
              <a:rPr lang="en-US" sz="1800" dirty="0" err="1"/>
              <a:t>SplitBoundary</a:t>
            </a:r>
            <a:r>
              <a:rPr lang="en-US" sz="1800" dirty="0"/>
              <a:t>, Element, Node</a:t>
            </a:r>
          </a:p>
          <a:p>
            <a:pPr marL="577850" lvl="2" indent="-177800"/>
            <a:r>
              <a:rPr lang="en-US" sz="1800" dirty="0"/>
              <a:t>The </a:t>
            </a:r>
            <a:r>
              <a:rPr lang="en-US" sz="1800" i="1" dirty="0"/>
              <a:t>application target </a:t>
            </a:r>
            <a:r>
              <a:rPr lang="en-US" sz="1800" dirty="0"/>
              <a:t>denotes the lowest level of the object hierarchy for which a Visit() method has been defined. Thus, if one wants to do node-by-node operations, one sets level and target to node. This avoids repetitions of node operations which would have ensued from a level=element, target=node setting.</a:t>
            </a:r>
          </a:p>
          <a:p>
            <a:pPr marL="577850" lvl="2" indent="-177800"/>
            <a:r>
              <a:rPr lang="en-US" sz="1800" dirty="0"/>
              <a:t>Setting the application level to element or node circumvents a region-by-region application of the visitor.</a:t>
            </a:r>
          </a:p>
          <a:p>
            <a:pPr marL="577850" lvl="2" indent="-177800"/>
            <a:r>
              <a:rPr lang="en-US" sz="1800" dirty="0"/>
              <a:t>Visitors can also be sent directly to Region, Boundary, Element etc.</a:t>
            </a:r>
          </a:p>
          <a:p>
            <a:pPr marL="577850" lvl="1" indent="-177800"/>
            <a:r>
              <a:rPr lang="en-US" sz="1800" dirty="0"/>
              <a:t>Thus, if one wants to restrict a visitor to a specific model region or boundary, one simply passes it on to this region:  </a:t>
            </a:r>
            <a:r>
              <a:rPr lang="en-US" sz="1800" dirty="0" err="1"/>
              <a:t>model.Region</a:t>
            </a:r>
            <a:r>
              <a:rPr lang="en-US" sz="1800" dirty="0"/>
              <a:t>(“ * “).Accept(</a:t>
            </a:r>
            <a:r>
              <a:rPr lang="en-US" sz="1800" dirty="0" err="1"/>
              <a:t>vtor</a:t>
            </a:r>
            <a:r>
              <a:rPr lang="en-US" sz="1800" dirty="0"/>
              <a:t>); </a:t>
            </a:r>
          </a:p>
          <a:p>
            <a:pPr marL="177800" indent="-177800"/>
            <a:r>
              <a:rPr lang="en-US" sz="1800" dirty="0"/>
              <a:t>Visitors using Region variables must visit all regions of a model sequentially (level=region), reading these variable values just once per region.</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a:t>Visitors</a:t>
            </a:r>
          </a:p>
        </p:txBody>
      </p:sp>
      <p:sp>
        <p:nvSpPr>
          <p:cNvPr id="6" name="Slide Number Placeholder 5"/>
          <p:cNvSpPr>
            <a:spLocks noGrp="1"/>
          </p:cNvSpPr>
          <p:nvPr>
            <p:ph type="sldNum" sz="quarter" idx="12"/>
          </p:nvPr>
        </p:nvSpPr>
        <p:spPr/>
        <p:txBody>
          <a:bodyPr/>
          <a:lstStyle/>
          <a:p>
            <a:fld id="{223FD816-CC6A-BF43-8241-637E3E7EAA5A}" type="slidenum">
              <a:rPr lang="en-US" smtClean="0"/>
              <a:pPr/>
              <a:t>94</a:t>
            </a:fld>
            <a:endParaRPr lang="en-US"/>
          </a:p>
        </p:txBody>
      </p:sp>
    </p:spTree>
    <p:extLst>
      <p:ext uri="{BB962C8B-B14F-4D97-AF65-F5344CB8AC3E}">
        <p14:creationId xmlns:p14="http://schemas.microsoft.com/office/powerpoint/2010/main" val="39078694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1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0" y="-1"/>
            <a:ext cx="9177959" cy="6886407"/>
          </a:xfrm>
          <a:prstGeom prst="rect">
            <a:avLst/>
          </a:prstGeom>
        </p:spPr>
      </p:pic>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457200" y="914400"/>
            <a:ext cx="8229600" cy="5578475"/>
          </a:xfrm>
        </p:spPr>
        <p:txBody>
          <a:bodyPr>
            <a:normAutofit/>
          </a:bodyPr>
          <a:lstStyle/>
          <a:p>
            <a:pPr marL="457200" indent="-457200">
              <a:spcBef>
                <a:spcPts val="1300"/>
              </a:spcBef>
              <a:spcAft>
                <a:spcPts val="1800"/>
              </a:spcAft>
              <a:buFont typeface="+mj-lt"/>
              <a:buAutoNum type="arabicPeriod"/>
            </a:pPr>
            <a:r>
              <a:rPr lang="en-US" sz="2400" dirty="0"/>
              <a:t>Introduction</a:t>
            </a:r>
          </a:p>
          <a:p>
            <a:pPr marL="457200" indent="-457200">
              <a:spcBef>
                <a:spcPts val="1300"/>
              </a:spcBef>
              <a:spcAft>
                <a:spcPts val="1800"/>
              </a:spcAft>
              <a:buFont typeface="+mj-lt"/>
              <a:buAutoNum type="arabicPeriod"/>
            </a:pPr>
            <a:r>
              <a:rPr lang="en-US" sz="2400" dirty="0"/>
              <a:t>CSMP variable types and their management</a:t>
            </a:r>
          </a:p>
          <a:p>
            <a:pPr marL="457200" indent="-457200">
              <a:spcBef>
                <a:spcPts val="1300"/>
              </a:spcBef>
              <a:spcAft>
                <a:spcPts val="1800"/>
              </a:spcAft>
              <a:buFont typeface="+mj-lt"/>
              <a:buAutoNum type="arabicPeriod"/>
            </a:pPr>
            <a:r>
              <a:rPr lang="en-US" sz="2400" dirty="0"/>
              <a:t>The Model, its Regions and Boundaries</a:t>
            </a:r>
          </a:p>
          <a:p>
            <a:pPr marL="457200" indent="-457200">
              <a:spcBef>
                <a:spcPts val="1300"/>
              </a:spcBef>
              <a:spcAft>
                <a:spcPts val="1800"/>
              </a:spcAft>
              <a:buFont typeface="+mj-lt"/>
              <a:buAutoNum type="arabicPeriod"/>
            </a:pPr>
            <a:r>
              <a:rPr lang="en-US" sz="2400" dirty="0"/>
              <a:t>Hybrid finite element – finite volume discretization</a:t>
            </a:r>
          </a:p>
          <a:p>
            <a:pPr marL="457200" indent="-457200">
              <a:spcBef>
                <a:spcPts val="1300"/>
              </a:spcBef>
              <a:spcAft>
                <a:spcPts val="1800"/>
              </a:spcAft>
              <a:buFont typeface="+mj-lt"/>
              <a:buAutoNum type="arabicPeriod"/>
            </a:pPr>
            <a:r>
              <a:rPr lang="en-US" sz="2400" dirty="0"/>
              <a:t>Solving PDE’s: the </a:t>
            </a:r>
            <a:r>
              <a:rPr lang="en-US" sz="2400" dirty="0" err="1"/>
              <a:t>PDE_Integrator</a:t>
            </a:r>
            <a:r>
              <a:rPr lang="en-US" sz="2400" dirty="0"/>
              <a:t> framework</a:t>
            </a:r>
          </a:p>
          <a:p>
            <a:pPr marL="457200" indent="-457200">
              <a:spcBef>
                <a:spcPts val="1300"/>
              </a:spcBef>
              <a:spcAft>
                <a:spcPts val="1800"/>
              </a:spcAft>
              <a:buFont typeface="+mj-lt"/>
              <a:buAutoNum type="arabicPeriod"/>
            </a:pPr>
            <a:r>
              <a:rPr lang="en-US" sz="2400" dirty="0"/>
              <a:t>Constitutive relationships: Visitors etc.</a:t>
            </a:r>
          </a:p>
          <a:p>
            <a:pPr marL="457200" indent="-457200">
              <a:spcBef>
                <a:spcPts val="1300"/>
              </a:spcBef>
              <a:spcAft>
                <a:spcPts val="1800"/>
              </a:spcAft>
              <a:buFont typeface="+mj-lt"/>
              <a:buAutoNum type="arabicPeriod"/>
            </a:pPr>
            <a:r>
              <a:rPr lang="en-US" sz="2400" dirty="0">
                <a:solidFill>
                  <a:srgbClr val="FFFF00"/>
                </a:solidFill>
              </a:rPr>
              <a:t>Advanced topics</a:t>
            </a:r>
          </a:p>
          <a:p>
            <a:pPr marL="457200" indent="-457200">
              <a:spcBef>
                <a:spcPts val="1300"/>
              </a:spcBef>
              <a:spcAft>
                <a:spcPts val="1800"/>
              </a:spcAft>
              <a:buFont typeface="+mj-lt"/>
              <a:buAutoNum type="arabicPeriod"/>
            </a:pPr>
            <a:endParaRPr lang="en-US" sz="2400" dirty="0"/>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a:xfrm>
            <a:off x="3124200" y="6492875"/>
            <a:ext cx="3464024" cy="365125"/>
          </a:xfrm>
        </p:spPr>
        <p:txBody>
          <a:bodyPr/>
          <a:lstStyle/>
          <a:p>
            <a:r>
              <a:rPr lang="en-US" dirty="0"/>
              <a:t>CSMP++ API introduction</a:t>
            </a:r>
          </a:p>
        </p:txBody>
      </p:sp>
      <p:sp>
        <p:nvSpPr>
          <p:cNvPr id="6" name="Slide Number Placeholder 5"/>
          <p:cNvSpPr>
            <a:spLocks noGrp="1"/>
          </p:cNvSpPr>
          <p:nvPr>
            <p:ph type="sldNum" sz="quarter" idx="12"/>
          </p:nvPr>
        </p:nvSpPr>
        <p:spPr/>
        <p:txBody>
          <a:bodyPr/>
          <a:lstStyle/>
          <a:p>
            <a:fld id="{223FD816-CC6A-BF43-8241-637E3E7EAA5A}" type="slidenum">
              <a:rPr lang="en-US" smtClean="0"/>
              <a:pPr/>
              <a:t>95</a:t>
            </a:fld>
            <a:endParaRPr lang="en-US"/>
          </a:p>
        </p:txBody>
      </p:sp>
    </p:spTree>
    <p:extLst>
      <p:ext uri="{BB962C8B-B14F-4D97-AF65-F5344CB8AC3E}">
        <p14:creationId xmlns:p14="http://schemas.microsoft.com/office/powerpoint/2010/main" val="13826683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PropertyHandle</a:t>
            </a:r>
            <a:endParaRPr lang="en-US" dirty="0"/>
          </a:p>
        </p:txBody>
      </p:sp>
      <p:sp>
        <p:nvSpPr>
          <p:cNvPr id="3" name="Content Placeholder 2"/>
          <p:cNvSpPr>
            <a:spLocks noGrp="1"/>
          </p:cNvSpPr>
          <p:nvPr>
            <p:ph idx="1"/>
          </p:nvPr>
        </p:nvSpPr>
        <p:spPr>
          <a:xfrm>
            <a:off x="457200" y="762000"/>
            <a:ext cx="8229600" cy="5791200"/>
          </a:xfrm>
        </p:spPr>
        <p:txBody>
          <a:bodyPr>
            <a:normAutofit fontScale="92500" lnSpcReduction="20000"/>
          </a:bodyPr>
          <a:lstStyle/>
          <a:p>
            <a:r>
              <a:rPr lang="en-US" dirty="0"/>
              <a:t>To access and perform calculations with distributed variables</a:t>
            </a:r>
          </a:p>
          <a:p>
            <a:r>
              <a:rPr lang="en-US" dirty="0"/>
              <a:t>Suitable also for creating/deleting variables at runtime</a:t>
            </a:r>
          </a:p>
          <a:p>
            <a:r>
              <a:rPr lang="en-US" dirty="0"/>
              <a:t>Overloaded operators to add, subtract, multiply, and divide variables with the same placement.</a:t>
            </a:r>
          </a:p>
          <a:p>
            <a:r>
              <a:rPr lang="en-US" dirty="0"/>
              <a:t>For variables with a different placement, values will first have to be averaged, interpolated or extrapolated to the placement of the result variable. Only then the operation is performed. To achieve the desired </a:t>
            </a:r>
            <a:r>
              <a:rPr lang="en-US" dirty="0" err="1"/>
              <a:t>behaviour</a:t>
            </a:r>
            <a:r>
              <a:rPr lang="en-US" dirty="0"/>
              <a:t>, </a:t>
            </a:r>
            <a:r>
              <a:rPr lang="en-US" dirty="0" err="1"/>
              <a:t>MultiPlacement</a:t>
            </a:r>
            <a:r>
              <a:rPr lang="en-US" dirty="0"/>
              <a:t>() is set to either of INTERPOLATE, EXTRAPOLATE, ARITHMETIC_MEAN, HARMONIC_MEAN, or GEOMETRIC_MEAN.</a:t>
            </a:r>
          </a:p>
          <a:p>
            <a:r>
              <a:rPr lang="en-US" dirty="0"/>
              <a:t>Interpolation / extrapolation strategies used in variable interactions must be spelled out and accessible for the user</a:t>
            </a:r>
          </a:p>
          <a:p>
            <a:r>
              <a:rPr lang="en-US" dirty="0"/>
              <a:t>The application of property handles can be restricted to regions or boundaries. However, if the construction of a property handle provokes the generation of a new node, element, or region variable, </a:t>
            </a:r>
            <a:r>
              <a:rPr lang="en-US" dirty="0" err="1"/>
              <a:t>itwill</a:t>
            </a:r>
            <a:r>
              <a:rPr lang="en-US" dirty="0"/>
              <a:t> be generated for the entire model.</a:t>
            </a:r>
          </a:p>
          <a:p>
            <a:r>
              <a:rPr lang="en-US" dirty="0"/>
              <a:t>Self-assignment of </a:t>
            </a:r>
            <a:r>
              <a:rPr lang="en-US" dirty="0" err="1"/>
              <a:t>PropertyHandle</a:t>
            </a:r>
            <a:r>
              <a:rPr lang="en-US" dirty="0"/>
              <a:t> is deleted because it would overwrite the left-hand handle / eliminate the variable.</a:t>
            </a:r>
          </a:p>
          <a:p>
            <a:r>
              <a:rPr lang="en-US" i="1" dirty="0"/>
              <a:t>Urgently needs to be updated to perform correctly on ELEMENT_, SECTOR_, and FACET_INTEGRATION POINTS</a:t>
            </a:r>
          </a:p>
        </p:txBody>
      </p:sp>
      <p:sp>
        <p:nvSpPr>
          <p:cNvPr id="4" name="Date Placeholder 3"/>
          <p:cNvSpPr>
            <a:spLocks noGrp="1"/>
          </p:cNvSpPr>
          <p:nvPr>
            <p:ph type="dt" sz="half" idx="10"/>
          </p:nvPr>
        </p:nvSpPr>
        <p:spPr/>
        <p:txBody>
          <a:bodyPr/>
          <a:lstStyle/>
          <a:p>
            <a:fld id="{42113430-5F54-9740-B307-5C0C53476417}" type="datetime1">
              <a:rPr lang="en-US" smtClean="0"/>
              <a:pPr/>
              <a:t>5/2/24</a:t>
            </a:fld>
            <a:endParaRPr lang="en-US"/>
          </a:p>
        </p:txBody>
      </p:sp>
      <p:sp>
        <p:nvSpPr>
          <p:cNvPr id="5" name="Footer Placeholder 4"/>
          <p:cNvSpPr>
            <a:spLocks noGrp="1"/>
          </p:cNvSpPr>
          <p:nvPr>
            <p:ph type="ftr" sz="quarter" idx="11"/>
          </p:nvPr>
        </p:nvSpPr>
        <p:spPr/>
        <p:txBody>
          <a:bodyPr/>
          <a:lstStyle/>
          <a:p>
            <a:r>
              <a:rPr lang="en-US" dirty="0" err="1"/>
              <a:t>PropertyHandle</a:t>
            </a:r>
            <a:endParaRPr lang="en-US" dirty="0"/>
          </a:p>
        </p:txBody>
      </p:sp>
      <p:sp>
        <p:nvSpPr>
          <p:cNvPr id="6" name="Slide Number Placeholder 5"/>
          <p:cNvSpPr>
            <a:spLocks noGrp="1"/>
          </p:cNvSpPr>
          <p:nvPr>
            <p:ph type="sldNum" sz="quarter" idx="12"/>
          </p:nvPr>
        </p:nvSpPr>
        <p:spPr/>
        <p:txBody>
          <a:bodyPr/>
          <a:lstStyle/>
          <a:p>
            <a:fld id="{223FD816-CC6A-BF43-8241-637E3E7EAA5A}" type="slidenum">
              <a:rPr lang="en-US" smtClean="0"/>
              <a:pPr/>
              <a:t>96</a:t>
            </a:fld>
            <a:endParaRPr lang="en-US"/>
          </a:p>
        </p:txBody>
      </p:sp>
    </p:spTree>
    <p:extLst>
      <p:ext uri="{BB962C8B-B14F-4D97-AF65-F5344CB8AC3E}">
        <p14:creationId xmlns:p14="http://schemas.microsoft.com/office/powerpoint/2010/main" val="23837221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0" y="0"/>
            <a:ext cx="9144000" cy="6858000"/>
          </a:xfrm>
          <a:prstGeom prst="rect">
            <a:avLst/>
          </a:prstGeom>
        </p:spPr>
      </p:pic>
      <p:sp>
        <p:nvSpPr>
          <p:cNvPr id="2" name="Title 1"/>
          <p:cNvSpPr>
            <a:spLocks noGrp="1"/>
          </p:cNvSpPr>
          <p:nvPr>
            <p:ph type="ctrTitle"/>
          </p:nvPr>
        </p:nvSpPr>
        <p:spPr>
          <a:xfrm>
            <a:off x="254019" y="0"/>
            <a:ext cx="2668216" cy="1700808"/>
          </a:xfrm>
        </p:spPr>
        <p:txBody>
          <a:bodyPr>
            <a:noAutofit/>
          </a:bodyPr>
          <a:lstStyle/>
          <a:p>
            <a:pPr algn="ctr"/>
            <a:r>
              <a:rPr lang="en-US" sz="4400" dirty="0"/>
              <a:t>The End</a:t>
            </a:r>
          </a:p>
        </p:txBody>
      </p:sp>
      <p:sp>
        <p:nvSpPr>
          <p:cNvPr id="3" name="Subtitle 2"/>
          <p:cNvSpPr>
            <a:spLocks noGrp="1"/>
          </p:cNvSpPr>
          <p:nvPr>
            <p:ph type="subTitle" idx="1"/>
          </p:nvPr>
        </p:nvSpPr>
        <p:spPr>
          <a:xfrm>
            <a:off x="932651" y="4869160"/>
            <a:ext cx="7167741" cy="1872208"/>
          </a:xfrm>
        </p:spPr>
        <p:txBody>
          <a:bodyPr>
            <a:normAutofit/>
          </a:bodyPr>
          <a:lstStyle/>
          <a:p>
            <a:r>
              <a:rPr lang="en-US" sz="3200" dirty="0">
                <a:solidFill>
                  <a:srgbClr val="FFFF00"/>
                </a:solidFill>
              </a:rPr>
              <a:t>For descriptions of more details and advanced functionality see User Guide and publications</a:t>
            </a:r>
          </a:p>
        </p:txBody>
      </p:sp>
      <p:sp>
        <p:nvSpPr>
          <p:cNvPr id="8" name="Slide Number Placeholder 7"/>
          <p:cNvSpPr>
            <a:spLocks noGrp="1"/>
          </p:cNvSpPr>
          <p:nvPr>
            <p:ph type="sldNum" sz="quarter" idx="12"/>
          </p:nvPr>
        </p:nvSpPr>
        <p:spPr/>
        <p:txBody>
          <a:bodyPr/>
          <a:lstStyle/>
          <a:p>
            <a:fld id="{223FD816-CC6A-BF43-8241-637E3E7EAA5A}" type="slidenum">
              <a:rPr lang="en-US" smtClean="0"/>
              <a:pPr/>
              <a:t>97</a:t>
            </a:fld>
            <a:endParaRPr lang="en-US" dirty="0"/>
          </a:p>
        </p:txBody>
      </p:sp>
      <p:sp>
        <p:nvSpPr>
          <p:cNvPr id="6" name="Date Placeholder 5"/>
          <p:cNvSpPr>
            <a:spLocks noGrp="1"/>
          </p:cNvSpPr>
          <p:nvPr>
            <p:ph type="dt" sz="half" idx="10"/>
          </p:nvPr>
        </p:nvSpPr>
        <p:spPr/>
        <p:txBody>
          <a:bodyPr/>
          <a:lstStyle/>
          <a:p>
            <a:fld id="{8D154537-941D-2348-A481-A34A2C8533FE}" type="datetime1">
              <a:rPr lang="en-US" smtClean="0"/>
              <a:pPr/>
              <a:t>5/2/24</a:t>
            </a:fld>
            <a:endParaRPr lang="en-US"/>
          </a:p>
        </p:txBody>
      </p:sp>
    </p:spTree>
    <p:extLst>
      <p:ext uri="{BB962C8B-B14F-4D97-AF65-F5344CB8AC3E}">
        <p14:creationId xmlns:p14="http://schemas.microsoft.com/office/powerpoint/2010/main" val="2508695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97182</TotalTime>
  <Words>9665</Words>
  <Application>Microsoft Macintosh PowerPoint</Application>
  <PresentationFormat>On-screen Show (4:3)</PresentationFormat>
  <Paragraphs>1554</Paragraphs>
  <Slides>97</Slides>
  <Notes>61</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2</vt:i4>
      </vt:variant>
      <vt:variant>
        <vt:lpstr>Slide Titles</vt:lpstr>
      </vt:variant>
      <vt:variant>
        <vt:i4>97</vt:i4>
      </vt:variant>
    </vt:vector>
  </HeadingPairs>
  <TitlesOfParts>
    <vt:vector size="114" baseType="lpstr">
      <vt:lpstr>ＭＳ Ｐゴシック</vt:lpstr>
      <vt:lpstr>Arial</vt:lpstr>
      <vt:lpstr>Arial Narrow</vt:lpstr>
      <vt:lpstr>Calibri</vt:lpstr>
      <vt:lpstr>Courier</vt:lpstr>
      <vt:lpstr>Courier New</vt:lpstr>
      <vt:lpstr>Courier-Bold</vt:lpstr>
      <vt:lpstr>CourierNewPS-BoldMT</vt:lpstr>
      <vt:lpstr>Menlo</vt:lpstr>
      <vt:lpstr>Menlo-Regular</vt:lpstr>
      <vt:lpstr>MT Extra</vt:lpstr>
      <vt:lpstr>Symbol</vt:lpstr>
      <vt:lpstr>Times New Roman</vt:lpstr>
      <vt:lpstr>Wingdings</vt:lpstr>
      <vt:lpstr>Office Theme</vt:lpstr>
      <vt:lpstr>Equation</vt:lpstr>
      <vt:lpstr>Equation.3</vt:lpstr>
      <vt:lpstr>The Complex Systems Modelling Platform (OpenCSMP)</vt:lpstr>
      <vt:lpstr>Contents</vt:lpstr>
      <vt:lpstr>What is CSMP++ ?</vt:lpstr>
      <vt:lpstr>What could it do?</vt:lpstr>
      <vt:lpstr>Why is OpenCSMP unique?</vt:lpstr>
      <vt:lpstr>What’s wrong with standard reservoir simulators?</vt:lpstr>
      <vt:lpstr>FE-FVM Discretisation Different requirements seem to exist here:  (ETHZ wants material properties on the nodes, MUL on the elements)</vt:lpstr>
      <vt:lpstr>OpenCSMP  Development History</vt:lpstr>
      <vt:lpstr>Motivation for a Complex Systems Modelling Platform</vt:lpstr>
      <vt:lpstr>A new simulation toolkit</vt:lpstr>
      <vt:lpstr>Contents</vt:lpstr>
      <vt:lpstr>CSMP organisation</vt:lpstr>
      <vt:lpstr>Base classes for computations</vt:lpstr>
      <vt:lpstr>Organisation of OpenCSMP API library</vt:lpstr>
      <vt:lpstr>DiSTRIBUTED Variables </vt:lpstr>
      <vt:lpstr>OpenCSMP interoperable physical variables</vt:lpstr>
      <vt:lpstr>Variable Placement Options: model, region, boundary, split boundary, element, face, interface, node;   Within element: ELEMENT_INTEGRATION_POINT, FACET_INTEGRATION_POINT,  SECTOR_INTEGRATION_POINT</vt:lpstr>
      <vt:lpstr>Variable placements on finite elements</vt:lpstr>
      <vt:lpstr>Index – access to distributed variables</vt:lpstr>
      <vt:lpstr>Variable management: PropertyDatabase</vt:lpstr>
      <vt:lpstr>LocalVariableStorage with Read(), Store(), and Status() interfaces</vt:lpstr>
      <vt:lpstr>class LocalVariableStorage: Features</vt:lpstr>
      <vt:lpstr>Code examples</vt:lpstr>
      <vt:lpstr>Contents</vt:lpstr>
      <vt:lpstr>The MODEL</vt:lpstr>
      <vt:lpstr>The workings of the Model</vt:lpstr>
      <vt:lpstr>Persistence</vt:lpstr>
      <vt:lpstr>Mesh connectivity:  MeshManager&lt;&gt;</vt:lpstr>
      <vt:lpstr>Multi-directional connectivity</vt:lpstr>
      <vt:lpstr>Regions</vt:lpstr>
      <vt:lpstr>Geologically motivated data model:       Model, Regions, Boundaries and SplitBoundaries</vt:lpstr>
      <vt:lpstr>Region</vt:lpstr>
      <vt:lpstr>Model subdomains support selective access:     interior, perimeter, complete</vt:lpstr>
      <vt:lpstr>ModelSubDomain&lt;&gt; – base class to Region and Boundary</vt:lpstr>
      <vt:lpstr>ModelSubDomain    implementation, how?</vt:lpstr>
      <vt:lpstr>Boundaries, and SplitBoundaries</vt:lpstr>
      <vt:lpstr>Boundary – lower dimensional Faces</vt:lpstr>
      <vt:lpstr>Special functionality for box-shaped models</vt:lpstr>
      <vt:lpstr>Assignment of boundary conditions using the configuration file</vt:lpstr>
      <vt:lpstr>SplitBoundary objects</vt:lpstr>
      <vt:lpstr>Contents</vt:lpstr>
      <vt:lpstr>Finite Element FrameWork</vt:lpstr>
      <vt:lpstr> Finite Element meshes</vt:lpstr>
      <vt:lpstr>Galerkin Finite Element discretization</vt:lpstr>
      <vt:lpstr>Two-dimensional FE discretization of pressure equation</vt:lpstr>
      <vt:lpstr> Integration over element interpolation functions</vt:lpstr>
      <vt:lpstr>Element – FiniteElement  “Bridge pattern”</vt:lpstr>
      <vt:lpstr>The Element interface</vt:lpstr>
      <vt:lpstr>Variable placements on finite elements</vt:lpstr>
      <vt:lpstr>Finite Volume FrameWork</vt:lpstr>
      <vt:lpstr>Basic terminology</vt:lpstr>
      <vt:lpstr>Finite-element finite-volume stencils</vt:lpstr>
      <vt:lpstr>Element FiniteVolumePolicy: interface</vt:lpstr>
      <vt:lpstr>(Legacy) NodeCenteredFiniteVolumeTransport</vt:lpstr>
      <vt:lpstr>PowerPoint Presentation</vt:lpstr>
      <vt:lpstr>PowerPoint Presentation</vt:lpstr>
      <vt:lpstr>Higher-order accurate single-phase tracer transport</vt:lpstr>
      <vt:lpstr>First-Order Implicit FV Solution of Transport Equation</vt:lpstr>
      <vt:lpstr>Inclusion of diffusive fluxes in FV framework NB: we do this with the FEM now</vt:lpstr>
      <vt:lpstr>PowerPoint Presentation</vt:lpstr>
      <vt:lpstr>PowerPoint Presentation</vt:lpstr>
      <vt:lpstr>PowerPoint Presentation</vt:lpstr>
      <vt:lpstr>PowerPoint Presentation</vt:lpstr>
      <vt:lpstr>Theta Time Differencing</vt:lpstr>
      <vt:lpstr>Averting Divergence-Related Negative Contributions to Solution Matrix</vt:lpstr>
      <vt:lpstr>Bijective-Mapping between FV &amp; FEM Discretisation</vt:lpstr>
      <vt:lpstr>A typical calculation operator-splitting calculation</vt:lpstr>
      <vt:lpstr>Computational procedure</vt:lpstr>
      <vt:lpstr>What currently happens when the NCFV transport is instantiated</vt:lpstr>
      <vt:lpstr>CFL calculation</vt:lpstr>
      <vt:lpstr>Legacy node-centered FE-FV scheme: participating classes</vt:lpstr>
      <vt:lpstr>Node-centered CVFE scheme</vt:lpstr>
      <vt:lpstr>Execution sequence</vt:lpstr>
      <vt:lpstr>Variations of the theme: CSMP transport schemes</vt:lpstr>
      <vt:lpstr>Classes supporting your own FVM functionality</vt:lpstr>
      <vt:lpstr>Support FOR EMBEDDED DISCONTINUITIES</vt:lpstr>
      <vt:lpstr>EDS SplitBoundary -based discretisation</vt:lpstr>
      <vt:lpstr>EDF integrals in implicit FEFVM solution </vt:lpstr>
      <vt:lpstr>Bridging SplitBoundarys using InterFace elements in implicit fluid pressure computation</vt:lpstr>
      <vt:lpstr>Contents</vt:lpstr>
      <vt:lpstr>PDE_Integrator -&gt; PDE_Integrator</vt:lpstr>
      <vt:lpstr>PDE_Integrator framework to solve PDEs</vt:lpstr>
      <vt:lpstr>Interaction of PDE_Integrator with FE bridge pattern</vt:lpstr>
      <vt:lpstr>PDE_Integrator    library</vt:lpstr>
      <vt:lpstr>PDE_Integrator and Boundaries</vt:lpstr>
      <vt:lpstr>Accumulation of boundary integrals</vt:lpstr>
      <vt:lpstr>PDE OPERATORS</vt:lpstr>
      <vt:lpstr>PDE_Operators</vt:lpstr>
      <vt:lpstr>SOLVER</vt:lpstr>
      <vt:lpstr>Strategy pattern: Linear algebraic solvers</vt:lpstr>
      <vt:lpstr>CSMP_DEFAULT_LINEAR_SOLVER or SAMG_Solver   and   SAMG_Settings</vt:lpstr>
      <vt:lpstr>Contents</vt:lpstr>
      <vt:lpstr>Visitor  (design pattern (Gamma et al.))</vt:lpstr>
      <vt:lpstr>How to use visitors correctly</vt:lpstr>
      <vt:lpstr>Contents</vt:lpstr>
      <vt:lpstr>PropertyHandle</vt:lpstr>
      <vt:lpstr>The End</vt:lpstr>
    </vt:vector>
  </TitlesOfParts>
  <Company>Imperial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Stephan Matthai</dc:creator>
  <cp:lastModifiedBy>Stephan Matthai</cp:lastModifiedBy>
  <cp:revision>976</cp:revision>
  <cp:lastPrinted>2024-05-02T11:28:07Z</cp:lastPrinted>
  <dcterms:created xsi:type="dcterms:W3CDTF">2011-02-07T13:57:38Z</dcterms:created>
  <dcterms:modified xsi:type="dcterms:W3CDTF">2024-05-03T01:55:25Z</dcterms:modified>
</cp:coreProperties>
</file>