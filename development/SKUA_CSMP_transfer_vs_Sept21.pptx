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596" r:id="rId3"/>
    <p:sldId id="592" r:id="rId4"/>
    <p:sldId id="593" r:id="rId5"/>
    <p:sldId id="587" r:id="rId6"/>
    <p:sldId id="572" r:id="rId7"/>
    <p:sldId id="591" r:id="rId8"/>
    <p:sldId id="589" r:id="rId9"/>
    <p:sldId id="599" r:id="rId10"/>
    <p:sldId id="603" r:id="rId11"/>
    <p:sldId id="600" r:id="rId12"/>
    <p:sldId id="601" r:id="rId13"/>
    <p:sldId id="604" r:id="rId14"/>
    <p:sldId id="578" r:id="rId15"/>
    <p:sldId id="602" r:id="rId16"/>
    <p:sldId id="598" r:id="rId17"/>
    <p:sldId id="579" r:id="rId18"/>
    <p:sldId id="504" r:id="rId19"/>
    <p:sldId id="569" r:id="rId20"/>
    <p:sldId id="506" r:id="rId21"/>
    <p:sldId id="570" r:id="rId22"/>
    <p:sldId id="507" r:id="rId23"/>
    <p:sldId id="590" r:id="rId24"/>
    <p:sldId id="586" r:id="rId25"/>
    <p:sldId id="531" r:id="rId26"/>
    <p:sldId id="594" r:id="rId27"/>
    <p:sldId id="481" r:id="rId28"/>
    <p:sldId id="487" r:id="rId29"/>
    <p:sldId id="568" r:id="rId30"/>
    <p:sldId id="595" r:id="rId31"/>
    <p:sldId id="582" r:id="rId32"/>
    <p:sldId id="581" r:id="rId33"/>
    <p:sldId id="580" r:id="rId34"/>
    <p:sldId id="534" r:id="rId35"/>
    <p:sldId id="537" r:id="rId36"/>
    <p:sldId id="498" r:id="rId37"/>
    <p:sldId id="573" r:id="rId38"/>
    <p:sldId id="574" r:id="rId39"/>
    <p:sldId id="597" r:id="rId40"/>
    <p:sldId id="575" r:id="rId41"/>
    <p:sldId id="576" r:id="rId42"/>
    <p:sldId id="533" r:id="rId43"/>
    <p:sldId id="536" r:id="rId44"/>
    <p:sldId id="588" r:id="rId45"/>
    <p:sldId id="480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432FF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5"/>
    <p:restoredTop sz="89267" autoAdjust="0"/>
  </p:normalViewPr>
  <p:slideViewPr>
    <p:cSldViewPr snapToObjects="1">
      <p:cViewPr varScale="1">
        <p:scale>
          <a:sx n="169" d="100"/>
          <a:sy n="169" d="100"/>
        </p:scale>
        <p:origin x="19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5" d="100"/>
        <a:sy n="115" d="100"/>
      </p:scale>
      <p:origin x="0" y="1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EA79E-3780-954A-9514-1C100FD8E738}" type="datetimeFigureOut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E66AB-E1EB-4E41-868C-4CF35CC2DA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377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92DA7-79C0-5A46-A8B5-90ACC4B4893F}" type="datetimeFigureOut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A5846-1793-6F4A-93C8-9FD4F1C159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90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1A5846-1793-6F4A-93C8-9FD4F1C1591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89DF2-11E0-7E4F-9F2F-3D9A070764F7}" type="slidenum">
              <a:rPr lang="en-US"/>
              <a:pPr/>
              <a:t>18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851276-70F6-4C48-B92C-4B378F97F710}" type="slidenum">
              <a:rPr lang="en-US"/>
              <a:pPr/>
              <a:t>20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E03369-E522-B440-978C-F0E832CC6D27}" type="slidenum">
              <a:rPr lang="en-US"/>
              <a:pPr/>
              <a:t>21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F1C525-809E-7A40-BCCB-96CDBFA864EF}" type="slidenum">
              <a:rPr lang="en-US"/>
              <a:pPr/>
              <a:t>22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C10149-AFDA-5946-92BA-E8977FAF1B12}" type="slidenum">
              <a:rPr lang="en-US"/>
              <a:pPr/>
              <a:t>27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Note</a:t>
            </a:r>
            <a:r>
              <a:rPr lang="en-US" baseline="0" dirty="0"/>
              <a:t> non-unique regions -&gt; consider implications for Region-based properties</a:t>
            </a:r>
          </a:p>
          <a:p>
            <a:pPr eaLnBrk="1" hangingPunct="1"/>
            <a:r>
              <a:rPr lang="en-US" baseline="0" dirty="0"/>
              <a:t>Making groups via </a:t>
            </a:r>
            <a:r>
              <a:rPr lang="en-US" baseline="0" dirty="0" err="1"/>
              <a:t>PropertyConstraints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B82E87-D647-994D-A167-29A2DA5AE60F}" type="slidenum">
              <a:rPr lang="en-US"/>
              <a:pPr/>
              <a:t>28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94058-8480-624A-98BC-530CCE27EB29}" type="slidenum">
              <a:rPr lang="en-US"/>
              <a:pPr/>
              <a:t>35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Integration of properties is required</a:t>
            </a: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2860B3-4FB7-3B46-82D1-90A3E9322EB6}" type="slidenum">
              <a:rPr lang="en-US"/>
              <a:pPr/>
              <a:t>36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2860B3-4FB7-3B46-82D1-90A3E9322EB6}" type="slidenum">
              <a:rPr lang="en-US"/>
              <a:pPr/>
              <a:t>37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E03369-E522-B440-978C-F0E832CC6D27}" type="slidenum">
              <a:rPr lang="en-US"/>
              <a:pPr/>
              <a:t>42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3DEAD8-A387-BF43-82FF-71EB1FD35D56}" type="slidenum">
              <a:rPr lang="en-GB"/>
              <a:pPr/>
              <a:t>43</a:t>
            </a:fld>
            <a:endParaRPr lang="en-GB"/>
          </a:p>
        </p:txBody>
      </p:sp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1A5846-1793-6F4A-93C8-9FD4F1C1591E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E236-F476-7D45-A04C-BCA8DF3CE6EA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91C7-3FB2-4A45-A50D-CFD735226A6E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0369-F10D-D240-AC49-5A4BBB2B8696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21E2-B05F-B94B-BD08-7791A84524CA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7DA5-A14A-E946-B9A8-A3DDDB02889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7938-D108-814E-BC30-791B297BDDCF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A85F-2E60-0949-952F-74F57104584F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5D27-41E8-0044-B40C-AFB14955B22D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13" y="300038"/>
            <a:ext cx="8162925" cy="579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41325" y="1085850"/>
            <a:ext cx="4078288" cy="4995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72013" y="1085850"/>
            <a:ext cx="4078287" cy="49958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6213" y="6286500"/>
            <a:ext cx="2881312" cy="457200"/>
          </a:xfrm>
        </p:spPr>
        <p:txBody>
          <a:bodyPr/>
          <a:lstStyle>
            <a:lvl1pPr algn="l">
              <a:defRPr smtClean="0"/>
            </a:lvl1pPr>
          </a:lstStyle>
          <a:p>
            <a:fld id="{8D11BE96-3744-5646-BAC8-E5987086E798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90925" y="62865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9925" y="62865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D85D7429-E0B0-F747-9618-8B51FA155C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7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57951F7C-CFBF-8144-A102-5B4CA8E4DF9C}" type="datetime1">
              <a:rPr lang="en-US" smtClean="0"/>
              <a:pPr/>
              <a:t>9/11/21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  </a:t>
            </a:r>
            <a:fld id="{223FD816-CC6A-BF43-8241-637E3E7EAA5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FF0066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tk.org/wp-content/uploads/2015/04/file-formats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618" y="836712"/>
            <a:ext cx="7924800" cy="30480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The Complex Systems </a:t>
            </a:r>
            <a:r>
              <a:rPr lang="en-US" sz="4400" dirty="0" err="1">
                <a:solidFill>
                  <a:schemeClr val="tx1"/>
                </a:solidFill>
              </a:rPr>
              <a:t>Modelling</a:t>
            </a:r>
            <a:r>
              <a:rPr lang="en-US" sz="4400" dirty="0">
                <a:solidFill>
                  <a:schemeClr val="tx1"/>
                </a:solidFill>
              </a:rPr>
              <a:t> Platform 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(CSMP++ )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8" y="3733800"/>
            <a:ext cx="9108504" cy="1219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Transferring a </a:t>
            </a:r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discretised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(“meshed”) model to CSMP++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4537-941D-2348-A481-A34A2C8533FE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231884" y="6021288"/>
            <a:ext cx="2708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by Stephan K. Matthai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68A5-8BFE-EF4F-91EF-7954C5B0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11E9-9837-3C43-9B91-0A9E87CD8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 introduces text file format and content needed for the construction of a multi-domain (region-based) CSMP++ model with associated properties.</a:t>
            </a:r>
          </a:p>
          <a:p>
            <a:r>
              <a:rPr lang="en-US" dirty="0"/>
              <a:t>Datatypes and naming conventions in CSMP are described, giving background to understand the datatypes and terminology used in the descriptions.</a:t>
            </a:r>
          </a:p>
          <a:p>
            <a:r>
              <a:rPr lang="en-US" dirty="0"/>
              <a:t>Much of this follows NCSA’s (HDF5) conventions for polygonal datasets and is similar to </a:t>
            </a:r>
            <a:r>
              <a:rPr lang="en-US" dirty="0" err="1"/>
              <a:t>Kitware’s</a:t>
            </a:r>
            <a:r>
              <a:rPr lang="en-US" dirty="0"/>
              <a:t> VTK file format for unstructured grids: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	https://vtk.org/wp-content/uploads/2015/04/file-formats.pdf</a:t>
            </a:r>
            <a:endParaRPr lang="en-US" dirty="0"/>
          </a:p>
          <a:p>
            <a:r>
              <a:rPr lang="en-US" dirty="0"/>
              <a:t>The element node-numbering conventions are the same as in ANSYS. The file-based interface is documented as part of CSMP’s </a:t>
            </a:r>
            <a:r>
              <a:rPr lang="en-US" dirty="0" err="1"/>
              <a:t>ANSYS_Interface</a:t>
            </a:r>
            <a:r>
              <a:rPr lang="en-US" dirty="0"/>
              <a:t>. </a:t>
            </a:r>
          </a:p>
          <a:p>
            <a:r>
              <a:rPr lang="en-US" dirty="0"/>
              <a:t>Example text files are provided with this presentation.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F9299-15D6-C04A-8E4E-891F2508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477F9-32D7-664E-A3E3-FE04CAEE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758B4-B0A8-0448-8D1E-6AB77FC0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5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0C3B-2D3A-AB46-B64B-93D157F5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31232" y="3231232"/>
            <a:ext cx="6858000" cy="39553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Synopsis</a:t>
            </a:r>
            <a:r>
              <a:rPr lang="en-US" sz="2400" dirty="0"/>
              <a:t>: CSMP’s </a:t>
            </a:r>
            <a:r>
              <a:rPr lang="en-US" sz="2400" dirty="0" err="1"/>
              <a:t>DOxygen</a:t>
            </a:r>
            <a:r>
              <a:rPr lang="en-US" sz="2400" dirty="0"/>
              <a:t> documentation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F52E0-B684-4548-ACAB-42BB5413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6C6B0-988C-444B-A0B4-130C402A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1061C1-06FC-0040-A20B-F5AE16E7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44" y="0"/>
            <a:ext cx="406595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88EC18-72F5-DC4A-9C86-6B3448AA2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0"/>
            <a:ext cx="433759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6FE93E-BD8B-A845-B82F-B7F3ED0D7D5F}"/>
              </a:ext>
            </a:extLst>
          </p:cNvPr>
          <p:cNvSpPr txBox="1"/>
          <p:nvPr/>
        </p:nvSpPr>
        <p:spPr>
          <a:xfrm>
            <a:off x="469012" y="5373216"/>
            <a:ext cx="1901483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Boundary flags for box-shaped model</a:t>
            </a:r>
          </a:p>
        </p:txBody>
      </p:sp>
    </p:spTree>
    <p:extLst>
      <p:ext uri="{BB962C8B-B14F-4D97-AF65-F5344CB8AC3E}">
        <p14:creationId xmlns:p14="http://schemas.microsoft.com/office/powerpoint/2010/main" val="379457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40586-31F3-A746-B1FD-D4B05CD5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5D290-C34D-6F47-9693-85DC1FC6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1187B5-EC32-6440-AA6B-9994157F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476672"/>
            <a:ext cx="7912100" cy="5511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D49A90-FA3A-5346-9171-E5F4CFE3EFC9}"/>
              </a:ext>
            </a:extLst>
          </p:cNvPr>
          <p:cNvSpPr txBox="1"/>
          <p:nvPr/>
        </p:nvSpPr>
        <p:spPr>
          <a:xfrm>
            <a:off x="1979712" y="4581128"/>
            <a:ext cx="6912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= rock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FF37D-682D-F946-891F-E5156E926037}"/>
              </a:ext>
            </a:extLst>
          </p:cNvPr>
          <p:cNvSpPr txBox="1"/>
          <p:nvPr/>
        </p:nvSpPr>
        <p:spPr>
          <a:xfrm>
            <a:off x="1547664" y="1700808"/>
            <a:ext cx="2802370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= negative integers that correspond to the boundary flags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513D9-6ED3-6741-9012-53AC20D594E4}"/>
              </a:ext>
            </a:extLst>
          </p:cNvPr>
          <p:cNvSpPr txBox="1"/>
          <p:nvPr/>
        </p:nvSpPr>
        <p:spPr>
          <a:xfrm>
            <a:off x="1471990" y="1726033"/>
            <a:ext cx="2802370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= negative integers that correspond to the boundary flags</a:t>
            </a:r>
          </a:p>
        </p:txBody>
      </p:sp>
    </p:spTree>
    <p:extLst>
      <p:ext uri="{BB962C8B-B14F-4D97-AF65-F5344CB8AC3E}">
        <p14:creationId xmlns:p14="http://schemas.microsoft.com/office/powerpoint/2010/main" val="344625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336"/>
            <a:ext cx="8229600" cy="914400"/>
          </a:xfrm>
        </p:spPr>
        <p:txBody>
          <a:bodyPr/>
          <a:lstStyle/>
          <a:p>
            <a:r>
              <a:rPr lang="en-US" dirty="0"/>
              <a:t>Content of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565"/>
            <a:ext cx="8229600" cy="5211763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Storage of mesh (</a:t>
            </a:r>
            <a:r>
              <a:rPr lang="en-US" sz="2400" dirty="0" err="1"/>
              <a:t>VData</a:t>
            </a:r>
            <a:r>
              <a:rPr lang="en-US" sz="2400" dirty="0"/>
              <a:t>), variable values &amp; flags (</a:t>
            </a:r>
            <a:r>
              <a:rPr lang="en-US" sz="2400" dirty="0" err="1"/>
              <a:t>VSet</a:t>
            </a:r>
            <a:r>
              <a:rPr lang="en-US" sz="2400" dirty="0"/>
              <a:t>)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CSMP conventions: variable types, flags, placements..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b="1" dirty="0"/>
              <a:t>Region</a:t>
            </a:r>
            <a:r>
              <a:rPr lang="en-US" sz="2400" dirty="0"/>
              <a:t> - storing sub-domains of model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Mesh representation of faults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b="1" dirty="0"/>
              <a:t>Boundary</a:t>
            </a:r>
            <a:r>
              <a:rPr lang="en-US" sz="2400" dirty="0"/>
              <a:t> &amp; </a:t>
            </a:r>
            <a:r>
              <a:rPr lang="en-US" sz="2400" b="1" dirty="0" err="1"/>
              <a:t>SplitBoundary</a:t>
            </a:r>
            <a:r>
              <a:rPr lang="en-US" sz="2400" dirty="0"/>
              <a:t> objects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CSMP - hybrid finite-element finite-volume framework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b="1" dirty="0"/>
              <a:t>Finite-element types supported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Finite-element finite-volume stencils 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Interfacing: content</a:t>
            </a:r>
          </a:p>
        </p:txBody>
      </p:sp>
    </p:spTree>
    <p:extLst>
      <p:ext uri="{BB962C8B-B14F-4D97-AF65-F5344CB8AC3E}">
        <p14:creationId xmlns:p14="http://schemas.microsoft.com/office/powerpoint/2010/main" val="163704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227165"/>
            <a:ext cx="8208912" cy="136207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1. STORING THE Mesh</a:t>
            </a:r>
            <a:br>
              <a:rPr lang="en-US" dirty="0"/>
            </a:br>
            <a:r>
              <a:rPr lang="en-US" cap="none" dirty="0">
                <a:solidFill>
                  <a:srgbClr val="FFFF00"/>
                </a:solidFill>
              </a:rPr>
              <a:t>explanation of polygonal data for interim </a:t>
            </a:r>
            <a:r>
              <a:rPr lang="en-US" cap="none" dirty="0" err="1">
                <a:solidFill>
                  <a:srgbClr val="FFFF00"/>
                </a:solidFill>
              </a:rPr>
              <a:t>VSet</a:t>
            </a:r>
            <a:r>
              <a:rPr lang="en-US" cap="none" dirty="0">
                <a:solidFill>
                  <a:srgbClr val="FFFF00"/>
                </a:solidFill>
              </a:rPr>
              <a:t> container…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38490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Storage of unstructured grids / polygonal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784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 the NCSA VSET format (part of their hierarchical data file (HDF)) is described.</a:t>
            </a:r>
          </a:p>
          <a:p>
            <a:r>
              <a:rPr lang="en-US" dirty="0"/>
              <a:t>To </a:t>
            </a:r>
            <a:r>
              <a:rPr lang="en-US" dirty="0" err="1"/>
              <a:t>initialise</a:t>
            </a:r>
            <a:r>
              <a:rPr lang="en-US" dirty="0"/>
              <a:t> a VSET the file needs to contain the following records: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FE</a:t>
            </a:r>
            <a:r>
              <a:rPr lang="en-US" sz="1600" dirty="0"/>
              <a:t> </a:t>
            </a:r>
            <a:r>
              <a:rPr lang="en-US" sz="1600" b="1" dirty="0"/>
              <a:t>vertex (</a:t>
            </a:r>
            <a:r>
              <a:rPr lang="en-US" sz="1600" b="1" dirty="0">
                <a:solidFill>
                  <a:srgbClr val="FF0066"/>
                </a:solidFill>
              </a:rPr>
              <a:t>px, </a:t>
            </a:r>
            <a:r>
              <a:rPr lang="en-US" sz="1600" b="1" dirty="0" err="1">
                <a:solidFill>
                  <a:srgbClr val="FF0066"/>
                </a:solidFill>
              </a:rPr>
              <a:t>py</a:t>
            </a:r>
            <a:r>
              <a:rPr lang="en-US" sz="1600" b="1" dirty="0">
                <a:solidFill>
                  <a:srgbClr val="FF0066"/>
                </a:solidFill>
              </a:rPr>
              <a:t>, </a:t>
            </a:r>
            <a:r>
              <a:rPr lang="en-US" sz="1600" b="1" dirty="0" err="1">
                <a:solidFill>
                  <a:srgbClr val="FF0066"/>
                </a:solidFill>
              </a:rPr>
              <a:t>pz</a:t>
            </a:r>
            <a:r>
              <a:rPr lang="en-US" sz="1600" b="1" dirty="0"/>
              <a:t>): </a:t>
            </a:r>
            <a:r>
              <a:rPr lang="en-US" sz="1600" dirty="0"/>
              <a:t>listing element node coordinates (3 1D-arrays for x, y, and z, respectively); vertex numbering is implied by order of entries.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Boundary vertex array (</a:t>
            </a:r>
            <a:r>
              <a:rPr lang="en-US" sz="1600" b="1" dirty="0" err="1">
                <a:solidFill>
                  <a:srgbClr val="FF0066"/>
                </a:solidFill>
              </a:rPr>
              <a:t>pbflags</a:t>
            </a:r>
            <a:r>
              <a:rPr lang="en-US" sz="1600" b="1" dirty="0"/>
              <a:t>):</a:t>
            </a:r>
            <a:r>
              <a:rPr lang="en-US" sz="1600" dirty="0"/>
              <a:t> indices of vertices located on model boundary (0 for notes that are not).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rgbClr val="0432FF"/>
                </a:solidFill>
              </a:rPr>
              <a:t>FE types </a:t>
            </a:r>
            <a:r>
              <a:rPr lang="en-US" sz="1600" dirty="0">
                <a:solidFill>
                  <a:srgbClr val="0432FF"/>
                </a:solidFill>
              </a:rPr>
              <a:t>(</a:t>
            </a:r>
            <a:r>
              <a:rPr lang="en-US" sz="1600" b="1" dirty="0" err="1">
                <a:solidFill>
                  <a:srgbClr val="FF0066"/>
                </a:solidFill>
              </a:rPr>
              <a:t>pelmt</a:t>
            </a:r>
            <a:r>
              <a:rPr lang="en-US" sz="1600" dirty="0">
                <a:solidFill>
                  <a:srgbClr val="0432FF"/>
                </a:solidFill>
              </a:rPr>
              <a:t>): making up each element, face, and interface (CSMP specific)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Vertex indices for each element </a:t>
            </a:r>
            <a:r>
              <a:rPr lang="en-US" sz="1600" dirty="0"/>
              <a:t>(</a:t>
            </a:r>
            <a:r>
              <a:rPr lang="en-US" sz="1600" b="1" dirty="0" err="1">
                <a:solidFill>
                  <a:srgbClr val="FF0066"/>
                </a:solidFill>
              </a:rPr>
              <a:t>plist</a:t>
            </a:r>
            <a:r>
              <a:rPr lang="en-US" sz="1600" dirty="0"/>
              <a:t>): 32-bit unsigned integers again in a 1D array of vertex ids enlisted element by element.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FE neighbors of each element </a:t>
            </a:r>
            <a:r>
              <a:rPr lang="en-US" sz="1600" dirty="0"/>
              <a:t>(</a:t>
            </a:r>
            <a:r>
              <a:rPr lang="en-US" sz="1600" b="1" dirty="0" err="1">
                <a:solidFill>
                  <a:srgbClr val="FF0066"/>
                </a:solidFill>
              </a:rPr>
              <a:t>pfverts</a:t>
            </a:r>
            <a:r>
              <a:rPr lang="en-US" sz="1600" dirty="0"/>
              <a:t>): like </a:t>
            </a:r>
            <a:r>
              <a:rPr lang="en-US" sz="1600" dirty="0" err="1"/>
              <a:t>plist</a:t>
            </a:r>
            <a:r>
              <a:rPr lang="en-US" sz="1600" dirty="0"/>
              <a:t>, but ids (int-32) of elements adjacent to each FE face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rgbClr val="0432FF"/>
                </a:solidFill>
              </a:rPr>
              <a:t>Material identifiers </a:t>
            </a:r>
            <a:r>
              <a:rPr lang="en-US" sz="1600" dirty="0">
                <a:solidFill>
                  <a:srgbClr val="0432FF"/>
                </a:solidFill>
              </a:rPr>
              <a:t>(rock types) (</a:t>
            </a:r>
            <a:r>
              <a:rPr lang="en-US" sz="1600" b="1" dirty="0" err="1">
                <a:solidFill>
                  <a:srgbClr val="0432FF"/>
                </a:solidFill>
              </a:rPr>
              <a:t>pmtrl</a:t>
            </a:r>
            <a:r>
              <a:rPr lang="en-US" sz="1600" b="1" dirty="0">
                <a:solidFill>
                  <a:srgbClr val="0432FF"/>
                </a:solidFill>
              </a:rPr>
              <a:t>)</a:t>
            </a:r>
            <a:r>
              <a:rPr lang="en-US" sz="1600" dirty="0">
                <a:solidFill>
                  <a:srgbClr val="0432FF"/>
                </a:solidFill>
              </a:rPr>
              <a:t>: – integer codes for </a:t>
            </a:r>
            <a:r>
              <a:rPr lang="en-US" sz="1600" dirty="0" err="1">
                <a:solidFill>
                  <a:srgbClr val="0432FF"/>
                </a:solidFill>
              </a:rPr>
              <a:t>elmts</a:t>
            </a:r>
            <a:r>
              <a:rPr lang="en-US" sz="1600" dirty="0">
                <a:solidFill>
                  <a:srgbClr val="0432FF"/>
                </a:solidFill>
              </a:rPr>
              <a:t> </a:t>
            </a:r>
            <a:r>
              <a:rPr lang="is-IS" sz="1600" dirty="0">
                <a:solidFill>
                  <a:srgbClr val="0432FF"/>
                </a:solidFill>
              </a:rPr>
              <a:t>(CSMP only)</a:t>
            </a:r>
            <a:endParaRPr lang="en-US" sz="16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rgbClr val="0432FF"/>
                </a:solidFill>
              </a:rPr>
              <a:t>Property values </a:t>
            </a:r>
            <a:r>
              <a:rPr lang="en-US" sz="1600" dirty="0">
                <a:solidFill>
                  <a:srgbClr val="0432FF"/>
                </a:solidFill>
              </a:rPr>
              <a:t>(scalar, vector, tensor</a:t>
            </a:r>
            <a:r>
              <a:rPr lang="is-IS" sz="1600" dirty="0">
                <a:solidFill>
                  <a:srgbClr val="0432FF"/>
                </a:solidFill>
              </a:rPr>
              <a:t>…) associated with nodes, elements, faces, and interfaces (CSMP only)</a:t>
            </a:r>
            <a:endParaRPr lang="en-US" sz="1600" dirty="0">
              <a:solidFill>
                <a:srgbClr val="0432FF"/>
              </a:solidFill>
            </a:endParaRPr>
          </a:p>
          <a:p>
            <a:pPr marL="457200" lvl="1" indent="0">
              <a:buNone/>
            </a:pPr>
            <a:r>
              <a:rPr lang="en-US" sz="1600" b="1" i="1" dirty="0"/>
              <a:t>Note</a:t>
            </a:r>
            <a:r>
              <a:rPr lang="en-US" sz="1600" i="1" dirty="0">
                <a:solidFill>
                  <a:srgbClr val="0432FF"/>
                </a:solidFill>
              </a:rPr>
              <a:t> - </a:t>
            </a:r>
            <a:r>
              <a:rPr lang="en-US" sz="1600" i="1" dirty="0"/>
              <a:t>To read </a:t>
            </a:r>
            <a:r>
              <a:rPr lang="en-US" sz="1600" i="1" dirty="0" err="1"/>
              <a:t>plist</a:t>
            </a:r>
            <a:r>
              <a:rPr lang="en-US" sz="1600" i="1" dirty="0"/>
              <a:t> and </a:t>
            </a:r>
            <a:r>
              <a:rPr lang="en-US" sz="1600" i="1" dirty="0" err="1"/>
              <a:t>pfverts</a:t>
            </a:r>
            <a:r>
              <a:rPr lang="en-US" sz="1600" i="1" dirty="0"/>
              <a:t> arrays, the element node- and neighbor numbering must be known (but not contained in </a:t>
            </a:r>
            <a:r>
              <a:rPr lang="en-US" sz="1600" i="1" dirty="0" err="1"/>
              <a:t>VSet</a:t>
            </a:r>
            <a:r>
              <a:rPr lang="en-US" sz="1600" i="1" dirty="0"/>
              <a:t> file). It is inferred from the element types listed in </a:t>
            </a:r>
            <a:r>
              <a:rPr lang="en-US" sz="1600" dirty="0" err="1"/>
              <a:t>pelmt</a:t>
            </a:r>
            <a:r>
              <a:rPr lang="en-US" sz="1600" i="1" dirty="0"/>
              <a:t>. The conventions are described the last section of the presentation (Section 4).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3"/>
          <p:cNvSpPr txBox="1">
            <a:spLocks/>
          </p:cNvSpPr>
          <p:nvPr/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5F3FFD-9B2C-A54A-9AAE-847814E2D763}" type="datetime1">
              <a:rPr lang="en-US" smtClean="0"/>
              <a:pPr/>
              <a:t>9/11/21</a:t>
            </a:fld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3FD816-CC6A-BF43-8241-637E3E7EAA5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42104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of ‘</a:t>
            </a:r>
            <a:r>
              <a:rPr lang="en-US" dirty="0" err="1"/>
              <a:t>plist</a:t>
            </a:r>
            <a:r>
              <a:rPr lang="en-US" dirty="0"/>
              <a:t>’ and ‘</a:t>
            </a:r>
            <a:r>
              <a:rPr lang="en-US" dirty="0" err="1"/>
              <a:t>pfverts</a:t>
            </a:r>
            <a:r>
              <a:rPr lang="en-US" dirty="0"/>
              <a:t>’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latin typeface="Arial Narrow"/>
                <a:cs typeface="Arial Narrow"/>
              </a:rPr>
              <a:t>(why ‘</a:t>
            </a:r>
            <a:r>
              <a:rPr lang="en-US" sz="1600" dirty="0" err="1">
                <a:latin typeface="Arial Narrow"/>
                <a:cs typeface="Arial Narrow"/>
              </a:rPr>
              <a:t>pelmt</a:t>
            </a:r>
            <a:r>
              <a:rPr lang="en-US" sz="1600" dirty="0">
                <a:latin typeface="Arial Narrow"/>
                <a:cs typeface="Arial Narrow"/>
              </a:rPr>
              <a:t>’ is needed to infer from element type how many nodes and faces are connected to each element)</a:t>
            </a:r>
          </a:p>
          <a:p>
            <a:pPr marL="0" indent="0">
              <a:buNone/>
            </a:pPr>
            <a:r>
              <a:rPr lang="en-US" sz="2600" dirty="0" err="1">
                <a:latin typeface="Courier"/>
                <a:cs typeface="Courier"/>
              </a:rPr>
              <a:t>pelmt</a:t>
            </a:r>
            <a:r>
              <a:rPr lang="en-US" sz="2600" dirty="0">
                <a:latin typeface="Courier"/>
                <a:cs typeface="Courier"/>
              </a:rPr>
              <a:t>[]</a:t>
            </a:r>
          </a:p>
          <a:p>
            <a:pPr marL="0" indent="0">
              <a:buNone/>
            </a:pPr>
            <a:r>
              <a:rPr lang="en-US" sz="2400" dirty="0">
                <a:latin typeface="Courier"/>
                <a:cs typeface="Courier"/>
              </a:rPr>
              <a:t>	</a:t>
            </a:r>
            <a:r>
              <a:rPr lang="en-US" dirty="0">
                <a:latin typeface="Courier"/>
                <a:cs typeface="Courier"/>
              </a:rPr>
              <a:t>LINEAR_TRIANGLE, LINEAR_QUADRILATERAL… </a:t>
            </a:r>
          </a:p>
          <a:p>
            <a:pPr marL="0" indent="0">
              <a:buNone/>
            </a:pPr>
            <a:r>
              <a:rPr lang="en-US" sz="2600" dirty="0" err="1">
                <a:latin typeface="Courier"/>
                <a:cs typeface="Courier"/>
              </a:rPr>
              <a:t>plist</a:t>
            </a:r>
            <a:r>
              <a:rPr lang="en-US" sz="2600" dirty="0">
                <a:latin typeface="Courier"/>
                <a:cs typeface="Courier"/>
              </a:rPr>
              <a:t>[]</a:t>
            </a:r>
          </a:p>
          <a:p>
            <a:pPr marL="0" indent="0">
              <a:buNone/>
            </a:pPr>
            <a:r>
              <a:rPr lang="en-US" dirty="0">
                <a:latin typeface="Courier"/>
                <a:cs typeface="Courier"/>
              </a:rPr>
              <a:t>	[node0,n1,n2|n0,n1,n2,n4|…|last element|]</a:t>
            </a:r>
          </a:p>
          <a:p>
            <a:pPr marL="0" indent="0">
              <a:buNone/>
            </a:pPr>
            <a:r>
              <a:rPr lang="en-US" sz="2800" dirty="0" err="1">
                <a:latin typeface="Courier"/>
                <a:cs typeface="Courier"/>
              </a:rPr>
              <a:t>pfverts</a:t>
            </a:r>
            <a:r>
              <a:rPr lang="en-US" sz="2800" dirty="0">
                <a:latin typeface="Courier"/>
                <a:cs typeface="Courier"/>
              </a:rPr>
              <a:t>[]</a:t>
            </a:r>
          </a:p>
          <a:p>
            <a:pPr marL="0" indent="0">
              <a:buNone/>
            </a:pPr>
            <a:r>
              <a:rPr lang="en-US" dirty="0">
                <a:latin typeface="Courier"/>
                <a:cs typeface="Courier"/>
              </a:rPr>
              <a:t>	[neighbor0,n1,n2|…|</a:t>
            </a:r>
            <a:r>
              <a:rPr lang="en-US" dirty="0" err="1">
                <a:latin typeface="Courier"/>
                <a:cs typeface="Courier"/>
              </a:rPr>
              <a:t>nbors</a:t>
            </a:r>
            <a:r>
              <a:rPr lang="en-US" dirty="0">
                <a:latin typeface="Courier"/>
                <a:cs typeface="Courier"/>
              </a:rPr>
              <a:t> of last </a:t>
            </a:r>
            <a:r>
              <a:rPr lang="en-US" dirty="0" err="1">
                <a:latin typeface="Courier"/>
                <a:cs typeface="Courier"/>
              </a:rPr>
              <a:t>elmt</a:t>
            </a:r>
            <a:r>
              <a:rPr lang="en-US" dirty="0">
                <a:latin typeface="Courier"/>
                <a:cs typeface="Courier"/>
              </a:rPr>
              <a:t>|]</a:t>
            </a:r>
            <a:endParaRPr lang="en-US" sz="2400" dirty="0">
              <a:latin typeface="Courier"/>
              <a:cs typeface="Courier"/>
            </a:endParaRPr>
          </a:p>
          <a:p>
            <a:r>
              <a:rPr lang="en-US" i="1" dirty="0">
                <a:latin typeface="Arial Narrow"/>
                <a:cs typeface="Arial Narrow"/>
              </a:rPr>
              <a:t>Where an element face has no neighbor a negative-valued boundary flag is assigned (see slide 17).</a:t>
            </a:r>
          </a:p>
          <a:p>
            <a:r>
              <a:rPr lang="en-US" i="1" dirty="0">
                <a:latin typeface="Arial Narrow"/>
                <a:cs typeface="Arial Narrow"/>
              </a:rPr>
              <a:t>Elements only know their equidimensional neighbors (volumes-&gt;volumes, surfaces-&gt; surfaces, lines-&gt;lines).</a:t>
            </a:r>
            <a:endParaRPr lang="en-US" sz="2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2400" dirty="0" err="1">
                <a:latin typeface="Courier"/>
                <a:cs typeface="Courier"/>
              </a:rPr>
              <a:t>vset.Out</a:t>
            </a:r>
            <a:r>
              <a:rPr lang="en-US" sz="2400" dirty="0">
                <a:latin typeface="Courier"/>
                <a:cs typeface="Courier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Arial Narrow"/>
                <a:cs typeface="Arial Narrow"/>
              </a:rPr>
              <a:t>method to check a small model whether your initialization performed as expected.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96620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of ‘</a:t>
            </a:r>
            <a:r>
              <a:rPr lang="en-US" dirty="0" err="1"/>
              <a:t>plist</a:t>
            </a:r>
            <a:r>
              <a:rPr lang="en-US" dirty="0"/>
              <a:t>’ and ‘</a:t>
            </a:r>
            <a:r>
              <a:rPr lang="en-US" dirty="0" err="1"/>
              <a:t>pfverts</a:t>
            </a:r>
            <a:r>
              <a:rPr lang="en-US" dirty="0"/>
              <a:t>’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48965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Differences between Element and dimension-1 Face,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data types by CSMP to represent Boundary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SplitBoundary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objects, respectively.</a:t>
            </a:r>
          </a:p>
          <a:p>
            <a:pPr marL="0" indent="0">
              <a:buNone/>
            </a:pPr>
            <a:r>
              <a:rPr lang="en-US" sz="2600" dirty="0" err="1">
                <a:latin typeface="Courier"/>
                <a:cs typeface="Courier"/>
              </a:rPr>
              <a:t>pelmt</a:t>
            </a:r>
            <a:r>
              <a:rPr lang="en-US" sz="2600" dirty="0">
                <a:latin typeface="Courier"/>
                <a:cs typeface="Courier"/>
              </a:rPr>
              <a:t>[</a:t>
            </a:r>
            <a:r>
              <a:rPr lang="en-US" sz="2600" dirty="0" err="1">
                <a:latin typeface="Courier"/>
                <a:cs typeface="Courier"/>
              </a:rPr>
              <a:t>elements,faces,interfaces</a:t>
            </a:r>
            <a:r>
              <a:rPr lang="en-US" sz="2600" dirty="0"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 difference (same types are used). Faces follow elements;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	types follow the Face types.</a:t>
            </a:r>
          </a:p>
          <a:p>
            <a:pPr marL="0" indent="0">
              <a:buNone/>
            </a:pPr>
            <a:r>
              <a:rPr lang="en-US" sz="2600" dirty="0" err="1">
                <a:latin typeface="Courier"/>
                <a:cs typeface="Courier"/>
              </a:rPr>
              <a:t>plist</a:t>
            </a:r>
            <a:r>
              <a:rPr lang="en-US" sz="2600" dirty="0">
                <a:latin typeface="Courier"/>
                <a:cs typeface="Courier"/>
              </a:rPr>
              <a:t>[</a:t>
            </a:r>
            <a:r>
              <a:rPr lang="en-US" sz="2600" dirty="0" err="1">
                <a:latin typeface="Courier"/>
                <a:cs typeface="Courier"/>
              </a:rPr>
              <a:t>elements,faces,interfaces</a:t>
            </a:r>
            <a:r>
              <a:rPr lang="en-US" sz="2600" dirty="0"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same element types are used, for interfaces, the number of 	nodes listed doubles. Inner interface nodes followed by outer.</a:t>
            </a:r>
            <a:endParaRPr lang="en-US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2800" dirty="0" err="1">
                <a:latin typeface="Courier"/>
                <a:cs typeface="Courier"/>
              </a:rPr>
              <a:t>pfverts</a:t>
            </a:r>
            <a:r>
              <a:rPr lang="en-US" sz="2800" dirty="0">
                <a:latin typeface="Courier"/>
                <a:cs typeface="Courier"/>
              </a:rPr>
              <a:t>[</a:t>
            </a:r>
            <a:r>
              <a:rPr lang="en-US" sz="2800" dirty="0" err="1">
                <a:latin typeface="Courier"/>
                <a:cs typeface="Courier"/>
              </a:rPr>
              <a:t>elements,faces,interfaces</a:t>
            </a:r>
            <a:r>
              <a:rPr lang="en-US" sz="2800" dirty="0">
                <a:latin typeface="Courier"/>
                <a:cs typeface="Courier"/>
              </a:rPr>
              <a:t>]</a:t>
            </a:r>
          </a:p>
          <a:p>
            <a:r>
              <a:rPr lang="en-US" sz="18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Face neighbors follow element neighbors; </a:t>
            </a:r>
            <a:r>
              <a:rPr lang="en-US" sz="1800" i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InterFace</a:t>
            </a:r>
            <a:r>
              <a:rPr lang="en-US" sz="18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lang="en-US" sz="1800" i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nbors</a:t>
            </a:r>
            <a:r>
              <a:rPr lang="en-US" sz="18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 follow Face </a:t>
            </a:r>
            <a:r>
              <a:rPr lang="en-US" sz="1800" i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nbors</a:t>
            </a:r>
            <a:r>
              <a:rPr lang="en-US" sz="18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.</a:t>
            </a:r>
          </a:p>
          <a:p>
            <a:r>
              <a:rPr lang="en-US" sz="1800" i="1" dirty="0">
                <a:latin typeface="Arial Narrow"/>
                <a:cs typeface="Arial Narrow"/>
              </a:rPr>
              <a:t>Where an element face has no neighbor a negative-valued boundary flag is assigned (see slide 17).</a:t>
            </a:r>
          </a:p>
          <a:p>
            <a:r>
              <a:rPr lang="en-US" sz="1800" i="1" dirty="0">
                <a:latin typeface="Arial Narrow"/>
                <a:cs typeface="Arial Narrow"/>
              </a:rPr>
              <a:t>While elements only know their equidimensional neighbors, Face and </a:t>
            </a:r>
            <a:r>
              <a:rPr lang="en-US" sz="1800" i="1" dirty="0" err="1">
                <a:latin typeface="Arial Narrow"/>
                <a:cs typeface="Arial Narrow"/>
              </a:rPr>
              <a:t>InterFace</a:t>
            </a:r>
            <a:r>
              <a:rPr lang="en-US" sz="1800" i="1" dirty="0">
                <a:latin typeface="Arial Narrow"/>
                <a:cs typeface="Arial Narrow"/>
              </a:rPr>
              <a:t> objects also connect to their higher dimensional neighbors.</a:t>
            </a:r>
          </a:p>
          <a:p>
            <a:r>
              <a:rPr lang="en-US" sz="1800" i="1" dirty="0">
                <a:latin typeface="Arial Narrow"/>
                <a:cs typeface="Arial Narrow"/>
              </a:rPr>
              <a:t>The higher dimensional neighbors are listed after the </a:t>
            </a:r>
            <a:r>
              <a:rPr lang="en-US" sz="1800" i="1" dirty="0" err="1">
                <a:latin typeface="Arial Narrow"/>
                <a:cs typeface="Arial Narrow"/>
              </a:rPr>
              <a:t>nbors</a:t>
            </a:r>
            <a:r>
              <a:rPr lang="en-US" sz="1800" i="1" dirty="0">
                <a:latin typeface="Arial Narrow"/>
                <a:cs typeface="Arial Narrow"/>
              </a:rPr>
              <a:t>. For </a:t>
            </a:r>
            <a:r>
              <a:rPr lang="en-US" sz="1800" i="1" dirty="0" err="1">
                <a:latin typeface="Arial Narrow"/>
                <a:cs typeface="Arial Narrow"/>
              </a:rPr>
              <a:t>InterFace</a:t>
            </a:r>
            <a:r>
              <a:rPr lang="en-US" sz="1800" i="1" dirty="0">
                <a:latin typeface="Arial Narrow"/>
                <a:cs typeface="Arial Narrow"/>
              </a:rPr>
              <a:t> objects this is followed by the indices of intervening lower-dimensional elements or zero if there are none.</a:t>
            </a:r>
            <a:endParaRPr lang="en-US" sz="2400" dirty="0">
              <a:latin typeface="Courier"/>
              <a:cs typeface="Courier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06760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2537-AA5D-4F4B-B640-D2D0C0D8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stored in </a:t>
            </a:r>
            <a:r>
              <a:rPr lang="en-US" dirty="0" err="1"/>
              <a:t>pfverts</a:t>
            </a:r>
            <a:r>
              <a:rPr lang="en-US" dirty="0"/>
              <a:t>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F57DD-0DF8-E844-BDCE-E2C2D3A2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87D7B-9D46-BD42-B440-1D5D5A8C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04D6-72C8-EF4E-9EC2-C6E983B7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C5370-6912-714A-B3A1-EBF114611FB8}"/>
              </a:ext>
            </a:extLst>
          </p:cNvPr>
          <p:cNvSpPr txBox="1"/>
          <p:nvPr/>
        </p:nvSpPr>
        <p:spPr>
          <a:xfrm>
            <a:off x="5215238" y="921220"/>
            <a:ext cx="29816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Tetrahedral element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4 nodes (0,2,5,7-in this righthand rule order), and 4 tetrahedral neighbor elements (E1-E5) covering its faces (F0-F4).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Element E1 only has one neighbor (E0) all the other neighbors are missing because the faces are at the model boundary. The 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pfverts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 entry record the CSMP boundary flags accordingly as negative integers.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DDF146B-67B0-F441-882A-79ED52558FF1}"/>
              </a:ext>
            </a:extLst>
          </p:cNvPr>
          <p:cNvGrpSpPr/>
          <p:nvPr/>
        </p:nvGrpSpPr>
        <p:grpSpPr>
          <a:xfrm>
            <a:off x="539552" y="807930"/>
            <a:ext cx="4188889" cy="4592207"/>
            <a:chOff x="919457" y="914400"/>
            <a:chExt cx="4188889" cy="4592207"/>
          </a:xfrm>
        </p:grpSpPr>
        <p:pic>
          <p:nvPicPr>
            <p:cNvPr id="4098" name="Picture 2" descr="circumradius | Beni Bogoşel's blog">
              <a:extLst>
                <a:ext uri="{FF2B5EF4-FFF2-40B4-BE49-F238E27FC236}">
                  <a16:creationId xmlns:a16="http://schemas.microsoft.com/office/drawing/2014/main" id="{12EBB1A6-4E25-5241-8781-A1C27BB77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196752"/>
              <a:ext cx="3816424" cy="38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A91DF-7BF2-3443-A32C-A7D396F6FEB5}"/>
                </a:ext>
              </a:extLst>
            </p:cNvPr>
            <p:cNvSpPr txBox="1"/>
            <p:nvPr/>
          </p:nvSpPr>
          <p:spPr>
            <a:xfrm>
              <a:off x="2117532" y="2638653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Element E0</a:t>
              </a: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(tetrahedron)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D9C480-6DA5-0D48-A603-DCB2768740C4}"/>
                </a:ext>
              </a:extLst>
            </p:cNvPr>
            <p:cNvSpPr txBox="1"/>
            <p:nvPr/>
          </p:nvSpPr>
          <p:spPr>
            <a:xfrm>
              <a:off x="1076928" y="400506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3F2478-BB08-934B-9184-23ADA7AA6E8B}"/>
                </a:ext>
              </a:extLst>
            </p:cNvPr>
            <p:cNvSpPr txBox="1"/>
            <p:nvPr/>
          </p:nvSpPr>
          <p:spPr>
            <a:xfrm>
              <a:off x="2627784" y="50043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D4D174-CDDA-574B-AD07-E4758EA2AE96}"/>
                </a:ext>
              </a:extLst>
            </p:cNvPr>
            <p:cNvSpPr txBox="1"/>
            <p:nvPr/>
          </p:nvSpPr>
          <p:spPr>
            <a:xfrm>
              <a:off x="4658840" y="42019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E441BB-28DB-2844-9AA1-77C756B80FE6}"/>
                </a:ext>
              </a:extLst>
            </p:cNvPr>
            <p:cNvSpPr txBox="1"/>
            <p:nvPr/>
          </p:nvSpPr>
          <p:spPr>
            <a:xfrm>
              <a:off x="3044234" y="34290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EE7F6-4C28-144A-AFC8-B04E934D6876}"/>
                </a:ext>
              </a:extLst>
            </p:cNvPr>
            <p:cNvSpPr txBox="1"/>
            <p:nvPr/>
          </p:nvSpPr>
          <p:spPr>
            <a:xfrm>
              <a:off x="919457" y="160430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75C0CB-CFBB-5247-AF83-CE2DC5551BB9}"/>
                </a:ext>
              </a:extLst>
            </p:cNvPr>
            <p:cNvSpPr txBox="1"/>
            <p:nvPr/>
          </p:nvSpPr>
          <p:spPr>
            <a:xfrm>
              <a:off x="2670313" y="21888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E5C626-0D09-8443-8487-90489380BADE}"/>
                </a:ext>
              </a:extLst>
            </p:cNvPr>
            <p:cNvSpPr txBox="1"/>
            <p:nvPr/>
          </p:nvSpPr>
          <p:spPr>
            <a:xfrm>
              <a:off x="4795440" y="169053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285D19-E098-8448-9267-0CC3FB522AC3}"/>
                </a:ext>
              </a:extLst>
            </p:cNvPr>
            <p:cNvSpPr txBox="1"/>
            <p:nvPr/>
          </p:nvSpPr>
          <p:spPr>
            <a:xfrm>
              <a:off x="3080187" y="9144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E9D9F6-2681-E348-817C-04F28DC25B8D}"/>
                </a:ext>
              </a:extLst>
            </p:cNvPr>
            <p:cNvSpPr txBox="1"/>
            <p:nvPr/>
          </p:nvSpPr>
          <p:spPr>
            <a:xfrm>
              <a:off x="1347780" y="2592486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FD66BB-8647-2344-BA4D-139DA27C77BE}"/>
                </a:ext>
              </a:extLst>
            </p:cNvPr>
            <p:cNvSpPr txBox="1"/>
            <p:nvPr/>
          </p:nvSpPr>
          <p:spPr>
            <a:xfrm>
              <a:off x="2940690" y="4386606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E2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280516-BCC8-2847-86A3-FA916B38FCD3}"/>
                </a:ext>
              </a:extLst>
            </p:cNvPr>
            <p:cNvSpPr txBox="1"/>
            <p:nvPr/>
          </p:nvSpPr>
          <p:spPr>
            <a:xfrm>
              <a:off x="4206729" y="2471394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E3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982673-CBDF-924E-9DCB-8206EF969112}"/>
                </a:ext>
              </a:extLst>
            </p:cNvPr>
            <p:cNvSpPr txBox="1"/>
            <p:nvPr/>
          </p:nvSpPr>
          <p:spPr>
            <a:xfrm>
              <a:off x="3188100" y="3608646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E4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B8DAEE-36CC-894C-A027-9DFF5308F4F0}"/>
                </a:ext>
              </a:extLst>
            </p:cNvPr>
            <p:cNvSpPr txBox="1"/>
            <p:nvPr/>
          </p:nvSpPr>
          <p:spPr>
            <a:xfrm>
              <a:off x="1983159" y="5137275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97AC58-8D3A-F748-A432-37B41A142966}"/>
                </a:ext>
              </a:extLst>
            </p:cNvPr>
            <p:cNvSpPr txBox="1"/>
            <p:nvPr/>
          </p:nvSpPr>
          <p:spPr>
            <a:xfrm>
              <a:off x="1552096" y="4361948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F61206F-45DB-584A-B473-FAF0F659513B}"/>
                </a:ext>
              </a:extLst>
            </p:cNvPr>
            <p:cNvSpPr txBox="1"/>
            <p:nvPr/>
          </p:nvSpPr>
          <p:spPr>
            <a:xfrm>
              <a:off x="966501" y="4941912"/>
              <a:ext cx="4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F06E5D-909F-7543-A61A-C960A83486B6}"/>
              </a:ext>
            </a:extLst>
          </p:cNvPr>
          <p:cNvGrpSpPr/>
          <p:nvPr/>
        </p:nvGrpSpPr>
        <p:grpSpPr>
          <a:xfrm>
            <a:off x="615888" y="4277008"/>
            <a:ext cx="1107781" cy="1125345"/>
            <a:chOff x="107504" y="4538315"/>
            <a:chExt cx="1107781" cy="1125345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43A3174-5193-2D4B-9B3B-7D4882D60FD8}"/>
                </a:ext>
              </a:extLst>
            </p:cNvPr>
            <p:cNvCxnSpPr>
              <a:cxnSpLocks/>
            </p:cNvCxnSpPr>
            <p:nvPr/>
          </p:nvCxnSpPr>
          <p:spPr>
            <a:xfrm>
              <a:off x="696005" y="5267172"/>
              <a:ext cx="519280" cy="3964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1F1EF3C-44E2-5746-B485-A3551AF9E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005" y="4538315"/>
              <a:ext cx="0" cy="7445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96BF289-A9F6-154A-92CB-65924D5AA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04" y="5282500"/>
              <a:ext cx="588501" cy="19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19C19CD-DA0C-6848-9D7A-30A41AF4FFF4}"/>
              </a:ext>
            </a:extLst>
          </p:cNvPr>
          <p:cNvSpPr/>
          <p:nvPr/>
        </p:nvSpPr>
        <p:spPr>
          <a:xfrm>
            <a:off x="3084995" y="5184375"/>
            <a:ext cx="540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"/>
                <a:cs typeface="Courier"/>
              </a:rPr>
              <a:t>pfverts</a:t>
            </a:r>
            <a:r>
              <a:rPr lang="en-US" sz="2400" dirty="0">
                <a:latin typeface="Courier"/>
                <a:cs typeface="Courier"/>
              </a:rPr>
              <a:t>[]</a:t>
            </a:r>
          </a:p>
          <a:p>
            <a:r>
              <a:rPr lang="en-US" dirty="0">
                <a:latin typeface="Courier"/>
                <a:cs typeface="Courier"/>
              </a:rPr>
              <a:t>	[E3,E1,E4,E2|TOP,LEFT,FRONT,E0|…]</a:t>
            </a:r>
            <a:endParaRPr lang="en-US" sz="20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4147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Element vs. Face vs.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72A9A1-10B1-D942-874B-1CF34AED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72" y="757618"/>
            <a:ext cx="8733656" cy="1650504"/>
          </a:xfrm>
        </p:spPr>
        <p:txBody>
          <a:bodyPr>
            <a:normAutofit/>
          </a:bodyPr>
          <a:lstStyle/>
          <a:p>
            <a:r>
              <a:rPr lang="en-US" sz="1600" dirty="0"/>
              <a:t>In CSMP++, Face &amp; </a:t>
            </a:r>
            <a:r>
              <a:rPr lang="en-US" sz="1600" dirty="0" err="1"/>
              <a:t>InterFace</a:t>
            </a:r>
            <a:r>
              <a:rPr lang="en-US" sz="1600" dirty="0"/>
              <a:t> are elements that know their higher dimensional neighbors.</a:t>
            </a:r>
          </a:p>
          <a:p>
            <a:r>
              <a:rPr lang="en-US" sz="1600" dirty="0" err="1"/>
              <a:t>InterFace</a:t>
            </a:r>
            <a:r>
              <a:rPr lang="en-US" sz="1600" dirty="0"/>
              <a:t> can contain an extra lower-dimensional Element for the representation of fractures, faults etc.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5CF59E-472A-6F4C-A2BB-68693B7A8656}"/>
              </a:ext>
            </a:extLst>
          </p:cNvPr>
          <p:cNvGrpSpPr/>
          <p:nvPr/>
        </p:nvGrpSpPr>
        <p:grpSpPr>
          <a:xfrm>
            <a:off x="2262715" y="1779999"/>
            <a:ext cx="3892046" cy="2093516"/>
            <a:chOff x="1836956" y="2127572"/>
            <a:chExt cx="3892046" cy="209351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D0D4483-3310-3E40-9D68-8F7E3D959004}"/>
                </a:ext>
              </a:extLst>
            </p:cNvPr>
            <p:cNvGrpSpPr/>
            <p:nvPr/>
          </p:nvGrpSpPr>
          <p:grpSpPr>
            <a:xfrm>
              <a:off x="4099499" y="2519546"/>
              <a:ext cx="1408017" cy="1463139"/>
              <a:chOff x="4109510" y="2749745"/>
              <a:chExt cx="1646802" cy="156709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D29A21C-4171-E446-9631-BEA23421EF85}"/>
                  </a:ext>
                </a:extLst>
              </p:cNvPr>
              <p:cNvGrpSpPr/>
              <p:nvPr/>
            </p:nvGrpSpPr>
            <p:grpSpPr>
              <a:xfrm>
                <a:off x="4141694" y="2775122"/>
                <a:ext cx="1582434" cy="1517974"/>
                <a:chOff x="4141694" y="3082860"/>
                <a:chExt cx="1120588" cy="1210236"/>
              </a:xfrm>
            </p:grpSpPr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C2950168-4FB7-6C43-984F-21497D3A8227}"/>
                    </a:ext>
                  </a:extLst>
                </p:cNvPr>
                <p:cNvSpPr/>
                <p:nvPr/>
              </p:nvSpPr>
              <p:spPr>
                <a:xfrm>
                  <a:off x="4141694" y="3082860"/>
                  <a:ext cx="860612" cy="1210236"/>
                </a:xfrm>
                <a:custGeom>
                  <a:avLst/>
                  <a:gdLst>
                    <a:gd name="connsiteX0" fmla="*/ 8965 w 860612"/>
                    <a:gd name="connsiteY0" fmla="*/ 528918 h 1210236"/>
                    <a:gd name="connsiteX1" fmla="*/ 860612 w 860612"/>
                    <a:gd name="connsiteY1" fmla="*/ 0 h 1210236"/>
                    <a:gd name="connsiteX2" fmla="*/ 0 w 860612"/>
                    <a:gd name="connsiteY2" fmla="*/ 1210236 h 1210236"/>
                    <a:gd name="connsiteX3" fmla="*/ 8965 w 860612"/>
                    <a:gd name="connsiteY3" fmla="*/ 528918 h 1210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0612" h="1210236">
                      <a:moveTo>
                        <a:pt x="8965" y="528918"/>
                      </a:moveTo>
                      <a:lnTo>
                        <a:pt x="860612" y="0"/>
                      </a:lnTo>
                      <a:lnTo>
                        <a:pt x="0" y="1210236"/>
                      </a:lnTo>
                      <a:lnTo>
                        <a:pt x="8965" y="528918"/>
                      </a:lnTo>
                      <a:close/>
                    </a:path>
                  </a:pathLst>
                </a:cu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96E4ABF3-B792-8D45-87D7-C230994B0127}"/>
                    </a:ext>
                  </a:extLst>
                </p:cNvPr>
                <p:cNvSpPr/>
                <p:nvPr/>
              </p:nvSpPr>
              <p:spPr>
                <a:xfrm>
                  <a:off x="4150659" y="3101788"/>
                  <a:ext cx="1111623" cy="1013012"/>
                </a:xfrm>
                <a:custGeom>
                  <a:avLst/>
                  <a:gdLst>
                    <a:gd name="connsiteX0" fmla="*/ 0 w 1111623"/>
                    <a:gd name="connsiteY0" fmla="*/ 519953 h 1013012"/>
                    <a:gd name="connsiteX1" fmla="*/ 1111623 w 1111623"/>
                    <a:gd name="connsiteY1" fmla="*/ 1013012 h 1013012"/>
                    <a:gd name="connsiteX2" fmla="*/ 842682 w 1111623"/>
                    <a:gd name="connsiteY2" fmla="*/ 0 h 101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1623" h="1013012">
                      <a:moveTo>
                        <a:pt x="0" y="519953"/>
                      </a:moveTo>
                      <a:lnTo>
                        <a:pt x="1111623" y="1013012"/>
                      </a:lnTo>
                      <a:lnTo>
                        <a:pt x="842682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FDADE54-7876-B045-8A22-9A8E04A1E555}"/>
                    </a:ext>
                  </a:extLst>
                </p:cNvPr>
                <p:cNvCxnSpPr>
                  <a:cxnSpLocks/>
                  <a:stCxn id="11" idx="1"/>
                  <a:endCxn id="12" idx="2"/>
                </p:cNvCxnSpPr>
                <p:nvPr/>
              </p:nvCxnSpPr>
              <p:spPr>
                <a:xfrm flipH="1">
                  <a:off x="4141694" y="4114800"/>
                  <a:ext cx="1120588" cy="1782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96BC17-A57E-1345-8892-BE317DEAE1EB}"/>
                  </a:ext>
                </a:extLst>
              </p:cNvPr>
              <p:cNvSpPr/>
              <p:nvPr/>
            </p:nvSpPr>
            <p:spPr>
              <a:xfrm>
                <a:off x="5306792" y="2749745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B53FD5E-359E-1847-8E4A-949A8B05C490}"/>
                  </a:ext>
                </a:extLst>
              </p:cNvPr>
              <p:cNvSpPr/>
              <p:nvPr/>
            </p:nvSpPr>
            <p:spPr>
              <a:xfrm>
                <a:off x="5691944" y="4021196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29CAC22-735E-5F4C-8306-396299BD168C}"/>
                  </a:ext>
                </a:extLst>
              </p:cNvPr>
              <p:cNvSpPr/>
              <p:nvPr/>
            </p:nvSpPr>
            <p:spPr>
              <a:xfrm>
                <a:off x="4109510" y="4244829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1DAA269-E410-E646-B24B-5018FB09C753}"/>
                </a:ext>
              </a:extLst>
            </p:cNvPr>
            <p:cNvGrpSpPr/>
            <p:nvPr/>
          </p:nvGrpSpPr>
          <p:grpSpPr>
            <a:xfrm>
              <a:off x="1836956" y="2506536"/>
              <a:ext cx="1654336" cy="1435087"/>
              <a:chOff x="1488020" y="2711456"/>
              <a:chExt cx="1654336" cy="1435087"/>
            </a:xfrm>
          </p:grpSpPr>
          <p:pic>
            <p:nvPicPr>
              <p:cNvPr id="2050" name="Picture 2" descr="A tetrahedron is a 3D shape that contains 4 triangular sides">
                <a:extLst>
                  <a:ext uri="{FF2B5EF4-FFF2-40B4-BE49-F238E27FC236}">
                    <a16:creationId xmlns:a16="http://schemas.microsoft.com/office/drawing/2014/main" id="{A8D1F193-F27E-0044-806D-494A472A38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713" t="7476" r="16925" b="7476"/>
              <a:stretch/>
            </p:blipFill>
            <p:spPr bwMode="auto">
              <a:xfrm>
                <a:off x="1488020" y="2711456"/>
                <a:ext cx="1654336" cy="14350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9414F54-1326-E044-B024-1843FE08DA2D}"/>
                  </a:ext>
                </a:extLst>
              </p:cNvPr>
              <p:cNvSpPr/>
              <p:nvPr/>
            </p:nvSpPr>
            <p:spPr>
              <a:xfrm>
                <a:off x="2313304" y="2746810"/>
                <a:ext cx="780586" cy="1345581"/>
              </a:xfrm>
              <a:custGeom>
                <a:avLst/>
                <a:gdLst>
                  <a:gd name="connsiteX0" fmla="*/ 780586 w 780586"/>
                  <a:gd name="connsiteY0" fmla="*/ 0 h 1345581"/>
                  <a:gd name="connsiteX1" fmla="*/ 0 w 780586"/>
                  <a:gd name="connsiteY1" fmla="*/ 453483 h 1345581"/>
                  <a:gd name="connsiteX2" fmla="*/ 7435 w 780586"/>
                  <a:gd name="connsiteY2" fmla="*/ 1345581 h 1345581"/>
                  <a:gd name="connsiteX3" fmla="*/ 780586 w 780586"/>
                  <a:gd name="connsiteY3" fmla="*/ 0 h 1345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0586" h="1345581">
                    <a:moveTo>
                      <a:pt x="780586" y="0"/>
                    </a:moveTo>
                    <a:lnTo>
                      <a:pt x="0" y="453483"/>
                    </a:lnTo>
                    <a:cubicBezTo>
                      <a:pt x="2478" y="750849"/>
                      <a:pt x="4957" y="1048215"/>
                      <a:pt x="7435" y="1345581"/>
                    </a:cubicBezTo>
                    <a:lnTo>
                      <a:pt x="780586" y="0"/>
                    </a:ln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C0A2168-E3A3-6A47-BCAE-B58A0E3A49D1}"/>
                </a:ext>
              </a:extLst>
            </p:cNvPr>
            <p:cNvSpPr/>
            <p:nvPr/>
          </p:nvSpPr>
          <p:spPr>
            <a:xfrm>
              <a:off x="3299607" y="2541890"/>
              <a:ext cx="1081862" cy="1371421"/>
            </a:xfrm>
            <a:custGeom>
              <a:avLst/>
              <a:gdLst>
                <a:gd name="connsiteX0" fmla="*/ 8965 w 860612"/>
                <a:gd name="connsiteY0" fmla="*/ 528918 h 1210236"/>
                <a:gd name="connsiteX1" fmla="*/ 860612 w 860612"/>
                <a:gd name="connsiteY1" fmla="*/ 0 h 1210236"/>
                <a:gd name="connsiteX2" fmla="*/ 0 w 860612"/>
                <a:gd name="connsiteY2" fmla="*/ 1210236 h 1210236"/>
                <a:gd name="connsiteX3" fmla="*/ 8965 w 860612"/>
                <a:gd name="connsiteY3" fmla="*/ 528918 h 12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12" h="1210236">
                  <a:moveTo>
                    <a:pt x="8965" y="528918"/>
                  </a:moveTo>
                  <a:lnTo>
                    <a:pt x="860612" y="0"/>
                  </a:lnTo>
                  <a:lnTo>
                    <a:pt x="0" y="1210236"/>
                  </a:lnTo>
                  <a:lnTo>
                    <a:pt x="8965" y="528918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C01982-99A0-024C-9D94-E9437D331713}"/>
                </a:ext>
              </a:extLst>
            </p:cNvPr>
            <p:cNvSpPr txBox="1"/>
            <p:nvPr/>
          </p:nvSpPr>
          <p:spPr>
            <a:xfrm>
              <a:off x="2262715" y="2172919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11DB3E-2CBA-3A41-ABDC-3D29FC5364ED}"/>
                </a:ext>
              </a:extLst>
            </p:cNvPr>
            <p:cNvSpPr txBox="1"/>
            <p:nvPr/>
          </p:nvSpPr>
          <p:spPr>
            <a:xfrm>
              <a:off x="3672087" y="2127572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Face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3BD572-5285-C340-BA76-0EBF0BDD4D8C}"/>
                </a:ext>
              </a:extLst>
            </p:cNvPr>
            <p:cNvSpPr txBox="1"/>
            <p:nvPr/>
          </p:nvSpPr>
          <p:spPr>
            <a:xfrm>
              <a:off x="4887105" y="2151237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D3739D4-E381-734E-AA7D-D2C83347AD77}"/>
                </a:ext>
              </a:extLst>
            </p:cNvPr>
            <p:cNvCxnSpPr>
              <a:cxnSpLocks/>
            </p:cNvCxnSpPr>
            <p:nvPr/>
          </p:nvCxnSpPr>
          <p:spPr>
            <a:xfrm>
              <a:off x="3583733" y="3240145"/>
              <a:ext cx="915671" cy="299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3E6C31F-9499-E248-B9FC-451FE46C6BAF}"/>
                </a:ext>
              </a:extLst>
            </p:cNvPr>
            <p:cNvCxnSpPr/>
            <p:nvPr/>
          </p:nvCxnSpPr>
          <p:spPr>
            <a:xfrm flipH="1" flipV="1">
              <a:off x="2915228" y="3158563"/>
              <a:ext cx="640988" cy="81582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E5A1F6-915F-8946-9F90-04BEE6C95A51}"/>
                </a:ext>
              </a:extLst>
            </p:cNvPr>
            <p:cNvSpPr txBox="1"/>
            <p:nvPr/>
          </p:nvSpPr>
          <p:spPr>
            <a:xfrm>
              <a:off x="3157581" y="391331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B2E3FE-E328-BE4D-BF07-C1E2F048524B}"/>
                </a:ext>
              </a:extLst>
            </p:cNvPr>
            <p:cNvSpPr txBox="1"/>
            <p:nvPr/>
          </p:nvSpPr>
          <p:spPr>
            <a:xfrm>
              <a:off x="4331412" y="23267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0F7D0D-6A7C-9F48-9DC9-B0882C742F5B}"/>
                </a:ext>
              </a:extLst>
            </p:cNvPr>
            <p:cNvSpPr txBox="1"/>
            <p:nvPr/>
          </p:nvSpPr>
          <p:spPr>
            <a:xfrm>
              <a:off x="3163520" y="28672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BF1FE7-7FCB-454C-98E1-73EFE5116F7B}"/>
                </a:ext>
              </a:extLst>
            </p:cNvPr>
            <p:cNvSpPr txBox="1"/>
            <p:nvPr/>
          </p:nvSpPr>
          <p:spPr>
            <a:xfrm>
              <a:off x="2590127" y="3305933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INSIDE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nbor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2A5152B-0540-AA41-8E91-71BBF2226630}"/>
                </a:ext>
              </a:extLst>
            </p:cNvPr>
            <p:cNvSpPr txBox="1"/>
            <p:nvPr/>
          </p:nvSpPr>
          <p:spPr>
            <a:xfrm>
              <a:off x="3626829" y="3350351"/>
              <a:ext cx="8691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OUTSIDE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nbor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F2FBA18-A1C0-0449-8888-130A949A9D43}"/>
              </a:ext>
            </a:extLst>
          </p:cNvPr>
          <p:cNvGrpSpPr/>
          <p:nvPr/>
        </p:nvGrpSpPr>
        <p:grpSpPr>
          <a:xfrm>
            <a:off x="2411760" y="3982682"/>
            <a:ext cx="3965314" cy="2448272"/>
            <a:chOff x="1763688" y="4293096"/>
            <a:chExt cx="3965314" cy="2448272"/>
          </a:xfrm>
        </p:grpSpPr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86146E3-6C2A-7B45-AC56-2080A878280B}"/>
                </a:ext>
              </a:extLst>
            </p:cNvPr>
            <p:cNvSpPr/>
            <p:nvPr/>
          </p:nvSpPr>
          <p:spPr>
            <a:xfrm>
              <a:off x="3270121" y="5297011"/>
              <a:ext cx="1081862" cy="1371421"/>
            </a:xfrm>
            <a:custGeom>
              <a:avLst/>
              <a:gdLst>
                <a:gd name="connsiteX0" fmla="*/ 8965 w 860612"/>
                <a:gd name="connsiteY0" fmla="*/ 528918 h 1210236"/>
                <a:gd name="connsiteX1" fmla="*/ 860612 w 860612"/>
                <a:gd name="connsiteY1" fmla="*/ 0 h 1210236"/>
                <a:gd name="connsiteX2" fmla="*/ 0 w 860612"/>
                <a:gd name="connsiteY2" fmla="*/ 1210236 h 1210236"/>
                <a:gd name="connsiteX3" fmla="*/ 8965 w 860612"/>
                <a:gd name="connsiteY3" fmla="*/ 528918 h 12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12" h="1210236">
                  <a:moveTo>
                    <a:pt x="8965" y="528918"/>
                  </a:moveTo>
                  <a:lnTo>
                    <a:pt x="860612" y="0"/>
                  </a:lnTo>
                  <a:lnTo>
                    <a:pt x="0" y="1210236"/>
                  </a:lnTo>
                  <a:lnTo>
                    <a:pt x="8965" y="528918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73C682C-5723-B940-8BD9-0D84719BB32E}"/>
                </a:ext>
              </a:extLst>
            </p:cNvPr>
            <p:cNvGrpSpPr/>
            <p:nvPr/>
          </p:nvGrpSpPr>
          <p:grpSpPr>
            <a:xfrm>
              <a:off x="1763688" y="4293096"/>
              <a:ext cx="3965314" cy="2448272"/>
              <a:chOff x="1763688" y="2221960"/>
              <a:chExt cx="3965314" cy="2448272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0095836-EF73-1A4A-A876-BE911EFFC527}"/>
                  </a:ext>
                </a:extLst>
              </p:cNvPr>
              <p:cNvGrpSpPr/>
              <p:nvPr/>
            </p:nvGrpSpPr>
            <p:grpSpPr>
              <a:xfrm>
                <a:off x="4099499" y="2757950"/>
                <a:ext cx="1408017" cy="1463139"/>
                <a:chOff x="4109510" y="2749745"/>
                <a:chExt cx="1646802" cy="1567092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68308ED3-E218-6349-AB92-71EDF1752D28}"/>
                    </a:ext>
                  </a:extLst>
                </p:cNvPr>
                <p:cNvGrpSpPr/>
                <p:nvPr/>
              </p:nvGrpSpPr>
              <p:grpSpPr>
                <a:xfrm>
                  <a:off x="4141694" y="2775122"/>
                  <a:ext cx="1582434" cy="1517974"/>
                  <a:chOff x="4141694" y="3082860"/>
                  <a:chExt cx="1120588" cy="1210236"/>
                </a:xfrm>
              </p:grpSpPr>
              <p:sp>
                <p:nvSpPr>
                  <p:cNvPr id="56" name="Freeform 55">
                    <a:extLst>
                      <a:ext uri="{FF2B5EF4-FFF2-40B4-BE49-F238E27FC236}">
                        <a16:creationId xmlns:a16="http://schemas.microsoft.com/office/drawing/2014/main" id="{DC72A58A-C27E-7741-BE72-42C0C2930808}"/>
                      </a:ext>
                    </a:extLst>
                  </p:cNvPr>
                  <p:cNvSpPr/>
                  <p:nvPr/>
                </p:nvSpPr>
                <p:spPr>
                  <a:xfrm>
                    <a:off x="4141694" y="3082860"/>
                    <a:ext cx="860612" cy="1210236"/>
                  </a:xfrm>
                  <a:custGeom>
                    <a:avLst/>
                    <a:gdLst>
                      <a:gd name="connsiteX0" fmla="*/ 8965 w 860612"/>
                      <a:gd name="connsiteY0" fmla="*/ 528918 h 1210236"/>
                      <a:gd name="connsiteX1" fmla="*/ 860612 w 860612"/>
                      <a:gd name="connsiteY1" fmla="*/ 0 h 1210236"/>
                      <a:gd name="connsiteX2" fmla="*/ 0 w 860612"/>
                      <a:gd name="connsiteY2" fmla="*/ 1210236 h 1210236"/>
                      <a:gd name="connsiteX3" fmla="*/ 8965 w 860612"/>
                      <a:gd name="connsiteY3" fmla="*/ 528918 h 1210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60612" h="1210236">
                        <a:moveTo>
                          <a:pt x="8965" y="528918"/>
                        </a:moveTo>
                        <a:lnTo>
                          <a:pt x="860612" y="0"/>
                        </a:lnTo>
                        <a:lnTo>
                          <a:pt x="0" y="1210236"/>
                        </a:lnTo>
                        <a:lnTo>
                          <a:pt x="8965" y="528918"/>
                        </a:lnTo>
                        <a:close/>
                      </a:path>
                    </a:pathLst>
                  </a:cu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7" name="Freeform 56">
                    <a:extLst>
                      <a:ext uri="{FF2B5EF4-FFF2-40B4-BE49-F238E27FC236}">
                        <a16:creationId xmlns:a16="http://schemas.microsoft.com/office/drawing/2014/main" id="{18304405-1304-4743-B8C4-1AE5ED8F6CE7}"/>
                      </a:ext>
                    </a:extLst>
                  </p:cNvPr>
                  <p:cNvSpPr/>
                  <p:nvPr/>
                </p:nvSpPr>
                <p:spPr>
                  <a:xfrm>
                    <a:off x="4150659" y="3101788"/>
                    <a:ext cx="1111623" cy="1013012"/>
                  </a:xfrm>
                  <a:custGeom>
                    <a:avLst/>
                    <a:gdLst>
                      <a:gd name="connsiteX0" fmla="*/ 0 w 1111623"/>
                      <a:gd name="connsiteY0" fmla="*/ 519953 h 1013012"/>
                      <a:gd name="connsiteX1" fmla="*/ 1111623 w 1111623"/>
                      <a:gd name="connsiteY1" fmla="*/ 1013012 h 1013012"/>
                      <a:gd name="connsiteX2" fmla="*/ 842682 w 1111623"/>
                      <a:gd name="connsiteY2" fmla="*/ 0 h 1013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111623" h="1013012">
                        <a:moveTo>
                          <a:pt x="0" y="519953"/>
                        </a:moveTo>
                        <a:lnTo>
                          <a:pt x="1111623" y="1013012"/>
                        </a:lnTo>
                        <a:lnTo>
                          <a:pt x="84268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FDBE71D1-D275-1643-BB45-C76D1BDFA725}"/>
                      </a:ext>
                    </a:extLst>
                  </p:cNvPr>
                  <p:cNvCxnSpPr>
                    <a:cxnSpLocks/>
                    <a:stCxn id="57" idx="1"/>
                    <a:endCxn id="56" idx="2"/>
                  </p:cNvCxnSpPr>
                  <p:nvPr/>
                </p:nvCxnSpPr>
                <p:spPr>
                  <a:xfrm flipH="1">
                    <a:off x="4141694" y="4114800"/>
                    <a:ext cx="1120588" cy="17829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AA9582E-9BC2-C14B-B876-9E5785AAE1CA}"/>
                    </a:ext>
                  </a:extLst>
                </p:cNvPr>
                <p:cNvSpPr/>
                <p:nvPr/>
              </p:nvSpPr>
              <p:spPr>
                <a:xfrm>
                  <a:off x="5306792" y="2749745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2620F5A0-77BC-164D-B861-5AA895ADBAA1}"/>
                    </a:ext>
                  </a:extLst>
                </p:cNvPr>
                <p:cNvSpPr/>
                <p:nvPr/>
              </p:nvSpPr>
              <p:spPr>
                <a:xfrm>
                  <a:off x="5691944" y="4021196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2E089B1A-2735-8040-8D11-FDD7BBFD836C}"/>
                    </a:ext>
                  </a:extLst>
                </p:cNvPr>
                <p:cNvSpPr/>
                <p:nvPr/>
              </p:nvSpPr>
              <p:spPr>
                <a:xfrm>
                  <a:off x="4109510" y="4244829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BDAFBFA-B615-6C40-89EE-4E6298B8B300}"/>
                  </a:ext>
                </a:extLst>
              </p:cNvPr>
              <p:cNvGrpSpPr/>
              <p:nvPr/>
            </p:nvGrpSpPr>
            <p:grpSpPr>
              <a:xfrm>
                <a:off x="1763688" y="2744940"/>
                <a:ext cx="1654336" cy="1435087"/>
                <a:chOff x="1414752" y="2711456"/>
                <a:chExt cx="1654336" cy="1435087"/>
              </a:xfrm>
            </p:grpSpPr>
            <p:pic>
              <p:nvPicPr>
                <p:cNvPr id="50" name="Picture 2" descr="A tetrahedron is a 3D shape that contains 4 triangular sides">
                  <a:extLst>
                    <a:ext uri="{FF2B5EF4-FFF2-40B4-BE49-F238E27FC236}">
                      <a16:creationId xmlns:a16="http://schemas.microsoft.com/office/drawing/2014/main" id="{7A91F5B6-9EB9-114C-A203-225ABF43ED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713" t="7476" r="16925" b="7476"/>
                <a:stretch/>
              </p:blipFill>
              <p:spPr bwMode="auto">
                <a:xfrm>
                  <a:off x="1414752" y="2711456"/>
                  <a:ext cx="1654336" cy="14350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36A274DE-EB7E-F947-AF69-4D7B2389D761}"/>
                    </a:ext>
                  </a:extLst>
                </p:cNvPr>
                <p:cNvSpPr/>
                <p:nvPr/>
              </p:nvSpPr>
              <p:spPr>
                <a:xfrm>
                  <a:off x="2240036" y="2746810"/>
                  <a:ext cx="780586" cy="1345581"/>
                </a:xfrm>
                <a:custGeom>
                  <a:avLst/>
                  <a:gdLst>
                    <a:gd name="connsiteX0" fmla="*/ 780586 w 780586"/>
                    <a:gd name="connsiteY0" fmla="*/ 0 h 1345581"/>
                    <a:gd name="connsiteX1" fmla="*/ 0 w 780586"/>
                    <a:gd name="connsiteY1" fmla="*/ 453483 h 1345581"/>
                    <a:gd name="connsiteX2" fmla="*/ 7435 w 780586"/>
                    <a:gd name="connsiteY2" fmla="*/ 1345581 h 1345581"/>
                    <a:gd name="connsiteX3" fmla="*/ 780586 w 780586"/>
                    <a:gd name="connsiteY3" fmla="*/ 0 h 1345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0586" h="1345581">
                      <a:moveTo>
                        <a:pt x="780586" y="0"/>
                      </a:moveTo>
                      <a:lnTo>
                        <a:pt x="0" y="453483"/>
                      </a:lnTo>
                      <a:cubicBezTo>
                        <a:pt x="2478" y="750849"/>
                        <a:pt x="4957" y="1048215"/>
                        <a:pt x="7435" y="1345581"/>
                      </a:cubicBezTo>
                      <a:lnTo>
                        <a:pt x="780586" y="0"/>
                      </a:lnTo>
                      <a:close/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49F878-9252-3449-A44E-38A50328440D}"/>
                  </a:ext>
                </a:extLst>
              </p:cNvPr>
              <p:cNvSpPr txBox="1"/>
              <p:nvPr/>
            </p:nvSpPr>
            <p:spPr>
              <a:xfrm>
                <a:off x="2262715" y="2411323"/>
                <a:ext cx="8418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Element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7EEC367-A9EA-6C45-B7CD-E169A69D6F2B}"/>
                  </a:ext>
                </a:extLst>
              </p:cNvPr>
              <p:cNvSpPr txBox="1"/>
              <p:nvPr/>
            </p:nvSpPr>
            <p:spPr>
              <a:xfrm>
                <a:off x="3419872" y="2221960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InterFace</a:t>
                </a: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5C8500-7235-BA4D-BEAC-7C05F49CAED6}"/>
                  </a:ext>
                </a:extLst>
              </p:cNvPr>
              <p:cNvSpPr txBox="1"/>
              <p:nvPr/>
            </p:nvSpPr>
            <p:spPr>
              <a:xfrm>
                <a:off x="4887105" y="2389641"/>
                <a:ext cx="8418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Element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7878838-8351-A445-A973-2158B61A3940}"/>
                  </a:ext>
                </a:extLst>
              </p:cNvPr>
              <p:cNvCxnSpPr/>
              <p:nvPr/>
            </p:nvCxnSpPr>
            <p:spPr>
              <a:xfrm flipH="1" flipV="1">
                <a:off x="2915228" y="3396967"/>
                <a:ext cx="640988" cy="81582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8FC425C-E8A3-8E42-8A6E-5C69B0D95E15}"/>
                  </a:ext>
                </a:extLst>
              </p:cNvPr>
              <p:cNvSpPr txBox="1"/>
              <p:nvPr/>
            </p:nvSpPr>
            <p:spPr>
              <a:xfrm>
                <a:off x="3059832" y="409416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C0F0B92-A210-EC40-8A9B-8682E0EEE191}"/>
                  </a:ext>
                </a:extLst>
              </p:cNvPr>
              <p:cNvSpPr txBox="1"/>
              <p:nvPr/>
            </p:nvSpPr>
            <p:spPr>
              <a:xfrm>
                <a:off x="4139952" y="250999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19000C-DEA7-1A45-ACDC-460B203FC5F4}"/>
                  </a:ext>
                </a:extLst>
              </p:cNvPr>
              <p:cNvSpPr txBox="1"/>
              <p:nvPr/>
            </p:nvSpPr>
            <p:spPr>
              <a:xfrm>
                <a:off x="3059832" y="3105685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6F78D52-2B75-4640-B8FF-4772A6EFDA71}"/>
                  </a:ext>
                </a:extLst>
              </p:cNvPr>
              <p:cNvSpPr/>
              <p:nvPr/>
            </p:nvSpPr>
            <p:spPr>
              <a:xfrm>
                <a:off x="3203848" y="2780294"/>
                <a:ext cx="1081862" cy="1371421"/>
              </a:xfrm>
              <a:custGeom>
                <a:avLst/>
                <a:gdLst>
                  <a:gd name="connsiteX0" fmla="*/ 8965 w 860612"/>
                  <a:gd name="connsiteY0" fmla="*/ 528918 h 1210236"/>
                  <a:gd name="connsiteX1" fmla="*/ 860612 w 860612"/>
                  <a:gd name="connsiteY1" fmla="*/ 0 h 1210236"/>
                  <a:gd name="connsiteX2" fmla="*/ 0 w 860612"/>
                  <a:gd name="connsiteY2" fmla="*/ 1210236 h 1210236"/>
                  <a:gd name="connsiteX3" fmla="*/ 8965 w 860612"/>
                  <a:gd name="connsiteY3" fmla="*/ 528918 h 12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612" h="1210236">
                    <a:moveTo>
                      <a:pt x="8965" y="528918"/>
                    </a:moveTo>
                    <a:lnTo>
                      <a:pt x="860612" y="0"/>
                    </a:lnTo>
                    <a:lnTo>
                      <a:pt x="0" y="1210236"/>
                    </a:lnTo>
                    <a:lnTo>
                      <a:pt x="8965" y="528918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71E86ED2-1C20-2F49-AE69-E6B73F1EA7CF}"/>
                  </a:ext>
                </a:extLst>
              </p:cNvPr>
              <p:cNvSpPr/>
              <p:nvPr/>
            </p:nvSpPr>
            <p:spPr>
              <a:xfrm>
                <a:off x="3322371" y="2798024"/>
                <a:ext cx="1081862" cy="1371421"/>
              </a:xfrm>
              <a:custGeom>
                <a:avLst/>
                <a:gdLst>
                  <a:gd name="connsiteX0" fmla="*/ 8965 w 860612"/>
                  <a:gd name="connsiteY0" fmla="*/ 528918 h 1210236"/>
                  <a:gd name="connsiteX1" fmla="*/ 860612 w 860612"/>
                  <a:gd name="connsiteY1" fmla="*/ 0 h 1210236"/>
                  <a:gd name="connsiteX2" fmla="*/ 0 w 860612"/>
                  <a:gd name="connsiteY2" fmla="*/ 1210236 h 1210236"/>
                  <a:gd name="connsiteX3" fmla="*/ 8965 w 860612"/>
                  <a:gd name="connsiteY3" fmla="*/ 528918 h 12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612" h="1210236">
                    <a:moveTo>
                      <a:pt x="8965" y="528918"/>
                    </a:moveTo>
                    <a:lnTo>
                      <a:pt x="860612" y="0"/>
                    </a:lnTo>
                    <a:lnTo>
                      <a:pt x="0" y="1210236"/>
                    </a:lnTo>
                    <a:lnTo>
                      <a:pt x="8965" y="528918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470E376-D9FE-6242-A123-F6B10B5A7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3733" y="3478549"/>
                <a:ext cx="915671" cy="299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C47BB4-713A-154B-97BC-142995DB0C7B}"/>
                  </a:ext>
                </a:extLst>
              </p:cNvPr>
              <p:cNvSpPr txBox="1"/>
              <p:nvPr/>
            </p:nvSpPr>
            <p:spPr>
              <a:xfrm>
                <a:off x="3261567" y="4208567"/>
                <a:ext cx="6623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INNER</a:t>
                </a:r>
              </a:p>
              <a:p>
                <a:pPr algn="ctr"/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nbor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3</a:t>
                </a:r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D55A7FB-214E-624A-B7AC-60AC36898574}"/>
                </a:ext>
              </a:extLst>
            </p:cNvPr>
            <p:cNvCxnSpPr>
              <a:stCxn id="41" idx="1"/>
            </p:cNvCxnSpPr>
            <p:nvPr/>
          </p:nvCxnSpPr>
          <p:spPr>
            <a:xfrm flipH="1">
              <a:off x="3369558" y="4851430"/>
              <a:ext cx="91615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A852DC0-08D4-DE48-9F2C-396D7F29E1A8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 flipH="1">
              <a:off x="4404233" y="4869160"/>
              <a:ext cx="743918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4509EA3-CAE4-2C4B-9CBE-81DC6D52B00A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 flipH="1" flipV="1">
              <a:off x="3333641" y="5468522"/>
              <a:ext cx="793376" cy="1977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6347B24-53DC-444A-B08F-DC2E01C5847B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 flipH="1" flipV="1">
              <a:off x="3322371" y="6240581"/>
              <a:ext cx="777128" cy="2926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4BF8970-B7E7-2144-9C9C-AC361A62064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H="1" flipV="1">
              <a:off x="2596407" y="6197011"/>
              <a:ext cx="591010" cy="2798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E59CE61-43E3-CD4D-B367-8FA54E2CAF5A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H="1" flipV="1">
              <a:off x="2588972" y="5304913"/>
              <a:ext cx="622056" cy="16530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EF50A9E-E734-5141-889A-082558C18D88}"/>
              </a:ext>
            </a:extLst>
          </p:cNvPr>
          <p:cNvSpPr txBox="1"/>
          <p:nvPr/>
        </p:nvSpPr>
        <p:spPr>
          <a:xfrm>
            <a:off x="543131" y="2440164"/>
            <a:ext cx="18417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Inside and outside come from application of the right-hand rule,</a:t>
            </a:r>
          </a:p>
          <a:p>
            <a:r>
              <a:rPr lang="en-US" sz="1600" dirty="0"/>
              <a:t>applied to the triangles making up the original surface.</a:t>
            </a:r>
          </a:p>
        </p:txBody>
      </p:sp>
    </p:spTree>
    <p:extLst>
      <p:ext uri="{BB962C8B-B14F-4D97-AF65-F5344CB8AC3E}">
        <p14:creationId xmlns:p14="http://schemas.microsoft.com/office/powerpoint/2010/main" val="3689186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1616-6729-9B44-BE34-26D3E15D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E1880E-07D0-A949-99F5-7D550CCC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765DD-4A59-CE47-88C3-9C05DC96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CSMP++ interfacing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48D14-04B2-AC43-A2F7-A7A6116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9D59E-D89D-D149-A8D7-06C42F4E2A11}"/>
              </a:ext>
            </a:extLst>
          </p:cNvPr>
          <p:cNvSpPr/>
          <p:nvPr/>
        </p:nvSpPr>
        <p:spPr>
          <a:xfrm>
            <a:off x="611560" y="2887680"/>
            <a:ext cx="7500343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"/>
                <a:cs typeface="Courier"/>
              </a:rPr>
              <a:t>pelmt</a:t>
            </a:r>
            <a:r>
              <a:rPr lang="en-US" sz="2400" dirty="0">
                <a:latin typeface="Courier"/>
                <a:cs typeface="Courier"/>
              </a:rPr>
              <a:t>[interface1]</a:t>
            </a:r>
          </a:p>
          <a:p>
            <a:r>
              <a:rPr lang="en-US" sz="2000" dirty="0">
                <a:latin typeface="Courier"/>
                <a:cs typeface="Courier"/>
              </a:rPr>
              <a:t>	</a:t>
            </a:r>
            <a:r>
              <a:rPr lang="en-US" dirty="0">
                <a:latin typeface="Courier"/>
                <a:cs typeface="Courier"/>
              </a:rPr>
              <a:t>LINEAR_TRIANGLE, ...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 err="1">
                <a:latin typeface="Courier"/>
                <a:cs typeface="Courier"/>
              </a:rPr>
              <a:t>plist</a:t>
            </a:r>
            <a:r>
              <a:rPr lang="en-US" sz="2400" dirty="0">
                <a:latin typeface="Courier"/>
                <a:cs typeface="Courier"/>
              </a:rPr>
              <a:t>[]</a:t>
            </a:r>
          </a:p>
          <a:p>
            <a:r>
              <a:rPr lang="en-US" dirty="0">
                <a:latin typeface="Courier"/>
                <a:cs typeface="Courier"/>
              </a:rPr>
              <a:t>	[node0,n1,n2(ordered as nodes of face of inside 	</a:t>
            </a:r>
            <a:r>
              <a:rPr lang="en-US" dirty="0" err="1">
                <a:latin typeface="Courier"/>
                <a:cs typeface="Courier"/>
              </a:rPr>
              <a:t>elenment</a:t>
            </a:r>
            <a:r>
              <a:rPr lang="en-US" dirty="0">
                <a:latin typeface="Courier"/>
                <a:cs typeface="Courier"/>
              </a:rPr>
              <a:t>)|…]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 err="1">
                <a:latin typeface="Courier"/>
                <a:cs typeface="Courier"/>
              </a:rPr>
              <a:t>pfverts</a:t>
            </a:r>
            <a:r>
              <a:rPr lang="en-US" sz="2400" dirty="0">
                <a:latin typeface="Courier"/>
                <a:cs typeface="Courier"/>
              </a:rPr>
              <a:t>[]</a:t>
            </a:r>
          </a:p>
          <a:p>
            <a:r>
              <a:rPr lang="en-US" dirty="0">
                <a:latin typeface="Courier"/>
                <a:cs typeface="Courier"/>
              </a:rPr>
              <a:t>	[nbor0,n1,n2|	E1(higher-dim0 neighbor on 	inside)|E2(</a:t>
            </a:r>
            <a:r>
              <a:rPr lang="en-US" dirty="0" err="1">
                <a:latin typeface="Courier"/>
                <a:cs typeface="Courier"/>
              </a:rPr>
              <a:t>nbor</a:t>
            </a:r>
            <a:r>
              <a:rPr lang="en-US" dirty="0">
                <a:latin typeface="Courier"/>
                <a:cs typeface="Courier"/>
              </a:rPr>
              <a:t> outside)|... ]</a:t>
            </a:r>
            <a:endParaRPr lang="en-US" sz="2000" dirty="0">
              <a:latin typeface="Courier"/>
              <a:cs typeface="Couri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109AB5-51DE-A449-8615-DAE938C32F7B}"/>
              </a:ext>
            </a:extLst>
          </p:cNvPr>
          <p:cNvSpPr txBox="1"/>
          <p:nvPr/>
        </p:nvSpPr>
        <p:spPr>
          <a:xfrm>
            <a:off x="490802" y="873579"/>
            <a:ext cx="3678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Inside and outside come from application of the right-hand rule,</a:t>
            </a:r>
          </a:p>
          <a:p>
            <a:r>
              <a:rPr lang="en-US" dirty="0"/>
              <a:t>applied to the triangle making up the original boundary surface between the materials associated with the volumetric elements.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8FCECE-342E-8041-BECC-60384C261A51}"/>
              </a:ext>
            </a:extLst>
          </p:cNvPr>
          <p:cNvGrpSpPr/>
          <p:nvPr/>
        </p:nvGrpSpPr>
        <p:grpSpPr>
          <a:xfrm>
            <a:off x="4441343" y="873579"/>
            <a:ext cx="3892046" cy="2093516"/>
            <a:chOff x="1836956" y="2127572"/>
            <a:chExt cx="3892046" cy="209351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4CE0D81-BFA7-544C-8CB3-DCE61BAB9899}"/>
                </a:ext>
              </a:extLst>
            </p:cNvPr>
            <p:cNvGrpSpPr/>
            <p:nvPr/>
          </p:nvGrpSpPr>
          <p:grpSpPr>
            <a:xfrm>
              <a:off x="4099499" y="2519546"/>
              <a:ext cx="1408017" cy="1463139"/>
              <a:chOff x="4109510" y="2749745"/>
              <a:chExt cx="1646802" cy="1567092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9F8731C-2804-5249-9C63-95656CC1716A}"/>
                  </a:ext>
                </a:extLst>
              </p:cNvPr>
              <p:cNvGrpSpPr/>
              <p:nvPr/>
            </p:nvGrpSpPr>
            <p:grpSpPr>
              <a:xfrm>
                <a:off x="4141694" y="2775122"/>
                <a:ext cx="1582434" cy="1517974"/>
                <a:chOff x="4141694" y="3082860"/>
                <a:chExt cx="1120588" cy="1210236"/>
              </a:xfrm>
            </p:grpSpPr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7DE35853-5EFC-9047-90F3-5A9212CC92DB}"/>
                    </a:ext>
                  </a:extLst>
                </p:cNvPr>
                <p:cNvSpPr/>
                <p:nvPr/>
              </p:nvSpPr>
              <p:spPr>
                <a:xfrm>
                  <a:off x="4141694" y="3082860"/>
                  <a:ext cx="860612" cy="1210236"/>
                </a:xfrm>
                <a:custGeom>
                  <a:avLst/>
                  <a:gdLst>
                    <a:gd name="connsiteX0" fmla="*/ 8965 w 860612"/>
                    <a:gd name="connsiteY0" fmla="*/ 528918 h 1210236"/>
                    <a:gd name="connsiteX1" fmla="*/ 860612 w 860612"/>
                    <a:gd name="connsiteY1" fmla="*/ 0 h 1210236"/>
                    <a:gd name="connsiteX2" fmla="*/ 0 w 860612"/>
                    <a:gd name="connsiteY2" fmla="*/ 1210236 h 1210236"/>
                    <a:gd name="connsiteX3" fmla="*/ 8965 w 860612"/>
                    <a:gd name="connsiteY3" fmla="*/ 528918 h 1210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0612" h="1210236">
                      <a:moveTo>
                        <a:pt x="8965" y="528918"/>
                      </a:moveTo>
                      <a:lnTo>
                        <a:pt x="860612" y="0"/>
                      </a:lnTo>
                      <a:lnTo>
                        <a:pt x="0" y="1210236"/>
                      </a:lnTo>
                      <a:lnTo>
                        <a:pt x="8965" y="528918"/>
                      </a:lnTo>
                      <a:close/>
                    </a:path>
                  </a:pathLst>
                </a:cu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" name="Freeform 59">
                  <a:extLst>
                    <a:ext uri="{FF2B5EF4-FFF2-40B4-BE49-F238E27FC236}">
                      <a16:creationId xmlns:a16="http://schemas.microsoft.com/office/drawing/2014/main" id="{2F79FD14-FBAB-564C-A0AF-E6EC98BBAEB5}"/>
                    </a:ext>
                  </a:extLst>
                </p:cNvPr>
                <p:cNvSpPr/>
                <p:nvPr/>
              </p:nvSpPr>
              <p:spPr>
                <a:xfrm>
                  <a:off x="4150659" y="3101788"/>
                  <a:ext cx="1111623" cy="1013012"/>
                </a:xfrm>
                <a:custGeom>
                  <a:avLst/>
                  <a:gdLst>
                    <a:gd name="connsiteX0" fmla="*/ 0 w 1111623"/>
                    <a:gd name="connsiteY0" fmla="*/ 519953 h 1013012"/>
                    <a:gd name="connsiteX1" fmla="*/ 1111623 w 1111623"/>
                    <a:gd name="connsiteY1" fmla="*/ 1013012 h 1013012"/>
                    <a:gd name="connsiteX2" fmla="*/ 842682 w 1111623"/>
                    <a:gd name="connsiteY2" fmla="*/ 0 h 101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1623" h="1013012">
                      <a:moveTo>
                        <a:pt x="0" y="519953"/>
                      </a:moveTo>
                      <a:lnTo>
                        <a:pt x="1111623" y="1013012"/>
                      </a:lnTo>
                      <a:lnTo>
                        <a:pt x="842682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E3B03FD-44CD-3C4C-9B59-382402945B23}"/>
                    </a:ext>
                  </a:extLst>
                </p:cNvPr>
                <p:cNvCxnSpPr>
                  <a:cxnSpLocks/>
                  <a:stCxn id="60" idx="1"/>
                  <a:endCxn id="59" idx="2"/>
                </p:cNvCxnSpPr>
                <p:nvPr/>
              </p:nvCxnSpPr>
              <p:spPr>
                <a:xfrm flipH="1">
                  <a:off x="4141694" y="4114800"/>
                  <a:ext cx="1120588" cy="1782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F8BEEB9-2A53-194E-9B66-83444BE08A99}"/>
                  </a:ext>
                </a:extLst>
              </p:cNvPr>
              <p:cNvSpPr/>
              <p:nvPr/>
            </p:nvSpPr>
            <p:spPr>
              <a:xfrm>
                <a:off x="5306792" y="2749745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0EC182F-E020-E14D-B9C3-8986EC3562AE}"/>
                  </a:ext>
                </a:extLst>
              </p:cNvPr>
              <p:cNvSpPr/>
              <p:nvPr/>
            </p:nvSpPr>
            <p:spPr>
              <a:xfrm>
                <a:off x="5691944" y="4021196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58B110A-A7C0-9848-B43E-EADBFBE96518}"/>
                  </a:ext>
                </a:extLst>
              </p:cNvPr>
              <p:cNvSpPr/>
              <p:nvPr/>
            </p:nvSpPr>
            <p:spPr>
              <a:xfrm>
                <a:off x="4109510" y="4244829"/>
                <a:ext cx="64368" cy="7200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9069722-50BB-7743-9E54-DDE3F80B8A2F}"/>
                </a:ext>
              </a:extLst>
            </p:cNvPr>
            <p:cNvGrpSpPr/>
            <p:nvPr/>
          </p:nvGrpSpPr>
          <p:grpSpPr>
            <a:xfrm>
              <a:off x="1836956" y="2506536"/>
              <a:ext cx="1654336" cy="1435087"/>
              <a:chOff x="1488020" y="2711456"/>
              <a:chExt cx="1654336" cy="1435087"/>
            </a:xfrm>
          </p:grpSpPr>
          <p:pic>
            <p:nvPicPr>
              <p:cNvPr id="53" name="Picture 2" descr="A tetrahedron is a 3D shape that contains 4 triangular sides">
                <a:extLst>
                  <a:ext uri="{FF2B5EF4-FFF2-40B4-BE49-F238E27FC236}">
                    <a16:creationId xmlns:a16="http://schemas.microsoft.com/office/drawing/2014/main" id="{C7D0D133-A47F-5542-8DC1-A9A6224B68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713" t="7476" r="16925" b="7476"/>
              <a:stretch/>
            </p:blipFill>
            <p:spPr bwMode="auto">
              <a:xfrm>
                <a:off x="1488020" y="2711456"/>
                <a:ext cx="1654336" cy="14350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9AF7814-1D52-844E-A38E-09E231DC994D}"/>
                  </a:ext>
                </a:extLst>
              </p:cNvPr>
              <p:cNvSpPr/>
              <p:nvPr/>
            </p:nvSpPr>
            <p:spPr>
              <a:xfrm>
                <a:off x="2313304" y="2746810"/>
                <a:ext cx="780586" cy="1345581"/>
              </a:xfrm>
              <a:custGeom>
                <a:avLst/>
                <a:gdLst>
                  <a:gd name="connsiteX0" fmla="*/ 780586 w 780586"/>
                  <a:gd name="connsiteY0" fmla="*/ 0 h 1345581"/>
                  <a:gd name="connsiteX1" fmla="*/ 0 w 780586"/>
                  <a:gd name="connsiteY1" fmla="*/ 453483 h 1345581"/>
                  <a:gd name="connsiteX2" fmla="*/ 7435 w 780586"/>
                  <a:gd name="connsiteY2" fmla="*/ 1345581 h 1345581"/>
                  <a:gd name="connsiteX3" fmla="*/ 780586 w 780586"/>
                  <a:gd name="connsiteY3" fmla="*/ 0 h 1345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0586" h="1345581">
                    <a:moveTo>
                      <a:pt x="780586" y="0"/>
                    </a:moveTo>
                    <a:lnTo>
                      <a:pt x="0" y="453483"/>
                    </a:lnTo>
                    <a:cubicBezTo>
                      <a:pt x="2478" y="750849"/>
                      <a:pt x="4957" y="1048215"/>
                      <a:pt x="7435" y="1345581"/>
                    </a:cubicBezTo>
                    <a:lnTo>
                      <a:pt x="780586" y="0"/>
                    </a:ln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CCFBE8C-76DC-4543-B6C1-94471661EDB8}"/>
                </a:ext>
              </a:extLst>
            </p:cNvPr>
            <p:cNvSpPr/>
            <p:nvPr/>
          </p:nvSpPr>
          <p:spPr>
            <a:xfrm>
              <a:off x="3299607" y="2541890"/>
              <a:ext cx="1081862" cy="1371421"/>
            </a:xfrm>
            <a:custGeom>
              <a:avLst/>
              <a:gdLst>
                <a:gd name="connsiteX0" fmla="*/ 8965 w 860612"/>
                <a:gd name="connsiteY0" fmla="*/ 528918 h 1210236"/>
                <a:gd name="connsiteX1" fmla="*/ 860612 w 860612"/>
                <a:gd name="connsiteY1" fmla="*/ 0 h 1210236"/>
                <a:gd name="connsiteX2" fmla="*/ 0 w 860612"/>
                <a:gd name="connsiteY2" fmla="*/ 1210236 h 1210236"/>
                <a:gd name="connsiteX3" fmla="*/ 8965 w 860612"/>
                <a:gd name="connsiteY3" fmla="*/ 528918 h 12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12" h="1210236">
                  <a:moveTo>
                    <a:pt x="8965" y="528918"/>
                  </a:moveTo>
                  <a:lnTo>
                    <a:pt x="860612" y="0"/>
                  </a:lnTo>
                  <a:lnTo>
                    <a:pt x="0" y="1210236"/>
                  </a:lnTo>
                  <a:lnTo>
                    <a:pt x="8965" y="528918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7B3E48-10DE-D545-B668-9073C98E75FB}"/>
                </a:ext>
              </a:extLst>
            </p:cNvPr>
            <p:cNvSpPr txBox="1"/>
            <p:nvPr/>
          </p:nvSpPr>
          <p:spPr>
            <a:xfrm>
              <a:off x="2262715" y="2172919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F95DE66-298A-D74B-986D-A376D35BB614}"/>
                </a:ext>
              </a:extLst>
            </p:cNvPr>
            <p:cNvSpPr txBox="1"/>
            <p:nvPr/>
          </p:nvSpPr>
          <p:spPr>
            <a:xfrm>
              <a:off x="3672087" y="2127572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Face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68F59DF-530C-7F4A-B976-23140FD251F0}"/>
                </a:ext>
              </a:extLst>
            </p:cNvPr>
            <p:cNvSpPr txBox="1"/>
            <p:nvPr/>
          </p:nvSpPr>
          <p:spPr>
            <a:xfrm>
              <a:off x="4887105" y="2151237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1E0084C-8E07-B04F-9046-DC10F666B3AA}"/>
                </a:ext>
              </a:extLst>
            </p:cNvPr>
            <p:cNvCxnSpPr>
              <a:cxnSpLocks/>
            </p:cNvCxnSpPr>
            <p:nvPr/>
          </p:nvCxnSpPr>
          <p:spPr>
            <a:xfrm>
              <a:off x="3583733" y="3240145"/>
              <a:ext cx="915671" cy="299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E7525A2-AA77-D746-B12F-1B14B19CE144}"/>
                </a:ext>
              </a:extLst>
            </p:cNvPr>
            <p:cNvCxnSpPr/>
            <p:nvPr/>
          </p:nvCxnSpPr>
          <p:spPr>
            <a:xfrm flipH="1" flipV="1">
              <a:off x="2915228" y="3158563"/>
              <a:ext cx="640988" cy="81582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C153681-3CB8-8D4A-B207-27E749A0E5C0}"/>
                </a:ext>
              </a:extLst>
            </p:cNvPr>
            <p:cNvSpPr txBox="1"/>
            <p:nvPr/>
          </p:nvSpPr>
          <p:spPr>
            <a:xfrm>
              <a:off x="3157581" y="391331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11FB469-29A8-584C-B1B6-9B1386507455}"/>
                </a:ext>
              </a:extLst>
            </p:cNvPr>
            <p:cNvSpPr txBox="1"/>
            <p:nvPr/>
          </p:nvSpPr>
          <p:spPr>
            <a:xfrm>
              <a:off x="4331412" y="23267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DB37CAB-2CCA-DF48-88A7-DF5176410BC5}"/>
                </a:ext>
              </a:extLst>
            </p:cNvPr>
            <p:cNvSpPr txBox="1"/>
            <p:nvPr/>
          </p:nvSpPr>
          <p:spPr>
            <a:xfrm>
              <a:off x="3163520" y="28672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1C66736-F65D-CD4F-81FE-D81925809ADD}"/>
                </a:ext>
              </a:extLst>
            </p:cNvPr>
            <p:cNvSpPr txBox="1"/>
            <p:nvPr/>
          </p:nvSpPr>
          <p:spPr>
            <a:xfrm>
              <a:off x="2590127" y="3305933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INSIDE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nbor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97135B4-8CCA-BE49-A08E-9D2953B7223A}"/>
                </a:ext>
              </a:extLst>
            </p:cNvPr>
            <p:cNvSpPr txBox="1"/>
            <p:nvPr/>
          </p:nvSpPr>
          <p:spPr>
            <a:xfrm>
              <a:off x="3626829" y="3350351"/>
              <a:ext cx="8691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OUTSIDE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nbor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3BF4550-AEB8-1C47-9344-01E45642919A}"/>
              </a:ext>
            </a:extLst>
          </p:cNvPr>
          <p:cNvSpPr txBox="1"/>
          <p:nvPr/>
        </p:nvSpPr>
        <p:spPr>
          <a:xfrm>
            <a:off x="4860032" y="16422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E8003F-6DC8-9C4E-854E-0396A0C7059A}"/>
              </a:ext>
            </a:extLst>
          </p:cNvPr>
          <p:cNvSpPr txBox="1"/>
          <p:nvPr/>
        </p:nvSpPr>
        <p:spPr>
          <a:xfrm>
            <a:off x="7460646" y="187796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</p:txBody>
      </p:sp>
    </p:spTree>
    <p:extLst>
      <p:ext uri="{BB962C8B-B14F-4D97-AF65-F5344CB8AC3E}">
        <p14:creationId xmlns:p14="http://schemas.microsoft.com/office/powerpoint/2010/main" val="2637636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1616-6729-9B44-BE34-26D3E15D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E1880E-07D0-A949-99F5-7D550CCC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765DD-4A59-CE47-88C3-9C05DC96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CSMP++ interfacing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48D14-04B2-AC43-A2F7-A7A6116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9D59E-D89D-D149-A8D7-06C42F4E2A11}"/>
              </a:ext>
            </a:extLst>
          </p:cNvPr>
          <p:cNvSpPr/>
          <p:nvPr/>
        </p:nvSpPr>
        <p:spPr>
          <a:xfrm>
            <a:off x="457200" y="2530158"/>
            <a:ext cx="7876189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"/>
                <a:cs typeface="Courier"/>
              </a:rPr>
              <a:t>pelmt</a:t>
            </a:r>
            <a:r>
              <a:rPr lang="en-US" sz="2400" dirty="0">
                <a:latin typeface="Courier"/>
                <a:cs typeface="Courier"/>
              </a:rPr>
              <a:t>[interface1]</a:t>
            </a:r>
          </a:p>
          <a:p>
            <a:r>
              <a:rPr lang="en-US" sz="2000" dirty="0">
                <a:latin typeface="Courier"/>
                <a:cs typeface="Courier"/>
              </a:rPr>
              <a:t>	</a:t>
            </a:r>
            <a:r>
              <a:rPr lang="en-US" dirty="0">
                <a:latin typeface="Courier"/>
                <a:cs typeface="Courier"/>
              </a:rPr>
              <a:t>LINEAR_TRIANGLE, ...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 err="1">
                <a:latin typeface="Courier"/>
                <a:cs typeface="Courier"/>
              </a:rPr>
              <a:t>plist</a:t>
            </a:r>
            <a:r>
              <a:rPr lang="en-US" sz="2400" dirty="0">
                <a:latin typeface="Courier"/>
                <a:cs typeface="Courier"/>
              </a:rPr>
              <a:t>[]</a:t>
            </a:r>
          </a:p>
          <a:p>
            <a:r>
              <a:rPr lang="en-US" dirty="0">
                <a:latin typeface="Courier"/>
                <a:cs typeface="Courier"/>
              </a:rPr>
              <a:t>	[node0,n1,n2(inside)|node0,n1,n2(outside)|…]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 err="1">
                <a:latin typeface="Courier"/>
                <a:cs typeface="Courier"/>
              </a:rPr>
              <a:t>pfverts</a:t>
            </a:r>
            <a:r>
              <a:rPr lang="en-US" sz="2400" dirty="0">
                <a:latin typeface="Courier"/>
                <a:cs typeface="Courier"/>
              </a:rPr>
              <a:t>[]</a:t>
            </a:r>
          </a:p>
          <a:p>
            <a:r>
              <a:rPr lang="en-US" dirty="0">
                <a:latin typeface="Courier"/>
                <a:cs typeface="Courier"/>
              </a:rPr>
              <a:t>	[nbor0,n1,n2(inside)|nbor0,n1,n2(outside)|	      	 	higher-dim0(inside)|higher-dim nbor1(outside)| 	intervening element or zero... ]</a:t>
            </a:r>
            <a:endParaRPr lang="en-US" sz="2000" dirty="0">
              <a:latin typeface="Courier"/>
              <a:cs typeface="Couri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C5FE09-FCF3-5A49-94D1-1DB28EAD959E}"/>
              </a:ext>
            </a:extLst>
          </p:cNvPr>
          <p:cNvGrpSpPr/>
          <p:nvPr/>
        </p:nvGrpSpPr>
        <p:grpSpPr>
          <a:xfrm>
            <a:off x="4499992" y="548680"/>
            <a:ext cx="3965314" cy="2448272"/>
            <a:chOff x="1763688" y="4293096"/>
            <a:chExt cx="3965314" cy="2448272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328ADA0-A23D-3448-8437-C2686AF5C90C}"/>
                </a:ext>
              </a:extLst>
            </p:cNvPr>
            <p:cNvSpPr/>
            <p:nvPr/>
          </p:nvSpPr>
          <p:spPr>
            <a:xfrm>
              <a:off x="3270121" y="5297011"/>
              <a:ext cx="1081862" cy="1371421"/>
            </a:xfrm>
            <a:custGeom>
              <a:avLst/>
              <a:gdLst>
                <a:gd name="connsiteX0" fmla="*/ 8965 w 860612"/>
                <a:gd name="connsiteY0" fmla="*/ 528918 h 1210236"/>
                <a:gd name="connsiteX1" fmla="*/ 860612 w 860612"/>
                <a:gd name="connsiteY1" fmla="*/ 0 h 1210236"/>
                <a:gd name="connsiteX2" fmla="*/ 0 w 860612"/>
                <a:gd name="connsiteY2" fmla="*/ 1210236 h 1210236"/>
                <a:gd name="connsiteX3" fmla="*/ 8965 w 860612"/>
                <a:gd name="connsiteY3" fmla="*/ 528918 h 12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12" h="1210236">
                  <a:moveTo>
                    <a:pt x="8965" y="528918"/>
                  </a:moveTo>
                  <a:lnTo>
                    <a:pt x="860612" y="0"/>
                  </a:lnTo>
                  <a:lnTo>
                    <a:pt x="0" y="1210236"/>
                  </a:lnTo>
                  <a:lnTo>
                    <a:pt x="8965" y="528918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BC010B-3AAB-874D-86D0-E658EB82FF05}"/>
                </a:ext>
              </a:extLst>
            </p:cNvPr>
            <p:cNvGrpSpPr/>
            <p:nvPr/>
          </p:nvGrpSpPr>
          <p:grpSpPr>
            <a:xfrm>
              <a:off x="1763688" y="4293096"/>
              <a:ext cx="3965314" cy="2448272"/>
              <a:chOff x="1763688" y="2221960"/>
              <a:chExt cx="3965314" cy="244827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6FFDA1-0EAF-D243-A6E6-78C173BA2EF5}"/>
                  </a:ext>
                </a:extLst>
              </p:cNvPr>
              <p:cNvGrpSpPr/>
              <p:nvPr/>
            </p:nvGrpSpPr>
            <p:grpSpPr>
              <a:xfrm>
                <a:off x="4099499" y="2757950"/>
                <a:ext cx="1408017" cy="1463139"/>
                <a:chOff x="4109510" y="2749745"/>
                <a:chExt cx="1646802" cy="1567092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19AFE8FF-115C-AA49-B03E-B09B7AC9874F}"/>
                    </a:ext>
                  </a:extLst>
                </p:cNvPr>
                <p:cNvGrpSpPr/>
                <p:nvPr/>
              </p:nvGrpSpPr>
              <p:grpSpPr>
                <a:xfrm>
                  <a:off x="4141694" y="2775122"/>
                  <a:ext cx="1582434" cy="1517974"/>
                  <a:chOff x="4141694" y="3082860"/>
                  <a:chExt cx="1120588" cy="1210236"/>
                </a:xfrm>
              </p:grpSpPr>
              <p:sp>
                <p:nvSpPr>
                  <p:cNvPr id="35" name="Freeform 34">
                    <a:extLst>
                      <a:ext uri="{FF2B5EF4-FFF2-40B4-BE49-F238E27FC236}">
                        <a16:creationId xmlns:a16="http://schemas.microsoft.com/office/drawing/2014/main" id="{931DCDCB-E716-C24B-994E-E446EB95A644}"/>
                      </a:ext>
                    </a:extLst>
                  </p:cNvPr>
                  <p:cNvSpPr/>
                  <p:nvPr/>
                </p:nvSpPr>
                <p:spPr>
                  <a:xfrm>
                    <a:off x="4141694" y="3082860"/>
                    <a:ext cx="860612" cy="1210236"/>
                  </a:xfrm>
                  <a:custGeom>
                    <a:avLst/>
                    <a:gdLst>
                      <a:gd name="connsiteX0" fmla="*/ 8965 w 860612"/>
                      <a:gd name="connsiteY0" fmla="*/ 528918 h 1210236"/>
                      <a:gd name="connsiteX1" fmla="*/ 860612 w 860612"/>
                      <a:gd name="connsiteY1" fmla="*/ 0 h 1210236"/>
                      <a:gd name="connsiteX2" fmla="*/ 0 w 860612"/>
                      <a:gd name="connsiteY2" fmla="*/ 1210236 h 1210236"/>
                      <a:gd name="connsiteX3" fmla="*/ 8965 w 860612"/>
                      <a:gd name="connsiteY3" fmla="*/ 528918 h 1210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60612" h="1210236">
                        <a:moveTo>
                          <a:pt x="8965" y="528918"/>
                        </a:moveTo>
                        <a:lnTo>
                          <a:pt x="860612" y="0"/>
                        </a:lnTo>
                        <a:lnTo>
                          <a:pt x="0" y="1210236"/>
                        </a:lnTo>
                        <a:lnTo>
                          <a:pt x="8965" y="528918"/>
                        </a:lnTo>
                        <a:close/>
                      </a:path>
                    </a:pathLst>
                  </a:cu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D38C9D10-1D3F-FA41-A2E6-8D50872B927E}"/>
                      </a:ext>
                    </a:extLst>
                  </p:cNvPr>
                  <p:cNvSpPr/>
                  <p:nvPr/>
                </p:nvSpPr>
                <p:spPr>
                  <a:xfrm>
                    <a:off x="4150659" y="3101788"/>
                    <a:ext cx="1111623" cy="1013012"/>
                  </a:xfrm>
                  <a:custGeom>
                    <a:avLst/>
                    <a:gdLst>
                      <a:gd name="connsiteX0" fmla="*/ 0 w 1111623"/>
                      <a:gd name="connsiteY0" fmla="*/ 519953 h 1013012"/>
                      <a:gd name="connsiteX1" fmla="*/ 1111623 w 1111623"/>
                      <a:gd name="connsiteY1" fmla="*/ 1013012 h 1013012"/>
                      <a:gd name="connsiteX2" fmla="*/ 842682 w 1111623"/>
                      <a:gd name="connsiteY2" fmla="*/ 0 h 1013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111623" h="1013012">
                        <a:moveTo>
                          <a:pt x="0" y="519953"/>
                        </a:moveTo>
                        <a:lnTo>
                          <a:pt x="1111623" y="1013012"/>
                        </a:lnTo>
                        <a:lnTo>
                          <a:pt x="84268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CC48CB74-BD99-DF49-B092-CD51FE95274F}"/>
                      </a:ext>
                    </a:extLst>
                  </p:cNvPr>
                  <p:cNvCxnSpPr>
                    <a:cxnSpLocks/>
                    <a:stCxn id="36" idx="1"/>
                    <a:endCxn id="35" idx="2"/>
                  </p:cNvCxnSpPr>
                  <p:nvPr/>
                </p:nvCxnSpPr>
                <p:spPr>
                  <a:xfrm flipH="1">
                    <a:off x="4141694" y="4114800"/>
                    <a:ext cx="1120588" cy="17829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F4A86B6-09B3-A94C-BD2A-9F35646484D8}"/>
                    </a:ext>
                  </a:extLst>
                </p:cNvPr>
                <p:cNvSpPr/>
                <p:nvPr/>
              </p:nvSpPr>
              <p:spPr>
                <a:xfrm>
                  <a:off x="5306792" y="2749745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562E1FE-6A52-924B-AE1D-EA203B573654}"/>
                    </a:ext>
                  </a:extLst>
                </p:cNvPr>
                <p:cNvSpPr/>
                <p:nvPr/>
              </p:nvSpPr>
              <p:spPr>
                <a:xfrm>
                  <a:off x="5691944" y="4021196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B08C4B1-A9E9-0442-960B-2BB27AE17A55}"/>
                    </a:ext>
                  </a:extLst>
                </p:cNvPr>
                <p:cNvSpPr/>
                <p:nvPr/>
              </p:nvSpPr>
              <p:spPr>
                <a:xfrm>
                  <a:off x="4109510" y="4244829"/>
                  <a:ext cx="64368" cy="72008"/>
                </a:xfrm>
                <a:prstGeom prst="ellipse">
                  <a:avLst/>
                </a:prstGeom>
                <a:solidFill>
                  <a:srgbClr val="FF006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E3FF8C6-896D-944A-9111-D425AB732B7F}"/>
                  </a:ext>
                </a:extLst>
              </p:cNvPr>
              <p:cNvGrpSpPr/>
              <p:nvPr/>
            </p:nvGrpSpPr>
            <p:grpSpPr>
              <a:xfrm>
                <a:off x="1763688" y="2744940"/>
                <a:ext cx="1654336" cy="1435087"/>
                <a:chOff x="1414752" y="2711456"/>
                <a:chExt cx="1654336" cy="1435087"/>
              </a:xfrm>
            </p:grpSpPr>
            <p:pic>
              <p:nvPicPr>
                <p:cNvPr id="29" name="Picture 2" descr="A tetrahedron is a 3D shape that contains 4 triangular sides">
                  <a:extLst>
                    <a:ext uri="{FF2B5EF4-FFF2-40B4-BE49-F238E27FC236}">
                      <a16:creationId xmlns:a16="http://schemas.microsoft.com/office/drawing/2014/main" id="{24E19DDE-29D3-2E48-AA7C-D7F1315FC73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713" t="7476" r="16925" b="7476"/>
                <a:stretch/>
              </p:blipFill>
              <p:spPr bwMode="auto">
                <a:xfrm>
                  <a:off x="1414752" y="2711456"/>
                  <a:ext cx="1654336" cy="14350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56E7C77A-2163-A846-81F5-2904FE2DCCB8}"/>
                    </a:ext>
                  </a:extLst>
                </p:cNvPr>
                <p:cNvSpPr/>
                <p:nvPr/>
              </p:nvSpPr>
              <p:spPr>
                <a:xfrm>
                  <a:off x="2240036" y="2746810"/>
                  <a:ext cx="780586" cy="1345581"/>
                </a:xfrm>
                <a:custGeom>
                  <a:avLst/>
                  <a:gdLst>
                    <a:gd name="connsiteX0" fmla="*/ 780586 w 780586"/>
                    <a:gd name="connsiteY0" fmla="*/ 0 h 1345581"/>
                    <a:gd name="connsiteX1" fmla="*/ 0 w 780586"/>
                    <a:gd name="connsiteY1" fmla="*/ 453483 h 1345581"/>
                    <a:gd name="connsiteX2" fmla="*/ 7435 w 780586"/>
                    <a:gd name="connsiteY2" fmla="*/ 1345581 h 1345581"/>
                    <a:gd name="connsiteX3" fmla="*/ 780586 w 780586"/>
                    <a:gd name="connsiteY3" fmla="*/ 0 h 1345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0586" h="1345581">
                      <a:moveTo>
                        <a:pt x="780586" y="0"/>
                      </a:moveTo>
                      <a:lnTo>
                        <a:pt x="0" y="453483"/>
                      </a:lnTo>
                      <a:cubicBezTo>
                        <a:pt x="2478" y="750849"/>
                        <a:pt x="4957" y="1048215"/>
                        <a:pt x="7435" y="1345581"/>
                      </a:cubicBezTo>
                      <a:lnTo>
                        <a:pt x="780586" y="0"/>
                      </a:lnTo>
                      <a:close/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7DB459-5CD0-9844-ACA2-1CC147CE6DA5}"/>
                  </a:ext>
                </a:extLst>
              </p:cNvPr>
              <p:cNvSpPr txBox="1"/>
              <p:nvPr/>
            </p:nvSpPr>
            <p:spPr>
              <a:xfrm>
                <a:off x="2262715" y="2411323"/>
                <a:ext cx="8418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Element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4C2165-9DED-634F-BE51-FD8136E1618C}"/>
                  </a:ext>
                </a:extLst>
              </p:cNvPr>
              <p:cNvSpPr txBox="1"/>
              <p:nvPr/>
            </p:nvSpPr>
            <p:spPr>
              <a:xfrm>
                <a:off x="3419872" y="2221960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InterFace</a:t>
                </a: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48613A-1413-5D4F-B3DE-764AF06C217E}"/>
                  </a:ext>
                </a:extLst>
              </p:cNvPr>
              <p:cNvSpPr txBox="1"/>
              <p:nvPr/>
            </p:nvSpPr>
            <p:spPr>
              <a:xfrm>
                <a:off x="4887105" y="2389641"/>
                <a:ext cx="8418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Element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719DED0-C732-FF42-8418-7534D2505332}"/>
                  </a:ext>
                </a:extLst>
              </p:cNvPr>
              <p:cNvCxnSpPr/>
              <p:nvPr/>
            </p:nvCxnSpPr>
            <p:spPr>
              <a:xfrm flipH="1" flipV="1">
                <a:off x="2915228" y="3396967"/>
                <a:ext cx="640988" cy="81582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BC53EF-0E2E-7D41-BDAA-CCD05681FAAB}"/>
                  </a:ext>
                </a:extLst>
              </p:cNvPr>
              <p:cNvSpPr txBox="1"/>
              <p:nvPr/>
            </p:nvSpPr>
            <p:spPr>
              <a:xfrm>
                <a:off x="3059832" y="409416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EB4618-8A54-C646-9A75-023B08C16E4E}"/>
                  </a:ext>
                </a:extLst>
              </p:cNvPr>
              <p:cNvSpPr txBox="1"/>
              <p:nvPr/>
            </p:nvSpPr>
            <p:spPr>
              <a:xfrm>
                <a:off x="4139952" y="250999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CBA48F-278C-1948-814E-07EA99CBC162}"/>
                  </a:ext>
                </a:extLst>
              </p:cNvPr>
              <p:cNvSpPr txBox="1"/>
              <p:nvPr/>
            </p:nvSpPr>
            <p:spPr>
              <a:xfrm>
                <a:off x="3059832" y="3105685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FF0776D-E137-0B44-9AA3-76C031D46F6B}"/>
                  </a:ext>
                </a:extLst>
              </p:cNvPr>
              <p:cNvSpPr/>
              <p:nvPr/>
            </p:nvSpPr>
            <p:spPr>
              <a:xfrm>
                <a:off x="3203848" y="2780294"/>
                <a:ext cx="1081862" cy="1371421"/>
              </a:xfrm>
              <a:custGeom>
                <a:avLst/>
                <a:gdLst>
                  <a:gd name="connsiteX0" fmla="*/ 8965 w 860612"/>
                  <a:gd name="connsiteY0" fmla="*/ 528918 h 1210236"/>
                  <a:gd name="connsiteX1" fmla="*/ 860612 w 860612"/>
                  <a:gd name="connsiteY1" fmla="*/ 0 h 1210236"/>
                  <a:gd name="connsiteX2" fmla="*/ 0 w 860612"/>
                  <a:gd name="connsiteY2" fmla="*/ 1210236 h 1210236"/>
                  <a:gd name="connsiteX3" fmla="*/ 8965 w 860612"/>
                  <a:gd name="connsiteY3" fmla="*/ 528918 h 12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612" h="1210236">
                    <a:moveTo>
                      <a:pt x="8965" y="528918"/>
                    </a:moveTo>
                    <a:lnTo>
                      <a:pt x="860612" y="0"/>
                    </a:lnTo>
                    <a:lnTo>
                      <a:pt x="0" y="1210236"/>
                    </a:lnTo>
                    <a:lnTo>
                      <a:pt x="8965" y="528918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8B29631-04D3-FE45-8533-67D1554F67F6}"/>
                  </a:ext>
                </a:extLst>
              </p:cNvPr>
              <p:cNvSpPr/>
              <p:nvPr/>
            </p:nvSpPr>
            <p:spPr>
              <a:xfrm>
                <a:off x="3322371" y="2798024"/>
                <a:ext cx="1081862" cy="1371421"/>
              </a:xfrm>
              <a:custGeom>
                <a:avLst/>
                <a:gdLst>
                  <a:gd name="connsiteX0" fmla="*/ 8965 w 860612"/>
                  <a:gd name="connsiteY0" fmla="*/ 528918 h 1210236"/>
                  <a:gd name="connsiteX1" fmla="*/ 860612 w 860612"/>
                  <a:gd name="connsiteY1" fmla="*/ 0 h 1210236"/>
                  <a:gd name="connsiteX2" fmla="*/ 0 w 860612"/>
                  <a:gd name="connsiteY2" fmla="*/ 1210236 h 1210236"/>
                  <a:gd name="connsiteX3" fmla="*/ 8965 w 860612"/>
                  <a:gd name="connsiteY3" fmla="*/ 528918 h 12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612" h="1210236">
                    <a:moveTo>
                      <a:pt x="8965" y="528918"/>
                    </a:moveTo>
                    <a:lnTo>
                      <a:pt x="860612" y="0"/>
                    </a:lnTo>
                    <a:lnTo>
                      <a:pt x="0" y="1210236"/>
                    </a:lnTo>
                    <a:lnTo>
                      <a:pt x="8965" y="528918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9D8B253-1E0A-3F42-AFC2-1B4DD202C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3733" y="3478549"/>
                <a:ext cx="915671" cy="299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43C77A-18F4-F642-95C6-F580D8323DE9}"/>
                  </a:ext>
                </a:extLst>
              </p:cNvPr>
              <p:cNvSpPr txBox="1"/>
              <p:nvPr/>
            </p:nvSpPr>
            <p:spPr>
              <a:xfrm>
                <a:off x="3261567" y="4208567"/>
                <a:ext cx="6623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INNER</a:t>
                </a:r>
              </a:p>
              <a:p>
                <a:pPr algn="ctr"/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nbor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3</a:t>
                </a: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AC7D18-321D-3B4D-B5B9-A7DA030F89FB}"/>
                </a:ext>
              </a:extLst>
            </p:cNvPr>
            <p:cNvCxnSpPr>
              <a:stCxn id="25" idx="1"/>
            </p:cNvCxnSpPr>
            <p:nvPr/>
          </p:nvCxnSpPr>
          <p:spPr>
            <a:xfrm flipH="1">
              <a:off x="3369558" y="4851430"/>
              <a:ext cx="91615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773B8B-B9D8-9D4B-932A-FDD8C66EDC71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flipH="1">
              <a:off x="4404233" y="4869160"/>
              <a:ext cx="743918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E403A6-8986-2D47-B5A5-515A1CB0CF76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 flipV="1">
              <a:off x="3333641" y="5468522"/>
              <a:ext cx="793376" cy="1977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C61BB2-AE26-6640-9BFA-9E1E04CDF942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H="1" flipV="1">
              <a:off x="3322371" y="6240581"/>
              <a:ext cx="777128" cy="2926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15850E-5777-B349-800C-E844EBEA95DB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H="1" flipV="1">
              <a:off x="2596407" y="6197011"/>
              <a:ext cx="591010" cy="2798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823372-5E73-B14B-BB1E-7D96BF08B0D3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H="1" flipV="1">
              <a:off x="2588972" y="5304913"/>
              <a:ext cx="622056" cy="16530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2109AB5-51DE-A449-8615-DAE938C32F7B}"/>
              </a:ext>
            </a:extLst>
          </p:cNvPr>
          <p:cNvSpPr txBox="1"/>
          <p:nvPr/>
        </p:nvSpPr>
        <p:spPr>
          <a:xfrm>
            <a:off x="490803" y="873579"/>
            <a:ext cx="3533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Inside and outside come from application of the right-hand rule,</a:t>
            </a:r>
          </a:p>
          <a:p>
            <a:r>
              <a:rPr lang="en-US" dirty="0"/>
              <a:t>applied to the triangles making up the original surface.</a:t>
            </a:r>
          </a:p>
        </p:txBody>
      </p:sp>
    </p:spTree>
    <p:extLst>
      <p:ext uri="{BB962C8B-B14F-4D97-AF65-F5344CB8AC3E}">
        <p14:creationId xmlns:p14="http://schemas.microsoft.com/office/powerpoint/2010/main" val="3413219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51520" y="0"/>
            <a:ext cx="8856984" cy="836712"/>
          </a:xfrm>
        </p:spPr>
        <p:txBody>
          <a:bodyPr>
            <a:noAutofit/>
          </a:bodyPr>
          <a:lstStyle/>
          <a:p>
            <a:r>
              <a:rPr lang="en-US" sz="2800" dirty="0"/>
              <a:t>Data storage associated with </a:t>
            </a:r>
            <a:r>
              <a:rPr lang="en-US" sz="2800" dirty="0" err="1"/>
              <a:t>VSet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95536" y="764704"/>
            <a:ext cx="8640960" cy="59766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 err="1"/>
              <a:t>VSet</a:t>
            </a:r>
            <a:r>
              <a:rPr lang="en-US" dirty="0"/>
              <a:t> (container of finite-element mesh and associated properties)</a:t>
            </a:r>
          </a:p>
          <a:p>
            <a:pPr marL="0" indent="0">
              <a:buNone/>
            </a:pPr>
            <a:r>
              <a:rPr lang="en-US" b="1" dirty="0"/>
              <a:t>Most important data records</a:t>
            </a:r>
            <a:r>
              <a:rPr lang="en-US" dirty="0"/>
              <a:t> (all with a single dimension)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FF"/>
                </a:solidFill>
              </a:rPr>
              <a:t>Mesh (</a:t>
            </a:r>
            <a:r>
              <a:rPr lang="en-US" sz="2200" b="1" dirty="0" err="1">
                <a:solidFill>
                  <a:srgbClr val="0000FF"/>
                </a:solidFill>
              </a:rPr>
              <a:t>VData</a:t>
            </a:r>
            <a:r>
              <a:rPr lang="en-US" sz="2200" b="1" dirty="0">
                <a:solidFill>
                  <a:srgbClr val="0000FF"/>
                </a:solidFill>
              </a:rPr>
              <a:t> base class)</a:t>
            </a:r>
          </a:p>
          <a:p>
            <a:pPr marL="0" indent="0">
              <a:buNone/>
            </a:pPr>
            <a:r>
              <a:rPr lang="en-US" dirty="0"/>
              <a:t>(double64) </a:t>
            </a:r>
            <a:r>
              <a:rPr lang="en-US" b="1" dirty="0" err="1"/>
              <a:t>px</a:t>
            </a:r>
            <a:r>
              <a:rPr lang="en-US" b="1" dirty="0"/>
              <a:t>, </a:t>
            </a:r>
            <a:r>
              <a:rPr lang="en-US" b="1" dirty="0" err="1"/>
              <a:t>py</a:t>
            </a:r>
            <a:r>
              <a:rPr lang="en-US" b="1" dirty="0"/>
              <a:t>, </a:t>
            </a:r>
            <a:r>
              <a:rPr lang="en-US" b="1" dirty="0" err="1"/>
              <a:t>pz</a:t>
            </a:r>
            <a:r>
              <a:rPr lang="en-US" dirty="0"/>
              <a:t>[0..n-1]  = coordinates of n nodes (= FE vertices)</a:t>
            </a:r>
          </a:p>
          <a:p>
            <a:pPr marL="0" indent="0">
              <a:buNone/>
            </a:pPr>
            <a:r>
              <a:rPr lang="en-US" dirty="0"/>
              <a:t>(int32) </a:t>
            </a:r>
            <a:r>
              <a:rPr lang="en-US" b="1" dirty="0" err="1"/>
              <a:t>bflags</a:t>
            </a:r>
            <a:r>
              <a:rPr lang="en-US" dirty="0"/>
              <a:t>[0..n-1] = negative numbers for nodes at boundary, see later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enum</a:t>
            </a:r>
            <a:r>
              <a:rPr lang="en-US" dirty="0"/>
              <a:t>) </a:t>
            </a:r>
            <a:r>
              <a:rPr lang="en-US" b="1" dirty="0" err="1"/>
              <a:t>pelmt</a:t>
            </a:r>
            <a:r>
              <a:rPr lang="en-US" dirty="0"/>
              <a:t>[0..</a:t>
            </a:r>
            <a:r>
              <a:rPr lang="en-US" i="1" dirty="0"/>
              <a:t>e</a:t>
            </a:r>
            <a:r>
              <a:rPr lang="en-US" dirty="0"/>
              <a:t>-1] = CSMP_FEM_TYPE of </a:t>
            </a:r>
            <a:r>
              <a:rPr lang="en-US" i="1" dirty="0"/>
              <a:t>e</a:t>
            </a:r>
            <a:r>
              <a:rPr lang="en-US" dirty="0"/>
              <a:t> finite elements  (1 entry only for single element-type mesh)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) </a:t>
            </a:r>
            <a:r>
              <a:rPr lang="en-US" b="1" dirty="0" err="1"/>
              <a:t>plist</a:t>
            </a:r>
            <a:r>
              <a:rPr lang="en-US" dirty="0"/>
              <a:t>[0..e *[sum </a:t>
            </a:r>
            <a:r>
              <a:rPr lang="en-US" dirty="0" err="1"/>
              <a:t>npe</a:t>
            </a:r>
            <a:r>
              <a:rPr lang="en-US" dirty="0"/>
              <a:t>[e]]] = nodes making up each element</a:t>
            </a:r>
          </a:p>
          <a:p>
            <a:pPr marL="0" indent="0">
              <a:buNone/>
            </a:pPr>
            <a:r>
              <a:rPr lang="en-US" dirty="0"/>
              <a:t>int32) </a:t>
            </a:r>
            <a:r>
              <a:rPr lang="en-US" b="1" dirty="0" err="1"/>
              <a:t>pfverts</a:t>
            </a:r>
            <a:r>
              <a:rPr lang="en-US" dirty="0"/>
              <a:t>[0..e *[sum </a:t>
            </a:r>
            <a:r>
              <a:rPr lang="en-US" dirty="0" err="1"/>
              <a:t>fpe</a:t>
            </a:r>
            <a:r>
              <a:rPr lang="en-US" dirty="0"/>
              <a:t>[e]]] = neighbor elements adjacent to the faces of each element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FF"/>
                </a:solidFill>
              </a:rPr>
              <a:t>Variable values (</a:t>
            </a:r>
            <a:r>
              <a:rPr lang="en-US" sz="2200" b="1" dirty="0" err="1">
                <a:solidFill>
                  <a:srgbClr val="0000FF"/>
                </a:solidFill>
              </a:rPr>
              <a:t>Vset</a:t>
            </a:r>
            <a:r>
              <a:rPr lang="en-US" sz="2200" b="1" dirty="0">
                <a:solidFill>
                  <a:srgbClr val="0000FF"/>
                </a:solidFill>
              </a:rPr>
              <a:t> subclass)</a:t>
            </a:r>
            <a:r>
              <a:rPr lang="en-US" dirty="0"/>
              <a:t> (material-, fluid- and computed properties)</a:t>
            </a:r>
          </a:p>
          <a:p>
            <a:pPr marL="363538" indent="0">
              <a:buNone/>
            </a:pPr>
            <a:r>
              <a:rPr lang="en-US" sz="1600" b="1" dirty="0">
                <a:latin typeface="Courier"/>
                <a:cs typeface="Courier"/>
              </a:rPr>
              <a:t>map&lt;</a:t>
            </a:r>
            <a:r>
              <a:rPr lang="en-US" sz="1600" b="1" dirty="0" err="1">
                <a:latin typeface="Courier"/>
                <a:cs typeface="Courier"/>
              </a:rPr>
              <a:t>string,PropertyData”ScalarVariable</a:t>
            </a:r>
            <a:r>
              <a:rPr lang="en-US" sz="1600" b="1" dirty="0">
                <a:latin typeface="Courier"/>
                <a:cs typeface="Courier"/>
              </a:rPr>
              <a:t>”&gt;        </a:t>
            </a:r>
            <a:r>
              <a:rPr lang="en-US" sz="1600" b="1" dirty="0" err="1">
                <a:latin typeface="Courier"/>
                <a:cs typeface="Courier"/>
              </a:rPr>
              <a:t>vdata_scalar</a:t>
            </a:r>
            <a:r>
              <a:rPr lang="en-US" sz="1600" b="1" dirty="0">
                <a:latin typeface="Courier"/>
                <a:cs typeface="Courier"/>
              </a:rPr>
              <a:t>;</a:t>
            </a:r>
          </a:p>
          <a:p>
            <a:pPr marL="363538" indent="0">
              <a:buNone/>
            </a:pPr>
            <a:r>
              <a:rPr lang="en-US" sz="1600" b="1" dirty="0">
                <a:latin typeface="Courier"/>
                <a:cs typeface="Courier"/>
              </a:rPr>
              <a:t>map&lt;</a:t>
            </a:r>
            <a:r>
              <a:rPr lang="en-US" sz="1600" b="1" dirty="0" err="1">
                <a:latin typeface="Courier"/>
                <a:cs typeface="Courier"/>
              </a:rPr>
              <a:t>string,PropertyData”VectorVariable</a:t>
            </a:r>
            <a:r>
              <a:rPr lang="en-US" sz="1600" b="1" dirty="0">
                <a:latin typeface="Courier"/>
                <a:cs typeface="Courier"/>
              </a:rPr>
              <a:t>”&gt;        </a:t>
            </a:r>
            <a:r>
              <a:rPr lang="en-US" sz="1600" b="1" dirty="0" err="1">
                <a:latin typeface="Courier"/>
                <a:cs typeface="Courier"/>
              </a:rPr>
              <a:t>vdata_vector</a:t>
            </a:r>
            <a:r>
              <a:rPr lang="en-US" sz="1600" b="1" dirty="0">
                <a:latin typeface="Courier"/>
                <a:cs typeface="Courier"/>
              </a:rPr>
              <a:t>;</a:t>
            </a:r>
          </a:p>
          <a:p>
            <a:pPr marL="363538" indent="0">
              <a:buNone/>
            </a:pPr>
            <a:r>
              <a:rPr lang="en-US" sz="1600" b="1" dirty="0">
                <a:latin typeface="Courier"/>
                <a:cs typeface="Courier"/>
              </a:rPr>
              <a:t>map&lt;</a:t>
            </a:r>
            <a:r>
              <a:rPr lang="en-US" sz="1600" b="1" dirty="0" err="1">
                <a:latin typeface="Courier"/>
                <a:cs typeface="Courier"/>
              </a:rPr>
              <a:t>string,PropertyData”TensorVariable</a:t>
            </a:r>
            <a:r>
              <a:rPr lang="en-US" sz="1600" b="1" dirty="0">
                <a:latin typeface="Courier"/>
                <a:cs typeface="Courier"/>
              </a:rPr>
              <a:t>”&gt;        </a:t>
            </a:r>
            <a:r>
              <a:rPr lang="en-US" sz="1600" b="1" dirty="0" err="1">
                <a:latin typeface="Courier"/>
                <a:cs typeface="Courier"/>
              </a:rPr>
              <a:t>vdata_tensor</a:t>
            </a:r>
            <a:r>
              <a:rPr lang="en-US" sz="1600" b="1" dirty="0">
                <a:latin typeface="Courier"/>
                <a:cs typeface="Courier"/>
              </a:rPr>
              <a:t>;</a:t>
            </a:r>
          </a:p>
          <a:p>
            <a:pPr marL="363538" indent="0">
              <a:buNone/>
            </a:pPr>
            <a:r>
              <a:rPr lang="en-US" sz="1600" b="1" dirty="0">
                <a:latin typeface="Courier"/>
                <a:cs typeface="Courier"/>
              </a:rPr>
              <a:t>map&lt;</a:t>
            </a:r>
            <a:r>
              <a:rPr lang="en-US" sz="1600" b="1" dirty="0" err="1">
                <a:latin typeface="Courier"/>
                <a:cs typeface="Courier"/>
              </a:rPr>
              <a:t>string,PropertyData”ArrayVariable</a:t>
            </a:r>
            <a:r>
              <a:rPr lang="en-US" sz="1600" b="1" dirty="0">
                <a:latin typeface="Courier"/>
                <a:cs typeface="Courier"/>
              </a:rPr>
              <a:t>”&gt;         </a:t>
            </a:r>
            <a:r>
              <a:rPr lang="en-US" sz="1600" b="1" dirty="0" err="1">
                <a:latin typeface="Courier"/>
                <a:cs typeface="Courier"/>
              </a:rPr>
              <a:t>vdata_array</a:t>
            </a:r>
            <a:r>
              <a:rPr lang="en-US" sz="1600" b="1" dirty="0">
                <a:latin typeface="Courier"/>
                <a:cs typeface="Courier"/>
              </a:rPr>
              <a:t>;</a:t>
            </a:r>
          </a:p>
          <a:p>
            <a:pPr marL="363538" indent="0">
              <a:buNone/>
            </a:pPr>
            <a:r>
              <a:rPr lang="en-US" sz="1600" b="1" dirty="0">
                <a:latin typeface="Courier"/>
                <a:cs typeface="Courier"/>
              </a:rPr>
              <a:t>map&lt;</a:t>
            </a:r>
            <a:r>
              <a:rPr lang="en-US" sz="1600" b="1" dirty="0" err="1">
                <a:latin typeface="Courier"/>
                <a:cs typeface="Courier"/>
              </a:rPr>
              <a:t>string,PropertyData”FlaggedArrayVariable</a:t>
            </a:r>
            <a:r>
              <a:rPr lang="en-US" sz="1600" b="1" dirty="0">
                <a:latin typeface="Courier"/>
                <a:cs typeface="Courier"/>
              </a:rPr>
              <a:t>”&gt;  </a:t>
            </a:r>
            <a:r>
              <a:rPr lang="en-US" sz="1600" b="1" dirty="0" err="1">
                <a:latin typeface="Courier"/>
                <a:cs typeface="Courier"/>
              </a:rPr>
              <a:t>vdata_flagged_array</a:t>
            </a:r>
            <a:r>
              <a:rPr lang="en-US" sz="1600" b="1" dirty="0">
                <a:latin typeface="Courier"/>
                <a:cs typeface="Courier"/>
              </a:rPr>
              <a:t>;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256" y="1628800"/>
            <a:ext cx="433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Note: all numbering in CSMP is from 0..n-1; 0..e-1</a:t>
            </a:r>
          </a:p>
        </p:txBody>
      </p:sp>
    </p:spTree>
    <p:extLst>
      <p:ext uri="{BB962C8B-B14F-4D97-AF65-F5344CB8AC3E}">
        <p14:creationId xmlns:p14="http://schemas.microsoft.com/office/powerpoint/2010/main" val="308663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9AD1E-6339-7C44-A64F-533CBD0A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ASC file: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AEEB3-DF64-2843-8EBC-10AECA95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6288-3AB3-9244-9AD5-2AC09C0C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E5EBA-E410-EF4D-9A08-240FB5D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94A799-9C32-924C-8A08-D24AB93620B2}"/>
              </a:ext>
            </a:extLst>
          </p:cNvPr>
          <p:cNvSpPr/>
          <p:nvPr/>
        </p:nvSpPr>
        <p:spPr>
          <a:xfrm>
            <a:off x="539552" y="1052736"/>
            <a:ext cx="7488832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V6_SOLID2_with_wells</a:t>
            </a:r>
          </a:p>
          <a:p>
            <a:endParaRPr lang="en-US" sz="1000" dirty="0"/>
          </a:p>
          <a:p>
            <a:r>
              <a:rPr lang="en-US" sz="1000" dirty="0"/>
              <a:t>V6_SOLID2_with_wells.asc generated on 11-09-2021</a:t>
            </a:r>
          </a:p>
          <a:p>
            <a:endParaRPr lang="en-US" sz="1000" dirty="0"/>
          </a:p>
          <a:p>
            <a:r>
              <a:rPr lang="en-US" sz="1000" dirty="0"/>
              <a:t>9 # Number of families</a:t>
            </a:r>
          </a:p>
          <a:p>
            <a:r>
              <a:rPr lang="en-US" sz="1600" dirty="0">
                <a:solidFill>
                  <a:srgbClr val="0432FF"/>
                </a:solidFill>
              </a:rPr>
              <a:t># general order (inherited from ANSYS) volumes, surfaces, lines</a:t>
            </a:r>
          </a:p>
          <a:p>
            <a:r>
              <a:rPr lang="en-US" sz="1600" dirty="0">
                <a:solidFill>
                  <a:srgbClr val="0432FF"/>
                </a:solidFill>
              </a:rPr>
              <a:t># REGION objects first, then BOUNDARY, then SPLITBOUNDARY objects</a:t>
            </a:r>
          </a:p>
          <a:p>
            <a:r>
              <a:rPr lang="en-US" sz="1600" dirty="0">
                <a:solidFill>
                  <a:srgbClr val="0432FF"/>
                </a:solidFill>
              </a:rPr>
              <a:t># number after element type corresponds to rock type</a:t>
            </a:r>
            <a:r>
              <a:rPr lang="en-US" sz="1000" dirty="0"/>
              <a:t> (unless...)</a:t>
            </a:r>
          </a:p>
          <a:p>
            <a:endParaRPr lang="en-US" sz="1000" dirty="0"/>
          </a:p>
          <a:p>
            <a:r>
              <a:rPr lang="en-US" sz="1000" dirty="0"/>
              <a:t>UNIT_A REGION ISOPARAMETRIC_LINEAR_TETRAHEDRON 0 1775</a:t>
            </a:r>
          </a:p>
          <a:p>
            <a:endParaRPr lang="en-US" sz="1000" dirty="0"/>
          </a:p>
          <a:p>
            <a:r>
              <a:rPr lang="en-US" sz="1000" dirty="0"/>
              <a:t>UNIT_B REGION ISOPARAMETRIC_LINEAR_TETRAHEDRON 1 1743</a:t>
            </a:r>
          </a:p>
          <a:p>
            <a:endParaRPr lang="en-US" sz="1000" dirty="0"/>
          </a:p>
          <a:p>
            <a:r>
              <a:rPr lang="en-US" sz="1000" dirty="0"/>
              <a:t>UNIT_C REGION ISOPARAMETRIC_LINEAR_TETRAHEDRON 2 1761</a:t>
            </a:r>
          </a:p>
          <a:p>
            <a:endParaRPr lang="en-US" sz="1000" dirty="0"/>
          </a:p>
          <a:p>
            <a:r>
              <a:rPr lang="en-US" sz="1000" dirty="0"/>
              <a:t>FAULT1 BOUNDARY ISOPARAMETRIC_LINEAR_TRIANGLE 3 102</a:t>
            </a:r>
          </a:p>
          <a:p>
            <a:endParaRPr lang="en-US" sz="1000" dirty="0"/>
          </a:p>
          <a:p>
            <a:r>
              <a:rPr lang="en-US" sz="1000" dirty="0"/>
              <a:t>FAULT2 SPLIT_BOUNDARY ISOPARAMETRIC_LINEAR_TRIANGLE 8 4</a:t>
            </a:r>
          </a:p>
          <a:p>
            <a:endParaRPr lang="en-US" sz="1000" dirty="0"/>
          </a:p>
          <a:p>
            <a:r>
              <a:rPr lang="en-US" sz="1000" dirty="0"/>
              <a:t>WELL_1 SPLIT_BOUNDARY ISOPARAMETRIC_LINEAR_LINE_ELEMENT 4 4</a:t>
            </a:r>
          </a:p>
          <a:p>
            <a:endParaRPr lang="en-US" sz="1000" dirty="0"/>
          </a:p>
          <a:p>
            <a:r>
              <a:rPr lang="en-US" sz="1000" dirty="0"/>
              <a:t>WELL_2 SPLIT_BOUNDARY ISOPARAMETRIC_LINEAR_LINE_ELEMENT 5 5</a:t>
            </a:r>
          </a:p>
          <a:p>
            <a:endParaRPr lang="en-US" sz="1000" dirty="0"/>
          </a:p>
          <a:p>
            <a:r>
              <a:rPr lang="en-US" sz="1000" dirty="0"/>
              <a:t>WELL_3 SPLIT_BOUNDARY ISOPARAMETRIC_LINEAR_LINE_ELEMENT 6 5</a:t>
            </a:r>
          </a:p>
          <a:p>
            <a:endParaRPr lang="en-US" sz="1000" dirty="0"/>
          </a:p>
          <a:p>
            <a:r>
              <a:rPr lang="en-US" sz="1000" dirty="0"/>
              <a:t>WELL_4 SPLIT_BOUNDARY ISOPARAMETRIC_LINEAR_LINE_ELEMENT 7 6</a:t>
            </a:r>
          </a:p>
          <a:p>
            <a:endParaRPr lang="en-US" sz="1000" dirty="0"/>
          </a:p>
          <a:p>
            <a:r>
              <a:rPr lang="en-US" sz="1000" dirty="0"/>
              <a:t>#</a:t>
            </a:r>
          </a:p>
          <a:p>
            <a:endParaRPr lang="en-US" sz="1000" dirty="0"/>
          </a:p>
          <a:p>
            <a:r>
              <a:rPr lang="en-US" sz="1000" dirty="0"/>
              <a:t>UNIT_A ISOPARAMETRIC_LINEAR_TETRAHEDRON 1775</a:t>
            </a:r>
          </a:p>
          <a:p>
            <a:endParaRPr lang="en-US" sz="1000" dirty="0"/>
          </a:p>
          <a:p>
            <a:r>
              <a:rPr lang="en-US" sz="1000" dirty="0"/>
              <a:t>18</a:t>
            </a:r>
          </a:p>
          <a:p>
            <a:endParaRPr lang="en-US" sz="1000" dirty="0"/>
          </a:p>
          <a:p>
            <a:r>
              <a:rPr lang="en-US" sz="10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10258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227165"/>
            <a:ext cx="8208912" cy="136207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2. CSMP Conventions</a:t>
            </a:r>
            <a:br>
              <a:rPr lang="en-US" dirty="0"/>
            </a:br>
            <a:r>
              <a:rPr lang="en-US" cap="none" dirty="0">
                <a:solidFill>
                  <a:srgbClr val="FFFF00"/>
                </a:solidFill>
              </a:rPr>
              <a:t>variable types, flags, placements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29685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1"/>
            <a:ext cx="5616624" cy="55747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/>
          <a:lstStyle/>
          <a:p>
            <a:r>
              <a:rPr lang="en-US" dirty="0"/>
              <a:t>Boundary flags (</a:t>
            </a:r>
            <a:r>
              <a:rPr lang="en-US" dirty="0" err="1"/>
              <a:t>bflags</a:t>
            </a:r>
            <a:r>
              <a:rPr lang="en-US" dirty="0"/>
              <a:t> record in </a:t>
            </a:r>
            <a:r>
              <a:rPr lang="en-US" dirty="0" err="1"/>
              <a:t>VSet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02896" y="836711"/>
            <a:ext cx="23839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Note1: some of these flags have a meaning only for box-shaped models</a:t>
            </a:r>
          </a:p>
          <a:p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Note2: free-form boundaries can be conveyed to CSMP by adding the string “BOUNDARY_” to the front of the name of any lower-dimensional region that classifies as CSMP boundary. </a:t>
            </a:r>
          </a:p>
        </p:txBody>
      </p:sp>
      <p:sp>
        <p:nvSpPr>
          <p:cNvPr id="10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3507811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517712-FF3B-9244-B986-547F752AB9B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6838"/>
            <a:ext cx="7983537" cy="1130300"/>
          </a:xfrm>
        </p:spPr>
        <p:txBody>
          <a:bodyPr/>
          <a:lstStyle/>
          <a:p>
            <a:pPr eaLnBrk="1" hangingPunct="1"/>
            <a:r>
              <a:rPr lang="en-US" dirty="0"/>
              <a:t>CSMP++ interoperable physical variables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65237"/>
            <a:ext cx="8229600" cy="52117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In-built types (</a:t>
            </a:r>
            <a:r>
              <a:rPr lang="en-US" sz="2800" dirty="0" err="1"/>
              <a:t>CSMP_definitions.h</a:t>
            </a:r>
            <a:r>
              <a:rPr lang="en-US" sz="28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typedef</a:t>
            </a:r>
            <a:r>
              <a:rPr lang="en-US" sz="2400" b="1" dirty="0">
                <a:latin typeface="Courier New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charset="0"/>
              </a:rPr>
              <a:t>double</a:t>
            </a:r>
            <a:r>
              <a:rPr lang="en-US" sz="2400" b="1" dirty="0">
                <a:latin typeface="Courier New" charset="0"/>
              </a:rPr>
              <a:t>  double64;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 charset="0"/>
              </a:rPr>
              <a:t>STL container&lt;&gt;::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size_type</a:t>
            </a:r>
            <a:r>
              <a:rPr lang="en-US" sz="2400" b="1" dirty="0">
                <a:solidFill>
                  <a:srgbClr val="0000FF"/>
                </a:solidFill>
                <a:latin typeface="Courier New" charset="0"/>
              </a:rPr>
              <a:t>  = </a:t>
            </a:r>
            <a:r>
              <a:rPr lang="en-US" sz="2400" b="1" dirty="0" err="1">
                <a:latin typeface="Courier New" charset="0"/>
              </a:rPr>
              <a:t>size_t</a:t>
            </a:r>
            <a:endParaRPr lang="en-US" sz="2400" b="1" dirty="0">
              <a:latin typeface="Courier Ne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Abstract data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ScalarVariable</a:t>
            </a:r>
            <a:r>
              <a:rPr lang="en-US" sz="2400" b="1" dirty="0">
                <a:latin typeface="Courier New" charset="0"/>
              </a:rPr>
              <a:t>          </a:t>
            </a:r>
            <a:r>
              <a:rPr lang="en-US" sz="2400" dirty="0"/>
              <a:t>(1 flag)</a:t>
            </a: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VectorVariable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</a:t>
            </a:r>
            <a:r>
              <a:rPr lang="en-US" sz="2400" dirty="0"/>
              <a:t>(dim flags)</a:t>
            </a:r>
            <a:endParaRPr lang="en-US" sz="2400" b="1" dirty="0">
              <a:latin typeface="Courier New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TensorVariable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</a:t>
            </a:r>
            <a:r>
              <a:rPr lang="en-US" sz="2400" dirty="0"/>
              <a:t>(dim flags)</a:t>
            </a:r>
            <a:endParaRPr lang="en-US" sz="2400" b="1" dirty="0">
              <a:latin typeface="Courier New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ArrayVariable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 </a:t>
            </a:r>
            <a:r>
              <a:rPr lang="en-US" sz="2400" dirty="0"/>
              <a:t>(1 flag)</a:t>
            </a:r>
            <a:endParaRPr lang="en-US" sz="2400" b="1" dirty="0">
              <a:latin typeface="Courier New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FlaggedArrayVariable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 </a:t>
            </a:r>
            <a:r>
              <a:rPr lang="en-US" sz="2400" dirty="0"/>
              <a:t>(n flags)</a:t>
            </a:r>
            <a:endParaRPr lang="en-US" sz="2400" b="1" dirty="0">
              <a:latin typeface="Courier New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DenseMatrix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   </a:t>
            </a:r>
            <a:r>
              <a:rPr lang="en-US" sz="2400" dirty="0"/>
              <a:t>(no flags)</a:t>
            </a:r>
            <a:endParaRPr lang="en-US" sz="2400" b="1" dirty="0">
              <a:latin typeface="Courier New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 err="1">
                <a:latin typeface="Courier New" charset="0"/>
              </a:rPr>
              <a:t>SparseMatrix</a:t>
            </a:r>
            <a:r>
              <a:rPr lang="en-US" sz="2400" b="1" dirty="0">
                <a:latin typeface="Courier New" charset="0"/>
              </a:rPr>
              <a:t>&lt;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</a:rPr>
              <a:t>size_t</a:t>
            </a:r>
            <a:r>
              <a:rPr lang="en-US" sz="2400" b="1" dirty="0">
                <a:latin typeface="Courier New" charset="0"/>
              </a:rPr>
              <a:t>&gt;    </a:t>
            </a:r>
            <a:r>
              <a:rPr lang="en-US" sz="2400" dirty="0"/>
              <a:t>(no flags)</a:t>
            </a:r>
            <a:endParaRPr lang="en-US" sz="2400" b="1" dirty="0">
              <a:latin typeface="Courier New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4C21-4A88-7246-B6C5-892D98581E8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579356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7281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CSMP variables are value – flag pairs.</a:t>
            </a:r>
          </a:p>
          <a:p>
            <a:r>
              <a:rPr lang="en-US" dirty="0"/>
              <a:t>Flags specify how the variable is used in a simulation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is the default flag for an uninitialized variable</a:t>
            </a:r>
          </a:p>
          <a:p>
            <a:r>
              <a:rPr lang="en-US" dirty="0"/>
              <a:t>DIRICH, NEUMANN, ROBIN and PERIODIC tell solver about solution constraints including values that are to be used as integration constants for governing equations.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5576" y="1913925"/>
            <a:ext cx="835292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8000"/>
                </a:solidFill>
                <a:latin typeface="Courier"/>
                <a:cs typeface="Courier"/>
              </a:rPr>
              <a:t>// flag indicating treatment in computations</a:t>
            </a:r>
          </a:p>
          <a:p>
            <a:r>
              <a:rPr lang="en-US" sz="1600" b="1" dirty="0" err="1">
                <a:solidFill>
                  <a:srgbClr val="0000FF"/>
                </a:solidFill>
                <a:latin typeface="Courier"/>
                <a:cs typeface="Courier"/>
              </a:rPr>
              <a:t>enum</a:t>
            </a:r>
            <a:r>
              <a:rPr lang="en-US" sz="1600" b="1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600" b="1" dirty="0">
                <a:latin typeface="Courier"/>
                <a:cs typeface="Courier"/>
              </a:rPr>
              <a:t>VARIABLE_FLAG </a:t>
            </a:r>
            <a:r>
              <a:rPr lang="en-US" sz="1200" b="1" dirty="0">
                <a:latin typeface="Courier"/>
                <a:cs typeface="Courier"/>
              </a:rPr>
              <a:t>{ </a:t>
            </a:r>
            <a:r>
              <a:rPr lang="en-US" sz="1600" b="1" dirty="0">
                <a:latin typeface="Courier"/>
                <a:cs typeface="Courier"/>
              </a:rPr>
              <a:t>PLAIN,</a:t>
            </a:r>
            <a:r>
              <a:rPr lang="en-US" sz="1200" b="1" dirty="0">
                <a:latin typeface="Courier"/>
                <a:cs typeface="Courier"/>
              </a:rPr>
              <a:t>     </a:t>
            </a:r>
            <a:r>
              <a:rPr lang="en-US" sz="1200" b="1" dirty="0">
                <a:latin typeface="Arial Narrow"/>
                <a:cs typeface="Arial Narrow"/>
              </a:rPr>
              <a:t>// </a:t>
            </a:r>
            <a:r>
              <a:rPr lang="en-US" sz="1200" b="1" dirty="0" err="1">
                <a:latin typeface="Arial Narrow"/>
                <a:cs typeface="Arial Narrow"/>
              </a:rPr>
              <a:t>modifyable</a:t>
            </a:r>
            <a:r>
              <a:rPr lang="en-US" sz="1200" b="1" dirty="0">
                <a:latin typeface="Arial Narrow"/>
                <a:cs typeface="Arial Narrow"/>
              </a:rPr>
              <a:t>, dependent or </a:t>
            </a:r>
            <a:r>
              <a:rPr lang="en-US" sz="1200" b="1" dirty="0" err="1">
                <a:latin typeface="Arial Narrow"/>
                <a:cs typeface="Arial Narrow"/>
              </a:rPr>
              <a:t>indep</a:t>
            </a:r>
            <a:r>
              <a:rPr lang="en-US" sz="1200" b="1" dirty="0">
                <a:latin typeface="Arial Narrow"/>
                <a:cs typeface="Arial Narrow"/>
              </a:rPr>
              <a:t>. var. 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INIT_GUESS,</a:t>
            </a:r>
            <a:r>
              <a:rPr lang="en-US" sz="1200" b="1" dirty="0">
                <a:latin typeface="Courier"/>
                <a:cs typeface="Courier"/>
              </a:rPr>
              <a:t>     </a:t>
            </a:r>
            <a:r>
              <a:rPr lang="en-US" sz="1200" b="1" dirty="0">
                <a:latin typeface="Arial Narrow"/>
                <a:cs typeface="Arial Narrow"/>
              </a:rPr>
              <a:t>// convergence oriented not phys. meaningful, not checked 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INIT_COND,</a:t>
            </a:r>
            <a:r>
              <a:rPr lang="en-US" sz="1200" b="1" dirty="0">
                <a:latin typeface="Courier"/>
                <a:cs typeface="Courier"/>
              </a:rPr>
              <a:t>      </a:t>
            </a:r>
            <a:r>
              <a:rPr lang="en-US" sz="1200" b="1" dirty="0">
                <a:latin typeface="Arial Narrow"/>
                <a:cs typeface="Arial Narrow"/>
              </a:rPr>
              <a:t>// physically meaningful initial condition, checked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DIRICH,</a:t>
            </a:r>
            <a:r>
              <a:rPr lang="en-US" sz="1200" b="1" dirty="0">
                <a:latin typeface="Courier"/>
                <a:cs typeface="Courier"/>
              </a:rPr>
              <a:t>          </a:t>
            </a:r>
            <a:r>
              <a:rPr lang="en-US" sz="1200" b="1" dirty="0">
                <a:latin typeface="Arial"/>
                <a:cs typeface="Arial"/>
              </a:rPr>
              <a:t>// </a:t>
            </a:r>
            <a:r>
              <a:rPr lang="en-US" sz="1200" b="1" dirty="0" err="1">
                <a:latin typeface="Arial"/>
                <a:cs typeface="Arial"/>
              </a:rPr>
              <a:t>Dirichlet</a:t>
            </a:r>
            <a:r>
              <a:rPr lang="en-US" sz="1200" b="1" dirty="0">
                <a:latin typeface="Arial"/>
                <a:cs typeface="Arial"/>
              </a:rPr>
              <a:t> boundary condition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NEUMANN,</a:t>
            </a:r>
            <a:r>
              <a:rPr lang="en-US" sz="1200" b="1" dirty="0">
                <a:latin typeface="Courier"/>
                <a:cs typeface="Courier"/>
              </a:rPr>
              <a:t>         </a:t>
            </a:r>
            <a:r>
              <a:rPr lang="en-US" sz="1200" b="1" dirty="0">
                <a:latin typeface="Arial"/>
                <a:cs typeface="Arial"/>
              </a:rPr>
              <a:t>// Neumann boundary condition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CONSTANT_FLUX,</a:t>
            </a:r>
            <a:r>
              <a:rPr lang="en-US" sz="1200" b="1" dirty="0">
                <a:latin typeface="Courier"/>
                <a:cs typeface="Courier"/>
              </a:rPr>
              <a:t> </a:t>
            </a:r>
            <a:r>
              <a:rPr lang="en-US" sz="1200" b="1" dirty="0">
                <a:latin typeface="Arial Narrow"/>
                <a:cs typeface="Arial Narrow"/>
              </a:rPr>
              <a:t>// Neumann is prescribed gradient, this one is for prescribed flux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ROBIN,</a:t>
            </a:r>
            <a:r>
              <a:rPr lang="en-US" sz="1200" b="1" dirty="0">
                <a:latin typeface="Courier"/>
                <a:cs typeface="Courier"/>
              </a:rPr>
              <a:t>            </a:t>
            </a:r>
            <a:r>
              <a:rPr lang="en-US" sz="1200" b="1" dirty="0">
                <a:latin typeface="Arial Narrow"/>
                <a:cs typeface="Arial Narrow"/>
              </a:rPr>
              <a:t>// linear combination function and derivative values on domain boundary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PERIODIC,</a:t>
            </a:r>
            <a:r>
              <a:rPr lang="en-US" sz="1200" b="1" dirty="0">
                <a:latin typeface="Courier"/>
                <a:cs typeface="Courier"/>
              </a:rPr>
              <a:t>        </a:t>
            </a:r>
            <a:r>
              <a:rPr lang="en-US" sz="1200" b="1" dirty="0">
                <a:latin typeface="Arial Narrow"/>
                <a:cs typeface="Arial Narrow"/>
              </a:rPr>
              <a:t>// linked via ID to opposite side of model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FIELD_DATA,</a:t>
            </a:r>
            <a:r>
              <a:rPr lang="en-US" sz="1200" b="1" dirty="0">
                <a:latin typeface="Courier"/>
                <a:cs typeface="Courier"/>
              </a:rPr>
              <a:t>     </a:t>
            </a:r>
            <a:r>
              <a:rPr lang="en-US" sz="1200" b="1" dirty="0">
                <a:latin typeface="Arial Narrow"/>
                <a:cs typeface="Arial Narrow"/>
              </a:rPr>
              <a:t>// (Geological) field data for comparison</a:t>
            </a:r>
          </a:p>
          <a:p>
            <a:r>
              <a:rPr lang="en-US" sz="1200" b="1" dirty="0">
                <a:latin typeface="Courier"/>
                <a:cs typeface="Courier"/>
              </a:rPr>
              <a:t>                     </a:t>
            </a:r>
            <a:r>
              <a:rPr lang="en-US" sz="1600" b="1" dirty="0">
                <a:latin typeface="Courier"/>
                <a:cs typeface="Courier"/>
              </a:rPr>
              <a:t>ANY };</a:t>
            </a:r>
            <a:r>
              <a:rPr lang="en-US" sz="1200" b="1" dirty="0">
                <a:latin typeface="Courier"/>
                <a:cs typeface="Courier"/>
              </a:rPr>
              <a:t>           </a:t>
            </a:r>
            <a:r>
              <a:rPr lang="en-US" sz="1200" b="1" dirty="0">
                <a:latin typeface="Arial"/>
                <a:cs typeface="Arial"/>
              </a:rPr>
              <a:t>// unspecified discriminator</a:t>
            </a:r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4997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C44404F-1A23-5744-A5E8-8D02DE88015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44016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Placement of physical variables on the mesh</a:t>
            </a:r>
            <a:br>
              <a:rPr lang="en-US" dirty="0"/>
            </a:br>
            <a:r>
              <a:rPr lang="en-US" sz="2200" b="1" dirty="0">
                <a:solidFill>
                  <a:schemeClr val="tx1"/>
                </a:solidFill>
              </a:rPr>
              <a:t>FEM inspired options: </a:t>
            </a:r>
            <a:r>
              <a:rPr lang="en-US" sz="2200" dirty="0">
                <a:solidFill>
                  <a:schemeClr val="tx1"/>
                </a:solidFill>
              </a:rPr>
              <a:t>node, element, face, interface, region, boundary, </a:t>
            </a:r>
            <a:r>
              <a:rPr lang="en-US" sz="2200" dirty="0" err="1">
                <a:solidFill>
                  <a:schemeClr val="tx1"/>
                </a:solidFill>
              </a:rPr>
              <a:t>splitboundary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ELEMENT_INTEGRATION_POINT, FACET_INTEGRATION_POINT,  SECTOR_INTEGRATION_POINT.</a:t>
            </a:r>
            <a:b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Node and element are the most important placements.</a:t>
            </a:r>
          </a:p>
        </p:txBody>
      </p:sp>
      <p:pic>
        <p:nvPicPr>
          <p:cNvPr id="33796" name="Picture 3" descr="fi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460"/>
          <a:stretch/>
        </p:blipFill>
        <p:spPr bwMode="auto">
          <a:xfrm>
            <a:off x="762000" y="1916832"/>
            <a:ext cx="7467600" cy="458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4D08-1259-B34A-8611-C6E2C0D282ED}" type="datetime1">
              <a:rPr lang="en-US" smtClean="0"/>
              <a:pPr/>
              <a:t>9/11/21</a:t>
            </a:fld>
            <a:endParaRPr lang="en-US" dirty="0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424075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6F8101-A352-6C4E-B193-A545E9F6E081}" type="slidenum">
              <a:rPr lang="en-US"/>
              <a:pPr/>
              <a:t>21</a:t>
            </a:fld>
            <a:endParaRPr lang="en-US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0" y="384175"/>
            <a:ext cx="8162925" cy="579438"/>
          </a:xfrm>
        </p:spPr>
        <p:txBody>
          <a:bodyPr/>
          <a:lstStyle/>
          <a:p>
            <a:pPr eaLnBrk="1" hangingPunct="1"/>
            <a:r>
              <a:rPr lang="en-US" dirty="0"/>
              <a:t>Variable Placement</a:t>
            </a:r>
            <a:endParaRPr lang="en-GB" dirty="0"/>
          </a:p>
        </p:txBody>
      </p:sp>
      <p:sp>
        <p:nvSpPr>
          <p:cNvPr id="65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3EB163-7FFC-CE42-8552-E2428E248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66824"/>
            <a:ext cx="10963528" cy="35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90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FB2B58-B737-224C-975F-4291EE8F071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27384"/>
            <a:ext cx="8048625" cy="739874"/>
          </a:xfrm>
        </p:spPr>
        <p:txBody>
          <a:bodyPr/>
          <a:lstStyle/>
          <a:p>
            <a:pPr eaLnBrk="1" hangingPunct="1"/>
            <a:r>
              <a:rPr lang="en-US" dirty="0"/>
              <a:t>Variable management: </a:t>
            </a:r>
            <a:r>
              <a:rPr lang="en-US" dirty="0" err="1"/>
              <a:t>PropertyDatabase</a:t>
            </a:r>
            <a:endParaRPr lang="en-US" dirty="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3" y="740941"/>
            <a:ext cx="8053586" cy="2347812"/>
          </a:xfrm>
        </p:spPr>
        <p:txBody>
          <a:bodyPr>
            <a:normAutofit fontScale="77500" lnSpcReduction="20000"/>
          </a:bodyPr>
          <a:lstStyle/>
          <a:p>
            <a:pPr marL="177800" indent="-177800" eaLnBrk="1" hangingPunct="1">
              <a:lnSpc>
                <a:spcPct val="80000"/>
              </a:lnSpc>
              <a:spcAft>
                <a:spcPts val="1500"/>
              </a:spcAft>
            </a:pPr>
            <a:r>
              <a:rPr lang="en-US" sz="2000" dirty="0"/>
              <a:t>Runtime creation / deletion of Parameter classes that contain variable specifications: name, notation, SI unit, type, placement, physically meaningful value range</a:t>
            </a:r>
          </a:p>
          <a:p>
            <a:pPr marL="177800" indent="-177800" eaLnBrk="1" hangingPunct="1">
              <a:lnSpc>
                <a:spcPct val="80000"/>
              </a:lnSpc>
              <a:spcAft>
                <a:spcPts val="1500"/>
              </a:spcAft>
            </a:pPr>
            <a:r>
              <a:rPr lang="en-US" sz="2000" dirty="0"/>
              <a:t>Returns variable Index </a:t>
            </a:r>
            <a:r>
              <a:rPr lang="en-US" sz="2000" dirty="0" err="1"/>
              <a:t>structs</a:t>
            </a:r>
            <a:r>
              <a:rPr lang="en-US" sz="2000" dirty="0"/>
              <a:t> for variable access using Model and Region interfaces; these contain pre-comput</a:t>
            </a:r>
            <a:r>
              <a:rPr lang="en-US" dirty="0"/>
              <a:t>ed offsets for fast lookup</a:t>
            </a:r>
            <a:endParaRPr lang="en-US" sz="2000" dirty="0"/>
          </a:p>
          <a:p>
            <a:pPr marL="177800" indent="-177800" eaLnBrk="1" hangingPunct="1">
              <a:lnSpc>
                <a:spcPct val="80000"/>
              </a:lnSpc>
              <a:spcAft>
                <a:spcPts val="1500"/>
              </a:spcAft>
            </a:pPr>
            <a:r>
              <a:rPr lang="en-US" sz="2000" dirty="0"/>
              <a:t>Initialization from text file or within running program</a:t>
            </a:r>
          </a:p>
          <a:p>
            <a:pPr marL="177800" indent="-177800" eaLnBrk="1" hangingPunct="1">
              <a:lnSpc>
                <a:spcPct val="80000"/>
              </a:lnSpc>
              <a:spcAft>
                <a:spcPts val="1500"/>
              </a:spcAft>
            </a:pPr>
            <a:r>
              <a:rPr lang="en-US" dirty="0"/>
              <a:t>Range checks performed during on all Store() operations</a:t>
            </a:r>
          </a:p>
          <a:p>
            <a:pPr marL="177800" indent="-177800" eaLnBrk="1" hangingPunct="1">
              <a:lnSpc>
                <a:spcPct val="80000"/>
              </a:lnSpc>
              <a:spcAft>
                <a:spcPts val="1500"/>
              </a:spcAft>
            </a:pPr>
            <a:r>
              <a:rPr lang="en-US" dirty="0"/>
              <a:t>V</a:t>
            </a:r>
            <a:r>
              <a:rPr lang="en-US" sz="2000" dirty="0"/>
              <a:t>ariables files </a:t>
            </a:r>
            <a:r>
              <a:rPr lang="en-US" dirty="0"/>
              <a:t>also contain usage classifier to help GUI configurator</a:t>
            </a:r>
            <a:endParaRPr lang="en-US" sz="2000" dirty="0"/>
          </a:p>
        </p:txBody>
      </p:sp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3"/>
          <a:srcRect r="18639"/>
          <a:stretch>
            <a:fillRect/>
          </a:stretch>
        </p:blipFill>
        <p:spPr bwMode="auto">
          <a:xfrm>
            <a:off x="187325" y="3212976"/>
            <a:ext cx="8793163" cy="272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A6DC-D10B-1E45-93B2-06FF8420853A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0181" y="2708920"/>
            <a:ext cx="8002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rial"/>
                <a:cs typeface="Arial"/>
              </a:rPr>
              <a:t>example ‘*-</a:t>
            </a:r>
            <a:r>
              <a:rPr lang="en-US" sz="2000" i="1" dirty="0" err="1">
                <a:latin typeface="Arial"/>
                <a:cs typeface="Arial"/>
              </a:rPr>
              <a:t>variables.txt</a:t>
            </a:r>
            <a:r>
              <a:rPr lang="en-US" sz="2000" i="1" dirty="0">
                <a:latin typeface="Arial"/>
                <a:cs typeface="Arial"/>
              </a:rPr>
              <a:t>’ file for pressure diffusion / single-phase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127" y="6002124"/>
            <a:ext cx="8661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Notes: Names, types and placements of incoming variables must match specs stored in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PropertyDatabase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Neither the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PropertyDatabase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nor the variables file do store actual variable values. </a:t>
            </a:r>
          </a:p>
        </p:txBody>
      </p:sp>
      <p:sp>
        <p:nvSpPr>
          <p:cNvPr id="10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177721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16024"/>
            <a:ext cx="9001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a CSMP model from </a:t>
            </a:r>
            <a:r>
              <a:rPr lang="en-US" dirty="0" err="1"/>
              <a:t>VSet</a:t>
            </a:r>
            <a:r>
              <a:rPr lang="en-US" dirty="0"/>
              <a:t> &amp; </a:t>
            </a:r>
            <a:r>
              <a:rPr lang="en-US" dirty="0" err="1"/>
              <a:t>ModelTopology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0424"/>
            <a:ext cx="8229600" cy="858415"/>
          </a:xfrm>
        </p:spPr>
        <p:txBody>
          <a:bodyPr>
            <a:normAutofit/>
          </a:bodyPr>
          <a:lstStyle/>
          <a:p>
            <a:r>
              <a:rPr lang="en-US" dirty="0"/>
              <a:t>The full example (</a:t>
            </a:r>
            <a:r>
              <a:rPr lang="en-US" dirty="0" err="1"/>
              <a:t>paradigm_example_main.cpp</a:t>
            </a:r>
            <a:r>
              <a:rPr lang="en-US" dirty="0"/>
              <a:t>) also explains the </a:t>
            </a:r>
            <a:r>
              <a:rPr lang="en-US" dirty="0" err="1"/>
              <a:t>VSet</a:t>
            </a:r>
            <a:r>
              <a:rPr lang="en-US" dirty="0"/>
              <a:t> creation steps.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15" y="2061423"/>
            <a:ext cx="880381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 err="1">
                <a:solidFill>
                  <a:srgbClr val="19365E"/>
                </a:solidFill>
                <a:latin typeface="Courier"/>
                <a:ea typeface="Courier"/>
                <a:cs typeface="Courier"/>
              </a:rPr>
              <a:t>VSet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&lt;</a:t>
            </a:r>
            <a:r>
              <a:rPr lang="en-US" sz="1600" b="1" dirty="0">
                <a:solidFill>
                  <a:srgbClr val="2629D9"/>
                </a:solidFill>
                <a:latin typeface="Courier"/>
                <a:ea typeface="Courier"/>
                <a:cs typeface="Courier"/>
              </a:rPr>
              <a:t>3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U&gt;   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mesh_container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// fill </a:t>
            </a:r>
            <a:r>
              <a:rPr lang="en-US" sz="1600" b="1" dirty="0" err="1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VSet</a:t>
            </a:r>
            <a:r>
              <a:rPr lang="en-US" sz="1600" b="1" dirty="0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 with data…</a:t>
            </a:r>
          </a:p>
          <a:p>
            <a:endParaRPr lang="en-US" sz="1600" b="1" dirty="0">
              <a:solidFill>
                <a:srgbClr val="000000"/>
              </a:solidFill>
              <a:latin typeface="Courier"/>
              <a:ea typeface="Courier"/>
              <a:cs typeface="Courier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6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bool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use_isoparametric_finite_elements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</a:t>
            </a:r>
            <a:r>
              <a:rPr lang="en-US" sz="16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true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);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 err="1">
                <a:solidFill>
                  <a:srgbClr val="19365E"/>
                </a:solidFill>
                <a:latin typeface="Courier"/>
                <a:ea typeface="Courier"/>
                <a:cs typeface="Courier"/>
              </a:rPr>
              <a:t>ModelTopology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model_topology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</a:t>
            </a:r>
            <a:r>
              <a:rPr lang="en-US" sz="1600" b="1" dirty="0">
                <a:solidFill>
                  <a:srgbClr val="848687"/>
                </a:solidFill>
                <a:latin typeface="Courier"/>
                <a:ea typeface="Courier"/>
                <a:cs typeface="Courier"/>
              </a:rPr>
              <a:t>"paradigm-test-model"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,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                          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use_isoparametric_finite_elements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);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// fill </a:t>
            </a:r>
            <a:r>
              <a:rPr lang="en-US" sz="1600" b="1" dirty="0" err="1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ModelTopology</a:t>
            </a:r>
            <a:r>
              <a:rPr lang="en-US" sz="1600" b="1" dirty="0">
                <a:solidFill>
                  <a:srgbClr val="FF0066"/>
                </a:solidFill>
                <a:latin typeface="Courier"/>
                <a:ea typeface="Courier"/>
                <a:cs typeface="Courier"/>
              </a:rPr>
              <a:t> with data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>
                <a:solidFill>
                  <a:srgbClr val="19365E"/>
                </a:solidFill>
                <a:latin typeface="Courier"/>
                <a:ea typeface="Courier"/>
                <a:cs typeface="Courier"/>
              </a:rPr>
              <a:t>Model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&lt;</a:t>
            </a:r>
            <a:r>
              <a:rPr lang="en-US" sz="1600" b="1" dirty="0">
                <a:solidFill>
                  <a:srgbClr val="2629D9"/>
                </a:solidFill>
                <a:latin typeface="Courier"/>
                <a:ea typeface="Courier"/>
                <a:cs typeface="Courier"/>
              </a:rPr>
              <a:t>3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U&gt;  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example_model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model_topology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,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                         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mesh_container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,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                            </a:t>
            </a:r>
            <a:r>
              <a:rPr lang="en-US" sz="1600" b="1" dirty="0">
                <a:solidFill>
                  <a:srgbClr val="848687"/>
                </a:solidFill>
                <a:latin typeface="Courier"/>
                <a:ea typeface="Courier"/>
                <a:cs typeface="Courier"/>
              </a:rPr>
              <a:t>"CSMP2-phase-variables.txt"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);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>
                <a:solidFill>
                  <a:srgbClr val="FD2F00"/>
                </a:solidFill>
                <a:latin typeface="Courier"/>
                <a:ea typeface="Courier"/>
                <a:cs typeface="Courier"/>
              </a:rPr>
              <a:t>// output a variable from the model to an </a:t>
            </a:r>
            <a:r>
              <a:rPr lang="en-US" sz="1600" b="1" dirty="0" err="1">
                <a:solidFill>
                  <a:srgbClr val="FD2F00"/>
                </a:solidFill>
                <a:latin typeface="Courier"/>
                <a:ea typeface="Courier"/>
                <a:cs typeface="Courier"/>
              </a:rPr>
              <a:t>FEM_Data</a:t>
            </a:r>
            <a:r>
              <a:rPr lang="en-US" sz="1600" b="1" dirty="0">
                <a:solidFill>
                  <a:srgbClr val="FD2F00"/>
                </a:solidFill>
                <a:latin typeface="Courier"/>
                <a:ea typeface="Courier"/>
                <a:cs typeface="Courier"/>
              </a:rPr>
              <a:t> container</a:t>
            </a:r>
            <a:endParaRPr lang="en-US" sz="1600" b="1" dirty="0">
              <a:solidFill>
                <a:srgbClr val="000000"/>
              </a:solidFill>
              <a:latin typeface="Courier"/>
              <a:ea typeface="Courier"/>
              <a:cs typeface="Courier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 err="1">
                <a:solidFill>
                  <a:srgbClr val="19365E"/>
                </a:solidFill>
                <a:latin typeface="Courier"/>
                <a:ea typeface="Courier"/>
                <a:cs typeface="Courier"/>
              </a:rPr>
              <a:t>FEM_Data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&lt;</a:t>
            </a:r>
            <a:r>
              <a:rPr lang="en-US" sz="1600" b="1" dirty="0" err="1">
                <a:solidFill>
                  <a:srgbClr val="19365E"/>
                </a:solidFill>
                <a:latin typeface="Courier"/>
                <a:ea typeface="Courier"/>
                <a:cs typeface="Courier"/>
              </a:rPr>
              <a:t>ScalarVariable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&gt;  saturation0;</a:t>
            </a:r>
          </a:p>
          <a:p>
            <a:endParaRPr lang="en-US" sz="1600" b="1" dirty="0">
              <a:solidFill>
                <a:srgbClr val="000000"/>
              </a:solidFill>
              <a:latin typeface="Courier"/>
              <a:ea typeface="Courier"/>
              <a:cs typeface="Courier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example_model.</a:t>
            </a:r>
            <a:r>
              <a:rPr lang="en-US" sz="1600" b="1" dirty="0" err="1">
                <a:solidFill>
                  <a:srgbClr val="31595D"/>
                </a:solidFill>
                <a:latin typeface="Courier"/>
                <a:ea typeface="Courier"/>
                <a:cs typeface="Courier"/>
              </a:rPr>
              <a:t>OutputVariableTo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</a:t>
            </a:r>
            <a:r>
              <a:rPr lang="en-US" sz="1600" b="1" dirty="0">
                <a:solidFill>
                  <a:srgbClr val="848687"/>
                </a:solidFill>
                <a:latin typeface="Courier"/>
                <a:ea typeface="Courier"/>
                <a:cs typeface="Courier"/>
              </a:rPr>
              <a:t>"saturation oil"</a:t>
            </a:r>
            <a:r>
              <a:rPr lang="en-US" sz="16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, saturation0 );</a:t>
            </a:r>
            <a:endParaRPr lang="en-US" sz="1600" dirty="0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4278073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498376"/>
          </a:xfrm>
        </p:spPr>
        <p:txBody>
          <a:bodyPr/>
          <a:lstStyle/>
          <a:p>
            <a:r>
              <a:rPr lang="en-US" dirty="0"/>
              <a:t>Can be communicated to CSMP via a </a:t>
            </a:r>
            <a:r>
              <a:rPr lang="en-US" dirty="0" err="1"/>
              <a:t>ComputationalSettings</a:t>
            </a:r>
            <a:r>
              <a:rPr lang="en-US" dirty="0"/>
              <a:t> block in config file, which is used to </a:t>
            </a:r>
            <a:r>
              <a:rPr lang="en-US" dirty="0" err="1"/>
              <a:t>initialise</a:t>
            </a:r>
            <a:r>
              <a:rPr lang="en-US" dirty="0"/>
              <a:t> this object: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99592" y="1772816"/>
            <a:ext cx="7726419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ComputationalSettings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{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400" b="1" dirty="0">
                <a:solidFill>
                  <a:srgbClr val="0000FF"/>
                </a:solidFill>
                <a:latin typeface="Courier"/>
                <a:ea typeface="Courier"/>
                <a:cs typeface="Courier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:</a:t>
            </a:r>
          </a:p>
          <a:p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void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SetOutputTi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mes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(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std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: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:set&lt;dou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ble64&gt;&amp; times );</a:t>
            </a:r>
            <a:endParaRPr lang="en-US" sz="1400" b="1" dirty="0">
              <a:solidFill>
                <a:srgbClr val="1321B9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void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AddOutputTime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( do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uble64 time );</a:t>
            </a:r>
            <a:endParaRPr lang="en-US" sz="1400" b="1" dirty="0">
              <a:solidFill>
                <a:srgbClr val="1321B9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bool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IsOutputTime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(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double6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4 time,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double64 tole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rance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)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double64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TimeToNearestOutputTime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double64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curre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nt_ti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me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)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</a:t>
            </a:r>
            <a:r>
              <a:rPr lang="en-US" sz="1400" b="1" dirty="0" err="1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onst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double64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NearestOutputTime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double64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curr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ent_t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ime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)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void     </a:t>
            </a:r>
            <a:r>
              <a:rPr lang="en-US" sz="1400" b="1" dirty="0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Duration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double64 dur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ation );</a:t>
            </a:r>
            <a:endParaRPr lang="en-US" sz="1400" b="1" dirty="0">
              <a:solidFill>
                <a:srgbClr val="000000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void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TimeSteppingApproach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TIME_STRATEGY </a:t>
            </a:r>
            <a:r>
              <a:rPr lang="en-US" sz="1400" b="1" dirty="0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approach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 );</a:t>
            </a:r>
          </a:p>
          <a:p>
            <a:endParaRPr lang="en-US" sz="1400" b="1" dirty="0">
              <a:solidFill>
                <a:srgbClr val="006613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TIME_STRATEGY  </a:t>
            </a:r>
            <a:r>
              <a:rPr lang="en-US" sz="16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TimeSteppingApproach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()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con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st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void       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TimeIncrement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( doubl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e64 );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double64   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T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imeIncremen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t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()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void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EstablishMultipliers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 double64&amp;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pf_multiplier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,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   </a:t>
            </a:r>
            <a:r>
              <a:rPr lang="en-US" sz="1400" b="1" dirty="0">
                <a:solidFill>
                  <a:srgbClr val="006613"/>
                </a:solidFill>
                <a:latin typeface="Courier"/>
                <a:ea typeface="Courier"/>
                <a:cs typeface="Courier"/>
              </a:rPr>
              <a:t>      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           doub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le64&amp;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adv_mu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ltiplier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) 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endParaRPr lang="en-US" sz="1400" b="1" dirty="0">
              <a:solidFill>
                <a:srgbClr val="000000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FD2F00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</a:t>
            </a:r>
            <a:r>
              <a:rPr lang="en-US" sz="1400" b="1" dirty="0">
                <a:solidFill>
                  <a:srgbClr val="FF0000"/>
                </a:solidFill>
                <a:latin typeface="Courier"/>
                <a:ea typeface="Courier"/>
                <a:cs typeface="Courier"/>
              </a:rPr>
              <a:t>// step through output times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double64  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    </a:t>
            </a:r>
            <a:r>
              <a:rPr lang="en-US" sz="1400" b="1" dirty="0" err="1">
                <a:solidFill>
                  <a:srgbClr val="0D0D0D"/>
                </a:solidFill>
                <a:latin typeface="Courier"/>
                <a:ea typeface="Courier"/>
                <a:cs typeface="Courier"/>
              </a:rPr>
              <a:t>PopOutputTime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();</a:t>
            </a:r>
            <a:endParaRPr lang="en-US" sz="1400" b="1" dirty="0">
              <a:solidFill>
                <a:srgbClr val="1321B9"/>
              </a:solidFill>
              <a:latin typeface="Courier"/>
              <a:ea typeface="Courier"/>
              <a:cs typeface="Courier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virtua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l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 voi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d   Out(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) 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con</a:t>
            </a:r>
            <a:r>
              <a:rPr lang="en-US" sz="1400" b="1" dirty="0" err="1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s</a:t>
            </a:r>
            <a:r>
              <a:rPr lang="en-US" sz="1400" b="1" dirty="0" err="1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t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;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   </a:t>
            </a:r>
            <a:r>
              <a:rPr lang="en-US" sz="1400" b="1" dirty="0">
                <a:solidFill>
                  <a:srgbClr val="000090"/>
                </a:solidFill>
                <a:latin typeface="Courier"/>
                <a:ea typeface="Courier"/>
                <a:cs typeface="Courier"/>
              </a:rPr>
              <a:t>virtual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v</a:t>
            </a:r>
            <a:r>
              <a:rPr lang="en-US" sz="1400" b="1" dirty="0">
                <a:solidFill>
                  <a:srgbClr val="1321B9"/>
                </a:solidFill>
                <a:latin typeface="Courier"/>
                <a:ea typeface="Courier"/>
                <a:cs typeface="Courier"/>
              </a:rPr>
              <a:t>oid  </a:t>
            </a:r>
            <a:r>
              <a:rPr lang="en-US" sz="1400" b="1" dirty="0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 O</a:t>
            </a:r>
            <a:r>
              <a:rPr lang="en-US" sz="1400" b="1" dirty="0">
                <a:latin typeface="Courier"/>
                <a:cs typeface="Courier"/>
              </a:rPr>
              <a:t>ut( </a:t>
            </a:r>
            <a:r>
              <a:rPr lang="en-US" sz="1400" b="1" dirty="0" err="1">
                <a:latin typeface="Courier"/>
                <a:cs typeface="Courier"/>
              </a:rPr>
              <a:t>const</a:t>
            </a:r>
            <a:r>
              <a:rPr lang="en-US" sz="1400" b="1" dirty="0">
                <a:latin typeface="Courier"/>
                <a:cs typeface="Courier"/>
              </a:rPr>
              <a:t> char* filename ) </a:t>
            </a:r>
            <a:r>
              <a:rPr lang="en-US" sz="1400" b="1" dirty="0" err="1">
                <a:latin typeface="Courier"/>
                <a:cs typeface="Courier"/>
              </a:rPr>
              <a:t>const</a:t>
            </a:r>
            <a:r>
              <a:rPr lang="en-US" sz="1400" b="1" dirty="0">
                <a:latin typeface="Courier"/>
                <a:cs typeface="Courier"/>
              </a:rPr>
              <a:t>;</a:t>
            </a:r>
          </a:p>
          <a:p>
            <a:endParaRPr lang="en-US" sz="1400" dirty="0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578947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3. Region-, BOUNDARY- AND SPLITBOUNDARY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689025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336"/>
            <a:ext cx="8229600" cy="914400"/>
          </a:xfrm>
        </p:spPr>
        <p:txBody>
          <a:bodyPr/>
          <a:lstStyle/>
          <a:p>
            <a:r>
              <a:rPr lang="en-US" dirty="0"/>
              <a:t>Content of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565"/>
            <a:ext cx="8229600" cy="5211763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Storage of mesh and associated variables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Model sub-domains called Regions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Mesh representation of faults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Boundary &amp; </a:t>
            </a:r>
            <a:r>
              <a:rPr lang="en-US" sz="2400" dirty="0" err="1"/>
              <a:t>SplitBoundary</a:t>
            </a:r>
            <a:r>
              <a:rPr lang="en-US" sz="2400" dirty="0"/>
              <a:t> objects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Hybrid finite-element finite-volume framework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Finite-element types supported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Finite-element finite-volume stencils 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CSMP conventions: variable types, flags, placements..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Interfacing: content</a:t>
            </a:r>
          </a:p>
        </p:txBody>
      </p:sp>
    </p:spTree>
    <p:extLst>
      <p:ext uri="{BB962C8B-B14F-4D97-AF65-F5344CB8AC3E}">
        <p14:creationId xmlns:p14="http://schemas.microsoft.com/office/powerpoint/2010/main" val="4204958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DA301E-4428-0E4D-BACC-3BDEE103960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4624"/>
            <a:ext cx="8784976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Geologically motivated data model: 						Model, Regions, Boundaries and </a:t>
            </a:r>
            <a:r>
              <a:rPr lang="en-US" dirty="0" err="1"/>
              <a:t>SplitBoundaries</a:t>
            </a:r>
            <a:endParaRPr lang="en-US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0728"/>
            <a:ext cx="8229600" cy="4906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/>
              <a:t>In CSMP, the </a:t>
            </a:r>
            <a:r>
              <a:rPr lang="en-US" sz="1800" b="1" dirty="0"/>
              <a:t>Model </a:t>
            </a:r>
            <a:r>
              <a:rPr lang="en-US" sz="1800" dirty="0"/>
              <a:t>represents the computational domain composed of </a:t>
            </a:r>
            <a:r>
              <a:rPr lang="en-US" sz="1800" i="1" dirty="0"/>
              <a:t>contiguous</a:t>
            </a:r>
            <a:r>
              <a:rPr lang="en-US" sz="1800" dirty="0"/>
              <a:t> and </a:t>
            </a:r>
            <a:r>
              <a:rPr lang="en-US" sz="1800" i="1" dirty="0" err="1"/>
              <a:t>discontiguous</a:t>
            </a:r>
            <a:r>
              <a:rPr lang="en-US" sz="1800" i="1" dirty="0"/>
              <a:t> </a:t>
            </a:r>
            <a:r>
              <a:rPr lang="en-US" sz="1800" dirty="0"/>
              <a:t>subdomains called </a:t>
            </a:r>
            <a:r>
              <a:rPr lang="en-US" sz="1800" b="1" dirty="0"/>
              <a:t>Regions</a:t>
            </a:r>
          </a:p>
          <a:p>
            <a:pPr eaLnBrk="1" hangingPunct="1"/>
            <a:r>
              <a:rPr lang="en-US" sz="1800" b="1" dirty="0" err="1"/>
              <a:t>Boundary</a:t>
            </a:r>
            <a:r>
              <a:rPr lang="en-US" sz="1800" dirty="0" err="1"/>
              <a:t>s</a:t>
            </a:r>
            <a:r>
              <a:rPr lang="en-US" sz="1800" b="1" dirty="0"/>
              <a:t> </a:t>
            </a:r>
            <a:r>
              <a:rPr lang="en-US" sz="1800" dirty="0"/>
              <a:t>(=dim-1 regions) can be inserted externally and internally</a:t>
            </a:r>
          </a:p>
          <a:p>
            <a:r>
              <a:rPr lang="en-US" sz="1800" b="1" dirty="0" err="1"/>
              <a:t>SplitBoundary</a:t>
            </a:r>
            <a:r>
              <a:rPr lang="en-US" sz="1800" dirty="0" err="1"/>
              <a:t>s</a:t>
            </a:r>
            <a:r>
              <a:rPr lang="en-US" sz="1800" b="1" dirty="0"/>
              <a:t> </a:t>
            </a:r>
            <a:r>
              <a:rPr lang="en-US" sz="1800" dirty="0"/>
              <a:t>can only be inserted internally</a:t>
            </a:r>
          </a:p>
          <a:p>
            <a:pPr eaLnBrk="1" hangingPunct="1"/>
            <a:r>
              <a:rPr lang="en-US" sz="1800" dirty="0"/>
              <a:t>Note1: smallest building block of any model is the </a:t>
            </a:r>
            <a:r>
              <a:rPr lang="en-US" sz="1800" b="1" dirty="0"/>
              <a:t>Element</a:t>
            </a:r>
          </a:p>
          <a:p>
            <a:pPr eaLnBrk="1" hangingPunct="1"/>
            <a:r>
              <a:rPr lang="en-US" sz="1800" dirty="0"/>
              <a:t>Note2: regions can be unique (space exclusive) or non-unique (=overlapping)</a:t>
            </a:r>
          </a:p>
        </p:txBody>
      </p:sp>
      <p:pic>
        <p:nvPicPr>
          <p:cNvPr id="23557" name="Picture 4" descr="Picture1"/>
          <p:cNvPicPr>
            <a:picLocks noChangeAspect="1" noChangeArrowheads="1"/>
          </p:cNvPicPr>
          <p:nvPr/>
        </p:nvPicPr>
        <p:blipFill>
          <a:blip r:embed="rId3"/>
          <a:srcRect b="43333"/>
          <a:stretch>
            <a:fillRect/>
          </a:stretch>
        </p:blipFill>
        <p:spPr bwMode="auto">
          <a:xfrm>
            <a:off x="1600200" y="3823330"/>
            <a:ext cx="6553200" cy="2785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C800-6FE3-E34E-A71E-D5D64123CB00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57600" y="4932040"/>
            <a:ext cx="838200" cy="1219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32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32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413900" y="5966574"/>
            <a:ext cx="3605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Non-unique Region “Alteration halo”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8337" y="4365104"/>
            <a:ext cx="99743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8" y="4509120"/>
            <a:ext cx="99743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Region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8199" y="3717032"/>
            <a:ext cx="1457657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Arial"/>
                <a:cs typeface="Arial"/>
              </a:rPr>
              <a:t>Model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847" y="3820978"/>
            <a:ext cx="99743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Region 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2169096" y="5517232"/>
            <a:ext cx="0" cy="7200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9592" y="6023029"/>
            <a:ext cx="1671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Boundary “Model-LEFT”</a:t>
            </a:r>
          </a:p>
        </p:txBody>
      </p:sp>
      <p:sp>
        <p:nvSpPr>
          <p:cNvPr id="16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3829149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F374FF-17B9-B341-BA7E-FE6C0CD1779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64319" y="44624"/>
            <a:ext cx="8212137" cy="1068020"/>
          </a:xfrm>
        </p:spPr>
        <p:txBody>
          <a:bodyPr>
            <a:normAutofit/>
          </a:bodyPr>
          <a:lstStyle/>
          <a:p>
            <a:r>
              <a:rPr lang="en-US" dirty="0"/>
              <a:t>Within model subdomains: distinguishing </a:t>
            </a:r>
            <a:br>
              <a:rPr lang="en-US" dirty="0"/>
            </a:br>
            <a:r>
              <a:rPr lang="en-US" dirty="0"/>
              <a:t>			interior, perimeter,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478" y="5736849"/>
            <a:ext cx="867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/>
                <a:cs typeface="Arial"/>
              </a:rPr>
              <a:t>Boolean operations </a:t>
            </a:r>
            <a:r>
              <a:rPr lang="en-US" dirty="0">
                <a:latin typeface="Arial"/>
                <a:cs typeface="Arial"/>
              </a:rPr>
              <a:t>union, difference, intersection </a:t>
            </a:r>
            <a:r>
              <a:rPr lang="en-US" i="1" dirty="0">
                <a:latin typeface="Arial"/>
                <a:cs typeface="Arial"/>
              </a:rPr>
              <a:t>involving Regions are supported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E79-C0BD-104D-AD6B-A4EF23583D19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13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69381-5456-A84B-BAE2-F92203E5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50" y="1416050"/>
            <a:ext cx="63119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96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0040"/>
            <a:ext cx="8229600" cy="1124744"/>
          </a:xfrm>
        </p:spPr>
        <p:txBody>
          <a:bodyPr>
            <a:normAutofit fontScale="90000"/>
          </a:bodyPr>
          <a:lstStyle/>
          <a:p>
            <a:r>
              <a:rPr lang="en-US" dirty="0"/>
              <a:t>Lower-dimensional Regions = Boundaries: </a:t>
            </a:r>
            <a:r>
              <a:rPr lang="en-US" sz="2700" dirty="0">
                <a:solidFill>
                  <a:schemeClr val="tx1"/>
                </a:solidFill>
              </a:rPr>
              <a:t>Assignment of boundary conditions via configuration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7941"/>
            <a:ext cx="8229600" cy="48574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addition of Boundary and </a:t>
            </a:r>
            <a:r>
              <a:rPr lang="en-US" dirty="0" err="1"/>
              <a:t>SplitBoundary</a:t>
            </a:r>
            <a:r>
              <a:rPr lang="en-US" dirty="0"/>
              <a:t> objects into CSMP has necessitated a change in the “*-</a:t>
            </a:r>
            <a:r>
              <a:rPr lang="en-US" dirty="0" err="1"/>
              <a:t>configuration.txt</a:t>
            </a:r>
            <a:r>
              <a:rPr lang="en-US" dirty="0"/>
              <a:t>” file structure:</a:t>
            </a:r>
          </a:p>
          <a:p>
            <a:pPr marL="0" indent="0">
              <a:buNone/>
            </a:pPr>
            <a:r>
              <a:rPr lang="en-US" dirty="0"/>
              <a:t>1. properties and variable values for entire model (defaults)</a:t>
            </a:r>
          </a:p>
          <a:p>
            <a:pPr marL="0" indent="0">
              <a:buNone/>
            </a:pPr>
            <a:r>
              <a:rPr lang="en-US" dirty="0"/>
              <a:t>2. regional properties and variable values specific to regions</a:t>
            </a:r>
          </a:p>
          <a:p>
            <a:pPr marL="0" indent="0">
              <a:buNone/>
            </a:pPr>
            <a:r>
              <a:rPr lang="en-US" dirty="0"/>
              <a:t>3. regional variable flags specific to regions</a:t>
            </a:r>
          </a:p>
          <a:p>
            <a:pPr lvl="1"/>
            <a:r>
              <a:rPr lang="en-US" dirty="0"/>
              <a:t>For instance, to freeze variable values in a region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4. essential conditions applied to </a:t>
            </a:r>
            <a:r>
              <a:rPr lang="en-US" dirty="0" err="1"/>
              <a:t>boundarys</a:t>
            </a:r>
            <a:r>
              <a:rPr lang="en-US" dirty="0"/>
              <a:t>; syntax:</a:t>
            </a:r>
          </a:p>
          <a:p>
            <a:pPr marL="457200" lvl="1" indent="0">
              <a:buNone/>
            </a:pPr>
            <a:r>
              <a:rPr lang="en-US" b="1" dirty="0">
                <a:latin typeface="Courier"/>
                <a:cs typeface="Courier"/>
              </a:rPr>
              <a:t>	</a:t>
            </a:r>
            <a:r>
              <a:rPr lang="en-US" sz="1700" b="1" dirty="0">
                <a:latin typeface="Courier"/>
                <a:cs typeface="Courier"/>
              </a:rPr>
              <a:t>BOTTOM		complete	</a:t>
            </a:r>
            <a:r>
              <a:rPr lang="en-US" sz="1700" b="1" dirty="0" err="1">
                <a:latin typeface="Courier"/>
                <a:cs typeface="Courier"/>
              </a:rPr>
              <a:t>Dirichlet</a:t>
            </a:r>
            <a:r>
              <a:rPr lang="en-US" sz="1700" b="1" dirty="0">
                <a:latin typeface="Courier"/>
                <a:cs typeface="Courier"/>
              </a:rPr>
              <a:t>	fluid pressure	4.0e+8	</a:t>
            </a:r>
          </a:p>
          <a:p>
            <a:pPr marL="457200" lvl="1" indent="0">
              <a:buNone/>
            </a:pPr>
            <a:r>
              <a:rPr lang="en-US" sz="1700" b="1" dirty="0">
                <a:latin typeface="Courier"/>
                <a:cs typeface="Courier"/>
              </a:rPr>
              <a:t>	LEFT		complete	</a:t>
            </a:r>
            <a:r>
              <a:rPr lang="en-US" sz="1700" b="1" dirty="0" err="1">
                <a:latin typeface="Courier"/>
                <a:cs typeface="Courier"/>
              </a:rPr>
              <a:t>Dirichlet</a:t>
            </a:r>
            <a:r>
              <a:rPr lang="en-US" sz="1700" b="1" dirty="0">
                <a:latin typeface="Courier"/>
                <a:cs typeface="Courier"/>
              </a:rPr>
              <a:t>	saturation water	0.22</a:t>
            </a:r>
          </a:p>
          <a:p>
            <a:pPr marL="457200" lvl="1" indent="0">
              <a:buNone/>
            </a:pPr>
            <a:r>
              <a:rPr lang="en-US" sz="1700" b="1" dirty="0">
                <a:latin typeface="Courier"/>
                <a:cs typeface="Courier"/>
              </a:rPr>
              <a:t>	LEFT		complete	</a:t>
            </a:r>
            <a:r>
              <a:rPr lang="en-US" sz="1700" b="1" dirty="0" err="1">
                <a:latin typeface="Courier"/>
                <a:cs typeface="Courier"/>
              </a:rPr>
              <a:t>Dirichlet</a:t>
            </a:r>
            <a:r>
              <a:rPr lang="en-US" sz="1700" b="1" dirty="0">
                <a:latin typeface="Courier"/>
                <a:cs typeface="Courier"/>
              </a:rPr>
              <a:t>	saturation oil		0.78</a:t>
            </a:r>
            <a:r>
              <a:rPr lang="en-US" b="1" dirty="0">
                <a:latin typeface="Courier"/>
                <a:cs typeface="Courier"/>
              </a:rPr>
              <a:t>	</a:t>
            </a:r>
          </a:p>
          <a:p>
            <a:pPr marL="0" indent="0">
              <a:buNone/>
            </a:pPr>
            <a:r>
              <a:rPr lang="en-US" dirty="0"/>
              <a:t>5. computational settings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2133600" cy="365125"/>
          </a:xfrm>
        </p:spPr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355486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336"/>
            <a:ext cx="8229600" cy="914400"/>
          </a:xfrm>
        </p:spPr>
        <p:txBody>
          <a:bodyPr/>
          <a:lstStyle/>
          <a:p>
            <a:r>
              <a:rPr lang="en-US" dirty="0"/>
              <a:t>Content of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565"/>
            <a:ext cx="8229600" cy="5211763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Storage of mesh and associated variables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b="1" dirty="0"/>
              <a:t>Model sub-domains called Regions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b="1" dirty="0"/>
              <a:t>Mesh representation of faults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Boundary &amp; </a:t>
            </a:r>
            <a:r>
              <a:rPr lang="en-US" sz="2400" dirty="0" err="1"/>
              <a:t>SplitBoundary</a:t>
            </a:r>
            <a:r>
              <a:rPr lang="en-US" sz="2400" dirty="0"/>
              <a:t> objects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Hybrid finite-element finite-volume framework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Finite-element types supported</a:t>
            </a:r>
          </a:p>
          <a:p>
            <a:pPr marL="857250" lvl="1" indent="-457200">
              <a:spcAft>
                <a:spcPts val="1500"/>
              </a:spcAft>
            </a:pPr>
            <a:r>
              <a:rPr lang="en-US" sz="2400" dirty="0"/>
              <a:t>Finite-element finite-volume stencils </a:t>
            </a:r>
          </a:p>
          <a:p>
            <a:pPr marL="457200" indent="-457200">
              <a:spcAft>
                <a:spcPts val="1500"/>
              </a:spcAft>
              <a:buFont typeface="+mj-lt"/>
              <a:buAutoNum type="arabicPeriod"/>
            </a:pPr>
            <a:r>
              <a:rPr lang="en-US" sz="2400" dirty="0"/>
              <a:t>CSMP conventions: variable types, flags, placements..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Interfacing: content</a:t>
            </a:r>
          </a:p>
        </p:txBody>
      </p:sp>
    </p:spTree>
    <p:extLst>
      <p:ext uri="{BB962C8B-B14F-4D97-AF65-F5344CB8AC3E}">
        <p14:creationId xmlns:p14="http://schemas.microsoft.com/office/powerpoint/2010/main" val="4168000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Completely impermeable faults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506488"/>
          </a:xfrm>
        </p:spPr>
        <p:txBody>
          <a:bodyPr>
            <a:normAutofit/>
          </a:bodyPr>
          <a:lstStyle/>
          <a:p>
            <a:r>
              <a:rPr lang="en-US" sz="1800" b="1" dirty="0"/>
              <a:t>Disconnected mesh (</a:t>
            </a:r>
            <a:r>
              <a:rPr lang="en-US" sz="1800" b="1" dirty="0" err="1"/>
              <a:t>SplitBoundary</a:t>
            </a:r>
            <a:r>
              <a:rPr lang="en-US" sz="1800" b="1" dirty="0"/>
              <a:t>)</a:t>
            </a:r>
            <a:r>
              <a:rPr lang="en-US" sz="1800" dirty="0"/>
              <a:t>: Faults that form flow impediments are represented as internal boundaries: nodes are not matched across these and the extra degrees of freedom gained by this are used to </a:t>
            </a:r>
            <a:r>
              <a:rPr lang="en-US" sz="1800" dirty="0" err="1"/>
              <a:t>optimise</a:t>
            </a:r>
            <a:r>
              <a:rPr lang="en-US" sz="1800" dirty="0"/>
              <a:t> the mesh on on either side.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9" name="Picture 11"/>
          <p:cNvPicPr>
            <a:picLocks noChangeAspect="1"/>
          </p:cNvPicPr>
          <p:nvPr/>
        </p:nvPicPr>
        <p:blipFill>
          <a:blip r:embed="rId2">
            <a:clrChange>
              <a:clrFrom>
                <a:srgbClr val="040004"/>
              </a:clrFrom>
              <a:clrTo>
                <a:srgbClr val="04000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35696" y="2204864"/>
            <a:ext cx="5472608" cy="3768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115616" y="6093296"/>
            <a:ext cx="7290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Note: this approach is similar to the structured grid one currently used in oil industry.</a:t>
            </a:r>
          </a:p>
        </p:txBody>
      </p:sp>
      <p:sp>
        <p:nvSpPr>
          <p:cNvPr id="11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520179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Highly permeable faults and fractures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Surface mesh (</a:t>
            </a:r>
            <a:r>
              <a:rPr lang="en-US" b="1" dirty="0"/>
              <a:t>Region</a:t>
            </a:r>
            <a:r>
              <a:rPr lang="en-US" dirty="0"/>
              <a:t> or </a:t>
            </a:r>
            <a:r>
              <a:rPr lang="en-US" b="1" dirty="0" err="1"/>
              <a:t>SplitBoundary</a:t>
            </a:r>
            <a:r>
              <a:rPr lang="en-US" dirty="0"/>
              <a:t> with intervening surface element mesh): Faults and fractures that are more permeable than the surrounding rocks and which lack a layered internal permeability structure can be represented by a conforming surface mesh.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9" name="Picture 10" descr="complex_reservoir_1"/>
          <p:cNvPicPr>
            <a:picLocks noChangeAspect="1" noChangeArrowheads="1"/>
          </p:cNvPicPr>
          <p:nvPr/>
        </p:nvPicPr>
        <p:blipFill>
          <a:blip r:embed="rId2"/>
          <a:srcRect t="3990"/>
          <a:stretch>
            <a:fillRect/>
          </a:stretch>
        </p:blipFill>
        <p:spPr bwMode="auto">
          <a:xfrm>
            <a:off x="1619672" y="2132856"/>
            <a:ext cx="5851028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774460" y="5970766"/>
            <a:ext cx="78299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Note: In this example, the volumetric mesh that is node-matched to the faults is not shown.</a:t>
            </a:r>
          </a:p>
        </p:txBody>
      </p:sp>
      <p:sp>
        <p:nvSpPr>
          <p:cNvPr id="11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75736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Faults with internal property layers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770384"/>
            <a:ext cx="8229600" cy="1794520"/>
          </a:xfrm>
        </p:spPr>
        <p:txBody>
          <a:bodyPr>
            <a:normAutofit/>
          </a:bodyPr>
          <a:lstStyle/>
          <a:p>
            <a:r>
              <a:rPr lang="en-US" sz="1600" b="1" dirty="0"/>
              <a:t>Volumetric mesh (Region): </a:t>
            </a:r>
            <a:r>
              <a:rPr lang="en-US" sz="1600" dirty="0"/>
              <a:t>Faults that have a lower permeability than the surrounding rocks or which have a layered internal structure / permeability – porosity distribution </a:t>
            </a:r>
            <a:r>
              <a:rPr lang="en-US" sz="1600" u="sng" dirty="0"/>
              <a:t>must</a:t>
            </a:r>
            <a:r>
              <a:rPr lang="en-US" sz="1600" dirty="0"/>
              <a:t> have a volumetric representation.</a:t>
            </a:r>
          </a:p>
          <a:p>
            <a:r>
              <a:rPr lang="en-US" sz="1600" dirty="0"/>
              <a:t>In ANSYS this is facilitated using a step-by-step meshing approach starting with a surface mesh from which prisms and hexahedra are grown, see </a:t>
            </a:r>
            <a:r>
              <a:rPr lang="en-US" sz="1600" dirty="0" err="1"/>
              <a:t>Paluszny</a:t>
            </a:r>
            <a:r>
              <a:rPr lang="en-US" sz="1600" dirty="0"/>
              <a:t> et al. (2007, </a:t>
            </a:r>
            <a:r>
              <a:rPr lang="en-US" sz="1600" dirty="0" err="1"/>
              <a:t>Geofluids</a:t>
            </a:r>
            <a:r>
              <a:rPr lang="en-US" sz="1600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9" name="Picture 8" descr="faults2_fz&amp;granit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r="17388"/>
          <a:stretch/>
        </p:blipFill>
        <p:spPr>
          <a:xfrm>
            <a:off x="1087247" y="4402089"/>
            <a:ext cx="2494153" cy="2113203"/>
          </a:xfrm>
          <a:prstGeom prst="rect">
            <a:avLst/>
          </a:prstGeom>
        </p:spPr>
      </p:pic>
      <p:pic>
        <p:nvPicPr>
          <p:cNvPr id="10" name="Picture 9" descr="faults2_fz_magrnifi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2" r="24850"/>
          <a:stretch/>
        </p:blipFill>
        <p:spPr>
          <a:xfrm>
            <a:off x="4267200" y="2420888"/>
            <a:ext cx="3733800" cy="40444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6400" y="4652738"/>
            <a:ext cx="1724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unstructured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2552892"/>
            <a:ext cx="274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FFFF00"/>
                </a:solidFill>
              </a:rPr>
              <a:t>prism mesh of slip planes, breccia zones, and fractured damage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84" y="2690917"/>
            <a:ext cx="30963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Note: Pressure differences across faults can not be captured using surface fault representation because pressure nodes on either side of the fault are shared.</a:t>
            </a:r>
          </a:p>
        </p:txBody>
      </p:sp>
      <p:sp>
        <p:nvSpPr>
          <p:cNvPr id="14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448898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36912"/>
            <a:ext cx="8170167" cy="136207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4. CSMP++ HYBRID Finite-Element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FINITE-VOLUME </a:t>
            </a:r>
            <a:r>
              <a:rPr lang="en-US" dirty="0" err="1">
                <a:solidFill>
                  <a:srgbClr val="000000"/>
                </a:solidFill>
              </a:rPr>
              <a:t>FrameWork</a:t>
            </a:r>
            <a:r>
              <a:rPr lang="en-US" dirty="0">
                <a:solidFill>
                  <a:srgbClr val="000000"/>
                </a:solidFill>
              </a:rPr>
              <a:t>, ELEMENT types and Conventions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3251982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3" y="538634"/>
            <a:ext cx="8723312" cy="946150"/>
          </a:xfrm>
        </p:spPr>
        <p:txBody>
          <a:bodyPr>
            <a:noAutofit/>
          </a:bodyPr>
          <a:lstStyle/>
          <a:p>
            <a:pPr>
              <a:spcBef>
                <a:spcPts val="1500"/>
              </a:spcBef>
              <a:spcAft>
                <a:spcPts val="1200"/>
              </a:spcAft>
            </a:pPr>
            <a:r>
              <a:rPr lang="en-US" sz="2800" dirty="0"/>
              <a:t>Finite-Element node-centered Finite Volume Scheme</a:t>
            </a:r>
            <a:br>
              <a:rPr lang="en-US" sz="2800" dirty="0"/>
            </a:br>
            <a:r>
              <a:rPr lang="en-US" sz="2400" dirty="0">
                <a:solidFill>
                  <a:schemeClr val="tx1"/>
                </a:solidFill>
              </a:rPr>
              <a:t>(operator splitting: FEM for elliptic-parabolic equations; FVM for </a:t>
            </a:r>
            <a:r>
              <a:rPr lang="en-US" sz="2400" dirty="0" err="1">
                <a:solidFill>
                  <a:schemeClr val="tx1"/>
                </a:solidFill>
              </a:rPr>
              <a:t>hyberbolic</a:t>
            </a:r>
            <a:r>
              <a:rPr lang="en-US" sz="2400" dirty="0">
                <a:solidFill>
                  <a:schemeClr val="tx1"/>
                </a:solidFill>
              </a:rPr>
              <a:t> ones)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6873876" y="3171824"/>
            <a:ext cx="2051050" cy="2371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Objective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Arial"/>
                <a:cs typeface="Arial"/>
              </a:rPr>
              <a:t>Mass / volume conservation at the minimum computational cost</a:t>
            </a:r>
            <a:endParaRPr lang="en-GB" sz="2000" dirty="0">
              <a:latin typeface="Arial"/>
              <a:cs typeface="Arial"/>
            </a:endParaRPr>
          </a:p>
        </p:txBody>
      </p: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904875" y="4975225"/>
            <a:ext cx="5130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 flipV="1">
            <a:off x="2697163" y="2405063"/>
            <a:ext cx="0" cy="2554287"/>
          </a:xfrm>
          <a:prstGeom prst="line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 flipV="1">
            <a:off x="4237038" y="3311525"/>
            <a:ext cx="0" cy="1660525"/>
          </a:xfrm>
          <a:prstGeom prst="line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 flipV="1">
            <a:off x="5784850" y="3505200"/>
            <a:ext cx="0" cy="1471613"/>
          </a:xfrm>
          <a:prstGeom prst="line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91" name="Freeform 35"/>
          <p:cNvSpPr>
            <a:spLocks/>
          </p:cNvSpPr>
          <p:nvPr/>
        </p:nvSpPr>
        <p:spPr bwMode="auto">
          <a:xfrm>
            <a:off x="779463" y="2330450"/>
            <a:ext cx="5451475" cy="1179513"/>
          </a:xfrm>
          <a:custGeom>
            <a:avLst/>
            <a:gdLst/>
            <a:ahLst/>
            <a:cxnLst>
              <a:cxn ang="0">
                <a:pos x="0" y="646"/>
              </a:cxn>
              <a:cxn ang="0">
                <a:pos x="326" y="285"/>
              </a:cxn>
              <a:cxn ang="0">
                <a:pos x="519" y="153"/>
              </a:cxn>
              <a:cxn ang="0">
                <a:pos x="752" y="26"/>
              </a:cxn>
              <a:cxn ang="0">
                <a:pos x="1078" y="0"/>
              </a:cxn>
              <a:cxn ang="0">
                <a:pos x="1218" y="39"/>
              </a:cxn>
              <a:cxn ang="0">
                <a:pos x="1416" y="202"/>
              </a:cxn>
              <a:cxn ang="0">
                <a:pos x="1614" y="329"/>
              </a:cxn>
              <a:cxn ang="0">
                <a:pos x="1843" y="466"/>
              </a:cxn>
              <a:cxn ang="0">
                <a:pos x="2146" y="606"/>
              </a:cxn>
              <a:cxn ang="0">
                <a:pos x="2445" y="677"/>
              </a:cxn>
              <a:cxn ang="0">
                <a:pos x="2819" y="721"/>
              </a:cxn>
              <a:cxn ang="0">
                <a:pos x="3232" y="738"/>
              </a:cxn>
              <a:cxn ang="0">
                <a:pos x="3434" y="743"/>
              </a:cxn>
            </a:cxnLst>
            <a:rect l="0" t="0" r="r" b="b"/>
            <a:pathLst>
              <a:path w="3434" h="743">
                <a:moveTo>
                  <a:pt x="0" y="646"/>
                </a:moveTo>
                <a:lnTo>
                  <a:pt x="326" y="285"/>
                </a:lnTo>
                <a:lnTo>
                  <a:pt x="519" y="153"/>
                </a:lnTo>
                <a:lnTo>
                  <a:pt x="752" y="26"/>
                </a:lnTo>
                <a:lnTo>
                  <a:pt x="1078" y="0"/>
                </a:lnTo>
                <a:lnTo>
                  <a:pt x="1218" y="39"/>
                </a:lnTo>
                <a:lnTo>
                  <a:pt x="1416" y="202"/>
                </a:lnTo>
                <a:lnTo>
                  <a:pt x="1614" y="329"/>
                </a:lnTo>
                <a:lnTo>
                  <a:pt x="1843" y="466"/>
                </a:lnTo>
                <a:lnTo>
                  <a:pt x="2146" y="606"/>
                </a:lnTo>
                <a:lnTo>
                  <a:pt x="2445" y="677"/>
                </a:lnTo>
                <a:lnTo>
                  <a:pt x="2819" y="721"/>
                </a:lnTo>
                <a:lnTo>
                  <a:pt x="3232" y="738"/>
                </a:lnTo>
                <a:lnTo>
                  <a:pt x="3434" y="743"/>
                </a:lnTo>
              </a:path>
            </a:pathLst>
          </a:custGeom>
          <a:noFill/>
          <a:ln w="28575" cap="flat" cmpd="sng">
            <a:solidFill>
              <a:srgbClr val="33CC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92" name="Freeform 36"/>
          <p:cNvSpPr>
            <a:spLocks/>
          </p:cNvSpPr>
          <p:nvPr/>
        </p:nvSpPr>
        <p:spPr bwMode="auto">
          <a:xfrm>
            <a:off x="1149350" y="2386013"/>
            <a:ext cx="4635500" cy="1109662"/>
          </a:xfrm>
          <a:custGeom>
            <a:avLst/>
            <a:gdLst/>
            <a:ahLst/>
            <a:cxnLst>
              <a:cxn ang="0">
                <a:pos x="0" y="365"/>
              </a:cxn>
              <a:cxn ang="0">
                <a:pos x="980" y="0"/>
              </a:cxn>
              <a:cxn ang="0">
                <a:pos x="1943" y="580"/>
              </a:cxn>
              <a:cxn ang="0">
                <a:pos x="2920" y="699"/>
              </a:cxn>
            </a:cxnLst>
            <a:rect l="0" t="0" r="r" b="b"/>
            <a:pathLst>
              <a:path w="2920" h="699">
                <a:moveTo>
                  <a:pt x="0" y="365"/>
                </a:moveTo>
                <a:lnTo>
                  <a:pt x="980" y="0"/>
                </a:lnTo>
                <a:lnTo>
                  <a:pt x="1943" y="580"/>
                </a:lnTo>
                <a:lnTo>
                  <a:pt x="2920" y="699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93" name="Freeform 37"/>
          <p:cNvSpPr>
            <a:spLocks/>
          </p:cNvSpPr>
          <p:nvPr/>
        </p:nvSpPr>
        <p:spPr bwMode="auto">
          <a:xfrm>
            <a:off x="1149350" y="4340225"/>
            <a:ext cx="4635500" cy="1416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76" y="0"/>
              </a:cxn>
              <a:cxn ang="0">
                <a:pos x="976" y="892"/>
              </a:cxn>
              <a:cxn ang="0">
                <a:pos x="1943" y="892"/>
              </a:cxn>
              <a:cxn ang="0">
                <a:pos x="1943" y="567"/>
              </a:cxn>
              <a:cxn ang="0">
                <a:pos x="2920" y="567"/>
              </a:cxn>
            </a:cxnLst>
            <a:rect l="0" t="0" r="r" b="b"/>
            <a:pathLst>
              <a:path w="2920" h="892">
                <a:moveTo>
                  <a:pt x="0" y="0"/>
                </a:moveTo>
                <a:lnTo>
                  <a:pt x="976" y="0"/>
                </a:lnTo>
                <a:lnTo>
                  <a:pt x="976" y="892"/>
                </a:lnTo>
                <a:lnTo>
                  <a:pt x="1943" y="892"/>
                </a:lnTo>
                <a:lnTo>
                  <a:pt x="1943" y="567"/>
                </a:lnTo>
                <a:lnTo>
                  <a:pt x="2920" y="567"/>
                </a:ln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6" name="Line 30"/>
          <p:cNvSpPr>
            <a:spLocks noChangeShapeType="1"/>
          </p:cNvSpPr>
          <p:nvPr/>
        </p:nvSpPr>
        <p:spPr bwMode="auto">
          <a:xfrm flipV="1">
            <a:off x="1149350" y="2951163"/>
            <a:ext cx="0" cy="2024062"/>
          </a:xfrm>
          <a:prstGeom prst="line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2" name="Oval 26"/>
          <p:cNvSpPr>
            <a:spLocks noChangeArrowheads="1"/>
          </p:cNvSpPr>
          <p:nvPr/>
        </p:nvSpPr>
        <p:spPr bwMode="auto">
          <a:xfrm>
            <a:off x="1093788" y="4927600"/>
            <a:ext cx="111125" cy="1111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3" name="Oval 27"/>
          <p:cNvSpPr>
            <a:spLocks noChangeArrowheads="1"/>
          </p:cNvSpPr>
          <p:nvPr/>
        </p:nvSpPr>
        <p:spPr bwMode="auto">
          <a:xfrm>
            <a:off x="2641600" y="4919663"/>
            <a:ext cx="111125" cy="1111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4" name="Oval 28"/>
          <p:cNvSpPr>
            <a:spLocks noChangeArrowheads="1"/>
          </p:cNvSpPr>
          <p:nvPr/>
        </p:nvSpPr>
        <p:spPr bwMode="auto">
          <a:xfrm>
            <a:off x="4189413" y="4924425"/>
            <a:ext cx="111125" cy="1111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85" name="Oval 29"/>
          <p:cNvSpPr>
            <a:spLocks noChangeArrowheads="1"/>
          </p:cNvSpPr>
          <p:nvPr/>
        </p:nvSpPr>
        <p:spPr bwMode="auto">
          <a:xfrm>
            <a:off x="5737225" y="4922838"/>
            <a:ext cx="111125" cy="1111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94" name="Line 38"/>
          <p:cNvSpPr>
            <a:spLocks noChangeShapeType="1"/>
          </p:cNvSpPr>
          <p:nvPr/>
        </p:nvSpPr>
        <p:spPr bwMode="auto">
          <a:xfrm>
            <a:off x="898525" y="3614738"/>
            <a:ext cx="0" cy="242093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 wrap="none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45095" name="Text Box 39"/>
          <p:cNvSpPr txBox="1">
            <a:spLocks noChangeArrowheads="1"/>
          </p:cNvSpPr>
          <p:nvPr/>
        </p:nvSpPr>
        <p:spPr bwMode="auto">
          <a:xfrm>
            <a:off x="6113463" y="4829175"/>
            <a:ext cx="3413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X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45096" name="Text Box 40"/>
          <p:cNvSpPr txBox="1">
            <a:spLocks noChangeArrowheads="1"/>
          </p:cNvSpPr>
          <p:nvPr/>
        </p:nvSpPr>
        <p:spPr bwMode="auto">
          <a:xfrm>
            <a:off x="288925" y="3768725"/>
            <a:ext cx="5179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f(x)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45097" name="Text Box 41"/>
          <p:cNvSpPr txBox="1">
            <a:spLocks noChangeArrowheads="1"/>
          </p:cNvSpPr>
          <p:nvPr/>
        </p:nvSpPr>
        <p:spPr bwMode="auto">
          <a:xfrm>
            <a:off x="1095375" y="4992688"/>
            <a:ext cx="9290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Node 1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45098" name="Text Box 42"/>
          <p:cNvSpPr txBox="1">
            <a:spLocks noChangeArrowheads="1"/>
          </p:cNvSpPr>
          <p:nvPr/>
        </p:nvSpPr>
        <p:spPr bwMode="auto">
          <a:xfrm>
            <a:off x="2684463" y="5006975"/>
            <a:ext cx="9290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Node 2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45099" name="Text Box 43"/>
          <p:cNvSpPr txBox="1">
            <a:spLocks noChangeArrowheads="1"/>
          </p:cNvSpPr>
          <p:nvPr/>
        </p:nvSpPr>
        <p:spPr bwMode="auto">
          <a:xfrm>
            <a:off x="1163638" y="1962150"/>
            <a:ext cx="16602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Arial"/>
                <a:cs typeface="Arial"/>
              </a:rPr>
              <a:t>Exact Solution</a:t>
            </a:r>
            <a:endParaRPr lang="en-GB" dirty="0">
              <a:solidFill>
                <a:srgbClr val="00CC00"/>
              </a:solidFill>
              <a:latin typeface="Arial"/>
              <a:cs typeface="Arial"/>
            </a:endParaRPr>
          </a:p>
        </p:txBody>
      </p:sp>
      <p:sp>
        <p:nvSpPr>
          <p:cNvPr id="45100" name="Text Box 44"/>
          <p:cNvSpPr txBox="1">
            <a:spLocks noChangeArrowheads="1"/>
          </p:cNvSpPr>
          <p:nvPr/>
        </p:nvSpPr>
        <p:spPr bwMode="auto">
          <a:xfrm>
            <a:off x="4316413" y="2946400"/>
            <a:ext cx="22760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Linear FEM Solution</a:t>
            </a:r>
            <a:endParaRPr lang="en-GB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45101" name="Text Box 45"/>
          <p:cNvSpPr txBox="1">
            <a:spLocks noChangeArrowheads="1"/>
          </p:cNvSpPr>
          <p:nvPr/>
        </p:nvSpPr>
        <p:spPr bwMode="auto">
          <a:xfrm>
            <a:off x="1403350" y="5815013"/>
            <a:ext cx="5334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folHlink"/>
                </a:solidFill>
                <a:latin typeface="Arial"/>
                <a:cs typeface="Arial"/>
              </a:rPr>
              <a:t>Derivative of Linear FEM Solution, e.g., </a:t>
            </a:r>
            <a:r>
              <a:rPr lang="en-US" i="1">
                <a:solidFill>
                  <a:schemeClr val="folHlink"/>
                </a:solidFill>
                <a:latin typeface="Arial"/>
                <a:cs typeface="Arial"/>
              </a:rPr>
              <a:t>p</a:t>
            </a:r>
            <a:r>
              <a:rPr lang="en-US" i="1" baseline="-25000">
                <a:solidFill>
                  <a:schemeClr val="folHlink"/>
                </a:solidFill>
                <a:latin typeface="Arial"/>
                <a:cs typeface="Arial"/>
              </a:rPr>
              <a:t>f</a:t>
            </a:r>
            <a:r>
              <a:rPr lang="en-US">
                <a:solidFill>
                  <a:schemeClr val="folHlink"/>
                </a:solidFill>
                <a:latin typeface="Arial"/>
                <a:cs typeface="Arial"/>
              </a:rPr>
              <a:t> gradient</a:t>
            </a:r>
            <a:endParaRPr lang="en-GB">
              <a:solidFill>
                <a:schemeClr val="folHlink"/>
              </a:solidFill>
              <a:latin typeface="Arial"/>
              <a:cs typeface="Arial"/>
            </a:endParaRPr>
          </a:p>
        </p:txBody>
      </p:sp>
      <p:sp>
        <p:nvSpPr>
          <p:cNvPr id="45102" name="Text Box 46"/>
          <p:cNvSpPr txBox="1">
            <a:spLocks noChangeArrowheads="1"/>
          </p:cNvSpPr>
          <p:nvPr/>
        </p:nvSpPr>
        <p:spPr bwMode="auto">
          <a:xfrm>
            <a:off x="1219200" y="3741738"/>
            <a:ext cx="12239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Arial"/>
                <a:cs typeface="Arial"/>
              </a:rPr>
              <a:t>Element 1</a:t>
            </a:r>
            <a:endParaRPr lang="en-GB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5103" name="Text Box 47"/>
          <p:cNvSpPr txBox="1">
            <a:spLocks noChangeArrowheads="1"/>
          </p:cNvSpPr>
          <p:nvPr/>
        </p:nvSpPr>
        <p:spPr bwMode="auto">
          <a:xfrm>
            <a:off x="2757488" y="3741738"/>
            <a:ext cx="12239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Arial"/>
                <a:cs typeface="Arial"/>
              </a:rPr>
              <a:t>Element 2</a:t>
            </a:r>
            <a:endParaRPr lang="en-GB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5104" name="Text Box 48"/>
          <p:cNvSpPr txBox="1">
            <a:spLocks noChangeArrowheads="1"/>
          </p:cNvSpPr>
          <p:nvPr/>
        </p:nvSpPr>
        <p:spPr bwMode="auto">
          <a:xfrm>
            <a:off x="4346575" y="3741738"/>
            <a:ext cx="12239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Arial"/>
                <a:cs typeface="Arial"/>
              </a:rPr>
              <a:t>Element 3</a:t>
            </a:r>
            <a:endParaRPr lang="en-GB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5107" name="Rectangle 51"/>
          <p:cNvSpPr>
            <a:spLocks noChangeArrowheads="1"/>
          </p:cNvSpPr>
          <p:nvPr/>
        </p:nvSpPr>
        <p:spPr bwMode="auto">
          <a:xfrm>
            <a:off x="3511550" y="4600575"/>
            <a:ext cx="1433513" cy="368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Arial"/>
                <a:cs typeface="Arial"/>
              </a:rPr>
              <a:t>finite volume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>
          <a:xfrm>
            <a:off x="7019925" y="6428184"/>
            <a:ext cx="1905000" cy="457200"/>
          </a:xfrm>
        </p:spPr>
        <p:txBody>
          <a:bodyPr/>
          <a:lstStyle/>
          <a:p>
            <a:fld id="{D85D7429-E0B0-F747-9618-8B51FA155C3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>
          <a:xfrm>
            <a:off x="176213" y="6428184"/>
            <a:ext cx="2881312" cy="457200"/>
          </a:xfrm>
        </p:spPr>
        <p:txBody>
          <a:bodyPr/>
          <a:lstStyle/>
          <a:p>
            <a:fld id="{6B3C9685-A190-4943-8807-66FB64A554CC}" type="datetime1">
              <a:rPr lang="en-US" smtClean="0"/>
              <a:pPr/>
              <a:t>9/11/21</a:t>
            </a:fld>
            <a:endParaRPr lang="en-US" dirty="0"/>
          </a:p>
        </p:txBody>
      </p:sp>
      <p:sp>
        <p:nvSpPr>
          <p:cNvPr id="34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339694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AB4DA0-A8F9-6A40-8178-7682540D3A0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"/>
            <a:ext cx="881628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 Unstructured finite element </a:t>
            </a:r>
            <a:r>
              <a:rPr lang="en-US" b="1" dirty="0"/>
              <a:t>Mesh</a:t>
            </a:r>
          </a:p>
        </p:txBody>
      </p:sp>
      <p:pic>
        <p:nvPicPr>
          <p:cNvPr id="7" name="Picture 3" descr="fi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3613" y="2216150"/>
            <a:ext cx="6910387" cy="4641850"/>
          </a:xfrm>
          <a:prstGeom prst="rect">
            <a:avLst/>
          </a:prstGeom>
          <a:noFill/>
        </p:spPr>
      </p:pic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617538" y="2382838"/>
            <a:ext cx="1084262" cy="915987"/>
            <a:chOff x="609" y="1021"/>
            <a:chExt cx="1008" cy="916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650" y="1061"/>
              <a:ext cx="918" cy="838"/>
            </a:xfrm>
            <a:custGeom>
              <a:avLst/>
              <a:gdLst/>
              <a:ahLst/>
              <a:cxnLst>
                <a:cxn ang="0">
                  <a:pos x="0" y="718"/>
                </a:cxn>
                <a:cxn ang="0">
                  <a:pos x="776" y="0"/>
                </a:cxn>
                <a:cxn ang="0">
                  <a:pos x="918" y="838"/>
                </a:cxn>
                <a:cxn ang="0">
                  <a:pos x="0" y="718"/>
                </a:cxn>
              </a:cxnLst>
              <a:rect l="0" t="0" r="r" b="b"/>
              <a:pathLst>
                <a:path w="918" h="838">
                  <a:moveTo>
                    <a:pt x="0" y="718"/>
                  </a:moveTo>
                  <a:lnTo>
                    <a:pt x="776" y="0"/>
                  </a:lnTo>
                  <a:lnTo>
                    <a:pt x="918" y="838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1379" y="1021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609" y="1739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1526" y="1857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reeform 10"/>
          <p:cNvSpPr>
            <a:spLocks/>
          </p:cNvSpPr>
          <p:nvPr/>
        </p:nvSpPr>
        <p:spPr bwMode="auto">
          <a:xfrm>
            <a:off x="758272" y="4234877"/>
            <a:ext cx="866566" cy="740742"/>
          </a:xfrm>
          <a:custGeom>
            <a:avLst/>
            <a:gdLst/>
            <a:ahLst/>
            <a:cxnLst>
              <a:cxn ang="0">
                <a:pos x="137" y="0"/>
              </a:cxn>
              <a:cxn ang="0">
                <a:pos x="0" y="702"/>
              </a:cxn>
              <a:cxn ang="0">
                <a:pos x="685" y="742"/>
              </a:cxn>
              <a:cxn ang="0">
                <a:pos x="805" y="109"/>
              </a:cxn>
              <a:cxn ang="0">
                <a:pos x="137" y="0"/>
              </a:cxn>
            </a:cxnLst>
            <a:rect l="0" t="0" r="r" b="b"/>
            <a:pathLst>
              <a:path w="805" h="742">
                <a:moveTo>
                  <a:pt x="137" y="0"/>
                </a:moveTo>
                <a:lnTo>
                  <a:pt x="0" y="702"/>
                </a:lnTo>
                <a:lnTo>
                  <a:pt x="685" y="742"/>
                </a:lnTo>
                <a:lnTo>
                  <a:pt x="805" y="109"/>
                </a:lnTo>
                <a:lnTo>
                  <a:pt x="137" y="0"/>
                </a:lnTo>
                <a:close/>
              </a:path>
            </a:pathLst>
          </a:cu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>
            <a:off x="839008" y="4198938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1572090" y="4311746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>
            <a:off x="1441836" y="4928699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>
            <a:off x="696913" y="4906736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4384675" y="1163638"/>
            <a:ext cx="993775" cy="877887"/>
            <a:chOff x="3909" y="1268"/>
            <a:chExt cx="923" cy="879"/>
          </a:xfrm>
        </p:grpSpPr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3957" y="1751"/>
              <a:ext cx="822" cy="360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639" y="360"/>
                </a:cxn>
                <a:cxn ang="0">
                  <a:pos x="822" y="0"/>
                </a:cxn>
                <a:cxn ang="0">
                  <a:pos x="240" y="6"/>
                </a:cxn>
                <a:cxn ang="0">
                  <a:pos x="0" y="360"/>
                </a:cxn>
              </a:cxnLst>
              <a:rect l="0" t="0" r="r" b="b"/>
              <a:pathLst>
                <a:path w="822" h="360">
                  <a:moveTo>
                    <a:pt x="0" y="360"/>
                  </a:moveTo>
                  <a:lnTo>
                    <a:pt x="639" y="360"/>
                  </a:lnTo>
                  <a:lnTo>
                    <a:pt x="822" y="0"/>
                  </a:lnTo>
                  <a:lnTo>
                    <a:pt x="240" y="6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3963" y="1289"/>
              <a:ext cx="821" cy="827"/>
            </a:xfrm>
            <a:custGeom>
              <a:avLst/>
              <a:gdLst/>
              <a:ahLst/>
              <a:cxnLst>
                <a:cxn ang="0">
                  <a:pos x="0" y="827"/>
                </a:cxn>
                <a:cxn ang="0">
                  <a:pos x="222" y="0"/>
                </a:cxn>
                <a:cxn ang="0">
                  <a:pos x="234" y="468"/>
                </a:cxn>
                <a:cxn ang="0">
                  <a:pos x="821" y="462"/>
                </a:cxn>
                <a:cxn ang="0">
                  <a:pos x="217" y="12"/>
                </a:cxn>
                <a:cxn ang="0">
                  <a:pos x="639" y="822"/>
                </a:cxn>
              </a:cxnLst>
              <a:rect l="0" t="0" r="r" b="b"/>
              <a:pathLst>
                <a:path w="821" h="827">
                  <a:moveTo>
                    <a:pt x="0" y="827"/>
                  </a:moveTo>
                  <a:lnTo>
                    <a:pt x="222" y="0"/>
                  </a:lnTo>
                  <a:lnTo>
                    <a:pt x="234" y="468"/>
                  </a:lnTo>
                  <a:lnTo>
                    <a:pt x="821" y="462"/>
                  </a:lnTo>
                  <a:lnTo>
                    <a:pt x="217" y="12"/>
                  </a:lnTo>
                  <a:lnTo>
                    <a:pt x="639" y="822"/>
                  </a:lnTo>
                </a:path>
              </a:pathLst>
            </a:cu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4139" y="1268"/>
              <a:ext cx="91" cy="80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auto">
            <a:xfrm>
              <a:off x="4741" y="1710"/>
              <a:ext cx="91" cy="80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20"/>
            <p:cNvSpPr>
              <a:spLocks noChangeArrowheads="1"/>
            </p:cNvSpPr>
            <p:nvPr/>
          </p:nvSpPr>
          <p:spPr bwMode="auto">
            <a:xfrm>
              <a:off x="4560" y="2065"/>
              <a:ext cx="91" cy="80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3909" y="2067"/>
              <a:ext cx="91" cy="80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Group 22"/>
          <p:cNvGrpSpPr>
            <a:grpSpLocks/>
          </p:cNvGrpSpPr>
          <p:nvPr/>
        </p:nvGrpSpPr>
        <p:grpSpPr bwMode="auto">
          <a:xfrm>
            <a:off x="2857500" y="1271588"/>
            <a:ext cx="992188" cy="782637"/>
            <a:chOff x="2348" y="1893"/>
            <a:chExt cx="922" cy="783"/>
          </a:xfrm>
        </p:grpSpPr>
        <p:grpSp>
          <p:nvGrpSpPr>
            <p:cNvPr id="27" name="Group 23"/>
            <p:cNvGrpSpPr>
              <a:grpSpLocks/>
            </p:cNvGrpSpPr>
            <p:nvPr/>
          </p:nvGrpSpPr>
          <p:grpSpPr bwMode="auto">
            <a:xfrm>
              <a:off x="2389" y="1927"/>
              <a:ext cx="827" cy="713"/>
              <a:chOff x="553" y="2304"/>
              <a:chExt cx="827" cy="713"/>
            </a:xfrm>
          </p:grpSpPr>
          <p:sp>
            <p:nvSpPr>
              <p:cNvPr id="32" name="Freeform 24"/>
              <p:cNvSpPr>
                <a:spLocks/>
              </p:cNvSpPr>
              <p:nvPr/>
            </p:nvSpPr>
            <p:spPr bwMode="auto">
              <a:xfrm>
                <a:off x="553" y="2304"/>
                <a:ext cx="827" cy="713"/>
              </a:xfrm>
              <a:custGeom>
                <a:avLst/>
                <a:gdLst/>
                <a:ahLst/>
                <a:cxnLst>
                  <a:cxn ang="0">
                    <a:pos x="405" y="0"/>
                  </a:cxn>
                  <a:cxn ang="0">
                    <a:pos x="0" y="713"/>
                  </a:cxn>
                  <a:cxn ang="0">
                    <a:pos x="753" y="713"/>
                  </a:cxn>
                  <a:cxn ang="0">
                    <a:pos x="827" y="285"/>
                  </a:cxn>
                  <a:cxn ang="0">
                    <a:pos x="405" y="0"/>
                  </a:cxn>
                </a:cxnLst>
                <a:rect l="0" t="0" r="r" b="b"/>
                <a:pathLst>
                  <a:path w="827" h="713">
                    <a:moveTo>
                      <a:pt x="405" y="0"/>
                    </a:moveTo>
                    <a:lnTo>
                      <a:pt x="0" y="713"/>
                    </a:lnTo>
                    <a:lnTo>
                      <a:pt x="753" y="713"/>
                    </a:lnTo>
                    <a:lnTo>
                      <a:pt x="827" y="285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Line 25"/>
              <p:cNvSpPr>
                <a:spLocks noChangeShapeType="1"/>
              </p:cNvSpPr>
              <p:nvPr/>
            </p:nvSpPr>
            <p:spPr bwMode="auto">
              <a:xfrm>
                <a:off x="958" y="2310"/>
                <a:ext cx="348" cy="7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8" name="Oval 26"/>
            <p:cNvSpPr>
              <a:spLocks noChangeArrowheads="1"/>
            </p:cNvSpPr>
            <p:nvPr/>
          </p:nvSpPr>
          <p:spPr bwMode="auto">
            <a:xfrm>
              <a:off x="3179" y="2171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7"/>
            <p:cNvSpPr>
              <a:spLocks noChangeArrowheads="1"/>
            </p:cNvSpPr>
            <p:nvPr/>
          </p:nvSpPr>
          <p:spPr bwMode="auto">
            <a:xfrm>
              <a:off x="3099" y="2596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2348" y="2592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auto">
            <a:xfrm>
              <a:off x="2743" y="1893"/>
              <a:ext cx="91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4" name="Group 30"/>
          <p:cNvGrpSpPr>
            <a:grpSpLocks/>
          </p:cNvGrpSpPr>
          <p:nvPr/>
        </p:nvGrpSpPr>
        <p:grpSpPr bwMode="auto">
          <a:xfrm>
            <a:off x="7669213" y="1201738"/>
            <a:ext cx="985837" cy="822325"/>
            <a:chOff x="4249" y="3103"/>
            <a:chExt cx="916" cy="823"/>
          </a:xfrm>
        </p:grpSpPr>
        <p:sp>
          <p:nvSpPr>
            <p:cNvPr id="35" name="AutoShape 31"/>
            <p:cNvSpPr>
              <a:spLocks noChangeArrowheads="1"/>
            </p:cNvSpPr>
            <p:nvPr/>
          </p:nvSpPr>
          <p:spPr bwMode="auto">
            <a:xfrm>
              <a:off x="4294" y="3131"/>
              <a:ext cx="827" cy="759"/>
            </a:xfrm>
            <a:prstGeom prst="cube">
              <a:avLst>
                <a:gd name="adj" fmla="val 2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32"/>
            <p:cNvSpPr>
              <a:spLocks noChangeArrowheads="1"/>
            </p:cNvSpPr>
            <p:nvPr/>
          </p:nvSpPr>
          <p:spPr bwMode="auto">
            <a:xfrm>
              <a:off x="4876" y="3846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33"/>
            <p:cNvSpPr>
              <a:spLocks noChangeArrowheads="1"/>
            </p:cNvSpPr>
            <p:nvPr/>
          </p:nvSpPr>
          <p:spPr bwMode="auto">
            <a:xfrm>
              <a:off x="4261" y="3842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34"/>
            <p:cNvSpPr>
              <a:spLocks noChangeArrowheads="1"/>
            </p:cNvSpPr>
            <p:nvPr/>
          </p:nvSpPr>
          <p:spPr bwMode="auto">
            <a:xfrm>
              <a:off x="4880" y="3292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35"/>
            <p:cNvSpPr>
              <a:spLocks noChangeArrowheads="1"/>
            </p:cNvSpPr>
            <p:nvPr/>
          </p:nvSpPr>
          <p:spPr bwMode="auto">
            <a:xfrm>
              <a:off x="4442" y="3106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4249" y="3289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5074" y="3103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5071" y="3664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39"/>
          <p:cNvGrpSpPr>
            <a:grpSpLocks/>
          </p:cNvGrpSpPr>
          <p:nvPr/>
        </p:nvGrpSpPr>
        <p:grpSpPr bwMode="auto">
          <a:xfrm>
            <a:off x="5807075" y="1338263"/>
            <a:ext cx="1319213" cy="746125"/>
            <a:chOff x="2167" y="3056"/>
            <a:chExt cx="1226" cy="748"/>
          </a:xfrm>
        </p:grpSpPr>
        <p:sp>
          <p:nvSpPr>
            <p:cNvPr id="44" name="Freeform 40"/>
            <p:cNvSpPr>
              <a:spLocks/>
            </p:cNvSpPr>
            <p:nvPr/>
          </p:nvSpPr>
          <p:spPr bwMode="auto">
            <a:xfrm>
              <a:off x="2212" y="3375"/>
              <a:ext cx="1141" cy="404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1141" y="0"/>
                </a:cxn>
                <a:cxn ang="0">
                  <a:pos x="827" y="404"/>
                </a:cxn>
                <a:cxn ang="0">
                  <a:pos x="0" y="62"/>
                </a:cxn>
              </a:cxnLst>
              <a:rect l="0" t="0" r="r" b="b"/>
              <a:pathLst>
                <a:path w="1141" h="404">
                  <a:moveTo>
                    <a:pt x="0" y="62"/>
                  </a:moveTo>
                  <a:lnTo>
                    <a:pt x="1141" y="0"/>
                  </a:lnTo>
                  <a:lnTo>
                    <a:pt x="827" y="40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2190" y="3097"/>
              <a:ext cx="1141" cy="404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1141" y="0"/>
                </a:cxn>
                <a:cxn ang="0">
                  <a:pos x="827" y="404"/>
                </a:cxn>
                <a:cxn ang="0">
                  <a:pos x="0" y="62"/>
                </a:cxn>
              </a:cxnLst>
              <a:rect l="0" t="0" r="r" b="b"/>
              <a:pathLst>
                <a:path w="1141" h="404">
                  <a:moveTo>
                    <a:pt x="0" y="62"/>
                  </a:moveTo>
                  <a:lnTo>
                    <a:pt x="1141" y="0"/>
                  </a:lnTo>
                  <a:lnTo>
                    <a:pt x="827" y="40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2"/>
            <p:cNvSpPr>
              <a:spLocks/>
            </p:cNvSpPr>
            <p:nvPr/>
          </p:nvSpPr>
          <p:spPr bwMode="auto">
            <a:xfrm>
              <a:off x="2196" y="3159"/>
              <a:ext cx="844" cy="6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" y="280"/>
                </a:cxn>
                <a:cxn ang="0">
                  <a:pos x="844" y="616"/>
                </a:cxn>
                <a:cxn ang="0">
                  <a:pos x="827" y="342"/>
                </a:cxn>
                <a:cxn ang="0">
                  <a:pos x="0" y="0"/>
                </a:cxn>
              </a:cxnLst>
              <a:rect l="0" t="0" r="r" b="b"/>
              <a:pathLst>
                <a:path w="844" h="616">
                  <a:moveTo>
                    <a:pt x="0" y="0"/>
                  </a:moveTo>
                  <a:lnTo>
                    <a:pt x="17" y="280"/>
                  </a:lnTo>
                  <a:lnTo>
                    <a:pt x="844" y="616"/>
                  </a:lnTo>
                  <a:lnTo>
                    <a:pt x="827" y="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3"/>
            <p:cNvSpPr>
              <a:spLocks/>
            </p:cNvSpPr>
            <p:nvPr/>
          </p:nvSpPr>
          <p:spPr bwMode="auto">
            <a:xfrm>
              <a:off x="3023" y="3096"/>
              <a:ext cx="336" cy="673"/>
            </a:xfrm>
            <a:custGeom>
              <a:avLst/>
              <a:gdLst/>
              <a:ahLst/>
              <a:cxnLst>
                <a:cxn ang="0">
                  <a:pos x="0" y="399"/>
                </a:cxn>
                <a:cxn ang="0">
                  <a:pos x="313" y="0"/>
                </a:cxn>
                <a:cxn ang="0">
                  <a:pos x="336" y="280"/>
                </a:cxn>
                <a:cxn ang="0">
                  <a:pos x="17" y="673"/>
                </a:cxn>
                <a:cxn ang="0">
                  <a:pos x="0" y="399"/>
                </a:cxn>
              </a:cxnLst>
              <a:rect l="0" t="0" r="r" b="b"/>
              <a:pathLst>
                <a:path w="336" h="673">
                  <a:moveTo>
                    <a:pt x="0" y="399"/>
                  </a:moveTo>
                  <a:lnTo>
                    <a:pt x="313" y="0"/>
                  </a:lnTo>
                  <a:lnTo>
                    <a:pt x="336" y="280"/>
                  </a:lnTo>
                  <a:lnTo>
                    <a:pt x="17" y="673"/>
                  </a:lnTo>
                  <a:lnTo>
                    <a:pt x="0" y="399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44"/>
            <p:cNvSpPr>
              <a:spLocks noChangeArrowheads="1"/>
            </p:cNvSpPr>
            <p:nvPr/>
          </p:nvSpPr>
          <p:spPr bwMode="auto">
            <a:xfrm>
              <a:off x="3283" y="3056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45"/>
            <p:cNvSpPr>
              <a:spLocks noChangeArrowheads="1"/>
            </p:cNvSpPr>
            <p:nvPr/>
          </p:nvSpPr>
          <p:spPr bwMode="auto">
            <a:xfrm>
              <a:off x="3302" y="3345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46"/>
            <p:cNvSpPr>
              <a:spLocks noChangeArrowheads="1"/>
            </p:cNvSpPr>
            <p:nvPr/>
          </p:nvSpPr>
          <p:spPr bwMode="auto">
            <a:xfrm>
              <a:off x="2987" y="3724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47"/>
            <p:cNvSpPr>
              <a:spLocks noChangeArrowheads="1"/>
            </p:cNvSpPr>
            <p:nvPr/>
          </p:nvSpPr>
          <p:spPr bwMode="auto">
            <a:xfrm>
              <a:off x="2989" y="3461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48"/>
            <p:cNvSpPr>
              <a:spLocks noChangeArrowheads="1"/>
            </p:cNvSpPr>
            <p:nvPr/>
          </p:nvSpPr>
          <p:spPr bwMode="auto">
            <a:xfrm>
              <a:off x="2168" y="3128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49"/>
            <p:cNvSpPr>
              <a:spLocks noChangeArrowheads="1"/>
            </p:cNvSpPr>
            <p:nvPr/>
          </p:nvSpPr>
          <p:spPr bwMode="auto">
            <a:xfrm>
              <a:off x="2167" y="3402"/>
              <a:ext cx="91" cy="8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692150" y="1706563"/>
            <a:ext cx="1103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>
                <a:latin typeface="Arial" charset="0"/>
              </a:rPr>
              <a:t>Triangle</a:t>
            </a:r>
            <a:endParaRPr lang="en-GB" sz="2000">
              <a:latin typeface="Arial" charset="0"/>
            </a:endParaRPr>
          </a:p>
        </p:txBody>
      </p:sp>
      <p:sp>
        <p:nvSpPr>
          <p:cNvPr id="55" name="Text Box 51"/>
          <p:cNvSpPr txBox="1">
            <a:spLocks noChangeArrowheads="1"/>
          </p:cNvSpPr>
          <p:nvPr/>
        </p:nvSpPr>
        <p:spPr bwMode="auto">
          <a:xfrm>
            <a:off x="377825" y="3568700"/>
            <a:ext cx="163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 dirty="0">
                <a:latin typeface="Arial" charset="0"/>
              </a:rPr>
              <a:t>Quadrilateral</a:t>
            </a:r>
            <a:endParaRPr lang="en-GB" sz="2000" dirty="0">
              <a:latin typeface="Arial" charset="0"/>
            </a:endParaRPr>
          </a:p>
        </p:txBody>
      </p:sp>
      <p:sp>
        <p:nvSpPr>
          <p:cNvPr id="56" name="Text Box 52"/>
          <p:cNvSpPr txBox="1">
            <a:spLocks noChangeArrowheads="1"/>
          </p:cNvSpPr>
          <p:nvPr/>
        </p:nvSpPr>
        <p:spPr bwMode="auto">
          <a:xfrm>
            <a:off x="1627188" y="1227138"/>
            <a:ext cx="1566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>
                <a:latin typeface="Arial" charset="0"/>
              </a:rPr>
              <a:t>Tetrahedron</a:t>
            </a:r>
            <a:endParaRPr lang="en-GB" sz="2000">
              <a:latin typeface="Arial" charset="0"/>
            </a:endParaRPr>
          </a:p>
        </p:txBody>
      </p:sp>
      <p:sp>
        <p:nvSpPr>
          <p:cNvPr id="57" name="Text Box 53"/>
          <p:cNvSpPr txBox="1">
            <a:spLocks noChangeArrowheads="1"/>
          </p:cNvSpPr>
          <p:nvPr/>
        </p:nvSpPr>
        <p:spPr bwMode="auto">
          <a:xfrm>
            <a:off x="6037263" y="755650"/>
            <a:ext cx="833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>
                <a:latin typeface="Arial" charset="0"/>
              </a:rPr>
              <a:t>Prism</a:t>
            </a:r>
            <a:endParaRPr lang="en-GB" sz="2000">
              <a:latin typeface="Arial" charset="0"/>
            </a:endParaRPr>
          </a:p>
        </p:txBody>
      </p:sp>
      <p:sp>
        <p:nvSpPr>
          <p:cNvPr id="58" name="Text Box 54"/>
          <p:cNvSpPr txBox="1">
            <a:spLocks noChangeArrowheads="1"/>
          </p:cNvSpPr>
          <p:nvPr/>
        </p:nvSpPr>
        <p:spPr bwMode="auto">
          <a:xfrm>
            <a:off x="4291013" y="746125"/>
            <a:ext cx="1116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>
                <a:latin typeface="Arial" charset="0"/>
              </a:rPr>
              <a:t>Pyramid</a:t>
            </a:r>
            <a:endParaRPr lang="en-GB" sz="2000">
              <a:latin typeface="Arial" charset="0"/>
            </a:endParaRPr>
          </a:p>
        </p:txBody>
      </p:sp>
      <p:sp>
        <p:nvSpPr>
          <p:cNvPr id="59" name="Text Box 55"/>
          <p:cNvSpPr txBox="1">
            <a:spLocks noChangeArrowheads="1"/>
          </p:cNvSpPr>
          <p:nvPr/>
        </p:nvSpPr>
        <p:spPr bwMode="auto">
          <a:xfrm>
            <a:off x="7427913" y="749300"/>
            <a:ext cx="1568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>
                <a:latin typeface="Arial" charset="0"/>
              </a:rPr>
              <a:t>Hexahedron</a:t>
            </a:r>
            <a:endParaRPr lang="en-GB" sz="2000">
              <a:latin typeface="Arial" charset="0"/>
            </a:endParaRPr>
          </a:p>
        </p:txBody>
      </p:sp>
      <p:sp>
        <p:nvSpPr>
          <p:cNvPr id="60" name="Date Placeholder 5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4F41-77CC-E445-A7B1-B120C3AADC44}" type="datetime1">
              <a:rPr lang="en-US" smtClean="0"/>
              <a:pPr/>
              <a:t>9/11/21</a:t>
            </a:fld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>
            <a:off x="715423" y="5410200"/>
            <a:ext cx="856667" cy="30480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14"/>
          <p:cNvSpPr>
            <a:spLocks noChangeArrowheads="1"/>
          </p:cNvSpPr>
          <p:nvPr/>
        </p:nvSpPr>
        <p:spPr bwMode="auto">
          <a:xfrm>
            <a:off x="709292" y="5370268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Oval 14"/>
          <p:cNvSpPr>
            <a:spLocks noChangeArrowheads="1"/>
          </p:cNvSpPr>
          <p:nvPr/>
        </p:nvSpPr>
        <p:spPr bwMode="auto">
          <a:xfrm>
            <a:off x="1505955" y="5675068"/>
            <a:ext cx="97960" cy="79864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Text Box 51"/>
          <p:cNvSpPr txBox="1">
            <a:spLocks noChangeArrowheads="1"/>
          </p:cNvSpPr>
          <p:nvPr/>
        </p:nvSpPr>
        <p:spPr bwMode="auto">
          <a:xfrm>
            <a:off x="762000" y="5772090"/>
            <a:ext cx="6695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sz="2000" dirty="0">
                <a:latin typeface="Arial" charset="0"/>
              </a:rPr>
              <a:t>Line</a:t>
            </a:r>
            <a:endParaRPr lang="en-GB" sz="2000" dirty="0">
              <a:latin typeface="Arial" charset="0"/>
            </a:endParaRPr>
          </a:p>
        </p:txBody>
      </p:sp>
      <p:sp>
        <p:nvSpPr>
          <p:cNvPr id="62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769601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"/>
            <a:ext cx="881628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 Conventions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519"/>
          <a:stretch/>
        </p:blipFill>
        <p:spPr>
          <a:xfrm>
            <a:off x="3923928" y="783741"/>
            <a:ext cx="4968552" cy="55975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764704"/>
            <a:ext cx="3600400" cy="6001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Finite-element topology and placement of physical variables on the mesh. 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a): Linear triangular element with counter-clockwise node numbering and coordinate system as indicated in ‘c’. 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b): Pseudo-cubic triangular element for 2D displacement-stress-strain calculations. 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c): 3D coordinate system obeying right-hand rule. 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d): Node numbering in 4-noded tetrahedral element and in 10-noded quadratic tetrahedral element. 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e): Each element knows its neighbor (</a:t>
            </a:r>
            <a:r>
              <a:rPr lang="en-US" sz="1600" dirty="0" err="1">
                <a:latin typeface="Arial"/>
                <a:cs typeface="Arial"/>
              </a:rPr>
              <a:t>fvert</a:t>
            </a:r>
            <a:r>
              <a:rPr lang="en-US" sz="1600" dirty="0">
                <a:latin typeface="Arial"/>
                <a:cs typeface="Arial"/>
              </a:rPr>
              <a:t>) element and can access it through a numbering scheme where neighbor 1 lies opposite of node 1 and so forth.</a:t>
            </a:r>
          </a:p>
          <a:p>
            <a:pPr marL="271463" indent="-271463"/>
            <a:r>
              <a:rPr lang="en-US" sz="1600" dirty="0">
                <a:latin typeface="Arial"/>
                <a:cs typeface="Arial"/>
              </a:rPr>
              <a:t> f): Prism element suitable for reducing number of elements in thin layers. </a:t>
            </a:r>
          </a:p>
        </p:txBody>
      </p:sp>
      <p:sp>
        <p:nvSpPr>
          <p:cNvPr id="6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930787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792088"/>
            <a:ext cx="2314600" cy="3861048"/>
          </a:xfrm>
        </p:spPr>
        <p:txBody>
          <a:bodyPr/>
          <a:lstStyle/>
          <a:p>
            <a:pPr algn="ctr"/>
            <a:r>
              <a:rPr lang="en-US" dirty="0"/>
              <a:t>CSMP++ Finite element library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50" y="332656"/>
            <a:ext cx="6376194" cy="6245890"/>
          </a:xfrm>
          <a:prstGeom prst="rect">
            <a:avLst/>
          </a:prstGeom>
        </p:spPr>
      </p:pic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3913573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C110-B7DD-584A-95A7-511A32C32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65" y="457200"/>
            <a:ext cx="2530624" cy="1700808"/>
          </a:xfrm>
        </p:spPr>
        <p:txBody>
          <a:bodyPr/>
          <a:lstStyle/>
          <a:p>
            <a:r>
              <a:rPr lang="en-US" dirty="0"/>
              <a:t>Element integer codes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2BCBC-B164-5A4D-8589-872DFCCE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5449A-1923-D549-B4A6-A1BF61CB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25E6A-1875-474B-8C3B-35B97DCC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483413-8CA9-124D-BF97-4CD3F120E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170228"/>
              </p:ext>
            </p:extLst>
          </p:nvPr>
        </p:nvGraphicFramePr>
        <p:xfrm>
          <a:off x="3275856" y="1876"/>
          <a:ext cx="4983809" cy="6856140"/>
        </p:xfrm>
        <a:graphic>
          <a:graphicData uri="http://schemas.openxmlformats.org/drawingml/2006/table">
            <a:tbl>
              <a:tblPr/>
              <a:tblGrid>
                <a:gridCol w="722400">
                  <a:extLst>
                    <a:ext uri="{9D8B030D-6E8A-4147-A177-3AD203B41FA5}">
                      <a16:colId xmlns:a16="http://schemas.microsoft.com/office/drawing/2014/main" val="1908349034"/>
                    </a:ext>
                  </a:extLst>
                </a:gridCol>
                <a:gridCol w="4261409">
                  <a:extLst>
                    <a:ext uri="{9D8B030D-6E8A-4147-A177-3AD203B41FA5}">
                      <a16:colId xmlns:a16="http://schemas.microsoft.com/office/drawing/2014/main" val="1279892968"/>
                    </a:ext>
                  </a:extLst>
                </a:gridCol>
              </a:tblGrid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533982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QUADRATIC_BAR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6806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CUBIC_BAR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754149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1492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LINEAR_TRIANGLE3D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49728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487073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LINEAR_CUBOID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400143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LINEAR_RECTANGLE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150169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 dirty="0">
                          <a:effectLst/>
                          <a:latin typeface="Calibri" panose="020F0502020204030204" pitchFamily="34" charset="0"/>
                        </a:rPr>
                        <a:t>BARYCENTRIC_LINEAR_TRIANGLE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48556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QUADRATIC_TRIANGLE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5579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BARYCENTRIC_QUADRATIC_TRIANGLE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1176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CUBIC_TRIANGLE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23243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LINEAR_TETRAHEDRON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431864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QUADRATIC_TETRAHEDRON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08198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BARYCENTRIC_QUADRATIC_TETRAHEDRON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299021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CUBIC_TETRAHEDRON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80549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738144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3176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ISOPARAMETRIC_CUBIC_BAR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0852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65125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ISOPARAMETRIC_BARYCENTRIC_LINEAR_TRIANGLE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527205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66952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ISOPARAMETRIC_BARYCENTRIC_QUADRATIC_TRIANGLE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512569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ISOPARAMETRIC_CUBIC_TRIANGLE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93261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94679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39308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 dirty="0">
                          <a:effectLst/>
                          <a:latin typeface="Calibri" panose="020F0502020204030204" pitchFamily="34" charset="0"/>
                        </a:rPr>
                        <a:t>ISOPARAMETRIC_BARYCENTRIC_QUADRATIC_TETRAHEDRON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552454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ISOPARAMETRIC_CUBIC_TETRAHEDRON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03361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ISOPARAMETRIC_LINEAR_PYRAMID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53909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ISOPARAMETRIC_QUADRATIC_PYRAMID13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175013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ISOPARAMETRIC_QUADRATIC_PYRAMID14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97330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ISOPARAMETRIC_CUBIC_PYRAMID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59704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ISOPARAMETRIC_LINEAR_PRISM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93413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ISOPARAMETRIC_QUADRATIC_PRISM15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6695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ISOPARAMETRIC_QUADRATIC_PRISM18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584050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ISOPARAMETRIC_CUBIC_PRISM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71729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55589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ISOPARAMETRIC_BARYCENTRIC_LINEAR_QUADRILATERAL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580509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344475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 dirty="0">
                          <a:effectLst/>
                          <a:latin typeface="Calibri" panose="020F0502020204030204" pitchFamily="34" charset="0"/>
                        </a:rPr>
                        <a:t>ISOPARAMETRIC_BARYCENTRIC_QUADRATIC_QUADRILATERAL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10969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ISOPARAMETRIC_QUADRATIC_QUADRILATERAL9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02124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ISOPARAMETRIC_CUBIC_QUADRILATERAL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976238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ISOPARAMETRIC_LINEAR_HEXAHEDRON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33229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ISOPARAMETRIC_QUADRATIC_HEXAHEDRON20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783366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ISOPARAMETRIC_QUADRATIC_HEXAHEDRON27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38659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ISOPARAMETRIC_CUBIC_HEXAHEDRON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79092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ZERO_DIMENSIONAL_FACE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095792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POINT_ELEMENT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910157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POLYGONAL_ELEMENT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61465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POLYHEDRAL_ELEMENT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170623"/>
                  </a:ext>
                </a:extLst>
              </a:tr>
              <a:tr h="132192">
                <a:tc>
                  <a:txBody>
                    <a:bodyPr/>
                    <a:lstStyle/>
                    <a:p>
                      <a:r>
                        <a:rPr lang="en-AU" sz="800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 dirty="0">
                          <a:effectLst/>
                          <a:latin typeface="Calibri" panose="020F0502020204030204" pitchFamily="34" charset="0"/>
                        </a:rPr>
                        <a:t>EXPERIMENTAL_ELEMENT</a:t>
                      </a:r>
                    </a:p>
                  </a:txBody>
                  <a:tcPr marL="35724" marR="357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7608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9C76FEF-B2DF-7E49-861A-F32C032CF940}"/>
              </a:ext>
            </a:extLst>
          </p:cNvPr>
          <p:cNvSpPr txBox="1"/>
          <p:nvPr/>
        </p:nvSpPr>
        <p:spPr>
          <a:xfrm>
            <a:off x="436922" y="2517428"/>
            <a:ext cx="2304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focus is on the </a:t>
            </a:r>
            <a:r>
              <a:rPr lang="en-US" dirty="0" err="1"/>
              <a:t>isoparametric</a:t>
            </a:r>
            <a:r>
              <a:rPr lang="en-US" dirty="0"/>
              <a:t> element family.</a:t>
            </a:r>
          </a:p>
        </p:txBody>
      </p:sp>
    </p:spTree>
    <p:extLst>
      <p:ext uri="{BB962C8B-B14F-4D97-AF65-F5344CB8AC3E}">
        <p14:creationId xmlns:p14="http://schemas.microsoft.com/office/powerpoint/2010/main" val="3317313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Numbering Nodes, Segments, Faces and Neighbors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836712"/>
            <a:ext cx="6434832" cy="521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5736" y="6135424"/>
            <a:ext cx="509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S = Segment,  F=Face, C-style numbers, 0...n-1</a:t>
            </a:r>
          </a:p>
        </p:txBody>
      </p:sp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810635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Numbering Nodes, Segments, Faces and Neighbors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4922" b="3238"/>
          <a:stretch/>
        </p:blipFill>
        <p:spPr>
          <a:xfrm>
            <a:off x="899592" y="929229"/>
            <a:ext cx="7344816" cy="5524107"/>
          </a:xfrm>
          <a:prstGeom prst="rect">
            <a:avLst/>
          </a:prstGeom>
        </p:spPr>
      </p:pic>
      <p:sp>
        <p:nvSpPr>
          <p:cNvPr id="8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401359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6F8101-A352-6C4E-B193-A545E9F6E081}" type="slidenum">
              <a:rPr lang="en-US"/>
              <a:pPr/>
              <a:t>42</a:t>
            </a:fld>
            <a:endParaRPr lang="en-US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513531" y="113258"/>
            <a:ext cx="8162925" cy="579438"/>
          </a:xfrm>
        </p:spPr>
        <p:txBody>
          <a:bodyPr/>
          <a:lstStyle/>
          <a:p>
            <a:pPr eaLnBrk="1" hangingPunct="1"/>
            <a:r>
              <a:rPr lang="en-US" dirty="0"/>
              <a:t>Finite-element finite-volume terminology</a:t>
            </a:r>
            <a:endParaRPr lang="en-GB" dirty="0"/>
          </a:p>
        </p:txBody>
      </p:sp>
      <p:sp>
        <p:nvSpPr>
          <p:cNvPr id="31774" name="Text Box 28"/>
          <p:cNvSpPr txBox="1">
            <a:spLocks noChangeArrowheads="1"/>
          </p:cNvSpPr>
          <p:nvPr/>
        </p:nvSpPr>
        <p:spPr bwMode="auto">
          <a:xfrm>
            <a:off x="930275" y="5986463"/>
            <a:ext cx="68851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Arial"/>
                <a:cs typeface="Arial"/>
              </a:rPr>
              <a:t>NB: Facet </a:t>
            </a:r>
            <a:r>
              <a:rPr lang="en-US" i="1" dirty="0" err="1">
                <a:latin typeface="Arial"/>
                <a:cs typeface="Arial"/>
              </a:rPr>
              <a:t>normals</a:t>
            </a:r>
            <a:r>
              <a:rPr lang="en-US" i="1" dirty="0">
                <a:latin typeface="Arial"/>
                <a:cs typeface="Arial"/>
              </a:rPr>
              <a:t> always point to node with higher local number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4051" y="1197488"/>
            <a:ext cx="5962165" cy="4714875"/>
            <a:chOff x="1245085" y="996950"/>
            <a:chExt cx="5962165" cy="4714875"/>
          </a:xfrm>
        </p:grpSpPr>
        <p:sp>
          <p:nvSpPr>
            <p:cNvPr id="33" name="Freeform 3"/>
            <p:cNvSpPr>
              <a:spLocks/>
            </p:cNvSpPr>
            <p:nvPr/>
          </p:nvSpPr>
          <p:spPr bwMode="auto">
            <a:xfrm>
              <a:off x="2516188" y="1801813"/>
              <a:ext cx="3857625" cy="3402012"/>
            </a:xfrm>
            <a:custGeom>
              <a:avLst/>
              <a:gdLst>
                <a:gd name="T0" fmla="*/ 0 w 2430"/>
                <a:gd name="T1" fmla="*/ 2147483647 h 2143"/>
                <a:gd name="T2" fmla="*/ 2147483647 w 2430"/>
                <a:gd name="T3" fmla="*/ 0 h 2143"/>
                <a:gd name="T4" fmla="*/ 2147483647 w 2430"/>
                <a:gd name="T5" fmla="*/ 2147483647 h 2143"/>
                <a:gd name="T6" fmla="*/ 0 w 2430"/>
                <a:gd name="T7" fmla="*/ 2147483647 h 21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30"/>
                <a:gd name="T13" fmla="*/ 0 h 2143"/>
                <a:gd name="T14" fmla="*/ 2430 w 2430"/>
                <a:gd name="T15" fmla="*/ 2143 h 21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30" h="2143">
                  <a:moveTo>
                    <a:pt x="0" y="2143"/>
                  </a:moveTo>
                  <a:lnTo>
                    <a:pt x="1252" y="0"/>
                  </a:lnTo>
                  <a:lnTo>
                    <a:pt x="2430" y="2104"/>
                  </a:lnTo>
                  <a:lnTo>
                    <a:pt x="0" y="214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4" name="Oval 4"/>
            <p:cNvSpPr>
              <a:spLocks noChangeArrowheads="1"/>
            </p:cNvSpPr>
            <p:nvPr/>
          </p:nvSpPr>
          <p:spPr bwMode="auto">
            <a:xfrm>
              <a:off x="2378075" y="5080000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6229350" y="5026025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6"/>
            <p:cNvSpPr>
              <a:spLocks noChangeArrowheads="1"/>
            </p:cNvSpPr>
            <p:nvPr/>
          </p:nvSpPr>
          <p:spPr bwMode="auto">
            <a:xfrm>
              <a:off x="4359275" y="1671638"/>
              <a:ext cx="288925" cy="25558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4503738" y="3863975"/>
              <a:ext cx="20637" cy="1306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 flipV="1">
              <a:off x="4505325" y="3535363"/>
              <a:ext cx="962025" cy="336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ShapeType="1"/>
            </p:cNvSpPr>
            <p:nvPr/>
          </p:nvSpPr>
          <p:spPr bwMode="auto">
            <a:xfrm>
              <a:off x="3551238" y="3433763"/>
              <a:ext cx="962025" cy="433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ShapeType="1"/>
            </p:cNvSpPr>
            <p:nvPr/>
          </p:nvSpPr>
          <p:spPr bwMode="auto">
            <a:xfrm flipV="1">
              <a:off x="4516438" y="4475163"/>
              <a:ext cx="598487" cy="34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Oval 11"/>
            <p:cNvSpPr>
              <a:spLocks noChangeArrowheads="1"/>
            </p:cNvSpPr>
            <p:nvPr/>
          </p:nvSpPr>
          <p:spPr bwMode="auto">
            <a:xfrm>
              <a:off x="3644900" y="4386263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4429125" y="300513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5186363" y="440848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3744913" y="996950"/>
              <a:ext cx="15176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FiniteVolume</a:t>
              </a:r>
            </a:p>
            <a:p>
              <a:pPr eaLnBrk="1" hangingPunct="1"/>
              <a:r>
                <a:rPr lang="en-US" sz="1800">
                  <a:latin typeface="Arial" charset="0"/>
                </a:rPr>
                <a:t>=FEM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45" name="Text Box 15"/>
            <p:cNvSpPr txBox="1">
              <a:spLocks noChangeArrowheads="1"/>
            </p:cNvSpPr>
            <p:nvPr/>
          </p:nvSpPr>
          <p:spPr bwMode="auto">
            <a:xfrm>
              <a:off x="3208762" y="4020550"/>
              <a:ext cx="12621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FV </a:t>
              </a:r>
              <a:r>
                <a:rPr lang="en-US" sz="1800" b="1" dirty="0">
                  <a:latin typeface="Arial" charset="0"/>
                </a:rPr>
                <a:t>Sector</a:t>
              </a:r>
              <a:endParaRPr lang="en-GB" sz="1800" b="1" dirty="0">
                <a:latin typeface="Arial" charset="0"/>
              </a:endParaRPr>
            </a:p>
          </p:txBody>
        </p:sp>
        <p:sp>
          <p:nvSpPr>
            <p:cNvPr id="46" name="Text Box 16"/>
            <p:cNvSpPr txBox="1">
              <a:spLocks noChangeArrowheads="1"/>
            </p:cNvSpPr>
            <p:nvPr/>
          </p:nvSpPr>
          <p:spPr bwMode="auto">
            <a:xfrm>
              <a:off x="4116266" y="4587322"/>
              <a:ext cx="114676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FV </a:t>
              </a:r>
              <a:r>
                <a:rPr lang="en-US" sz="1800" b="1" dirty="0">
                  <a:latin typeface="Arial" charset="0"/>
                </a:rPr>
                <a:t>Facet</a:t>
              </a:r>
              <a:endParaRPr lang="en-GB" sz="1800" b="1" dirty="0">
                <a:latin typeface="Arial" charset="0"/>
              </a:endParaRPr>
            </a:p>
          </p:txBody>
        </p:sp>
        <p:sp>
          <p:nvSpPr>
            <p:cNvPr id="47" name="Text Box 17"/>
            <p:cNvSpPr txBox="1">
              <a:spLocks noChangeArrowheads="1"/>
            </p:cNvSpPr>
            <p:nvPr/>
          </p:nvSpPr>
          <p:spPr bwMode="auto">
            <a:xfrm>
              <a:off x="1824038" y="5345113"/>
              <a:ext cx="1352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inside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/>
          </p:nvSpPr>
          <p:spPr bwMode="auto">
            <a:xfrm>
              <a:off x="5715000" y="5235575"/>
              <a:ext cx="1492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outside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4441825" y="4427538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4895850" y="3638550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3940175" y="3565525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4033323" y="2656638"/>
              <a:ext cx="25842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1" dirty="0">
                  <a:latin typeface="Arial" charset="0"/>
                </a:rPr>
                <a:t>sector</a:t>
              </a:r>
              <a:r>
                <a:rPr lang="en-US" sz="1800" dirty="0">
                  <a:latin typeface="Arial" charset="0"/>
                </a:rPr>
                <a:t>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53" name="Rectangle 23"/>
            <p:cNvSpPr>
              <a:spLocks noChangeArrowheads="1"/>
            </p:cNvSpPr>
            <p:nvPr/>
          </p:nvSpPr>
          <p:spPr bwMode="auto">
            <a:xfrm>
              <a:off x="1245085" y="1963969"/>
              <a:ext cx="2454275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000" dirty="0" err="1">
                  <a:latin typeface="Arial" charset="0"/>
                </a:rPr>
                <a:t>FiniteVolumeStencil</a:t>
              </a:r>
              <a:endParaRPr lang="en-US" sz="2000" dirty="0">
                <a:latin typeface="Arial" charset="0"/>
              </a:endParaRPr>
            </a:p>
            <a:p>
              <a:r>
                <a:rPr lang="en-US" dirty="0">
                  <a:latin typeface="Arial" charset="0"/>
                </a:rPr>
                <a:t>(as illustrated for linear triangle)</a:t>
              </a:r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5002910" y="3249698"/>
              <a:ext cx="143469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1" dirty="0">
                  <a:latin typeface="Arial" charset="0"/>
                </a:rPr>
                <a:t>facet</a:t>
              </a:r>
              <a:r>
                <a:rPr lang="en-US" sz="1800" dirty="0">
                  <a:latin typeface="Arial" charset="0"/>
                </a:rPr>
                <a:t>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55" name="Line 25"/>
            <p:cNvSpPr>
              <a:spLocks noChangeShapeType="1"/>
            </p:cNvSpPr>
            <p:nvPr/>
          </p:nvSpPr>
          <p:spPr bwMode="auto">
            <a:xfrm flipV="1">
              <a:off x="5608638" y="2522538"/>
              <a:ext cx="752475" cy="955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" name="Line 26"/>
            <p:cNvSpPr>
              <a:spLocks noChangeShapeType="1"/>
            </p:cNvSpPr>
            <p:nvPr/>
          </p:nvSpPr>
          <p:spPr bwMode="auto">
            <a:xfrm flipH="1" flipV="1">
              <a:off x="2922588" y="2628900"/>
              <a:ext cx="596900" cy="758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7" name="Line 27"/>
            <p:cNvSpPr>
              <a:spLocks noChangeShapeType="1"/>
            </p:cNvSpPr>
            <p:nvPr/>
          </p:nvSpPr>
          <p:spPr bwMode="auto">
            <a:xfrm flipV="1">
              <a:off x="6376988" y="1355725"/>
              <a:ext cx="146050" cy="1158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 rot="18000000">
              <a:off x="1825938" y="3596518"/>
              <a:ext cx="2635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 err="1">
                  <a:latin typeface="Arial" charset="0"/>
                </a:rPr>
                <a:t>subface</a:t>
              </a:r>
              <a:r>
                <a:rPr lang="en-US" sz="1800" dirty="0">
                  <a:latin typeface="Arial" charset="0"/>
                </a:rPr>
                <a:t> of element </a:t>
              </a:r>
              <a:r>
                <a:rPr lang="en-US" sz="1800" b="1" dirty="0">
                  <a:latin typeface="Arial" charset="0"/>
                </a:rPr>
                <a:t>face</a:t>
              </a:r>
              <a:endParaRPr lang="en-GB" sz="1800" b="1" dirty="0">
                <a:latin typeface="Arial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336480" y="2030451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809433" y="4739716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02692" y="4683220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62" name="Text Box 22"/>
            <p:cNvSpPr txBox="1">
              <a:spLocks noChangeArrowheads="1"/>
            </p:cNvSpPr>
            <p:nvPr/>
          </p:nvSpPr>
          <p:spPr bwMode="auto">
            <a:xfrm>
              <a:off x="4194099" y="2249211"/>
              <a:ext cx="21864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FE integration point</a:t>
              </a:r>
              <a:endParaRPr lang="en-GB" sz="1800" dirty="0">
                <a:latin typeface="Arial" charset="0"/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4620304" y="936010"/>
            <a:ext cx="452369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enum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>
                <a:latin typeface="Courier"/>
                <a:cs typeface="Courier"/>
              </a:rPr>
              <a:t>PLACEMENT { </a:t>
            </a:r>
            <a:r>
              <a:rPr lang="en-US" sz="1200" dirty="0">
                <a:solidFill>
                  <a:srgbClr val="000000"/>
                </a:solidFill>
                <a:latin typeface="Courier"/>
                <a:cs typeface="Courier"/>
              </a:rPr>
              <a:t>ELEMENT_INTEGRATION_POINT = 1,</a:t>
            </a:r>
          </a:p>
          <a:p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                 </a:t>
            </a:r>
            <a:r>
              <a:rPr lang="en-US" sz="1200" dirty="0">
                <a:solidFill>
                  <a:srgbClr val="000000"/>
                </a:solidFill>
                <a:latin typeface="Courier"/>
                <a:cs typeface="Courier"/>
              </a:rPr>
              <a:t>SECTOR_INTEGRATION_POINT = 2,</a:t>
            </a:r>
          </a:p>
          <a:p>
            <a:r>
              <a:rPr lang="en-US" sz="1200" dirty="0">
                <a:solidFill>
                  <a:srgbClr val="000000"/>
                </a:solidFill>
                <a:latin typeface="Courier"/>
                <a:cs typeface="Courier"/>
              </a:rPr>
              <a:t>                 FACET_INTEGRATION_POINT = 3,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NODE,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EDGE,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INTER_FACE,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ELEMENT,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REGION,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SPLIT_BOUNDARY,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MODEL,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UNDEFINED };</a:t>
            </a:r>
          </a:p>
        </p:txBody>
      </p:sp>
      <p:sp>
        <p:nvSpPr>
          <p:cNvPr id="65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8767929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B2317B-DC9A-E046-93BB-2DE7549E1CE3}" type="slidenum">
              <a:rPr lang="en-US"/>
              <a:pPr/>
              <a:t>43</a:t>
            </a:fld>
            <a:endParaRPr lang="en-US"/>
          </a:p>
        </p:txBody>
      </p:sp>
      <p:pic>
        <p:nvPicPr>
          <p:cNvPr id="214019" name="Picture 3" descr="FVStencilPyr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3556" y="4000320"/>
            <a:ext cx="3160759" cy="2673430"/>
          </a:xfrm>
          <a:prstGeom prst="rect">
            <a:avLst/>
          </a:prstGeom>
          <a:noFill/>
        </p:spPr>
      </p:pic>
      <p:sp>
        <p:nvSpPr>
          <p:cNvPr id="214022" name="Rectangle 6"/>
          <p:cNvSpPr>
            <a:spLocks noChangeArrowheads="1"/>
          </p:cNvSpPr>
          <p:nvPr/>
        </p:nvSpPr>
        <p:spPr bwMode="auto">
          <a:xfrm>
            <a:off x="2171700" y="1433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4023" name="Rectangle 7"/>
          <p:cNvSpPr>
            <a:spLocks noChangeArrowheads="1"/>
          </p:cNvSpPr>
          <p:nvPr/>
        </p:nvSpPr>
        <p:spPr bwMode="auto">
          <a:xfrm>
            <a:off x="2220913" y="14747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4024" name="Picture 8" descr="AssebledPolyMesh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75730" y="4328640"/>
            <a:ext cx="3017073" cy="2160315"/>
          </a:xfrm>
          <a:prstGeom prst="rect">
            <a:avLst/>
          </a:prstGeom>
          <a:noFill/>
        </p:spPr>
      </p:pic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402710" y="892175"/>
            <a:ext cx="5053012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l">
              <a:buFontTx/>
              <a:buChar char="•"/>
            </a:pPr>
            <a:r>
              <a:rPr lang="en-US" sz="2000">
                <a:solidFill>
                  <a:schemeClr val="bg1"/>
                </a:solidFill>
                <a:latin typeface="Arial" pitchFamily="-65" charset="0"/>
              </a:rPr>
              <a:t> Finite volume mesh is not stored</a:t>
            </a:r>
          </a:p>
          <a:p>
            <a:pPr algn="l">
              <a:buFontTx/>
              <a:buChar char="•"/>
            </a:pPr>
            <a:r>
              <a:rPr lang="en-US" sz="2000">
                <a:solidFill>
                  <a:schemeClr val="bg1"/>
                </a:solidFill>
                <a:latin typeface="Arial" pitchFamily="-65" charset="0"/>
              </a:rPr>
              <a:t> Stencils assemble FVs from different FEs </a:t>
            </a:r>
          </a:p>
          <a:p>
            <a:pPr algn="l">
              <a:buFontTx/>
              <a:buChar char="•"/>
            </a:pPr>
            <a:r>
              <a:rPr lang="en-US" sz="2000">
                <a:solidFill>
                  <a:schemeClr val="bg1"/>
                </a:solidFill>
                <a:latin typeface="Arial" pitchFamily="-65" charset="0"/>
              </a:rPr>
              <a:t> Efficient</a:t>
            </a:r>
          </a:p>
          <a:p>
            <a:pPr algn="l">
              <a:buFontTx/>
              <a:buChar char="•"/>
            </a:pPr>
            <a:r>
              <a:rPr lang="en-US" sz="2000">
                <a:solidFill>
                  <a:schemeClr val="bg1"/>
                </a:solidFill>
                <a:latin typeface="Arial" pitchFamily="-65" charset="0"/>
              </a:rPr>
              <a:t> Isoparametric</a:t>
            </a:r>
          </a:p>
          <a:p>
            <a:pPr algn="l">
              <a:buFontTx/>
              <a:buChar char="•"/>
            </a:pPr>
            <a:r>
              <a:rPr lang="en-US" sz="2000">
                <a:solidFill>
                  <a:schemeClr val="bg1"/>
                </a:solidFill>
                <a:latin typeface="Arial" pitchFamily="-65" charset="0"/>
              </a:rPr>
              <a:t> Numerical integration is applied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815" y="708480"/>
            <a:ext cx="5440839" cy="2975080"/>
          </a:xfrm>
          <a:prstGeom prst="rect">
            <a:avLst/>
          </a:prstGeom>
        </p:spPr>
      </p:pic>
      <p:sp>
        <p:nvSpPr>
          <p:cNvPr id="2140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77979"/>
            <a:ext cx="9143999" cy="671512"/>
          </a:xfrm>
        </p:spPr>
        <p:txBody>
          <a:bodyPr/>
          <a:lstStyle/>
          <a:p>
            <a:pPr algn="ctr"/>
            <a:r>
              <a:rPr lang="en-US" sz="2800" dirty="0"/>
              <a:t>Finite-volume stencils for </a:t>
            </a:r>
            <a:r>
              <a:rPr lang="en-US" sz="2800" dirty="0" err="1"/>
              <a:t>isoparametric</a:t>
            </a:r>
            <a:r>
              <a:rPr lang="en-US" sz="2800" dirty="0"/>
              <a:t> finite</a:t>
            </a:r>
            <a:r>
              <a:rPr lang="en-US" dirty="0"/>
              <a:t> </a:t>
            </a:r>
            <a:r>
              <a:rPr lang="en-US" sz="2800" dirty="0"/>
              <a:t>elements</a:t>
            </a:r>
            <a:endParaRPr lang="en-GB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799986" y="3831043"/>
            <a:ext cx="4985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latin typeface="+mn-lt"/>
              </a:rPr>
              <a:t>Paluszny</a:t>
            </a:r>
            <a:r>
              <a:rPr lang="en-US" sz="1600" i="1" dirty="0">
                <a:latin typeface="+mn-lt"/>
              </a:rPr>
              <a:t>, </a:t>
            </a:r>
            <a:r>
              <a:rPr lang="en-US" sz="1600" i="1" dirty="0" err="1">
                <a:latin typeface="+mn-lt"/>
              </a:rPr>
              <a:t>Matthai</a:t>
            </a:r>
            <a:r>
              <a:rPr lang="en-US" sz="1600" i="1" dirty="0">
                <a:latin typeface="+mn-lt"/>
              </a:rPr>
              <a:t> and </a:t>
            </a:r>
            <a:r>
              <a:rPr lang="en-US" sz="1600" i="1" dirty="0" err="1">
                <a:latin typeface="+mn-lt"/>
              </a:rPr>
              <a:t>Hohmeyer</a:t>
            </a:r>
            <a:r>
              <a:rPr lang="en-US" sz="1600" i="1" dirty="0">
                <a:latin typeface="+mn-lt"/>
              </a:rPr>
              <a:t> (2007, </a:t>
            </a:r>
            <a:r>
              <a:rPr lang="en-US" sz="1600" i="1" dirty="0" err="1">
                <a:latin typeface="+mn-lt"/>
              </a:rPr>
              <a:t>Geofluids</a:t>
            </a:r>
            <a:r>
              <a:rPr lang="en-US" sz="1600" i="1" dirty="0">
                <a:latin typeface="+mn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248" y="1335298"/>
            <a:ext cx="1315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For 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single element types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5" y="4278231"/>
            <a:ext cx="22290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For 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hybrid meshes: FV cells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shared by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different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element </a:t>
            </a:r>
          </a:p>
          <a:p>
            <a:pPr algn="r"/>
            <a:r>
              <a:rPr lang="en-US" sz="2000" dirty="0">
                <a:solidFill>
                  <a:srgbClr val="000090"/>
                </a:solidFill>
                <a:latin typeface="Arial"/>
                <a:cs typeface="Arial"/>
              </a:rPr>
              <a:t>types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A6F3-6F7E-3F4C-9EF2-19389D65A92B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858000" y="6477000"/>
            <a:ext cx="2133600" cy="365125"/>
          </a:xfrm>
          <a:prstGeom prst="rect">
            <a:avLst/>
          </a:prstGeom>
        </p:spPr>
        <p:txBody>
          <a:bodyPr/>
          <a:lstStyle/>
          <a:p>
            <a:pPr algn="r"/>
            <a:fld id="{223FD816-CC6A-BF43-8241-637E3E7EAA5A}" type="slidenum">
              <a:rPr lang="en-US" sz="1400" smtClean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pPr algn="r"/>
              <a:t>43</a:t>
            </a:fld>
            <a:endParaRPr lang="en-US" sz="1400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405993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78475"/>
          </a:xfrm>
        </p:spPr>
        <p:txBody>
          <a:bodyPr/>
          <a:lstStyle/>
          <a:p>
            <a:r>
              <a:rPr lang="en-US" dirty="0"/>
              <a:t>CSMP Models consist of a finite element mesh with associated variables.</a:t>
            </a:r>
          </a:p>
          <a:p>
            <a:r>
              <a:rPr lang="en-US" dirty="0"/>
              <a:t>Variable types supported by CSMP are Scalar- Vector- Tensor-, Array and </a:t>
            </a:r>
            <a:r>
              <a:rPr lang="en-US" dirty="0" err="1"/>
              <a:t>FlaggedArray</a:t>
            </a:r>
            <a:r>
              <a:rPr lang="en-US" dirty="0"/>
              <a:t> variable.</a:t>
            </a:r>
          </a:p>
          <a:p>
            <a:r>
              <a:rPr lang="en-US" dirty="0"/>
              <a:t>CSMP variables consist of flag-value pairs.</a:t>
            </a:r>
          </a:p>
          <a:p>
            <a:r>
              <a:rPr lang="en-US" dirty="0"/>
              <a:t>CSMP Models are constructed with mesh and property data supplied by </a:t>
            </a:r>
            <a:r>
              <a:rPr lang="en-US" dirty="0" err="1"/>
              <a:t>VSet</a:t>
            </a:r>
            <a:r>
              <a:rPr lang="en-US" dirty="0"/>
              <a:t> (*.</a:t>
            </a:r>
            <a:r>
              <a:rPr lang="en-US" dirty="0" err="1"/>
              <a:t>dat</a:t>
            </a:r>
            <a:r>
              <a:rPr lang="en-US" dirty="0"/>
              <a:t> file) and </a:t>
            </a:r>
            <a:r>
              <a:rPr lang="en-US" dirty="0" err="1"/>
              <a:t>ModelTopology</a:t>
            </a:r>
            <a:r>
              <a:rPr lang="en-US" dirty="0"/>
              <a:t> (*.</a:t>
            </a:r>
            <a:r>
              <a:rPr lang="en-US" dirty="0" err="1"/>
              <a:t>asc</a:t>
            </a:r>
            <a:r>
              <a:rPr lang="en-US" dirty="0"/>
              <a:t> file) containers, respectively; their relevant interfaces were described.</a:t>
            </a:r>
          </a:p>
          <a:p>
            <a:r>
              <a:rPr lang="en-US" dirty="0"/>
              <a:t>CSMP Models consists of Region, Boundary and </a:t>
            </a:r>
            <a:r>
              <a:rPr lang="en-US" dirty="0" err="1"/>
              <a:t>SplitBoundary</a:t>
            </a:r>
            <a:r>
              <a:rPr lang="en-US" dirty="0"/>
              <a:t> objects that divide it into volumetric and surface </a:t>
            </a:r>
            <a:r>
              <a:rPr lang="en-US" dirty="0" err="1"/>
              <a:t>subdomains,if</a:t>
            </a:r>
            <a:r>
              <a:rPr lang="en-US" dirty="0"/>
              <a:t> not disconnected mesh patches, respectively.</a:t>
            </a:r>
          </a:p>
          <a:p>
            <a:r>
              <a:rPr lang="en-US" dirty="0"/>
              <a:t>CSMP Models are </a:t>
            </a:r>
            <a:r>
              <a:rPr lang="en-US" dirty="0" err="1"/>
              <a:t>initialised</a:t>
            </a:r>
            <a:r>
              <a:rPr lang="en-US" dirty="0"/>
              <a:t> using </a:t>
            </a:r>
            <a:r>
              <a:rPr lang="en-US" dirty="0" err="1"/>
              <a:t>VSet</a:t>
            </a:r>
            <a:r>
              <a:rPr lang="en-US" dirty="0"/>
              <a:t> (mesh + property) and </a:t>
            </a:r>
            <a:r>
              <a:rPr lang="en-US" dirty="0" err="1"/>
              <a:t>ModelTopology</a:t>
            </a:r>
            <a:r>
              <a:rPr lang="en-US" dirty="0"/>
              <a:t> containers.</a:t>
            </a:r>
          </a:p>
          <a:p>
            <a:r>
              <a:rPr lang="en-US" dirty="0" err="1"/>
              <a:t>Initialisation</a:t>
            </a:r>
            <a:r>
              <a:rPr lang="en-US" dirty="0"/>
              <a:t> via text files uses a human readable .</a:t>
            </a:r>
            <a:r>
              <a:rPr lang="en-US" dirty="0" err="1"/>
              <a:t>asc</a:t>
            </a:r>
            <a:r>
              <a:rPr lang="en-US" dirty="0"/>
              <a:t> file with the model region info and a text/binary file containing the mesh.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/>
              <a:pPr/>
              <a:t>9/11/21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1281897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019" y="0"/>
            <a:ext cx="2668216" cy="1700808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The 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2651" y="5733256"/>
            <a:ext cx="7167741" cy="100811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Contact us if you have any questions!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4537-941D-2348-A481-A34A2C8533FE}" type="datetime1">
              <a:rPr lang="en-US" smtClean="0"/>
              <a:pPr/>
              <a:t>9/11/21</a:t>
            </a:fld>
            <a:endParaRPr lang="en-US"/>
          </a:p>
        </p:txBody>
      </p:sp>
      <p:sp>
        <p:nvSpPr>
          <p:cNvPr id="7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/>
              <a:t>CSMP++ Interfacing</a:t>
            </a:r>
          </a:p>
        </p:txBody>
      </p:sp>
    </p:spTree>
    <p:extLst>
      <p:ext uri="{BB962C8B-B14F-4D97-AF65-F5344CB8AC3E}">
        <p14:creationId xmlns:p14="http://schemas.microsoft.com/office/powerpoint/2010/main" val="250869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62847</TotalTime>
  <Words>4125</Words>
  <Application>Microsoft Macintosh PowerPoint</Application>
  <PresentationFormat>On-screen Show (4:3)</PresentationFormat>
  <Paragraphs>683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 Narrow</vt:lpstr>
      <vt:lpstr>Calibri</vt:lpstr>
      <vt:lpstr>Courier</vt:lpstr>
      <vt:lpstr>Courier New</vt:lpstr>
      <vt:lpstr>Office Theme</vt:lpstr>
      <vt:lpstr>The Complex Systems Modelling Platform  (CSMP++ ) </vt:lpstr>
      <vt:lpstr>Preface</vt:lpstr>
      <vt:lpstr>Synopsis: CSMP’s DOxygen documentation</vt:lpstr>
      <vt:lpstr>PowerPoint Presentation</vt:lpstr>
      <vt:lpstr>Content of this document</vt:lpstr>
      <vt:lpstr>1. STORING THE Mesh explanation of polygonal data for interim VSet container…</vt:lpstr>
      <vt:lpstr>Storage of unstructured grids / polygonal data</vt:lpstr>
      <vt:lpstr>Layout of ‘plist’ and ‘pfverts’ arrays</vt:lpstr>
      <vt:lpstr>Layout of ‘plist’ and ‘pfverts’ arrays</vt:lpstr>
      <vt:lpstr>What is stored in pfverts?</vt:lpstr>
      <vt:lpstr>Illustration: Element vs. Face vs. Interface</vt:lpstr>
      <vt:lpstr>Face example</vt:lpstr>
      <vt:lpstr>Interface example</vt:lpstr>
      <vt:lpstr>Data storage associated with VSet</vt:lpstr>
      <vt:lpstr>Revised ASC file: example</vt:lpstr>
      <vt:lpstr>2. CSMP Conventions variable types, flags, placements</vt:lpstr>
      <vt:lpstr>Boundary flags (bflags record in VSet)</vt:lpstr>
      <vt:lpstr>CSMP++ interoperable physical variables</vt:lpstr>
      <vt:lpstr>Variable flags</vt:lpstr>
      <vt:lpstr>Placement of physical variables on the mesh FEM inspired options: node, element, face, interface, region, boundary, splitboundary, ELEMENT_INTEGRATION_POINT, FACET_INTEGRATION_POINT,  SECTOR_INTEGRATION_POINT. Node and element are the most important placements.</vt:lpstr>
      <vt:lpstr>Variable Placement</vt:lpstr>
      <vt:lpstr>Variable management: PropertyDatabase</vt:lpstr>
      <vt:lpstr>Creating a CSMP model from VSet &amp; ModelTopology</vt:lpstr>
      <vt:lpstr>Computation Settings</vt:lpstr>
      <vt:lpstr>3. Region-, BOUNDARY- AND SPLITBOUNDARY objects</vt:lpstr>
      <vt:lpstr>Content of this document</vt:lpstr>
      <vt:lpstr>Geologically motivated data model:       Model, Regions, Boundaries and SplitBoundaries</vt:lpstr>
      <vt:lpstr>Within model subdomains: distinguishing     interior, perimeter, complete</vt:lpstr>
      <vt:lpstr>Lower-dimensional Regions = Boundaries: Assignment of boundary conditions via configuration file</vt:lpstr>
      <vt:lpstr>Content of this document</vt:lpstr>
      <vt:lpstr>Completely impermeable faults</vt:lpstr>
      <vt:lpstr>Highly permeable faults and fractures</vt:lpstr>
      <vt:lpstr>Faults with internal property layers</vt:lpstr>
      <vt:lpstr>4. CSMP++ HYBRID Finite-Element  FINITE-VOLUME FrameWork, ELEMENT types and Conventions</vt:lpstr>
      <vt:lpstr>Finite-Element node-centered Finite Volume Scheme (operator splitting: FEM for elliptic-parabolic equations; FVM for hyberbolic ones)</vt:lpstr>
      <vt:lpstr> Unstructured finite element Mesh</vt:lpstr>
      <vt:lpstr> Conventions</vt:lpstr>
      <vt:lpstr>CSMP++ Finite element library</vt:lpstr>
      <vt:lpstr>Element integer codes</vt:lpstr>
      <vt:lpstr>Numbering Nodes, Segments, Faces and Neighbors</vt:lpstr>
      <vt:lpstr>Numbering Nodes, Segments, Faces and Neighbors</vt:lpstr>
      <vt:lpstr>Finite-element finite-volume terminology</vt:lpstr>
      <vt:lpstr>Finite-volume stencils for isoparametric finite elements</vt:lpstr>
      <vt:lpstr>Summary</vt:lpstr>
      <vt:lpstr>The End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Stephan Matthai</dc:creator>
  <cp:lastModifiedBy>Stephan Matthai</cp:lastModifiedBy>
  <cp:revision>791</cp:revision>
  <cp:lastPrinted>2010-09-09T12:37:12Z</cp:lastPrinted>
  <dcterms:created xsi:type="dcterms:W3CDTF">2011-02-07T13:57:38Z</dcterms:created>
  <dcterms:modified xsi:type="dcterms:W3CDTF">2021-09-11T02:50:53Z</dcterms:modified>
</cp:coreProperties>
</file>