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embeddings/oleObject1.bin" ContentType="application/vnd.openxmlformats-officedocument.oleObject"/>
  <Override PartName="/ppt/notesSlides/notesSlide6.xml" ContentType="application/vnd.openxmlformats-officedocument.presentationml.notesSlide+xml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41"/>
  </p:notesMasterIdLst>
  <p:handoutMasterIdLst>
    <p:handoutMasterId r:id="rId42"/>
  </p:handoutMasterIdLst>
  <p:sldIdLst>
    <p:sldId id="256" r:id="rId2"/>
    <p:sldId id="427" r:id="rId3"/>
    <p:sldId id="429" r:id="rId4"/>
    <p:sldId id="436" r:id="rId5"/>
    <p:sldId id="431" r:id="rId6"/>
    <p:sldId id="437" r:id="rId7"/>
    <p:sldId id="410" r:id="rId8"/>
    <p:sldId id="405" r:id="rId9"/>
    <p:sldId id="391" r:id="rId10"/>
    <p:sldId id="450" r:id="rId11"/>
    <p:sldId id="451" r:id="rId12"/>
    <p:sldId id="406" r:id="rId13"/>
    <p:sldId id="412" r:id="rId14"/>
    <p:sldId id="419" r:id="rId15"/>
    <p:sldId id="434" r:id="rId16"/>
    <p:sldId id="413" r:id="rId17"/>
    <p:sldId id="438" r:id="rId18"/>
    <p:sldId id="414" r:id="rId19"/>
    <p:sldId id="420" r:id="rId20"/>
    <p:sldId id="432" r:id="rId21"/>
    <p:sldId id="417" r:id="rId22"/>
    <p:sldId id="426" r:id="rId23"/>
    <p:sldId id="421" r:id="rId24"/>
    <p:sldId id="423" r:id="rId25"/>
    <p:sldId id="422" r:id="rId26"/>
    <p:sldId id="433" r:id="rId27"/>
    <p:sldId id="424" r:id="rId28"/>
    <p:sldId id="442" r:id="rId29"/>
    <p:sldId id="445" r:id="rId30"/>
    <p:sldId id="443" r:id="rId31"/>
    <p:sldId id="444" r:id="rId32"/>
    <p:sldId id="439" r:id="rId33"/>
    <p:sldId id="446" r:id="rId34"/>
    <p:sldId id="447" r:id="rId35"/>
    <p:sldId id="448" r:id="rId36"/>
    <p:sldId id="441" r:id="rId37"/>
    <p:sldId id="440" r:id="rId38"/>
    <p:sldId id="449" r:id="rId39"/>
    <p:sldId id="435" r:id="rId40"/>
  </p:sldIdLst>
  <p:sldSz cx="9144000" cy="6858000" type="screen4x3"/>
  <p:notesSz cx="6985000" cy="9271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F98"/>
    <a:srgbClr val="FFCC00"/>
    <a:srgbClr val="0000FF"/>
    <a:srgbClr val="00FFFF"/>
    <a:srgbClr val="00CC00"/>
    <a:srgbClr val="33CC33"/>
    <a:srgbClr val="808080"/>
    <a:srgbClr val="B2B2B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40" autoAdjust="0"/>
  </p:normalViewPr>
  <p:slideViewPr>
    <p:cSldViewPr snapToGrid="0">
      <p:cViewPr varScale="1">
        <p:scale>
          <a:sx n="114" d="100"/>
          <a:sy n="114" d="100"/>
        </p:scale>
        <p:origin x="-10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handoutMaster" Target="handoutMasters/handoutMaster1.xml"/><Relationship Id="rId43" Type="http://schemas.openxmlformats.org/officeDocument/2006/relationships/printerSettings" Target="printerSettings/printerSettings1.bin"/><Relationship Id="rId44" Type="http://schemas.openxmlformats.org/officeDocument/2006/relationships/presProps" Target="presProps.xml"/><Relationship Id="rId4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Relationship Id="rId2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Relationship Id="rId2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7043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7044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7045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0382BDA7-F59E-594D-86A4-E17DCDE87EC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65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3725"/>
            <a:ext cx="512127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D485DD8A-6A8A-ED46-83D9-CB8C804C5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354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1565D6FA-D2AE-F044-B2DE-316731E3F31A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Add tricks</a:t>
            </a:r>
            <a:r>
              <a:rPr lang="en-US" baseline="0" dirty="0" smtClean="0"/>
              <a:t> of Patrick to lag time stepping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3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(10/3/12 18:44) -----</a:t>
            </a:r>
          </a:p>
          <a:p>
            <a:r>
              <a:rPr lang="en-US"/>
              <a:t>FiniteVolume  class helpful? - presently we cannot loop directly over the facets of any one particular finite volume, but we can loop over these facets sector-by-sector, sector facet-by-sector facet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80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(10/3/12 18:44) -----</a:t>
            </a:r>
          </a:p>
          <a:p>
            <a:r>
              <a:rPr lang="en-US"/>
              <a:t>Test that we can transport 2 components in 2 phases</a:t>
            </a:r>
          </a:p>
          <a:p>
            <a:r>
              <a:rPr lang="en-US"/>
              <a:t>Decision: we will use a mass-based "CFL" like criterion that guarentees that what goes out is not more than what goes in</a:t>
            </a:r>
          </a:p>
          <a:p>
            <a:r>
              <a:rPr lang="en-US"/>
              <a:t>(combined this computation with that of the saturation gradients)</a:t>
            </a:r>
          </a:p>
          <a:p>
            <a:r>
              <a:rPr lang="en-US"/>
              <a:t>- update CFL once any vt is calculated </a:t>
            </a:r>
          </a:p>
          <a:p>
            <a:r>
              <a:rPr lang="en-US"/>
              <a:t>or more often</a:t>
            </a:r>
          </a:p>
          <a:p>
            <a:r>
              <a:rPr lang="en-US"/>
              <a:t>- how is this coupled with the pressure time step (is there a cheap way to diagnose what works best?)</a:t>
            </a:r>
          </a:p>
          <a:p>
            <a:r>
              <a:rPr lang="en-US"/>
              <a:t>- can you calculate a viscous/gravitational/capillary/source balance that is diagnostic for what we can do to the pressure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45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D76354EB-93D9-1341-9432-F2D0E987B0A2}" type="slidenum">
              <a:rPr lang="en-GB" sz="1200"/>
              <a:pPr eaLnBrk="1" hangingPunct="1"/>
              <a:t>8</a:t>
            </a:fld>
            <a:endParaRPr lang="en-GB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  <a:cs typeface="ＭＳ Ｐゴシック" charset="0"/>
              </a:rPr>
              <a:t>Integration of properties is required</a:t>
            </a:r>
            <a:endParaRPr lang="en-GB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B32117C7-677F-ED4E-A368-A6201A1788C3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C3A456C-3B7F-C34E-9315-C9B92A617917}" type="slidenum">
              <a:rPr lang="en-GB" sz="1200"/>
              <a:pPr eaLnBrk="1" hangingPunct="1"/>
              <a:t>12</a:t>
            </a:fld>
            <a:endParaRPr lang="en-GB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697B9D-347E-5644-B490-C43AC6FEB2B3}" type="slidenum">
              <a:rPr lang="en-US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(10/3/12 18:44) -----</a:t>
            </a:r>
          </a:p>
          <a:p>
            <a:r>
              <a:rPr lang="en-US"/>
              <a:t>- agreed to remove PYRAMID_WITH_TRIANGULAR_FACETS</a:t>
            </a:r>
          </a:p>
          <a:p>
            <a:r>
              <a:rPr lang="en-US"/>
              <a:t>- SPE10 2D case orthogonal quadrilaterals gives you divergence in flow field (3-4 O(M) greater than numerical </a:t>
            </a:r>
          </a:p>
          <a:p>
            <a:r>
              <a:rPr lang="en-US"/>
              <a:t>zero; always errors does not matter how integration is done - happens only if the viscosities are different)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75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(10/3/12 18:44) -----</a:t>
            </a:r>
          </a:p>
          <a:p>
            <a:r>
              <a:rPr lang="en-US"/>
              <a:t>- NCFVT refactoring is agreed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25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CF149C-0C6B-0D4E-8BDF-05185F2416B1}" type="slidenum">
              <a:rPr lang="en-US">
                <a:solidFill>
                  <a:prstClr val="black"/>
                </a:solidFill>
                <a:latin typeface="Calibri"/>
              </a:rPr>
              <a:pPr/>
              <a:t>16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r>
              <a:rPr lang="en-US"/>
              <a:t>----- Meeting Notes (10/3/12 18:44) -----</a:t>
            </a:r>
          </a:p>
          <a:p>
            <a:pPr eaLnBrk="1" hangingPunct="1"/>
            <a:r>
              <a:rPr lang="en-US"/>
              <a:t>- pore volume managed by model O.K.</a:t>
            </a:r>
          </a:p>
          <a:p>
            <a:pPr eaLnBrk="1" hangingPunct="1"/>
            <a:r>
              <a:rPr lang="en-US"/>
              <a:t>- flux balance stored on Model</a:t>
            </a:r>
          </a:p>
          <a:p>
            <a:pPr eaLnBrk="1" hangingPunct="1"/>
            <a:r>
              <a:rPr lang="en-US"/>
              <a:t>SMINMAX is special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(10/3/12 18:44) -----</a:t>
            </a:r>
          </a:p>
          <a:p>
            <a:r>
              <a:rPr lang="en-US"/>
              <a:t>Flux boundary conditions for compressible flow?</a:t>
            </a:r>
          </a:p>
          <a:p>
            <a:r>
              <a:rPr lang="en-US"/>
              <a:t>Dealing with inflow changing to outflow</a:t>
            </a:r>
          </a:p>
          <a:p>
            <a:r>
              <a:rPr lang="en-US"/>
              <a:t>Should all elements that have a node on a boundary of a region be boundary elements?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70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31339D-3957-0A4C-B460-33C1FAC07BC6}" type="slidenum">
              <a:rPr lang="en-US">
                <a:solidFill>
                  <a:prstClr val="black"/>
                </a:solidFill>
                <a:latin typeface="Calibri"/>
              </a:rPr>
              <a:pPr/>
              <a:t>18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r>
              <a:rPr lang="en-US"/>
              <a:t>----- Meeting Notes (10/3/12 18:44) -----</a:t>
            </a:r>
          </a:p>
          <a:p>
            <a:pPr eaLnBrk="1" hangingPunct="1"/>
            <a:r>
              <a:rPr lang="en-US"/>
              <a:t>Way forward via Thomas suggestion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interface needs to be cleaned up – I</a:t>
            </a:r>
            <a:r>
              <a:rPr lang="en-US" baseline="0" dirty="0" smtClean="0"/>
              <a:t> do not know who introduced all this duplicate functions!</a:t>
            </a:r>
          </a:p>
          <a:p>
            <a:r>
              <a:rPr lang="en-US" baseline="0" dirty="0" smtClean="0"/>
              <a:t>----- Meeting Notes (10/3/12 18:44) -----</a:t>
            </a:r>
          </a:p>
          <a:p>
            <a:r>
              <a:rPr lang="en-US" baseline="0" dirty="0" smtClean="0"/>
              <a:t>Action is needed!</a:t>
            </a:r>
          </a:p>
          <a:p>
            <a:r>
              <a:rPr lang="en-US" baseline="0" dirty="0" smtClean="0"/>
              <a:t>- rename into SaturationFunctions </a:t>
            </a:r>
          </a:p>
          <a:p>
            <a:r>
              <a:rPr lang="en-US" baseline="0" dirty="0" smtClean="0"/>
              <a:t>2-phase model does things it should not do:</a:t>
            </a:r>
          </a:p>
          <a:p>
            <a:r>
              <a:rPr lang="en-US" baseline="0" dirty="0" smtClean="0"/>
              <a:t>- calculate concentrations in phases</a:t>
            </a:r>
          </a:p>
          <a:p>
            <a:r>
              <a:rPr lang="en-US" baseline="0" dirty="0" smtClean="0"/>
              <a:t>It should do:</a:t>
            </a:r>
          </a:p>
          <a:p>
            <a:r>
              <a:rPr lang="en-US" baseline="0" dirty="0" smtClean="0"/>
              <a:t>- relative permeabilities, capillary pressure, fractional flows etc.</a:t>
            </a:r>
          </a:p>
          <a:p>
            <a:r>
              <a:rPr lang="en-US" baseline="0" dirty="0" smtClean="0"/>
              <a:t>- talk to EOS, fluid properties,  and other things</a:t>
            </a:r>
          </a:p>
          <a:p>
            <a:r>
              <a:rPr lang="en-US" baseline="0" dirty="0" smtClean="0"/>
              <a:t>- feedback with transport scheme in terms of where variables are sampled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91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(10/3/12 18:44) -----</a:t>
            </a:r>
          </a:p>
          <a:p>
            <a:r>
              <a:rPr lang="en-US"/>
              <a:t>We go with Element-based formulation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81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----- Meeting Notes (10/3/12 18:44) -----</a:t>
            </a:r>
          </a:p>
          <a:p>
            <a:r>
              <a:rPr lang="en-US" dirty="0"/>
              <a:t>- no saturation array: mass fractions vs. property gradients</a:t>
            </a:r>
          </a:p>
          <a:p>
            <a:endParaRPr lang="en-US" dirty="0"/>
          </a:p>
          <a:p>
            <a:r>
              <a:rPr lang="en-US" dirty="0" err="1"/>
              <a:t>GenericPropertyGradient</a:t>
            </a:r>
            <a:r>
              <a:rPr lang="en-US" dirty="0"/>
              <a:t>      </a:t>
            </a:r>
            <a:r>
              <a:rPr lang="en-US" dirty="0" err="1" smtClean="0"/>
              <a:t>GenericPropertyLimiter</a:t>
            </a:r>
            <a:r>
              <a:rPr lang="en-US" dirty="0" smtClean="0"/>
              <a:t>      - compare these to the ones CSMP can calculate by</a:t>
            </a:r>
            <a:r>
              <a:rPr lang="en-US" baseline="0" dirty="0" smtClean="0"/>
              <a:t> extrapolation to nodes</a:t>
            </a:r>
            <a:endParaRPr lang="en-US" dirty="0"/>
          </a:p>
          <a:p>
            <a:endParaRPr lang="en-US" dirty="0"/>
          </a:p>
          <a:p>
            <a:r>
              <a:rPr lang="en-US" dirty="0"/>
              <a:t>- Divergence of total velocity is only for the slightly compressible flow formulation</a:t>
            </a:r>
          </a:p>
          <a:p>
            <a:endParaRPr lang="en-US" dirty="0"/>
          </a:p>
          <a:p>
            <a:r>
              <a:rPr lang="en-US" dirty="0"/>
              <a:t>- mass flux = flux, no phase velocities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5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(10/3/12 18:44) -----</a:t>
            </a:r>
          </a:p>
          <a:p>
            <a:r>
              <a:rPr lang="en-US"/>
              <a:t>- Feedbacks into the pressure equation can change nature of equation</a:t>
            </a:r>
          </a:p>
          <a:p>
            <a:r>
              <a:rPr lang="en-US"/>
              <a:t>- Computation of compressibilities needs to be more sophisticated than weighted average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70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----- Meeting Notes (10/3/12 18:44) -----</a:t>
            </a:r>
          </a:p>
          <a:p>
            <a:r>
              <a:rPr lang="en-US" dirty="0" err="1"/>
              <a:t>FiniteVolumeManager</a:t>
            </a:r>
            <a:endParaRPr lang="en-US" dirty="0"/>
          </a:p>
          <a:p>
            <a:r>
              <a:rPr lang="en-US" dirty="0"/>
              <a:t>- Policy-based design for the two-phase model</a:t>
            </a:r>
          </a:p>
          <a:p>
            <a:r>
              <a:rPr lang="en-US" dirty="0"/>
              <a:t>- Static polymorphism</a:t>
            </a:r>
          </a:p>
          <a:p>
            <a:r>
              <a:rPr lang="en-US" dirty="0"/>
              <a:t>- no more virtual functions, but all functions are </a:t>
            </a:r>
            <a:r>
              <a:rPr lang="en-US" dirty="0" err="1"/>
              <a:t>inlined</a:t>
            </a:r>
            <a:endParaRPr lang="en-US" dirty="0"/>
          </a:p>
          <a:p>
            <a:endParaRPr lang="en-US" dirty="0"/>
          </a:p>
          <a:p>
            <a:r>
              <a:rPr lang="en-US" dirty="0"/>
              <a:t>- identify the common building blocks of the scheme and their dependencies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restrict </a:t>
            </a:r>
            <a:r>
              <a:rPr lang="en-US" dirty="0"/>
              <a:t>dependencies to the things that are stored on </a:t>
            </a:r>
            <a:r>
              <a:rPr lang="en-US" dirty="0" smtClean="0"/>
              <a:t>model</a:t>
            </a:r>
          </a:p>
          <a:p>
            <a:pPr marL="171450" indent="-171450">
              <a:buFontTx/>
              <a:buChar char="-"/>
            </a:pPr>
            <a:endParaRPr lang="en-US" dirty="0" smtClean="0"/>
          </a:p>
          <a:p>
            <a:pPr marL="171450" indent="-171450">
              <a:buFontTx/>
              <a:buChar char="-"/>
            </a:pPr>
            <a:r>
              <a:rPr lang="en-US" dirty="0" smtClean="0"/>
              <a:t>Components</a:t>
            </a:r>
            <a:r>
              <a:rPr lang="en-US" baseline="0" dirty="0" smtClean="0"/>
              <a:t> are stored as array variables,   use Factory method to associate array indices with enumerations for this composite variable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04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E236-F476-7D45-A04C-BCA8DF3CE6EA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12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8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3FFD-9B2C-A54A-9AAE-847814E2D763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63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8874"/>
            <a:ext cx="4038600" cy="55648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8874"/>
            <a:ext cx="4038600" cy="55648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91C7-3FB2-4A45-A50D-CFD735226A6E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05879" y="6492875"/>
            <a:ext cx="2133600" cy="365125"/>
          </a:xfrm>
        </p:spPr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03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70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21E2-B05F-B94B-BD08-7791A84524CA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3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13" y="300038"/>
            <a:ext cx="8162925" cy="5794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41325" y="1085850"/>
            <a:ext cx="4078288" cy="518107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72013" y="1085850"/>
            <a:ext cx="4078287" cy="518107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6213" y="6400064"/>
            <a:ext cx="2881312" cy="457200"/>
          </a:xfrm>
        </p:spPr>
        <p:txBody>
          <a:bodyPr/>
          <a:lstStyle>
            <a:lvl1pPr algn="l">
              <a:defRPr smtClean="0"/>
            </a:lvl1pPr>
          </a:lstStyle>
          <a:p>
            <a:fld id="{8D11BE96-3744-5646-BAC8-E5987086E798}" type="datetime1">
              <a:rPr lang="en-US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90925" y="6400064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47075" y="6400064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D85D7429-E0B0-F747-9618-8B51FA155C3D}" type="slidenum">
              <a:rPr lang="en-US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29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557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60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7" r:id="rId5"/>
    <p:sldLayoutId id="2147483748" r:id="rId6"/>
    <p:sldLayoutId id="214748375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FF0066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15.e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6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17.e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18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529204"/>
            <a:ext cx="9144000" cy="2492069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Multiphase Transport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Scheme </a:t>
            </a: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for Hybrid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Finite-</a:t>
            </a: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Element Finite-Volume Meshes:</a:t>
            </a:r>
            <a:b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b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4000" dirty="0" smtClean="0">
                <a:solidFill>
                  <a:srgbClr val="FF6600"/>
                </a:solidFill>
                <a:latin typeface="Arial" charset="0"/>
                <a:ea typeface="ＭＳ Ｐゴシック" charset="0"/>
                <a:cs typeface="ＭＳ Ｐゴシック" charset="0"/>
              </a:rPr>
              <a:t>Refactoring of NCFVT Framework</a:t>
            </a:r>
            <a:endParaRPr lang="en-US" sz="4000" dirty="0">
              <a:solidFill>
                <a:srgbClr val="FF66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0537" y="3930503"/>
            <a:ext cx="7918450" cy="2517893"/>
          </a:xfrm>
        </p:spPr>
        <p:txBody>
          <a:bodyPr>
            <a:normAutofit/>
          </a:bodyPr>
          <a:lstStyle/>
          <a:p>
            <a:pPr eaLnBrk="1" hangingPunct="1">
              <a:buFont typeface="Wingdings" charset="0"/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Stephan K </a:t>
            </a:r>
            <a:r>
              <a:rPr lang="en-US" dirty="0" err="1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Matthäi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, Philip Weiss, Thomas </a:t>
            </a:r>
            <a:r>
              <a:rPr lang="en-US" dirty="0" err="1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Driesner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, Sebastian Geiger</a:t>
            </a:r>
            <a:endParaRPr lang="en-US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i="1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CSMP Development Consortium</a:t>
            </a:r>
            <a:endParaRPr lang="en-US" i="1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endParaRPr lang="en-US" i="1" dirty="0" smtClean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i="1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Ideas developed on the basis of joint meeting at HWU, May 2012 </a:t>
            </a:r>
            <a:endParaRPr lang="en-US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Goal: Transport of fluid phases with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914400"/>
            <a:ext cx="3623572" cy="4454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 smtClean="0"/>
              <a:t>Composite Variables:</a:t>
            </a:r>
          </a:p>
          <a:p>
            <a:pPr marL="0" indent="0">
              <a:buNone/>
            </a:pPr>
            <a:r>
              <a:rPr lang="en-US" sz="1800" i="1" dirty="0" smtClean="0"/>
              <a:t>Black Oil Model: Geiger et al. 09’ (SPE107485)</a:t>
            </a:r>
          </a:p>
          <a:p>
            <a:r>
              <a:rPr lang="en-US" sz="1800" dirty="0" smtClean="0"/>
              <a:t>Mass per unit volume vector:</a:t>
            </a:r>
            <a:endParaRPr lang="en-US" sz="1800" dirty="0"/>
          </a:p>
          <a:p>
            <a:r>
              <a:rPr lang="en-US" sz="1800" dirty="0" smtClean="0"/>
              <a:t>Concentrations of components, </a:t>
            </a:r>
            <a:r>
              <a:rPr lang="en-US" sz="1800" i="1" dirty="0" err="1" smtClean="0"/>
              <a:t>i</a:t>
            </a:r>
            <a:r>
              <a:rPr lang="en-US" sz="1800" dirty="0" smtClean="0"/>
              <a:t> (oil, </a:t>
            </a:r>
            <a:r>
              <a:rPr lang="en-US" sz="1800" dirty="0" err="1" smtClean="0"/>
              <a:t>gas,water</a:t>
            </a:r>
            <a:r>
              <a:rPr lang="en-US" sz="1800" dirty="0" smtClean="0"/>
              <a:t>) in phases, </a:t>
            </a:r>
            <a:r>
              <a:rPr lang="en-US" sz="1800" i="1" dirty="0" smtClean="0"/>
              <a:t>j</a:t>
            </a:r>
            <a:r>
              <a:rPr lang="en-US" sz="1800" dirty="0" smtClean="0"/>
              <a:t> (h=heavy, l=light, a=aqueous):</a:t>
            </a:r>
          </a:p>
          <a:p>
            <a:r>
              <a:rPr lang="en-US" sz="1800" dirty="0" smtClean="0"/>
              <a:t>Total component concentrations therefore are:</a:t>
            </a:r>
          </a:p>
          <a:p>
            <a:r>
              <a:rPr lang="en-US" sz="1800" dirty="0" smtClean="0"/>
              <a:t>Partitioning of components among phases is described by:</a:t>
            </a:r>
          </a:p>
          <a:p>
            <a:endParaRPr lang="en-US" sz="1800" dirty="0"/>
          </a:p>
          <a:p>
            <a:r>
              <a:rPr lang="en-US" sz="1800" dirty="0" smtClean="0"/>
              <a:t>Solution ratios, Rx are used to quantify the partitioning: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prstClr val="white">
                    <a:lumMod val="65000"/>
                  </a:prstClr>
                </a:solidFill>
              </a:rPr>
              <a:t>CSMP Generic Transport </a:t>
            </a:r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Scheme</a:t>
            </a:r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051" y="2399104"/>
            <a:ext cx="2639625" cy="1049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2365" t="12174" r="1184" b="9858"/>
          <a:stretch/>
        </p:blipFill>
        <p:spPr>
          <a:xfrm>
            <a:off x="4196727" y="1901931"/>
            <a:ext cx="2278379" cy="343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521" y="3577699"/>
            <a:ext cx="2846578" cy="5992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7334" y="4369896"/>
            <a:ext cx="1913840" cy="8454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7334" y="5179347"/>
            <a:ext cx="3235908" cy="6450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16252" y="6138765"/>
            <a:ext cx="446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Store matrices as new ARRAY variables?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1675" y="878907"/>
            <a:ext cx="4298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that can be derived from </a:t>
            </a:r>
            <a:r>
              <a:rPr lang="en-US" dirty="0" err="1" smtClean="0">
                <a:latin typeface="Arial"/>
                <a:cs typeface="Arial"/>
              </a:rPr>
              <a:t>ArrayVariable</a:t>
            </a:r>
            <a:r>
              <a:rPr lang="en-US" dirty="0" smtClean="0">
                <a:latin typeface="Arial"/>
                <a:cs typeface="Arial"/>
              </a:rPr>
              <a:t>…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35854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transport equations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2821992" cy="557966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Mass balances (excluding sources and sinks)</a:t>
            </a:r>
          </a:p>
          <a:p>
            <a:endParaRPr lang="en-US" dirty="0" smtClean="0"/>
          </a:p>
          <a:p>
            <a:r>
              <a:rPr lang="en-US" dirty="0" smtClean="0"/>
              <a:t>Component fluxes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Phase velocities</a:t>
            </a:r>
          </a:p>
          <a:p>
            <a:endParaRPr lang="en-US" dirty="0"/>
          </a:p>
          <a:p>
            <a:r>
              <a:rPr lang="en-US" dirty="0" smtClean="0"/>
              <a:t>Where the </a:t>
            </a:r>
            <a:r>
              <a:rPr lang="en-US" dirty="0" err="1" smtClean="0"/>
              <a:t>mobilities</a:t>
            </a:r>
            <a:r>
              <a:rPr lang="en-US" dirty="0" smtClean="0"/>
              <a:t> are (but this is not mass-based?!)</a:t>
            </a:r>
          </a:p>
          <a:p>
            <a:r>
              <a:rPr lang="en-US" dirty="0" smtClean="0"/>
              <a:t>We also need sources and sinks and capillary / gravitational terms!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110" y="780772"/>
            <a:ext cx="4013200" cy="723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787" y="2245368"/>
            <a:ext cx="1981200" cy="889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494" y="1473706"/>
            <a:ext cx="3086100" cy="774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426" y="3598510"/>
            <a:ext cx="3467100" cy="660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699" y="4710375"/>
            <a:ext cx="37465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34862" y="6081034"/>
            <a:ext cx="529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Isn’t this only a slightly compressible formulation?</a:t>
            </a:r>
            <a:endParaRPr lang="en-US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88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Hamdi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Vostok’s</a:t>
            </a:r>
            <a:r>
              <a:rPr lang="en-US" dirty="0" smtClean="0"/>
              <a:t> approach (2012)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Compositional black-oil model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Thermodynamic constraints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4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1304797"/>
            <a:ext cx="7836370" cy="8568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740" y="2503311"/>
            <a:ext cx="6704189" cy="576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296" y="3687704"/>
            <a:ext cx="41747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Arial"/>
                <a:cs typeface="Arial"/>
              </a:rPr>
              <a:t>Different incarnations:</a:t>
            </a:r>
          </a:p>
          <a:p>
            <a:endParaRPr lang="en-US" dirty="0" smtClean="0">
              <a:latin typeface="Arial"/>
              <a:cs typeface="Arial"/>
            </a:endParaRPr>
          </a:p>
          <a:p>
            <a:r>
              <a:rPr lang="en-US" dirty="0" smtClean="0">
                <a:latin typeface="Arial"/>
                <a:cs typeface="Arial"/>
              </a:rPr>
              <a:t>Black-oil based on mass fractions</a:t>
            </a:r>
          </a:p>
          <a:p>
            <a:endParaRPr lang="en-US" dirty="0" smtClean="0">
              <a:latin typeface="Arial"/>
              <a:cs typeface="Arial"/>
            </a:endParaRPr>
          </a:p>
          <a:p>
            <a:r>
              <a:rPr lang="en-US" dirty="0" smtClean="0">
                <a:latin typeface="Arial"/>
                <a:cs typeface="Arial"/>
              </a:rPr>
              <a:t>Slightly-compressible using saturations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12886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and 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 smtClean="0"/>
              <a:t>Refactor- current transport scheme so that it supports more flexible calculations:</a:t>
            </a:r>
          </a:p>
          <a:p>
            <a:r>
              <a:rPr lang="en-US" sz="2400" dirty="0" smtClean="0"/>
              <a:t>Eliminate (Explicit)</a:t>
            </a:r>
            <a:r>
              <a:rPr lang="en-US" sz="2400" b="1" dirty="0" err="1" smtClean="0"/>
              <a:t>StencilProcessor</a:t>
            </a:r>
            <a:r>
              <a:rPr lang="en-US" sz="2400" dirty="0" smtClean="0"/>
              <a:t> and </a:t>
            </a:r>
            <a:r>
              <a:rPr lang="en-US" sz="2400" b="1" dirty="0" err="1" smtClean="0"/>
              <a:t>NodeCenteredFiniteVolumeTransport</a:t>
            </a:r>
            <a:r>
              <a:rPr lang="en-US" sz="2400" dirty="0" smtClean="0"/>
              <a:t> – based subclasses</a:t>
            </a:r>
          </a:p>
          <a:p>
            <a:r>
              <a:rPr lang="en-US" sz="2400" dirty="0" smtClean="0"/>
              <a:t>Make functionality of </a:t>
            </a:r>
            <a:r>
              <a:rPr lang="en-US" sz="2400" b="1" dirty="0" err="1" smtClean="0"/>
              <a:t>FiniteVolumeAlgorithm</a:t>
            </a:r>
            <a:r>
              <a:rPr lang="en-US" sz="2400" dirty="0" smtClean="0"/>
              <a:t> more transparent </a:t>
            </a:r>
          </a:p>
          <a:p>
            <a:r>
              <a:rPr lang="en-US" sz="2400" dirty="0" smtClean="0"/>
              <a:t>Support component transport in up to 3 phases</a:t>
            </a:r>
          </a:p>
          <a:p>
            <a:r>
              <a:rPr lang="en-US" sz="2400" dirty="0" smtClean="0"/>
              <a:t>Store / keep track of the transported components / composite variables (do not change in a transport step)</a:t>
            </a:r>
          </a:p>
          <a:p>
            <a:r>
              <a:rPr lang="en-US" sz="2400" dirty="0" smtClean="0"/>
              <a:t>FV centered saturation gradients using ported Karen’s method</a:t>
            </a:r>
          </a:p>
          <a:p>
            <a:r>
              <a:rPr lang="en-US" sz="2400" dirty="0" smtClean="0"/>
              <a:t>Phase by phase formulation </a:t>
            </a:r>
          </a:p>
          <a:p>
            <a:r>
              <a:rPr lang="en-US" sz="2400" dirty="0" smtClean="0"/>
              <a:t>(Generic) mass-fraction based formulation for fully compressible flow</a:t>
            </a:r>
          </a:p>
          <a:p>
            <a:r>
              <a:rPr lang="en-US" sz="2400" dirty="0" smtClean="0"/>
              <a:t>(</a:t>
            </a:r>
            <a:r>
              <a:rPr lang="en-US" sz="2400" dirty="0" err="1" smtClean="0"/>
              <a:t>Specialisation</a:t>
            </a:r>
            <a:r>
              <a:rPr lang="en-US" sz="2400" dirty="0" smtClean="0"/>
              <a:t>) speed-</a:t>
            </a:r>
            <a:r>
              <a:rPr lang="en-US" sz="2400" dirty="0" err="1" smtClean="0"/>
              <a:t>optimised</a:t>
            </a:r>
            <a:r>
              <a:rPr lang="en-US" sz="2400" dirty="0" smtClean="0"/>
              <a:t> slightly- compressible scheme because it is faster as it does not require to computation of the composite variables </a:t>
            </a:r>
          </a:p>
          <a:p>
            <a:r>
              <a:rPr lang="en-US" sz="2400" dirty="0" smtClean="0"/>
              <a:t>For all components compute facet fluxes in one go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5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9398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can achieve on this workshop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generic transport scheme </a:t>
            </a:r>
          </a:p>
          <a:p>
            <a:r>
              <a:rPr lang="en-US" dirty="0" smtClean="0"/>
              <a:t>Implement explicit two-phase formulation for slightly compressible flow with gravity and capillary contributions as a first application</a:t>
            </a:r>
          </a:p>
          <a:p>
            <a:r>
              <a:rPr lang="en-US" dirty="0" smtClean="0"/>
              <a:t>Make a decision on how to calculate </a:t>
            </a:r>
            <a:r>
              <a:rPr lang="en-US" dirty="0" err="1" smtClean="0"/>
              <a:t>timestep</a:t>
            </a:r>
            <a:r>
              <a:rPr lang="en-US" dirty="0" smtClean="0"/>
              <a:t> size: CFL or other method to calculate </a:t>
            </a:r>
            <a:r>
              <a:rPr lang="en-US" dirty="0" err="1" smtClean="0"/>
              <a:t>timestep</a:t>
            </a:r>
            <a:r>
              <a:rPr lang="en-US" dirty="0" smtClean="0"/>
              <a:t> size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Support Wish List</a:t>
            </a:r>
          </a:p>
          <a:p>
            <a:r>
              <a:rPr lang="en-US" dirty="0" err="1" smtClean="0"/>
              <a:t>LocalVariableStorage</a:t>
            </a:r>
            <a:r>
              <a:rPr lang="en-US" dirty="0" smtClean="0"/>
              <a:t>:  new interfaces </a:t>
            </a:r>
            <a:r>
              <a:rPr lang="en-US" dirty="0" err="1" smtClean="0"/>
              <a:t>AddTo</a:t>
            </a:r>
            <a:r>
              <a:rPr lang="en-US" dirty="0" smtClean="0"/>
              <a:t>(), </a:t>
            </a:r>
            <a:r>
              <a:rPr lang="en-US" dirty="0" err="1" smtClean="0"/>
              <a:t>MultiplyWith</a:t>
            </a:r>
            <a:r>
              <a:rPr lang="en-US" dirty="0" smtClean="0"/>
              <a:t>() to modify values without touching the variable flags?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6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6774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b="1" dirty="0" smtClean="0"/>
              <a:t>What should be kept from our old scheme</a:t>
            </a:r>
          </a:p>
          <a:p>
            <a:pPr marL="400050" lvl="1" indent="0"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and what’s new in CSMP++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specifications and considerations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Phase by phase transport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prototype: classes and use-case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3087544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CSMP Generic Transport Scheme: Agenda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05FD-7CE1-C64B-B0A3-F76AC6FEC4D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696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287337" y="210470"/>
            <a:ext cx="4911195" cy="1754327"/>
          </a:xfrm>
        </p:spPr>
        <p:txBody>
          <a:bodyPr/>
          <a:lstStyle/>
          <a:p>
            <a:pPr eaLnBrk="1" hangingPunct="1"/>
            <a:r>
              <a:rPr lang="en-US" sz="2800" dirty="0" smtClean="0">
                <a:solidFill>
                  <a:srgbClr val="FF1F98"/>
                </a:solidFill>
                <a:latin typeface="Arial" charset="0"/>
                <a:ea typeface="ＭＳ Ｐゴシック" charset="0"/>
                <a:cs typeface="ＭＳ Ｐゴシック" charset="0"/>
              </a:rPr>
              <a:t>FE-FVM </a:t>
            </a:r>
            <a:r>
              <a:rPr lang="en-US" sz="2800" dirty="0" err="1" smtClean="0">
                <a:solidFill>
                  <a:srgbClr val="FF1F98"/>
                </a:solidFill>
                <a:latin typeface="Arial" charset="0"/>
                <a:ea typeface="ＭＳ Ｐゴシック" charset="0"/>
                <a:cs typeface="ＭＳ Ｐゴシック" charset="0"/>
              </a:rPr>
              <a:t>Discretisation</a:t>
            </a:r>
            <a:r>
              <a:rPr lang="en-US" sz="2800" dirty="0" smtClean="0">
                <a:solidFill>
                  <a:srgbClr val="FF6600"/>
                </a:solidFill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800" dirty="0" smtClean="0">
                <a:solidFill>
                  <a:srgbClr val="FF6600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 requirements seem to exist here: </a:t>
            </a:r>
            <a:br>
              <a:rPr lang="en-US" sz="20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i="1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ETHZ wants material properties on the nodes, MUL on the elements)</a:t>
            </a:r>
            <a:endParaRPr lang="en-GB" sz="2000" i="1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90925" y="62865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 eaLnBrk="1" hangingPunct="1"/>
            <a:fld id="{68ADA569-1FBA-BB43-9887-6A0395036692}" type="slidenum">
              <a:rPr lang="en-GB" sz="1000">
                <a:latin typeface="Arial" charset="0"/>
              </a:rPr>
              <a:pPr algn="ctr" eaLnBrk="1" hangingPunct="1"/>
              <a:t>8</a:t>
            </a:fld>
            <a:endParaRPr lang="en-GB" sz="1000">
              <a:latin typeface="Arial" charset="0"/>
            </a:endParaRPr>
          </a:p>
        </p:txBody>
      </p:sp>
      <p:grpSp>
        <p:nvGrpSpPr>
          <p:cNvPr id="21509" name="Group 3"/>
          <p:cNvGrpSpPr>
            <a:grpSpLocks/>
          </p:cNvGrpSpPr>
          <p:nvPr/>
        </p:nvGrpSpPr>
        <p:grpSpPr bwMode="auto">
          <a:xfrm>
            <a:off x="358775" y="3844925"/>
            <a:ext cx="6165850" cy="2420938"/>
            <a:chOff x="226" y="2517"/>
            <a:chExt cx="3884" cy="1525"/>
          </a:xfrm>
        </p:grpSpPr>
        <p:sp>
          <p:nvSpPr>
            <p:cNvPr id="21539" name="Line 4"/>
            <p:cNvSpPr>
              <a:spLocks noChangeShapeType="1"/>
            </p:cNvSpPr>
            <p:nvPr/>
          </p:nvSpPr>
          <p:spPr bwMode="auto">
            <a:xfrm>
              <a:off x="614" y="3374"/>
              <a:ext cx="32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40" name="Line 5"/>
            <p:cNvSpPr>
              <a:spLocks noChangeShapeType="1"/>
            </p:cNvSpPr>
            <p:nvPr/>
          </p:nvSpPr>
          <p:spPr bwMode="auto">
            <a:xfrm>
              <a:off x="610" y="2517"/>
              <a:ext cx="0" cy="15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41" name="Text Box 6"/>
            <p:cNvSpPr txBox="1">
              <a:spLocks noChangeArrowheads="1"/>
            </p:cNvSpPr>
            <p:nvPr/>
          </p:nvSpPr>
          <p:spPr bwMode="auto">
            <a:xfrm>
              <a:off x="3895" y="3282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X</a:t>
              </a:r>
              <a:endParaRPr lang="en-GB" sz="1800"/>
            </a:p>
          </p:txBody>
        </p:sp>
        <p:sp>
          <p:nvSpPr>
            <p:cNvPr id="21542" name="Text Box 7"/>
            <p:cNvSpPr txBox="1">
              <a:spLocks noChangeArrowheads="1"/>
            </p:cNvSpPr>
            <p:nvPr/>
          </p:nvSpPr>
          <p:spPr bwMode="auto">
            <a:xfrm>
              <a:off x="226" y="2614"/>
              <a:ext cx="3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f(x)</a:t>
              </a:r>
              <a:endParaRPr lang="en-GB" sz="180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849313" y="2171700"/>
            <a:ext cx="5451475" cy="1568450"/>
            <a:chOff x="491" y="1403"/>
            <a:chExt cx="3434" cy="988"/>
          </a:xfrm>
        </p:grpSpPr>
        <p:sp>
          <p:nvSpPr>
            <p:cNvPr id="21537" name="Freeform 9"/>
            <p:cNvSpPr>
              <a:spLocks/>
            </p:cNvSpPr>
            <p:nvPr/>
          </p:nvSpPr>
          <p:spPr bwMode="auto">
            <a:xfrm>
              <a:off x="491" y="1648"/>
              <a:ext cx="3434" cy="743"/>
            </a:xfrm>
            <a:custGeom>
              <a:avLst/>
              <a:gdLst>
                <a:gd name="T0" fmla="*/ 0 w 3434"/>
                <a:gd name="T1" fmla="*/ 646 h 743"/>
                <a:gd name="T2" fmla="*/ 326 w 3434"/>
                <a:gd name="T3" fmla="*/ 285 h 743"/>
                <a:gd name="T4" fmla="*/ 519 w 3434"/>
                <a:gd name="T5" fmla="*/ 153 h 743"/>
                <a:gd name="T6" fmla="*/ 752 w 3434"/>
                <a:gd name="T7" fmla="*/ 26 h 743"/>
                <a:gd name="T8" fmla="*/ 1078 w 3434"/>
                <a:gd name="T9" fmla="*/ 0 h 743"/>
                <a:gd name="T10" fmla="*/ 1218 w 3434"/>
                <a:gd name="T11" fmla="*/ 39 h 743"/>
                <a:gd name="T12" fmla="*/ 1416 w 3434"/>
                <a:gd name="T13" fmla="*/ 202 h 743"/>
                <a:gd name="T14" fmla="*/ 1614 w 3434"/>
                <a:gd name="T15" fmla="*/ 329 h 743"/>
                <a:gd name="T16" fmla="*/ 1843 w 3434"/>
                <a:gd name="T17" fmla="*/ 466 h 743"/>
                <a:gd name="T18" fmla="*/ 2146 w 3434"/>
                <a:gd name="T19" fmla="*/ 606 h 743"/>
                <a:gd name="T20" fmla="*/ 2445 w 3434"/>
                <a:gd name="T21" fmla="*/ 677 h 743"/>
                <a:gd name="T22" fmla="*/ 2819 w 3434"/>
                <a:gd name="T23" fmla="*/ 721 h 743"/>
                <a:gd name="T24" fmla="*/ 3232 w 3434"/>
                <a:gd name="T25" fmla="*/ 738 h 743"/>
                <a:gd name="T26" fmla="*/ 3434 w 3434"/>
                <a:gd name="T27" fmla="*/ 743 h 74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34"/>
                <a:gd name="T43" fmla="*/ 0 h 743"/>
                <a:gd name="T44" fmla="*/ 3434 w 3434"/>
                <a:gd name="T45" fmla="*/ 743 h 74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34" h="743">
                  <a:moveTo>
                    <a:pt x="0" y="646"/>
                  </a:moveTo>
                  <a:lnTo>
                    <a:pt x="326" y="285"/>
                  </a:lnTo>
                  <a:lnTo>
                    <a:pt x="519" y="153"/>
                  </a:lnTo>
                  <a:lnTo>
                    <a:pt x="752" y="26"/>
                  </a:lnTo>
                  <a:lnTo>
                    <a:pt x="1078" y="0"/>
                  </a:lnTo>
                  <a:lnTo>
                    <a:pt x="1218" y="39"/>
                  </a:lnTo>
                  <a:lnTo>
                    <a:pt x="1416" y="202"/>
                  </a:lnTo>
                  <a:lnTo>
                    <a:pt x="1614" y="329"/>
                  </a:lnTo>
                  <a:lnTo>
                    <a:pt x="1843" y="466"/>
                  </a:lnTo>
                  <a:lnTo>
                    <a:pt x="2146" y="606"/>
                  </a:lnTo>
                  <a:lnTo>
                    <a:pt x="2445" y="677"/>
                  </a:lnTo>
                  <a:lnTo>
                    <a:pt x="2819" y="721"/>
                  </a:lnTo>
                  <a:lnTo>
                    <a:pt x="3232" y="738"/>
                  </a:lnTo>
                  <a:lnTo>
                    <a:pt x="3434" y="743"/>
                  </a:lnTo>
                </a:path>
              </a:pathLst>
            </a:custGeom>
            <a:noFill/>
            <a:ln w="28575">
              <a:solidFill>
                <a:srgbClr val="33CC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8" name="Text Box 10"/>
            <p:cNvSpPr txBox="1">
              <a:spLocks noChangeArrowheads="1"/>
            </p:cNvSpPr>
            <p:nvPr/>
          </p:nvSpPr>
          <p:spPr bwMode="auto">
            <a:xfrm>
              <a:off x="733" y="1403"/>
              <a:ext cx="11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009900"/>
                  </a:solidFill>
                  <a:latin typeface="Arial" charset="0"/>
                </a:rPr>
                <a:t>Exact Solution</a:t>
              </a:r>
              <a:endParaRPr lang="en-GB" sz="2000">
                <a:solidFill>
                  <a:srgbClr val="009900"/>
                </a:solidFill>
                <a:latin typeface="Arial" charset="0"/>
              </a:endParaRPr>
            </a:p>
          </p:txBody>
        </p:sp>
      </p:grpSp>
      <p:graphicFrame>
        <p:nvGraphicFramePr>
          <p:cNvPr id="32769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821923"/>
              </p:ext>
            </p:extLst>
          </p:nvPr>
        </p:nvGraphicFramePr>
        <p:xfrm>
          <a:off x="6030395" y="642551"/>
          <a:ext cx="2176715" cy="1801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0" name="Equation" r:id="rId4" imgW="1282680" imgH="888840" progId="Equation.DSMT4">
                  <p:embed/>
                </p:oleObj>
              </mc:Choice>
              <mc:Fallback>
                <p:oleObj name="Equation" r:id="rId4" imgW="1282680" imgH="8888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395" y="642551"/>
                        <a:ext cx="2176715" cy="18014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163638" y="2592388"/>
            <a:ext cx="5708650" cy="2997200"/>
            <a:chOff x="733" y="1743"/>
            <a:chExt cx="3596" cy="1888"/>
          </a:xfrm>
        </p:grpSpPr>
        <p:sp>
          <p:nvSpPr>
            <p:cNvPr id="21522" name="Line 13"/>
            <p:cNvSpPr>
              <a:spLocks noChangeShapeType="1"/>
            </p:cNvSpPr>
            <p:nvPr/>
          </p:nvSpPr>
          <p:spPr bwMode="auto">
            <a:xfrm flipV="1">
              <a:off x="1743" y="1755"/>
              <a:ext cx="0" cy="160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3" name="Line 14"/>
            <p:cNvSpPr>
              <a:spLocks noChangeShapeType="1"/>
            </p:cNvSpPr>
            <p:nvPr/>
          </p:nvSpPr>
          <p:spPr bwMode="auto">
            <a:xfrm flipV="1">
              <a:off x="2713" y="2326"/>
              <a:ext cx="0" cy="104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4" name="Line 15"/>
            <p:cNvSpPr>
              <a:spLocks noChangeShapeType="1"/>
            </p:cNvSpPr>
            <p:nvPr/>
          </p:nvSpPr>
          <p:spPr bwMode="auto">
            <a:xfrm flipV="1">
              <a:off x="3688" y="2448"/>
              <a:ext cx="0" cy="92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5" name="Freeform 16"/>
            <p:cNvSpPr>
              <a:spLocks/>
            </p:cNvSpPr>
            <p:nvPr/>
          </p:nvSpPr>
          <p:spPr bwMode="auto">
            <a:xfrm>
              <a:off x="768" y="1743"/>
              <a:ext cx="2920" cy="699"/>
            </a:xfrm>
            <a:custGeom>
              <a:avLst/>
              <a:gdLst>
                <a:gd name="T0" fmla="*/ 0 w 2920"/>
                <a:gd name="T1" fmla="*/ 365 h 699"/>
                <a:gd name="T2" fmla="*/ 980 w 2920"/>
                <a:gd name="T3" fmla="*/ 0 h 699"/>
                <a:gd name="T4" fmla="*/ 1943 w 2920"/>
                <a:gd name="T5" fmla="*/ 580 h 699"/>
                <a:gd name="T6" fmla="*/ 2920 w 2920"/>
                <a:gd name="T7" fmla="*/ 699 h 6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0"/>
                <a:gd name="T13" fmla="*/ 0 h 699"/>
                <a:gd name="T14" fmla="*/ 2920 w 2920"/>
                <a:gd name="T15" fmla="*/ 699 h 6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0" h="699">
                  <a:moveTo>
                    <a:pt x="0" y="365"/>
                  </a:moveTo>
                  <a:lnTo>
                    <a:pt x="980" y="0"/>
                  </a:lnTo>
                  <a:lnTo>
                    <a:pt x="1943" y="580"/>
                  </a:lnTo>
                  <a:lnTo>
                    <a:pt x="2920" y="699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6" name="Line 17"/>
            <p:cNvSpPr>
              <a:spLocks noChangeShapeType="1"/>
            </p:cNvSpPr>
            <p:nvPr/>
          </p:nvSpPr>
          <p:spPr bwMode="auto">
            <a:xfrm flipV="1">
              <a:off x="768" y="2099"/>
              <a:ext cx="0" cy="12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7" name="Text Box 18"/>
            <p:cNvSpPr txBox="1">
              <a:spLocks noChangeArrowheads="1"/>
            </p:cNvSpPr>
            <p:nvPr/>
          </p:nvSpPr>
          <p:spPr bwMode="auto">
            <a:xfrm>
              <a:off x="2763" y="2083"/>
              <a:ext cx="15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Arial" charset="0"/>
                </a:rPr>
                <a:t>Linear FEM Solution</a:t>
              </a:r>
              <a:endParaRPr lang="en-GB" sz="20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21528" name="Text Box 19"/>
            <p:cNvSpPr txBox="1">
              <a:spLocks noChangeArrowheads="1"/>
            </p:cNvSpPr>
            <p:nvPr/>
          </p:nvSpPr>
          <p:spPr bwMode="auto">
            <a:xfrm>
              <a:off x="812" y="2584"/>
              <a:ext cx="8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Element 1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29" name="Text Box 20"/>
            <p:cNvSpPr txBox="1">
              <a:spLocks noChangeArrowheads="1"/>
            </p:cNvSpPr>
            <p:nvPr/>
          </p:nvSpPr>
          <p:spPr bwMode="auto">
            <a:xfrm>
              <a:off x="1781" y="2584"/>
              <a:ext cx="8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Element 2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0" name="Text Box 21"/>
            <p:cNvSpPr txBox="1">
              <a:spLocks noChangeArrowheads="1"/>
            </p:cNvSpPr>
            <p:nvPr/>
          </p:nvSpPr>
          <p:spPr bwMode="auto">
            <a:xfrm>
              <a:off x="2782" y="2584"/>
              <a:ext cx="8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Element 3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1" name="Text Box 22"/>
            <p:cNvSpPr txBox="1">
              <a:spLocks noChangeArrowheads="1"/>
            </p:cNvSpPr>
            <p:nvPr/>
          </p:nvSpPr>
          <p:spPr bwMode="auto">
            <a:xfrm>
              <a:off x="734" y="3372"/>
              <a:ext cx="6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Node 1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2" name="Text Box 23"/>
            <p:cNvSpPr txBox="1">
              <a:spLocks noChangeArrowheads="1"/>
            </p:cNvSpPr>
            <p:nvPr/>
          </p:nvSpPr>
          <p:spPr bwMode="auto">
            <a:xfrm>
              <a:off x="1735" y="3381"/>
              <a:ext cx="6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Node 2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3" name="Oval 24"/>
            <p:cNvSpPr>
              <a:spLocks noChangeArrowheads="1"/>
            </p:cNvSpPr>
            <p:nvPr/>
          </p:nvSpPr>
          <p:spPr bwMode="auto">
            <a:xfrm>
              <a:off x="733" y="3344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Oval 25"/>
            <p:cNvSpPr>
              <a:spLocks noChangeArrowheads="1"/>
            </p:cNvSpPr>
            <p:nvPr/>
          </p:nvSpPr>
          <p:spPr bwMode="auto">
            <a:xfrm>
              <a:off x="1708" y="3339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Oval 26"/>
            <p:cNvSpPr>
              <a:spLocks noChangeArrowheads="1"/>
            </p:cNvSpPr>
            <p:nvPr/>
          </p:nvSpPr>
          <p:spPr bwMode="auto">
            <a:xfrm>
              <a:off x="2683" y="3342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6" name="Oval 27"/>
            <p:cNvSpPr>
              <a:spLocks noChangeArrowheads="1"/>
            </p:cNvSpPr>
            <p:nvPr/>
          </p:nvSpPr>
          <p:spPr bwMode="auto">
            <a:xfrm>
              <a:off x="3658" y="3341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1219200" y="4570413"/>
            <a:ext cx="5535613" cy="1846262"/>
            <a:chOff x="768" y="2974"/>
            <a:chExt cx="3487" cy="1163"/>
          </a:xfrm>
        </p:grpSpPr>
        <p:sp>
          <p:nvSpPr>
            <p:cNvPr id="21520" name="Freeform 29"/>
            <p:cNvSpPr>
              <a:spLocks/>
            </p:cNvSpPr>
            <p:nvPr/>
          </p:nvSpPr>
          <p:spPr bwMode="auto">
            <a:xfrm>
              <a:off x="768" y="2974"/>
              <a:ext cx="2920" cy="892"/>
            </a:xfrm>
            <a:custGeom>
              <a:avLst/>
              <a:gdLst>
                <a:gd name="T0" fmla="*/ 0 w 2920"/>
                <a:gd name="T1" fmla="*/ 0 h 892"/>
                <a:gd name="T2" fmla="*/ 976 w 2920"/>
                <a:gd name="T3" fmla="*/ 0 h 892"/>
                <a:gd name="T4" fmla="*/ 976 w 2920"/>
                <a:gd name="T5" fmla="*/ 892 h 892"/>
                <a:gd name="T6" fmla="*/ 1943 w 2920"/>
                <a:gd name="T7" fmla="*/ 892 h 892"/>
                <a:gd name="T8" fmla="*/ 1943 w 2920"/>
                <a:gd name="T9" fmla="*/ 567 h 892"/>
                <a:gd name="T10" fmla="*/ 2920 w 2920"/>
                <a:gd name="T11" fmla="*/ 567 h 8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20"/>
                <a:gd name="T19" fmla="*/ 0 h 892"/>
                <a:gd name="T20" fmla="*/ 2920 w 2920"/>
                <a:gd name="T21" fmla="*/ 892 h 8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20" h="892">
                  <a:moveTo>
                    <a:pt x="0" y="0"/>
                  </a:moveTo>
                  <a:lnTo>
                    <a:pt x="976" y="0"/>
                  </a:lnTo>
                  <a:lnTo>
                    <a:pt x="976" y="892"/>
                  </a:lnTo>
                  <a:lnTo>
                    <a:pt x="1943" y="892"/>
                  </a:lnTo>
                  <a:lnTo>
                    <a:pt x="1943" y="567"/>
                  </a:lnTo>
                  <a:lnTo>
                    <a:pt x="2920" y="567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1" name="Text Box 30"/>
            <p:cNvSpPr txBox="1">
              <a:spLocks noChangeArrowheads="1"/>
            </p:cNvSpPr>
            <p:nvPr/>
          </p:nvSpPr>
          <p:spPr bwMode="auto">
            <a:xfrm>
              <a:off x="928" y="3906"/>
              <a:ext cx="33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solidFill>
                    <a:schemeClr val="accent2"/>
                  </a:solidFill>
                  <a:latin typeface="Arial" charset="0"/>
                </a:rPr>
                <a:t>Derivative of Linear FEM Solution, e.g., </a:t>
              </a:r>
              <a:r>
                <a:rPr lang="en-US" sz="1800" i="1">
                  <a:solidFill>
                    <a:schemeClr val="accent2"/>
                  </a:solidFill>
                  <a:latin typeface="Arial" charset="0"/>
                </a:rPr>
                <a:t>p</a:t>
              </a:r>
              <a:r>
                <a:rPr lang="en-US" sz="1800" i="1" baseline="-25000">
                  <a:solidFill>
                    <a:schemeClr val="accent2"/>
                  </a:solidFill>
                  <a:latin typeface="Arial" charset="0"/>
                </a:rPr>
                <a:t>f</a:t>
              </a:r>
              <a:r>
                <a:rPr lang="en-US" sz="1800">
                  <a:solidFill>
                    <a:schemeClr val="accent2"/>
                  </a:solidFill>
                  <a:latin typeface="Arial" charset="0"/>
                </a:rPr>
                <a:t> gradient</a:t>
              </a:r>
              <a:endParaRPr lang="en-GB" sz="1800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3321050" y="4802188"/>
            <a:ext cx="1935163" cy="390525"/>
            <a:chOff x="2092" y="3025"/>
            <a:chExt cx="1219" cy="246"/>
          </a:xfrm>
        </p:grpSpPr>
        <p:sp>
          <p:nvSpPr>
            <p:cNvPr id="21515" name="Rectangle 32"/>
            <p:cNvSpPr>
              <a:spLocks noChangeArrowheads="1"/>
            </p:cNvSpPr>
            <p:nvPr/>
          </p:nvSpPr>
          <p:spPr bwMode="auto">
            <a:xfrm>
              <a:off x="2217" y="3025"/>
              <a:ext cx="980" cy="246"/>
            </a:xfrm>
            <a:prstGeom prst="rect">
              <a:avLst/>
            </a:prstGeom>
            <a:solidFill>
              <a:srgbClr val="FF6600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16" name="Group 33"/>
            <p:cNvGrpSpPr>
              <a:grpSpLocks/>
            </p:cNvGrpSpPr>
            <p:nvPr/>
          </p:nvGrpSpPr>
          <p:grpSpPr bwMode="auto">
            <a:xfrm>
              <a:off x="2092" y="3033"/>
              <a:ext cx="1219" cy="231"/>
              <a:chOff x="2092" y="3033"/>
              <a:chExt cx="1219" cy="231"/>
            </a:xfrm>
          </p:grpSpPr>
          <p:sp>
            <p:nvSpPr>
              <p:cNvPr id="21517" name="Text Box 34"/>
              <p:cNvSpPr txBox="1">
                <a:spLocks noChangeArrowheads="1"/>
              </p:cNvSpPr>
              <p:nvPr/>
            </p:nvSpPr>
            <p:spPr bwMode="auto">
              <a:xfrm>
                <a:off x="2202" y="3033"/>
                <a:ext cx="9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800">
                    <a:latin typeface="Arial" charset="0"/>
                  </a:rPr>
                  <a:t>Finite Volume</a:t>
                </a:r>
                <a:endParaRPr lang="en-GB" sz="1800">
                  <a:latin typeface="Arial" charset="0"/>
                </a:endParaRPr>
              </a:p>
            </p:txBody>
          </p:sp>
          <p:sp>
            <p:nvSpPr>
              <p:cNvPr id="21518" name="Line 35"/>
              <p:cNvSpPr>
                <a:spLocks noChangeShapeType="1"/>
              </p:cNvSpPr>
              <p:nvPr/>
            </p:nvSpPr>
            <p:spPr bwMode="auto">
              <a:xfrm>
                <a:off x="3197" y="3145"/>
                <a:ext cx="114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9" name="Line 36"/>
              <p:cNvSpPr>
                <a:spLocks noChangeShapeType="1"/>
              </p:cNvSpPr>
              <p:nvPr/>
            </p:nvSpPr>
            <p:spPr bwMode="auto">
              <a:xfrm flipH="1">
                <a:off x="2092" y="3150"/>
                <a:ext cx="119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514" name="Text Box 37"/>
          <p:cNvSpPr txBox="1">
            <a:spLocks noChangeArrowheads="1"/>
          </p:cNvSpPr>
          <p:nvPr/>
        </p:nvSpPr>
        <p:spPr bwMode="auto">
          <a:xfrm>
            <a:off x="6575425" y="4818063"/>
            <a:ext cx="25685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/>
            <a:r>
              <a:rPr lang="en-US" sz="1600" i="1">
                <a:latin typeface="Arial" charset="0"/>
              </a:rPr>
              <a:t>cf., Baliga &amp; Patankar, 1980, </a:t>
            </a:r>
          </a:p>
          <a:p>
            <a:pPr algn="ctr"/>
            <a:r>
              <a:rPr lang="en-US" sz="1600" i="1">
                <a:latin typeface="Arial" charset="0"/>
              </a:rPr>
              <a:t>Numerical Heat Transfer,</a:t>
            </a:r>
          </a:p>
          <a:p>
            <a:pPr algn="ctr"/>
            <a:r>
              <a:rPr lang="en-US" sz="1600" i="1">
                <a:latin typeface="Arial" charset="0"/>
              </a:rPr>
              <a:t>Paluszny, Matthai and Hohmeyer, 2007, Geofluids</a:t>
            </a:r>
          </a:p>
        </p:txBody>
      </p:sp>
      <p:sp>
        <p:nvSpPr>
          <p:cNvPr id="39" name="Date Placeholder 3"/>
          <p:cNvSpPr>
            <a:spLocks noGrp="1"/>
          </p:cNvSpPr>
          <p:nvPr>
            <p:ph type="dt" sz="half" idx="2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1" name="Slide Number Placeholder 5"/>
          <p:cNvSpPr txBox="1">
            <a:spLocks/>
          </p:cNvSpPr>
          <p:nvPr/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>
                    <a:lumMod val="65000"/>
                  </a:schemeClr>
                </a:solidFill>
                <a:latin typeface="Arial"/>
                <a:ea typeface="ＭＳ Ｐゴシック" charset="0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8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0" y="384175"/>
            <a:ext cx="8162925" cy="579438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Basic terminology</a:t>
            </a: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74" name="Text Box 28"/>
          <p:cNvSpPr txBox="1">
            <a:spLocks noChangeArrowheads="1"/>
          </p:cNvSpPr>
          <p:nvPr/>
        </p:nvSpPr>
        <p:spPr bwMode="auto">
          <a:xfrm>
            <a:off x="1389800" y="5986463"/>
            <a:ext cx="60923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latin typeface="+mj-lt"/>
              </a:rPr>
              <a:t>NB: Facet </a:t>
            </a:r>
            <a:r>
              <a:rPr lang="en-US" sz="1600" i="1" dirty="0" err="1">
                <a:latin typeface="+mj-lt"/>
              </a:rPr>
              <a:t>normals</a:t>
            </a:r>
            <a:r>
              <a:rPr lang="en-US" sz="1600" i="1" dirty="0">
                <a:latin typeface="+mj-lt"/>
              </a:rPr>
              <a:t> always point to node with higher local number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4492" y="1197488"/>
            <a:ext cx="5962165" cy="4714875"/>
            <a:chOff x="1245085" y="996950"/>
            <a:chExt cx="5962165" cy="4714875"/>
          </a:xfrm>
        </p:grpSpPr>
        <p:sp>
          <p:nvSpPr>
            <p:cNvPr id="31749" name="Freeform 3"/>
            <p:cNvSpPr>
              <a:spLocks/>
            </p:cNvSpPr>
            <p:nvPr/>
          </p:nvSpPr>
          <p:spPr bwMode="auto">
            <a:xfrm>
              <a:off x="2516188" y="1801813"/>
              <a:ext cx="3857625" cy="3402012"/>
            </a:xfrm>
            <a:custGeom>
              <a:avLst/>
              <a:gdLst>
                <a:gd name="T0" fmla="*/ 0 w 2430"/>
                <a:gd name="T1" fmla="*/ 2147483647 h 2143"/>
                <a:gd name="T2" fmla="*/ 2147483647 w 2430"/>
                <a:gd name="T3" fmla="*/ 0 h 2143"/>
                <a:gd name="T4" fmla="*/ 2147483647 w 2430"/>
                <a:gd name="T5" fmla="*/ 2147483647 h 2143"/>
                <a:gd name="T6" fmla="*/ 0 w 2430"/>
                <a:gd name="T7" fmla="*/ 2147483647 h 21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30"/>
                <a:gd name="T13" fmla="*/ 0 h 2143"/>
                <a:gd name="T14" fmla="*/ 2430 w 2430"/>
                <a:gd name="T15" fmla="*/ 2143 h 21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30" h="2143">
                  <a:moveTo>
                    <a:pt x="0" y="2143"/>
                  </a:moveTo>
                  <a:lnTo>
                    <a:pt x="1252" y="0"/>
                  </a:lnTo>
                  <a:lnTo>
                    <a:pt x="2430" y="2104"/>
                  </a:lnTo>
                  <a:lnTo>
                    <a:pt x="0" y="2143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1750" name="Oval 4"/>
            <p:cNvSpPr>
              <a:spLocks noChangeArrowheads="1"/>
            </p:cNvSpPr>
            <p:nvPr/>
          </p:nvSpPr>
          <p:spPr bwMode="auto">
            <a:xfrm>
              <a:off x="2378075" y="5080000"/>
              <a:ext cx="288925" cy="2555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1" name="Oval 5"/>
            <p:cNvSpPr>
              <a:spLocks noChangeArrowheads="1"/>
            </p:cNvSpPr>
            <p:nvPr/>
          </p:nvSpPr>
          <p:spPr bwMode="auto">
            <a:xfrm>
              <a:off x="6229350" y="5026025"/>
              <a:ext cx="288925" cy="2555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2" name="Oval 6"/>
            <p:cNvSpPr>
              <a:spLocks noChangeArrowheads="1"/>
            </p:cNvSpPr>
            <p:nvPr/>
          </p:nvSpPr>
          <p:spPr bwMode="auto">
            <a:xfrm>
              <a:off x="4359275" y="1671638"/>
              <a:ext cx="288925" cy="255587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3" name="Line 7"/>
            <p:cNvSpPr>
              <a:spLocks noChangeShapeType="1"/>
            </p:cNvSpPr>
            <p:nvPr/>
          </p:nvSpPr>
          <p:spPr bwMode="auto">
            <a:xfrm>
              <a:off x="4503738" y="3863975"/>
              <a:ext cx="20637" cy="13065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4" name="Line 8"/>
            <p:cNvSpPr>
              <a:spLocks noChangeShapeType="1"/>
            </p:cNvSpPr>
            <p:nvPr/>
          </p:nvSpPr>
          <p:spPr bwMode="auto">
            <a:xfrm flipV="1">
              <a:off x="4505325" y="3535363"/>
              <a:ext cx="962025" cy="336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5" name="Line 9"/>
            <p:cNvSpPr>
              <a:spLocks noChangeShapeType="1"/>
            </p:cNvSpPr>
            <p:nvPr/>
          </p:nvSpPr>
          <p:spPr bwMode="auto">
            <a:xfrm>
              <a:off x="3551238" y="3433763"/>
              <a:ext cx="962025" cy="433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6" name="Line 10"/>
            <p:cNvSpPr>
              <a:spLocks noChangeShapeType="1"/>
            </p:cNvSpPr>
            <p:nvPr/>
          </p:nvSpPr>
          <p:spPr bwMode="auto">
            <a:xfrm flipV="1">
              <a:off x="4516438" y="4475163"/>
              <a:ext cx="598487" cy="34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7" name="Oval 11"/>
            <p:cNvSpPr>
              <a:spLocks noChangeArrowheads="1"/>
            </p:cNvSpPr>
            <p:nvPr/>
          </p:nvSpPr>
          <p:spPr bwMode="auto">
            <a:xfrm>
              <a:off x="3644900" y="4386263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Oval 12"/>
            <p:cNvSpPr>
              <a:spLocks noChangeArrowheads="1"/>
            </p:cNvSpPr>
            <p:nvPr/>
          </p:nvSpPr>
          <p:spPr bwMode="auto">
            <a:xfrm>
              <a:off x="4429125" y="3005138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9" name="Oval 13"/>
            <p:cNvSpPr>
              <a:spLocks noChangeArrowheads="1"/>
            </p:cNvSpPr>
            <p:nvPr/>
          </p:nvSpPr>
          <p:spPr bwMode="auto">
            <a:xfrm>
              <a:off x="5186363" y="4408488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0" name="Text Box 14"/>
            <p:cNvSpPr txBox="1">
              <a:spLocks noChangeArrowheads="1"/>
            </p:cNvSpPr>
            <p:nvPr/>
          </p:nvSpPr>
          <p:spPr bwMode="auto">
            <a:xfrm>
              <a:off x="3744913" y="996950"/>
              <a:ext cx="15176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FiniteVolume</a:t>
              </a:r>
            </a:p>
            <a:p>
              <a:pPr eaLnBrk="1" hangingPunct="1"/>
              <a:r>
                <a:rPr lang="en-US" sz="1800">
                  <a:latin typeface="Arial" charset="0"/>
                </a:rPr>
                <a:t>=FEM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1" name="Text Box 15"/>
            <p:cNvSpPr txBox="1">
              <a:spLocks noChangeArrowheads="1"/>
            </p:cNvSpPr>
            <p:nvPr/>
          </p:nvSpPr>
          <p:spPr bwMode="auto">
            <a:xfrm>
              <a:off x="3151935" y="4641850"/>
              <a:ext cx="1200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FV Sector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31762" name="Text Box 16"/>
            <p:cNvSpPr txBox="1">
              <a:spLocks noChangeArrowheads="1"/>
            </p:cNvSpPr>
            <p:nvPr/>
          </p:nvSpPr>
          <p:spPr bwMode="auto">
            <a:xfrm>
              <a:off x="4021138" y="5208588"/>
              <a:ext cx="1111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FV Facet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3" name="Text Box 17"/>
            <p:cNvSpPr txBox="1">
              <a:spLocks noChangeArrowheads="1"/>
            </p:cNvSpPr>
            <p:nvPr/>
          </p:nvSpPr>
          <p:spPr bwMode="auto">
            <a:xfrm>
              <a:off x="1824038" y="5345113"/>
              <a:ext cx="1352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inside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4" name="Text Box 18"/>
            <p:cNvSpPr txBox="1">
              <a:spLocks noChangeArrowheads="1"/>
            </p:cNvSpPr>
            <p:nvPr/>
          </p:nvSpPr>
          <p:spPr bwMode="auto">
            <a:xfrm>
              <a:off x="5715000" y="5235575"/>
              <a:ext cx="1492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outside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5" name="Oval 19"/>
            <p:cNvSpPr>
              <a:spLocks noChangeArrowheads="1"/>
            </p:cNvSpPr>
            <p:nvPr/>
          </p:nvSpPr>
          <p:spPr bwMode="auto">
            <a:xfrm>
              <a:off x="4441825" y="4427538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6" name="Oval 20"/>
            <p:cNvSpPr>
              <a:spLocks noChangeArrowheads="1"/>
            </p:cNvSpPr>
            <p:nvPr/>
          </p:nvSpPr>
          <p:spPr bwMode="auto">
            <a:xfrm>
              <a:off x="4895850" y="3638550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7" name="Oval 21"/>
            <p:cNvSpPr>
              <a:spLocks noChangeArrowheads="1"/>
            </p:cNvSpPr>
            <p:nvPr/>
          </p:nvSpPr>
          <p:spPr bwMode="auto">
            <a:xfrm>
              <a:off x="3940175" y="3565525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8" name="Text Box 22"/>
            <p:cNvSpPr txBox="1">
              <a:spLocks noChangeArrowheads="1"/>
            </p:cNvSpPr>
            <p:nvPr/>
          </p:nvSpPr>
          <p:spPr bwMode="auto">
            <a:xfrm>
              <a:off x="4033323" y="2656638"/>
              <a:ext cx="2495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sector integration point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31769" name="Rectangle 23"/>
            <p:cNvSpPr>
              <a:spLocks noChangeArrowheads="1"/>
            </p:cNvSpPr>
            <p:nvPr/>
          </p:nvSpPr>
          <p:spPr bwMode="auto">
            <a:xfrm>
              <a:off x="1245085" y="1963969"/>
              <a:ext cx="2454275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000" dirty="0" err="1">
                  <a:latin typeface="Arial" charset="0"/>
                </a:rPr>
                <a:t>FiniteVolumeStencil</a:t>
              </a:r>
              <a:endParaRPr lang="en-US" sz="2000" dirty="0">
                <a:latin typeface="Arial" charset="0"/>
              </a:endParaRPr>
            </a:p>
            <a:p>
              <a:r>
                <a:rPr lang="en-US" dirty="0">
                  <a:latin typeface="Arial" charset="0"/>
                </a:rPr>
                <a:t>(as illustrated for linear triangle)</a:t>
              </a:r>
            </a:p>
          </p:txBody>
        </p:sp>
        <p:sp>
          <p:nvSpPr>
            <p:cNvPr id="31770" name="Text Box 24"/>
            <p:cNvSpPr txBox="1">
              <a:spLocks noChangeArrowheads="1"/>
            </p:cNvSpPr>
            <p:nvPr/>
          </p:nvSpPr>
          <p:spPr bwMode="auto">
            <a:xfrm>
              <a:off x="5002910" y="3249698"/>
              <a:ext cx="1434698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facet integration point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31771" name="Line 25"/>
            <p:cNvSpPr>
              <a:spLocks noChangeShapeType="1"/>
            </p:cNvSpPr>
            <p:nvPr/>
          </p:nvSpPr>
          <p:spPr bwMode="auto">
            <a:xfrm flipV="1">
              <a:off x="5608638" y="2522538"/>
              <a:ext cx="752475" cy="955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2" name="Line 26"/>
            <p:cNvSpPr>
              <a:spLocks noChangeShapeType="1"/>
            </p:cNvSpPr>
            <p:nvPr/>
          </p:nvSpPr>
          <p:spPr bwMode="auto">
            <a:xfrm flipH="1" flipV="1">
              <a:off x="2922588" y="2628900"/>
              <a:ext cx="596900" cy="758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3" name="Line 27"/>
            <p:cNvSpPr>
              <a:spLocks noChangeShapeType="1"/>
            </p:cNvSpPr>
            <p:nvPr/>
          </p:nvSpPr>
          <p:spPr bwMode="auto">
            <a:xfrm flipV="1">
              <a:off x="6376988" y="1355725"/>
              <a:ext cx="146050" cy="1158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 rot="18000000">
              <a:off x="1825938" y="3596518"/>
              <a:ext cx="2635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 err="1" smtClean="0">
                  <a:latin typeface="Arial" charset="0"/>
                </a:rPr>
                <a:t>subface</a:t>
              </a:r>
              <a:r>
                <a:rPr lang="en-US" sz="1800" dirty="0" smtClean="0">
                  <a:latin typeface="Arial" charset="0"/>
                </a:rPr>
                <a:t> of element face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336480" y="2030451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09433" y="4739716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02692" y="4683220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4194099" y="2249211"/>
              <a:ext cx="21864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 smtClean="0">
                  <a:latin typeface="Arial" charset="0"/>
                </a:rPr>
                <a:t>FE integration point</a:t>
              </a:r>
              <a:endParaRPr lang="en-GB" sz="1800" dirty="0">
                <a:latin typeface="Arial" charset="0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4620304" y="618902"/>
            <a:ext cx="452369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enum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>
                <a:latin typeface="Courier"/>
                <a:cs typeface="Courier"/>
              </a:rPr>
              <a:t>PLACEMENT { </a:t>
            </a:r>
            <a:r>
              <a:rPr lang="en-US" sz="1200" dirty="0" smtClean="0">
                <a:solidFill>
                  <a:srgbClr val="FF0000"/>
                </a:solidFill>
                <a:latin typeface="Courier"/>
                <a:cs typeface="Courier"/>
              </a:rPr>
              <a:t>ELEMENT_INTEGRATION_POINT </a:t>
            </a:r>
            <a:r>
              <a:rPr lang="en-US" sz="1200" dirty="0">
                <a:solidFill>
                  <a:srgbClr val="FF0000"/>
                </a:solidFill>
                <a:latin typeface="Courier"/>
                <a:cs typeface="Courier"/>
              </a:rPr>
              <a:t>= 1,</a:t>
            </a:r>
          </a:p>
          <a:p>
            <a:r>
              <a:rPr lang="en-US" sz="1200" dirty="0">
                <a:solidFill>
                  <a:srgbClr val="FF0000"/>
                </a:solidFill>
                <a:latin typeface="Courier"/>
                <a:cs typeface="Courier"/>
              </a:rPr>
              <a:t>                 SECTOR_INTEGRATION_POINT = 2,</a:t>
            </a:r>
          </a:p>
          <a:p>
            <a:r>
              <a:rPr lang="en-US" sz="1200" dirty="0">
                <a:solidFill>
                  <a:srgbClr val="FF0000"/>
                </a:solidFill>
                <a:latin typeface="Courier"/>
                <a:cs typeface="Courier"/>
              </a:rPr>
              <a:t>                 FACET_INTEGRATION_POINT = 3,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NODE,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EDGE,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FACE,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INTER_FACE,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ELEMENT,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REGION,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BOUNDARY,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SPLIT_BOUNDARY,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MODEL,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UNDEFINED 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9315" y="269413"/>
            <a:ext cx="822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1F98"/>
                </a:solidFill>
              </a:rPr>
              <a:t>NEW!</a:t>
            </a:r>
            <a:endParaRPr lang="en-US" dirty="0">
              <a:solidFill>
                <a:srgbClr val="FF1F98"/>
              </a:solidFill>
            </a:endParaRPr>
          </a:p>
        </p:txBody>
      </p:sp>
      <p:sp>
        <p:nvSpPr>
          <p:cNvPr id="4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9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968" y="3358704"/>
            <a:ext cx="3443882" cy="1689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placement (</a:t>
            </a:r>
            <a:r>
              <a:rPr lang="en-US" dirty="0" err="1" smtClean="0"/>
              <a:t>Barycentric</a:t>
            </a:r>
            <a:r>
              <a:rPr lang="en-US" dirty="0" smtClean="0"/>
              <a:t> formulation)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10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7" name="Freeform 3"/>
          <p:cNvSpPr>
            <a:spLocks/>
          </p:cNvSpPr>
          <p:nvPr/>
        </p:nvSpPr>
        <p:spPr bwMode="auto">
          <a:xfrm>
            <a:off x="1930055" y="2002351"/>
            <a:ext cx="3857625" cy="3402012"/>
          </a:xfrm>
          <a:custGeom>
            <a:avLst/>
            <a:gdLst>
              <a:gd name="T0" fmla="*/ 0 w 2430"/>
              <a:gd name="T1" fmla="*/ 2147483647 h 2143"/>
              <a:gd name="T2" fmla="*/ 2147483647 w 2430"/>
              <a:gd name="T3" fmla="*/ 0 h 2143"/>
              <a:gd name="T4" fmla="*/ 2147483647 w 2430"/>
              <a:gd name="T5" fmla="*/ 2147483647 h 2143"/>
              <a:gd name="T6" fmla="*/ 0 w 2430"/>
              <a:gd name="T7" fmla="*/ 2147483647 h 2143"/>
              <a:gd name="T8" fmla="*/ 0 60000 65536"/>
              <a:gd name="T9" fmla="*/ 0 60000 65536"/>
              <a:gd name="T10" fmla="*/ 0 60000 65536"/>
              <a:gd name="T11" fmla="*/ 0 60000 65536"/>
              <a:gd name="T12" fmla="*/ 0 w 2430"/>
              <a:gd name="T13" fmla="*/ 0 h 2143"/>
              <a:gd name="T14" fmla="*/ 2430 w 2430"/>
              <a:gd name="T15" fmla="*/ 2143 h 214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0" h="2143">
                <a:moveTo>
                  <a:pt x="0" y="2143"/>
                </a:moveTo>
                <a:lnTo>
                  <a:pt x="1252" y="0"/>
                </a:lnTo>
                <a:lnTo>
                  <a:pt x="2430" y="2104"/>
                </a:lnTo>
                <a:lnTo>
                  <a:pt x="0" y="2143"/>
                </a:lnTo>
                <a:close/>
              </a:path>
            </a:pathLst>
          </a:cu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1791942" y="5280538"/>
            <a:ext cx="288925" cy="25558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5643217" y="5226563"/>
            <a:ext cx="288925" cy="25558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3773142" y="1872176"/>
            <a:ext cx="288925" cy="2555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3917605" y="4064513"/>
            <a:ext cx="20637" cy="13065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 flipV="1">
            <a:off x="3919192" y="3735901"/>
            <a:ext cx="962025" cy="3365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2965105" y="3634301"/>
            <a:ext cx="962025" cy="433387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 flipV="1">
            <a:off x="3930305" y="4675701"/>
            <a:ext cx="598487" cy="3492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" name="Oval 19"/>
          <p:cNvSpPr>
            <a:spLocks noChangeArrowheads="1"/>
          </p:cNvSpPr>
          <p:nvPr/>
        </p:nvSpPr>
        <p:spPr bwMode="auto">
          <a:xfrm>
            <a:off x="3855692" y="4628076"/>
            <a:ext cx="157163" cy="158750"/>
          </a:xfrm>
          <a:prstGeom prst="ellipse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V="1">
            <a:off x="5022505" y="2723076"/>
            <a:ext cx="752475" cy="9556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H="1" flipV="1">
            <a:off x="2336455" y="2829438"/>
            <a:ext cx="596900" cy="7588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728637" y="3794185"/>
            <a:ext cx="390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x</a:t>
            </a:r>
            <a:endParaRPr lang="en-US" sz="2400" b="1" dirty="0"/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988967"/>
              </p:ext>
            </p:extLst>
          </p:nvPr>
        </p:nvGraphicFramePr>
        <p:xfrm>
          <a:off x="4092575" y="1575222"/>
          <a:ext cx="294163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3" imgW="939800" imgH="190500" progId="Equation.3">
                  <p:embed/>
                </p:oleObj>
              </mc:Choice>
              <mc:Fallback>
                <p:oleObj name="Equation" r:id="rId3" imgW="939800" imgH="1905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92575" y="1575222"/>
                        <a:ext cx="2941638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265545"/>
              </p:ext>
            </p:extLst>
          </p:nvPr>
        </p:nvGraphicFramePr>
        <p:xfrm>
          <a:off x="3112446" y="3285121"/>
          <a:ext cx="1826590" cy="160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5" imgW="749300" imgH="660400" progId="Equation.3">
                  <p:embed/>
                </p:oleObj>
              </mc:Choice>
              <mc:Fallback>
                <p:oleObj name="Equation" r:id="rId5" imgW="749300" imgH="660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2446" y="3285121"/>
                        <a:ext cx="1826590" cy="1607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96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3112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Variable placement </a:t>
            </a:r>
            <a:br>
              <a:rPr lang="en-US" dirty="0" smtClean="0"/>
            </a:br>
            <a:r>
              <a:rPr lang="en-US" dirty="0" smtClean="0"/>
              <a:t>(integration-point based  formulation)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7" name="Freeform 3"/>
          <p:cNvSpPr>
            <a:spLocks/>
          </p:cNvSpPr>
          <p:nvPr/>
        </p:nvSpPr>
        <p:spPr bwMode="auto">
          <a:xfrm>
            <a:off x="1930055" y="2002351"/>
            <a:ext cx="3857625" cy="3402012"/>
          </a:xfrm>
          <a:custGeom>
            <a:avLst/>
            <a:gdLst>
              <a:gd name="T0" fmla="*/ 0 w 2430"/>
              <a:gd name="T1" fmla="*/ 2147483647 h 2143"/>
              <a:gd name="T2" fmla="*/ 2147483647 w 2430"/>
              <a:gd name="T3" fmla="*/ 0 h 2143"/>
              <a:gd name="T4" fmla="*/ 2147483647 w 2430"/>
              <a:gd name="T5" fmla="*/ 2147483647 h 2143"/>
              <a:gd name="T6" fmla="*/ 0 w 2430"/>
              <a:gd name="T7" fmla="*/ 2147483647 h 2143"/>
              <a:gd name="T8" fmla="*/ 0 60000 65536"/>
              <a:gd name="T9" fmla="*/ 0 60000 65536"/>
              <a:gd name="T10" fmla="*/ 0 60000 65536"/>
              <a:gd name="T11" fmla="*/ 0 60000 65536"/>
              <a:gd name="T12" fmla="*/ 0 w 2430"/>
              <a:gd name="T13" fmla="*/ 0 h 2143"/>
              <a:gd name="T14" fmla="*/ 2430 w 2430"/>
              <a:gd name="T15" fmla="*/ 2143 h 214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0" h="2143">
                <a:moveTo>
                  <a:pt x="0" y="2143"/>
                </a:moveTo>
                <a:lnTo>
                  <a:pt x="1252" y="0"/>
                </a:lnTo>
                <a:lnTo>
                  <a:pt x="2430" y="2104"/>
                </a:lnTo>
                <a:lnTo>
                  <a:pt x="0" y="2143"/>
                </a:lnTo>
                <a:close/>
              </a:path>
            </a:pathLst>
          </a:cu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1791942" y="5280538"/>
            <a:ext cx="288925" cy="25558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5643217" y="5226563"/>
            <a:ext cx="288925" cy="25558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3773142" y="1872176"/>
            <a:ext cx="288925" cy="2555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3917605" y="4064513"/>
            <a:ext cx="20637" cy="13065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 flipV="1">
            <a:off x="3919192" y="3735901"/>
            <a:ext cx="962025" cy="3365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2965105" y="3634301"/>
            <a:ext cx="962025" cy="433387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 flipV="1">
            <a:off x="3930305" y="4675701"/>
            <a:ext cx="598487" cy="3492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Oval 11"/>
          <p:cNvSpPr>
            <a:spLocks noChangeArrowheads="1"/>
          </p:cNvSpPr>
          <p:nvPr/>
        </p:nvSpPr>
        <p:spPr bwMode="auto">
          <a:xfrm>
            <a:off x="3058767" y="4586801"/>
            <a:ext cx="165100" cy="144462"/>
          </a:xfrm>
          <a:prstGeom prst="ellipse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3842992" y="3205676"/>
            <a:ext cx="165100" cy="144462"/>
          </a:xfrm>
          <a:prstGeom prst="ellipse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3"/>
          <p:cNvSpPr>
            <a:spLocks noChangeArrowheads="1"/>
          </p:cNvSpPr>
          <p:nvPr/>
        </p:nvSpPr>
        <p:spPr bwMode="auto">
          <a:xfrm>
            <a:off x="4600230" y="4609026"/>
            <a:ext cx="165100" cy="144462"/>
          </a:xfrm>
          <a:prstGeom prst="ellipse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19"/>
          <p:cNvSpPr>
            <a:spLocks noChangeArrowheads="1"/>
          </p:cNvSpPr>
          <p:nvPr/>
        </p:nvSpPr>
        <p:spPr bwMode="auto">
          <a:xfrm>
            <a:off x="3855692" y="4628076"/>
            <a:ext cx="157163" cy="158750"/>
          </a:xfrm>
          <a:prstGeom prst="ellipse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Oval 20"/>
          <p:cNvSpPr>
            <a:spLocks noChangeArrowheads="1"/>
          </p:cNvSpPr>
          <p:nvPr/>
        </p:nvSpPr>
        <p:spPr bwMode="auto">
          <a:xfrm>
            <a:off x="4309717" y="3839088"/>
            <a:ext cx="157163" cy="158750"/>
          </a:xfrm>
          <a:prstGeom prst="ellipse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Oval 21"/>
          <p:cNvSpPr>
            <a:spLocks noChangeArrowheads="1"/>
          </p:cNvSpPr>
          <p:nvPr/>
        </p:nvSpPr>
        <p:spPr bwMode="auto">
          <a:xfrm>
            <a:off x="3354042" y="3766063"/>
            <a:ext cx="157163" cy="158750"/>
          </a:xfrm>
          <a:prstGeom prst="ellipse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V="1">
            <a:off x="5022505" y="2723076"/>
            <a:ext cx="752475" cy="9556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H="1" flipV="1">
            <a:off x="2336455" y="2829438"/>
            <a:ext cx="596900" cy="7588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750347" y="2230989"/>
            <a:ext cx="32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223300" y="4940254"/>
            <a:ext cx="32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216559" y="4883758"/>
            <a:ext cx="32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579696"/>
              </p:ext>
            </p:extLst>
          </p:nvPr>
        </p:nvGraphicFramePr>
        <p:xfrm>
          <a:off x="4171649" y="1726989"/>
          <a:ext cx="27828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Equation" r:id="rId3" imgW="889000" imgH="190500" progId="Equation.3">
                  <p:embed/>
                </p:oleObj>
              </mc:Choice>
              <mc:Fallback>
                <p:oleObj name="Equation" r:id="rId3" imgW="889000" imgH="1905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1649" y="1726989"/>
                        <a:ext cx="2782887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466983"/>
              </p:ext>
            </p:extLst>
          </p:nvPr>
        </p:nvGraphicFramePr>
        <p:xfrm>
          <a:off x="3058170" y="3350257"/>
          <a:ext cx="1826590" cy="160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Equation" r:id="rId5" imgW="749300" imgH="660400" progId="Equation.3">
                  <p:embed/>
                </p:oleObj>
              </mc:Choice>
              <mc:Fallback>
                <p:oleObj name="Equation" r:id="rId5" imgW="749300" imgH="660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8170" y="3350257"/>
                        <a:ext cx="1826590" cy="1607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118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Rectangle 4"/>
          <p:cNvSpPr>
            <a:spLocks noGrp="1" noChangeArrowheads="1"/>
          </p:cNvSpPr>
          <p:nvPr>
            <p:ph type="title"/>
          </p:nvPr>
        </p:nvSpPr>
        <p:spPr>
          <a:xfrm>
            <a:off x="1192213" y="120650"/>
            <a:ext cx="7723187" cy="671513"/>
          </a:xfrm>
        </p:spPr>
        <p:txBody>
          <a:bodyPr/>
          <a:lstStyle/>
          <a:p>
            <a:pPr eaLnBrk="1" hangingPunct="1"/>
            <a:r>
              <a:rPr lang="en-US" sz="2800" smtClean="0">
                <a:latin typeface="Arial" charset="0"/>
                <a:ea typeface="ＭＳ Ｐゴシック" charset="0"/>
                <a:cs typeface="ＭＳ Ｐゴシック" charset="0"/>
              </a:rPr>
              <a:t>Finite-element finite-volume stencils</a:t>
            </a:r>
            <a:endParaRPr lang="en-GB" sz="24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3555" name="Picture 3" descr="FVStencilPy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3" y="4000500"/>
            <a:ext cx="3160712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6"/>
          <p:cNvSpPr>
            <a:spLocks noChangeArrowheads="1"/>
          </p:cNvSpPr>
          <p:nvPr/>
        </p:nvSpPr>
        <p:spPr bwMode="auto">
          <a:xfrm>
            <a:off x="2171700" y="1433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2220913" y="1474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3558" name="Picture 8" descr="AssebledPolyMesh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4171593"/>
            <a:ext cx="301783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75" y="828675"/>
            <a:ext cx="5440363" cy="297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801938" y="3835400"/>
            <a:ext cx="3198812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i="1" dirty="0" err="1">
                <a:latin typeface="+mn-lt"/>
                <a:ea typeface="+mn-ea"/>
                <a:cs typeface="+mn-cs"/>
              </a:rPr>
              <a:t>Paluszny</a:t>
            </a:r>
            <a:r>
              <a:rPr lang="en-US" sz="1600" i="1" dirty="0">
                <a:latin typeface="+mn-lt"/>
                <a:ea typeface="+mn-ea"/>
                <a:cs typeface="+mn-cs"/>
              </a:rPr>
              <a:t> et al. (2007, </a:t>
            </a:r>
            <a:r>
              <a:rPr lang="en-US" sz="1600" i="1" dirty="0" err="1">
                <a:latin typeface="+mn-lt"/>
                <a:ea typeface="+mn-ea"/>
                <a:cs typeface="+mn-cs"/>
              </a:rPr>
              <a:t>Geofluids</a:t>
            </a:r>
            <a:r>
              <a:rPr lang="en-US" sz="1600" i="1" dirty="0"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455738"/>
            <a:ext cx="1316038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For 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single element types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863" y="4572000"/>
            <a:ext cx="1314450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FV cells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shared by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different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element 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types</a:t>
            </a:r>
          </a:p>
        </p:txBody>
      </p:sp>
      <p:sp>
        <p:nvSpPr>
          <p:cNvPr id="214018" name="Rectangle 2"/>
          <p:cNvSpPr>
            <a:spLocks noChangeArrowheads="1"/>
          </p:cNvSpPr>
          <p:nvPr/>
        </p:nvSpPr>
        <p:spPr bwMode="auto">
          <a:xfrm>
            <a:off x="2525405" y="1687037"/>
            <a:ext cx="6268508" cy="1020236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txBody>
          <a:bodyPr wrap="none" anchor="ctr"/>
          <a:lstStyle/>
          <a:p>
            <a:pPr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charset="0"/>
              </a:rPr>
              <a:t> Finite volume mesh is not stored</a:t>
            </a:r>
          </a:p>
          <a:p>
            <a:pPr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Arial" charset="0"/>
              </a:rPr>
              <a:t>FiniteVolumeStencil</a:t>
            </a:r>
            <a:r>
              <a:rPr lang="en-US" sz="1600" dirty="0" err="1" smtClean="0">
                <a:solidFill>
                  <a:srgbClr val="000000"/>
                </a:solidFill>
                <a:latin typeface="Arial" charset="0"/>
              </a:rPr>
              <a:t>s</a:t>
            </a:r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 for each FE type which has a reference </a:t>
            </a:r>
          </a:p>
          <a:p>
            <a:r>
              <a:rPr lang="en-US" sz="1600" dirty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 representation in parametric space</a:t>
            </a:r>
          </a:p>
          <a:p>
            <a:pPr>
              <a:buFontTx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Jacobi transformations applied via </a:t>
            </a:r>
            <a:r>
              <a:rPr lang="en-US" sz="1600" b="1" dirty="0" err="1" smtClean="0">
                <a:solidFill>
                  <a:srgbClr val="000000"/>
                </a:solidFill>
                <a:latin typeface="Arial" charset="0"/>
              </a:rPr>
              <a:t>FiniteVolumeTraits</a:t>
            </a:r>
            <a:r>
              <a:rPr lang="en-US" sz="1600" b="1" dirty="0" smtClean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  to get physical space properties</a:t>
            </a:r>
            <a:endParaRPr lang="en-US" sz="16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560"/>
            <a:ext cx="8229600" cy="442856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 smtClean="0"/>
              <a:t>Access to </a:t>
            </a:r>
            <a:r>
              <a:rPr lang="en-US" sz="2800" dirty="0" err="1" smtClean="0"/>
              <a:t>FiniteVolume</a:t>
            </a:r>
            <a:r>
              <a:rPr lang="en-US" sz="2800" dirty="0" smtClean="0"/>
              <a:t> properties / parameters</a:t>
            </a:r>
            <a:endParaRPr lang="en-GB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605243"/>
            <a:ext cx="8413791" cy="8904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through </a:t>
            </a:r>
            <a:r>
              <a:rPr lang="en-US" b="1" dirty="0" err="1" smtClean="0"/>
              <a:t>FiniteVolumeTrait</a:t>
            </a:r>
            <a:r>
              <a:rPr lang="en-US" dirty="0" err="1" smtClean="0"/>
              <a:t>s</a:t>
            </a:r>
            <a:r>
              <a:rPr lang="en-US" dirty="0" smtClean="0"/>
              <a:t> added to Element / Face / Interface:   </a:t>
            </a:r>
            <a:r>
              <a:rPr lang="en-US" dirty="0" err="1" smtClean="0"/>
              <a:t>e.SectorVolume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 smtClean="0"/>
              <a:t>As fast as possible, but it is better to store values if these are used repeatedly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699641" y="4134045"/>
            <a:ext cx="3340100" cy="2332038"/>
            <a:chOff x="2699641" y="3975281"/>
            <a:chExt cx="3340100" cy="2332038"/>
          </a:xfrm>
        </p:grpSpPr>
        <p:sp>
          <p:nvSpPr>
            <p:cNvPr id="33802" name="Text Box 8"/>
            <p:cNvSpPr txBox="1">
              <a:spLocks noChangeArrowheads="1"/>
            </p:cNvSpPr>
            <p:nvPr/>
          </p:nvSpPr>
          <p:spPr bwMode="auto">
            <a:xfrm>
              <a:off x="4036316" y="4859519"/>
              <a:ext cx="1993900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FiniteVolumeStencil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3" name="Text Box 9"/>
            <p:cNvSpPr txBox="1">
              <a:spLocks noChangeArrowheads="1"/>
            </p:cNvSpPr>
            <p:nvPr/>
          </p:nvSpPr>
          <p:spPr bwMode="auto">
            <a:xfrm>
              <a:off x="2713929" y="5407206"/>
              <a:ext cx="2795587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FiniteVolumeStencilManager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4" name="Text Box 10"/>
            <p:cNvSpPr txBox="1">
              <a:spLocks noChangeArrowheads="1"/>
            </p:cNvSpPr>
            <p:nvPr/>
          </p:nvSpPr>
          <p:spPr bwMode="auto">
            <a:xfrm>
              <a:off x="2777429" y="5951719"/>
              <a:ext cx="3192462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FV_IntegrationPointsAndWeights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5" name="Text Box 12"/>
            <p:cNvSpPr txBox="1">
              <a:spLocks noChangeArrowheads="1"/>
            </p:cNvSpPr>
            <p:nvPr/>
          </p:nvSpPr>
          <p:spPr bwMode="auto">
            <a:xfrm>
              <a:off x="4047429" y="3975281"/>
              <a:ext cx="1893887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FiniteVolumeTraits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6" name="Text Box 13"/>
            <p:cNvSpPr txBox="1">
              <a:spLocks noChangeArrowheads="1"/>
            </p:cNvSpPr>
            <p:nvPr/>
          </p:nvSpPr>
          <p:spPr bwMode="auto">
            <a:xfrm>
              <a:off x="2709166" y="4857931"/>
              <a:ext cx="947738" cy="355600"/>
            </a:xfrm>
            <a:prstGeom prst="rect">
              <a:avLst/>
            </a:prstGeom>
            <a:noFill/>
            <a:ln w="19050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srgbClr val="B2B2B2"/>
                  </a:solidFill>
                  <a:latin typeface="Arial" charset="0"/>
                  <a:ea typeface="+mn-ea"/>
                  <a:cs typeface="+mn-cs"/>
                </a:rPr>
                <a:t>Element</a:t>
              </a:r>
              <a:endParaRPr lang="en-GB" sz="1600">
                <a:solidFill>
                  <a:srgbClr val="B2B2B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11" name="Rectangle 18"/>
            <p:cNvSpPr>
              <a:spLocks noChangeArrowheads="1"/>
            </p:cNvSpPr>
            <p:nvPr/>
          </p:nvSpPr>
          <p:spPr bwMode="auto">
            <a:xfrm>
              <a:off x="2810766" y="4302306"/>
              <a:ext cx="25130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additional FV functionality for the Element</a:t>
              </a:r>
              <a:endParaRPr lang="en-GB" sz="1000" dirty="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33817" name="AutoShape 24"/>
            <p:cNvCxnSpPr>
              <a:cxnSpLocks noChangeShapeType="1"/>
              <a:stCxn id="33806" idx="3"/>
              <a:endCxn id="33802" idx="1"/>
            </p:cNvCxnSpPr>
            <p:nvPr/>
          </p:nvCxnSpPr>
          <p:spPr bwMode="auto">
            <a:xfrm>
              <a:off x="3666429" y="5035731"/>
              <a:ext cx="360362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33818" name="AutoShape 25"/>
            <p:cNvCxnSpPr>
              <a:cxnSpLocks noChangeShapeType="1"/>
              <a:stCxn id="33805" idx="1"/>
              <a:endCxn id="33806" idx="1"/>
            </p:cNvCxnSpPr>
            <p:nvPr/>
          </p:nvCxnSpPr>
          <p:spPr bwMode="auto">
            <a:xfrm rot="10800000" flipV="1">
              <a:off x="2699641" y="4153081"/>
              <a:ext cx="1338263" cy="882650"/>
            </a:xfrm>
            <a:prstGeom prst="bentConnector3">
              <a:avLst>
                <a:gd name="adj1" fmla="val 11637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33819" name="AutoShape 26"/>
            <p:cNvCxnSpPr>
              <a:cxnSpLocks noChangeShapeType="1"/>
              <a:stCxn id="33802" idx="3"/>
              <a:endCxn id="33803" idx="3"/>
            </p:cNvCxnSpPr>
            <p:nvPr/>
          </p:nvCxnSpPr>
          <p:spPr bwMode="auto">
            <a:xfrm flipH="1">
              <a:off x="5519041" y="5037319"/>
              <a:ext cx="520700" cy="547687"/>
            </a:xfrm>
            <a:prstGeom prst="bentConnector3">
              <a:avLst>
                <a:gd name="adj1" fmla="val -42074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33820" name="AutoShape 27"/>
            <p:cNvCxnSpPr>
              <a:cxnSpLocks noChangeShapeType="1"/>
              <a:stCxn id="33803" idx="2"/>
              <a:endCxn id="33804" idx="0"/>
            </p:cNvCxnSpPr>
            <p:nvPr/>
          </p:nvCxnSpPr>
          <p:spPr bwMode="auto">
            <a:xfrm rot="16200000" flipH="1">
              <a:off x="4158553" y="5726294"/>
              <a:ext cx="169863" cy="261938"/>
            </a:xfrm>
            <a:prstGeom prst="bentConnector3">
              <a:avLst>
                <a:gd name="adj1" fmla="val 4953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</p:grpSp>
      <p:sp>
        <p:nvSpPr>
          <p:cNvPr id="6" name="Rectangle 5"/>
          <p:cNvSpPr/>
          <p:nvPr/>
        </p:nvSpPr>
        <p:spPr>
          <a:xfrm>
            <a:off x="71814" y="1313988"/>
            <a:ext cx="906384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SectorVolume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FacetArea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</a:t>
            </a:r>
          </a:p>
          <a:p>
            <a:r>
              <a:rPr lang="en-US" sz="1200" dirty="0" smtClean="0">
                <a:latin typeface="Courier"/>
                <a:cs typeface="Courier"/>
              </a:rPr>
              <a:t>Point</a:t>
            </a:r>
            <a:r>
              <a:rPr lang="en-US" sz="1200" dirty="0">
                <a:latin typeface="Courier"/>
                <a:cs typeface="Courier"/>
              </a:rPr>
              <a:t>&lt;3U&gt;  </a:t>
            </a:r>
            <a:r>
              <a:rPr lang="en-US" sz="1200" dirty="0" err="1">
                <a:latin typeface="Courier"/>
                <a:cs typeface="Courier"/>
              </a:rPr>
              <a:t>FacetNormal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FacetIntegral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SectorIntegral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PropertyValueAtFacetIntegrationPoint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 smtClean="0">
                <a:latin typeface="Courier"/>
                <a:cs typeface="Courier"/>
              </a:rPr>
              <a:t>size_t</a:t>
            </a:r>
            <a:r>
              <a:rPr lang="en-US" sz="1200" dirty="0" smtClean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</a:t>
            </a:r>
            <a:r>
              <a:rPr lang="en-US" sz="1200" dirty="0">
                <a:latin typeface="Courier"/>
                <a:cs typeface="Courier"/>
              </a:rPr>
              <a:t>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PropertyValueAtSectorIntegrationPoint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 smtClean="0">
                <a:latin typeface="Courier"/>
                <a:cs typeface="Courier"/>
              </a:rPr>
              <a:t>size_t</a:t>
            </a:r>
            <a:r>
              <a:rPr lang="en-US" sz="1200" dirty="0" smtClean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</a:t>
            </a:r>
            <a:r>
              <a:rPr lang="en-US" sz="1200" dirty="0">
                <a:latin typeface="Courier"/>
                <a:cs typeface="Courier"/>
              </a:rPr>
              <a:t>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ProjectionOnFacetNormal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VectorVariable</a:t>
            </a:r>
            <a:r>
              <a:rPr lang="en-US" sz="1200" dirty="0">
                <a:latin typeface="Courier"/>
                <a:cs typeface="Courier"/>
              </a:rPr>
              <a:t>&lt;3U&gt;</a:t>
            </a:r>
            <a:r>
              <a:rPr lang="en-US" sz="1200" dirty="0" smtClean="0">
                <a:latin typeface="Courier"/>
                <a:cs typeface="Courier"/>
              </a:rPr>
              <a:t>&amp;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urier"/>
                <a:cs typeface="Courier"/>
              </a:rPr>
              <a:t>void</a:t>
            </a:r>
            <a:r>
              <a:rPr lang="en-US" sz="1200" dirty="0" smtClean="0">
                <a:latin typeface="Courier"/>
                <a:cs typeface="Courier"/>
              </a:rPr>
              <a:t>       </a:t>
            </a:r>
            <a:r>
              <a:rPr lang="en-US" sz="1200" dirty="0" err="1">
                <a:latin typeface="Courier"/>
                <a:cs typeface="Courier"/>
              </a:rPr>
              <a:t>N_AtFacetIntegrationPoint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ip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  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urier"/>
                <a:cs typeface="Courier"/>
              </a:rPr>
              <a:t>void</a:t>
            </a:r>
            <a:r>
              <a:rPr lang="en-US" sz="1200" dirty="0" smtClean="0">
                <a:latin typeface="Courier"/>
                <a:cs typeface="Courier"/>
              </a:rPr>
              <a:t>       </a:t>
            </a:r>
            <a:r>
              <a:rPr lang="en-US" sz="1200" dirty="0" err="1">
                <a:latin typeface="Courier"/>
                <a:cs typeface="Courier"/>
              </a:rPr>
              <a:t>N_AtSectorIntegrationPoint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ip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urier"/>
                <a:cs typeface="Courier"/>
              </a:rPr>
              <a:t>void</a:t>
            </a:r>
            <a:r>
              <a:rPr lang="en-US" sz="1200" dirty="0" smtClean="0">
                <a:latin typeface="Courier"/>
                <a:cs typeface="Courier"/>
              </a:rPr>
              <a:t>       </a:t>
            </a:r>
            <a:r>
              <a:rPr lang="en-US" sz="1200" dirty="0" err="1">
                <a:latin typeface="Courier"/>
                <a:cs typeface="Courier"/>
              </a:rPr>
              <a:t>N_At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 Point&lt;3U&gt;&amp; </a:t>
            </a:r>
            <a:r>
              <a:rPr lang="en-US" sz="1200" dirty="0" err="1">
                <a:latin typeface="Courier"/>
                <a:cs typeface="Courier"/>
              </a:rPr>
              <a:t>rst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Point</a:t>
            </a:r>
            <a:r>
              <a:rPr lang="en-US" sz="1200" dirty="0">
                <a:latin typeface="Courier"/>
                <a:cs typeface="Courier"/>
              </a:rPr>
              <a:t>&lt;3U&gt;  </a:t>
            </a:r>
            <a:r>
              <a:rPr lang="en-US" sz="1200" dirty="0" err="1">
                <a:latin typeface="Courier"/>
                <a:cs typeface="Courier"/>
              </a:rPr>
              <a:t>RstToXYZ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 Point&lt;3U&gt;&amp; </a:t>
            </a:r>
            <a:r>
              <a:rPr lang="en-US" sz="1200" dirty="0" err="1">
                <a:latin typeface="Courier"/>
                <a:cs typeface="Courier"/>
              </a:rPr>
              <a:t>rst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 smtClean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etc.</a:t>
            </a:r>
            <a:endParaRPr lang="en-US" sz="1200" dirty="0">
              <a:latin typeface="Courier"/>
              <a:cs typeface="Couri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4283" y="3577402"/>
            <a:ext cx="24949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latin typeface="Arial"/>
                <a:cs typeface="Arial"/>
              </a:rPr>
              <a:t>To learn how these computations are done, look at </a:t>
            </a:r>
            <a:r>
              <a:rPr lang="en-US" sz="1600" i="1" dirty="0" err="1" smtClean="0">
                <a:latin typeface="Arial"/>
                <a:cs typeface="Arial"/>
              </a:rPr>
              <a:t>Paluszny</a:t>
            </a:r>
            <a:r>
              <a:rPr lang="en-US" sz="1600" i="1" dirty="0" smtClean="0">
                <a:latin typeface="Arial"/>
                <a:cs typeface="Arial"/>
              </a:rPr>
              <a:t> et al. (2007, </a:t>
            </a:r>
            <a:r>
              <a:rPr lang="en-US" sz="1600" i="1" dirty="0" err="1" smtClean="0">
                <a:latin typeface="Arial"/>
                <a:cs typeface="Arial"/>
              </a:rPr>
              <a:t>Geofluids</a:t>
            </a:r>
            <a:r>
              <a:rPr lang="en-US" sz="1600" i="1" dirty="0" smtClean="0">
                <a:latin typeface="Arial"/>
                <a:cs typeface="Arial"/>
              </a:rPr>
              <a:t>)</a:t>
            </a:r>
            <a:endParaRPr lang="en-US" sz="1600" i="1" dirty="0">
              <a:latin typeface="Arial"/>
              <a:cs typeface="Arial"/>
            </a:endParaRPr>
          </a:p>
        </p:txBody>
      </p:sp>
      <p:sp>
        <p:nvSpPr>
          <p:cNvPr id="39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8204" y="4810943"/>
            <a:ext cx="1472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Framework provided through Model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17710" y="6002507"/>
            <a:ext cx="1472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data container for </a:t>
            </a:r>
            <a:r>
              <a:rPr lang="en-US" sz="1400" i="1" dirty="0" err="1" smtClean="0">
                <a:latin typeface="Arial"/>
                <a:cs typeface="Arial"/>
              </a:rPr>
              <a:t>initialisation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66633" y="5520487"/>
            <a:ext cx="1864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Container of available stencils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69419" y="4930176"/>
            <a:ext cx="1864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FV in parametric space representation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15823" y="3822466"/>
            <a:ext cx="360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FV interface of element, face or interface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0270" y="3820914"/>
            <a:ext cx="360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Arial"/>
                <a:cs typeface="Arial"/>
              </a:rPr>
              <a:t>finiteVolumeAuxiliaryFunctions</a:t>
            </a:r>
            <a:r>
              <a:rPr lang="en-US" sz="1400" dirty="0" smtClean="0">
                <a:latin typeface="Arial"/>
                <a:cs typeface="Arial"/>
              </a:rPr>
              <a:t>  +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1257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for improvement: </a:t>
            </a:r>
            <a:r>
              <a:rPr lang="en-US" dirty="0" err="1" smtClean="0"/>
              <a:t>FiniteVolumeTraits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Speed-up: It may be possible to carry out velocity computations entirely in parametric space, saving several </a:t>
            </a:r>
            <a:r>
              <a:rPr lang="en-US" dirty="0" err="1" smtClean="0"/>
              <a:t>Jacobian</a:t>
            </a:r>
            <a:r>
              <a:rPr lang="en-US" dirty="0" smtClean="0"/>
              <a:t> operations</a:t>
            </a:r>
          </a:p>
          <a:p>
            <a:r>
              <a:rPr lang="en-US" dirty="0" smtClean="0"/>
              <a:t>Confusing functions in interface of </a:t>
            </a:r>
            <a:r>
              <a:rPr lang="en-US" b="1" dirty="0" err="1" smtClean="0"/>
              <a:t>FiniteVolumeTraits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	</a:t>
            </a:r>
            <a:r>
              <a:rPr lang="en-US" sz="1400" dirty="0" smtClean="0">
                <a:latin typeface="Courier"/>
                <a:cs typeface="Courier"/>
              </a:rPr>
              <a:t>double64   </a:t>
            </a:r>
            <a:r>
              <a:rPr lang="en-US" sz="1400" dirty="0" err="1">
                <a:latin typeface="Courier"/>
                <a:cs typeface="Courier"/>
              </a:rPr>
              <a:t>FacetAreaMapped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 </a:t>
            </a:r>
            <a:endParaRPr lang="en-US" sz="14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400" dirty="0" smtClean="0">
                <a:latin typeface="Courier"/>
                <a:cs typeface="Courier"/>
              </a:rPr>
              <a:t>	Point</a:t>
            </a:r>
            <a:r>
              <a:rPr lang="en-US" sz="1400" dirty="0">
                <a:latin typeface="Courier"/>
                <a:cs typeface="Courier"/>
              </a:rPr>
              <a:t>&lt;3U&gt;  </a:t>
            </a:r>
            <a:r>
              <a:rPr lang="en-US" sz="1400" dirty="0" err="1">
                <a:latin typeface="Courier"/>
                <a:cs typeface="Courier"/>
              </a:rPr>
              <a:t>FacetNormalMapped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     </a:t>
            </a:r>
            <a:endParaRPr lang="en-US" sz="14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	</a:t>
            </a:r>
            <a:r>
              <a:rPr lang="en-US" sz="1400" dirty="0" smtClean="0">
                <a:latin typeface="Courier"/>
                <a:cs typeface="Courier"/>
              </a:rPr>
              <a:t>double64          </a:t>
            </a:r>
            <a:r>
              <a:rPr lang="en-US" sz="1400" dirty="0" err="1">
                <a:latin typeface="Courier"/>
                <a:cs typeface="Courier"/>
              </a:rPr>
              <a:t>ParametricFacetArea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   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 Point&lt;3U&gt;&amp;  </a:t>
            </a:r>
            <a:r>
              <a:rPr lang="en-US" sz="1400" dirty="0" err="1">
                <a:latin typeface="Courier"/>
                <a:cs typeface="Courier"/>
              </a:rPr>
              <a:t>ParametricFacetNormal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</a:t>
            </a:r>
            <a:endParaRPr lang="en-US" sz="1400" dirty="0" smtClean="0">
              <a:latin typeface="Courier"/>
              <a:cs typeface="Courier"/>
            </a:endParaRPr>
          </a:p>
          <a:p>
            <a:pPr marL="457200" lvl="1" indent="0">
              <a:buNone/>
            </a:pPr>
            <a:endParaRPr lang="en-US" sz="1400" dirty="0" smtClean="0"/>
          </a:p>
          <a:p>
            <a:r>
              <a:rPr lang="en-US" dirty="0" smtClean="0"/>
              <a:t>Is there an issue with velocity computations on polyhedral (multi-element type) meshes, where there appears to be a divergence in the velocity field?</a:t>
            </a:r>
          </a:p>
          <a:p>
            <a:r>
              <a:rPr lang="en-US" dirty="0" smtClean="0"/>
              <a:t>Option PYRAMID_WITH_TRIANGULAR_FACETS should be used always and flag should be removed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14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77189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086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Keeping support functionality from </a:t>
            </a:r>
            <a:r>
              <a:rPr lang="en-US" b="1" dirty="0" err="1" smtClean="0"/>
              <a:t>NodeCenteredFiniteVolumeTransport</a:t>
            </a:r>
            <a:r>
              <a:rPr lang="en-US" b="1" dirty="0" smtClean="0"/>
              <a:t> 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30" y="1039485"/>
            <a:ext cx="8197504" cy="55515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Class needs a rebuild, but SKM suggests that certain functions are kept:</a:t>
            </a:r>
          </a:p>
          <a:p>
            <a:r>
              <a:rPr lang="en-US" dirty="0" smtClean="0"/>
              <a:t>Alternative: Keep these functions but dismantle class?</a:t>
            </a:r>
          </a:p>
          <a:p>
            <a:pPr lvl="1"/>
            <a:r>
              <a:rPr lang="en-US" dirty="0"/>
              <a:t>At least the constructor / </a:t>
            </a:r>
            <a:r>
              <a:rPr lang="en-US" dirty="0" err="1"/>
              <a:t>initialisation</a:t>
            </a:r>
            <a:r>
              <a:rPr lang="en-US" dirty="0"/>
              <a:t> function are always needed </a:t>
            </a:r>
          </a:p>
          <a:p>
            <a:pPr lvl="1"/>
            <a:r>
              <a:rPr lang="en-US" dirty="0"/>
              <a:t>A transport class / visitor is </a:t>
            </a:r>
            <a:r>
              <a:rPr lang="en-US" dirty="0" smtClean="0"/>
              <a:t>also needed </a:t>
            </a:r>
            <a:r>
              <a:rPr lang="en-US" dirty="0"/>
              <a:t>to manage accumulations / integrations etc. </a:t>
            </a:r>
          </a:p>
          <a:p>
            <a:pPr lvl="1"/>
            <a:r>
              <a:rPr lang="en-US" dirty="0" smtClean="0"/>
              <a:t>CFL </a:t>
            </a:r>
            <a:r>
              <a:rPr lang="en-US" dirty="0"/>
              <a:t>calculations etc. could be moved to </a:t>
            </a:r>
            <a:r>
              <a:rPr lang="en-US" b="1" dirty="0" err="1"/>
              <a:t>finiteVolumeAuxiliaryFunctions</a:t>
            </a:r>
            <a:r>
              <a:rPr lang="en-US" dirty="0"/>
              <a:t> ?</a:t>
            </a:r>
          </a:p>
          <a:p>
            <a:pPr lvl="1"/>
            <a:r>
              <a:rPr lang="en-US" dirty="0" smtClean="0"/>
              <a:t>Complicated </a:t>
            </a:r>
            <a:r>
              <a:rPr lang="en-US" dirty="0"/>
              <a:t>procedure to compute nodal volume fluid source terms for </a:t>
            </a:r>
            <a:r>
              <a:rPr lang="en-US" dirty="0" err="1" smtClean="0"/>
              <a:t>PointSourceRHS</a:t>
            </a:r>
            <a:r>
              <a:rPr lang="en-US" dirty="0" smtClean="0"/>
              <a:t> in FEM </a:t>
            </a:r>
            <a:r>
              <a:rPr lang="en-US" dirty="0"/>
              <a:t>scheme should be </a:t>
            </a:r>
            <a:r>
              <a:rPr lang="en-US" dirty="0" smtClean="0"/>
              <a:t>replaced  by </a:t>
            </a:r>
            <a:r>
              <a:rPr lang="en-US" dirty="0" err="1"/>
              <a:t>pde_operators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Transport variables not stored in NCFVT / </a:t>
            </a:r>
            <a:r>
              <a:rPr lang="en-US" dirty="0" err="1" smtClean="0"/>
              <a:t>FV_Parameter</a:t>
            </a:r>
            <a:r>
              <a:rPr lang="en-US" dirty="0" smtClean="0"/>
              <a:t> array, but on model</a:t>
            </a:r>
          </a:p>
          <a:p>
            <a:pPr lvl="2"/>
            <a:r>
              <a:rPr lang="en-US" dirty="0" smtClean="0"/>
              <a:t>Implication</a:t>
            </a:r>
            <a:r>
              <a:rPr lang="en-US" dirty="0"/>
              <a:t>: </a:t>
            </a:r>
            <a:r>
              <a:rPr lang="en-US" dirty="0" smtClean="0"/>
              <a:t>transport variables </a:t>
            </a:r>
            <a:r>
              <a:rPr lang="en-US" dirty="0"/>
              <a:t>exist everywhere</a:t>
            </a:r>
            <a:r>
              <a:rPr lang="en-US" dirty="0" smtClean="0"/>
              <a:t>!</a:t>
            </a:r>
            <a:endParaRPr lang="en-US" dirty="0"/>
          </a:p>
          <a:p>
            <a:pPr lvl="1"/>
            <a:r>
              <a:rPr lang="en-US" dirty="0" smtClean="0"/>
              <a:t>Single </a:t>
            </a:r>
            <a:r>
              <a:rPr lang="en-US" dirty="0"/>
              <a:t>phase transport should also be associated with a phase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15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414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327129" y="315198"/>
            <a:ext cx="8816871" cy="519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800" dirty="0"/>
              <a:t>What </a:t>
            </a:r>
            <a:r>
              <a:rPr lang="en-US" sz="2800" dirty="0" smtClean="0"/>
              <a:t>currently happens </a:t>
            </a:r>
            <a:r>
              <a:rPr lang="en-US" sz="2800" dirty="0"/>
              <a:t>when</a:t>
            </a:r>
            <a:r>
              <a:rPr lang="en-US" sz="2800" dirty="0" smtClean="0"/>
              <a:t> the NCFV </a:t>
            </a:r>
            <a:r>
              <a:rPr lang="en-US" sz="2800" dirty="0"/>
              <a:t>transport</a:t>
            </a:r>
            <a:r>
              <a:rPr lang="en-US" sz="2800" dirty="0" smtClean="0"/>
              <a:t> is instantiated</a:t>
            </a:r>
            <a:endParaRPr lang="en-GB" sz="2800" dirty="0"/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325" y="1165225"/>
            <a:ext cx="8308975" cy="53276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Aft>
                <a:spcPct val="85000"/>
              </a:spcAft>
            </a:pPr>
            <a:r>
              <a:rPr lang="en-US" sz="2000" dirty="0"/>
              <a:t>Finite volume </a:t>
            </a:r>
            <a:r>
              <a:rPr lang="en-US" sz="2000" dirty="0" smtClean="0"/>
              <a:t>stencil class instances of  </a:t>
            </a:r>
            <a:r>
              <a:rPr lang="en-US" sz="2000" b="1" dirty="0" err="1" smtClean="0"/>
              <a:t>FiniteVolumeStencil</a:t>
            </a:r>
            <a:r>
              <a:rPr lang="en-US" sz="2000" b="1" dirty="0" smtClean="0"/>
              <a:t> </a:t>
            </a:r>
            <a:r>
              <a:rPr lang="en-US" sz="2000" dirty="0"/>
              <a:t>are constructed</a:t>
            </a:r>
            <a:r>
              <a:rPr lang="en-US" sz="2000" dirty="0" smtClean="0"/>
              <a:t> and initialized with data from </a:t>
            </a:r>
            <a:r>
              <a:rPr lang="en-US" sz="2000" b="1" dirty="0" err="1" smtClean="0"/>
              <a:t>FV_IntegrationPointAnd</a:t>
            </a:r>
            <a:r>
              <a:rPr lang="en-US" b="1" dirty="0" err="1" smtClean="0"/>
              <a:t>Weights</a:t>
            </a:r>
            <a:r>
              <a:rPr lang="en-US" b="1" dirty="0" smtClean="0"/>
              <a:t> </a:t>
            </a:r>
            <a:r>
              <a:rPr lang="en-US" dirty="0" smtClean="0"/>
              <a:t>“singleton” </a:t>
            </a:r>
            <a:r>
              <a:rPr lang="en-US" sz="2000" dirty="0" smtClean="0"/>
              <a:t>for </a:t>
            </a:r>
            <a:r>
              <a:rPr lang="en-US" sz="2000" dirty="0"/>
              <a:t>the different finite element types</a:t>
            </a:r>
          </a:p>
          <a:p>
            <a:pPr eaLnBrk="1" hangingPunct="1">
              <a:lnSpc>
                <a:spcPct val="90000"/>
              </a:lnSpc>
              <a:spcAft>
                <a:spcPct val="85000"/>
              </a:spcAft>
            </a:pPr>
            <a:r>
              <a:rPr lang="en-US" sz="2000" dirty="0"/>
              <a:t>Specific stencils are associated with corresponding elements as managed </a:t>
            </a:r>
            <a:r>
              <a:rPr lang="en-US" sz="2000" dirty="0" smtClean="0"/>
              <a:t>by the </a:t>
            </a:r>
            <a:r>
              <a:rPr lang="en-US" sz="2000" b="1" dirty="0" err="1" smtClean="0"/>
              <a:t>FiniteVolumeStencilManager</a:t>
            </a:r>
            <a:endParaRPr lang="en-US" sz="2000" b="1" dirty="0"/>
          </a:p>
          <a:p>
            <a:pPr>
              <a:lnSpc>
                <a:spcPct val="90000"/>
              </a:lnSpc>
              <a:spcAft>
                <a:spcPct val="85000"/>
              </a:spcAft>
            </a:pPr>
            <a:r>
              <a:rPr lang="en-US" sz="2000" dirty="0" smtClean="0"/>
              <a:t>Storage for SECTOR_INTEGRATION_POINT and FACET_INTEGRATION_POINT variables is created</a:t>
            </a:r>
          </a:p>
          <a:p>
            <a:pPr>
              <a:lnSpc>
                <a:spcPct val="90000"/>
              </a:lnSpc>
              <a:spcAft>
                <a:spcPct val="85000"/>
              </a:spcAft>
            </a:pPr>
            <a:r>
              <a:rPr lang="en-US" sz="2000" b="1" dirty="0" err="1" smtClean="0">
                <a:solidFill>
                  <a:srgbClr val="BFBFBF"/>
                </a:solidFill>
              </a:rPr>
              <a:t>FV_Parameter</a:t>
            </a:r>
            <a:r>
              <a:rPr lang="en-US" sz="2000" b="1" dirty="0" smtClean="0">
                <a:solidFill>
                  <a:srgbClr val="BFBFBF"/>
                </a:solidFill>
              </a:rPr>
              <a:t> </a:t>
            </a:r>
            <a:r>
              <a:rPr lang="en-US" sz="2000" dirty="0" smtClean="0">
                <a:solidFill>
                  <a:srgbClr val="BFBFBF"/>
                </a:solidFill>
              </a:rPr>
              <a:t>instances are initialized doing computations </a:t>
            </a:r>
            <a:r>
              <a:rPr lang="en-US" dirty="0" smtClean="0">
                <a:solidFill>
                  <a:srgbClr val="BFBFBF"/>
                </a:solidFill>
              </a:rPr>
              <a:t>with the </a:t>
            </a:r>
            <a:r>
              <a:rPr lang="en-US" b="1" dirty="0" err="1" smtClean="0">
                <a:solidFill>
                  <a:srgbClr val="BFBFBF"/>
                </a:solidFill>
              </a:rPr>
              <a:t>FiniteVolumeStencil</a:t>
            </a:r>
            <a:r>
              <a:rPr lang="en-US" b="1" dirty="0" smtClean="0">
                <a:solidFill>
                  <a:srgbClr val="BFBFBF"/>
                </a:solidFill>
              </a:rPr>
              <a:t> </a:t>
            </a:r>
            <a:r>
              <a:rPr lang="en-US" dirty="0" smtClean="0">
                <a:solidFill>
                  <a:srgbClr val="BFBFBF"/>
                </a:solidFill>
              </a:rPr>
              <a:t>objects and are </a:t>
            </a:r>
            <a:r>
              <a:rPr lang="en-US" sz="2000" dirty="0" smtClean="0">
                <a:solidFill>
                  <a:srgbClr val="BFBFBF"/>
                </a:solidFill>
              </a:rPr>
              <a:t>stored </a:t>
            </a:r>
            <a:r>
              <a:rPr lang="en-US" sz="2000" dirty="0">
                <a:solidFill>
                  <a:srgbClr val="BFBFBF"/>
                </a:solidFill>
              </a:rPr>
              <a:t>in the STENCIL_DATA vector inside of the </a:t>
            </a:r>
            <a:r>
              <a:rPr lang="en-US" sz="2000" b="1" dirty="0" err="1" smtClean="0">
                <a:solidFill>
                  <a:srgbClr val="BFBFBF"/>
                </a:solidFill>
              </a:rPr>
              <a:t>NodeCenteredFiniteVolumeTransport</a:t>
            </a:r>
            <a:r>
              <a:rPr lang="en-US" sz="2000" b="1" dirty="0" smtClean="0">
                <a:solidFill>
                  <a:srgbClr val="BFBFBF"/>
                </a:solidFill>
              </a:rPr>
              <a:t>. </a:t>
            </a:r>
            <a:r>
              <a:rPr lang="en-US" dirty="0" smtClean="0">
                <a:solidFill>
                  <a:srgbClr val="BFBFBF"/>
                </a:solidFill>
              </a:rPr>
              <a:t>I</a:t>
            </a:r>
            <a:r>
              <a:rPr lang="en-US" sz="2000" dirty="0" smtClean="0">
                <a:solidFill>
                  <a:srgbClr val="BFBFBF"/>
                </a:solidFill>
              </a:rPr>
              <a:t>nitialized are with </a:t>
            </a:r>
            <a:r>
              <a:rPr lang="en-US" sz="2000" dirty="0">
                <a:solidFill>
                  <a:srgbClr val="BFBFBF"/>
                </a:solidFill>
              </a:rPr>
              <a:t>facet </a:t>
            </a:r>
            <a:r>
              <a:rPr lang="en-US" sz="2000" dirty="0" err="1">
                <a:solidFill>
                  <a:srgbClr val="BFBFBF"/>
                </a:solidFill>
              </a:rPr>
              <a:t>normals</a:t>
            </a:r>
            <a:r>
              <a:rPr lang="en-US" sz="2000" dirty="0">
                <a:solidFill>
                  <a:srgbClr val="BFBFBF"/>
                </a:solidFill>
              </a:rPr>
              <a:t>, facet areas, and</a:t>
            </a:r>
            <a:r>
              <a:rPr lang="en-US" sz="2000" dirty="0" smtClean="0">
                <a:solidFill>
                  <a:srgbClr val="BFBFBF"/>
                </a:solidFill>
              </a:rPr>
              <a:t> sector </a:t>
            </a:r>
            <a:r>
              <a:rPr lang="en-US" sz="2000" dirty="0">
                <a:solidFill>
                  <a:srgbClr val="BFBFBF"/>
                </a:solidFill>
              </a:rPr>
              <a:t>volumes for accelerated lookup and projections during </a:t>
            </a:r>
            <a:r>
              <a:rPr lang="en-US" sz="2000" dirty="0" smtClean="0">
                <a:solidFill>
                  <a:srgbClr val="BFBFBF"/>
                </a:solidFill>
              </a:rPr>
              <a:t>run.  </a:t>
            </a:r>
          </a:p>
          <a:p>
            <a:pPr lvl="1">
              <a:lnSpc>
                <a:spcPct val="90000"/>
              </a:lnSpc>
              <a:spcAft>
                <a:spcPct val="85000"/>
              </a:spcAft>
            </a:pPr>
            <a:r>
              <a:rPr lang="en-US" i="1" dirty="0" smtClean="0">
                <a:solidFill>
                  <a:srgbClr val="BFBFBF"/>
                </a:solidFill>
              </a:rPr>
              <a:t>NB: </a:t>
            </a:r>
            <a:r>
              <a:rPr lang="en-US" i="1" dirty="0" err="1" smtClean="0">
                <a:solidFill>
                  <a:srgbClr val="BFBFBF"/>
                </a:solidFill>
              </a:rPr>
              <a:t>FV_Parameter</a:t>
            </a:r>
            <a:r>
              <a:rPr lang="en-US" i="1" dirty="0" smtClean="0">
                <a:solidFill>
                  <a:srgbClr val="BFBFBF"/>
                </a:solidFill>
              </a:rPr>
              <a:t> data can now be stored on the mesh</a:t>
            </a:r>
            <a:endParaRPr lang="en-US" i="1" dirty="0">
              <a:solidFill>
                <a:srgbClr val="BFBFBF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85000"/>
              </a:spcAft>
            </a:pPr>
            <a:r>
              <a:rPr lang="en-US" sz="2000" dirty="0"/>
              <a:t>FV-pore volumes and flux balance arrays are</a:t>
            </a:r>
            <a:r>
              <a:rPr lang="en-US" sz="2000" dirty="0" smtClean="0"/>
              <a:t> computed</a:t>
            </a:r>
            <a:r>
              <a:rPr lang="en-US" sz="2000" dirty="0"/>
              <a:t>. If second order is required, a node connectivity graph and SMINMAX array values are </a:t>
            </a:r>
            <a:r>
              <a:rPr lang="en-US" sz="2000" dirty="0" smtClean="0"/>
              <a:t>created.</a:t>
            </a:r>
            <a:endParaRPr lang="en-GB" sz="200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2133600" cy="365125"/>
          </a:xfrm>
        </p:spPr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16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916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41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dirty="0" smtClean="0"/>
              <a:t>What currently happens in an 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order explicit transport calculation?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9374"/>
            <a:ext cx="8229600" cy="5794690"/>
          </a:xfrm>
        </p:spPr>
        <p:txBody>
          <a:bodyPr>
            <a:noAutofit/>
          </a:bodyPr>
          <a:lstStyle/>
          <a:p>
            <a:pPr>
              <a:buAutoNum type="arabicPeriod"/>
            </a:pPr>
            <a:r>
              <a:rPr lang="en-US" sz="1600" b="1" dirty="0" smtClean="0"/>
              <a:t>For the transport region, calculate CFL ( / time-stepping criterion) </a:t>
            </a:r>
          </a:p>
          <a:p>
            <a:pPr lvl="1">
              <a:spcBef>
                <a:spcPts val="100"/>
              </a:spcBef>
              <a:spcAft>
                <a:spcPts val="300"/>
              </a:spcAft>
            </a:pPr>
            <a:r>
              <a:rPr lang="en-US" sz="1400" dirty="0"/>
              <a:t>E</a:t>
            </a:r>
            <a:r>
              <a:rPr lang="en-US" sz="1400" dirty="0" smtClean="0"/>
              <a:t>lement-by-element: from phase velocity based on combined viscous-gravitational-capillary phase velocity, but not sources</a:t>
            </a:r>
          </a:p>
          <a:p>
            <a:pPr lvl="1">
              <a:spcBef>
                <a:spcPts val="100"/>
              </a:spcBef>
              <a:spcAft>
                <a:spcPts val="300"/>
              </a:spcAft>
            </a:pPr>
            <a:r>
              <a:rPr lang="en-US" sz="1400" dirty="0" smtClean="0"/>
              <a:t>Decision needed: compute only once using shock speed, vs. </a:t>
            </a:r>
            <a:r>
              <a:rPr lang="en-US" sz="1400" dirty="0" err="1" smtClean="0"/>
              <a:t>recompute</a:t>
            </a:r>
            <a:r>
              <a:rPr lang="en-US" sz="1400" dirty="0" smtClean="0"/>
              <a:t> for each transport increment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bg1">
                    <a:lumMod val="75000"/>
                  </a:schemeClr>
                </a:solidFill>
              </a:rPr>
              <a:t>2. Compute FV centered saturations gradients using Karen’s method</a:t>
            </a:r>
          </a:p>
          <a:p>
            <a:pPr marL="0" indent="0">
              <a:buNone/>
            </a:pPr>
            <a:r>
              <a:rPr lang="en-US" sz="1600" b="1" dirty="0" smtClean="0"/>
              <a:t>3. For (second order in space), find </a:t>
            </a:r>
            <a:r>
              <a:rPr lang="en-US" sz="1600" b="1" dirty="0" err="1" smtClean="0"/>
              <a:t>smin</a:t>
            </a:r>
            <a:r>
              <a:rPr lang="en-US" sz="1600" b="1" dirty="0" smtClean="0"/>
              <a:t> / </a:t>
            </a:r>
            <a:r>
              <a:rPr lang="en-US" sz="1600" b="1" dirty="0" err="1" smtClean="0"/>
              <a:t>smax</a:t>
            </a:r>
            <a:r>
              <a:rPr lang="en-US" sz="1600" b="1" dirty="0" smtClean="0"/>
              <a:t> upstream of </a:t>
            </a:r>
            <a:r>
              <a:rPr lang="en-US" sz="1600" b="1" dirty="0"/>
              <a:t>each </a:t>
            </a:r>
            <a:r>
              <a:rPr lang="en-US" sz="1600" b="1" dirty="0" smtClean="0"/>
              <a:t>FV facet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400" dirty="0" err="1" smtClean="0"/>
              <a:t>MinMaxAdvectedProperty</a:t>
            </a:r>
            <a:r>
              <a:rPr lang="en-US" sz="1400" dirty="0"/>
              <a:t>()</a:t>
            </a:r>
            <a:r>
              <a:rPr lang="en-US" sz="1400" dirty="0" smtClean="0"/>
              <a:t>;   using node-to-node connectivity</a:t>
            </a:r>
            <a:endParaRPr lang="en-US" sz="1400" dirty="0"/>
          </a:p>
          <a:p>
            <a:pPr marL="0" indent="0">
              <a:spcBef>
                <a:spcPts val="100"/>
              </a:spcBef>
              <a:spcAft>
                <a:spcPts val="300"/>
              </a:spcAft>
              <a:buNone/>
            </a:pPr>
            <a:r>
              <a:rPr lang="en-US" sz="1600" b="1" dirty="0" smtClean="0"/>
              <a:t>3. Loop over all elements of the transport region to accumulate fluxes / sources</a:t>
            </a:r>
          </a:p>
          <a:p>
            <a:pPr lvl="1">
              <a:spcBef>
                <a:spcPts val="100"/>
              </a:spcBef>
              <a:spcAft>
                <a:spcPts val="300"/>
              </a:spcAft>
            </a:pPr>
            <a:r>
              <a:rPr lang="en-US" sz="1400" dirty="0" smtClean="0"/>
              <a:t>stencil_</a:t>
            </a:r>
            <a:r>
              <a:rPr lang="en-US" sz="1400" dirty="0"/>
              <a:t>.AccumulateExplicitAdvectionSolution2( this-&gt;SMINMAX</a:t>
            </a:r>
            <a:r>
              <a:rPr lang="en-US" sz="1400" dirty="0" smtClean="0"/>
              <a:t>, </a:t>
            </a:r>
            <a:r>
              <a:rPr lang="de-DE" sz="1400" dirty="0" smtClean="0"/>
              <a:t>(</a:t>
            </a:r>
            <a:r>
              <a:rPr lang="de-DE" sz="1400" dirty="0"/>
              <a:t>*</a:t>
            </a:r>
            <a:r>
              <a:rPr lang="de-DE" sz="1400" dirty="0" err="1"/>
              <a:t>fvt</a:t>
            </a:r>
            <a:r>
              <a:rPr lang="de-DE" sz="1400" dirty="0"/>
              <a:t>), *(*</a:t>
            </a:r>
            <a:r>
              <a:rPr lang="de-DE" sz="1400" dirty="0" err="1"/>
              <a:t>eit</a:t>
            </a:r>
            <a:r>
              <a:rPr lang="de-DE" sz="1400" dirty="0"/>
              <a:t>), RESULT ); </a:t>
            </a:r>
            <a:endParaRPr lang="de-DE" sz="1400" dirty="0" smtClean="0"/>
          </a:p>
          <a:p>
            <a:pPr lvl="1">
              <a:spcBef>
                <a:spcPts val="100"/>
              </a:spcBef>
              <a:spcAft>
                <a:spcPts val="300"/>
              </a:spcAft>
            </a:pPr>
            <a:r>
              <a:rPr lang="de-DE" sz="1400" dirty="0" err="1"/>
              <a:t>c</a:t>
            </a:r>
            <a:r>
              <a:rPr lang="de-DE" sz="1400" dirty="0" err="1" smtClean="0"/>
              <a:t>ompute</a:t>
            </a:r>
            <a:r>
              <a:rPr lang="de-DE" sz="1400" dirty="0" smtClean="0"/>
              <a:t> </a:t>
            </a:r>
            <a:r>
              <a:rPr lang="de-DE" sz="1400" dirty="0" err="1" smtClean="0"/>
              <a:t>limiter</a:t>
            </a:r>
            <a:r>
              <a:rPr lang="de-DE" sz="1400" dirty="0" smtClean="0"/>
              <a:t> </a:t>
            </a:r>
            <a:r>
              <a:rPr lang="de-DE" sz="1400" dirty="0" err="1" smtClean="0"/>
              <a:t>values</a:t>
            </a:r>
            <a:r>
              <a:rPr lang="de-DE" sz="1600" dirty="0"/>
              <a:t>	     </a:t>
            </a:r>
          </a:p>
          <a:p>
            <a:pPr marL="0" indent="0">
              <a:buNone/>
            </a:pPr>
            <a:r>
              <a:rPr lang="de-DE" sz="1600" b="1" dirty="0" smtClean="0"/>
              <a:t>4. Accumulate </a:t>
            </a:r>
            <a:r>
              <a:rPr lang="de-DE" sz="1600" b="1" dirty="0" err="1" smtClean="0"/>
              <a:t>boundary</a:t>
            </a:r>
            <a:r>
              <a:rPr lang="de-DE" sz="1600" b="1" dirty="0" smtClean="0"/>
              <a:t> </a:t>
            </a:r>
            <a:r>
              <a:rPr lang="de-DE" sz="1600" b="1" dirty="0" err="1" smtClean="0"/>
              <a:t>terms</a:t>
            </a:r>
            <a:r>
              <a:rPr lang="de-DE" sz="1600" b="1" dirty="0" smtClean="0"/>
              <a:t>, </a:t>
            </a:r>
            <a:r>
              <a:rPr lang="de-DE" sz="1600" b="1" dirty="0" err="1" smtClean="0"/>
              <a:t>compensating</a:t>
            </a:r>
            <a:r>
              <a:rPr lang="de-DE" sz="1600" b="1" dirty="0" smtClean="0"/>
              <a:t> </a:t>
            </a:r>
            <a:r>
              <a:rPr lang="de-DE" sz="1600" b="1" dirty="0" err="1"/>
              <a:t>for</a:t>
            </a:r>
            <a:r>
              <a:rPr lang="de-DE" sz="1600" b="1" dirty="0"/>
              <a:t> </a:t>
            </a:r>
            <a:r>
              <a:rPr lang="de-DE" sz="1600" b="1" dirty="0" err="1" smtClean="0"/>
              <a:t>inflow</a:t>
            </a:r>
            <a:r>
              <a:rPr lang="de-DE" sz="1600" b="1" dirty="0" smtClean="0"/>
              <a:t> </a:t>
            </a:r>
            <a:r>
              <a:rPr lang="de-DE" sz="1600" b="1" dirty="0" err="1"/>
              <a:t>and</a:t>
            </a:r>
            <a:r>
              <a:rPr lang="de-DE" sz="1600" b="1" dirty="0"/>
              <a:t> </a:t>
            </a:r>
            <a:r>
              <a:rPr lang="de-DE" sz="1600" b="1" dirty="0" err="1" smtClean="0"/>
              <a:t>outflow</a:t>
            </a:r>
            <a:endParaRPr lang="de-DE" sz="1600" b="1" dirty="0"/>
          </a:p>
          <a:p>
            <a:pPr marL="0" indent="0">
              <a:buNone/>
            </a:pPr>
            <a:r>
              <a:rPr lang="de-DE" sz="1600" dirty="0"/>
              <a:t>	</a:t>
            </a:r>
            <a:r>
              <a:rPr lang="de-DE" sz="1400" dirty="0" err="1" smtClean="0"/>
              <a:t>AssignFluxBoundaryConditions</a:t>
            </a:r>
            <a:r>
              <a:rPr lang="de-DE" sz="1400" dirty="0"/>
              <a:t>();</a:t>
            </a:r>
          </a:p>
          <a:p>
            <a:pPr marL="0" indent="0">
              <a:buNone/>
            </a:pPr>
            <a:r>
              <a:rPr lang="de-DE" sz="1600" b="1" dirty="0" smtClean="0"/>
              <a:t>5. </a:t>
            </a:r>
            <a:r>
              <a:rPr lang="sk-SK" sz="1600" b="1" dirty="0" smtClean="0"/>
              <a:t>Compose solution  </a:t>
            </a:r>
            <a:r>
              <a:rPr lang="sk-SK" sz="1600" b="1" dirty="0"/>
              <a:t>S^t+1 = S^t - dt/(phi Vi) * sum_j^faces Aj n . [f vt</a:t>
            </a:r>
            <a:r>
              <a:rPr lang="sk-SK" sz="1600" b="1" dirty="0" smtClean="0"/>
              <a:t>] + src</a:t>
            </a:r>
            <a:endParaRPr lang="sk-SK" sz="1600" b="1" dirty="0"/>
          </a:p>
          <a:p>
            <a:pPr marL="0" indent="0">
              <a:buNone/>
            </a:pPr>
            <a:r>
              <a:rPr lang="sk-SK" sz="1600" dirty="0" smtClean="0"/>
              <a:t>	</a:t>
            </a:r>
          </a:p>
          <a:p>
            <a:pPr marL="0" indent="0">
              <a:buNone/>
            </a:pPr>
            <a:r>
              <a:rPr lang="sk-SK" sz="1600" b="1" dirty="0" smtClean="0"/>
              <a:t>6. Save computed saturations to FV</a:t>
            </a:r>
            <a:endParaRPr lang="sk-SK" sz="1600" b="1" dirty="0"/>
          </a:p>
          <a:p>
            <a:pPr marL="0" indent="0">
              <a:buNone/>
            </a:pPr>
            <a:r>
              <a:rPr lang="sk-SK" sz="1600" dirty="0"/>
              <a:t>	</a:t>
            </a:r>
            <a:r>
              <a:rPr lang="sk-SK" sz="1400" dirty="0" smtClean="0"/>
              <a:t>OutputResults</a:t>
            </a:r>
            <a:r>
              <a:rPr lang="sk-SK" sz="1400" dirty="0"/>
              <a:t>( this-&gt;pref_, output_result_range );</a:t>
            </a: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17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3752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1285"/>
            <a:ext cx="8162925" cy="579437"/>
          </a:xfrm>
        </p:spPr>
        <p:txBody>
          <a:bodyPr/>
          <a:lstStyle/>
          <a:p>
            <a:pPr eaLnBrk="1" hangingPunct="1"/>
            <a:r>
              <a:rPr lang="en-US" dirty="0"/>
              <a:t>CFL calculation</a:t>
            </a:r>
            <a:endParaRPr lang="en-GB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804274" cy="4953000"/>
          </a:xfrm>
        </p:spPr>
        <p:txBody>
          <a:bodyPr>
            <a:noAutofit/>
          </a:bodyPr>
          <a:lstStyle/>
          <a:p>
            <a:pPr eaLnBrk="1" hangingPunct="1">
              <a:spcAft>
                <a:spcPct val="50000"/>
              </a:spcAft>
            </a:pPr>
            <a:r>
              <a:rPr lang="en-US" dirty="0"/>
              <a:t>CFL is </a:t>
            </a:r>
            <a:r>
              <a:rPr lang="en-US" dirty="0" smtClean="0"/>
              <a:t>currently calculated </a:t>
            </a:r>
            <a:r>
              <a:rPr lang="en-US" dirty="0"/>
              <a:t>using the element length in the direction of flow, </a:t>
            </a:r>
            <a:r>
              <a:rPr lang="en-US" dirty="0" smtClean="0"/>
              <a:t>see NCFVT::</a:t>
            </a:r>
            <a:r>
              <a:rPr lang="en-US" b="1" dirty="0" err="1"/>
              <a:t>AnisotropicCourantIncrement</a:t>
            </a:r>
            <a:r>
              <a:rPr lang="en-US" b="1" dirty="0"/>
              <a:t>(</a:t>
            </a:r>
            <a:r>
              <a:rPr lang="en-US" b="1" dirty="0" smtClean="0"/>
              <a:t>)</a:t>
            </a:r>
            <a:r>
              <a:rPr lang="en-US" dirty="0" smtClean="0"/>
              <a:t>. This only considers viscous and gravitationally driven flow since capillary spreading is computed with the FE method.</a:t>
            </a:r>
          </a:p>
          <a:p>
            <a:pPr>
              <a:spcAft>
                <a:spcPct val="50000"/>
              </a:spcAft>
            </a:pPr>
            <a:r>
              <a:rPr lang="en-US" dirty="0" smtClean="0"/>
              <a:t>A limiting value is specified by the user for the case when there is no flow.</a:t>
            </a:r>
            <a:endParaRPr lang="en-GB" dirty="0" smtClean="0"/>
          </a:p>
          <a:p>
            <a:pPr eaLnBrk="1" hangingPunct="1">
              <a:spcAft>
                <a:spcPct val="50000"/>
              </a:spcAft>
            </a:pPr>
            <a:r>
              <a:rPr lang="en-US" dirty="0" smtClean="0"/>
              <a:t>For </a:t>
            </a:r>
            <a:r>
              <a:rPr lang="en-US" dirty="0"/>
              <a:t>explicit calculations, </a:t>
            </a:r>
            <a:r>
              <a:rPr lang="en-US" i="1" dirty="0" err="1"/>
              <a:t>df/ds</a:t>
            </a:r>
            <a:r>
              <a:rPr lang="en-US" i="1" baseline="-25000" dirty="0" err="1"/>
              <a:t>max</a:t>
            </a:r>
            <a:r>
              <a:rPr lang="en-US" dirty="0"/>
              <a:t> is used in the calculation of the 2-phase CFL limit because the resulting step size will be sufficiently small even when </a:t>
            </a:r>
            <a:r>
              <a:rPr lang="en-US" i="1" dirty="0" err="1"/>
              <a:t>df/ds</a:t>
            </a:r>
            <a:r>
              <a:rPr lang="en-US" dirty="0"/>
              <a:t> increases from the current to subsequent iterations. For implicit calculations this is not necessary and the virtual CFL method </a:t>
            </a:r>
            <a:r>
              <a:rPr lang="en-US" dirty="0" smtClean="0"/>
              <a:t>can  </a:t>
            </a:r>
            <a:r>
              <a:rPr lang="en-US" dirty="0"/>
              <a:t>be less restrictive.</a:t>
            </a:r>
            <a:endParaRPr lang="en-US" dirty="0" smtClean="0"/>
          </a:p>
          <a:p>
            <a:pPr eaLnBrk="1" hangingPunct="1">
              <a:spcAft>
                <a:spcPct val="50000"/>
              </a:spcAft>
            </a:pPr>
            <a:r>
              <a:rPr lang="en-US" dirty="0" smtClean="0"/>
              <a:t>For explicit schemes, the CFL </a:t>
            </a:r>
            <a:r>
              <a:rPr lang="en-US" dirty="0"/>
              <a:t>calculation must simultaneously address viscous, gravitational, and capillary terms CFL = max( </a:t>
            </a:r>
            <a:r>
              <a:rPr lang="en-US" dirty="0" err="1"/>
              <a:t>visc_CFL</a:t>
            </a:r>
            <a:r>
              <a:rPr lang="en-US" dirty="0"/>
              <a:t>…</a:t>
            </a:r>
            <a:r>
              <a:rPr lang="en-US" dirty="0" smtClean="0"/>
              <a:t>)</a:t>
            </a:r>
          </a:p>
          <a:p>
            <a:pPr eaLnBrk="1" hangingPunct="1">
              <a:spcAft>
                <a:spcPct val="50000"/>
              </a:spcAft>
            </a:pPr>
            <a:r>
              <a:rPr lang="en-US" dirty="0" smtClean="0"/>
              <a:t>Even </a:t>
            </a:r>
            <a:r>
              <a:rPr lang="en-US" dirty="0"/>
              <a:t>if one of these is zero a meaningful value </a:t>
            </a:r>
            <a:r>
              <a:rPr lang="en-US" dirty="0" smtClean="0"/>
              <a:t>needs to be established.</a:t>
            </a:r>
          </a:p>
          <a:p>
            <a:pPr eaLnBrk="1" hangingPunct="1">
              <a:spcAft>
                <a:spcPct val="50000"/>
              </a:spcAft>
            </a:pPr>
            <a:r>
              <a:rPr lang="en-US" dirty="0" smtClean="0"/>
              <a:t>Should the CFL method be virtual so that they can be </a:t>
            </a:r>
            <a:r>
              <a:rPr lang="en-US" dirty="0" err="1" smtClean="0"/>
              <a:t>overriden</a:t>
            </a:r>
            <a:r>
              <a:rPr lang="en-US" dirty="0" smtClean="0"/>
              <a:t>?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2133600" cy="365125"/>
          </a:xfrm>
        </p:spPr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18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79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9565"/>
          </a:xfrm>
        </p:spPr>
        <p:txBody>
          <a:bodyPr/>
          <a:lstStyle/>
          <a:p>
            <a:r>
              <a:rPr lang="en-US" dirty="0" smtClean="0"/>
              <a:t>Constitutive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10786"/>
            <a:ext cx="8229600" cy="1415470"/>
          </a:xfrm>
        </p:spPr>
        <p:txBody>
          <a:bodyPr>
            <a:normAutofit fontScale="25000" lnSpcReduction="20000"/>
          </a:bodyPr>
          <a:lstStyle/>
          <a:p>
            <a:pPr marL="182563" indent="-182563"/>
            <a:r>
              <a:rPr lang="en-US" sz="6400" dirty="0" smtClean="0"/>
              <a:t>Are currently recovered from subclasses of the </a:t>
            </a:r>
            <a:r>
              <a:rPr lang="en-US" sz="6400" b="1" dirty="0" err="1" smtClean="0"/>
              <a:t>TwoPhaseModel</a:t>
            </a:r>
            <a:r>
              <a:rPr lang="en-US" sz="6400" dirty="0" smtClean="0"/>
              <a:t> (here we need extensions for 3-phase and perhaps for compressible flow)</a:t>
            </a:r>
          </a:p>
          <a:p>
            <a:pPr marL="182563" indent="-182563"/>
            <a:r>
              <a:rPr lang="en-US" sz="6400" dirty="0" smtClean="0"/>
              <a:t>Idea (for element-based material properties):  initialize 2-phase model for element (or specific internal site (=node etc.), then compute terms accessible through interface.</a:t>
            </a:r>
          </a:p>
          <a:p>
            <a:pPr marL="182563" indent="-182563"/>
            <a:r>
              <a:rPr lang="en-US" sz="6400" dirty="0" smtClean="0"/>
              <a:t>Current interface is a mess! – somebody has played with the base class!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void </a:t>
            </a:r>
            <a:r>
              <a:rPr lang="en-US" sz="3600" dirty="0" err="1"/>
              <a:t>SaturationWettingPhase</a:t>
            </a:r>
            <a:r>
              <a:rPr lang="en-US" sz="3600" dirty="0"/>
              <a:t>( double64 </a:t>
            </a:r>
            <a:r>
              <a:rPr lang="en-US" sz="3600" dirty="0" err="1"/>
              <a:t>s_wetting</a:t>
            </a:r>
            <a:r>
              <a:rPr lang="en-US" sz="3600" dirty="0"/>
              <a:t> 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 err="1" smtClean="0"/>
              <a:t>void</a:t>
            </a:r>
            <a:r>
              <a:rPr lang="it-IT" sz="3600" dirty="0" smtClean="0"/>
              <a:t>       </a:t>
            </a:r>
            <a:r>
              <a:rPr lang="it-IT" sz="3600" dirty="0" err="1"/>
              <a:t>Permeability</a:t>
            </a:r>
            <a:r>
              <a:rPr lang="it-IT" sz="3600" dirty="0"/>
              <a:t>( double64 </a:t>
            </a:r>
            <a:r>
              <a:rPr lang="it-IT" sz="3600" dirty="0" err="1"/>
              <a:t>permeability</a:t>
            </a:r>
            <a:r>
              <a:rPr lang="it-IT" sz="3600" dirty="0"/>
              <a:t> 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ViscosityNonWettingPhase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ViscosityWettingPhase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DensityNonWettingPhase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DensityWettingPhase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Saturation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MobilityPhase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 // </a:t>
            </a:r>
            <a:r>
              <a:rPr lang="fi-FI" sz="3600" dirty="0" err="1"/>
              <a:t>kr_i/</a:t>
            </a:r>
            <a:r>
              <a:rPr lang="fi-FI" sz="3600" dirty="0" err="1" smtClean="0"/>
              <a:t>mu_i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TotalMobility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TotalMobilityMultiplier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DiffusionMultiplier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CapillaryDiffusionMultiplier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GravityMultiplier_G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GravityMultiplier_dGds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AdvectionMultiplier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</a:t>
            </a:r>
            <a:r>
              <a:rPr lang="fi-FI" sz="3600" dirty="0" err="1"/>
              <a:t>ShockSpeed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</a:t>
            </a:r>
            <a:r>
              <a:rPr lang="fi-FI" sz="3600" dirty="0" err="1"/>
              <a:t>ShockHeight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 </a:t>
            </a:r>
            <a:r>
              <a:rPr lang="fi-FI" sz="3600" dirty="0" err="1"/>
              <a:t>EffectiveSaturation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</a:t>
            </a:r>
            <a:r>
              <a:rPr lang="fi-FI" sz="3600" dirty="0" err="1"/>
              <a:t>krn_Phase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  <a:r>
              <a:rPr lang="fi-FI" sz="3600" dirty="0" err="1"/>
              <a:t>virtual</a:t>
            </a:r>
            <a:r>
              <a:rPr lang="fi-FI" sz="3600" dirty="0"/>
              <a:t> double64 </a:t>
            </a:r>
            <a:r>
              <a:rPr lang="fi-FI" sz="3600" dirty="0" err="1"/>
              <a:t>krw_Phase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</a:t>
            </a:r>
            <a:r>
              <a:rPr lang="fi-FI" sz="3600" dirty="0" err="1"/>
              <a:t>fractional</a:t>
            </a:r>
            <a:r>
              <a:rPr lang="fi-FI" sz="3600" dirty="0"/>
              <a:t> </a:t>
            </a:r>
            <a:r>
              <a:rPr lang="fi-FI" sz="3600" dirty="0" err="1"/>
              <a:t>flow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double64 </a:t>
            </a:r>
            <a:r>
              <a:rPr lang="fi-FI" sz="3600" dirty="0" err="1"/>
              <a:t>f_Phase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                         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</a:t>
            </a:r>
            <a:r>
              <a:rPr lang="fi-FI" sz="3600" dirty="0" err="1"/>
              <a:t>derivative</a:t>
            </a:r>
            <a:r>
              <a:rPr lang="fi-FI" sz="3600" dirty="0"/>
              <a:t> of </a:t>
            </a:r>
            <a:r>
              <a:rPr lang="fi-FI" sz="3600" dirty="0" err="1"/>
              <a:t>fractional</a:t>
            </a:r>
            <a:r>
              <a:rPr lang="fi-FI" sz="3600" dirty="0"/>
              <a:t> </a:t>
            </a:r>
            <a:r>
              <a:rPr lang="fi-FI" sz="3600" dirty="0" err="1"/>
              <a:t>flow</a:t>
            </a:r>
            <a:r>
              <a:rPr lang="fi-FI" sz="3600" dirty="0"/>
              <a:t> (</a:t>
            </a:r>
            <a:r>
              <a:rPr lang="fi-FI" sz="3600" dirty="0" err="1"/>
              <a:t>used</a:t>
            </a:r>
            <a:r>
              <a:rPr lang="fi-FI" sz="3600" dirty="0"/>
              <a:t> in </a:t>
            </a:r>
            <a:r>
              <a:rPr lang="fi-FI" sz="3600" dirty="0" err="1"/>
              <a:t>advection</a:t>
            </a:r>
            <a:r>
              <a:rPr lang="fi-FI" sz="3600" dirty="0"/>
              <a:t> </a:t>
            </a:r>
            <a:r>
              <a:rPr lang="fi-FI" sz="3600" dirty="0" err="1"/>
              <a:t>multiplier</a:t>
            </a:r>
            <a:r>
              <a:rPr lang="fi-FI" sz="3600" dirty="0"/>
              <a:t>); </a:t>
            </a:r>
            <a:r>
              <a:rPr lang="fi-FI" sz="3600" dirty="0" err="1"/>
              <a:t>note</a:t>
            </a:r>
            <a:r>
              <a:rPr lang="fi-FI" sz="3600" dirty="0"/>
              <a:t> </a:t>
            </a:r>
            <a:r>
              <a:rPr lang="fi-FI" sz="3600" dirty="0" err="1"/>
              <a:t>that</a:t>
            </a:r>
            <a:r>
              <a:rPr lang="fi-FI" sz="3600" dirty="0"/>
              <a:t> fw+fn=1, </a:t>
            </a:r>
            <a:r>
              <a:rPr lang="fi-FI" sz="3600" dirty="0" err="1"/>
              <a:t>dfwdsw=dfndsn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  <a:r>
              <a:rPr lang="fi-FI" sz="3600" dirty="0" err="1"/>
              <a:t>virtual</a:t>
            </a:r>
            <a:r>
              <a:rPr lang="fi-FI" sz="3600" dirty="0"/>
              <a:t> double64 </a:t>
            </a:r>
            <a:r>
              <a:rPr lang="fi-FI" sz="3600" dirty="0" err="1"/>
              <a:t>dfds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</a:t>
            </a:r>
            <a:r>
              <a:rPr lang="fi-FI" sz="3600" dirty="0" err="1"/>
              <a:t>maximum</a:t>
            </a:r>
            <a:r>
              <a:rPr lang="fi-FI" sz="3600" dirty="0"/>
              <a:t> </a:t>
            </a:r>
            <a:r>
              <a:rPr lang="fi-FI" sz="3600" dirty="0" err="1"/>
              <a:t>value</a:t>
            </a:r>
            <a:r>
              <a:rPr lang="fi-FI" sz="3600" dirty="0"/>
              <a:t> of </a:t>
            </a:r>
            <a:r>
              <a:rPr lang="fi-FI" sz="3600" dirty="0" err="1"/>
              <a:t>previous</a:t>
            </a:r>
            <a:r>
              <a:rPr lang="fi-FI" sz="3600" dirty="0"/>
              <a:t> </a:t>
            </a:r>
            <a:r>
              <a:rPr lang="fi-FI" sz="3600" dirty="0" err="1"/>
              <a:t>derivative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  <a:r>
              <a:rPr lang="fi-FI" sz="3600" dirty="0" err="1"/>
              <a:t>virtual</a:t>
            </a:r>
            <a:r>
              <a:rPr lang="fi-FI" sz="3600" dirty="0"/>
              <a:t> double64 </a:t>
            </a:r>
            <a:r>
              <a:rPr lang="fi-FI" sz="3600" dirty="0" err="1"/>
              <a:t>MaxFractionalFlowDerivative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                         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G </a:t>
            </a:r>
            <a:r>
              <a:rPr lang="fi-FI" sz="3600" dirty="0" err="1"/>
              <a:t>multiplier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double64 G() const;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derivatives of gravitational flow (advection multipliers)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virtual double64 dGds() const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 smtClean="0"/>
              <a:t>   virtual </a:t>
            </a:r>
            <a:r>
              <a:rPr lang="ro-RO" sz="3600" dirty="0"/>
              <a:t>double64 pc_Phase( size_t phase ) const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capillary pressure derivatives (treat seff as for previous function)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virtual double64 dpcds_Phase( size_t phase ) const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maximum value of dpcdS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double64 MaxCapillaryPressure( size_t phase ) const;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default is the wetting phase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virtual void Out( size_t phase=1U ) const;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19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43382" y="3463880"/>
            <a:ext cx="372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What methods do we really need?</a:t>
            </a:r>
            <a:endParaRPr lang="en-US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182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What should be kept from old scheme</a:t>
            </a:r>
          </a:p>
          <a:p>
            <a:pPr marL="400050" lvl="1" indent="0"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and what’s new in CSMP++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b="1" dirty="0" smtClean="0"/>
              <a:t>Design specifications and considerations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Phase by phase transport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prototype: classes and use-case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3087544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CSMP Generic Transport Scheme: Agenda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05FD-7CE1-C64B-B0A3-F76AC6FEC4D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331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1684"/>
            <a:ext cx="8229600" cy="914400"/>
          </a:xfrm>
        </p:spPr>
        <p:txBody>
          <a:bodyPr>
            <a:noAutofit/>
          </a:bodyPr>
          <a:lstStyle/>
          <a:p>
            <a:r>
              <a:rPr lang="en-US" dirty="0" smtClean="0"/>
              <a:t>Decision needed: 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/>
              <a:t>			Placement of material properties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57200" y="1355082"/>
            <a:ext cx="4038600" cy="512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Element</a:t>
            </a:r>
          </a:p>
          <a:p>
            <a:r>
              <a:rPr lang="en-US" sz="1900" dirty="0" smtClean="0"/>
              <a:t>FE mesh can be used to represent material boundaries</a:t>
            </a:r>
          </a:p>
          <a:p>
            <a:r>
              <a:rPr lang="en-US" sz="1900" dirty="0" smtClean="0"/>
              <a:t>Saturation at material interfaces makes no physical sense (discontinuities can only be represented with Split Boundaries or FECFVM scheme)</a:t>
            </a:r>
          </a:p>
          <a:p>
            <a:r>
              <a:rPr lang="en-US" sz="1900" dirty="0" smtClean="0"/>
              <a:t>For element-centered saturation, upwind direction does not matter</a:t>
            </a:r>
            <a:endParaRPr lang="en-US" sz="1900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648200" y="1355082"/>
            <a:ext cx="4038600" cy="512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Node</a:t>
            </a:r>
          </a:p>
          <a:p>
            <a:r>
              <a:rPr lang="en-US" sz="1900" dirty="0" smtClean="0"/>
              <a:t>Material boundaries are blurred and domain volumes cannot be estimated accurately</a:t>
            </a:r>
          </a:p>
          <a:p>
            <a:r>
              <a:rPr lang="en-US" sz="1900" dirty="0" smtClean="0"/>
              <a:t>Saturation is physically meaningful even where sharp property gradients exist</a:t>
            </a:r>
          </a:p>
          <a:p>
            <a:r>
              <a:rPr lang="en-US" sz="1900" dirty="0" smtClean="0"/>
              <a:t>Transmissibility multipliers are non-physical if different flow laws exist in different domains</a:t>
            </a:r>
            <a:endParaRPr lang="en-US" sz="1900" dirty="0"/>
          </a:p>
        </p:txBody>
      </p:sp>
      <p:sp>
        <p:nvSpPr>
          <p:cNvPr id="11" name="TextBox 10"/>
          <p:cNvSpPr txBox="1"/>
          <p:nvPr/>
        </p:nvSpPr>
        <p:spPr>
          <a:xfrm>
            <a:off x="644638" y="6071412"/>
            <a:ext cx="7497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Fractured reservoir simulation needs element-based material properties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21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522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Element-centered variable scheme: needs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81831"/>
          </a:xfrm>
        </p:spPr>
        <p:txBody>
          <a:bodyPr>
            <a:noAutofit/>
          </a:bodyPr>
          <a:lstStyle/>
          <a:p>
            <a:pPr marL="0" indent="0">
              <a:spcBef>
                <a:spcPts val="100"/>
              </a:spcBef>
              <a:spcAft>
                <a:spcPts val="600"/>
              </a:spcAft>
              <a:buNone/>
            </a:pPr>
            <a:r>
              <a:rPr lang="en-US" sz="1600" dirty="0" smtClean="0"/>
              <a:t>To store at different time levels (in one step or by repeated accumulation):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>
                <a:solidFill>
                  <a:srgbClr val="000090"/>
                </a:solidFill>
              </a:rPr>
              <a:t>finite volumes: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Integrated pore volume -&gt; SCALAR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Divergence of total velocity </a:t>
            </a:r>
            <a:r>
              <a:rPr lang="en-US" sz="1600" dirty="0"/>
              <a:t>-&gt; </a:t>
            </a:r>
            <a:r>
              <a:rPr lang="en-US" sz="1600" dirty="0" smtClean="0"/>
              <a:t>SCALAR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/>
              <a:t>Sources or </a:t>
            </a:r>
            <a:r>
              <a:rPr lang="en-US" sz="1600" dirty="0" smtClean="0"/>
              <a:t>sinks -</a:t>
            </a:r>
            <a:r>
              <a:rPr lang="en-US" sz="1600" dirty="0"/>
              <a:t>&gt; </a:t>
            </a:r>
            <a:r>
              <a:rPr lang="en-US" sz="1600" dirty="0" smtClean="0"/>
              <a:t>SCALAR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Saturation -&gt; ARRAY</a:t>
            </a:r>
            <a:endParaRPr lang="en-US" sz="1600" dirty="0"/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/>
              <a:t>Saturation </a:t>
            </a:r>
            <a:r>
              <a:rPr lang="en-US" sz="1600" dirty="0" smtClean="0"/>
              <a:t>gradient (for higher order scheme) -&gt; VECTOR</a:t>
            </a:r>
            <a:endParaRPr lang="en-US" sz="1600" dirty="0"/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Inflow versus outflow in the presence of sources and sinks -&gt; SCALAR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>
                <a:solidFill>
                  <a:srgbClr val="000090"/>
                </a:solidFill>
              </a:rPr>
              <a:t>facets: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combined phase and components fluxes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phase velocities  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>
                <a:solidFill>
                  <a:srgbClr val="000090"/>
                </a:solidFill>
              </a:rPr>
              <a:t>elements: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total velocity -&gt; VECTOR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diffusivities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sector porosity and pore volumes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sector source terms (for FEM equations)</a:t>
            </a:r>
          </a:p>
          <a:p>
            <a:pPr lvl="1">
              <a:spcBef>
                <a:spcPts val="100"/>
              </a:spcBef>
              <a:spcAft>
                <a:spcPts val="600"/>
              </a:spcAft>
            </a:pPr>
            <a:r>
              <a:rPr lang="en-US" sz="1600" dirty="0" smtClean="0"/>
              <a:t>constitutive relationships</a:t>
            </a:r>
            <a:endParaRPr lang="en-US" sz="16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3107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31178" y="368410"/>
            <a:ext cx="8686800" cy="914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New goal: phase-by-phase component transport scheme with support for component exchange among phases</a:t>
            </a:r>
            <a:endParaRPr lang="en-US" sz="24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317037"/>
            <a:ext cx="8229600" cy="51883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(Transfer </a:t>
            </a:r>
            <a:r>
              <a:rPr lang="en-US" sz="1800" dirty="0"/>
              <a:t>among phases is accomplished by EOS </a:t>
            </a:r>
            <a:r>
              <a:rPr lang="en-US" sz="1800" dirty="0" smtClean="0"/>
              <a:t>classes; diffusion terms are computed by finite element operators accumulated into same solution matrix as terms from implicit version of transport scheme)</a:t>
            </a:r>
          </a:p>
          <a:p>
            <a:r>
              <a:rPr lang="en-US" sz="1800" dirty="0" smtClean="0"/>
              <a:t>Computations needed (first and second-order in space):</a:t>
            </a:r>
          </a:p>
          <a:p>
            <a:pPr lvl="1"/>
            <a:r>
              <a:rPr lang="en-US" sz="1800" dirty="0" smtClean="0"/>
              <a:t>CFL time increment or else where applicable; else saturation change or inflow vs. outflow (for instance, when source terms dominate)</a:t>
            </a:r>
          </a:p>
          <a:p>
            <a:pPr lvl="1"/>
            <a:r>
              <a:rPr lang="en-US" sz="1800" dirty="0" smtClean="0"/>
              <a:t>upwind direction (combined: </a:t>
            </a:r>
            <a:r>
              <a:rPr lang="en-US" sz="1800" dirty="0" err="1" smtClean="0"/>
              <a:t>capillary+diffusion+transport</a:t>
            </a:r>
            <a:r>
              <a:rPr lang="en-US" sz="1800" dirty="0" smtClean="0"/>
              <a:t>)</a:t>
            </a:r>
          </a:p>
          <a:p>
            <a:pPr lvl="1"/>
            <a:r>
              <a:rPr lang="en-US" sz="1800" dirty="0" smtClean="0"/>
              <a:t>upwind saturation range </a:t>
            </a:r>
          </a:p>
          <a:p>
            <a:pPr lvl="1"/>
            <a:r>
              <a:rPr lang="en-US" sz="1800" dirty="0" smtClean="0"/>
              <a:t>advection terms</a:t>
            </a:r>
          </a:p>
          <a:p>
            <a:pPr lvl="1"/>
            <a:r>
              <a:rPr lang="en-US" sz="1800" dirty="0" smtClean="0"/>
              <a:t>node-centered saturation gradients (or </a:t>
            </a:r>
            <a:r>
              <a:rPr lang="en-US" sz="1800" dirty="0" err="1" smtClean="0"/>
              <a:t>bijective</a:t>
            </a:r>
            <a:r>
              <a:rPr lang="en-US" sz="1800" dirty="0" smtClean="0"/>
              <a:t> mapping (Matthai et al. 2009, TIPM; check!)</a:t>
            </a:r>
          </a:p>
          <a:p>
            <a:pPr lvl="1"/>
            <a:r>
              <a:rPr lang="en-US" sz="1800" dirty="0" smtClean="0"/>
              <a:t>source terms (</a:t>
            </a:r>
            <a:r>
              <a:rPr lang="en-US" sz="1800" dirty="0" err="1" smtClean="0"/>
              <a:t>upwinded</a:t>
            </a:r>
            <a:r>
              <a:rPr lang="en-US" sz="1800" dirty="0" smtClean="0"/>
              <a:t> or not)</a:t>
            </a:r>
          </a:p>
          <a:p>
            <a:pPr lvl="1"/>
            <a:r>
              <a:rPr lang="en-US" sz="1800" dirty="0" smtClean="0"/>
              <a:t>storage terms</a:t>
            </a:r>
          </a:p>
          <a:p>
            <a:pPr lvl="1"/>
            <a:r>
              <a:rPr lang="en-US" sz="1800" dirty="0" smtClean="0"/>
              <a:t>limiter(s)</a:t>
            </a:r>
            <a:endParaRPr lang="en-US" sz="18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30217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Implemented vs. conceptual functionality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3672"/>
            <a:ext cx="8229600" cy="5272492"/>
          </a:xfrm>
        </p:spPr>
        <p:txBody>
          <a:bodyPr>
            <a:noAutofit/>
          </a:bodyPr>
          <a:lstStyle/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8000"/>
                </a:solidFill>
              </a:rPr>
              <a:t>Calculating </a:t>
            </a:r>
            <a:r>
              <a:rPr lang="en-US" sz="1600" dirty="0">
                <a:solidFill>
                  <a:srgbClr val="008000"/>
                </a:solidFill>
              </a:rPr>
              <a:t>and updating porosity and pore </a:t>
            </a:r>
            <a:r>
              <a:rPr lang="en-US" sz="1600" dirty="0" smtClean="0">
                <a:solidFill>
                  <a:srgbClr val="008000"/>
                </a:solidFill>
              </a:rPr>
              <a:t>volume </a:t>
            </a:r>
            <a:r>
              <a:rPr lang="en-US" sz="1600" dirty="0" smtClean="0"/>
              <a:t>(by Model?)</a:t>
            </a:r>
            <a:endParaRPr lang="en-US" sz="1600" dirty="0"/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Calculating and updating facet area and </a:t>
            </a:r>
            <a:r>
              <a:rPr lang="en-US" sz="1600" dirty="0" smtClean="0">
                <a:solidFill>
                  <a:srgbClr val="008000"/>
                </a:solidFill>
              </a:rPr>
              <a:t>normal </a:t>
            </a:r>
            <a:r>
              <a:rPr lang="en-US" sz="1600" dirty="0" smtClean="0"/>
              <a:t>(by Model?)</a:t>
            </a:r>
            <a:endParaRPr lang="en-US" sz="1600" dirty="0"/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8000"/>
                </a:solidFill>
              </a:rPr>
              <a:t>Read / store / range check / projections of </a:t>
            </a:r>
            <a:r>
              <a:rPr lang="en-US" sz="1600" dirty="0">
                <a:solidFill>
                  <a:srgbClr val="008000"/>
                </a:solidFill>
              </a:rPr>
              <a:t>variables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Determine upwind nodes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Calculate </a:t>
            </a:r>
            <a:r>
              <a:rPr lang="en-US" sz="1600" dirty="0" smtClean="0">
                <a:solidFill>
                  <a:srgbClr val="008000"/>
                </a:solidFill>
              </a:rPr>
              <a:t>CFL </a:t>
            </a:r>
            <a:r>
              <a:rPr lang="en-US" sz="1600" dirty="0" smtClean="0"/>
              <a:t>or any other special requirements on time-step size</a:t>
            </a:r>
            <a:endParaRPr lang="en-US" sz="1600" dirty="0">
              <a:solidFill>
                <a:srgbClr val="008000"/>
              </a:solidFill>
            </a:endParaRP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Mass </a:t>
            </a:r>
            <a:r>
              <a:rPr lang="en-US" sz="1600" dirty="0" smtClean="0">
                <a:solidFill>
                  <a:srgbClr val="008000"/>
                </a:solidFill>
              </a:rPr>
              <a:t>balance</a:t>
            </a:r>
            <a:endParaRPr lang="en-US" sz="1600" dirty="0">
              <a:solidFill>
                <a:srgbClr val="008000"/>
              </a:solidFill>
            </a:endParaRP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Scaling n components </a:t>
            </a:r>
            <a:r>
              <a:rPr lang="en-US" sz="1600" dirty="0"/>
              <a:t>and </a:t>
            </a:r>
            <a:r>
              <a:rPr lang="en-US" sz="1600" dirty="0" smtClean="0"/>
              <a:t>m phases</a:t>
            </a:r>
            <a:endParaRPr lang="en-US" sz="1600" dirty="0"/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Calculating </a:t>
            </a:r>
            <a:r>
              <a:rPr lang="en-US" sz="1600" dirty="0"/>
              <a:t>components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FF6600"/>
                </a:solidFill>
              </a:rPr>
              <a:t>Determine </a:t>
            </a:r>
            <a:r>
              <a:rPr lang="en-US" sz="1600" dirty="0">
                <a:solidFill>
                  <a:srgbClr val="FF6600"/>
                </a:solidFill>
              </a:rPr>
              <a:t>and store facet fluxes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Accumulation of fluxes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Time-discretization (implicit, explicit, first/second order)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Iterations (e.g. </a:t>
            </a:r>
            <a:r>
              <a:rPr lang="en-US" sz="1600" dirty="0"/>
              <a:t>Newton</a:t>
            </a:r>
            <a:r>
              <a:rPr lang="en-US" sz="1600" dirty="0">
                <a:solidFill>
                  <a:srgbClr val="FF6600"/>
                </a:solidFill>
              </a:rPr>
              <a:t>)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Higher-order in space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Limiting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/>
              <a:t>Boundary conditions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Additional </a:t>
            </a:r>
            <a:r>
              <a:rPr lang="en-US" sz="1600" dirty="0"/>
              <a:t>physics/</a:t>
            </a:r>
            <a:r>
              <a:rPr lang="en-US" sz="1600" dirty="0" smtClean="0"/>
              <a:t>chemistry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Access and configuration of the </a:t>
            </a:r>
            <a:r>
              <a:rPr lang="en-US" sz="1600" dirty="0" err="1" smtClean="0"/>
              <a:t>SAMG_Solver</a:t>
            </a:r>
            <a:r>
              <a:rPr lang="en-US" sz="1600" dirty="0" smtClean="0"/>
              <a:t> from the outside</a:t>
            </a:r>
            <a:endParaRPr lang="en-US" sz="16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endParaRPr lang="en-US" sz="160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24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30823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Efficiency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Whatever we do here has a great impact on speed!</a:t>
            </a:r>
          </a:p>
          <a:p>
            <a:r>
              <a:rPr lang="en-US" dirty="0"/>
              <a:t>To avoid iffy code, interior domains should be visited first, then their </a:t>
            </a:r>
            <a:r>
              <a:rPr lang="en-US" dirty="0" smtClean="0"/>
              <a:t>boundaries </a:t>
            </a:r>
            <a:endParaRPr lang="en-US" dirty="0"/>
          </a:p>
          <a:p>
            <a:r>
              <a:rPr lang="en-US" dirty="0" smtClean="0"/>
              <a:t>Formulation should be suitable for DES implementation</a:t>
            </a:r>
          </a:p>
          <a:p>
            <a:r>
              <a:rPr lang="en-US" dirty="0" smtClean="0"/>
              <a:t>FV visitation mode has a great impact on speed: element-by-element means that facets are only visited once, but may not be possible in higher-order scheme when node-centered saturation gradients are used in the flux approximation</a:t>
            </a:r>
          </a:p>
          <a:p>
            <a:r>
              <a:rPr lang="en-US" dirty="0" smtClean="0"/>
              <a:t>CFL computations based on local shock speed (=element property), only work if the gravitational component of flow is small because shock speed is different in up- or down-dip flow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25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6445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What should be kept from old scheme</a:t>
            </a:r>
          </a:p>
          <a:p>
            <a:pPr marL="400050" lvl="1" indent="0"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and what’s new in CSMP++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specifications and considerations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Phase by phase transport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b="1" dirty="0" smtClean="0"/>
              <a:t>Design prototype: classes and use-case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3087544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CSMP Generic Transport Scheme: Agenda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05FD-7CE1-C64B-B0A3-F76AC6FEC4D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331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(New) classes?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2340" y="719600"/>
            <a:ext cx="4248472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Arial"/>
                <a:cs typeface="Arial"/>
              </a:rPr>
              <a:t>FiniteVolumeManager</a:t>
            </a:r>
            <a:endParaRPr lang="en-US" sz="1600" b="1" dirty="0" smtClean="0">
              <a:latin typeface="Arial"/>
              <a:cs typeface="Arial"/>
            </a:endParaRPr>
          </a:p>
          <a:p>
            <a:endParaRPr lang="en-US" sz="1600" b="1" dirty="0" smtClean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SaturationFunctions</a:t>
            </a:r>
            <a:endParaRPr lang="en-US" sz="1600" b="1" dirty="0" smtClean="0">
              <a:latin typeface="Arial"/>
              <a:cs typeface="Arial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err="1" smtClean="0">
                <a:latin typeface="Arial"/>
                <a:cs typeface="Arial"/>
              </a:rPr>
              <a:t>relperms</a:t>
            </a:r>
            <a:r>
              <a:rPr lang="en-US" sz="1600" dirty="0" smtClean="0">
                <a:latin typeface="Arial"/>
                <a:cs typeface="Arial"/>
              </a:rPr>
              <a:t>, etc.</a:t>
            </a:r>
            <a:endParaRPr lang="en-US" sz="1600" dirty="0">
              <a:latin typeface="Arial"/>
              <a:cs typeface="Arial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err="1" smtClean="0">
                <a:latin typeface="Arial"/>
                <a:cs typeface="Arial"/>
              </a:rPr>
              <a:t>mobilities</a:t>
            </a:r>
            <a:endParaRPr lang="en-US" sz="1600" dirty="0" smtClean="0">
              <a:latin typeface="Arial"/>
              <a:cs typeface="Arial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600" b="1" dirty="0">
              <a:latin typeface="Arial"/>
              <a:cs typeface="Arial"/>
            </a:endParaRPr>
          </a:p>
          <a:p>
            <a:r>
              <a:rPr lang="en-US" sz="1600" b="1" dirty="0" smtClean="0">
                <a:latin typeface="Arial"/>
                <a:cs typeface="Arial"/>
              </a:rPr>
              <a:t>Fluid Properties</a:t>
            </a:r>
          </a:p>
          <a:p>
            <a:endParaRPr lang="en-US" sz="1600" b="1" dirty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GenericGradientCalculator</a:t>
            </a:r>
            <a:endParaRPr lang="en-US" sz="1600" b="1" dirty="0" smtClean="0">
              <a:latin typeface="Arial"/>
              <a:cs typeface="Arial"/>
            </a:endParaRPr>
          </a:p>
          <a:p>
            <a:endParaRPr lang="en-US" sz="1600" dirty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TimeIncrement</a:t>
            </a:r>
            <a:r>
              <a:rPr lang="en-US" sz="1600" dirty="0" smtClean="0">
                <a:latin typeface="Arial"/>
                <a:cs typeface="Arial"/>
              </a:rPr>
              <a:t> </a:t>
            </a:r>
            <a:r>
              <a:rPr lang="en-US" sz="1600" dirty="0">
                <a:latin typeface="Arial"/>
                <a:cs typeface="Arial"/>
              </a:rPr>
              <a:t>c</a:t>
            </a:r>
            <a:r>
              <a:rPr lang="en-US" sz="1600" dirty="0" smtClean="0">
                <a:latin typeface="Arial"/>
                <a:cs typeface="Arial"/>
              </a:rPr>
              <a:t>lass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Calculate CFL or other criteria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Mass Balance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Volume Based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Time-discretization (implicit, explicit, first/second order)</a:t>
            </a:r>
          </a:p>
          <a:p>
            <a:endParaRPr lang="en-US" sz="1600" dirty="0">
              <a:latin typeface="Arial"/>
              <a:cs typeface="Arial"/>
            </a:endParaRPr>
          </a:p>
          <a:p>
            <a:endParaRPr lang="en-US" sz="1600" dirty="0">
              <a:latin typeface="Arial"/>
              <a:cs typeface="Arial"/>
            </a:endParaRPr>
          </a:p>
          <a:p>
            <a:r>
              <a:rPr lang="en-US" sz="1600" i="1" dirty="0" smtClean="0">
                <a:latin typeface="Arial"/>
                <a:cs typeface="Arial"/>
              </a:rPr>
              <a:t>To be carried out and managed by </a:t>
            </a:r>
            <a:r>
              <a:rPr lang="en-US" sz="1600" b="1" i="1" dirty="0" smtClean="0">
                <a:latin typeface="Arial"/>
                <a:cs typeface="Arial"/>
              </a:rPr>
              <a:t>Model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If geometry changes, update porosity, pore volume, facet area and facet 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1283" y="129981"/>
            <a:ext cx="3672408" cy="698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Arial"/>
                <a:cs typeface="Arial"/>
              </a:rPr>
              <a:t>EOS </a:t>
            </a:r>
          </a:p>
          <a:p>
            <a:endParaRPr lang="en-US" sz="1600" dirty="0" smtClean="0">
              <a:latin typeface="Arial"/>
              <a:cs typeface="Arial"/>
            </a:endParaRPr>
          </a:p>
          <a:p>
            <a:r>
              <a:rPr lang="en-US" sz="1600" dirty="0" smtClean="0">
                <a:latin typeface="Arial"/>
                <a:cs typeface="Arial"/>
              </a:rPr>
              <a:t>Additional physics/chemistry</a:t>
            </a:r>
          </a:p>
          <a:p>
            <a:endParaRPr lang="en-US" sz="1600" dirty="0" smtClean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InteriorProcessor</a:t>
            </a:r>
            <a:r>
              <a:rPr lang="en-US" sz="1600" dirty="0" smtClean="0">
                <a:latin typeface="Arial"/>
                <a:cs typeface="Arial"/>
              </a:rPr>
              <a:t> (base class)</a:t>
            </a:r>
          </a:p>
          <a:p>
            <a:r>
              <a:rPr lang="en-US" sz="1600" dirty="0" smtClean="0">
                <a:latin typeface="Arial"/>
                <a:cs typeface="Arial"/>
              </a:rPr>
              <a:t>Accumulation (LHS?)</a:t>
            </a:r>
          </a:p>
          <a:p>
            <a:r>
              <a:rPr lang="en-US" sz="1600" b="1" dirty="0" err="1" smtClean="0">
                <a:latin typeface="Arial"/>
                <a:cs typeface="Arial"/>
              </a:rPr>
              <a:t>BoundaryProcessor</a:t>
            </a:r>
            <a:r>
              <a:rPr lang="en-US" sz="1600" dirty="0" smtClean="0">
                <a:latin typeface="Arial"/>
                <a:cs typeface="Arial"/>
              </a:rPr>
              <a:t> (base class)</a:t>
            </a:r>
          </a:p>
          <a:p>
            <a:r>
              <a:rPr lang="en-US" sz="1600" dirty="0" smtClean="0">
                <a:latin typeface="Arial"/>
                <a:cs typeface="Arial"/>
              </a:rPr>
              <a:t>Accumulation (RHS?)</a:t>
            </a:r>
          </a:p>
          <a:p>
            <a:endParaRPr lang="en-US" sz="1600" b="1" dirty="0" smtClean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FacetFlux</a:t>
            </a:r>
            <a:endParaRPr lang="en-US" sz="1600" b="1" dirty="0" smtClean="0">
              <a:latin typeface="Arial"/>
              <a:cs typeface="Arial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Calculating components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Determine and store facet fluxes</a:t>
            </a:r>
          </a:p>
          <a:p>
            <a:pPr marL="285750" indent="-285750">
              <a:buFontTx/>
              <a:buChar char="-"/>
            </a:pPr>
            <a:endParaRPr lang="en-US" sz="1600" dirty="0">
              <a:latin typeface="Arial"/>
              <a:cs typeface="Arial"/>
            </a:endParaRPr>
          </a:p>
          <a:p>
            <a:r>
              <a:rPr lang="en-US" sz="1600" b="1" dirty="0" smtClean="0">
                <a:latin typeface="Arial"/>
                <a:cs typeface="Arial"/>
              </a:rPr>
              <a:t>Explicit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fluxes to vector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sources to vector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Add fluxes and sources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Higher-order in space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Limiting</a:t>
            </a:r>
          </a:p>
          <a:p>
            <a:pPr marL="285750" indent="-285750">
              <a:buFontTx/>
              <a:buChar char="-"/>
            </a:pPr>
            <a:endParaRPr lang="en-US" sz="1600" dirty="0" smtClean="0">
              <a:latin typeface="Arial"/>
              <a:cs typeface="Arial"/>
            </a:endParaRPr>
          </a:p>
          <a:p>
            <a:r>
              <a:rPr lang="en-US" sz="1600" b="1" dirty="0" smtClean="0">
                <a:latin typeface="Arial"/>
                <a:cs typeface="Arial"/>
              </a:rPr>
              <a:t>Implicit</a:t>
            </a:r>
            <a:r>
              <a:rPr lang="en-US" sz="1600" dirty="0" smtClean="0">
                <a:latin typeface="Arial"/>
                <a:cs typeface="Arial"/>
              </a:rPr>
              <a:t> (RHS vs. LHS accumulations)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order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fluxes to matrix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sources to matrix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Iterations (e.g. Newton)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Solver / SAMG</a:t>
            </a:r>
          </a:p>
          <a:p>
            <a:pPr marL="742950" lvl="1" indent="-285750">
              <a:buFontTx/>
              <a:buChar char="-"/>
            </a:pPr>
            <a:endParaRPr lang="en-US" sz="1600" dirty="0" smtClean="0">
              <a:latin typeface="Arial"/>
              <a:cs typeface="Arial"/>
            </a:endParaRPr>
          </a:p>
          <a:p>
            <a:pPr marL="742950" lvl="1" indent="-285750">
              <a:buFontTx/>
              <a:buChar char="-"/>
            </a:pPr>
            <a:endParaRPr lang="de-CH" sz="1600" dirty="0" smtClean="0">
              <a:latin typeface="Arial"/>
              <a:cs typeface="Arial"/>
            </a:endParaRP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2/19/13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27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7366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– </a:t>
            </a:r>
            <a:r>
              <a:rPr lang="en-US" dirty="0" err="1" smtClean="0"/>
              <a:t>Colleoli</a:t>
            </a:r>
            <a:r>
              <a:rPr lang="en-US" dirty="0" smtClean="0"/>
              <a:t> Workshop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SaturationFunction</a:t>
            </a:r>
            <a:r>
              <a:rPr lang="en-US" dirty="0" smtClean="0"/>
              <a:t> – relative permeability and capillary pressure</a:t>
            </a:r>
          </a:p>
          <a:p>
            <a:r>
              <a:rPr lang="en-US" dirty="0" smtClean="0"/>
              <a:t>Fluid – fluid properties, speciation, phases, components</a:t>
            </a:r>
          </a:p>
          <a:p>
            <a:r>
              <a:rPr lang="en-US" dirty="0" err="1" smtClean="0"/>
              <a:t>GenericPropertyGradient</a:t>
            </a:r>
            <a:r>
              <a:rPr lang="en-US" dirty="0" smtClean="0"/>
              <a:t> – FV centered gradients</a:t>
            </a:r>
          </a:p>
          <a:p>
            <a:r>
              <a:rPr lang="en-US" dirty="0" err="1" smtClean="0"/>
              <a:t>FlowFunctions</a:t>
            </a:r>
            <a:r>
              <a:rPr lang="en-US" dirty="0" smtClean="0"/>
              <a:t> – fractional flows, derivatives etc.</a:t>
            </a:r>
          </a:p>
          <a:p>
            <a:r>
              <a:rPr lang="en-US" dirty="0" err="1" smtClean="0"/>
              <a:t>FacetFlux</a:t>
            </a:r>
            <a:r>
              <a:rPr lang="en-US" dirty="0" smtClean="0"/>
              <a:t> – upwind directions and facet fluxes computed stencil by stencil</a:t>
            </a:r>
          </a:p>
          <a:p>
            <a:r>
              <a:rPr lang="en-US" dirty="0" err="1" smtClean="0"/>
              <a:t>FluxEvaluator</a:t>
            </a:r>
            <a:r>
              <a:rPr lang="en-US" dirty="0" smtClean="0"/>
              <a:t> – flux computations for entire region of computation</a:t>
            </a:r>
          </a:p>
          <a:p>
            <a:r>
              <a:rPr lang="en-US" dirty="0" smtClean="0"/>
              <a:t>Accumulator – assembling LHS and RHS operators </a:t>
            </a:r>
          </a:p>
          <a:p>
            <a:r>
              <a:rPr lang="en-US" dirty="0" err="1" smtClean="0"/>
              <a:t>VectorOperator</a:t>
            </a:r>
            <a:r>
              <a:rPr lang="en-US" dirty="0" smtClean="0"/>
              <a:t> – base class for RHS integrals and BCs</a:t>
            </a:r>
          </a:p>
          <a:p>
            <a:r>
              <a:rPr lang="en-US" dirty="0" err="1" smtClean="0"/>
              <a:t>MatrixOperator</a:t>
            </a:r>
            <a:r>
              <a:rPr lang="en-US" dirty="0" smtClean="0"/>
              <a:t> – base class for LHS integrals</a:t>
            </a:r>
          </a:p>
          <a:p>
            <a:r>
              <a:rPr lang="en-US" dirty="0" err="1" smtClean="0"/>
              <a:t>ExplicitTransport</a:t>
            </a:r>
            <a:r>
              <a:rPr lang="en-US" dirty="0" smtClean="0"/>
              <a:t> – assembly of explicit scheme solution</a:t>
            </a:r>
          </a:p>
          <a:p>
            <a:r>
              <a:rPr lang="en-US" dirty="0" err="1" smtClean="0"/>
              <a:t>ImplicitTransport</a:t>
            </a:r>
            <a:r>
              <a:rPr lang="en-US" dirty="0" smtClean="0"/>
              <a:t> – Newton-</a:t>
            </a:r>
            <a:r>
              <a:rPr lang="en-US" dirty="0" err="1" smtClean="0"/>
              <a:t>Raphson</a:t>
            </a:r>
            <a:r>
              <a:rPr lang="en-US" dirty="0" smtClean="0"/>
              <a:t> – </a:t>
            </a:r>
            <a:r>
              <a:rPr lang="en-US" dirty="0" err="1" smtClean="0"/>
              <a:t>LineSearch</a:t>
            </a:r>
            <a:r>
              <a:rPr lang="en-US" dirty="0" smtClean="0"/>
              <a:t> accumulation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28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895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Fluid</a:t>
            </a:r>
            <a:r>
              <a:rPr lang="en-US" dirty="0" err="1" smtClean="0">
                <a:solidFill>
                  <a:srgbClr val="BFBFBF"/>
                </a:solidFill>
              </a:rPr>
              <a:t>Properties</a:t>
            </a:r>
            <a:endParaRPr lang="en-US" dirty="0">
              <a:solidFill>
                <a:srgbClr val="BFBFB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Input are P, T, X</a:t>
            </a:r>
          </a:p>
          <a:p>
            <a:r>
              <a:rPr lang="en-US" dirty="0" smtClean="0"/>
              <a:t>(Maximum) number of phases</a:t>
            </a:r>
          </a:p>
          <a:p>
            <a:r>
              <a:rPr lang="en-US" dirty="0" smtClean="0"/>
              <a:t>Number of components per phase</a:t>
            </a:r>
          </a:p>
          <a:p>
            <a:r>
              <a:rPr lang="en-US" dirty="0" smtClean="0"/>
              <a:t>Mass fractions</a:t>
            </a:r>
          </a:p>
          <a:p>
            <a:r>
              <a:rPr lang="en-US" dirty="0" smtClean="0"/>
              <a:t>Phase densities</a:t>
            </a:r>
          </a:p>
          <a:p>
            <a:r>
              <a:rPr lang="en-US" dirty="0" smtClean="0"/>
              <a:t>Phase viscosities</a:t>
            </a:r>
          </a:p>
          <a:p>
            <a:r>
              <a:rPr lang="en-US" dirty="0" smtClean="0"/>
              <a:t>Saturations (in the case of mass-fraction based scheme)</a:t>
            </a:r>
          </a:p>
          <a:p>
            <a:r>
              <a:rPr lang="en-US" dirty="0" smtClean="0"/>
              <a:t>Component exchange among phases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29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087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SaturationFunction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saturation(s) provided externally computes </a:t>
            </a:r>
            <a:r>
              <a:rPr lang="en-US" dirty="0" err="1" smtClean="0"/>
              <a:t>kri</a:t>
            </a:r>
            <a:r>
              <a:rPr lang="en-US" dirty="0" smtClean="0"/>
              <a:t>(</a:t>
            </a:r>
            <a:r>
              <a:rPr lang="en-US" dirty="0" err="1" smtClean="0"/>
              <a:t>sw</a:t>
            </a:r>
            <a:r>
              <a:rPr lang="en-US" dirty="0" smtClean="0"/>
              <a:t>), pc(</a:t>
            </a:r>
            <a:r>
              <a:rPr lang="en-US" dirty="0" err="1" smtClean="0"/>
              <a:t>sw</a:t>
            </a:r>
            <a:r>
              <a:rPr lang="en-US" dirty="0" smtClean="0"/>
              <a:t>), </a:t>
            </a:r>
            <a:r>
              <a:rPr lang="en-US" dirty="0" err="1" smtClean="0"/>
              <a:t>dpc</a:t>
            </a:r>
            <a:r>
              <a:rPr lang="en-US" dirty="0" smtClean="0"/>
              <a:t>/ds</a:t>
            </a:r>
            <a:endParaRPr lang="en-US" dirty="0"/>
          </a:p>
          <a:p>
            <a:r>
              <a:rPr lang="en-US" dirty="0" smtClean="0"/>
              <a:t>Has access to the element interface (and initializes itself there)</a:t>
            </a:r>
          </a:p>
          <a:p>
            <a:r>
              <a:rPr lang="en-US" dirty="0" smtClean="0"/>
              <a:t>relative permeability can be a function of all kinds of parameters (hysteresis, velocity dependence, etc.)</a:t>
            </a:r>
          </a:p>
          <a:p>
            <a:r>
              <a:rPr lang="en-US" dirty="0" smtClean="0"/>
              <a:t>capillary pressure function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30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13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FlowFunctions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Computes total mobility, fractional flows, derivatives, pc-derivatives etc. from input variables computed by </a:t>
            </a:r>
            <a:r>
              <a:rPr lang="en-US" b="1" dirty="0" err="1" smtClean="0"/>
              <a:t>SaturationFunctions</a:t>
            </a:r>
            <a:r>
              <a:rPr lang="en-US" dirty="0" smtClean="0"/>
              <a:t> and </a:t>
            </a:r>
            <a:r>
              <a:rPr lang="en-US" b="1" dirty="0" err="1" smtClean="0"/>
              <a:t>FluidProperties</a:t>
            </a:r>
            <a:endParaRPr lang="en-US" b="1" dirty="0" smtClean="0"/>
          </a:p>
          <a:p>
            <a:r>
              <a:rPr lang="en-US" dirty="0" smtClean="0"/>
              <a:t>Default: all derivatives are evaluated numerically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31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01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FacetFlux</a:t>
            </a:r>
            <a:r>
              <a:rPr lang="en-US" dirty="0" err="1" smtClean="0">
                <a:solidFill>
                  <a:srgbClr val="BFBFBF"/>
                </a:solidFill>
              </a:rPr>
              <a:t>Calculator</a:t>
            </a:r>
            <a:endParaRPr lang="en-US" dirty="0">
              <a:solidFill>
                <a:srgbClr val="BFBFB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1422"/>
            <a:ext cx="8229600" cy="5943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To compute first- and </a:t>
            </a:r>
            <a:r>
              <a:rPr lang="en-US" dirty="0"/>
              <a:t>second order </a:t>
            </a:r>
            <a:r>
              <a:rPr lang="en-US" dirty="0" smtClean="0"/>
              <a:t>facet fluxes </a:t>
            </a:r>
          </a:p>
          <a:p>
            <a:r>
              <a:rPr lang="en-US" dirty="0" smtClean="0"/>
              <a:t>Operations:</a:t>
            </a:r>
          </a:p>
          <a:p>
            <a:pPr lvl="1"/>
            <a:r>
              <a:rPr lang="en-US" dirty="0" smtClean="0"/>
              <a:t>Compute facet normal </a:t>
            </a:r>
            <a:r>
              <a:rPr lang="en-US" dirty="0" err="1" smtClean="0"/>
              <a:t>permeabilities</a:t>
            </a:r>
            <a:r>
              <a:rPr lang="en-US" dirty="0" smtClean="0"/>
              <a:t> in the case of permeability tensors</a:t>
            </a:r>
          </a:p>
          <a:p>
            <a:pPr lvl="1"/>
            <a:r>
              <a:rPr lang="en-US" dirty="0" smtClean="0"/>
              <a:t>Uses </a:t>
            </a:r>
            <a:r>
              <a:rPr lang="en-US" b="1" dirty="0" err="1" smtClean="0"/>
              <a:t>FlowFunctions</a:t>
            </a:r>
            <a:r>
              <a:rPr lang="en-US" dirty="0" smtClean="0"/>
              <a:t> to compute fractional flow, derivatives etc.</a:t>
            </a:r>
          </a:p>
          <a:p>
            <a:pPr lvl="1"/>
            <a:r>
              <a:rPr lang="en-US" dirty="0" smtClean="0"/>
              <a:t>computes total mobility and velocity if needs</a:t>
            </a:r>
          </a:p>
          <a:p>
            <a:pPr lvl="1"/>
            <a:r>
              <a:rPr lang="en-US" dirty="0" smtClean="0"/>
              <a:t>find </a:t>
            </a:r>
            <a:r>
              <a:rPr lang="en-US" i="1" dirty="0" smtClean="0"/>
              <a:t>phase </a:t>
            </a:r>
            <a:r>
              <a:rPr lang="en-US" i="1" dirty="0" err="1" smtClean="0"/>
              <a:t>velocit</a:t>
            </a:r>
            <a:r>
              <a:rPr lang="en-US" i="1" dirty="0" smtClean="0"/>
              <a:t>(</a:t>
            </a:r>
            <a:r>
              <a:rPr lang="en-US" i="1" dirty="0" err="1" smtClean="0"/>
              <a:t>ies</a:t>
            </a:r>
            <a:r>
              <a:rPr lang="en-US" i="1" dirty="0" smtClean="0"/>
              <a:t>) </a:t>
            </a:r>
            <a:r>
              <a:rPr lang="en-US" dirty="0"/>
              <a:t>(viscous, gravitational and capillary</a:t>
            </a:r>
            <a:r>
              <a:rPr lang="en-US" dirty="0" smtClean="0"/>
              <a:t>) at the barycenter to determine the upwind directions for all facets</a:t>
            </a:r>
          </a:p>
          <a:p>
            <a:pPr lvl="1"/>
            <a:r>
              <a:rPr lang="en-US" dirty="0" smtClean="0"/>
              <a:t>interpolate saturation using </a:t>
            </a:r>
            <a:r>
              <a:rPr lang="en-US" dirty="0" err="1" smtClean="0"/>
              <a:t>GenericGradientCalculator</a:t>
            </a:r>
            <a:r>
              <a:rPr lang="en-US" dirty="0" smtClean="0"/>
              <a:t> to find facet saturation</a:t>
            </a:r>
          </a:p>
          <a:p>
            <a:pPr lvl="1"/>
            <a:r>
              <a:rPr lang="en-US" dirty="0" smtClean="0"/>
              <a:t>evaluate </a:t>
            </a:r>
            <a:r>
              <a:rPr lang="en-US" dirty="0" err="1" smtClean="0"/>
              <a:t>relperms</a:t>
            </a:r>
            <a:r>
              <a:rPr lang="en-US" dirty="0" smtClean="0"/>
              <a:t> (using all kinds of parameters) via </a:t>
            </a:r>
            <a:r>
              <a:rPr lang="en-US" dirty="0" err="1" smtClean="0"/>
              <a:t>SaturationFunctions</a:t>
            </a:r>
            <a:endParaRPr lang="en-US" dirty="0" smtClean="0"/>
          </a:p>
          <a:p>
            <a:pPr lvl="1"/>
            <a:r>
              <a:rPr lang="en-US" dirty="0" smtClean="0"/>
              <a:t>Get fluid properties (</a:t>
            </a:r>
            <a:r>
              <a:rPr lang="en-US" dirty="0" err="1" smtClean="0"/>
              <a:t>densitie</a:t>
            </a:r>
            <a:r>
              <a:rPr lang="en-US" dirty="0" smtClean="0"/>
              <a:t>(s), viscosity(s), concentrations etc.)</a:t>
            </a:r>
          </a:p>
          <a:p>
            <a:pPr lvl="1"/>
            <a:r>
              <a:rPr lang="en-US" dirty="0" smtClean="0"/>
              <a:t>Evaluate </a:t>
            </a:r>
            <a:r>
              <a:rPr lang="en-US" dirty="0" err="1" smtClean="0"/>
              <a:t>mobilities</a:t>
            </a:r>
            <a:r>
              <a:rPr lang="en-US" dirty="0" smtClean="0"/>
              <a:t> and fractional flows</a:t>
            </a:r>
          </a:p>
          <a:p>
            <a:pPr lvl="1"/>
            <a:r>
              <a:rPr lang="en-US" dirty="0" smtClean="0"/>
              <a:t>Compute facet fluxes</a:t>
            </a:r>
          </a:p>
          <a:p>
            <a:pPr lvl="1"/>
            <a:r>
              <a:rPr lang="en-US" dirty="0" smtClean="0"/>
              <a:t>Store facet fluxes</a:t>
            </a:r>
          </a:p>
          <a:p>
            <a:pPr lvl="1"/>
            <a:r>
              <a:rPr lang="en-US" dirty="0" smtClean="0"/>
              <a:t>NO LIMITING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059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classes that carry out the transport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Combines accumulation process with machinery required to compute solutions / time-integrate transport equations. </a:t>
            </a:r>
          </a:p>
          <a:p>
            <a:pPr marL="0" indent="0">
              <a:buNone/>
            </a:pPr>
            <a:r>
              <a:rPr lang="en-US" b="1" dirty="0" err="1" smtClean="0"/>
              <a:t>ExplicitTransport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	- In the simplest case, just writes the solution vector</a:t>
            </a:r>
          </a:p>
          <a:p>
            <a:pPr marL="0" indent="0">
              <a:buNone/>
            </a:pPr>
            <a:r>
              <a:rPr lang="en-US" b="1" dirty="0" err="1" smtClean="0"/>
              <a:t>ImplicitTransport</a:t>
            </a:r>
            <a:endParaRPr lang="en-US" b="1" dirty="0" smtClean="0"/>
          </a:p>
          <a:p>
            <a:pPr lvl="1"/>
            <a:r>
              <a:rPr lang="en-US" dirty="0" smtClean="0"/>
              <a:t>Combines accumulation into </a:t>
            </a:r>
            <a:r>
              <a:rPr lang="en-US" dirty="0" err="1" smtClean="0"/>
              <a:t>SparseMatrix</a:t>
            </a:r>
            <a:r>
              <a:rPr lang="en-US" dirty="0" smtClean="0"/>
              <a:t> with solution with solver, range checks, etc.</a:t>
            </a:r>
          </a:p>
          <a:p>
            <a:pPr lvl="1"/>
            <a:r>
              <a:rPr lang="en-US" dirty="0" smtClean="0"/>
              <a:t>Used to implement iterative solution schemes, for instance, Newton </a:t>
            </a:r>
            <a:r>
              <a:rPr lang="en-US" dirty="0" err="1" smtClean="0"/>
              <a:t>Raphson</a:t>
            </a:r>
            <a:r>
              <a:rPr lang="en-US" dirty="0" smtClean="0"/>
              <a:t> with line search a la Christine</a:t>
            </a:r>
          </a:p>
          <a:p>
            <a:pPr lvl="1"/>
            <a:r>
              <a:rPr lang="en-US" dirty="0" smtClean="0"/>
              <a:t>Manages </a:t>
            </a:r>
            <a:r>
              <a:rPr lang="en-US" dirty="0" err="1" smtClean="0"/>
              <a:t>csmp</a:t>
            </a:r>
            <a:r>
              <a:rPr lang="en-US" dirty="0" smtClean="0"/>
              <a:t>::Solver class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25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LHS_Accumulator</a:t>
            </a:r>
            <a:r>
              <a:rPr lang="en-US" dirty="0" smtClean="0"/>
              <a:t>  and  </a:t>
            </a:r>
            <a:r>
              <a:rPr lang="en-US" dirty="0" err="1" smtClean="0"/>
              <a:t>RHS_Accumulator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Provides </a:t>
            </a:r>
            <a:r>
              <a:rPr lang="en-US" dirty="0" err="1" smtClean="0"/>
              <a:t>PDE_Integrator</a:t>
            </a:r>
            <a:r>
              <a:rPr lang="en-US" dirty="0" smtClean="0"/>
              <a:t> style functionality to assemble flux / source / sink etc. terms into a linear algebra Ax=b   or simple vector framework so that a solution can be formed or computed.</a:t>
            </a:r>
          </a:p>
          <a:p>
            <a:r>
              <a:rPr lang="en-US" dirty="0" smtClean="0"/>
              <a:t>Supports the assembly of expressions involving operator</a:t>
            </a:r>
          </a:p>
          <a:p>
            <a:r>
              <a:rPr lang="en-US" dirty="0" smtClean="0"/>
              <a:t>Matrix accumulation by </a:t>
            </a:r>
            <a:r>
              <a:rPr lang="en-US" b="1" dirty="0" err="1" smtClean="0"/>
              <a:t>MatrixOperator</a:t>
            </a:r>
            <a:r>
              <a:rPr lang="en-US" dirty="0" smtClean="0"/>
              <a:t> and </a:t>
            </a:r>
            <a:r>
              <a:rPr lang="en-US" b="1" dirty="0" err="1" smtClean="0"/>
              <a:t>VectorOperator</a:t>
            </a:r>
            <a:r>
              <a:rPr lang="en-US" b="1" dirty="0" smtClean="0"/>
              <a:t> </a:t>
            </a:r>
            <a:r>
              <a:rPr lang="en-US" dirty="0" smtClean="0"/>
              <a:t>with state variables that specify how and when they should be accumulated.</a:t>
            </a:r>
          </a:p>
          <a:p>
            <a:r>
              <a:rPr lang="en-US" dirty="0" smtClean="0"/>
              <a:t>We need telling names for:</a:t>
            </a:r>
          </a:p>
          <a:p>
            <a:pPr lvl="1"/>
            <a:r>
              <a:rPr lang="en-US" dirty="0" smtClean="0"/>
              <a:t>Pore volumes divided by </a:t>
            </a:r>
            <a:r>
              <a:rPr lang="en-US" dirty="0" err="1" smtClean="0"/>
              <a:t>time_increment</a:t>
            </a:r>
            <a:r>
              <a:rPr lang="en-US" dirty="0" smtClean="0"/>
              <a:t> into diagonal of matrix</a:t>
            </a:r>
          </a:p>
          <a:p>
            <a:pPr lvl="1"/>
            <a:r>
              <a:rPr lang="en-US" dirty="0" smtClean="0"/>
              <a:t>Incoming (higher-order) fluxes coupling diagonal with off-diagonal</a:t>
            </a:r>
          </a:p>
          <a:p>
            <a:pPr lvl="1"/>
            <a:r>
              <a:rPr lang="en-US" dirty="0" smtClean="0"/>
              <a:t>Outgoing</a:t>
            </a:r>
            <a:r>
              <a:rPr lang="en-US" dirty="0"/>
              <a:t>(higher-order) </a:t>
            </a:r>
            <a:r>
              <a:rPr lang="en-US" dirty="0" smtClean="0"/>
              <a:t>fluxes added to diagonal</a:t>
            </a:r>
          </a:p>
          <a:p>
            <a:pPr lvl="1"/>
            <a:r>
              <a:rPr lang="en-US" dirty="0" smtClean="0"/>
              <a:t>Sources / sinks for LHS and RHS</a:t>
            </a:r>
          </a:p>
          <a:p>
            <a:pPr lvl="1"/>
            <a:r>
              <a:rPr lang="en-US" dirty="0" smtClean="0"/>
              <a:t>All these for RHS</a:t>
            </a:r>
          </a:p>
          <a:p>
            <a:pPr lvl="1"/>
            <a:r>
              <a:rPr lang="en-US" dirty="0" err="1" smtClean="0"/>
              <a:t>Jacobians</a:t>
            </a:r>
            <a:r>
              <a:rPr lang="en-US" dirty="0" smtClean="0"/>
              <a:t> for iterative solutions</a:t>
            </a:r>
          </a:p>
          <a:p>
            <a:pPr lvl="1"/>
            <a:r>
              <a:rPr lang="en-US" dirty="0" smtClean="0"/>
              <a:t>Diffusion type FEM integral operators</a:t>
            </a:r>
          </a:p>
          <a:p>
            <a:pPr lvl="1"/>
            <a:r>
              <a:rPr lang="en-US" dirty="0" smtClean="0"/>
              <a:t>Any of these at different time-levels</a:t>
            </a:r>
          </a:p>
          <a:p>
            <a:pPr lvl="1"/>
            <a:r>
              <a:rPr lang="en-US" dirty="0" smtClean="0"/>
              <a:t>Theta-weighting for second-order in time method</a:t>
            </a:r>
          </a:p>
          <a:p>
            <a:r>
              <a:rPr lang="en-US" dirty="0" smtClean="0"/>
              <a:t>Static polymorphism for speed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34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123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Divide / multiply-with time-increment</a:t>
            </a:r>
          </a:p>
          <a:p>
            <a:r>
              <a:rPr lang="en-US" dirty="0" smtClean="0"/>
              <a:t>Add, </a:t>
            </a:r>
            <a:r>
              <a:rPr lang="en-US" dirty="0" err="1" smtClean="0"/>
              <a:t>Substract</a:t>
            </a:r>
            <a:r>
              <a:rPr lang="en-US" dirty="0" smtClean="0"/>
              <a:t>, Multiply</a:t>
            </a:r>
          </a:p>
          <a:p>
            <a:r>
              <a:rPr lang="en-US" dirty="0" err="1" smtClean="0"/>
              <a:t>LateAccumulate</a:t>
            </a:r>
            <a:endParaRPr lang="en-US" dirty="0" smtClean="0"/>
          </a:p>
          <a:p>
            <a:r>
              <a:rPr lang="en-US" dirty="0" smtClean="0"/>
              <a:t>Lumping</a:t>
            </a:r>
          </a:p>
          <a:p>
            <a:r>
              <a:rPr lang="en-US" dirty="0" smtClean="0"/>
              <a:t>Theta-weighting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35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345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FluxEvaluator</a:t>
            </a:r>
            <a:r>
              <a:rPr lang="en-US" dirty="0" smtClean="0"/>
              <a:t> (for the entire region)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Updates the fluid </a:t>
            </a:r>
            <a:r>
              <a:rPr lang="en-US" dirty="0" smtClean="0"/>
              <a:t>properties (including the saturations)</a:t>
            </a:r>
            <a:endParaRPr lang="en-US" dirty="0"/>
          </a:p>
          <a:p>
            <a:r>
              <a:rPr lang="en-US" dirty="0" smtClean="0"/>
              <a:t>If a second-order is requested, computes the finite-volume centered property gradients</a:t>
            </a:r>
          </a:p>
          <a:p>
            <a:r>
              <a:rPr lang="en-US" dirty="0" smtClean="0"/>
              <a:t>Calls the </a:t>
            </a:r>
            <a:r>
              <a:rPr lang="en-US" dirty="0" err="1" smtClean="0"/>
              <a:t>FacetFluxCalculator</a:t>
            </a:r>
            <a:r>
              <a:rPr lang="en-US" dirty="0" smtClean="0"/>
              <a:t> to compute facet fluxes </a:t>
            </a:r>
            <a:r>
              <a:rPr lang="en-US" smtClean="0"/>
              <a:t>of phases</a:t>
            </a:r>
            <a:endParaRPr lang="en-US" dirty="0" smtClean="0"/>
          </a:p>
          <a:p>
            <a:r>
              <a:rPr lang="en-US" dirty="0" smtClean="0"/>
              <a:t>Integrates total incoming versus outgoing fluxes for each finite volume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 smtClean="0"/>
              <a:t>Question: Limiting should be done on the phase flux (total). What does this imply for where the limiter is called (by </a:t>
            </a:r>
            <a:r>
              <a:rPr lang="en-US" i="1" dirty="0" err="1" smtClean="0"/>
              <a:t>FacetFluxEvaluator</a:t>
            </a:r>
            <a:r>
              <a:rPr lang="en-US" i="1" dirty="0" smtClean="0"/>
              <a:t> or decoupled)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36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038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TimeStepEvaluator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Computes a time increment such that the amount of fluid that leaves any FV is not greater than what was in there</a:t>
            </a:r>
          </a:p>
          <a:p>
            <a:r>
              <a:rPr lang="en-US" dirty="0" smtClean="0"/>
              <a:t>For implicit schemes any relaxation is applied to this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37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77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ExplicitTransport</a:t>
            </a:r>
            <a:r>
              <a:rPr lang="en-US" dirty="0" smtClean="0"/>
              <a:t>    and    </a:t>
            </a:r>
            <a:r>
              <a:rPr lang="en-US" dirty="0" err="1" smtClean="0"/>
              <a:t>ImplicitTransport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Drives </a:t>
            </a:r>
          </a:p>
          <a:p>
            <a:pPr lvl="1"/>
            <a:r>
              <a:rPr lang="en-US" dirty="0" err="1" smtClean="0"/>
              <a:t>FluxEvaluator</a:t>
            </a:r>
            <a:endParaRPr lang="en-US" dirty="0" smtClean="0"/>
          </a:p>
          <a:p>
            <a:pPr lvl="1"/>
            <a:r>
              <a:rPr lang="en-US" dirty="0" err="1" smtClean="0"/>
              <a:t>TimeStepEvaluator</a:t>
            </a:r>
            <a:endParaRPr lang="en-US" dirty="0" smtClean="0"/>
          </a:p>
          <a:p>
            <a:pPr lvl="1"/>
            <a:r>
              <a:rPr lang="en-US" dirty="0" smtClean="0"/>
              <a:t>Accumulator</a:t>
            </a:r>
          </a:p>
          <a:p>
            <a:pPr lvl="1"/>
            <a:r>
              <a:rPr lang="en-US" dirty="0" smtClean="0"/>
              <a:t>Solver</a:t>
            </a:r>
          </a:p>
          <a:p>
            <a:r>
              <a:rPr lang="en-US" dirty="0" smtClean="0"/>
              <a:t>Solution process can involve </a:t>
            </a:r>
            <a:r>
              <a:rPr lang="en-US" dirty="0" err="1" smtClean="0"/>
              <a:t>NewtonRaphson</a:t>
            </a:r>
            <a:r>
              <a:rPr lang="en-US" dirty="0" smtClean="0"/>
              <a:t> and </a:t>
            </a:r>
            <a:r>
              <a:rPr lang="en-US" dirty="0" err="1" smtClean="0"/>
              <a:t>LineSearch</a:t>
            </a:r>
            <a:r>
              <a:rPr lang="en-US" dirty="0" smtClean="0"/>
              <a:t> algorithms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38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947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typical calculation?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Compute pressure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Compute total velocity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Update multiphase flow properties, phase densities and viscosities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Determine initial time increment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Accumulate (higher-order) interior stencils</a:t>
            </a:r>
          </a:p>
          <a:p>
            <a:pPr marL="857250" lvl="1" indent="-457200"/>
            <a:r>
              <a:rPr lang="en-US" b="1" dirty="0" smtClean="0"/>
              <a:t>Compute viscous, gravitational and capillary fluxes</a:t>
            </a:r>
          </a:p>
          <a:p>
            <a:pPr marL="857250" lvl="1" indent="-457200"/>
            <a:r>
              <a:rPr lang="en-US" b="1" dirty="0" smtClean="0"/>
              <a:t>Determine upwind direction on basis of composite flux</a:t>
            </a:r>
          </a:p>
          <a:p>
            <a:pPr marL="857250" lvl="1" indent="-457200"/>
            <a:r>
              <a:rPr lang="en-US" b="1" dirty="0" smtClean="0"/>
              <a:t>Establish flux balances and pressure-change dependent source / sink terms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Accumulate first order boundary stencils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Solve transport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Transfer results to model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2/19/13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39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602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28134</TotalTime>
  <Words>4319</Words>
  <Application>Microsoft Macintosh PowerPoint</Application>
  <PresentationFormat>On-screen Show (4:3)</PresentationFormat>
  <Paragraphs>688</Paragraphs>
  <Slides>39</Slides>
  <Notes>18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Office Theme</vt:lpstr>
      <vt:lpstr>Equation</vt:lpstr>
      <vt:lpstr>Multiphase Transport Scheme for Hybrid Finite-Element Finite-Volume Meshes:   Refactoring of NCFVT Framework</vt:lpstr>
      <vt:lpstr>Goal: Transport of fluid phases with components</vt:lpstr>
      <vt:lpstr>Simplified transport equations</vt:lpstr>
      <vt:lpstr>Hamdi and Vostok’s approach (2012)</vt:lpstr>
      <vt:lpstr>Objectives and prerequisites</vt:lpstr>
      <vt:lpstr>What we can achieve on this workshop</vt:lpstr>
      <vt:lpstr>Outline</vt:lpstr>
      <vt:lpstr>FE-FVM Discretisation Different requirements seem to exist here:  (ETHZ wants material properties on the nodes, MUL on the elements)</vt:lpstr>
      <vt:lpstr>Basic terminology</vt:lpstr>
      <vt:lpstr>Variable placement (Barycentric formulation)</vt:lpstr>
      <vt:lpstr>Variable placement  (integration-point based  formulation)</vt:lpstr>
      <vt:lpstr>Finite-element finite-volume stencils</vt:lpstr>
      <vt:lpstr>Access to FiniteVolume properties / parameters</vt:lpstr>
      <vt:lpstr>Scope for improvement: FiniteVolumeTraits</vt:lpstr>
      <vt:lpstr>Keeping support functionality from NodeCenteredFiniteVolumeTransport ?</vt:lpstr>
      <vt:lpstr>What currently happens when the NCFV transport is instantiated</vt:lpstr>
      <vt:lpstr>What currently happens in an 2nd order explicit transport calculation?</vt:lpstr>
      <vt:lpstr>CFL calculation</vt:lpstr>
      <vt:lpstr>Constitutive relationships</vt:lpstr>
      <vt:lpstr>Outline</vt:lpstr>
      <vt:lpstr>Decision needed:      Placement of material properties</vt:lpstr>
      <vt:lpstr>Element-centered variable scheme: needs</vt:lpstr>
      <vt:lpstr>New goal: phase-by-phase component transport scheme with support for component exchange among phases</vt:lpstr>
      <vt:lpstr>Implemented vs. conceptual functionality</vt:lpstr>
      <vt:lpstr>Efficiency considerations</vt:lpstr>
      <vt:lpstr>Outline</vt:lpstr>
      <vt:lpstr>(New) classes?</vt:lpstr>
      <vt:lpstr>Classes – Colleoli Workshop</vt:lpstr>
      <vt:lpstr>FluidProperties</vt:lpstr>
      <vt:lpstr>SaturationFunction</vt:lpstr>
      <vt:lpstr>FlowFunctions</vt:lpstr>
      <vt:lpstr>FacetFluxCalculator</vt:lpstr>
      <vt:lpstr>The classes that carry out the transport</vt:lpstr>
      <vt:lpstr>LHS_Accumulator  and  RHS_Accumulator</vt:lpstr>
      <vt:lpstr>Operator options</vt:lpstr>
      <vt:lpstr>FluxEvaluator (for the entire region)</vt:lpstr>
      <vt:lpstr>TimeStepEvaluator</vt:lpstr>
      <vt:lpstr>ExplicitTransport    and    ImplicitTransport</vt:lpstr>
      <vt:lpstr>A typical calculation?</vt:lpstr>
    </vt:vector>
  </TitlesOfParts>
  <Manager>above</Manager>
  <Company>Earth Sciences &amp; Engineering, Imperial College, London</Company>
  <LinksUpToDate>false</LinksUpToDate>
  <SharedDoc>false</SharedDoc>
  <HyperlinkBase>s.matthai@ic.ac.uk</HyperlinkBase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Simulating Multiphase Fluid Flow With FRED – ICEM &amp; CSP</dc:title>
  <dc:subject>confidential ITF report 9/1/2003</dc:subject>
  <dc:creator>Dr. Stephan K Matthai</dc:creator>
  <dc:description>do not distribute without prior permission by the_x000d_
author</dc:description>
  <cp:lastModifiedBy>Stephan K Matthai</cp:lastModifiedBy>
  <cp:revision>902</cp:revision>
  <dcterms:created xsi:type="dcterms:W3CDTF">2010-07-10T10:09:01Z</dcterms:created>
  <dcterms:modified xsi:type="dcterms:W3CDTF">2013-02-19T13:22:05Z</dcterms:modified>
</cp:coreProperties>
</file>