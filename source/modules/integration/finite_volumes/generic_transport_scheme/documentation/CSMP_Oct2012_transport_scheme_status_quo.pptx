
<file path=[Content_Types].xml><?xml version="1.0" encoding="utf-8"?>
<Types xmlns="http://schemas.openxmlformats.org/package/2006/content-types">
  <Default Extension="xml" ContentType="application/xml"/>
  <Default Extension="wmf" ContentType="image/x-wmf"/>
  <Default Extension="jpeg" ContentType="image/jpeg"/>
  <Default Extension="rels" ContentType="application/vnd.openxmlformats-package.relationships+xml"/>
  <Default Extension="vml" ContentType="application/vnd.openxmlformats-officedocument.vmlDrawing"/>
  <Default Extension="bin" ContentType="application/vnd.openxmlformats-officedocument.presentationml.printerSettings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embeddings/oleObject1.bin" ContentType="application/vnd.openxmlformats-officedocument.oleObject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1" r:id="rId1"/>
  </p:sldMasterIdLst>
  <p:notesMasterIdLst>
    <p:notesMasterId r:id="rId30"/>
  </p:notesMasterIdLst>
  <p:handoutMasterIdLst>
    <p:handoutMasterId r:id="rId31"/>
  </p:handoutMasterIdLst>
  <p:sldIdLst>
    <p:sldId id="256" r:id="rId2"/>
    <p:sldId id="437" r:id="rId3"/>
    <p:sldId id="438" r:id="rId4"/>
    <p:sldId id="439" r:id="rId5"/>
    <p:sldId id="440" r:id="rId6"/>
    <p:sldId id="431" r:id="rId7"/>
    <p:sldId id="427" r:id="rId8"/>
    <p:sldId id="429" r:id="rId9"/>
    <p:sldId id="436" r:id="rId10"/>
    <p:sldId id="410" r:id="rId11"/>
    <p:sldId id="405" r:id="rId12"/>
    <p:sldId id="391" r:id="rId13"/>
    <p:sldId id="406" r:id="rId14"/>
    <p:sldId id="412" r:id="rId15"/>
    <p:sldId id="419" r:id="rId16"/>
    <p:sldId id="434" r:id="rId17"/>
    <p:sldId id="413" r:id="rId18"/>
    <p:sldId id="414" r:id="rId19"/>
    <p:sldId id="420" r:id="rId20"/>
    <p:sldId id="432" r:id="rId21"/>
    <p:sldId id="417" r:id="rId22"/>
    <p:sldId id="426" r:id="rId23"/>
    <p:sldId id="421" r:id="rId24"/>
    <p:sldId id="423" r:id="rId25"/>
    <p:sldId id="422" r:id="rId26"/>
    <p:sldId id="433" r:id="rId27"/>
    <p:sldId id="424" r:id="rId28"/>
    <p:sldId id="435" r:id="rId29"/>
  </p:sldIdLst>
  <p:sldSz cx="9144000" cy="6858000" type="screen4x3"/>
  <p:notesSz cx="6985000" cy="9271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charset="0"/>
        <a:ea typeface="ＭＳ Ｐゴシック" charset="0"/>
        <a:cs typeface="ＭＳ Ｐゴシック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charset="0"/>
        <a:ea typeface="ＭＳ Ｐゴシック" charset="0"/>
        <a:cs typeface="ＭＳ Ｐゴシック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charset="0"/>
        <a:ea typeface="ＭＳ Ｐゴシック" charset="0"/>
        <a:cs typeface="ＭＳ Ｐゴシック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charset="0"/>
        <a:ea typeface="ＭＳ Ｐゴシック" charset="0"/>
        <a:cs typeface="ＭＳ Ｐゴシック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charset="0"/>
        <a:ea typeface="ＭＳ Ｐゴシック" charset="0"/>
        <a:cs typeface="ＭＳ Ｐゴシック" charset="0"/>
      </a:defRPr>
    </a:lvl5pPr>
    <a:lvl6pPr marL="2286000" algn="l" defTabSz="457200" rtl="0" eaLnBrk="1" latinLnBrk="0" hangingPunct="1">
      <a:defRPr kern="1200">
        <a:solidFill>
          <a:schemeClr val="tx1"/>
        </a:solidFill>
        <a:latin typeface="Verdana" charset="0"/>
        <a:ea typeface="ＭＳ Ｐゴシック" charset="0"/>
        <a:cs typeface="ＭＳ Ｐゴシック" charset="0"/>
      </a:defRPr>
    </a:lvl6pPr>
    <a:lvl7pPr marL="2743200" algn="l" defTabSz="457200" rtl="0" eaLnBrk="1" latinLnBrk="0" hangingPunct="1">
      <a:defRPr kern="1200">
        <a:solidFill>
          <a:schemeClr val="tx1"/>
        </a:solidFill>
        <a:latin typeface="Verdana" charset="0"/>
        <a:ea typeface="ＭＳ Ｐゴシック" charset="0"/>
        <a:cs typeface="ＭＳ Ｐゴシック" charset="0"/>
      </a:defRPr>
    </a:lvl7pPr>
    <a:lvl8pPr marL="3200400" algn="l" defTabSz="457200" rtl="0" eaLnBrk="1" latinLnBrk="0" hangingPunct="1">
      <a:defRPr kern="1200">
        <a:solidFill>
          <a:schemeClr val="tx1"/>
        </a:solidFill>
        <a:latin typeface="Verdana" charset="0"/>
        <a:ea typeface="ＭＳ Ｐゴシック" charset="0"/>
        <a:cs typeface="ＭＳ Ｐゴシック" charset="0"/>
      </a:defRPr>
    </a:lvl8pPr>
    <a:lvl9pPr marL="3657600" algn="l" defTabSz="457200" rtl="0" eaLnBrk="1" latinLnBrk="0" hangingPunct="1">
      <a:defRPr kern="1200">
        <a:solidFill>
          <a:schemeClr val="tx1"/>
        </a:solidFill>
        <a:latin typeface="Verdana" charset="0"/>
        <a:ea typeface="ＭＳ Ｐゴシック" charset="0"/>
        <a:cs typeface="ＭＳ Ｐゴシック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1F98"/>
    <a:srgbClr val="FFCC00"/>
    <a:srgbClr val="0000FF"/>
    <a:srgbClr val="00FFFF"/>
    <a:srgbClr val="00CC00"/>
    <a:srgbClr val="33CC33"/>
    <a:srgbClr val="808080"/>
    <a:srgbClr val="B2B2B2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15620"/>
    <p:restoredTop sz="94660"/>
  </p:normalViewPr>
  <p:slideViewPr>
    <p:cSldViewPr snapToGrid="0">
      <p:cViewPr varScale="1">
        <p:scale>
          <a:sx n="121" d="100"/>
          <a:sy n="121" d="100"/>
        </p:scale>
        <p:origin x="-176" y="-10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50" d="100"/>
        <a:sy n="150" d="100"/>
      </p:scale>
      <p:origin x="0" y="637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30" Type="http://schemas.openxmlformats.org/officeDocument/2006/relationships/notesMaster" Target="notesMasters/notesMaster1.xml"/><Relationship Id="rId31" Type="http://schemas.openxmlformats.org/officeDocument/2006/relationships/handoutMaster" Target="handoutMasters/handoutMaster1.xml"/><Relationship Id="rId32" Type="http://schemas.openxmlformats.org/officeDocument/2006/relationships/printerSettings" Target="printerSettings/printerSettings1.bin"/><Relationship Id="rId9" Type="http://schemas.openxmlformats.org/officeDocument/2006/relationships/slide" Target="slides/slide8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2050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27363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885" tIns="46442" rIns="92885" bIns="46442" numCol="1" anchor="t" anchorCtr="0" compatLnSpc="1">
            <a:prstTxWarp prst="textNoShape">
              <a:avLst/>
            </a:prstTxWarp>
          </a:bodyPr>
          <a:lstStyle>
            <a:lvl1pPr defTabSz="928688">
              <a:defRPr sz="1200">
                <a:ea typeface="+mn-ea"/>
                <a:cs typeface="+mn-cs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7043" name="Rectangle 2051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57638" y="0"/>
            <a:ext cx="3027362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885" tIns="46442" rIns="92885" bIns="46442" numCol="1" anchor="t" anchorCtr="0" compatLnSpc="1">
            <a:prstTxWarp prst="textNoShape">
              <a:avLst/>
            </a:prstTxWarp>
          </a:bodyPr>
          <a:lstStyle>
            <a:lvl1pPr algn="r" defTabSz="928688">
              <a:defRPr sz="1200">
                <a:ea typeface="+mn-ea"/>
                <a:cs typeface="+mn-cs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7044" name="Rectangle 2052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07450"/>
            <a:ext cx="3027363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885" tIns="46442" rIns="92885" bIns="46442" numCol="1" anchor="b" anchorCtr="0" compatLnSpc="1">
            <a:prstTxWarp prst="textNoShape">
              <a:avLst/>
            </a:prstTxWarp>
          </a:bodyPr>
          <a:lstStyle>
            <a:lvl1pPr defTabSz="928688">
              <a:defRPr sz="1200">
                <a:ea typeface="+mn-ea"/>
                <a:cs typeface="+mn-cs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7045" name="Rectangle 2053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57638" y="8807450"/>
            <a:ext cx="3027362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885" tIns="46442" rIns="92885" bIns="46442" numCol="1" anchor="b" anchorCtr="0" compatLnSpc="1">
            <a:prstTxWarp prst="textNoShape">
              <a:avLst/>
            </a:prstTxWarp>
          </a:bodyPr>
          <a:lstStyle>
            <a:lvl1pPr algn="r" defTabSz="928688">
              <a:defRPr sz="1200"/>
            </a:lvl1pPr>
          </a:lstStyle>
          <a:p>
            <a:fld id="{0382BDA7-F59E-594D-86A4-E17DCDE87ECE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276538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27363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885" tIns="46442" rIns="92885" bIns="46442" numCol="1" anchor="t" anchorCtr="0" compatLnSpc="1">
            <a:prstTxWarp prst="textNoShape">
              <a:avLst/>
            </a:prstTxWarp>
          </a:bodyPr>
          <a:lstStyle>
            <a:lvl1pPr defTabSz="928688">
              <a:defRPr sz="1200"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277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57638" y="0"/>
            <a:ext cx="3027362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885" tIns="46442" rIns="92885" bIns="46442" numCol="1" anchor="t" anchorCtr="0" compatLnSpc="1">
            <a:prstTxWarp prst="textNoShape">
              <a:avLst/>
            </a:prstTxWarp>
          </a:bodyPr>
          <a:lstStyle>
            <a:lvl1pPr algn="r" defTabSz="928688">
              <a:defRPr sz="1200"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638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74750" y="695325"/>
            <a:ext cx="4635500" cy="34766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3277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1863" y="4403725"/>
            <a:ext cx="5121275" cy="4171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885" tIns="46442" rIns="92885" bIns="4644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277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07450"/>
            <a:ext cx="3027363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885" tIns="46442" rIns="92885" bIns="46442" numCol="1" anchor="b" anchorCtr="0" compatLnSpc="1">
            <a:prstTxWarp prst="textNoShape">
              <a:avLst/>
            </a:prstTxWarp>
          </a:bodyPr>
          <a:lstStyle>
            <a:lvl1pPr defTabSz="928688">
              <a:defRPr sz="1200"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277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57638" y="8807450"/>
            <a:ext cx="3027362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885" tIns="46442" rIns="92885" bIns="46442" numCol="1" anchor="b" anchorCtr="0" compatLnSpc="1">
            <a:prstTxWarp prst="textNoShape">
              <a:avLst/>
            </a:prstTxWarp>
          </a:bodyPr>
          <a:lstStyle>
            <a:lvl1pPr algn="r" defTabSz="928688">
              <a:defRPr sz="1200"/>
            </a:lvl1pPr>
          </a:lstStyle>
          <a:p>
            <a:fld id="{D485DD8A-6A8A-ED46-83D9-CB8C804C53A9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163541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ＭＳ Ｐゴシック" charset="-128"/>
        <a:cs typeface="ＭＳ Ｐゴシック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ＭＳ Ｐゴシック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ＭＳ Ｐゴシック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ＭＳ Ｐゴシック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ＭＳ Ｐゴシック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688"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  <a:cs typeface="ＭＳ Ｐゴシック" charset="0"/>
              </a:defRPr>
            </a:lvl1pPr>
            <a:lvl2pPr marL="37931725" indent="-37474525" defTabSz="928688"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9pPr>
          </a:lstStyle>
          <a:p>
            <a:pPr eaLnBrk="1" hangingPunct="1"/>
            <a:fld id="{1565D6FA-D2AE-F044-B2DE-316731E3F31A}" type="slidenum">
              <a:rPr lang="en-US" sz="1200"/>
              <a:pPr eaLnBrk="1" hangingPunct="1"/>
              <a:t>1</a:t>
            </a:fld>
            <a:endParaRPr lang="en-US" sz="1200"/>
          </a:p>
        </p:txBody>
      </p:sp>
      <p:sp>
        <p:nvSpPr>
          <p:cNvPr id="184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en-US"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Add tricks</a:t>
            </a:r>
            <a:r>
              <a:rPr lang="en-US" baseline="0" dirty="0" smtClean="0"/>
              <a:t> of Patrick to lag time stepping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85DD8A-6A8A-ED46-83D9-CB8C804C53A9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52320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688"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  <a:cs typeface="ＭＳ Ｐゴシック" charset="0"/>
              </a:defRPr>
            </a:lvl1pPr>
            <a:lvl2pPr marL="37931725" indent="-37474525" defTabSz="928688"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9pPr>
          </a:lstStyle>
          <a:p>
            <a:pPr eaLnBrk="1" hangingPunct="1"/>
            <a:fld id="{D76354EB-93D9-1341-9432-F2D0E987B0A2}" type="slidenum">
              <a:rPr lang="en-GB" sz="1200"/>
              <a:pPr eaLnBrk="1" hangingPunct="1"/>
              <a:t>11</a:t>
            </a:fld>
            <a:endParaRPr lang="en-GB" sz="1200"/>
          </a:p>
        </p:txBody>
      </p:sp>
      <p:sp>
        <p:nvSpPr>
          <p:cNvPr id="225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>
                <a:ea typeface="ＭＳ Ｐゴシック" charset="0"/>
                <a:cs typeface="ＭＳ Ｐゴシック" charset="0"/>
              </a:rPr>
              <a:t>Integration of properties is required</a:t>
            </a:r>
            <a:endParaRPr lang="en-GB"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688"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  <a:cs typeface="ＭＳ Ｐゴシック" charset="0"/>
              </a:defRPr>
            </a:lvl1pPr>
            <a:lvl2pPr marL="37931725" indent="-37474525" defTabSz="928688"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9pPr>
          </a:lstStyle>
          <a:p>
            <a:pPr eaLnBrk="1" hangingPunct="1"/>
            <a:fld id="{B32117C7-677F-ED4E-A368-A6201A1788C3}" type="slidenum">
              <a:rPr lang="en-US" sz="1200"/>
              <a:pPr eaLnBrk="1" hangingPunct="1"/>
              <a:t>12</a:t>
            </a:fld>
            <a:endParaRPr lang="en-US" sz="1200"/>
          </a:p>
        </p:txBody>
      </p:sp>
      <p:sp>
        <p:nvSpPr>
          <p:cNvPr id="327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en-US"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688"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  <a:cs typeface="ＭＳ Ｐゴシック" charset="0"/>
              </a:defRPr>
            </a:lvl1pPr>
            <a:lvl2pPr marL="37931725" indent="-37474525" defTabSz="928688"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9pPr>
          </a:lstStyle>
          <a:p>
            <a:pPr eaLnBrk="1" hangingPunct="1"/>
            <a:fld id="{6C3A456C-3B7F-C34E-9315-C9B92A617917}" type="slidenum">
              <a:rPr lang="en-GB" sz="1200"/>
              <a:pPr eaLnBrk="1" hangingPunct="1"/>
              <a:t>13</a:t>
            </a:fld>
            <a:endParaRPr lang="en-GB" sz="1200"/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en-US"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7697B9D-347E-5644-B490-C43AC6FEB2B3}" type="slidenum">
              <a:rPr lang="en-US">
                <a:solidFill>
                  <a:prstClr val="black"/>
                </a:solidFill>
                <a:latin typeface="Calibri"/>
              </a:rPr>
              <a:pPr/>
              <a:t>14</a:t>
            </a:fld>
            <a:endParaRPr lang="en-US">
              <a:solidFill>
                <a:prstClr val="black"/>
              </a:solidFill>
              <a:latin typeface="Calibri"/>
            </a:endParaRPr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9CF149C-0C6B-0D4E-8BDF-05185F2416B1}" type="slidenum">
              <a:rPr lang="en-US">
                <a:solidFill>
                  <a:prstClr val="black"/>
                </a:solidFill>
                <a:latin typeface="Calibri"/>
              </a:rPr>
              <a:pPr/>
              <a:t>17</a:t>
            </a:fld>
            <a:endParaRPr lang="en-US">
              <a:solidFill>
                <a:prstClr val="black"/>
              </a:solidFill>
              <a:latin typeface="Calibri"/>
            </a:endParaRPr>
          </a:p>
        </p:txBody>
      </p:sp>
      <p:sp>
        <p:nvSpPr>
          <p:cNvPr id="36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E31339D-3957-0A4C-B460-33C1FAC07BC6}" type="slidenum">
              <a:rPr lang="en-US">
                <a:solidFill>
                  <a:prstClr val="black"/>
                </a:solidFill>
                <a:latin typeface="Calibri"/>
              </a:rPr>
              <a:pPr/>
              <a:t>18</a:t>
            </a:fld>
            <a:endParaRPr lang="en-US">
              <a:solidFill>
                <a:prstClr val="black"/>
              </a:solidFill>
              <a:latin typeface="Calibri"/>
            </a:endParaRPr>
          </a:p>
        </p:txBody>
      </p:sp>
      <p:sp>
        <p:nvSpPr>
          <p:cNvPr id="38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This interface needs to be cleaned up – I</a:t>
            </a:r>
            <a:r>
              <a:rPr lang="en-US" baseline="0" dirty="0" smtClean="0"/>
              <a:t> do not know who introduced all this duplicate functions!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85DD8A-6A8A-ED46-83D9-CB8C804C53A9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58916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CE236-F476-7D45-A04C-BCA8DF3CE6EA}" type="datetime1">
              <a:rPr lang="en-US" smtClean="0">
                <a:solidFill>
                  <a:prstClr val="white">
                    <a:lumMod val="65000"/>
                  </a:prstClr>
                </a:solidFill>
              </a:rPr>
              <a:pPr/>
              <a:t>11/6/12</a:t>
            </a:fld>
            <a:endParaRPr lang="en-US">
              <a:solidFill>
                <a:prstClr val="white">
                  <a:lumMod val="6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>
                <a:solidFill>
                  <a:prstClr val="white">
                    <a:lumMod val="65000"/>
                  </a:prstClr>
                </a:solidFill>
              </a:rPr>
              <a:t>CSMP Generic Transport Scheme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FD816-CC6A-BF43-8241-637E3E7EAA5A}" type="slidenum">
              <a:rPr lang="en-US" smtClean="0">
                <a:solidFill>
                  <a:prstClr val="white">
                    <a:lumMod val="65000"/>
                  </a:prstClr>
                </a:solidFill>
              </a:rPr>
              <a:pPr/>
              <a:t>‹#›</a:t>
            </a:fld>
            <a:endParaRPr lang="en-US">
              <a:solidFill>
                <a:prstClr val="white">
                  <a:lumMod val="6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511294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13430-5F54-9740-B307-5C0C53476417}" type="datetime1">
              <a:rPr lang="en-US" smtClean="0">
                <a:solidFill>
                  <a:prstClr val="white">
                    <a:lumMod val="65000"/>
                  </a:prstClr>
                </a:solidFill>
              </a:rPr>
              <a:pPr/>
              <a:t>11/6/12</a:t>
            </a:fld>
            <a:endParaRPr lang="en-US">
              <a:solidFill>
                <a:prstClr val="white">
                  <a:lumMod val="6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>
                <a:solidFill>
                  <a:prstClr val="white">
                    <a:lumMod val="65000"/>
                  </a:prstClr>
                </a:solidFill>
              </a:rPr>
              <a:t>CSMP Generic Transport Scheme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FD816-CC6A-BF43-8241-637E3E7EAA5A}" type="slidenum">
              <a:rPr lang="en-US" smtClean="0">
                <a:solidFill>
                  <a:prstClr val="white">
                    <a:lumMod val="65000"/>
                  </a:prstClr>
                </a:solidFill>
              </a:rPr>
              <a:pPr/>
              <a:t>‹#›</a:t>
            </a:fld>
            <a:endParaRPr lang="en-US">
              <a:solidFill>
                <a:prstClr val="white">
                  <a:lumMod val="6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792844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F3FFD-9B2C-A54A-9AAE-847814E2D763}" type="datetime1">
              <a:rPr lang="en-US" smtClean="0">
                <a:solidFill>
                  <a:prstClr val="white">
                    <a:lumMod val="65000"/>
                  </a:prstClr>
                </a:solidFill>
              </a:rPr>
              <a:pPr/>
              <a:t>11/6/12</a:t>
            </a:fld>
            <a:endParaRPr lang="en-US">
              <a:solidFill>
                <a:prstClr val="white">
                  <a:lumMod val="6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>
                <a:solidFill>
                  <a:prstClr val="white">
                    <a:lumMod val="65000"/>
                  </a:prstClr>
                </a:solidFill>
              </a:rPr>
              <a:t>CSMP Generic Transport Scheme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FD816-CC6A-BF43-8241-637E3E7EAA5A}" type="slidenum">
              <a:rPr lang="en-US" smtClean="0">
                <a:solidFill>
                  <a:prstClr val="white">
                    <a:lumMod val="65000"/>
                  </a:prstClr>
                </a:solidFill>
              </a:rPr>
              <a:pPr/>
              <a:t>‹#›</a:t>
            </a:fld>
            <a:endParaRPr lang="en-US">
              <a:solidFill>
                <a:prstClr val="white">
                  <a:lumMod val="6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556398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918874"/>
            <a:ext cx="4038600" cy="5564866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918874"/>
            <a:ext cx="4038600" cy="5564866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3091C7-3FB2-4A45-A50D-CFD735226A6E}" type="datetime1">
              <a:rPr lang="en-US" smtClean="0">
                <a:solidFill>
                  <a:prstClr val="white">
                    <a:lumMod val="65000"/>
                  </a:prstClr>
                </a:solidFill>
              </a:rPr>
              <a:pPr/>
              <a:t>11/6/12</a:t>
            </a:fld>
            <a:endParaRPr lang="en-US">
              <a:solidFill>
                <a:prstClr val="white">
                  <a:lumMod val="6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>
                <a:solidFill>
                  <a:prstClr val="white">
                    <a:lumMod val="65000"/>
                  </a:prstClr>
                </a:solidFill>
              </a:rPr>
              <a:t>CSMP Generic Transport Scheme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005879" y="6492875"/>
            <a:ext cx="2133600" cy="365125"/>
          </a:xfrm>
        </p:spPr>
        <p:txBody>
          <a:bodyPr/>
          <a:lstStyle/>
          <a:p>
            <a:fld id="{223FD816-CC6A-BF43-8241-637E3E7EAA5A}" type="slidenum">
              <a:rPr lang="en-US" smtClean="0">
                <a:solidFill>
                  <a:prstClr val="white">
                    <a:lumMod val="65000"/>
                  </a:prstClr>
                </a:solidFill>
              </a:rPr>
              <a:pPr/>
              <a:t>‹#›</a:t>
            </a:fld>
            <a:endParaRPr lang="en-US">
              <a:solidFill>
                <a:prstClr val="white">
                  <a:lumMod val="6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290384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62EE7-3E26-8344-9AFB-A62088F617B5}" type="datetime1">
              <a:rPr lang="en-US" smtClean="0">
                <a:solidFill>
                  <a:prstClr val="white">
                    <a:lumMod val="65000"/>
                  </a:prstClr>
                </a:solidFill>
              </a:rPr>
              <a:pPr/>
              <a:t>11/6/12</a:t>
            </a:fld>
            <a:endParaRPr lang="en-US">
              <a:solidFill>
                <a:prstClr val="white">
                  <a:lumMod val="6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>
                <a:solidFill>
                  <a:prstClr val="white">
                    <a:lumMod val="65000"/>
                  </a:prstClr>
                </a:solidFill>
              </a:rPr>
              <a:t>CSMP Generic Transport Scheme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FD816-CC6A-BF43-8241-637E3E7EAA5A}" type="slidenum">
              <a:rPr lang="en-US" smtClean="0">
                <a:solidFill>
                  <a:prstClr val="white">
                    <a:lumMod val="65000"/>
                  </a:prstClr>
                </a:solidFill>
              </a:rPr>
              <a:pPr/>
              <a:t>‹#›</a:t>
            </a:fld>
            <a:endParaRPr lang="en-US">
              <a:solidFill>
                <a:prstClr val="white">
                  <a:lumMod val="6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97063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121E2-B05F-B94B-BD08-7791A84524CA}" type="datetime1">
              <a:rPr lang="en-US" smtClean="0">
                <a:solidFill>
                  <a:prstClr val="white">
                    <a:lumMod val="65000"/>
                  </a:prstClr>
                </a:solidFill>
              </a:rPr>
              <a:pPr/>
              <a:t>11/6/12</a:t>
            </a:fld>
            <a:endParaRPr lang="en-US">
              <a:solidFill>
                <a:prstClr val="white">
                  <a:lumMod val="6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>
                <a:solidFill>
                  <a:prstClr val="white">
                    <a:lumMod val="65000"/>
                  </a:prstClr>
                </a:solidFill>
              </a:rPr>
              <a:t>CSMP Generic Transport Scheme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FD816-CC6A-BF43-8241-637E3E7EAA5A}" type="slidenum">
              <a:rPr lang="en-US" smtClean="0">
                <a:solidFill>
                  <a:prstClr val="white">
                    <a:lumMod val="65000"/>
                  </a:prstClr>
                </a:solidFill>
              </a:rPr>
              <a:pPr/>
              <a:t>‹#›</a:t>
            </a:fld>
            <a:endParaRPr lang="en-US">
              <a:solidFill>
                <a:prstClr val="white">
                  <a:lumMod val="6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32300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hart">
  <p:cSld name="Title, Text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4813" y="300038"/>
            <a:ext cx="8162925" cy="57943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41325" y="1085850"/>
            <a:ext cx="4078288" cy="5181077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hart Placeholder 3"/>
          <p:cNvSpPr>
            <a:spLocks noGrp="1"/>
          </p:cNvSpPr>
          <p:nvPr>
            <p:ph type="chart" sz="half" idx="2"/>
          </p:nvPr>
        </p:nvSpPr>
        <p:spPr>
          <a:xfrm>
            <a:off x="4672013" y="1085850"/>
            <a:ext cx="4078287" cy="5181077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76213" y="6400064"/>
            <a:ext cx="2881312" cy="457200"/>
          </a:xfrm>
        </p:spPr>
        <p:txBody>
          <a:bodyPr/>
          <a:lstStyle>
            <a:lvl1pPr algn="l">
              <a:defRPr smtClean="0"/>
            </a:lvl1pPr>
          </a:lstStyle>
          <a:p>
            <a:fld id="{8D11BE96-3744-5646-BAC8-E5987086E798}" type="datetime1">
              <a:rPr lang="en-US">
                <a:solidFill>
                  <a:prstClr val="white">
                    <a:lumMod val="65000"/>
                  </a:prstClr>
                </a:solidFill>
              </a:rPr>
              <a:pPr/>
              <a:t>11/6/12</a:t>
            </a:fld>
            <a:endParaRPr lang="en-US">
              <a:solidFill>
                <a:prstClr val="white">
                  <a:lumMod val="6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590925" y="6400064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 smtClean="0">
                <a:solidFill>
                  <a:prstClr val="white">
                    <a:lumMod val="65000"/>
                  </a:prstClr>
                </a:solidFill>
              </a:rPr>
              <a:t>CSMP Generic Transport Scheme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247075" y="6400064"/>
            <a:ext cx="1905000" cy="457200"/>
          </a:xfrm>
        </p:spPr>
        <p:txBody>
          <a:bodyPr/>
          <a:lstStyle>
            <a:lvl1pPr>
              <a:defRPr smtClean="0"/>
            </a:lvl1pPr>
          </a:lstStyle>
          <a:p>
            <a:fld id="{D85D7429-E0B0-F747-9618-8B51FA155C3D}" type="slidenum">
              <a:rPr lang="en-US">
                <a:solidFill>
                  <a:prstClr val="white">
                    <a:lumMod val="6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white">
                  <a:lumMod val="6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432985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14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914400"/>
            <a:ext cx="8229600" cy="55796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5496" y="649287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>
                    <a:lumMod val="65000"/>
                  </a:schemeClr>
                </a:solidFill>
                <a:latin typeface="Arial"/>
                <a:cs typeface="Arial"/>
              </a:defRPr>
            </a:lvl1pPr>
          </a:lstStyle>
          <a:p>
            <a:pPr defTabSz="457200" fontAlgn="auto">
              <a:spcBef>
                <a:spcPts val="0"/>
              </a:spcBef>
              <a:spcAft>
                <a:spcPts val="0"/>
              </a:spcAft>
            </a:pPr>
            <a:fld id="{57951F7C-CFBF-8144-A102-5B4CA8E4DF9C}" type="datetime1">
              <a:rPr lang="en-US" smtClean="0">
                <a:solidFill>
                  <a:prstClr val="white">
                    <a:lumMod val="65000"/>
                  </a:prstClr>
                </a:solidFill>
                <a:ea typeface="+mn-ea"/>
              </a:rPr>
              <a:pPr defTabSz="457200" fontAlgn="auto">
                <a:spcBef>
                  <a:spcPts val="0"/>
                </a:spcBef>
                <a:spcAft>
                  <a:spcPts val="0"/>
                </a:spcAft>
              </a:pPr>
              <a:t>11/6/12</a:t>
            </a:fld>
            <a:endParaRPr lang="en-US" dirty="0">
              <a:solidFill>
                <a:prstClr val="white">
                  <a:lumMod val="65000"/>
                </a:prstClr>
              </a:solidFill>
              <a:ea typeface="+mn-ea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492875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65000"/>
                  </a:schemeClr>
                </a:solidFill>
                <a:latin typeface="Arial"/>
                <a:cs typeface="Arial"/>
              </a:defRPr>
            </a:lvl1pPr>
          </a:lstStyle>
          <a:p>
            <a:pPr defTabSz="457200" fontAlgn="auto">
              <a:spcBef>
                <a:spcPts val="0"/>
              </a:spcBef>
              <a:spcAft>
                <a:spcPts val="0"/>
              </a:spcAft>
            </a:pPr>
            <a:r>
              <a:rPr lang="en-US" dirty="0" smtClean="0">
                <a:solidFill>
                  <a:prstClr val="white">
                    <a:lumMod val="65000"/>
                  </a:prstClr>
                </a:solidFill>
                <a:ea typeface="+mn-ea"/>
              </a:rPr>
              <a:t>CSMP Generic Transport Scheme</a:t>
            </a:r>
            <a:endParaRPr lang="en-US" dirty="0">
              <a:solidFill>
                <a:prstClr val="white">
                  <a:lumMod val="65000"/>
                </a:prstClr>
              </a:solidFill>
              <a:ea typeface="+mn-ea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74904" y="649287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>
                    <a:lumMod val="65000"/>
                  </a:schemeClr>
                </a:solidFill>
                <a:latin typeface="Arial"/>
                <a:cs typeface="Arial"/>
              </a:defRPr>
            </a:lvl1pPr>
          </a:lstStyle>
          <a:p>
            <a:pPr defTabSz="457200" fontAlgn="auto">
              <a:spcBef>
                <a:spcPts val="0"/>
              </a:spcBef>
              <a:spcAft>
                <a:spcPts val="0"/>
              </a:spcAft>
            </a:pPr>
            <a:r>
              <a:rPr lang="en-US" dirty="0" smtClean="0">
                <a:solidFill>
                  <a:prstClr val="white">
                    <a:lumMod val="65000"/>
                  </a:prstClr>
                </a:solidFill>
                <a:ea typeface="+mn-ea"/>
              </a:rPr>
              <a:t>  </a:t>
            </a:r>
            <a:fld id="{223FD816-CC6A-BF43-8241-637E3E7EAA5A}" type="slidenum">
              <a:rPr lang="en-US" smtClean="0">
                <a:solidFill>
                  <a:prstClr val="white">
                    <a:lumMod val="65000"/>
                  </a:prstClr>
                </a:solidFill>
                <a:ea typeface="+mn-ea"/>
              </a:rPr>
              <a:pPr defTabSz="457200" fontAlgn="auto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en-US" dirty="0">
              <a:solidFill>
                <a:prstClr val="white">
                  <a:lumMod val="65000"/>
                </a:prstClr>
              </a:solidFill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7460335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2" r:id="rId1"/>
    <p:sldLayoutId id="2147483743" r:id="rId2"/>
    <p:sldLayoutId id="2147483744" r:id="rId3"/>
    <p:sldLayoutId id="2147483745" r:id="rId4"/>
    <p:sldLayoutId id="2147483747" r:id="rId5"/>
    <p:sldLayoutId id="2147483748" r:id="rId6"/>
    <p:sldLayoutId id="2147483753" r:id="rId7"/>
  </p:sldLayoutIdLst>
  <p:hf hdr="0"/>
  <p:txStyles>
    <p:titleStyle>
      <a:lvl1pPr algn="l" defTabSz="457200" rtl="0" eaLnBrk="1" latinLnBrk="0" hangingPunct="1">
        <a:spcBef>
          <a:spcPct val="0"/>
        </a:spcBef>
        <a:buNone/>
        <a:defRPr sz="3200" kern="1200">
          <a:solidFill>
            <a:srgbClr val="FF0066"/>
          </a:solidFill>
          <a:latin typeface="Arial"/>
          <a:ea typeface="+mj-ea"/>
          <a:cs typeface="Arial"/>
        </a:defRPr>
      </a:lvl1pPr>
    </p:titleStyle>
    <p:bodyStyle>
      <a:lvl1pPr marL="342900" indent="-342900" algn="l" defTabSz="457200" rtl="0" eaLnBrk="1" latinLnBrk="0" hangingPunct="1">
        <a:spcBef>
          <a:spcPts val="300"/>
        </a:spcBef>
        <a:spcAft>
          <a:spcPts val="800"/>
        </a:spcAft>
        <a:buFont typeface="Arial"/>
        <a:buChar char="•"/>
        <a:defRPr sz="2000" kern="1200">
          <a:solidFill>
            <a:schemeClr val="tx1"/>
          </a:solidFill>
          <a:latin typeface="Arial"/>
          <a:ea typeface="+mn-ea"/>
          <a:cs typeface="Arial"/>
        </a:defRPr>
      </a:lvl1pPr>
      <a:lvl2pPr marL="742950" indent="-285750" algn="l" defTabSz="457200" rtl="0" eaLnBrk="1" latinLnBrk="0" hangingPunct="1">
        <a:spcBef>
          <a:spcPts val="300"/>
        </a:spcBef>
        <a:spcAft>
          <a:spcPts val="800"/>
        </a:spcAft>
        <a:buFont typeface="Arial"/>
        <a:buChar char="–"/>
        <a:defRPr sz="2000" kern="1200">
          <a:solidFill>
            <a:schemeClr val="tx1"/>
          </a:solidFill>
          <a:latin typeface="Arial"/>
          <a:ea typeface="+mn-ea"/>
          <a:cs typeface="Arial"/>
        </a:defRPr>
      </a:lvl2pPr>
      <a:lvl3pPr marL="1143000" indent="-228600" algn="l" defTabSz="457200" rtl="0" eaLnBrk="1" latinLnBrk="0" hangingPunct="1">
        <a:spcBef>
          <a:spcPts val="300"/>
        </a:spcBef>
        <a:spcAft>
          <a:spcPts val="800"/>
        </a:spcAft>
        <a:buFont typeface="Arial"/>
        <a:buChar char="•"/>
        <a:defRPr sz="2000" kern="1200">
          <a:solidFill>
            <a:schemeClr val="tx1"/>
          </a:solidFill>
          <a:latin typeface="Arial"/>
          <a:ea typeface="+mn-ea"/>
          <a:cs typeface="Arial"/>
        </a:defRPr>
      </a:lvl3pPr>
      <a:lvl4pPr marL="1600200" indent="-228600" algn="l" defTabSz="457200" rtl="0" eaLnBrk="1" latinLnBrk="0" hangingPunct="1">
        <a:spcBef>
          <a:spcPts val="300"/>
        </a:spcBef>
        <a:spcAft>
          <a:spcPts val="800"/>
        </a:spcAft>
        <a:buFont typeface="Arial"/>
        <a:buChar char="–"/>
        <a:defRPr sz="2000" kern="1200">
          <a:solidFill>
            <a:schemeClr val="tx1"/>
          </a:solidFill>
          <a:latin typeface="Arial"/>
          <a:ea typeface="+mn-ea"/>
          <a:cs typeface="Arial"/>
        </a:defRPr>
      </a:lvl4pPr>
      <a:lvl5pPr marL="2057400" indent="-228600" algn="l" defTabSz="457200" rtl="0" eaLnBrk="1" latinLnBrk="0" hangingPunct="1">
        <a:spcBef>
          <a:spcPts val="300"/>
        </a:spcBef>
        <a:spcAft>
          <a:spcPts val="800"/>
        </a:spcAft>
        <a:buFont typeface="Arial"/>
        <a:buChar char="»"/>
        <a:defRPr sz="2000" kern="1200">
          <a:solidFill>
            <a:schemeClr val="tx1"/>
          </a:solidFill>
          <a:latin typeface="Arial"/>
          <a:ea typeface="+mn-ea"/>
          <a:cs typeface="Arial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4" Type="http://schemas.openxmlformats.org/officeDocument/2006/relationships/oleObject" Target="../embeddings/oleObject1.bin"/><Relationship Id="rId5" Type="http://schemas.openxmlformats.org/officeDocument/2006/relationships/image" Target="../media/image13.wmf"/><Relationship Id="rId1" Type="http://schemas.openxmlformats.org/officeDocument/2006/relationships/vmlDrawing" Target="../drawings/vmlDrawing1.vml"/><Relationship Id="rId2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4" Type="http://schemas.openxmlformats.org/officeDocument/2006/relationships/image" Target="../media/image16.jpeg"/><Relationship Id="rId5" Type="http://schemas.openxmlformats.org/officeDocument/2006/relationships/image" Target="../media/image17.png"/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183982" y="529204"/>
            <a:ext cx="6605352" cy="2492069"/>
          </a:xfrm>
        </p:spPr>
        <p:txBody>
          <a:bodyPr>
            <a:normAutofit fontScale="90000"/>
          </a:bodyPr>
          <a:lstStyle/>
          <a:p>
            <a:pPr algn="ctr" eaLnBrk="1" hangingPunct="1"/>
            <a:r>
              <a:rPr lang="en-US" dirty="0" smtClean="0">
                <a:latin typeface="Arial" charset="0"/>
                <a:ea typeface="ＭＳ Ｐゴシック" charset="0"/>
                <a:cs typeface="ＭＳ Ｐゴシック" charset="0"/>
              </a:rPr>
              <a:t>Multiphase Transport </a:t>
            </a:r>
            <a:r>
              <a:rPr lang="en-US" dirty="0">
                <a:latin typeface="Arial" charset="0"/>
                <a:ea typeface="ＭＳ Ｐゴシック" charset="0"/>
                <a:cs typeface="ＭＳ Ｐゴシック" charset="0"/>
              </a:rPr>
              <a:t>Scheme </a:t>
            </a:r>
            <a:r>
              <a:rPr lang="en-US" dirty="0" smtClean="0">
                <a:latin typeface="Arial" charset="0"/>
                <a:ea typeface="ＭＳ Ｐゴシック" charset="0"/>
                <a:cs typeface="ＭＳ Ｐゴシック" charset="0"/>
              </a:rPr>
              <a:t>for Hybrid </a:t>
            </a:r>
            <a:r>
              <a:rPr lang="en-US" dirty="0">
                <a:latin typeface="Arial" charset="0"/>
                <a:ea typeface="ＭＳ Ｐゴシック" charset="0"/>
                <a:cs typeface="ＭＳ Ｐゴシック" charset="0"/>
              </a:rPr>
              <a:t>Finite-</a:t>
            </a:r>
            <a:r>
              <a:rPr lang="en-US" dirty="0" smtClean="0">
                <a:latin typeface="Arial" charset="0"/>
                <a:ea typeface="ＭＳ Ｐゴシック" charset="0"/>
                <a:cs typeface="ＭＳ Ｐゴシック" charset="0"/>
              </a:rPr>
              <a:t>Element Finite-Volume Meshes:</a:t>
            </a:r>
            <a:br>
              <a:rPr lang="en-US" dirty="0" smtClean="0">
                <a:latin typeface="Arial" charset="0"/>
                <a:ea typeface="ＭＳ Ｐゴシック" charset="0"/>
                <a:cs typeface="ＭＳ Ｐゴシック" charset="0"/>
              </a:rPr>
            </a:br>
            <a:r>
              <a:rPr lang="en-US" dirty="0" smtClean="0"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br>
              <a:rPr lang="en-US" dirty="0" smtClean="0">
                <a:latin typeface="Arial" charset="0"/>
                <a:ea typeface="ＭＳ Ｐゴシック" charset="0"/>
                <a:cs typeface="ＭＳ Ｐゴシック" charset="0"/>
              </a:rPr>
            </a:br>
            <a:r>
              <a:rPr lang="en-US" dirty="0" smtClean="0">
                <a:solidFill>
                  <a:srgbClr val="FF6600"/>
                </a:solidFill>
                <a:latin typeface="Arial" charset="0"/>
                <a:ea typeface="ＭＳ Ｐゴシック" charset="0"/>
                <a:cs typeface="ＭＳ Ｐゴシック" charset="0"/>
              </a:rPr>
              <a:t>Replacement of NCFVT framework</a:t>
            </a:r>
            <a:endParaRPr lang="en-US" dirty="0">
              <a:solidFill>
                <a:srgbClr val="FF6600"/>
              </a:solidFill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590537" y="3930503"/>
            <a:ext cx="7918450" cy="2517893"/>
          </a:xfrm>
        </p:spPr>
        <p:txBody>
          <a:bodyPr>
            <a:normAutofit/>
          </a:bodyPr>
          <a:lstStyle/>
          <a:p>
            <a:pPr eaLnBrk="1" hangingPunct="1">
              <a:buFont typeface="Wingdings" charset="0"/>
              <a:buNone/>
            </a:pPr>
            <a:r>
              <a:rPr lang="en-US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Stephan K </a:t>
            </a:r>
            <a:r>
              <a:rPr lang="en-US" dirty="0" err="1" smtClean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Matthäi</a:t>
            </a:r>
            <a:r>
              <a:rPr lang="en-US" dirty="0" smtClean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, Philip Weiss, Thomas </a:t>
            </a:r>
            <a:r>
              <a:rPr lang="en-US" dirty="0" err="1" smtClean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Driesner</a:t>
            </a:r>
            <a:r>
              <a:rPr lang="en-US" dirty="0" smtClean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, Sebastian Geiger</a:t>
            </a:r>
            <a:endParaRPr lang="en-US" dirty="0">
              <a:solidFill>
                <a:schemeClr val="tx1"/>
              </a:solidFill>
              <a:latin typeface="Arial" charset="0"/>
              <a:ea typeface="ＭＳ Ｐゴシック" charset="0"/>
              <a:cs typeface="ＭＳ Ｐゴシック" charset="0"/>
            </a:endParaRPr>
          </a:p>
          <a:p>
            <a:pPr eaLnBrk="1" hangingPunct="1">
              <a:buFont typeface="Wingdings" charset="0"/>
              <a:buNone/>
            </a:pPr>
            <a:r>
              <a:rPr lang="en-US" i="1" dirty="0" smtClean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CSMP Development Consortium</a:t>
            </a:r>
            <a:endParaRPr lang="en-US" i="1" dirty="0">
              <a:solidFill>
                <a:schemeClr val="tx1"/>
              </a:solidFill>
              <a:latin typeface="Arial" charset="0"/>
              <a:ea typeface="ＭＳ Ｐゴシック" charset="0"/>
              <a:cs typeface="ＭＳ Ｐゴシック" charset="0"/>
            </a:endParaRPr>
          </a:p>
          <a:p>
            <a:pPr eaLnBrk="1" hangingPunct="1">
              <a:buFont typeface="Wingdings" charset="0"/>
              <a:buNone/>
            </a:pPr>
            <a:endParaRPr lang="en-US" i="1" dirty="0" smtClean="0">
              <a:solidFill>
                <a:schemeClr val="tx1"/>
              </a:solidFill>
              <a:latin typeface="Arial" charset="0"/>
              <a:ea typeface="ＭＳ Ｐゴシック" charset="0"/>
              <a:cs typeface="ＭＳ Ｐゴシック" charset="0"/>
            </a:endParaRPr>
          </a:p>
          <a:p>
            <a:pPr eaLnBrk="1" hangingPunct="1">
              <a:buFont typeface="Wingdings" charset="0"/>
              <a:buNone/>
            </a:pPr>
            <a:r>
              <a:rPr lang="en-US" i="1" dirty="0" smtClean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Ideas developed on the basis of a joint meeting at HWU, May 2012 </a:t>
            </a:r>
            <a:endParaRPr lang="en-US" dirty="0">
              <a:solidFill>
                <a:schemeClr val="tx1"/>
              </a:solidFill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4294967295"/>
          </p:nvPr>
        </p:nvSpPr>
        <p:spPr>
          <a:xfrm>
            <a:off x="35496" y="649287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>
                    <a:lumMod val="65000"/>
                  </a:schemeClr>
                </a:solidFill>
                <a:latin typeface="Arial"/>
                <a:cs typeface="Arial"/>
              </a:defRPr>
            </a:lvl1pPr>
          </a:lstStyle>
          <a:p>
            <a:pPr defTabSz="457200" fontAlgn="auto">
              <a:spcBef>
                <a:spcPts val="0"/>
              </a:spcBef>
              <a:spcAft>
                <a:spcPts val="0"/>
              </a:spcAft>
            </a:pPr>
            <a:fld id="{57951F7C-CFBF-8144-A102-5B4CA8E4DF9C}" type="datetime1">
              <a:rPr lang="en-US" smtClean="0">
                <a:solidFill>
                  <a:prstClr val="white">
                    <a:lumMod val="65000"/>
                  </a:prstClr>
                </a:solidFill>
                <a:ea typeface="+mn-ea"/>
              </a:rPr>
              <a:pPr defTabSz="457200" fontAlgn="auto">
                <a:spcBef>
                  <a:spcPts val="0"/>
                </a:spcBef>
                <a:spcAft>
                  <a:spcPts val="0"/>
                </a:spcAft>
              </a:pPr>
              <a:t>11/6/12</a:t>
            </a:fld>
            <a:endParaRPr lang="en-US" dirty="0">
              <a:solidFill>
                <a:prstClr val="white">
                  <a:lumMod val="65000"/>
                </a:prstClr>
              </a:solidFill>
              <a:ea typeface="+mn-ea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294967295"/>
          </p:nvPr>
        </p:nvSpPr>
        <p:spPr>
          <a:xfrm>
            <a:off x="3124200" y="6492875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65000"/>
                  </a:schemeClr>
                </a:solidFill>
                <a:latin typeface="Arial"/>
                <a:cs typeface="Arial"/>
              </a:defRPr>
            </a:lvl1pPr>
          </a:lstStyle>
          <a:p>
            <a:pPr defTabSz="457200" fontAlgn="auto">
              <a:spcBef>
                <a:spcPts val="0"/>
              </a:spcBef>
              <a:spcAft>
                <a:spcPts val="0"/>
              </a:spcAft>
            </a:pPr>
            <a:r>
              <a:rPr lang="en-US" dirty="0" smtClean="0">
                <a:solidFill>
                  <a:prstClr val="white">
                    <a:lumMod val="65000"/>
                  </a:prstClr>
                </a:solidFill>
                <a:ea typeface="+mn-ea"/>
              </a:rPr>
              <a:t>CSMP Generic Transport Scheme</a:t>
            </a:r>
            <a:endParaRPr lang="en-US" dirty="0">
              <a:solidFill>
                <a:prstClr val="white">
                  <a:lumMod val="65000"/>
                </a:prstClr>
              </a:solidFill>
              <a:ea typeface="+mn-ea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6974904" y="649287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>
                    <a:lumMod val="65000"/>
                  </a:schemeClr>
                </a:solidFill>
                <a:latin typeface="Arial"/>
                <a:cs typeface="Arial"/>
              </a:defRPr>
            </a:lvl1pPr>
          </a:lstStyle>
          <a:p>
            <a:pPr defTabSz="457200" fontAlgn="auto">
              <a:spcBef>
                <a:spcPts val="0"/>
              </a:spcBef>
              <a:spcAft>
                <a:spcPts val="0"/>
              </a:spcAft>
            </a:pPr>
            <a:r>
              <a:rPr lang="en-US" dirty="0" smtClean="0">
                <a:solidFill>
                  <a:prstClr val="white">
                    <a:lumMod val="65000"/>
                  </a:prstClr>
                </a:solidFill>
                <a:ea typeface="+mn-ea"/>
              </a:rPr>
              <a:t>  </a:t>
            </a:r>
            <a:fld id="{223FD816-CC6A-BF43-8241-637E3E7EAA5A}" type="slidenum">
              <a:rPr lang="en-US" smtClean="0">
                <a:solidFill>
                  <a:prstClr val="white">
                    <a:lumMod val="65000"/>
                  </a:prstClr>
                </a:solidFill>
                <a:ea typeface="+mn-ea"/>
              </a:rPr>
              <a:pPr defTabSz="457200" fontAlgn="auto">
                <a:spcBef>
                  <a:spcPts val="0"/>
                </a:spcBef>
                <a:spcAft>
                  <a:spcPts val="0"/>
                </a:spcAft>
              </a:pPr>
              <a:t>1</a:t>
            </a:fld>
            <a:endParaRPr lang="en-US" dirty="0">
              <a:solidFill>
                <a:prstClr val="white">
                  <a:lumMod val="65000"/>
                </a:prstClr>
              </a:solidFill>
              <a:ea typeface="+mn-ea"/>
            </a:endParaRP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Day – identified issues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PropertyHandle</a:t>
            </a:r>
            <a:endParaRPr lang="en-US" dirty="0" smtClean="0"/>
          </a:p>
          <a:p>
            <a:pPr lvl="1"/>
            <a:r>
              <a:rPr lang="en-US" dirty="0" smtClean="0"/>
              <a:t>Does not yet support operations involving different </a:t>
            </a:r>
            <a:r>
              <a:rPr lang="en-US" dirty="0" err="1" smtClean="0"/>
              <a:t>flavours</a:t>
            </a:r>
            <a:r>
              <a:rPr lang="en-US" dirty="0" smtClean="0"/>
              <a:t> of  integration points</a:t>
            </a:r>
          </a:p>
          <a:p>
            <a:pPr lvl="1"/>
            <a:r>
              <a:rPr lang="en-US" dirty="0" smtClean="0"/>
              <a:t>User has to be able to choose variable interpolation method</a:t>
            </a:r>
          </a:p>
          <a:p>
            <a:pPr marL="457200" lvl="1" indent="0">
              <a:buNone/>
            </a:pPr>
            <a:endParaRPr lang="en-US" dirty="0"/>
          </a:p>
          <a:p>
            <a:pPr marL="57150" indent="0">
              <a:buNone/>
            </a:pPr>
            <a:r>
              <a:rPr lang="en-US" dirty="0" smtClean="0"/>
              <a:t>SKM to create and send solver test cases from quadratic finite elements and models with gravity with highly permeable </a:t>
            </a:r>
            <a:r>
              <a:rPr lang="en-US" dirty="0" err="1" smtClean="0"/>
              <a:t>subvertical</a:t>
            </a:r>
            <a:r>
              <a:rPr lang="en-US" dirty="0" smtClean="0"/>
              <a:t> faults to Sebastian </a:t>
            </a:r>
            <a:r>
              <a:rPr lang="en-US" dirty="0" err="1" smtClean="0"/>
              <a:t>Gries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13430-5F54-9740-B307-5C0C53476417}" type="datetime1">
              <a:rPr lang="en-US" smtClean="0">
                <a:solidFill>
                  <a:prstClr val="white">
                    <a:lumMod val="65000"/>
                  </a:prstClr>
                </a:solidFill>
              </a:rPr>
              <a:pPr/>
              <a:t>11/6/12</a:t>
            </a:fld>
            <a:endParaRPr lang="en-US">
              <a:solidFill>
                <a:prstClr val="white">
                  <a:lumMod val="6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prstClr val="white">
                    <a:lumMod val="65000"/>
                  </a:prstClr>
                </a:solidFill>
              </a:rPr>
              <a:t>CSMP Generic Transport Scheme</a:t>
            </a:r>
            <a:endParaRPr lang="en-US" dirty="0" smtClean="0">
              <a:solidFill>
                <a:prstClr val="white">
                  <a:lumMod val="6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FD816-CC6A-BF43-8241-637E3E7EAA5A}" type="slidenum">
              <a:rPr lang="en-US" smtClean="0">
                <a:solidFill>
                  <a:prstClr val="white">
                    <a:lumMod val="65000"/>
                  </a:prstClr>
                </a:solidFill>
              </a:rPr>
              <a:pPr/>
              <a:t>2</a:t>
            </a:fld>
            <a:endParaRPr lang="en-US">
              <a:solidFill>
                <a:prstClr val="white">
                  <a:lumMod val="6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069049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GUI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smtClean="0"/>
              <a:t>Needs native QT Creator, QT and VTK libraries; VTK must be compiled for use with QT</a:t>
            </a:r>
          </a:p>
          <a:p>
            <a:r>
              <a:rPr lang="en-US" dirty="0" smtClean="0"/>
              <a:t>Only one property can be </a:t>
            </a:r>
            <a:r>
              <a:rPr lang="en-US" dirty="0" err="1" smtClean="0"/>
              <a:t>visualised</a:t>
            </a:r>
            <a:r>
              <a:rPr lang="en-US" dirty="0" smtClean="0"/>
              <a:t> at any one time </a:t>
            </a:r>
          </a:p>
          <a:p>
            <a:r>
              <a:rPr lang="en-US" dirty="0" smtClean="0"/>
              <a:t>Multiple variables in </a:t>
            </a:r>
            <a:r>
              <a:rPr lang="en-US" dirty="0" err="1" smtClean="0"/>
              <a:t>Paraview</a:t>
            </a:r>
            <a:r>
              <a:rPr lang="en-US" dirty="0" smtClean="0"/>
              <a:t>: write scripts for joint </a:t>
            </a:r>
            <a:r>
              <a:rPr lang="en-US" dirty="0" err="1" smtClean="0"/>
              <a:t>visualisation</a:t>
            </a:r>
            <a:endParaRPr lang="en-US" dirty="0" smtClean="0"/>
          </a:p>
          <a:p>
            <a:r>
              <a:rPr lang="en-US" dirty="0" smtClean="0"/>
              <a:t>Development on the basis Philipp’s specs</a:t>
            </a:r>
          </a:p>
          <a:p>
            <a:r>
              <a:rPr lang="en-US" dirty="0" smtClean="0"/>
              <a:t>Is dependent on ANSYS model (stores it)</a:t>
            </a:r>
          </a:p>
          <a:p>
            <a:r>
              <a:rPr lang="en-US" dirty="0"/>
              <a:t>O</a:t>
            </a:r>
            <a:r>
              <a:rPr lang="en-US" dirty="0" smtClean="0"/>
              <a:t>nly works on Linux</a:t>
            </a:r>
          </a:p>
          <a:p>
            <a:r>
              <a:rPr lang="en-US" dirty="0" smtClean="0"/>
              <a:t>Teaching software (windows), series of plugins, loaded sequentially</a:t>
            </a:r>
          </a:p>
          <a:p>
            <a:r>
              <a:rPr lang="en-US" dirty="0" smtClean="0"/>
              <a:t>Project files *.</a:t>
            </a:r>
            <a:r>
              <a:rPr lang="en-US" dirty="0" err="1" smtClean="0"/>
              <a:t>csmp</a:t>
            </a:r>
            <a:r>
              <a:rPr lang="en-US" dirty="0" smtClean="0"/>
              <a:t>    managed by QT-SQL interface</a:t>
            </a:r>
          </a:p>
          <a:p>
            <a:r>
              <a:rPr lang="en-US" dirty="0" smtClean="0"/>
              <a:t>First display before properties have been loaded:  show regions in color, give text with names the same color</a:t>
            </a:r>
          </a:p>
          <a:p>
            <a:r>
              <a:rPr lang="en-US" dirty="0" smtClean="0"/>
              <a:t>Use QML to customize the look of the interface</a:t>
            </a:r>
          </a:p>
          <a:p>
            <a:r>
              <a:rPr lang="en-US" dirty="0" smtClean="0"/>
              <a:t>Properties cannot be read from *-</a:t>
            </a:r>
            <a:r>
              <a:rPr lang="en-US" dirty="0" err="1" smtClean="0"/>
              <a:t>variables.txt</a:t>
            </a:r>
            <a:r>
              <a:rPr lang="en-US" dirty="0" smtClean="0"/>
              <a:t> file</a:t>
            </a:r>
          </a:p>
          <a:p>
            <a:r>
              <a:rPr lang="en-US" dirty="0" smtClean="0"/>
              <a:t>Configuration from file</a:t>
            </a:r>
          </a:p>
          <a:p>
            <a:r>
              <a:rPr lang="en-US" dirty="0" smtClean="0"/>
              <a:t>GTK library issues?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13430-5F54-9740-B307-5C0C53476417}" type="datetime1">
              <a:rPr lang="en-US" smtClean="0">
                <a:solidFill>
                  <a:prstClr val="white">
                    <a:lumMod val="65000"/>
                  </a:prstClr>
                </a:solidFill>
              </a:rPr>
              <a:pPr/>
              <a:t>11/6/12</a:t>
            </a:fld>
            <a:endParaRPr lang="en-US">
              <a:solidFill>
                <a:prstClr val="white">
                  <a:lumMod val="6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prstClr val="white">
                    <a:lumMod val="65000"/>
                  </a:prstClr>
                </a:solidFill>
              </a:rPr>
              <a:t>CSMP Generic Transport Scheme</a:t>
            </a:r>
            <a:endParaRPr lang="en-US" dirty="0" smtClean="0">
              <a:solidFill>
                <a:prstClr val="white">
                  <a:lumMod val="6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FD816-CC6A-BF43-8241-637E3E7EAA5A}" type="slidenum">
              <a:rPr lang="en-US" smtClean="0">
                <a:solidFill>
                  <a:prstClr val="white">
                    <a:lumMod val="65000"/>
                  </a:prstClr>
                </a:solidFill>
              </a:rPr>
              <a:pPr/>
              <a:t>3</a:t>
            </a:fld>
            <a:endParaRPr lang="en-US">
              <a:solidFill>
                <a:prstClr val="white">
                  <a:lumMod val="6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3717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GUI (2)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include   ( ../../</a:t>
            </a:r>
            <a:r>
              <a:rPr lang="en-US" dirty="0" err="1" smtClean="0"/>
              <a:t>uiplugin.prj</a:t>
            </a:r>
            <a:r>
              <a:rPr lang="en-US" dirty="0" smtClean="0"/>
              <a:t>)</a:t>
            </a:r>
          </a:p>
          <a:p>
            <a:r>
              <a:rPr lang="en-US" dirty="0" smtClean="0"/>
              <a:t>SOURCES, HEADERS</a:t>
            </a:r>
          </a:p>
          <a:p>
            <a:endParaRPr lang="en-US" dirty="0"/>
          </a:p>
          <a:p>
            <a:r>
              <a:rPr lang="en-US" dirty="0" err="1" smtClean="0"/>
              <a:t>QWidget</a:t>
            </a:r>
            <a:r>
              <a:rPr lang="en-US" dirty="0" smtClean="0"/>
              <a:t>::</a:t>
            </a:r>
            <a:r>
              <a:rPr lang="en-US" dirty="0" err="1" smtClean="0"/>
              <a:t>MyName</a:t>
            </a:r>
            <a:r>
              <a:rPr lang="en-US" dirty="0" smtClean="0"/>
              <a:t>::exec()    function to run your code</a:t>
            </a:r>
          </a:p>
          <a:p>
            <a:endParaRPr lang="en-US" dirty="0"/>
          </a:p>
          <a:p>
            <a:r>
              <a:rPr lang="en-US" dirty="0" smtClean="0"/>
              <a:t>this-&gt;</a:t>
            </a:r>
            <a:r>
              <a:rPr lang="en-US" dirty="0" err="1" smtClean="0"/>
              <a:t>VModel</a:t>
            </a:r>
            <a:r>
              <a:rPr lang="en-US" dirty="0" smtClean="0"/>
              <a:t>()-&gt;…  (access to its interfaces)</a:t>
            </a:r>
          </a:p>
          <a:p>
            <a:r>
              <a:rPr lang="en-US" dirty="0" smtClean="0"/>
              <a:t>Q_EXPORT_PLUGIN#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13430-5F54-9740-B307-5C0C53476417}" type="datetime1">
              <a:rPr lang="en-US" smtClean="0">
                <a:solidFill>
                  <a:prstClr val="white">
                    <a:lumMod val="65000"/>
                  </a:prstClr>
                </a:solidFill>
              </a:rPr>
              <a:pPr/>
              <a:t>11/6/12</a:t>
            </a:fld>
            <a:endParaRPr lang="en-US">
              <a:solidFill>
                <a:prstClr val="white">
                  <a:lumMod val="6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prstClr val="white">
                    <a:lumMod val="65000"/>
                  </a:prstClr>
                </a:solidFill>
              </a:rPr>
              <a:t>CSMP Generic Transport Scheme</a:t>
            </a:r>
            <a:endParaRPr lang="en-US" dirty="0" smtClean="0">
              <a:solidFill>
                <a:prstClr val="white">
                  <a:lumMod val="6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FD816-CC6A-BF43-8241-637E3E7EAA5A}" type="slidenum">
              <a:rPr lang="en-US" smtClean="0">
                <a:solidFill>
                  <a:prstClr val="white">
                    <a:lumMod val="65000"/>
                  </a:prstClr>
                </a:solidFill>
              </a:rPr>
              <a:pPr/>
              <a:t>4</a:t>
            </a:fld>
            <a:endParaRPr lang="en-US">
              <a:solidFill>
                <a:prstClr val="white">
                  <a:lumMod val="6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86418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GUI (3) – What we need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PropertyDatabase</a:t>
            </a:r>
            <a:r>
              <a:rPr lang="en-US" dirty="0" smtClean="0"/>
              <a:t> – bring back </a:t>
            </a:r>
            <a:r>
              <a:rPr lang="en-US" b="1" dirty="0" smtClean="0"/>
              <a:t>usage</a:t>
            </a:r>
            <a:r>
              <a:rPr lang="en-US" dirty="0" smtClean="0"/>
              <a:t> category for variables</a:t>
            </a:r>
          </a:p>
          <a:p>
            <a:r>
              <a:rPr lang="en-US" dirty="0" smtClean="0"/>
              <a:t>categories:</a:t>
            </a:r>
          </a:p>
          <a:p>
            <a:pPr lvl="1"/>
            <a:r>
              <a:rPr lang="en-US" dirty="0" smtClean="0"/>
              <a:t>computed / required</a:t>
            </a:r>
          </a:p>
          <a:p>
            <a:pPr lvl="1"/>
            <a:r>
              <a:rPr lang="en-US" dirty="0" smtClean="0"/>
              <a:t>dependent / independent, material property, fluid property, constitutive variable</a:t>
            </a:r>
          </a:p>
          <a:p>
            <a:pPr lvl="1"/>
            <a:endParaRPr lang="en-US" dirty="0"/>
          </a:p>
          <a:p>
            <a:r>
              <a:rPr lang="en-US" dirty="0" smtClean="0"/>
              <a:t>Optional adjust ranges of variables</a:t>
            </a:r>
          </a:p>
          <a:p>
            <a:endParaRPr lang="en-US" dirty="0"/>
          </a:p>
          <a:p>
            <a:r>
              <a:rPr lang="en-US" dirty="0" smtClean="0"/>
              <a:t>Make pre-compiled binaries of VTK with QT available from our website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13430-5F54-9740-B307-5C0C53476417}" type="datetime1">
              <a:rPr lang="en-US" smtClean="0">
                <a:solidFill>
                  <a:prstClr val="white">
                    <a:lumMod val="65000"/>
                  </a:prstClr>
                </a:solidFill>
              </a:rPr>
              <a:pPr/>
              <a:t>11/6/12</a:t>
            </a:fld>
            <a:endParaRPr lang="en-US">
              <a:solidFill>
                <a:prstClr val="white">
                  <a:lumMod val="6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prstClr val="white">
                    <a:lumMod val="65000"/>
                  </a:prstClr>
                </a:solidFill>
              </a:rPr>
              <a:t>CSMP Generic Transport Scheme</a:t>
            </a:r>
            <a:endParaRPr lang="en-US" dirty="0" smtClean="0">
              <a:solidFill>
                <a:prstClr val="white">
                  <a:lumMod val="6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FD816-CC6A-BF43-8241-637E3E7EAA5A}" type="slidenum">
              <a:rPr lang="en-US" smtClean="0">
                <a:solidFill>
                  <a:prstClr val="white">
                    <a:lumMod val="65000"/>
                  </a:prstClr>
                </a:solidFill>
              </a:rPr>
              <a:pPr/>
              <a:t>5</a:t>
            </a:fld>
            <a:endParaRPr lang="en-US">
              <a:solidFill>
                <a:prstClr val="white">
                  <a:lumMod val="6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172930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Objectives and prerequisites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 smtClean="0"/>
              <a:t>Refactor- current transport scheme so that it supports more flexible calculations:</a:t>
            </a:r>
          </a:p>
          <a:p>
            <a:r>
              <a:rPr lang="en-US" sz="2400" dirty="0" smtClean="0"/>
              <a:t>Eliminate (Explicit)</a:t>
            </a:r>
            <a:r>
              <a:rPr lang="en-US" sz="2400" b="1" dirty="0" err="1" smtClean="0"/>
              <a:t>StencilProcessor</a:t>
            </a:r>
            <a:r>
              <a:rPr lang="en-US" sz="2400" dirty="0" smtClean="0"/>
              <a:t> and </a:t>
            </a:r>
            <a:r>
              <a:rPr lang="en-US" sz="2400" b="1" dirty="0" err="1" smtClean="0"/>
              <a:t>NodeCenteredFiniteVolumeTransport</a:t>
            </a:r>
            <a:r>
              <a:rPr lang="en-US" sz="2400" dirty="0" smtClean="0"/>
              <a:t> – based subclasses</a:t>
            </a:r>
          </a:p>
          <a:p>
            <a:r>
              <a:rPr lang="en-US" sz="2400" dirty="0" smtClean="0"/>
              <a:t>Make functionality of </a:t>
            </a:r>
            <a:r>
              <a:rPr lang="en-US" sz="2400" b="1" dirty="0" err="1" smtClean="0"/>
              <a:t>FiniteVolumeAlgorithm</a:t>
            </a:r>
            <a:r>
              <a:rPr lang="en-US" sz="2400" dirty="0" smtClean="0"/>
              <a:t> more transparent </a:t>
            </a:r>
          </a:p>
          <a:p>
            <a:r>
              <a:rPr lang="en-US" sz="2400" dirty="0" smtClean="0"/>
              <a:t>Support component transport in up to 3 phases</a:t>
            </a:r>
          </a:p>
          <a:p>
            <a:r>
              <a:rPr lang="en-US" sz="2400" dirty="0" smtClean="0"/>
              <a:t>Phase by phase formulation </a:t>
            </a:r>
          </a:p>
          <a:p>
            <a:r>
              <a:rPr lang="en-US" sz="2400" dirty="0" smtClean="0"/>
              <a:t>Saturation- vs. mass fraction based formulation?</a:t>
            </a:r>
          </a:p>
          <a:p>
            <a:r>
              <a:rPr lang="en-US" sz="2400" dirty="0" smtClean="0"/>
              <a:t>Slightly- vs. fully compressible scheme?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13430-5F54-9740-B307-5C0C53476417}" type="datetime1">
              <a:rPr lang="en-US" smtClean="0">
                <a:solidFill>
                  <a:prstClr val="white">
                    <a:lumMod val="65000"/>
                  </a:prstClr>
                </a:solidFill>
              </a:rPr>
              <a:pPr/>
              <a:t>11/6/12</a:t>
            </a:fld>
            <a:endParaRPr lang="en-US">
              <a:solidFill>
                <a:prstClr val="white">
                  <a:lumMod val="6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>
                <a:solidFill>
                  <a:prstClr val="white">
                    <a:lumMod val="65000"/>
                  </a:prstClr>
                </a:solidFill>
              </a:rPr>
              <a:t>CSMP Generic Transport Scheme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FD816-CC6A-BF43-8241-637E3E7EAA5A}" type="slidenum">
              <a:rPr lang="en-US" smtClean="0">
                <a:solidFill>
                  <a:prstClr val="white">
                    <a:lumMod val="65000"/>
                  </a:prstClr>
                </a:solidFill>
              </a:rPr>
              <a:pPr/>
              <a:t>6</a:t>
            </a:fld>
            <a:endParaRPr lang="en-US">
              <a:solidFill>
                <a:prstClr val="white">
                  <a:lumMod val="6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179398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Transport of fluid phases with components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1" y="914400"/>
            <a:ext cx="3623572" cy="4454613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sz="1800" i="1" dirty="0" smtClean="0"/>
              <a:t>Idea: Geiger et al. 09’ (SPE107485)</a:t>
            </a:r>
          </a:p>
          <a:p>
            <a:r>
              <a:rPr lang="en-US" sz="1800" dirty="0" smtClean="0"/>
              <a:t>Mass per unit volume vector:</a:t>
            </a:r>
            <a:endParaRPr lang="en-US" sz="1800" dirty="0"/>
          </a:p>
          <a:p>
            <a:r>
              <a:rPr lang="en-US" sz="1800" dirty="0" smtClean="0"/>
              <a:t>Concentrations of components, </a:t>
            </a:r>
            <a:r>
              <a:rPr lang="en-US" sz="1800" i="1" dirty="0" err="1" smtClean="0"/>
              <a:t>i</a:t>
            </a:r>
            <a:r>
              <a:rPr lang="en-US" sz="1800" dirty="0" smtClean="0"/>
              <a:t> (oil, </a:t>
            </a:r>
            <a:r>
              <a:rPr lang="en-US" sz="1800" dirty="0" err="1" smtClean="0"/>
              <a:t>gas,water</a:t>
            </a:r>
            <a:r>
              <a:rPr lang="en-US" sz="1800" dirty="0" smtClean="0"/>
              <a:t>) in phases, </a:t>
            </a:r>
            <a:r>
              <a:rPr lang="en-US" sz="1800" i="1" dirty="0" smtClean="0"/>
              <a:t>j</a:t>
            </a:r>
            <a:r>
              <a:rPr lang="en-US" sz="1800" dirty="0" smtClean="0"/>
              <a:t> (h=heavy, l=light, a=aqueous):</a:t>
            </a:r>
          </a:p>
          <a:p>
            <a:r>
              <a:rPr lang="en-US" sz="1800" dirty="0" smtClean="0"/>
              <a:t>Total component concentrations therefore are:</a:t>
            </a:r>
          </a:p>
          <a:p>
            <a:r>
              <a:rPr lang="en-US" sz="1800" dirty="0" smtClean="0"/>
              <a:t>Partitioning of components among phases is described by:</a:t>
            </a:r>
          </a:p>
          <a:p>
            <a:endParaRPr lang="en-US" sz="1800" dirty="0"/>
          </a:p>
          <a:p>
            <a:r>
              <a:rPr lang="en-US" sz="1800" dirty="0" smtClean="0"/>
              <a:t>Solution ratios, Rx are used to quantify the partitioning:</a:t>
            </a:r>
          </a:p>
          <a:p>
            <a:endParaRPr lang="en-US" sz="18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13430-5F54-9740-B307-5C0C53476417}" type="datetime1">
              <a:rPr lang="en-US" smtClean="0">
                <a:solidFill>
                  <a:prstClr val="white">
                    <a:lumMod val="65000"/>
                  </a:prstClr>
                </a:solidFill>
              </a:rPr>
              <a:pPr/>
              <a:t>11/6/12</a:t>
            </a:fld>
            <a:endParaRPr lang="en-US">
              <a:solidFill>
                <a:prstClr val="white">
                  <a:lumMod val="6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prstClr val="white">
                    <a:lumMod val="65000"/>
                  </a:prstClr>
                </a:solidFill>
              </a:rPr>
              <a:t>CSMP Generic Transport </a:t>
            </a:r>
            <a:r>
              <a:rPr lang="en-US" dirty="0" smtClean="0">
                <a:solidFill>
                  <a:prstClr val="white">
                    <a:lumMod val="65000"/>
                  </a:prstClr>
                </a:solidFill>
              </a:rPr>
              <a:t>Scheme</a:t>
            </a:r>
            <a:endParaRPr lang="en-US" dirty="0">
              <a:solidFill>
                <a:prstClr val="white">
                  <a:lumMod val="6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FD816-CC6A-BF43-8241-637E3E7EAA5A}" type="slidenum">
              <a:rPr lang="en-US" smtClean="0">
                <a:solidFill>
                  <a:prstClr val="white">
                    <a:lumMod val="65000"/>
                  </a:prstClr>
                </a:solidFill>
              </a:rPr>
              <a:pPr/>
              <a:t>7</a:t>
            </a:fld>
            <a:endParaRPr lang="en-US">
              <a:solidFill>
                <a:prstClr val="white">
                  <a:lumMod val="65000"/>
                </a:prstClr>
              </a:solidFill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4051" y="1810176"/>
            <a:ext cx="2639625" cy="104973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4"/>
          <a:srcRect l="2365" t="12174" r="1184" b="9858"/>
          <a:stretch/>
        </p:blipFill>
        <p:spPr>
          <a:xfrm>
            <a:off x="4196727" y="1313003"/>
            <a:ext cx="2278379" cy="34355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26521" y="2988771"/>
            <a:ext cx="2846578" cy="59928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47334" y="3780968"/>
            <a:ext cx="1913840" cy="845434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47334" y="5050519"/>
            <a:ext cx="3235908" cy="645067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416252" y="6138765"/>
            <a:ext cx="44684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 smtClean="0">
                <a:latin typeface="Arial"/>
                <a:cs typeface="Arial"/>
              </a:rPr>
              <a:t>Store matrices as new ARRAY variables?</a:t>
            </a:r>
            <a:endParaRPr lang="en-US" i="1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3135854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Simplified transport equations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14400"/>
            <a:ext cx="2821992" cy="5579664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/>
              <a:t>Mass balances (excluding sources and sinks)</a:t>
            </a:r>
          </a:p>
          <a:p>
            <a:endParaRPr lang="en-US" dirty="0" smtClean="0"/>
          </a:p>
          <a:p>
            <a:r>
              <a:rPr lang="en-US" dirty="0" smtClean="0"/>
              <a:t>Component fluxes</a:t>
            </a:r>
          </a:p>
          <a:p>
            <a:endParaRPr lang="en-US" dirty="0"/>
          </a:p>
          <a:p>
            <a:endParaRPr lang="en-US" dirty="0" smtClean="0"/>
          </a:p>
          <a:p>
            <a:r>
              <a:rPr lang="en-US" dirty="0" smtClean="0"/>
              <a:t>Phase velocities</a:t>
            </a:r>
          </a:p>
          <a:p>
            <a:endParaRPr lang="en-US" dirty="0"/>
          </a:p>
          <a:p>
            <a:r>
              <a:rPr lang="en-US" dirty="0" smtClean="0"/>
              <a:t>Where the </a:t>
            </a:r>
            <a:r>
              <a:rPr lang="en-US" dirty="0" err="1" smtClean="0"/>
              <a:t>mobilities</a:t>
            </a:r>
            <a:r>
              <a:rPr lang="en-US" dirty="0" smtClean="0"/>
              <a:t> are (but this is not mass-based?!)</a:t>
            </a:r>
          </a:p>
          <a:p>
            <a:r>
              <a:rPr lang="en-US" dirty="0" smtClean="0"/>
              <a:t>We also need sources and sinks and capillary / gravitational terms!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13430-5F54-9740-B307-5C0C53476417}" type="datetime1">
              <a:rPr lang="en-US" smtClean="0">
                <a:solidFill>
                  <a:prstClr val="white">
                    <a:lumMod val="65000"/>
                  </a:prstClr>
                </a:solidFill>
              </a:rPr>
              <a:pPr/>
              <a:t>11/6/12</a:t>
            </a:fld>
            <a:endParaRPr lang="en-US">
              <a:solidFill>
                <a:prstClr val="white">
                  <a:lumMod val="6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prstClr val="white">
                    <a:lumMod val="65000"/>
                  </a:prstClr>
                </a:solidFill>
              </a:rPr>
              <a:t>CSMP Generic Transport Scheme</a:t>
            </a:r>
            <a:endParaRPr lang="en-US" dirty="0" smtClean="0">
              <a:solidFill>
                <a:prstClr val="white">
                  <a:lumMod val="6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FD816-CC6A-BF43-8241-637E3E7EAA5A}" type="slidenum">
              <a:rPr lang="en-US" smtClean="0">
                <a:solidFill>
                  <a:prstClr val="white">
                    <a:lumMod val="65000"/>
                  </a:prstClr>
                </a:solidFill>
              </a:rPr>
              <a:pPr/>
              <a:t>8</a:t>
            </a:fld>
            <a:endParaRPr lang="en-US">
              <a:solidFill>
                <a:prstClr val="white">
                  <a:lumMod val="65000"/>
                </a:prstClr>
              </a:solidFill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4110" y="780772"/>
            <a:ext cx="4013200" cy="7239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2787" y="2245368"/>
            <a:ext cx="1981200" cy="8890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24494" y="1473706"/>
            <a:ext cx="3086100" cy="77470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73426" y="3598510"/>
            <a:ext cx="3467100" cy="66040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10699" y="4710375"/>
            <a:ext cx="3746500" cy="9144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434862" y="6081034"/>
            <a:ext cx="5293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 smtClean="0">
                <a:latin typeface="Arial"/>
                <a:cs typeface="Arial"/>
              </a:rPr>
              <a:t>Isn’t this only a slightly compressible formulation?</a:t>
            </a:r>
            <a:endParaRPr lang="en-US" i="1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2488832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Hamdi</a:t>
            </a:r>
            <a:r>
              <a:rPr lang="en-US" dirty="0"/>
              <a:t> </a:t>
            </a:r>
            <a:r>
              <a:rPr lang="en-US" dirty="0" smtClean="0"/>
              <a:t>and </a:t>
            </a:r>
            <a:r>
              <a:rPr lang="en-US" dirty="0" err="1" smtClean="0"/>
              <a:t>Vostok’s</a:t>
            </a:r>
            <a:r>
              <a:rPr lang="en-US" dirty="0" smtClean="0"/>
              <a:t> approach (2012)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14399"/>
            <a:ext cx="8229600" cy="536034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 smtClean="0"/>
              <a:t>Compositional black-oil model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 smtClean="0"/>
          </a:p>
          <a:p>
            <a:pPr marL="0" indent="0">
              <a:buNone/>
            </a:pPr>
            <a:r>
              <a:rPr lang="en-US" sz="1800" dirty="0" smtClean="0"/>
              <a:t>Thermodynamic constraints</a:t>
            </a:r>
            <a:endParaRPr lang="en-US" sz="18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13430-5F54-9740-B307-5C0C53476417}" type="datetime1">
              <a:rPr lang="en-US" smtClean="0">
                <a:solidFill>
                  <a:prstClr val="white">
                    <a:lumMod val="65000"/>
                  </a:prstClr>
                </a:solidFill>
              </a:rPr>
              <a:pPr/>
              <a:t>11/6/12</a:t>
            </a:fld>
            <a:endParaRPr lang="en-US">
              <a:solidFill>
                <a:prstClr val="white">
                  <a:lumMod val="6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prstClr val="white">
                    <a:lumMod val="65000"/>
                  </a:prstClr>
                </a:solidFill>
              </a:rPr>
              <a:t>CSMP Generic Transport Scheme</a:t>
            </a:r>
            <a:endParaRPr lang="en-US" dirty="0" smtClean="0">
              <a:solidFill>
                <a:prstClr val="white">
                  <a:lumMod val="6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FD816-CC6A-BF43-8241-637E3E7EAA5A}" type="slidenum">
              <a:rPr lang="en-US" smtClean="0">
                <a:solidFill>
                  <a:prstClr val="white">
                    <a:lumMod val="65000"/>
                  </a:prstClr>
                </a:solidFill>
              </a:rPr>
              <a:pPr/>
              <a:t>9</a:t>
            </a:fld>
            <a:endParaRPr lang="en-US">
              <a:solidFill>
                <a:prstClr val="white">
                  <a:lumMod val="65000"/>
                </a:prstClr>
              </a:solidFill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333" y="1304797"/>
            <a:ext cx="7836370" cy="856802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4740" y="2503311"/>
            <a:ext cx="6704189" cy="576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12886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Outline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spcBef>
                <a:spcPts val="800"/>
              </a:spcBef>
              <a:spcAft>
                <a:spcPts val="1800"/>
              </a:spcAft>
              <a:buFont typeface="+mj-lt"/>
              <a:buAutoNum type="arabicPeriod"/>
            </a:pPr>
            <a:r>
              <a:rPr lang="en-US" sz="2400" b="1" dirty="0" smtClean="0"/>
              <a:t>What should be kept from our old scheme</a:t>
            </a:r>
          </a:p>
          <a:p>
            <a:pPr marL="400050" lvl="1" indent="0">
              <a:spcBef>
                <a:spcPts val="800"/>
              </a:spcBef>
              <a:spcAft>
                <a:spcPts val="1800"/>
              </a:spcAft>
              <a:buNone/>
            </a:pPr>
            <a:r>
              <a:rPr lang="en-US" sz="2400" dirty="0" smtClean="0"/>
              <a:t>		</a:t>
            </a:r>
            <a:r>
              <a:rPr lang="en-US" sz="2400" i="1" dirty="0" smtClean="0"/>
              <a:t>and what’s new in CSMP++</a:t>
            </a:r>
          </a:p>
          <a:p>
            <a:pPr marL="514350" indent="-514350">
              <a:spcBef>
                <a:spcPts val="800"/>
              </a:spcBef>
              <a:spcAft>
                <a:spcPts val="1800"/>
              </a:spcAft>
              <a:buFont typeface="+mj-lt"/>
              <a:buAutoNum type="arabicPeriod"/>
            </a:pPr>
            <a:r>
              <a:rPr lang="en-US" sz="2400" dirty="0" smtClean="0"/>
              <a:t>Design specifications and considerations</a:t>
            </a:r>
          </a:p>
          <a:p>
            <a:pPr marL="514350" indent="-514350">
              <a:spcBef>
                <a:spcPts val="800"/>
              </a:spcBef>
              <a:spcAft>
                <a:spcPts val="1800"/>
              </a:spcAft>
              <a:buFont typeface="+mj-lt"/>
              <a:buAutoNum type="arabicPeriod"/>
            </a:pPr>
            <a:r>
              <a:rPr lang="en-US" sz="2400" dirty="0" smtClean="0"/>
              <a:t>Phase by phase transport</a:t>
            </a:r>
          </a:p>
          <a:p>
            <a:pPr marL="514350" indent="-514350">
              <a:spcBef>
                <a:spcPts val="800"/>
              </a:spcBef>
              <a:spcAft>
                <a:spcPts val="1800"/>
              </a:spcAft>
              <a:buFont typeface="+mj-lt"/>
              <a:buAutoNum type="arabicPeriod"/>
            </a:pPr>
            <a:r>
              <a:rPr lang="en-US" sz="2400" dirty="0" smtClean="0"/>
              <a:t>Design prototype: classes and use-case</a:t>
            </a:r>
            <a:endParaRPr lang="en-US" sz="24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5496" y="6492875"/>
            <a:ext cx="3087544" cy="365125"/>
          </a:xfrm>
        </p:spPr>
        <p:txBody>
          <a:bodyPr/>
          <a:lstStyle/>
          <a:p>
            <a:pPr>
              <a:defRPr/>
            </a:pPr>
            <a:r>
              <a:rPr lang="en-US" dirty="0" smtClean="0"/>
              <a:t>CSMP Generic Transport Scheme: Agenda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1305FD-7CE1-C64B-B0A3-F76AC6FEC4D2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35696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8" name="Rectangle 2"/>
          <p:cNvSpPr>
            <a:spLocks noGrp="1" noChangeArrowheads="1"/>
          </p:cNvSpPr>
          <p:nvPr>
            <p:ph type="title"/>
          </p:nvPr>
        </p:nvSpPr>
        <p:spPr>
          <a:xfrm>
            <a:off x="287337" y="210470"/>
            <a:ext cx="4911195" cy="1754327"/>
          </a:xfrm>
        </p:spPr>
        <p:txBody>
          <a:bodyPr/>
          <a:lstStyle/>
          <a:p>
            <a:pPr eaLnBrk="1" hangingPunct="1"/>
            <a:r>
              <a:rPr lang="en-US" sz="2800" dirty="0" smtClean="0">
                <a:solidFill>
                  <a:srgbClr val="FF1F98"/>
                </a:solidFill>
                <a:latin typeface="Arial" charset="0"/>
                <a:ea typeface="ＭＳ Ｐゴシック" charset="0"/>
                <a:cs typeface="ＭＳ Ｐゴシック" charset="0"/>
              </a:rPr>
              <a:t>FE-FVM </a:t>
            </a:r>
            <a:r>
              <a:rPr lang="en-US" sz="2800" dirty="0" err="1" smtClean="0">
                <a:solidFill>
                  <a:srgbClr val="FF1F98"/>
                </a:solidFill>
                <a:latin typeface="Arial" charset="0"/>
                <a:ea typeface="ＭＳ Ｐゴシック" charset="0"/>
                <a:cs typeface="ＭＳ Ｐゴシック" charset="0"/>
              </a:rPr>
              <a:t>Discretisation</a:t>
            </a:r>
            <a:r>
              <a:rPr lang="en-US" sz="2800" dirty="0" smtClean="0">
                <a:solidFill>
                  <a:srgbClr val="FF6600"/>
                </a:solidFill>
                <a:latin typeface="Arial" charset="0"/>
                <a:ea typeface="ＭＳ Ｐゴシック" charset="0"/>
                <a:cs typeface="ＭＳ Ｐゴシック" charset="0"/>
              </a:rPr>
              <a:t/>
            </a:r>
            <a:br>
              <a:rPr lang="en-US" sz="2800" dirty="0" smtClean="0">
                <a:solidFill>
                  <a:srgbClr val="FF6600"/>
                </a:solidFill>
                <a:latin typeface="Arial" charset="0"/>
                <a:ea typeface="ＭＳ Ｐゴシック" charset="0"/>
                <a:cs typeface="ＭＳ Ｐゴシック" charset="0"/>
              </a:rPr>
            </a:br>
            <a:r>
              <a:rPr lang="en-US" sz="2000" dirty="0" smtClean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Different requirements seem to exist here: </a:t>
            </a:r>
            <a:br>
              <a:rPr lang="en-US" sz="2000" dirty="0" smtClean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</a:br>
            <a:r>
              <a:rPr lang="en-US" sz="2000" dirty="0" smtClean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(</a:t>
            </a:r>
            <a:r>
              <a:rPr lang="en-US" sz="2000" i="1" dirty="0" smtClean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ETHZ wants material properties on the nodes, MUL on the elements)</a:t>
            </a:r>
            <a:endParaRPr lang="en-GB" sz="2000" i="1" dirty="0">
              <a:solidFill>
                <a:schemeClr val="tx1"/>
              </a:solidFill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2150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590925" y="6286500"/>
            <a:ext cx="28956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  <a:cs typeface="ＭＳ Ｐゴシック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9pPr>
          </a:lstStyle>
          <a:p>
            <a:pPr algn="ctr" eaLnBrk="1" hangingPunct="1"/>
            <a:fld id="{68ADA569-1FBA-BB43-9887-6A0395036692}" type="slidenum">
              <a:rPr lang="en-GB" sz="1000">
                <a:latin typeface="Arial" charset="0"/>
              </a:rPr>
              <a:pPr algn="ctr" eaLnBrk="1" hangingPunct="1"/>
              <a:t>11</a:t>
            </a:fld>
            <a:endParaRPr lang="en-GB" sz="1000">
              <a:latin typeface="Arial" charset="0"/>
            </a:endParaRPr>
          </a:p>
        </p:txBody>
      </p:sp>
      <p:grpSp>
        <p:nvGrpSpPr>
          <p:cNvPr id="21509" name="Group 3"/>
          <p:cNvGrpSpPr>
            <a:grpSpLocks/>
          </p:cNvGrpSpPr>
          <p:nvPr/>
        </p:nvGrpSpPr>
        <p:grpSpPr bwMode="auto">
          <a:xfrm>
            <a:off x="358775" y="3844925"/>
            <a:ext cx="6165850" cy="2420938"/>
            <a:chOff x="226" y="2517"/>
            <a:chExt cx="3884" cy="1525"/>
          </a:xfrm>
        </p:grpSpPr>
        <p:sp>
          <p:nvSpPr>
            <p:cNvPr id="21539" name="Line 4"/>
            <p:cNvSpPr>
              <a:spLocks noChangeShapeType="1"/>
            </p:cNvSpPr>
            <p:nvPr/>
          </p:nvSpPr>
          <p:spPr bwMode="auto">
            <a:xfrm>
              <a:off x="614" y="3374"/>
              <a:ext cx="323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21540" name="Line 5"/>
            <p:cNvSpPr>
              <a:spLocks noChangeShapeType="1"/>
            </p:cNvSpPr>
            <p:nvPr/>
          </p:nvSpPr>
          <p:spPr bwMode="auto">
            <a:xfrm>
              <a:off x="610" y="2517"/>
              <a:ext cx="0" cy="152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21541" name="Text Box 6"/>
            <p:cNvSpPr txBox="1">
              <a:spLocks noChangeArrowheads="1"/>
            </p:cNvSpPr>
            <p:nvPr/>
          </p:nvSpPr>
          <p:spPr bwMode="auto">
            <a:xfrm>
              <a:off x="3895" y="3282"/>
              <a:ext cx="215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  <a:cs typeface="ＭＳ Ｐゴシック" charset="0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 sz="1800"/>
                <a:t>X</a:t>
              </a:r>
              <a:endParaRPr lang="en-GB" sz="1800"/>
            </a:p>
          </p:txBody>
        </p:sp>
        <p:sp>
          <p:nvSpPr>
            <p:cNvPr id="21542" name="Text Box 7"/>
            <p:cNvSpPr txBox="1">
              <a:spLocks noChangeArrowheads="1"/>
            </p:cNvSpPr>
            <p:nvPr/>
          </p:nvSpPr>
          <p:spPr bwMode="auto">
            <a:xfrm>
              <a:off x="226" y="2614"/>
              <a:ext cx="38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  <a:cs typeface="ＭＳ Ｐゴシック" charset="0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 sz="1800"/>
                <a:t>f(x)</a:t>
              </a:r>
              <a:endParaRPr lang="en-GB" sz="1800"/>
            </a:p>
          </p:txBody>
        </p:sp>
      </p:grpSp>
      <p:grpSp>
        <p:nvGrpSpPr>
          <p:cNvPr id="3" name="Group 8"/>
          <p:cNvGrpSpPr>
            <a:grpSpLocks/>
          </p:cNvGrpSpPr>
          <p:nvPr/>
        </p:nvGrpSpPr>
        <p:grpSpPr bwMode="auto">
          <a:xfrm>
            <a:off x="849313" y="2171700"/>
            <a:ext cx="5451475" cy="1568450"/>
            <a:chOff x="491" y="1403"/>
            <a:chExt cx="3434" cy="988"/>
          </a:xfrm>
        </p:grpSpPr>
        <p:sp>
          <p:nvSpPr>
            <p:cNvPr id="21537" name="Freeform 9"/>
            <p:cNvSpPr>
              <a:spLocks/>
            </p:cNvSpPr>
            <p:nvPr/>
          </p:nvSpPr>
          <p:spPr bwMode="auto">
            <a:xfrm>
              <a:off x="491" y="1648"/>
              <a:ext cx="3434" cy="743"/>
            </a:xfrm>
            <a:custGeom>
              <a:avLst/>
              <a:gdLst>
                <a:gd name="T0" fmla="*/ 0 w 3434"/>
                <a:gd name="T1" fmla="*/ 646 h 743"/>
                <a:gd name="T2" fmla="*/ 326 w 3434"/>
                <a:gd name="T3" fmla="*/ 285 h 743"/>
                <a:gd name="T4" fmla="*/ 519 w 3434"/>
                <a:gd name="T5" fmla="*/ 153 h 743"/>
                <a:gd name="T6" fmla="*/ 752 w 3434"/>
                <a:gd name="T7" fmla="*/ 26 h 743"/>
                <a:gd name="T8" fmla="*/ 1078 w 3434"/>
                <a:gd name="T9" fmla="*/ 0 h 743"/>
                <a:gd name="T10" fmla="*/ 1218 w 3434"/>
                <a:gd name="T11" fmla="*/ 39 h 743"/>
                <a:gd name="T12" fmla="*/ 1416 w 3434"/>
                <a:gd name="T13" fmla="*/ 202 h 743"/>
                <a:gd name="T14" fmla="*/ 1614 w 3434"/>
                <a:gd name="T15" fmla="*/ 329 h 743"/>
                <a:gd name="T16" fmla="*/ 1843 w 3434"/>
                <a:gd name="T17" fmla="*/ 466 h 743"/>
                <a:gd name="T18" fmla="*/ 2146 w 3434"/>
                <a:gd name="T19" fmla="*/ 606 h 743"/>
                <a:gd name="T20" fmla="*/ 2445 w 3434"/>
                <a:gd name="T21" fmla="*/ 677 h 743"/>
                <a:gd name="T22" fmla="*/ 2819 w 3434"/>
                <a:gd name="T23" fmla="*/ 721 h 743"/>
                <a:gd name="T24" fmla="*/ 3232 w 3434"/>
                <a:gd name="T25" fmla="*/ 738 h 743"/>
                <a:gd name="T26" fmla="*/ 3434 w 3434"/>
                <a:gd name="T27" fmla="*/ 743 h 743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w 3434"/>
                <a:gd name="T43" fmla="*/ 0 h 743"/>
                <a:gd name="T44" fmla="*/ 3434 w 3434"/>
                <a:gd name="T45" fmla="*/ 743 h 743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T42" t="T43" r="T44" b="T45"/>
              <a:pathLst>
                <a:path w="3434" h="743">
                  <a:moveTo>
                    <a:pt x="0" y="646"/>
                  </a:moveTo>
                  <a:lnTo>
                    <a:pt x="326" y="285"/>
                  </a:lnTo>
                  <a:lnTo>
                    <a:pt x="519" y="153"/>
                  </a:lnTo>
                  <a:lnTo>
                    <a:pt x="752" y="26"/>
                  </a:lnTo>
                  <a:lnTo>
                    <a:pt x="1078" y="0"/>
                  </a:lnTo>
                  <a:lnTo>
                    <a:pt x="1218" y="39"/>
                  </a:lnTo>
                  <a:lnTo>
                    <a:pt x="1416" y="202"/>
                  </a:lnTo>
                  <a:lnTo>
                    <a:pt x="1614" y="329"/>
                  </a:lnTo>
                  <a:lnTo>
                    <a:pt x="1843" y="466"/>
                  </a:lnTo>
                  <a:lnTo>
                    <a:pt x="2146" y="606"/>
                  </a:lnTo>
                  <a:lnTo>
                    <a:pt x="2445" y="677"/>
                  </a:lnTo>
                  <a:lnTo>
                    <a:pt x="2819" y="721"/>
                  </a:lnTo>
                  <a:lnTo>
                    <a:pt x="3232" y="738"/>
                  </a:lnTo>
                  <a:lnTo>
                    <a:pt x="3434" y="743"/>
                  </a:lnTo>
                </a:path>
              </a:pathLst>
            </a:custGeom>
            <a:noFill/>
            <a:ln w="28575">
              <a:solidFill>
                <a:srgbClr val="33CC33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21538" name="Text Box 10"/>
            <p:cNvSpPr txBox="1">
              <a:spLocks noChangeArrowheads="1"/>
            </p:cNvSpPr>
            <p:nvPr/>
          </p:nvSpPr>
          <p:spPr bwMode="auto">
            <a:xfrm>
              <a:off x="733" y="1403"/>
              <a:ext cx="1139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  <a:cs typeface="ＭＳ Ｐゴシック" charset="0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 sz="2000">
                  <a:solidFill>
                    <a:srgbClr val="009900"/>
                  </a:solidFill>
                  <a:latin typeface="Arial" charset="0"/>
                </a:rPr>
                <a:t>Exact Solution</a:t>
              </a:r>
              <a:endParaRPr lang="en-GB" sz="2000">
                <a:solidFill>
                  <a:srgbClr val="009900"/>
                </a:solidFill>
                <a:latin typeface="Arial" charset="0"/>
              </a:endParaRPr>
            </a:p>
          </p:txBody>
        </p:sp>
      </p:grpSp>
      <p:graphicFrame>
        <p:nvGraphicFramePr>
          <p:cNvPr id="327691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90821923"/>
              </p:ext>
            </p:extLst>
          </p:nvPr>
        </p:nvGraphicFramePr>
        <p:xfrm>
          <a:off x="6030395" y="642551"/>
          <a:ext cx="2176715" cy="18014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708" name="Equation" r:id="rId4" imgW="1282680" imgH="888840" progId="Equation.DSMT4">
                  <p:embed/>
                </p:oleObj>
              </mc:Choice>
              <mc:Fallback>
                <p:oleObj name="Equation" r:id="rId4" imgW="1282680" imgH="88884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30395" y="642551"/>
                        <a:ext cx="2176715" cy="180140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" name="Group 12"/>
          <p:cNvGrpSpPr>
            <a:grpSpLocks/>
          </p:cNvGrpSpPr>
          <p:nvPr/>
        </p:nvGrpSpPr>
        <p:grpSpPr bwMode="auto">
          <a:xfrm>
            <a:off x="1163638" y="2592388"/>
            <a:ext cx="5708650" cy="2997200"/>
            <a:chOff x="733" y="1743"/>
            <a:chExt cx="3596" cy="1888"/>
          </a:xfrm>
        </p:grpSpPr>
        <p:sp>
          <p:nvSpPr>
            <p:cNvPr id="21522" name="Line 13"/>
            <p:cNvSpPr>
              <a:spLocks noChangeShapeType="1"/>
            </p:cNvSpPr>
            <p:nvPr/>
          </p:nvSpPr>
          <p:spPr bwMode="auto">
            <a:xfrm flipV="1">
              <a:off x="1743" y="1755"/>
              <a:ext cx="0" cy="1609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21523" name="Line 14"/>
            <p:cNvSpPr>
              <a:spLocks noChangeShapeType="1"/>
            </p:cNvSpPr>
            <p:nvPr/>
          </p:nvSpPr>
          <p:spPr bwMode="auto">
            <a:xfrm flipV="1">
              <a:off x="2713" y="2326"/>
              <a:ext cx="0" cy="1046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21524" name="Line 15"/>
            <p:cNvSpPr>
              <a:spLocks noChangeShapeType="1"/>
            </p:cNvSpPr>
            <p:nvPr/>
          </p:nvSpPr>
          <p:spPr bwMode="auto">
            <a:xfrm flipV="1">
              <a:off x="3688" y="2448"/>
              <a:ext cx="0" cy="927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21525" name="Freeform 16"/>
            <p:cNvSpPr>
              <a:spLocks/>
            </p:cNvSpPr>
            <p:nvPr/>
          </p:nvSpPr>
          <p:spPr bwMode="auto">
            <a:xfrm>
              <a:off x="768" y="1743"/>
              <a:ext cx="2920" cy="699"/>
            </a:xfrm>
            <a:custGeom>
              <a:avLst/>
              <a:gdLst>
                <a:gd name="T0" fmla="*/ 0 w 2920"/>
                <a:gd name="T1" fmla="*/ 365 h 699"/>
                <a:gd name="T2" fmla="*/ 980 w 2920"/>
                <a:gd name="T3" fmla="*/ 0 h 699"/>
                <a:gd name="T4" fmla="*/ 1943 w 2920"/>
                <a:gd name="T5" fmla="*/ 580 h 699"/>
                <a:gd name="T6" fmla="*/ 2920 w 2920"/>
                <a:gd name="T7" fmla="*/ 699 h 69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920"/>
                <a:gd name="T13" fmla="*/ 0 h 699"/>
                <a:gd name="T14" fmla="*/ 2920 w 2920"/>
                <a:gd name="T15" fmla="*/ 699 h 69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920" h="699">
                  <a:moveTo>
                    <a:pt x="0" y="365"/>
                  </a:moveTo>
                  <a:lnTo>
                    <a:pt x="980" y="0"/>
                  </a:lnTo>
                  <a:lnTo>
                    <a:pt x="1943" y="580"/>
                  </a:lnTo>
                  <a:lnTo>
                    <a:pt x="2920" y="699"/>
                  </a:lnTo>
                </a:path>
              </a:pathLst>
            </a:custGeom>
            <a:noFill/>
            <a:ln w="19050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21526" name="Line 17"/>
            <p:cNvSpPr>
              <a:spLocks noChangeShapeType="1"/>
            </p:cNvSpPr>
            <p:nvPr/>
          </p:nvSpPr>
          <p:spPr bwMode="auto">
            <a:xfrm flipV="1">
              <a:off x="768" y="2099"/>
              <a:ext cx="0" cy="1275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21527" name="Text Box 18"/>
            <p:cNvSpPr txBox="1">
              <a:spLocks noChangeArrowheads="1"/>
            </p:cNvSpPr>
            <p:nvPr/>
          </p:nvSpPr>
          <p:spPr bwMode="auto">
            <a:xfrm>
              <a:off x="2763" y="2083"/>
              <a:ext cx="156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  <a:cs typeface="ＭＳ Ｐゴシック" charset="0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 sz="2000">
                  <a:solidFill>
                    <a:srgbClr val="FF0000"/>
                  </a:solidFill>
                  <a:latin typeface="Arial" charset="0"/>
                </a:rPr>
                <a:t>Linear FEM Solution</a:t>
              </a:r>
              <a:endParaRPr lang="en-GB" sz="2000">
                <a:solidFill>
                  <a:srgbClr val="FF0000"/>
                </a:solidFill>
                <a:latin typeface="Arial" charset="0"/>
              </a:endParaRPr>
            </a:p>
          </p:txBody>
        </p:sp>
        <p:sp>
          <p:nvSpPr>
            <p:cNvPr id="21528" name="Text Box 19"/>
            <p:cNvSpPr txBox="1">
              <a:spLocks noChangeArrowheads="1"/>
            </p:cNvSpPr>
            <p:nvPr/>
          </p:nvSpPr>
          <p:spPr bwMode="auto">
            <a:xfrm>
              <a:off x="812" y="2584"/>
              <a:ext cx="83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  <a:cs typeface="ＭＳ Ｐゴシック" charset="0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 sz="2000">
                  <a:latin typeface="Arial" charset="0"/>
                </a:rPr>
                <a:t>Element 1</a:t>
              </a:r>
              <a:endParaRPr lang="en-GB" sz="2000">
                <a:latin typeface="Arial" charset="0"/>
              </a:endParaRPr>
            </a:p>
          </p:txBody>
        </p:sp>
        <p:sp>
          <p:nvSpPr>
            <p:cNvPr id="21529" name="Text Box 20"/>
            <p:cNvSpPr txBox="1">
              <a:spLocks noChangeArrowheads="1"/>
            </p:cNvSpPr>
            <p:nvPr/>
          </p:nvSpPr>
          <p:spPr bwMode="auto">
            <a:xfrm>
              <a:off x="1781" y="2584"/>
              <a:ext cx="83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  <a:cs typeface="ＭＳ Ｐゴシック" charset="0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 sz="2000">
                  <a:latin typeface="Arial" charset="0"/>
                </a:rPr>
                <a:t>Element 2</a:t>
              </a:r>
              <a:endParaRPr lang="en-GB" sz="2000">
                <a:latin typeface="Arial" charset="0"/>
              </a:endParaRPr>
            </a:p>
          </p:txBody>
        </p:sp>
        <p:sp>
          <p:nvSpPr>
            <p:cNvPr id="21530" name="Text Box 21"/>
            <p:cNvSpPr txBox="1">
              <a:spLocks noChangeArrowheads="1"/>
            </p:cNvSpPr>
            <p:nvPr/>
          </p:nvSpPr>
          <p:spPr bwMode="auto">
            <a:xfrm>
              <a:off x="2782" y="2584"/>
              <a:ext cx="83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  <a:cs typeface="ＭＳ Ｐゴシック" charset="0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 sz="2000">
                  <a:latin typeface="Arial" charset="0"/>
                </a:rPr>
                <a:t>Element 3</a:t>
              </a:r>
              <a:endParaRPr lang="en-GB" sz="2000">
                <a:latin typeface="Arial" charset="0"/>
              </a:endParaRPr>
            </a:p>
          </p:txBody>
        </p:sp>
        <p:sp>
          <p:nvSpPr>
            <p:cNvPr id="21531" name="Text Box 22"/>
            <p:cNvSpPr txBox="1">
              <a:spLocks noChangeArrowheads="1"/>
            </p:cNvSpPr>
            <p:nvPr/>
          </p:nvSpPr>
          <p:spPr bwMode="auto">
            <a:xfrm>
              <a:off x="734" y="3372"/>
              <a:ext cx="63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  <a:cs typeface="ＭＳ Ｐゴシック" charset="0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 sz="2000">
                  <a:latin typeface="Arial" charset="0"/>
                </a:rPr>
                <a:t>Node 1</a:t>
              </a:r>
              <a:endParaRPr lang="en-GB" sz="2000">
                <a:latin typeface="Arial" charset="0"/>
              </a:endParaRPr>
            </a:p>
          </p:txBody>
        </p:sp>
        <p:sp>
          <p:nvSpPr>
            <p:cNvPr id="21532" name="Text Box 23"/>
            <p:cNvSpPr txBox="1">
              <a:spLocks noChangeArrowheads="1"/>
            </p:cNvSpPr>
            <p:nvPr/>
          </p:nvSpPr>
          <p:spPr bwMode="auto">
            <a:xfrm>
              <a:off x="1735" y="3381"/>
              <a:ext cx="63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  <a:cs typeface="ＭＳ Ｐゴシック" charset="0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 sz="2000">
                  <a:latin typeface="Arial" charset="0"/>
                </a:rPr>
                <a:t>Node 2</a:t>
              </a:r>
              <a:endParaRPr lang="en-GB" sz="2000">
                <a:latin typeface="Arial" charset="0"/>
              </a:endParaRPr>
            </a:p>
          </p:txBody>
        </p:sp>
        <p:sp>
          <p:nvSpPr>
            <p:cNvPr id="21533" name="Oval 24"/>
            <p:cNvSpPr>
              <a:spLocks noChangeArrowheads="1"/>
            </p:cNvSpPr>
            <p:nvPr/>
          </p:nvSpPr>
          <p:spPr bwMode="auto">
            <a:xfrm>
              <a:off x="733" y="3344"/>
              <a:ext cx="70" cy="70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534" name="Oval 25"/>
            <p:cNvSpPr>
              <a:spLocks noChangeArrowheads="1"/>
            </p:cNvSpPr>
            <p:nvPr/>
          </p:nvSpPr>
          <p:spPr bwMode="auto">
            <a:xfrm>
              <a:off x="1708" y="3339"/>
              <a:ext cx="70" cy="70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535" name="Oval 26"/>
            <p:cNvSpPr>
              <a:spLocks noChangeArrowheads="1"/>
            </p:cNvSpPr>
            <p:nvPr/>
          </p:nvSpPr>
          <p:spPr bwMode="auto">
            <a:xfrm>
              <a:off x="2683" y="3342"/>
              <a:ext cx="70" cy="70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536" name="Oval 27"/>
            <p:cNvSpPr>
              <a:spLocks noChangeArrowheads="1"/>
            </p:cNvSpPr>
            <p:nvPr/>
          </p:nvSpPr>
          <p:spPr bwMode="auto">
            <a:xfrm>
              <a:off x="3658" y="3341"/>
              <a:ext cx="70" cy="70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5" name="Group 28"/>
          <p:cNvGrpSpPr>
            <a:grpSpLocks/>
          </p:cNvGrpSpPr>
          <p:nvPr/>
        </p:nvGrpSpPr>
        <p:grpSpPr bwMode="auto">
          <a:xfrm>
            <a:off x="1219200" y="4570413"/>
            <a:ext cx="5535613" cy="1846262"/>
            <a:chOff x="768" y="2974"/>
            <a:chExt cx="3487" cy="1163"/>
          </a:xfrm>
        </p:grpSpPr>
        <p:sp>
          <p:nvSpPr>
            <p:cNvPr id="21520" name="Freeform 29"/>
            <p:cNvSpPr>
              <a:spLocks/>
            </p:cNvSpPr>
            <p:nvPr/>
          </p:nvSpPr>
          <p:spPr bwMode="auto">
            <a:xfrm>
              <a:off x="768" y="2974"/>
              <a:ext cx="2920" cy="892"/>
            </a:xfrm>
            <a:custGeom>
              <a:avLst/>
              <a:gdLst>
                <a:gd name="T0" fmla="*/ 0 w 2920"/>
                <a:gd name="T1" fmla="*/ 0 h 892"/>
                <a:gd name="T2" fmla="*/ 976 w 2920"/>
                <a:gd name="T3" fmla="*/ 0 h 892"/>
                <a:gd name="T4" fmla="*/ 976 w 2920"/>
                <a:gd name="T5" fmla="*/ 892 h 892"/>
                <a:gd name="T6" fmla="*/ 1943 w 2920"/>
                <a:gd name="T7" fmla="*/ 892 h 892"/>
                <a:gd name="T8" fmla="*/ 1943 w 2920"/>
                <a:gd name="T9" fmla="*/ 567 h 892"/>
                <a:gd name="T10" fmla="*/ 2920 w 2920"/>
                <a:gd name="T11" fmla="*/ 567 h 89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920"/>
                <a:gd name="T19" fmla="*/ 0 h 892"/>
                <a:gd name="T20" fmla="*/ 2920 w 2920"/>
                <a:gd name="T21" fmla="*/ 892 h 892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920" h="892">
                  <a:moveTo>
                    <a:pt x="0" y="0"/>
                  </a:moveTo>
                  <a:lnTo>
                    <a:pt x="976" y="0"/>
                  </a:lnTo>
                  <a:lnTo>
                    <a:pt x="976" y="892"/>
                  </a:lnTo>
                  <a:lnTo>
                    <a:pt x="1943" y="892"/>
                  </a:lnTo>
                  <a:lnTo>
                    <a:pt x="1943" y="567"/>
                  </a:lnTo>
                  <a:lnTo>
                    <a:pt x="2920" y="567"/>
                  </a:lnTo>
                </a:path>
              </a:pathLst>
            </a:custGeom>
            <a:noFill/>
            <a:ln w="19050">
              <a:solidFill>
                <a:schemeClr val="accent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21521" name="Text Box 30"/>
            <p:cNvSpPr txBox="1">
              <a:spLocks noChangeArrowheads="1"/>
            </p:cNvSpPr>
            <p:nvPr/>
          </p:nvSpPr>
          <p:spPr bwMode="auto">
            <a:xfrm>
              <a:off x="928" y="3906"/>
              <a:ext cx="3327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  <a:cs typeface="ＭＳ Ｐゴシック" charset="0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 sz="1800">
                  <a:solidFill>
                    <a:schemeClr val="accent2"/>
                  </a:solidFill>
                  <a:latin typeface="Arial" charset="0"/>
                </a:rPr>
                <a:t>Derivative of Linear FEM Solution, e.g., </a:t>
              </a:r>
              <a:r>
                <a:rPr lang="en-US" sz="1800" i="1">
                  <a:solidFill>
                    <a:schemeClr val="accent2"/>
                  </a:solidFill>
                  <a:latin typeface="Arial" charset="0"/>
                </a:rPr>
                <a:t>p</a:t>
              </a:r>
              <a:r>
                <a:rPr lang="en-US" sz="1800" i="1" baseline="-25000">
                  <a:solidFill>
                    <a:schemeClr val="accent2"/>
                  </a:solidFill>
                  <a:latin typeface="Arial" charset="0"/>
                </a:rPr>
                <a:t>f</a:t>
              </a:r>
              <a:r>
                <a:rPr lang="en-US" sz="1800">
                  <a:solidFill>
                    <a:schemeClr val="accent2"/>
                  </a:solidFill>
                  <a:latin typeface="Arial" charset="0"/>
                </a:rPr>
                <a:t> gradient</a:t>
              </a:r>
              <a:endParaRPr lang="en-GB" sz="1800">
                <a:solidFill>
                  <a:schemeClr val="accent2"/>
                </a:solidFill>
                <a:latin typeface="Arial" charset="0"/>
              </a:endParaRPr>
            </a:p>
          </p:txBody>
        </p:sp>
      </p:grpSp>
      <p:grpSp>
        <p:nvGrpSpPr>
          <p:cNvPr id="6" name="Group 31"/>
          <p:cNvGrpSpPr>
            <a:grpSpLocks/>
          </p:cNvGrpSpPr>
          <p:nvPr/>
        </p:nvGrpSpPr>
        <p:grpSpPr bwMode="auto">
          <a:xfrm>
            <a:off x="3321050" y="4802188"/>
            <a:ext cx="1935163" cy="390525"/>
            <a:chOff x="2092" y="3025"/>
            <a:chExt cx="1219" cy="246"/>
          </a:xfrm>
        </p:grpSpPr>
        <p:sp>
          <p:nvSpPr>
            <p:cNvPr id="21515" name="Rectangle 32"/>
            <p:cNvSpPr>
              <a:spLocks noChangeArrowheads="1"/>
            </p:cNvSpPr>
            <p:nvPr/>
          </p:nvSpPr>
          <p:spPr bwMode="auto">
            <a:xfrm>
              <a:off x="2217" y="3025"/>
              <a:ext cx="980" cy="246"/>
            </a:xfrm>
            <a:prstGeom prst="rect">
              <a:avLst/>
            </a:prstGeom>
            <a:solidFill>
              <a:srgbClr val="FF6600"/>
            </a:solidFill>
            <a:ln w="19050">
              <a:solidFill>
                <a:schemeClr val="hlink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21516" name="Group 33"/>
            <p:cNvGrpSpPr>
              <a:grpSpLocks/>
            </p:cNvGrpSpPr>
            <p:nvPr/>
          </p:nvGrpSpPr>
          <p:grpSpPr bwMode="auto">
            <a:xfrm>
              <a:off x="2092" y="3033"/>
              <a:ext cx="1219" cy="231"/>
              <a:chOff x="2092" y="3033"/>
              <a:chExt cx="1219" cy="231"/>
            </a:xfrm>
          </p:grpSpPr>
          <p:sp>
            <p:nvSpPr>
              <p:cNvPr id="21517" name="Text Box 34"/>
              <p:cNvSpPr txBox="1">
                <a:spLocks noChangeArrowheads="1"/>
              </p:cNvSpPr>
              <p:nvPr/>
            </p:nvSpPr>
            <p:spPr bwMode="auto">
              <a:xfrm>
                <a:off x="2202" y="3033"/>
                <a:ext cx="996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Verdana" charset="0"/>
                    <a:ea typeface="ＭＳ Ｐゴシック" charset="0"/>
                    <a:cs typeface="ＭＳ Ｐゴシック" charset="0"/>
                  </a:defRPr>
                </a:lvl1pPr>
                <a:lvl2pPr marL="37931725" indent="-37474525" eaLnBrk="0" hangingPunct="0">
                  <a:defRPr sz="2400">
                    <a:solidFill>
                      <a:schemeClr val="tx1"/>
                    </a:solidFill>
                    <a:latin typeface="Verdana" charset="0"/>
                    <a:ea typeface="ＭＳ Ｐゴシック" charset="0"/>
                  </a:defRPr>
                </a:lvl2pPr>
                <a:lvl3pPr eaLnBrk="0" hangingPunct="0">
                  <a:defRPr sz="2400">
                    <a:solidFill>
                      <a:schemeClr val="tx1"/>
                    </a:solidFill>
                    <a:latin typeface="Verdana" charset="0"/>
                    <a:ea typeface="ＭＳ Ｐゴシック" charset="0"/>
                  </a:defRPr>
                </a:lvl3pPr>
                <a:lvl4pPr eaLnBrk="0" hangingPunct="0">
                  <a:defRPr sz="2400">
                    <a:solidFill>
                      <a:schemeClr val="tx1"/>
                    </a:solidFill>
                    <a:latin typeface="Verdana" charset="0"/>
                    <a:ea typeface="ＭＳ Ｐゴシック" charset="0"/>
                  </a:defRPr>
                </a:lvl4pPr>
                <a:lvl5pPr eaLnBrk="0" hangingPunct="0">
                  <a:defRPr sz="2400">
                    <a:solidFill>
                      <a:schemeClr val="tx1"/>
                    </a:solidFill>
                    <a:latin typeface="Verdana" charset="0"/>
                    <a:ea typeface="ＭＳ Ｐゴシック" charset="0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Verdana" charset="0"/>
                    <a:ea typeface="ＭＳ Ｐゴシック" charset="0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Verdana" charset="0"/>
                    <a:ea typeface="ＭＳ Ｐゴシック" charset="0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Verdana" charset="0"/>
                    <a:ea typeface="ＭＳ Ｐゴシック" charset="0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Verdana" charset="0"/>
                    <a:ea typeface="ＭＳ Ｐゴシック" charset="0"/>
                  </a:defRPr>
                </a:lvl9pPr>
              </a:lstStyle>
              <a:p>
                <a:pPr eaLnBrk="1" hangingPunct="1"/>
                <a:r>
                  <a:rPr lang="en-US" sz="1800">
                    <a:latin typeface="Arial" charset="0"/>
                  </a:rPr>
                  <a:t>Finite Volume</a:t>
                </a:r>
                <a:endParaRPr lang="en-GB" sz="1800">
                  <a:latin typeface="Arial" charset="0"/>
                </a:endParaRPr>
              </a:p>
            </p:txBody>
          </p:sp>
          <p:sp>
            <p:nvSpPr>
              <p:cNvPr id="21518" name="Line 35"/>
              <p:cNvSpPr>
                <a:spLocks noChangeShapeType="1"/>
              </p:cNvSpPr>
              <p:nvPr/>
            </p:nvSpPr>
            <p:spPr bwMode="auto">
              <a:xfrm>
                <a:off x="3197" y="3145"/>
                <a:ext cx="114" cy="0"/>
              </a:xfrm>
              <a:prstGeom prst="line">
                <a:avLst/>
              </a:prstGeom>
              <a:noFill/>
              <a:ln w="28575">
                <a:solidFill>
                  <a:schemeClr val="folHlink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519" name="Line 36"/>
              <p:cNvSpPr>
                <a:spLocks noChangeShapeType="1"/>
              </p:cNvSpPr>
              <p:nvPr/>
            </p:nvSpPr>
            <p:spPr bwMode="auto">
              <a:xfrm flipH="1">
                <a:off x="2092" y="3150"/>
                <a:ext cx="119" cy="0"/>
              </a:xfrm>
              <a:prstGeom prst="line">
                <a:avLst/>
              </a:prstGeom>
              <a:noFill/>
              <a:ln w="28575">
                <a:solidFill>
                  <a:schemeClr val="folHlink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sp>
        <p:nvSpPr>
          <p:cNvPr id="21514" name="Text Box 37"/>
          <p:cNvSpPr txBox="1">
            <a:spLocks noChangeArrowheads="1"/>
          </p:cNvSpPr>
          <p:nvPr/>
        </p:nvSpPr>
        <p:spPr bwMode="auto">
          <a:xfrm>
            <a:off x="6575425" y="4818063"/>
            <a:ext cx="2568575" cy="1570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  <a:cs typeface="ＭＳ Ｐゴシック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9pPr>
          </a:lstStyle>
          <a:p>
            <a:pPr algn="ctr"/>
            <a:r>
              <a:rPr lang="en-US" sz="1600" i="1">
                <a:latin typeface="Arial" charset="0"/>
              </a:rPr>
              <a:t>cf., Baliga &amp; Patankar, 1980, </a:t>
            </a:r>
          </a:p>
          <a:p>
            <a:pPr algn="ctr"/>
            <a:r>
              <a:rPr lang="en-US" sz="1600" i="1">
                <a:latin typeface="Arial" charset="0"/>
              </a:rPr>
              <a:t>Numerical Heat Transfer,</a:t>
            </a:r>
          </a:p>
          <a:p>
            <a:pPr algn="ctr"/>
            <a:r>
              <a:rPr lang="en-US" sz="1600" i="1">
                <a:latin typeface="Arial" charset="0"/>
              </a:rPr>
              <a:t>Paluszny, Matthai and Hohmeyer, 2007, Geofluids</a:t>
            </a:r>
          </a:p>
        </p:txBody>
      </p:sp>
      <p:sp>
        <p:nvSpPr>
          <p:cNvPr id="39" name="Date Placeholder 3"/>
          <p:cNvSpPr>
            <a:spLocks noGrp="1"/>
          </p:cNvSpPr>
          <p:nvPr>
            <p:ph type="dt" sz="half" idx="2"/>
          </p:nvPr>
        </p:nvSpPr>
        <p:spPr>
          <a:xfrm>
            <a:off x="35496" y="649287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>
                    <a:lumMod val="65000"/>
                  </a:schemeClr>
                </a:solidFill>
                <a:latin typeface="Arial"/>
                <a:cs typeface="Arial"/>
              </a:defRPr>
            </a:lvl1pPr>
          </a:lstStyle>
          <a:p>
            <a:pPr defTabSz="457200" fontAlgn="auto">
              <a:spcBef>
                <a:spcPts val="0"/>
              </a:spcBef>
              <a:spcAft>
                <a:spcPts val="0"/>
              </a:spcAft>
            </a:pPr>
            <a:fld id="{57951F7C-CFBF-8144-A102-5B4CA8E4DF9C}" type="datetime1">
              <a:rPr lang="en-US" smtClean="0">
                <a:solidFill>
                  <a:prstClr val="white">
                    <a:lumMod val="65000"/>
                  </a:prstClr>
                </a:solidFill>
                <a:ea typeface="+mn-ea"/>
              </a:rPr>
              <a:pPr defTabSz="457200" fontAlgn="auto">
                <a:spcBef>
                  <a:spcPts val="0"/>
                </a:spcBef>
                <a:spcAft>
                  <a:spcPts val="0"/>
                </a:spcAft>
              </a:pPr>
              <a:t>11/6/12</a:t>
            </a:fld>
            <a:endParaRPr lang="en-US" dirty="0">
              <a:solidFill>
                <a:prstClr val="white">
                  <a:lumMod val="65000"/>
                </a:prstClr>
              </a:solidFill>
              <a:ea typeface="+mn-ea"/>
            </a:endParaRPr>
          </a:p>
        </p:txBody>
      </p:sp>
      <p:sp>
        <p:nvSpPr>
          <p:cNvPr id="40" name="Footer Placeholder 4"/>
          <p:cNvSpPr>
            <a:spLocks noGrp="1"/>
          </p:cNvSpPr>
          <p:nvPr>
            <p:ph type="ftr" sz="quarter" idx="4294967295"/>
          </p:nvPr>
        </p:nvSpPr>
        <p:spPr>
          <a:xfrm>
            <a:off x="3124200" y="6492875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65000"/>
                  </a:schemeClr>
                </a:solidFill>
                <a:latin typeface="Arial"/>
                <a:cs typeface="Arial"/>
              </a:defRPr>
            </a:lvl1pPr>
          </a:lstStyle>
          <a:p>
            <a:pPr defTabSz="457200" fontAlgn="auto">
              <a:spcBef>
                <a:spcPts val="0"/>
              </a:spcBef>
              <a:spcAft>
                <a:spcPts val="0"/>
              </a:spcAft>
            </a:pPr>
            <a:r>
              <a:rPr lang="en-US" dirty="0" smtClean="0">
                <a:solidFill>
                  <a:prstClr val="white">
                    <a:lumMod val="65000"/>
                  </a:prstClr>
                </a:solidFill>
                <a:ea typeface="+mn-ea"/>
              </a:rPr>
              <a:t>CSMP Generic Transport Scheme</a:t>
            </a:r>
            <a:endParaRPr lang="en-US" dirty="0">
              <a:solidFill>
                <a:prstClr val="white">
                  <a:lumMod val="65000"/>
                </a:prstClr>
              </a:solidFill>
              <a:ea typeface="+mn-ea"/>
            </a:endParaRPr>
          </a:p>
        </p:txBody>
      </p:sp>
      <p:sp>
        <p:nvSpPr>
          <p:cNvPr id="41" name="Slide Number Placeholder 5"/>
          <p:cNvSpPr txBox="1">
            <a:spLocks/>
          </p:cNvSpPr>
          <p:nvPr/>
        </p:nvSpPr>
        <p:spPr>
          <a:xfrm>
            <a:off x="6974904" y="649287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bg1">
                    <a:lumMod val="65000"/>
                  </a:schemeClr>
                </a:solidFill>
                <a:latin typeface="Arial"/>
                <a:ea typeface="ＭＳ Ｐゴシック" charset="0"/>
                <a:cs typeface="Arial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charset="0"/>
                <a:ea typeface="ＭＳ Ｐゴシック" charset="0"/>
                <a:cs typeface="ＭＳ Ｐゴシック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charset="0"/>
                <a:ea typeface="ＭＳ Ｐゴシック" charset="0"/>
                <a:cs typeface="ＭＳ Ｐゴシック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charset="0"/>
                <a:ea typeface="ＭＳ Ｐゴシック" charset="0"/>
                <a:cs typeface="ＭＳ Ｐゴシック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Verdana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Verdana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Verdana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Verdana" charset="0"/>
                <a:ea typeface="ＭＳ Ｐゴシック" charset="0"/>
                <a:cs typeface="ＭＳ Ｐゴシック" charset="0"/>
              </a:defRPr>
            </a:lvl9pPr>
          </a:lstStyle>
          <a:p>
            <a:pPr defTabSz="457200" fontAlgn="auto">
              <a:spcBef>
                <a:spcPts val="0"/>
              </a:spcBef>
              <a:spcAft>
                <a:spcPts val="0"/>
              </a:spcAft>
            </a:pPr>
            <a:r>
              <a:rPr lang="en-US" smtClean="0">
                <a:solidFill>
                  <a:prstClr val="white">
                    <a:lumMod val="65000"/>
                  </a:prstClr>
                </a:solidFill>
                <a:ea typeface="+mn-ea"/>
              </a:rPr>
              <a:t>  </a:t>
            </a:r>
            <a:fld id="{223FD816-CC6A-BF43-8241-637E3E7EAA5A}" type="slidenum">
              <a:rPr lang="en-US" smtClean="0">
                <a:solidFill>
                  <a:prstClr val="white">
                    <a:lumMod val="65000"/>
                  </a:prstClr>
                </a:solidFill>
                <a:ea typeface="+mn-ea"/>
              </a:rPr>
              <a:pPr defTabSz="457200" fontAlgn="auto">
                <a:spcBef>
                  <a:spcPts val="0"/>
                </a:spcBef>
                <a:spcAft>
                  <a:spcPts val="0"/>
                </a:spcAft>
              </a:pPr>
              <a:t>11</a:t>
            </a:fld>
            <a:endParaRPr lang="en-US" dirty="0">
              <a:solidFill>
                <a:prstClr val="white">
                  <a:lumMod val="65000"/>
                </a:prstClr>
              </a:solidFill>
              <a:ea typeface="+mn-ea"/>
            </a:endParaRP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7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8" name="Rectangle 2"/>
          <p:cNvSpPr>
            <a:spLocks noGrp="1" noChangeArrowheads="1"/>
          </p:cNvSpPr>
          <p:nvPr>
            <p:ph type="title"/>
          </p:nvPr>
        </p:nvSpPr>
        <p:spPr>
          <a:xfrm>
            <a:off x="349250" y="384175"/>
            <a:ext cx="8162925" cy="579438"/>
          </a:xfrm>
        </p:spPr>
        <p:txBody>
          <a:bodyPr/>
          <a:lstStyle/>
          <a:p>
            <a:pPr eaLnBrk="1" hangingPunct="1"/>
            <a:r>
              <a:rPr lang="en-US" dirty="0" smtClean="0">
                <a:latin typeface="Arial" charset="0"/>
                <a:ea typeface="ＭＳ Ｐゴシック" charset="0"/>
                <a:cs typeface="ＭＳ Ｐゴシック" charset="0"/>
              </a:rPr>
              <a:t>Basic terminology</a:t>
            </a:r>
            <a:endParaRPr lang="en-GB" dirty="0"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31774" name="Text Box 28"/>
          <p:cNvSpPr txBox="1">
            <a:spLocks noChangeArrowheads="1"/>
          </p:cNvSpPr>
          <p:nvPr/>
        </p:nvSpPr>
        <p:spPr bwMode="auto">
          <a:xfrm>
            <a:off x="1389800" y="5986463"/>
            <a:ext cx="6092333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  <a:cs typeface="ＭＳ Ｐゴシック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600" i="1" dirty="0" smtClean="0">
                <a:latin typeface="+mj-lt"/>
              </a:rPr>
              <a:t>NB: Facet </a:t>
            </a:r>
            <a:r>
              <a:rPr lang="en-US" sz="1600" i="1" dirty="0" err="1">
                <a:latin typeface="+mj-lt"/>
              </a:rPr>
              <a:t>normals</a:t>
            </a:r>
            <a:r>
              <a:rPr lang="en-US" sz="1600" i="1" dirty="0">
                <a:latin typeface="+mj-lt"/>
              </a:rPr>
              <a:t> always point to node with higher local number</a:t>
            </a:r>
          </a:p>
        </p:txBody>
      </p:sp>
      <p:grpSp>
        <p:nvGrpSpPr>
          <p:cNvPr id="5" name="Group 4"/>
          <p:cNvGrpSpPr/>
          <p:nvPr/>
        </p:nvGrpSpPr>
        <p:grpSpPr>
          <a:xfrm>
            <a:off x="94492" y="1197488"/>
            <a:ext cx="5962165" cy="4714875"/>
            <a:chOff x="1245085" y="996950"/>
            <a:chExt cx="5962165" cy="4714875"/>
          </a:xfrm>
        </p:grpSpPr>
        <p:sp>
          <p:nvSpPr>
            <p:cNvPr id="31749" name="Freeform 3"/>
            <p:cNvSpPr>
              <a:spLocks/>
            </p:cNvSpPr>
            <p:nvPr/>
          </p:nvSpPr>
          <p:spPr bwMode="auto">
            <a:xfrm>
              <a:off x="2516188" y="1801813"/>
              <a:ext cx="3857625" cy="3402012"/>
            </a:xfrm>
            <a:custGeom>
              <a:avLst/>
              <a:gdLst>
                <a:gd name="T0" fmla="*/ 0 w 2430"/>
                <a:gd name="T1" fmla="*/ 2147483647 h 2143"/>
                <a:gd name="T2" fmla="*/ 2147483647 w 2430"/>
                <a:gd name="T3" fmla="*/ 0 h 2143"/>
                <a:gd name="T4" fmla="*/ 2147483647 w 2430"/>
                <a:gd name="T5" fmla="*/ 2147483647 h 2143"/>
                <a:gd name="T6" fmla="*/ 0 w 2430"/>
                <a:gd name="T7" fmla="*/ 2147483647 h 214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430"/>
                <a:gd name="T13" fmla="*/ 0 h 2143"/>
                <a:gd name="T14" fmla="*/ 2430 w 2430"/>
                <a:gd name="T15" fmla="*/ 2143 h 214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430" h="2143">
                  <a:moveTo>
                    <a:pt x="0" y="2143"/>
                  </a:moveTo>
                  <a:lnTo>
                    <a:pt x="1252" y="0"/>
                  </a:lnTo>
                  <a:lnTo>
                    <a:pt x="2430" y="2104"/>
                  </a:lnTo>
                  <a:lnTo>
                    <a:pt x="0" y="2143"/>
                  </a:lnTo>
                  <a:close/>
                </a:path>
              </a:pathLst>
            </a:custGeom>
            <a:solidFill>
              <a:schemeClr val="accent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en-US" dirty="0"/>
            </a:p>
          </p:txBody>
        </p:sp>
        <p:sp>
          <p:nvSpPr>
            <p:cNvPr id="31750" name="Oval 4"/>
            <p:cNvSpPr>
              <a:spLocks noChangeArrowheads="1"/>
            </p:cNvSpPr>
            <p:nvPr/>
          </p:nvSpPr>
          <p:spPr bwMode="auto">
            <a:xfrm>
              <a:off x="2378075" y="5080000"/>
              <a:ext cx="288925" cy="255588"/>
            </a:xfrm>
            <a:prstGeom prst="ellipse">
              <a:avLst/>
            </a:prstGeom>
            <a:solidFill>
              <a:schemeClr val="accent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751" name="Oval 5"/>
            <p:cNvSpPr>
              <a:spLocks noChangeArrowheads="1"/>
            </p:cNvSpPr>
            <p:nvPr/>
          </p:nvSpPr>
          <p:spPr bwMode="auto">
            <a:xfrm>
              <a:off x="6229350" y="5026025"/>
              <a:ext cx="288925" cy="255588"/>
            </a:xfrm>
            <a:prstGeom prst="ellipse">
              <a:avLst/>
            </a:prstGeom>
            <a:solidFill>
              <a:schemeClr val="accent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752" name="Oval 6"/>
            <p:cNvSpPr>
              <a:spLocks noChangeArrowheads="1"/>
            </p:cNvSpPr>
            <p:nvPr/>
          </p:nvSpPr>
          <p:spPr bwMode="auto">
            <a:xfrm>
              <a:off x="4359275" y="1671638"/>
              <a:ext cx="288925" cy="255587"/>
            </a:xfrm>
            <a:prstGeom prst="ellipse">
              <a:avLst/>
            </a:prstGeom>
            <a:solidFill>
              <a:schemeClr val="accent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753" name="Line 7"/>
            <p:cNvSpPr>
              <a:spLocks noChangeShapeType="1"/>
            </p:cNvSpPr>
            <p:nvPr/>
          </p:nvSpPr>
          <p:spPr bwMode="auto">
            <a:xfrm>
              <a:off x="4503738" y="3863975"/>
              <a:ext cx="20637" cy="130651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1754" name="Line 8"/>
            <p:cNvSpPr>
              <a:spLocks noChangeShapeType="1"/>
            </p:cNvSpPr>
            <p:nvPr/>
          </p:nvSpPr>
          <p:spPr bwMode="auto">
            <a:xfrm flipV="1">
              <a:off x="4505325" y="3535363"/>
              <a:ext cx="962025" cy="33655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1755" name="Line 9"/>
            <p:cNvSpPr>
              <a:spLocks noChangeShapeType="1"/>
            </p:cNvSpPr>
            <p:nvPr/>
          </p:nvSpPr>
          <p:spPr bwMode="auto">
            <a:xfrm>
              <a:off x="3551238" y="3433763"/>
              <a:ext cx="962025" cy="43338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1756" name="Line 10"/>
            <p:cNvSpPr>
              <a:spLocks noChangeShapeType="1"/>
            </p:cNvSpPr>
            <p:nvPr/>
          </p:nvSpPr>
          <p:spPr bwMode="auto">
            <a:xfrm flipV="1">
              <a:off x="4516438" y="4475163"/>
              <a:ext cx="598487" cy="3492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1757" name="Oval 11"/>
            <p:cNvSpPr>
              <a:spLocks noChangeArrowheads="1"/>
            </p:cNvSpPr>
            <p:nvPr/>
          </p:nvSpPr>
          <p:spPr bwMode="auto">
            <a:xfrm>
              <a:off x="3644900" y="4386263"/>
              <a:ext cx="165100" cy="144462"/>
            </a:xfrm>
            <a:prstGeom prst="ellipse">
              <a:avLst/>
            </a:prstGeom>
            <a:solidFill>
              <a:srgbClr val="808080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758" name="Oval 12"/>
            <p:cNvSpPr>
              <a:spLocks noChangeArrowheads="1"/>
            </p:cNvSpPr>
            <p:nvPr/>
          </p:nvSpPr>
          <p:spPr bwMode="auto">
            <a:xfrm>
              <a:off x="4429125" y="3005138"/>
              <a:ext cx="165100" cy="144462"/>
            </a:xfrm>
            <a:prstGeom prst="ellipse">
              <a:avLst/>
            </a:prstGeom>
            <a:solidFill>
              <a:srgbClr val="808080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759" name="Oval 13"/>
            <p:cNvSpPr>
              <a:spLocks noChangeArrowheads="1"/>
            </p:cNvSpPr>
            <p:nvPr/>
          </p:nvSpPr>
          <p:spPr bwMode="auto">
            <a:xfrm>
              <a:off x="5186363" y="4408488"/>
              <a:ext cx="165100" cy="144462"/>
            </a:xfrm>
            <a:prstGeom prst="ellipse">
              <a:avLst/>
            </a:prstGeom>
            <a:solidFill>
              <a:srgbClr val="808080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760" name="Text Box 14"/>
            <p:cNvSpPr txBox="1">
              <a:spLocks noChangeArrowheads="1"/>
            </p:cNvSpPr>
            <p:nvPr/>
          </p:nvSpPr>
          <p:spPr bwMode="auto">
            <a:xfrm>
              <a:off x="3744913" y="996950"/>
              <a:ext cx="1517650" cy="6413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  <a:cs typeface="ＭＳ Ｐゴシック" charset="0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 sz="1800">
                  <a:latin typeface="Arial" charset="0"/>
                </a:rPr>
                <a:t>FiniteVolume</a:t>
              </a:r>
            </a:p>
            <a:p>
              <a:pPr eaLnBrk="1" hangingPunct="1"/>
              <a:r>
                <a:rPr lang="en-US" sz="1800">
                  <a:latin typeface="Arial" charset="0"/>
                </a:rPr>
                <a:t>=FEM node</a:t>
              </a:r>
              <a:endParaRPr lang="en-GB" sz="1800">
                <a:latin typeface="Arial" charset="0"/>
              </a:endParaRPr>
            </a:p>
          </p:txBody>
        </p:sp>
        <p:sp>
          <p:nvSpPr>
            <p:cNvPr id="31761" name="Text Box 15"/>
            <p:cNvSpPr txBox="1">
              <a:spLocks noChangeArrowheads="1"/>
            </p:cNvSpPr>
            <p:nvPr/>
          </p:nvSpPr>
          <p:spPr bwMode="auto">
            <a:xfrm>
              <a:off x="3151935" y="4641850"/>
              <a:ext cx="1200150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  <a:cs typeface="ＭＳ Ｐゴシック" charset="0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 sz="1800" dirty="0">
                  <a:latin typeface="Arial" charset="0"/>
                </a:rPr>
                <a:t>FV Sector</a:t>
              </a:r>
              <a:endParaRPr lang="en-GB" sz="1800" dirty="0">
                <a:latin typeface="Arial" charset="0"/>
              </a:endParaRPr>
            </a:p>
          </p:txBody>
        </p:sp>
        <p:sp>
          <p:nvSpPr>
            <p:cNvPr id="31762" name="Text Box 16"/>
            <p:cNvSpPr txBox="1">
              <a:spLocks noChangeArrowheads="1"/>
            </p:cNvSpPr>
            <p:nvPr/>
          </p:nvSpPr>
          <p:spPr bwMode="auto">
            <a:xfrm>
              <a:off x="4021138" y="5208588"/>
              <a:ext cx="1111250" cy="3667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  <a:cs typeface="ＭＳ Ｐゴシック" charset="0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 sz="1800">
                  <a:latin typeface="Arial" charset="0"/>
                </a:rPr>
                <a:t>FV Facet</a:t>
              </a:r>
              <a:endParaRPr lang="en-GB" sz="1800">
                <a:latin typeface="Arial" charset="0"/>
              </a:endParaRPr>
            </a:p>
          </p:txBody>
        </p:sp>
        <p:sp>
          <p:nvSpPr>
            <p:cNvPr id="31763" name="Text Box 17"/>
            <p:cNvSpPr txBox="1">
              <a:spLocks noChangeArrowheads="1"/>
            </p:cNvSpPr>
            <p:nvPr/>
          </p:nvSpPr>
          <p:spPr bwMode="auto">
            <a:xfrm>
              <a:off x="1824038" y="5345113"/>
              <a:ext cx="1352550" cy="3667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  <a:cs typeface="ＭＳ Ｐゴシック" charset="0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 sz="1800">
                  <a:latin typeface="Arial" charset="0"/>
                </a:rPr>
                <a:t>inside node</a:t>
              </a:r>
              <a:endParaRPr lang="en-GB" sz="1800">
                <a:latin typeface="Arial" charset="0"/>
              </a:endParaRPr>
            </a:p>
          </p:txBody>
        </p:sp>
        <p:sp>
          <p:nvSpPr>
            <p:cNvPr id="31764" name="Text Box 18"/>
            <p:cNvSpPr txBox="1">
              <a:spLocks noChangeArrowheads="1"/>
            </p:cNvSpPr>
            <p:nvPr/>
          </p:nvSpPr>
          <p:spPr bwMode="auto">
            <a:xfrm>
              <a:off x="5715000" y="5235575"/>
              <a:ext cx="1492250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  <a:cs typeface="ＭＳ Ｐゴシック" charset="0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 sz="1800">
                  <a:latin typeface="Arial" charset="0"/>
                </a:rPr>
                <a:t>outside node</a:t>
              </a:r>
              <a:endParaRPr lang="en-GB" sz="1800">
                <a:latin typeface="Arial" charset="0"/>
              </a:endParaRPr>
            </a:p>
          </p:txBody>
        </p:sp>
        <p:sp>
          <p:nvSpPr>
            <p:cNvPr id="31765" name="Oval 19"/>
            <p:cNvSpPr>
              <a:spLocks noChangeArrowheads="1"/>
            </p:cNvSpPr>
            <p:nvPr/>
          </p:nvSpPr>
          <p:spPr bwMode="auto">
            <a:xfrm>
              <a:off x="4441825" y="4427538"/>
              <a:ext cx="157163" cy="158750"/>
            </a:xfrm>
            <a:prstGeom prst="ellipse">
              <a:avLst/>
            </a:prstGeom>
            <a:solidFill>
              <a:srgbClr val="808080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766" name="Oval 20"/>
            <p:cNvSpPr>
              <a:spLocks noChangeArrowheads="1"/>
            </p:cNvSpPr>
            <p:nvPr/>
          </p:nvSpPr>
          <p:spPr bwMode="auto">
            <a:xfrm>
              <a:off x="4895850" y="3638550"/>
              <a:ext cx="157163" cy="158750"/>
            </a:xfrm>
            <a:prstGeom prst="ellipse">
              <a:avLst/>
            </a:prstGeom>
            <a:solidFill>
              <a:srgbClr val="808080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767" name="Oval 21"/>
            <p:cNvSpPr>
              <a:spLocks noChangeArrowheads="1"/>
            </p:cNvSpPr>
            <p:nvPr/>
          </p:nvSpPr>
          <p:spPr bwMode="auto">
            <a:xfrm>
              <a:off x="3940175" y="3565525"/>
              <a:ext cx="157163" cy="158750"/>
            </a:xfrm>
            <a:prstGeom prst="ellipse">
              <a:avLst/>
            </a:prstGeom>
            <a:solidFill>
              <a:srgbClr val="808080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768" name="Text Box 22"/>
            <p:cNvSpPr txBox="1">
              <a:spLocks noChangeArrowheads="1"/>
            </p:cNvSpPr>
            <p:nvPr/>
          </p:nvSpPr>
          <p:spPr bwMode="auto">
            <a:xfrm>
              <a:off x="4033323" y="2656638"/>
              <a:ext cx="2495550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  <a:cs typeface="ＭＳ Ｐゴシック" charset="0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 sz="1800" dirty="0">
                  <a:latin typeface="Arial" charset="0"/>
                </a:rPr>
                <a:t>sector integration point</a:t>
              </a:r>
              <a:endParaRPr lang="en-GB" sz="1800" dirty="0">
                <a:latin typeface="Arial" charset="0"/>
              </a:endParaRPr>
            </a:p>
          </p:txBody>
        </p:sp>
        <p:sp>
          <p:nvSpPr>
            <p:cNvPr id="31769" name="Rectangle 23"/>
            <p:cNvSpPr>
              <a:spLocks noChangeArrowheads="1"/>
            </p:cNvSpPr>
            <p:nvPr/>
          </p:nvSpPr>
          <p:spPr bwMode="auto">
            <a:xfrm>
              <a:off x="1245085" y="1963969"/>
              <a:ext cx="2454275" cy="9461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r>
                <a:rPr lang="en-US" sz="2000" dirty="0" err="1">
                  <a:latin typeface="Arial" charset="0"/>
                </a:rPr>
                <a:t>FiniteVolumeStencil</a:t>
              </a:r>
              <a:endParaRPr lang="en-US" sz="2000" dirty="0">
                <a:latin typeface="Arial" charset="0"/>
              </a:endParaRPr>
            </a:p>
            <a:p>
              <a:r>
                <a:rPr lang="en-US" dirty="0">
                  <a:latin typeface="Arial" charset="0"/>
                </a:rPr>
                <a:t>(as illustrated for linear triangle)</a:t>
              </a:r>
            </a:p>
          </p:txBody>
        </p:sp>
        <p:sp>
          <p:nvSpPr>
            <p:cNvPr id="31770" name="Text Box 24"/>
            <p:cNvSpPr txBox="1">
              <a:spLocks noChangeArrowheads="1"/>
            </p:cNvSpPr>
            <p:nvPr/>
          </p:nvSpPr>
          <p:spPr bwMode="auto">
            <a:xfrm>
              <a:off x="5002910" y="3249698"/>
              <a:ext cx="1434698" cy="923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  <a:cs typeface="ＭＳ Ｐゴシック" charset="0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 sz="1800" dirty="0">
                  <a:latin typeface="Arial" charset="0"/>
                </a:rPr>
                <a:t>facet integration point</a:t>
              </a:r>
              <a:endParaRPr lang="en-GB" sz="1800" dirty="0">
                <a:latin typeface="Arial" charset="0"/>
              </a:endParaRPr>
            </a:p>
          </p:txBody>
        </p:sp>
        <p:sp>
          <p:nvSpPr>
            <p:cNvPr id="31771" name="Line 25"/>
            <p:cNvSpPr>
              <a:spLocks noChangeShapeType="1"/>
            </p:cNvSpPr>
            <p:nvPr/>
          </p:nvSpPr>
          <p:spPr bwMode="auto">
            <a:xfrm flipV="1">
              <a:off x="5608638" y="2522538"/>
              <a:ext cx="752475" cy="9556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1772" name="Line 26"/>
            <p:cNvSpPr>
              <a:spLocks noChangeShapeType="1"/>
            </p:cNvSpPr>
            <p:nvPr/>
          </p:nvSpPr>
          <p:spPr bwMode="auto">
            <a:xfrm flipH="1" flipV="1">
              <a:off x="2922588" y="2628900"/>
              <a:ext cx="596900" cy="7588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1773" name="Line 27"/>
            <p:cNvSpPr>
              <a:spLocks noChangeShapeType="1"/>
            </p:cNvSpPr>
            <p:nvPr/>
          </p:nvSpPr>
          <p:spPr bwMode="auto">
            <a:xfrm flipV="1">
              <a:off x="6376988" y="1355725"/>
              <a:ext cx="146050" cy="11588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1" name="Text Box 24"/>
            <p:cNvSpPr txBox="1">
              <a:spLocks noChangeArrowheads="1"/>
            </p:cNvSpPr>
            <p:nvPr/>
          </p:nvSpPr>
          <p:spPr bwMode="auto">
            <a:xfrm rot="18000000">
              <a:off x="1825938" y="3596518"/>
              <a:ext cx="263557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  <a:cs typeface="ＭＳ Ｐゴシック" charset="0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 sz="1800" dirty="0" err="1" smtClean="0">
                  <a:latin typeface="Arial" charset="0"/>
                </a:rPr>
                <a:t>subface</a:t>
              </a:r>
              <a:r>
                <a:rPr lang="en-US" sz="1800" dirty="0" smtClean="0">
                  <a:latin typeface="Arial" charset="0"/>
                </a:rPr>
                <a:t> of element face</a:t>
              </a:r>
              <a:endParaRPr lang="en-GB" sz="1800" dirty="0">
                <a:latin typeface="Arial" charset="0"/>
              </a:endParaRPr>
            </a:p>
          </p:txBody>
        </p:sp>
        <p:sp>
          <p:nvSpPr>
            <p:cNvPr id="2" name="TextBox 1"/>
            <p:cNvSpPr txBox="1"/>
            <p:nvPr/>
          </p:nvSpPr>
          <p:spPr>
            <a:xfrm>
              <a:off x="4336480" y="2030451"/>
              <a:ext cx="32127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x</a:t>
              </a:r>
              <a:endParaRPr lang="en-US" dirty="0"/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2809433" y="4739716"/>
              <a:ext cx="32127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x</a:t>
              </a:r>
              <a:endParaRPr lang="en-US" dirty="0"/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5802692" y="4683220"/>
              <a:ext cx="32127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x</a:t>
              </a:r>
              <a:endParaRPr lang="en-US" dirty="0"/>
            </a:p>
          </p:txBody>
        </p:sp>
        <p:sp>
          <p:nvSpPr>
            <p:cNvPr id="35" name="Text Box 22"/>
            <p:cNvSpPr txBox="1">
              <a:spLocks noChangeArrowheads="1"/>
            </p:cNvSpPr>
            <p:nvPr/>
          </p:nvSpPr>
          <p:spPr bwMode="auto">
            <a:xfrm>
              <a:off x="4194099" y="2249211"/>
              <a:ext cx="218641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  <a:cs typeface="ＭＳ Ｐゴシック" charset="0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 sz="1800" dirty="0" smtClean="0">
                  <a:latin typeface="Arial" charset="0"/>
                </a:rPr>
                <a:t>FE integration point</a:t>
              </a:r>
              <a:endParaRPr lang="en-GB" sz="1800" dirty="0">
                <a:latin typeface="Arial" charset="0"/>
              </a:endParaRPr>
            </a:p>
          </p:txBody>
        </p:sp>
      </p:grpSp>
      <p:sp>
        <p:nvSpPr>
          <p:cNvPr id="4" name="Rectangle 3"/>
          <p:cNvSpPr/>
          <p:nvPr/>
        </p:nvSpPr>
        <p:spPr>
          <a:xfrm>
            <a:off x="4620304" y="618902"/>
            <a:ext cx="4523696" cy="24929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 err="1">
                <a:solidFill>
                  <a:srgbClr val="0000FF"/>
                </a:solidFill>
                <a:latin typeface="Courier"/>
                <a:cs typeface="Courier"/>
              </a:rPr>
              <a:t>enum</a:t>
            </a:r>
            <a:r>
              <a:rPr lang="en-US" sz="1200" dirty="0">
                <a:solidFill>
                  <a:srgbClr val="0000FF"/>
                </a:solidFill>
                <a:latin typeface="Courier"/>
                <a:cs typeface="Courier"/>
              </a:rPr>
              <a:t> </a:t>
            </a:r>
            <a:r>
              <a:rPr lang="en-US" sz="1200" dirty="0">
                <a:latin typeface="Courier"/>
                <a:cs typeface="Courier"/>
              </a:rPr>
              <a:t>PLACEMENT { </a:t>
            </a:r>
            <a:r>
              <a:rPr lang="en-US" sz="1200" dirty="0" smtClean="0">
                <a:solidFill>
                  <a:srgbClr val="FF0000"/>
                </a:solidFill>
                <a:latin typeface="Courier"/>
                <a:cs typeface="Courier"/>
              </a:rPr>
              <a:t>ELEMENT_INTEGRATION_POINT </a:t>
            </a:r>
            <a:r>
              <a:rPr lang="en-US" sz="1200" dirty="0">
                <a:solidFill>
                  <a:srgbClr val="FF0000"/>
                </a:solidFill>
                <a:latin typeface="Courier"/>
                <a:cs typeface="Courier"/>
              </a:rPr>
              <a:t>= 1,</a:t>
            </a:r>
          </a:p>
          <a:p>
            <a:r>
              <a:rPr lang="en-US" sz="1200" dirty="0">
                <a:solidFill>
                  <a:srgbClr val="FF0000"/>
                </a:solidFill>
                <a:latin typeface="Courier"/>
                <a:cs typeface="Courier"/>
              </a:rPr>
              <a:t>                 SECTOR_INTEGRATION_POINT = 2,</a:t>
            </a:r>
          </a:p>
          <a:p>
            <a:r>
              <a:rPr lang="en-US" sz="1200" dirty="0">
                <a:solidFill>
                  <a:srgbClr val="FF0000"/>
                </a:solidFill>
                <a:latin typeface="Courier"/>
                <a:cs typeface="Courier"/>
              </a:rPr>
              <a:t>                 FACET_INTEGRATION_POINT = 3,</a:t>
            </a:r>
          </a:p>
          <a:p>
            <a:r>
              <a:rPr lang="en-US" sz="1200" dirty="0">
                <a:latin typeface="Courier"/>
                <a:cs typeface="Courier"/>
              </a:rPr>
              <a:t>                 NODE,</a:t>
            </a:r>
          </a:p>
          <a:p>
            <a:r>
              <a:rPr lang="en-US" sz="1200" dirty="0">
                <a:latin typeface="Courier"/>
                <a:cs typeface="Courier"/>
              </a:rPr>
              <a:t>                 EDGE,</a:t>
            </a:r>
          </a:p>
          <a:p>
            <a:r>
              <a:rPr lang="en-US" sz="1200" dirty="0">
                <a:latin typeface="Courier"/>
                <a:cs typeface="Courier"/>
              </a:rPr>
              <a:t>                 FACE,</a:t>
            </a:r>
          </a:p>
          <a:p>
            <a:r>
              <a:rPr lang="en-US" sz="1200" dirty="0">
                <a:latin typeface="Courier"/>
                <a:cs typeface="Courier"/>
              </a:rPr>
              <a:t>                 INTER_FACE,</a:t>
            </a:r>
          </a:p>
          <a:p>
            <a:r>
              <a:rPr lang="en-US" sz="1200" dirty="0">
                <a:latin typeface="Courier"/>
                <a:cs typeface="Courier"/>
              </a:rPr>
              <a:t>                 ELEMENT,</a:t>
            </a:r>
          </a:p>
          <a:p>
            <a:r>
              <a:rPr lang="en-US" sz="1200" dirty="0">
                <a:latin typeface="Courier"/>
                <a:cs typeface="Courier"/>
              </a:rPr>
              <a:t>                 REGION,</a:t>
            </a:r>
          </a:p>
          <a:p>
            <a:r>
              <a:rPr lang="en-US" sz="1200" dirty="0">
                <a:latin typeface="Courier"/>
                <a:cs typeface="Courier"/>
              </a:rPr>
              <a:t>                 BOUNDARY,</a:t>
            </a:r>
          </a:p>
          <a:p>
            <a:r>
              <a:rPr lang="en-US" sz="1200" dirty="0">
                <a:latin typeface="Courier"/>
                <a:cs typeface="Courier"/>
              </a:rPr>
              <a:t>                 SPLIT_BOUNDARY,</a:t>
            </a:r>
          </a:p>
          <a:p>
            <a:r>
              <a:rPr lang="en-US" sz="1200" dirty="0">
                <a:latin typeface="Courier"/>
                <a:cs typeface="Courier"/>
              </a:rPr>
              <a:t>                 MODEL,</a:t>
            </a:r>
          </a:p>
          <a:p>
            <a:r>
              <a:rPr lang="en-US" sz="1200" dirty="0">
                <a:latin typeface="Courier"/>
                <a:cs typeface="Courier"/>
              </a:rPr>
              <a:t>                 UNDEFINED };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09315" y="269413"/>
            <a:ext cx="8223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FF1F98"/>
                </a:solidFill>
              </a:rPr>
              <a:t>NEW!</a:t>
            </a:r>
            <a:endParaRPr lang="en-US" dirty="0">
              <a:solidFill>
                <a:srgbClr val="FF1F98"/>
              </a:solidFill>
            </a:endParaRPr>
          </a:p>
        </p:txBody>
      </p:sp>
      <p:sp>
        <p:nvSpPr>
          <p:cNvPr id="40" name="Date Placeholder 3"/>
          <p:cNvSpPr>
            <a:spLocks noGrp="1"/>
          </p:cNvSpPr>
          <p:nvPr>
            <p:ph type="dt" sz="half" idx="4294967295"/>
          </p:nvPr>
        </p:nvSpPr>
        <p:spPr>
          <a:xfrm>
            <a:off x="35496" y="649287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>
                    <a:lumMod val="65000"/>
                  </a:schemeClr>
                </a:solidFill>
                <a:latin typeface="Arial"/>
                <a:cs typeface="Arial"/>
              </a:defRPr>
            </a:lvl1pPr>
          </a:lstStyle>
          <a:p>
            <a:pPr defTabSz="457200" fontAlgn="auto">
              <a:spcBef>
                <a:spcPts val="0"/>
              </a:spcBef>
              <a:spcAft>
                <a:spcPts val="0"/>
              </a:spcAft>
            </a:pPr>
            <a:fld id="{57951F7C-CFBF-8144-A102-5B4CA8E4DF9C}" type="datetime1">
              <a:rPr lang="en-US" smtClean="0">
                <a:solidFill>
                  <a:prstClr val="white">
                    <a:lumMod val="65000"/>
                  </a:prstClr>
                </a:solidFill>
                <a:ea typeface="+mn-ea"/>
              </a:rPr>
              <a:pPr defTabSz="457200" fontAlgn="auto">
                <a:spcBef>
                  <a:spcPts val="0"/>
                </a:spcBef>
                <a:spcAft>
                  <a:spcPts val="0"/>
                </a:spcAft>
              </a:pPr>
              <a:t>11/6/12</a:t>
            </a:fld>
            <a:endParaRPr lang="en-US" dirty="0">
              <a:solidFill>
                <a:prstClr val="white">
                  <a:lumMod val="65000"/>
                </a:prstClr>
              </a:solidFill>
              <a:ea typeface="+mn-ea"/>
            </a:endParaRPr>
          </a:p>
        </p:txBody>
      </p:sp>
      <p:sp>
        <p:nvSpPr>
          <p:cNvPr id="41" name="Footer Placeholder 4"/>
          <p:cNvSpPr>
            <a:spLocks noGrp="1"/>
          </p:cNvSpPr>
          <p:nvPr>
            <p:ph type="ftr" sz="quarter" idx="4294967295"/>
          </p:nvPr>
        </p:nvSpPr>
        <p:spPr>
          <a:xfrm>
            <a:off x="3124200" y="6492875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65000"/>
                  </a:schemeClr>
                </a:solidFill>
                <a:latin typeface="Arial"/>
                <a:cs typeface="Arial"/>
              </a:defRPr>
            </a:lvl1pPr>
          </a:lstStyle>
          <a:p>
            <a:pPr defTabSz="457200" fontAlgn="auto">
              <a:spcBef>
                <a:spcPts val="0"/>
              </a:spcBef>
              <a:spcAft>
                <a:spcPts val="0"/>
              </a:spcAft>
            </a:pPr>
            <a:r>
              <a:rPr lang="en-US" dirty="0" smtClean="0">
                <a:solidFill>
                  <a:prstClr val="white">
                    <a:lumMod val="65000"/>
                  </a:prstClr>
                </a:solidFill>
                <a:ea typeface="+mn-ea"/>
              </a:rPr>
              <a:t>CSMP Generic Transport Scheme</a:t>
            </a:r>
            <a:endParaRPr lang="en-US" dirty="0">
              <a:solidFill>
                <a:prstClr val="white">
                  <a:lumMod val="65000"/>
                </a:prstClr>
              </a:solidFill>
              <a:ea typeface="+mn-ea"/>
            </a:endParaRPr>
          </a:p>
        </p:txBody>
      </p:sp>
      <p:sp>
        <p:nvSpPr>
          <p:cNvPr id="42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6974904" y="649287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>
                    <a:lumMod val="65000"/>
                  </a:schemeClr>
                </a:solidFill>
                <a:latin typeface="Arial"/>
                <a:cs typeface="Arial"/>
              </a:defRPr>
            </a:lvl1pPr>
          </a:lstStyle>
          <a:p>
            <a:pPr defTabSz="457200" fontAlgn="auto">
              <a:spcBef>
                <a:spcPts val="0"/>
              </a:spcBef>
              <a:spcAft>
                <a:spcPts val="0"/>
              </a:spcAft>
            </a:pPr>
            <a:r>
              <a:rPr lang="en-US" dirty="0" smtClean="0">
                <a:solidFill>
                  <a:prstClr val="white">
                    <a:lumMod val="65000"/>
                  </a:prstClr>
                </a:solidFill>
                <a:ea typeface="+mn-ea"/>
              </a:rPr>
              <a:t>  </a:t>
            </a:r>
            <a:fld id="{223FD816-CC6A-BF43-8241-637E3E7EAA5A}" type="slidenum">
              <a:rPr lang="en-US" smtClean="0">
                <a:solidFill>
                  <a:prstClr val="white">
                    <a:lumMod val="65000"/>
                  </a:prstClr>
                </a:solidFill>
                <a:ea typeface="+mn-ea"/>
              </a:rPr>
              <a:pPr defTabSz="457200" fontAlgn="auto">
                <a:spcBef>
                  <a:spcPts val="0"/>
                </a:spcBef>
                <a:spcAft>
                  <a:spcPts val="0"/>
                </a:spcAft>
              </a:pPr>
              <a:t>12</a:t>
            </a:fld>
            <a:endParaRPr lang="en-US" dirty="0">
              <a:solidFill>
                <a:prstClr val="white">
                  <a:lumMod val="65000"/>
                </a:prstClr>
              </a:solidFill>
              <a:ea typeface="+mn-ea"/>
            </a:endParaRPr>
          </a:p>
        </p:txBody>
      </p:sp>
      <p:pic>
        <p:nvPicPr>
          <p:cNvPr id="43" name="Picture 4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52968" y="3358704"/>
            <a:ext cx="3443882" cy="168967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61" name="Rectangle 4"/>
          <p:cNvSpPr>
            <a:spLocks noGrp="1" noChangeArrowheads="1"/>
          </p:cNvSpPr>
          <p:nvPr>
            <p:ph type="title"/>
          </p:nvPr>
        </p:nvSpPr>
        <p:spPr>
          <a:xfrm>
            <a:off x="1192213" y="120650"/>
            <a:ext cx="7723187" cy="671513"/>
          </a:xfrm>
        </p:spPr>
        <p:txBody>
          <a:bodyPr/>
          <a:lstStyle/>
          <a:p>
            <a:pPr eaLnBrk="1" hangingPunct="1"/>
            <a:r>
              <a:rPr lang="en-US" sz="2800" smtClean="0">
                <a:latin typeface="Arial" charset="0"/>
                <a:ea typeface="ＭＳ Ｐゴシック" charset="0"/>
                <a:cs typeface="ＭＳ Ｐゴシック" charset="0"/>
              </a:rPr>
              <a:t>Finite-element finite-volume stencils</a:t>
            </a:r>
            <a:endParaRPr lang="en-GB" sz="2400"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pic>
        <p:nvPicPr>
          <p:cNvPr id="23555" name="Picture 3" descr="FVStencilPyra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3813" y="4000500"/>
            <a:ext cx="3160712" cy="2673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556" name="Rectangle 6"/>
          <p:cNvSpPr>
            <a:spLocks noChangeArrowheads="1"/>
          </p:cNvSpPr>
          <p:nvPr/>
        </p:nvSpPr>
        <p:spPr bwMode="auto">
          <a:xfrm>
            <a:off x="2171700" y="14335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23557" name="Rectangle 7"/>
          <p:cNvSpPr>
            <a:spLocks noChangeArrowheads="1"/>
          </p:cNvSpPr>
          <p:nvPr/>
        </p:nvSpPr>
        <p:spPr bwMode="auto">
          <a:xfrm>
            <a:off x="2220913" y="14747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pic>
        <p:nvPicPr>
          <p:cNvPr id="23558" name="Picture 8" descr="AssebledPolyMesh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3913" y="4171593"/>
            <a:ext cx="3017837" cy="2160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560" name="Picture 9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87575" y="828675"/>
            <a:ext cx="5440363" cy="2976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TextBox 10"/>
          <p:cNvSpPr txBox="1"/>
          <p:nvPr/>
        </p:nvSpPr>
        <p:spPr>
          <a:xfrm>
            <a:off x="2801938" y="3835400"/>
            <a:ext cx="3198812" cy="3397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1600" i="1" dirty="0" err="1">
                <a:latin typeface="+mn-lt"/>
                <a:ea typeface="+mn-ea"/>
                <a:cs typeface="+mn-cs"/>
              </a:rPr>
              <a:t>Paluszny</a:t>
            </a:r>
            <a:r>
              <a:rPr lang="en-US" sz="1600" i="1" dirty="0">
                <a:latin typeface="+mn-lt"/>
                <a:ea typeface="+mn-ea"/>
                <a:cs typeface="+mn-cs"/>
              </a:rPr>
              <a:t> et al. (2007, </a:t>
            </a:r>
            <a:r>
              <a:rPr lang="en-US" sz="1600" i="1" dirty="0" err="1">
                <a:latin typeface="+mn-lt"/>
                <a:ea typeface="+mn-ea"/>
                <a:cs typeface="+mn-cs"/>
              </a:rPr>
              <a:t>Geofluids</a:t>
            </a:r>
            <a:r>
              <a:rPr lang="en-US" sz="1600" i="1" dirty="0">
                <a:latin typeface="+mn-lt"/>
                <a:ea typeface="+mn-ea"/>
                <a:cs typeface="+mn-cs"/>
              </a:rPr>
              <a:t>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000" y="1455738"/>
            <a:ext cx="1316038" cy="13239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sz="2000" dirty="0">
                <a:solidFill>
                  <a:srgbClr val="000090"/>
                </a:solidFill>
                <a:latin typeface="Arial"/>
                <a:ea typeface="+mn-ea"/>
                <a:cs typeface="Arial"/>
              </a:rPr>
              <a:t>For </a:t>
            </a:r>
          </a:p>
          <a:p>
            <a:pPr>
              <a:defRPr/>
            </a:pPr>
            <a:r>
              <a:rPr lang="en-US" sz="2000" dirty="0">
                <a:solidFill>
                  <a:srgbClr val="000090"/>
                </a:solidFill>
                <a:latin typeface="Arial"/>
                <a:ea typeface="+mn-ea"/>
                <a:cs typeface="Arial"/>
              </a:rPr>
              <a:t>single element types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7863" y="4572000"/>
            <a:ext cx="1314450" cy="16319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sz="2000" dirty="0">
                <a:solidFill>
                  <a:srgbClr val="000090"/>
                </a:solidFill>
                <a:latin typeface="Arial"/>
                <a:ea typeface="+mn-ea"/>
                <a:cs typeface="Arial"/>
              </a:rPr>
              <a:t>FV cells</a:t>
            </a:r>
          </a:p>
          <a:p>
            <a:pPr>
              <a:defRPr/>
            </a:pPr>
            <a:r>
              <a:rPr lang="en-US" sz="2000" dirty="0">
                <a:solidFill>
                  <a:srgbClr val="000090"/>
                </a:solidFill>
                <a:latin typeface="Arial"/>
                <a:ea typeface="+mn-ea"/>
                <a:cs typeface="Arial"/>
              </a:rPr>
              <a:t>shared by</a:t>
            </a:r>
          </a:p>
          <a:p>
            <a:pPr>
              <a:defRPr/>
            </a:pPr>
            <a:r>
              <a:rPr lang="en-US" sz="2000" dirty="0">
                <a:solidFill>
                  <a:srgbClr val="000090"/>
                </a:solidFill>
                <a:latin typeface="Arial"/>
                <a:ea typeface="+mn-ea"/>
                <a:cs typeface="Arial"/>
              </a:rPr>
              <a:t>different</a:t>
            </a:r>
          </a:p>
          <a:p>
            <a:pPr>
              <a:defRPr/>
            </a:pPr>
            <a:r>
              <a:rPr lang="en-US" sz="2000" dirty="0">
                <a:solidFill>
                  <a:srgbClr val="000090"/>
                </a:solidFill>
                <a:latin typeface="Arial"/>
                <a:ea typeface="+mn-ea"/>
                <a:cs typeface="Arial"/>
              </a:rPr>
              <a:t>element </a:t>
            </a:r>
          </a:p>
          <a:p>
            <a:pPr>
              <a:defRPr/>
            </a:pPr>
            <a:r>
              <a:rPr lang="en-US" sz="2000" dirty="0">
                <a:solidFill>
                  <a:srgbClr val="000090"/>
                </a:solidFill>
                <a:latin typeface="Arial"/>
                <a:ea typeface="+mn-ea"/>
                <a:cs typeface="Arial"/>
              </a:rPr>
              <a:t>types</a:t>
            </a:r>
          </a:p>
        </p:txBody>
      </p:sp>
      <p:sp>
        <p:nvSpPr>
          <p:cNvPr id="214018" name="Rectangle 2"/>
          <p:cNvSpPr>
            <a:spLocks noChangeArrowheads="1"/>
          </p:cNvSpPr>
          <p:nvPr/>
        </p:nvSpPr>
        <p:spPr bwMode="auto">
          <a:xfrm>
            <a:off x="2525405" y="1687037"/>
            <a:ext cx="6268508" cy="1020236"/>
          </a:xfrm>
          <a:prstGeom prst="rect">
            <a:avLst/>
          </a:prstGeom>
          <a:solidFill>
            <a:schemeClr val="bg1">
              <a:alpha val="77000"/>
            </a:schemeClr>
          </a:solidFill>
          <a:ln>
            <a:noFill/>
          </a:ln>
        </p:spPr>
        <p:txBody>
          <a:bodyPr wrap="none" anchor="ctr"/>
          <a:lstStyle/>
          <a:p>
            <a:pPr>
              <a:buFontTx/>
              <a:buChar char="•"/>
            </a:pPr>
            <a:r>
              <a:rPr lang="en-US" sz="1600" dirty="0">
                <a:solidFill>
                  <a:srgbClr val="000000"/>
                </a:solidFill>
                <a:latin typeface="Arial" charset="0"/>
              </a:rPr>
              <a:t> Finite volume mesh is not stored</a:t>
            </a:r>
          </a:p>
          <a:p>
            <a:pPr>
              <a:buFontTx/>
              <a:buChar char="•"/>
            </a:pPr>
            <a:r>
              <a:rPr lang="en-US" sz="1600" dirty="0">
                <a:solidFill>
                  <a:srgbClr val="000000"/>
                </a:solidFill>
                <a:latin typeface="Arial" charset="0"/>
              </a:rPr>
              <a:t> </a:t>
            </a:r>
            <a:r>
              <a:rPr lang="en-US" sz="1600" b="1" dirty="0" err="1" smtClean="0">
                <a:solidFill>
                  <a:srgbClr val="000000"/>
                </a:solidFill>
                <a:latin typeface="Arial" charset="0"/>
              </a:rPr>
              <a:t>FiniteVolumeStencil</a:t>
            </a:r>
            <a:r>
              <a:rPr lang="en-US" sz="1600" dirty="0" err="1" smtClean="0">
                <a:solidFill>
                  <a:srgbClr val="000000"/>
                </a:solidFill>
                <a:latin typeface="Arial" charset="0"/>
              </a:rPr>
              <a:t>s</a:t>
            </a:r>
            <a:r>
              <a:rPr lang="en-US" sz="1600" dirty="0" smtClean="0">
                <a:solidFill>
                  <a:srgbClr val="000000"/>
                </a:solidFill>
                <a:latin typeface="Arial" charset="0"/>
              </a:rPr>
              <a:t> for each FE type which has a reference </a:t>
            </a:r>
          </a:p>
          <a:p>
            <a:r>
              <a:rPr lang="en-US" sz="1600" dirty="0">
                <a:solidFill>
                  <a:srgbClr val="000000"/>
                </a:solidFill>
                <a:latin typeface="Arial" charset="0"/>
              </a:rPr>
              <a:t> </a:t>
            </a:r>
            <a:r>
              <a:rPr lang="en-US" sz="1600" dirty="0" smtClean="0">
                <a:solidFill>
                  <a:srgbClr val="000000"/>
                </a:solidFill>
                <a:latin typeface="Arial" charset="0"/>
              </a:rPr>
              <a:t> representation in parametric space</a:t>
            </a:r>
          </a:p>
          <a:p>
            <a:pPr>
              <a:buFontTx/>
              <a:buChar char="•"/>
            </a:pPr>
            <a:r>
              <a:rPr lang="en-US" sz="1600" dirty="0" smtClean="0">
                <a:solidFill>
                  <a:srgbClr val="000000"/>
                </a:solidFill>
                <a:latin typeface="Arial" charset="0"/>
              </a:rPr>
              <a:t>Jacobi transformations applied via </a:t>
            </a:r>
            <a:r>
              <a:rPr lang="en-US" sz="1600" b="1" dirty="0" err="1" smtClean="0">
                <a:solidFill>
                  <a:srgbClr val="000000"/>
                </a:solidFill>
                <a:latin typeface="Arial" charset="0"/>
              </a:rPr>
              <a:t>FiniteVolumeTraits</a:t>
            </a:r>
            <a:r>
              <a:rPr lang="en-US" sz="1600" b="1" dirty="0" smtClean="0">
                <a:solidFill>
                  <a:srgbClr val="000000"/>
                </a:solidFill>
                <a:latin typeface="Arial" charset="0"/>
              </a:rPr>
              <a:t> </a:t>
            </a:r>
          </a:p>
          <a:p>
            <a:r>
              <a:rPr lang="en-US" sz="1600" dirty="0" smtClean="0">
                <a:solidFill>
                  <a:srgbClr val="000000"/>
                </a:solidFill>
                <a:latin typeface="Arial" charset="0"/>
              </a:rPr>
              <a:t>  to get physical space properties</a:t>
            </a:r>
            <a:endParaRPr lang="en-US" sz="1600" dirty="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15" name="Date Placeholder 3"/>
          <p:cNvSpPr>
            <a:spLocks noGrp="1"/>
          </p:cNvSpPr>
          <p:nvPr>
            <p:ph type="dt" sz="half" idx="4294967295"/>
          </p:nvPr>
        </p:nvSpPr>
        <p:spPr>
          <a:xfrm>
            <a:off x="35496" y="649287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>
                    <a:lumMod val="65000"/>
                  </a:schemeClr>
                </a:solidFill>
                <a:latin typeface="Arial"/>
                <a:cs typeface="Arial"/>
              </a:defRPr>
            </a:lvl1pPr>
          </a:lstStyle>
          <a:p>
            <a:pPr defTabSz="457200" fontAlgn="auto">
              <a:spcBef>
                <a:spcPts val="0"/>
              </a:spcBef>
              <a:spcAft>
                <a:spcPts val="0"/>
              </a:spcAft>
            </a:pPr>
            <a:fld id="{57951F7C-CFBF-8144-A102-5B4CA8E4DF9C}" type="datetime1">
              <a:rPr lang="en-US" smtClean="0">
                <a:solidFill>
                  <a:prstClr val="white">
                    <a:lumMod val="65000"/>
                  </a:prstClr>
                </a:solidFill>
                <a:ea typeface="+mn-ea"/>
              </a:rPr>
              <a:pPr defTabSz="457200" fontAlgn="auto">
                <a:spcBef>
                  <a:spcPts val="0"/>
                </a:spcBef>
                <a:spcAft>
                  <a:spcPts val="0"/>
                </a:spcAft>
              </a:pPr>
              <a:t>11/6/12</a:t>
            </a:fld>
            <a:endParaRPr lang="en-US" dirty="0">
              <a:solidFill>
                <a:prstClr val="white">
                  <a:lumMod val="65000"/>
                </a:prstClr>
              </a:solidFill>
              <a:ea typeface="+mn-ea"/>
            </a:endParaRPr>
          </a:p>
        </p:txBody>
      </p:sp>
      <p:sp>
        <p:nvSpPr>
          <p:cNvPr id="16" name="Footer Placeholder 4"/>
          <p:cNvSpPr>
            <a:spLocks noGrp="1"/>
          </p:cNvSpPr>
          <p:nvPr>
            <p:ph type="ftr" sz="quarter" idx="4294967295"/>
          </p:nvPr>
        </p:nvSpPr>
        <p:spPr>
          <a:xfrm>
            <a:off x="3124200" y="6492875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65000"/>
                  </a:schemeClr>
                </a:solidFill>
                <a:latin typeface="Arial"/>
                <a:cs typeface="Arial"/>
              </a:defRPr>
            </a:lvl1pPr>
          </a:lstStyle>
          <a:p>
            <a:pPr defTabSz="457200" fontAlgn="auto">
              <a:spcBef>
                <a:spcPts val="0"/>
              </a:spcBef>
              <a:spcAft>
                <a:spcPts val="0"/>
              </a:spcAft>
            </a:pPr>
            <a:r>
              <a:rPr lang="en-US" dirty="0" smtClean="0">
                <a:solidFill>
                  <a:prstClr val="white">
                    <a:lumMod val="65000"/>
                  </a:prstClr>
                </a:solidFill>
                <a:ea typeface="+mn-ea"/>
              </a:rPr>
              <a:t>CSMP Generic Transport Scheme</a:t>
            </a:r>
            <a:endParaRPr lang="en-US" dirty="0">
              <a:solidFill>
                <a:prstClr val="white">
                  <a:lumMod val="65000"/>
                </a:prstClr>
              </a:solidFill>
              <a:ea typeface="+mn-ea"/>
            </a:endParaRPr>
          </a:p>
        </p:txBody>
      </p:sp>
      <p:sp>
        <p:nvSpPr>
          <p:cNvPr id="17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6974904" y="649287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>
                    <a:lumMod val="65000"/>
                  </a:schemeClr>
                </a:solidFill>
                <a:latin typeface="Arial"/>
                <a:cs typeface="Arial"/>
              </a:defRPr>
            </a:lvl1pPr>
          </a:lstStyle>
          <a:p>
            <a:pPr defTabSz="457200" fontAlgn="auto">
              <a:spcBef>
                <a:spcPts val="0"/>
              </a:spcBef>
              <a:spcAft>
                <a:spcPts val="0"/>
              </a:spcAft>
            </a:pPr>
            <a:r>
              <a:rPr lang="en-US" dirty="0" smtClean="0">
                <a:solidFill>
                  <a:prstClr val="white">
                    <a:lumMod val="65000"/>
                  </a:prstClr>
                </a:solidFill>
                <a:ea typeface="+mn-ea"/>
              </a:rPr>
              <a:t>  </a:t>
            </a:r>
            <a:fld id="{223FD816-CC6A-BF43-8241-637E3E7EAA5A}" type="slidenum">
              <a:rPr lang="en-US" smtClean="0">
                <a:solidFill>
                  <a:prstClr val="white">
                    <a:lumMod val="65000"/>
                  </a:prstClr>
                </a:solidFill>
                <a:ea typeface="+mn-ea"/>
              </a:rPr>
              <a:pPr defTabSz="457200" fontAlgn="auto">
                <a:spcBef>
                  <a:spcPts val="0"/>
                </a:spcBef>
                <a:spcAft>
                  <a:spcPts val="0"/>
                </a:spcAft>
              </a:pPr>
              <a:t>13</a:t>
            </a:fld>
            <a:endParaRPr lang="en-US" dirty="0">
              <a:solidFill>
                <a:prstClr val="white">
                  <a:lumMod val="65000"/>
                </a:prstClr>
              </a:solidFill>
              <a:ea typeface="+mn-ea"/>
            </a:endParaRP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1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4018" grpId="0" build="p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83560"/>
            <a:ext cx="8229600" cy="442856"/>
          </a:xfrm>
        </p:spPr>
        <p:txBody>
          <a:bodyPr>
            <a:noAutofit/>
          </a:bodyPr>
          <a:lstStyle/>
          <a:p>
            <a:pPr eaLnBrk="1" hangingPunct="1"/>
            <a:r>
              <a:rPr lang="en-US" sz="2800" dirty="0" smtClean="0"/>
              <a:t>Access to </a:t>
            </a:r>
            <a:r>
              <a:rPr lang="en-US" sz="2800" dirty="0" err="1" smtClean="0"/>
              <a:t>FiniteVolume</a:t>
            </a:r>
            <a:r>
              <a:rPr lang="en-US" sz="2800" dirty="0" smtClean="0"/>
              <a:t> properties / parameters</a:t>
            </a:r>
            <a:endParaRPr lang="en-GB" sz="2800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199" y="605243"/>
            <a:ext cx="8413791" cy="890443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 dirty="0" smtClean="0"/>
              <a:t>through </a:t>
            </a:r>
            <a:r>
              <a:rPr lang="en-US" b="1" dirty="0" err="1" smtClean="0"/>
              <a:t>FiniteVolumeTrait</a:t>
            </a:r>
            <a:r>
              <a:rPr lang="en-US" dirty="0" err="1" smtClean="0"/>
              <a:t>s</a:t>
            </a:r>
            <a:r>
              <a:rPr lang="en-US" dirty="0" smtClean="0"/>
              <a:t> added to Element / Face / Interface:   </a:t>
            </a:r>
            <a:r>
              <a:rPr lang="en-US" dirty="0" err="1" smtClean="0"/>
              <a:t>e.SectorVolume</a:t>
            </a:r>
            <a:r>
              <a:rPr lang="en-US" dirty="0" smtClean="0"/>
              <a:t>(</a:t>
            </a:r>
            <a:r>
              <a:rPr lang="en-US" dirty="0" err="1" smtClean="0"/>
              <a:t>i</a:t>
            </a:r>
            <a:r>
              <a:rPr lang="en-US" dirty="0" smtClean="0"/>
              <a:t>);</a:t>
            </a:r>
          </a:p>
          <a:p>
            <a:r>
              <a:rPr lang="en-US" dirty="0" smtClean="0"/>
              <a:t>As fast as possible, but it is better to store values if these are used repeatedly</a:t>
            </a:r>
            <a:endParaRPr lang="en-US" dirty="0"/>
          </a:p>
        </p:txBody>
      </p:sp>
      <p:grpSp>
        <p:nvGrpSpPr>
          <p:cNvPr id="7" name="Group 6"/>
          <p:cNvGrpSpPr/>
          <p:nvPr/>
        </p:nvGrpSpPr>
        <p:grpSpPr>
          <a:xfrm>
            <a:off x="2699641" y="4134045"/>
            <a:ext cx="3340100" cy="2332038"/>
            <a:chOff x="2699641" y="3975281"/>
            <a:chExt cx="3340100" cy="2332038"/>
          </a:xfrm>
        </p:grpSpPr>
        <p:sp>
          <p:nvSpPr>
            <p:cNvPr id="33802" name="Text Box 8"/>
            <p:cNvSpPr txBox="1">
              <a:spLocks noChangeArrowheads="1"/>
            </p:cNvSpPr>
            <p:nvPr/>
          </p:nvSpPr>
          <p:spPr bwMode="auto">
            <a:xfrm>
              <a:off x="4036316" y="4859519"/>
              <a:ext cx="1993900" cy="355600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defTabSz="457200"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sz="1600">
                  <a:solidFill>
                    <a:prstClr val="black"/>
                  </a:solidFill>
                  <a:latin typeface="Arial" charset="0"/>
                  <a:ea typeface="+mn-ea"/>
                  <a:cs typeface="+mn-cs"/>
                </a:rPr>
                <a:t>FiniteVolumeStencil</a:t>
              </a:r>
              <a:endParaRPr lang="en-GB" sz="1600">
                <a:solidFill>
                  <a:prstClr val="black"/>
                </a:solidFill>
                <a:latin typeface="Arial" charset="0"/>
                <a:ea typeface="+mn-ea"/>
                <a:cs typeface="+mn-cs"/>
              </a:endParaRPr>
            </a:p>
          </p:txBody>
        </p:sp>
        <p:sp>
          <p:nvSpPr>
            <p:cNvPr id="33803" name="Text Box 9"/>
            <p:cNvSpPr txBox="1">
              <a:spLocks noChangeArrowheads="1"/>
            </p:cNvSpPr>
            <p:nvPr/>
          </p:nvSpPr>
          <p:spPr bwMode="auto">
            <a:xfrm>
              <a:off x="2713929" y="5407206"/>
              <a:ext cx="2795587" cy="355600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defTabSz="457200"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sz="1600">
                  <a:solidFill>
                    <a:prstClr val="black"/>
                  </a:solidFill>
                  <a:latin typeface="Arial" charset="0"/>
                  <a:ea typeface="+mn-ea"/>
                  <a:cs typeface="+mn-cs"/>
                </a:rPr>
                <a:t>FiniteVolumeStencilManager</a:t>
              </a:r>
              <a:endParaRPr lang="en-GB" sz="1600">
                <a:solidFill>
                  <a:prstClr val="black"/>
                </a:solidFill>
                <a:latin typeface="Arial" charset="0"/>
                <a:ea typeface="+mn-ea"/>
                <a:cs typeface="+mn-cs"/>
              </a:endParaRPr>
            </a:p>
          </p:txBody>
        </p:sp>
        <p:sp>
          <p:nvSpPr>
            <p:cNvPr id="33804" name="Text Box 10"/>
            <p:cNvSpPr txBox="1">
              <a:spLocks noChangeArrowheads="1"/>
            </p:cNvSpPr>
            <p:nvPr/>
          </p:nvSpPr>
          <p:spPr bwMode="auto">
            <a:xfrm>
              <a:off x="2777429" y="5951719"/>
              <a:ext cx="3192462" cy="355600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defTabSz="457200"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sz="1600">
                  <a:solidFill>
                    <a:prstClr val="black"/>
                  </a:solidFill>
                  <a:latin typeface="Arial" charset="0"/>
                  <a:ea typeface="+mn-ea"/>
                  <a:cs typeface="+mn-cs"/>
                </a:rPr>
                <a:t>FV_IntegrationPointsAndWeights</a:t>
              </a:r>
              <a:endParaRPr lang="en-GB" sz="1600">
                <a:solidFill>
                  <a:prstClr val="black"/>
                </a:solidFill>
                <a:latin typeface="Arial" charset="0"/>
                <a:ea typeface="+mn-ea"/>
                <a:cs typeface="+mn-cs"/>
              </a:endParaRPr>
            </a:p>
          </p:txBody>
        </p:sp>
        <p:sp>
          <p:nvSpPr>
            <p:cNvPr id="33805" name="Text Box 12"/>
            <p:cNvSpPr txBox="1">
              <a:spLocks noChangeArrowheads="1"/>
            </p:cNvSpPr>
            <p:nvPr/>
          </p:nvSpPr>
          <p:spPr bwMode="auto">
            <a:xfrm>
              <a:off x="4047429" y="3975281"/>
              <a:ext cx="1893887" cy="355600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defTabSz="457200"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sz="1600">
                  <a:solidFill>
                    <a:prstClr val="black"/>
                  </a:solidFill>
                  <a:latin typeface="Arial" charset="0"/>
                  <a:ea typeface="+mn-ea"/>
                  <a:cs typeface="+mn-cs"/>
                </a:rPr>
                <a:t>FiniteVolumeTraits</a:t>
              </a:r>
              <a:endParaRPr lang="en-GB" sz="1600">
                <a:solidFill>
                  <a:prstClr val="black"/>
                </a:solidFill>
                <a:latin typeface="Arial" charset="0"/>
                <a:ea typeface="+mn-ea"/>
                <a:cs typeface="+mn-cs"/>
              </a:endParaRPr>
            </a:p>
          </p:txBody>
        </p:sp>
        <p:sp>
          <p:nvSpPr>
            <p:cNvPr id="33806" name="Text Box 13"/>
            <p:cNvSpPr txBox="1">
              <a:spLocks noChangeArrowheads="1"/>
            </p:cNvSpPr>
            <p:nvPr/>
          </p:nvSpPr>
          <p:spPr bwMode="auto">
            <a:xfrm>
              <a:off x="2709166" y="4857931"/>
              <a:ext cx="947738" cy="355600"/>
            </a:xfrm>
            <a:prstGeom prst="rect">
              <a:avLst/>
            </a:prstGeom>
            <a:noFill/>
            <a:ln w="19050">
              <a:solidFill>
                <a:srgbClr val="B2B2B2"/>
              </a:solidFill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defTabSz="457200"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sz="1600">
                  <a:solidFill>
                    <a:srgbClr val="B2B2B2"/>
                  </a:solidFill>
                  <a:latin typeface="Arial" charset="0"/>
                  <a:ea typeface="+mn-ea"/>
                  <a:cs typeface="+mn-cs"/>
                </a:rPr>
                <a:t>Element</a:t>
              </a:r>
              <a:endParaRPr lang="en-GB" sz="1600">
                <a:solidFill>
                  <a:srgbClr val="B2B2B2"/>
                </a:solidFill>
                <a:latin typeface="Arial" charset="0"/>
                <a:ea typeface="+mn-ea"/>
                <a:cs typeface="+mn-cs"/>
              </a:endParaRPr>
            </a:p>
          </p:txBody>
        </p:sp>
        <p:sp>
          <p:nvSpPr>
            <p:cNvPr id="33811" name="Rectangle 18"/>
            <p:cNvSpPr>
              <a:spLocks noChangeArrowheads="1"/>
            </p:cNvSpPr>
            <p:nvPr/>
          </p:nvSpPr>
          <p:spPr bwMode="auto">
            <a:xfrm>
              <a:off x="2810766" y="4302306"/>
              <a:ext cx="2513013" cy="2444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defTabSz="457200"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sz="1000" dirty="0">
                  <a:solidFill>
                    <a:prstClr val="black"/>
                  </a:solidFill>
                  <a:latin typeface="Arial" charset="0"/>
                  <a:ea typeface="+mn-ea"/>
                  <a:cs typeface="+mn-cs"/>
                </a:rPr>
                <a:t>additional FV functionality for the Element</a:t>
              </a:r>
              <a:endParaRPr lang="en-GB" sz="1000" dirty="0">
                <a:solidFill>
                  <a:prstClr val="black"/>
                </a:solidFill>
                <a:latin typeface="Arial" charset="0"/>
                <a:ea typeface="+mn-ea"/>
                <a:cs typeface="+mn-cs"/>
              </a:endParaRPr>
            </a:p>
          </p:txBody>
        </p:sp>
        <p:cxnSp>
          <p:nvCxnSpPr>
            <p:cNvPr id="33817" name="AutoShape 24"/>
            <p:cNvCxnSpPr>
              <a:cxnSpLocks noChangeShapeType="1"/>
              <a:stCxn id="33806" idx="3"/>
              <a:endCxn id="33802" idx="1"/>
            </p:cNvCxnSpPr>
            <p:nvPr/>
          </p:nvCxnSpPr>
          <p:spPr bwMode="auto">
            <a:xfrm>
              <a:off x="3666429" y="5035731"/>
              <a:ext cx="360362" cy="1588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</p:spPr>
        </p:cxnSp>
        <p:cxnSp>
          <p:nvCxnSpPr>
            <p:cNvPr id="33818" name="AutoShape 25"/>
            <p:cNvCxnSpPr>
              <a:cxnSpLocks noChangeShapeType="1"/>
              <a:stCxn id="33805" idx="1"/>
              <a:endCxn id="33806" idx="1"/>
            </p:cNvCxnSpPr>
            <p:nvPr/>
          </p:nvCxnSpPr>
          <p:spPr bwMode="auto">
            <a:xfrm rot="10800000" flipV="1">
              <a:off x="2699641" y="4153081"/>
              <a:ext cx="1338263" cy="882650"/>
            </a:xfrm>
            <a:prstGeom prst="bentConnector3">
              <a:avLst>
                <a:gd name="adj1" fmla="val 116370"/>
              </a:avLst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</p:spPr>
        </p:cxnSp>
        <p:cxnSp>
          <p:nvCxnSpPr>
            <p:cNvPr id="33819" name="AutoShape 26"/>
            <p:cNvCxnSpPr>
              <a:cxnSpLocks noChangeShapeType="1"/>
              <a:stCxn id="33802" idx="3"/>
              <a:endCxn id="33803" idx="3"/>
            </p:cNvCxnSpPr>
            <p:nvPr/>
          </p:nvCxnSpPr>
          <p:spPr bwMode="auto">
            <a:xfrm flipH="1">
              <a:off x="5519041" y="5037319"/>
              <a:ext cx="520700" cy="547687"/>
            </a:xfrm>
            <a:prstGeom prst="bentConnector3">
              <a:avLst>
                <a:gd name="adj1" fmla="val -42074"/>
              </a:avLst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</p:spPr>
        </p:cxnSp>
        <p:cxnSp>
          <p:nvCxnSpPr>
            <p:cNvPr id="33820" name="AutoShape 27"/>
            <p:cNvCxnSpPr>
              <a:cxnSpLocks noChangeShapeType="1"/>
              <a:stCxn id="33803" idx="2"/>
              <a:endCxn id="33804" idx="0"/>
            </p:cNvCxnSpPr>
            <p:nvPr/>
          </p:nvCxnSpPr>
          <p:spPr bwMode="auto">
            <a:xfrm rot="16200000" flipH="1">
              <a:off x="4158553" y="5726294"/>
              <a:ext cx="169863" cy="261938"/>
            </a:xfrm>
            <a:prstGeom prst="bentConnector3">
              <a:avLst>
                <a:gd name="adj1" fmla="val 49532"/>
              </a:avLst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</p:spPr>
        </p:cxnSp>
      </p:grpSp>
      <p:sp>
        <p:nvSpPr>
          <p:cNvPr id="6" name="Rectangle 5"/>
          <p:cNvSpPr/>
          <p:nvPr/>
        </p:nvSpPr>
        <p:spPr>
          <a:xfrm>
            <a:off x="71814" y="1313988"/>
            <a:ext cx="9063840" cy="24929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 smtClean="0">
                <a:latin typeface="Courier"/>
                <a:cs typeface="Courier"/>
              </a:rPr>
              <a:t>double64   </a:t>
            </a:r>
            <a:r>
              <a:rPr lang="en-US" sz="1200" dirty="0" err="1">
                <a:latin typeface="Courier"/>
                <a:cs typeface="Courier"/>
              </a:rPr>
              <a:t>SectorVolume</a:t>
            </a:r>
            <a:r>
              <a:rPr lang="en-US" sz="1200" dirty="0">
                <a:latin typeface="Courier"/>
                <a:cs typeface="Courier"/>
              </a:rPr>
              <a:t>( </a:t>
            </a:r>
            <a:r>
              <a:rPr lang="en-US" sz="1200" dirty="0" err="1">
                <a:latin typeface="Courier"/>
                <a:cs typeface="Courier"/>
              </a:rPr>
              <a:t>size_t</a:t>
            </a:r>
            <a:r>
              <a:rPr lang="en-US" sz="1200" dirty="0">
                <a:latin typeface="Courier"/>
                <a:cs typeface="Courier"/>
              </a:rPr>
              <a:t> </a:t>
            </a:r>
            <a:r>
              <a:rPr lang="en-US" sz="1200" dirty="0" err="1">
                <a:latin typeface="Courier"/>
                <a:cs typeface="Courier"/>
              </a:rPr>
              <a:t>iSector</a:t>
            </a:r>
            <a:r>
              <a:rPr lang="en-US" sz="1200" dirty="0">
                <a:latin typeface="Courier"/>
                <a:cs typeface="Courier"/>
              </a:rPr>
              <a:t> ) </a:t>
            </a:r>
            <a:r>
              <a:rPr lang="en-US" sz="1200" dirty="0" err="1">
                <a:solidFill>
                  <a:srgbClr val="0000FF"/>
                </a:solidFill>
                <a:latin typeface="Courier"/>
                <a:cs typeface="Courier"/>
              </a:rPr>
              <a:t>const</a:t>
            </a:r>
            <a:r>
              <a:rPr lang="en-US" sz="1200" dirty="0">
                <a:latin typeface="Courier"/>
                <a:cs typeface="Courier"/>
              </a:rPr>
              <a:t>;</a:t>
            </a:r>
          </a:p>
          <a:p>
            <a:r>
              <a:rPr lang="en-US" sz="1200" dirty="0" smtClean="0">
                <a:latin typeface="Courier"/>
                <a:cs typeface="Courier"/>
              </a:rPr>
              <a:t>double64   </a:t>
            </a:r>
            <a:r>
              <a:rPr lang="en-US" sz="1200" dirty="0" err="1">
                <a:latin typeface="Courier"/>
                <a:cs typeface="Courier"/>
              </a:rPr>
              <a:t>FacetArea</a:t>
            </a:r>
            <a:r>
              <a:rPr lang="en-US" sz="1200" dirty="0">
                <a:latin typeface="Courier"/>
                <a:cs typeface="Courier"/>
              </a:rPr>
              <a:t>( </a:t>
            </a:r>
            <a:r>
              <a:rPr lang="en-US" sz="1200" dirty="0" err="1">
                <a:latin typeface="Courier"/>
                <a:cs typeface="Courier"/>
              </a:rPr>
              <a:t>size_t</a:t>
            </a:r>
            <a:r>
              <a:rPr lang="en-US" sz="1200" dirty="0">
                <a:latin typeface="Courier"/>
                <a:cs typeface="Courier"/>
              </a:rPr>
              <a:t> </a:t>
            </a:r>
            <a:r>
              <a:rPr lang="en-US" sz="1200" dirty="0" err="1">
                <a:latin typeface="Courier"/>
                <a:cs typeface="Courier"/>
              </a:rPr>
              <a:t>iFacet</a:t>
            </a:r>
            <a:r>
              <a:rPr lang="en-US" sz="1200" dirty="0">
                <a:latin typeface="Courier"/>
                <a:cs typeface="Courier"/>
              </a:rPr>
              <a:t> ) </a:t>
            </a:r>
            <a:r>
              <a:rPr lang="en-US" sz="1200" dirty="0" err="1">
                <a:solidFill>
                  <a:srgbClr val="0000FF"/>
                </a:solidFill>
                <a:latin typeface="Courier"/>
                <a:cs typeface="Courier"/>
              </a:rPr>
              <a:t>const</a:t>
            </a:r>
            <a:r>
              <a:rPr lang="en-US" sz="1200" dirty="0">
                <a:latin typeface="Courier"/>
                <a:cs typeface="Courier"/>
              </a:rPr>
              <a:t>; </a:t>
            </a:r>
          </a:p>
          <a:p>
            <a:r>
              <a:rPr lang="en-US" sz="1200" dirty="0" smtClean="0">
                <a:latin typeface="Courier"/>
                <a:cs typeface="Courier"/>
              </a:rPr>
              <a:t>Point</a:t>
            </a:r>
            <a:r>
              <a:rPr lang="en-US" sz="1200" dirty="0">
                <a:latin typeface="Courier"/>
                <a:cs typeface="Courier"/>
              </a:rPr>
              <a:t>&lt;3U&gt;  </a:t>
            </a:r>
            <a:r>
              <a:rPr lang="en-US" sz="1200" dirty="0" err="1">
                <a:latin typeface="Courier"/>
                <a:cs typeface="Courier"/>
              </a:rPr>
              <a:t>FacetNormal</a:t>
            </a:r>
            <a:r>
              <a:rPr lang="en-US" sz="1200" dirty="0">
                <a:latin typeface="Courier"/>
                <a:cs typeface="Courier"/>
              </a:rPr>
              <a:t>( </a:t>
            </a:r>
            <a:r>
              <a:rPr lang="en-US" sz="1200" dirty="0" err="1">
                <a:latin typeface="Courier"/>
                <a:cs typeface="Courier"/>
              </a:rPr>
              <a:t>size_t</a:t>
            </a:r>
            <a:r>
              <a:rPr lang="en-US" sz="1200" dirty="0">
                <a:latin typeface="Courier"/>
                <a:cs typeface="Courier"/>
              </a:rPr>
              <a:t> </a:t>
            </a:r>
            <a:r>
              <a:rPr lang="en-US" sz="1200" dirty="0" err="1">
                <a:latin typeface="Courier"/>
                <a:cs typeface="Courier"/>
              </a:rPr>
              <a:t>iFacet</a:t>
            </a:r>
            <a:r>
              <a:rPr lang="en-US" sz="1200" dirty="0">
                <a:latin typeface="Courier"/>
                <a:cs typeface="Courier"/>
              </a:rPr>
              <a:t> ) </a:t>
            </a:r>
            <a:r>
              <a:rPr lang="en-US" sz="1200" dirty="0" err="1">
                <a:solidFill>
                  <a:srgbClr val="0000FF"/>
                </a:solidFill>
                <a:latin typeface="Courier"/>
                <a:cs typeface="Courier"/>
              </a:rPr>
              <a:t>const</a:t>
            </a:r>
            <a:r>
              <a:rPr lang="en-US" sz="1200" dirty="0">
                <a:latin typeface="Courier"/>
                <a:cs typeface="Courier"/>
              </a:rPr>
              <a:t>; </a:t>
            </a:r>
          </a:p>
          <a:p>
            <a:r>
              <a:rPr lang="en-US" sz="1200" dirty="0" smtClean="0">
                <a:latin typeface="Courier"/>
                <a:cs typeface="Courier"/>
              </a:rPr>
              <a:t>double64   </a:t>
            </a:r>
            <a:r>
              <a:rPr lang="en-US" sz="1200" dirty="0" err="1">
                <a:latin typeface="Courier"/>
                <a:cs typeface="Courier"/>
              </a:rPr>
              <a:t>FacetIntegral</a:t>
            </a:r>
            <a:r>
              <a:rPr lang="en-US" sz="1200" dirty="0">
                <a:latin typeface="Courier"/>
                <a:cs typeface="Courier"/>
              </a:rPr>
              <a:t>( </a:t>
            </a:r>
            <a:r>
              <a:rPr lang="en-US" sz="1200" dirty="0" err="1">
                <a:latin typeface="Courier"/>
                <a:cs typeface="Courier"/>
              </a:rPr>
              <a:t>size_t</a:t>
            </a:r>
            <a:r>
              <a:rPr lang="en-US" sz="1200" dirty="0">
                <a:latin typeface="Courier"/>
                <a:cs typeface="Courier"/>
              </a:rPr>
              <a:t> </a:t>
            </a:r>
            <a:r>
              <a:rPr lang="en-US" sz="1200" dirty="0" err="1">
                <a:latin typeface="Courier"/>
                <a:cs typeface="Courier"/>
              </a:rPr>
              <a:t>iFacet</a:t>
            </a:r>
            <a:r>
              <a:rPr lang="en-US" sz="1200" dirty="0">
                <a:latin typeface="Courier"/>
                <a:cs typeface="Courier"/>
              </a:rPr>
              <a:t>, </a:t>
            </a:r>
            <a:r>
              <a:rPr lang="en-US" sz="1200" dirty="0" err="1">
                <a:solidFill>
                  <a:srgbClr val="0000FF"/>
                </a:solidFill>
                <a:latin typeface="Courier"/>
                <a:cs typeface="Courier"/>
              </a:rPr>
              <a:t>const</a:t>
            </a:r>
            <a:r>
              <a:rPr lang="en-US" sz="1200" dirty="0">
                <a:solidFill>
                  <a:srgbClr val="0000FF"/>
                </a:solidFill>
                <a:latin typeface="Courier"/>
                <a:cs typeface="Courier"/>
              </a:rPr>
              <a:t> </a:t>
            </a:r>
            <a:r>
              <a:rPr lang="en-US" sz="1200" dirty="0" smtClean="0">
                <a:latin typeface="Courier"/>
                <a:cs typeface="Courier"/>
              </a:rPr>
              <a:t>Index&amp; ) </a:t>
            </a:r>
            <a:r>
              <a:rPr lang="en-US" sz="1200" dirty="0" err="1">
                <a:solidFill>
                  <a:srgbClr val="0000FF"/>
                </a:solidFill>
                <a:latin typeface="Courier"/>
                <a:cs typeface="Courier"/>
              </a:rPr>
              <a:t>const</a:t>
            </a:r>
            <a:r>
              <a:rPr lang="en-US" sz="1200" dirty="0">
                <a:latin typeface="Courier"/>
                <a:cs typeface="Courier"/>
              </a:rPr>
              <a:t>;</a:t>
            </a:r>
          </a:p>
          <a:p>
            <a:r>
              <a:rPr lang="en-US" sz="1200" dirty="0" smtClean="0">
                <a:latin typeface="Courier"/>
                <a:cs typeface="Courier"/>
              </a:rPr>
              <a:t>double64   </a:t>
            </a:r>
            <a:r>
              <a:rPr lang="en-US" sz="1200" dirty="0" err="1">
                <a:latin typeface="Courier"/>
                <a:cs typeface="Courier"/>
              </a:rPr>
              <a:t>SectorIntegral</a:t>
            </a:r>
            <a:r>
              <a:rPr lang="en-US" sz="1200" dirty="0">
                <a:latin typeface="Courier"/>
                <a:cs typeface="Courier"/>
              </a:rPr>
              <a:t>( </a:t>
            </a:r>
            <a:r>
              <a:rPr lang="en-US" sz="1200" dirty="0" err="1">
                <a:latin typeface="Courier"/>
                <a:cs typeface="Courier"/>
              </a:rPr>
              <a:t>size_t</a:t>
            </a:r>
            <a:r>
              <a:rPr lang="en-US" sz="1200" dirty="0">
                <a:latin typeface="Courier"/>
                <a:cs typeface="Courier"/>
              </a:rPr>
              <a:t> </a:t>
            </a:r>
            <a:r>
              <a:rPr lang="en-US" sz="1200" dirty="0" err="1">
                <a:latin typeface="Courier"/>
                <a:cs typeface="Courier"/>
              </a:rPr>
              <a:t>iSector</a:t>
            </a:r>
            <a:r>
              <a:rPr lang="en-US" sz="1200" dirty="0">
                <a:latin typeface="Courier"/>
                <a:cs typeface="Courier"/>
              </a:rPr>
              <a:t>, </a:t>
            </a:r>
            <a:r>
              <a:rPr lang="en-US" sz="1200" dirty="0" err="1">
                <a:solidFill>
                  <a:srgbClr val="0000FF"/>
                </a:solidFill>
                <a:latin typeface="Courier"/>
                <a:cs typeface="Courier"/>
              </a:rPr>
              <a:t>const</a:t>
            </a:r>
            <a:r>
              <a:rPr lang="en-US" sz="1200" dirty="0">
                <a:solidFill>
                  <a:srgbClr val="0000FF"/>
                </a:solidFill>
                <a:latin typeface="Courier"/>
                <a:cs typeface="Courier"/>
              </a:rPr>
              <a:t> </a:t>
            </a:r>
            <a:r>
              <a:rPr lang="en-US" sz="1200" dirty="0" smtClean="0">
                <a:latin typeface="Courier"/>
                <a:cs typeface="Courier"/>
              </a:rPr>
              <a:t>Index&amp; ) </a:t>
            </a:r>
            <a:r>
              <a:rPr lang="en-US" sz="1200" dirty="0" err="1">
                <a:solidFill>
                  <a:srgbClr val="0000FF"/>
                </a:solidFill>
                <a:latin typeface="Courier"/>
                <a:cs typeface="Courier"/>
              </a:rPr>
              <a:t>const</a:t>
            </a:r>
            <a:r>
              <a:rPr lang="en-US" sz="1200" dirty="0">
                <a:latin typeface="Courier"/>
                <a:cs typeface="Courier"/>
              </a:rPr>
              <a:t>;</a:t>
            </a:r>
          </a:p>
          <a:p>
            <a:r>
              <a:rPr lang="en-US" sz="1200" dirty="0" smtClean="0">
                <a:latin typeface="Courier"/>
                <a:cs typeface="Courier"/>
              </a:rPr>
              <a:t>double64   </a:t>
            </a:r>
            <a:r>
              <a:rPr lang="en-US" sz="1200" dirty="0" err="1">
                <a:latin typeface="Courier"/>
                <a:cs typeface="Courier"/>
              </a:rPr>
              <a:t>PropertyValueAtFacetIntegrationPoint</a:t>
            </a:r>
            <a:r>
              <a:rPr lang="en-US" sz="1200" dirty="0">
                <a:latin typeface="Courier"/>
                <a:cs typeface="Courier"/>
              </a:rPr>
              <a:t>( </a:t>
            </a:r>
            <a:r>
              <a:rPr lang="en-US" sz="1200" dirty="0" err="1">
                <a:latin typeface="Courier"/>
                <a:cs typeface="Courier"/>
              </a:rPr>
              <a:t>size_t</a:t>
            </a:r>
            <a:r>
              <a:rPr lang="en-US" sz="1200" dirty="0">
                <a:latin typeface="Courier"/>
                <a:cs typeface="Courier"/>
              </a:rPr>
              <a:t> </a:t>
            </a:r>
            <a:r>
              <a:rPr lang="en-US" sz="1200" dirty="0" err="1">
                <a:latin typeface="Courier"/>
                <a:cs typeface="Courier"/>
              </a:rPr>
              <a:t>iFacet</a:t>
            </a:r>
            <a:r>
              <a:rPr lang="en-US" sz="1200" dirty="0">
                <a:latin typeface="Courier"/>
                <a:cs typeface="Courier"/>
              </a:rPr>
              <a:t>, </a:t>
            </a:r>
            <a:r>
              <a:rPr lang="en-US" sz="1200" dirty="0" err="1" smtClean="0">
                <a:latin typeface="Courier"/>
                <a:cs typeface="Courier"/>
              </a:rPr>
              <a:t>size_t</a:t>
            </a:r>
            <a:r>
              <a:rPr lang="en-US" sz="1200" dirty="0" smtClean="0">
                <a:latin typeface="Courier"/>
                <a:cs typeface="Courier"/>
              </a:rPr>
              <a:t>, </a:t>
            </a:r>
            <a:r>
              <a:rPr lang="en-US" sz="1200" dirty="0" err="1">
                <a:solidFill>
                  <a:srgbClr val="0000FF"/>
                </a:solidFill>
                <a:latin typeface="Courier"/>
                <a:cs typeface="Courier"/>
              </a:rPr>
              <a:t>const</a:t>
            </a:r>
            <a:r>
              <a:rPr lang="en-US" sz="1200" dirty="0">
                <a:solidFill>
                  <a:srgbClr val="0000FF"/>
                </a:solidFill>
                <a:latin typeface="Courier"/>
                <a:cs typeface="Courier"/>
              </a:rPr>
              <a:t> </a:t>
            </a:r>
            <a:r>
              <a:rPr lang="en-US" sz="1200" dirty="0" smtClean="0">
                <a:latin typeface="Courier"/>
                <a:cs typeface="Courier"/>
              </a:rPr>
              <a:t>Index&amp; </a:t>
            </a:r>
            <a:r>
              <a:rPr lang="en-US" sz="1200" dirty="0">
                <a:latin typeface="Courier"/>
                <a:cs typeface="Courier"/>
              </a:rPr>
              <a:t>) </a:t>
            </a:r>
            <a:r>
              <a:rPr lang="en-US" sz="1200" dirty="0" err="1">
                <a:solidFill>
                  <a:srgbClr val="0000FF"/>
                </a:solidFill>
                <a:latin typeface="Courier"/>
                <a:cs typeface="Courier"/>
              </a:rPr>
              <a:t>const</a:t>
            </a:r>
            <a:r>
              <a:rPr lang="en-US" sz="1200" dirty="0">
                <a:latin typeface="Courier"/>
                <a:cs typeface="Courier"/>
              </a:rPr>
              <a:t>;</a:t>
            </a:r>
          </a:p>
          <a:p>
            <a:r>
              <a:rPr lang="en-US" sz="1200" dirty="0" smtClean="0">
                <a:latin typeface="Courier"/>
                <a:cs typeface="Courier"/>
              </a:rPr>
              <a:t>double64   </a:t>
            </a:r>
            <a:r>
              <a:rPr lang="en-US" sz="1200" dirty="0" err="1">
                <a:latin typeface="Courier"/>
                <a:cs typeface="Courier"/>
              </a:rPr>
              <a:t>PropertyValueAtSectorIntegrationPoint</a:t>
            </a:r>
            <a:r>
              <a:rPr lang="en-US" sz="1200" dirty="0">
                <a:latin typeface="Courier"/>
                <a:cs typeface="Courier"/>
              </a:rPr>
              <a:t>( </a:t>
            </a:r>
            <a:r>
              <a:rPr lang="en-US" sz="1200" dirty="0" err="1">
                <a:latin typeface="Courier"/>
                <a:cs typeface="Courier"/>
              </a:rPr>
              <a:t>size_t</a:t>
            </a:r>
            <a:r>
              <a:rPr lang="en-US" sz="1200" dirty="0">
                <a:latin typeface="Courier"/>
                <a:cs typeface="Courier"/>
              </a:rPr>
              <a:t> </a:t>
            </a:r>
            <a:r>
              <a:rPr lang="en-US" sz="1200" dirty="0" err="1">
                <a:latin typeface="Courier"/>
                <a:cs typeface="Courier"/>
              </a:rPr>
              <a:t>iSector</a:t>
            </a:r>
            <a:r>
              <a:rPr lang="en-US" sz="1200" dirty="0">
                <a:latin typeface="Courier"/>
                <a:cs typeface="Courier"/>
              </a:rPr>
              <a:t>, </a:t>
            </a:r>
            <a:r>
              <a:rPr lang="en-US" sz="1200" dirty="0" err="1" smtClean="0">
                <a:latin typeface="Courier"/>
                <a:cs typeface="Courier"/>
              </a:rPr>
              <a:t>size_t</a:t>
            </a:r>
            <a:r>
              <a:rPr lang="en-US" sz="1200" dirty="0" smtClean="0">
                <a:latin typeface="Courier"/>
                <a:cs typeface="Courier"/>
              </a:rPr>
              <a:t>, </a:t>
            </a:r>
            <a:r>
              <a:rPr lang="en-US" sz="1200" dirty="0" err="1">
                <a:solidFill>
                  <a:srgbClr val="0000FF"/>
                </a:solidFill>
                <a:latin typeface="Courier"/>
                <a:cs typeface="Courier"/>
              </a:rPr>
              <a:t>const</a:t>
            </a:r>
            <a:r>
              <a:rPr lang="en-US" sz="1200" dirty="0">
                <a:solidFill>
                  <a:srgbClr val="0000FF"/>
                </a:solidFill>
                <a:latin typeface="Courier"/>
                <a:cs typeface="Courier"/>
              </a:rPr>
              <a:t> </a:t>
            </a:r>
            <a:r>
              <a:rPr lang="en-US" sz="1200" dirty="0" smtClean="0">
                <a:latin typeface="Courier"/>
                <a:cs typeface="Courier"/>
              </a:rPr>
              <a:t>Index&amp; </a:t>
            </a:r>
            <a:r>
              <a:rPr lang="en-US" sz="1200" dirty="0">
                <a:latin typeface="Courier"/>
                <a:cs typeface="Courier"/>
              </a:rPr>
              <a:t>) </a:t>
            </a:r>
            <a:r>
              <a:rPr lang="en-US" sz="1200" dirty="0" err="1">
                <a:solidFill>
                  <a:srgbClr val="0000FF"/>
                </a:solidFill>
                <a:latin typeface="Courier"/>
                <a:cs typeface="Courier"/>
              </a:rPr>
              <a:t>const</a:t>
            </a:r>
            <a:r>
              <a:rPr lang="en-US" sz="1200" dirty="0">
                <a:latin typeface="Courier"/>
                <a:cs typeface="Courier"/>
              </a:rPr>
              <a:t>;</a:t>
            </a:r>
          </a:p>
          <a:p>
            <a:r>
              <a:rPr lang="en-US" sz="1200" dirty="0" smtClean="0">
                <a:latin typeface="Courier"/>
                <a:cs typeface="Courier"/>
              </a:rPr>
              <a:t>double64   </a:t>
            </a:r>
            <a:r>
              <a:rPr lang="en-US" sz="1200" dirty="0" err="1">
                <a:latin typeface="Courier"/>
                <a:cs typeface="Courier"/>
              </a:rPr>
              <a:t>ProjectionOnFacetNormal</a:t>
            </a:r>
            <a:r>
              <a:rPr lang="en-US" sz="1200" dirty="0">
                <a:latin typeface="Courier"/>
                <a:cs typeface="Courier"/>
              </a:rPr>
              <a:t>( </a:t>
            </a:r>
            <a:r>
              <a:rPr lang="en-US" sz="1200" dirty="0" err="1">
                <a:latin typeface="Courier"/>
                <a:cs typeface="Courier"/>
              </a:rPr>
              <a:t>size_t</a:t>
            </a:r>
            <a:r>
              <a:rPr lang="en-US" sz="1200" dirty="0">
                <a:latin typeface="Courier"/>
                <a:cs typeface="Courier"/>
              </a:rPr>
              <a:t> </a:t>
            </a:r>
            <a:r>
              <a:rPr lang="en-US" sz="1200" dirty="0" err="1">
                <a:latin typeface="Courier"/>
                <a:cs typeface="Courier"/>
              </a:rPr>
              <a:t>iFacet</a:t>
            </a:r>
            <a:r>
              <a:rPr lang="en-US" sz="1200" dirty="0">
                <a:latin typeface="Courier"/>
                <a:cs typeface="Courier"/>
              </a:rPr>
              <a:t>, </a:t>
            </a:r>
            <a:r>
              <a:rPr lang="en-US" sz="1200" dirty="0" err="1">
                <a:solidFill>
                  <a:srgbClr val="0000FF"/>
                </a:solidFill>
                <a:latin typeface="Courier"/>
                <a:cs typeface="Courier"/>
              </a:rPr>
              <a:t>const</a:t>
            </a:r>
            <a:r>
              <a:rPr lang="en-US" sz="1200" dirty="0">
                <a:solidFill>
                  <a:srgbClr val="0000FF"/>
                </a:solidFill>
                <a:latin typeface="Courier"/>
                <a:cs typeface="Courier"/>
              </a:rPr>
              <a:t> </a:t>
            </a:r>
            <a:r>
              <a:rPr lang="en-US" sz="1200" dirty="0" err="1">
                <a:latin typeface="Courier"/>
                <a:cs typeface="Courier"/>
              </a:rPr>
              <a:t>VectorVariable</a:t>
            </a:r>
            <a:r>
              <a:rPr lang="en-US" sz="1200" dirty="0">
                <a:latin typeface="Courier"/>
                <a:cs typeface="Courier"/>
              </a:rPr>
              <a:t>&lt;3U&gt;</a:t>
            </a:r>
            <a:r>
              <a:rPr lang="en-US" sz="1200" dirty="0" smtClean="0">
                <a:latin typeface="Courier"/>
                <a:cs typeface="Courier"/>
              </a:rPr>
              <a:t>&amp; ) </a:t>
            </a:r>
            <a:r>
              <a:rPr lang="en-US" sz="1200" dirty="0" err="1">
                <a:solidFill>
                  <a:srgbClr val="0000FF"/>
                </a:solidFill>
                <a:latin typeface="Courier"/>
                <a:cs typeface="Courier"/>
              </a:rPr>
              <a:t>const</a:t>
            </a:r>
            <a:r>
              <a:rPr lang="en-US" sz="1200" dirty="0">
                <a:latin typeface="Courier"/>
                <a:cs typeface="Courier"/>
              </a:rPr>
              <a:t>;</a:t>
            </a:r>
          </a:p>
          <a:p>
            <a:r>
              <a:rPr lang="en-US" sz="1200" dirty="0" smtClean="0">
                <a:solidFill>
                  <a:srgbClr val="0000FF"/>
                </a:solidFill>
                <a:latin typeface="Courier"/>
                <a:cs typeface="Courier"/>
              </a:rPr>
              <a:t>void</a:t>
            </a:r>
            <a:r>
              <a:rPr lang="en-US" sz="1200" dirty="0" smtClean="0">
                <a:latin typeface="Courier"/>
                <a:cs typeface="Courier"/>
              </a:rPr>
              <a:t>       </a:t>
            </a:r>
            <a:r>
              <a:rPr lang="en-US" sz="1200" dirty="0" err="1">
                <a:latin typeface="Courier"/>
                <a:cs typeface="Courier"/>
              </a:rPr>
              <a:t>N_AtFacetIntegrationPoint</a:t>
            </a:r>
            <a:r>
              <a:rPr lang="en-US" sz="1200" dirty="0">
                <a:latin typeface="Courier"/>
                <a:cs typeface="Courier"/>
              </a:rPr>
              <a:t>( </a:t>
            </a:r>
            <a:r>
              <a:rPr lang="en-US" sz="1200" dirty="0" err="1">
                <a:latin typeface="Courier"/>
                <a:cs typeface="Courier"/>
              </a:rPr>
              <a:t>size_t</a:t>
            </a:r>
            <a:r>
              <a:rPr lang="en-US" sz="1200" dirty="0">
                <a:latin typeface="Courier"/>
                <a:cs typeface="Courier"/>
              </a:rPr>
              <a:t> </a:t>
            </a:r>
            <a:r>
              <a:rPr lang="en-US" sz="1200" dirty="0" err="1">
                <a:latin typeface="Courier"/>
                <a:cs typeface="Courier"/>
              </a:rPr>
              <a:t>iFacet</a:t>
            </a:r>
            <a:r>
              <a:rPr lang="en-US" sz="1200" dirty="0">
                <a:latin typeface="Courier"/>
                <a:cs typeface="Courier"/>
              </a:rPr>
              <a:t>, </a:t>
            </a:r>
            <a:r>
              <a:rPr lang="en-US" sz="1200" dirty="0" err="1">
                <a:latin typeface="Courier"/>
                <a:cs typeface="Courier"/>
              </a:rPr>
              <a:t>size_t</a:t>
            </a:r>
            <a:r>
              <a:rPr lang="en-US" sz="1200" dirty="0">
                <a:latin typeface="Courier"/>
                <a:cs typeface="Courier"/>
              </a:rPr>
              <a:t> </a:t>
            </a:r>
            <a:r>
              <a:rPr lang="en-US" sz="1200" dirty="0" err="1">
                <a:latin typeface="Courier"/>
                <a:cs typeface="Courier"/>
              </a:rPr>
              <a:t>ip</a:t>
            </a:r>
            <a:r>
              <a:rPr lang="en-US" sz="1200" dirty="0">
                <a:latin typeface="Courier"/>
                <a:cs typeface="Courier"/>
              </a:rPr>
              <a:t> ) </a:t>
            </a:r>
            <a:r>
              <a:rPr lang="en-US" sz="1200" dirty="0" err="1">
                <a:solidFill>
                  <a:srgbClr val="0000FF"/>
                </a:solidFill>
                <a:latin typeface="Courier"/>
                <a:cs typeface="Courier"/>
              </a:rPr>
              <a:t>const</a:t>
            </a:r>
            <a:r>
              <a:rPr lang="en-US" sz="1200" dirty="0">
                <a:latin typeface="Courier"/>
                <a:cs typeface="Courier"/>
              </a:rPr>
              <a:t>;   </a:t>
            </a:r>
          </a:p>
          <a:p>
            <a:r>
              <a:rPr lang="en-US" sz="1200" dirty="0" smtClean="0">
                <a:solidFill>
                  <a:srgbClr val="0000FF"/>
                </a:solidFill>
                <a:latin typeface="Courier"/>
                <a:cs typeface="Courier"/>
              </a:rPr>
              <a:t>void</a:t>
            </a:r>
            <a:r>
              <a:rPr lang="en-US" sz="1200" dirty="0" smtClean="0">
                <a:latin typeface="Courier"/>
                <a:cs typeface="Courier"/>
              </a:rPr>
              <a:t>       </a:t>
            </a:r>
            <a:r>
              <a:rPr lang="en-US" sz="1200" dirty="0" err="1">
                <a:latin typeface="Courier"/>
                <a:cs typeface="Courier"/>
              </a:rPr>
              <a:t>N_AtSectorIntegrationPoint</a:t>
            </a:r>
            <a:r>
              <a:rPr lang="en-US" sz="1200" dirty="0">
                <a:latin typeface="Courier"/>
                <a:cs typeface="Courier"/>
              </a:rPr>
              <a:t>( </a:t>
            </a:r>
            <a:r>
              <a:rPr lang="en-US" sz="1200" dirty="0" err="1">
                <a:latin typeface="Courier"/>
                <a:cs typeface="Courier"/>
              </a:rPr>
              <a:t>size_t</a:t>
            </a:r>
            <a:r>
              <a:rPr lang="en-US" sz="1200" dirty="0">
                <a:latin typeface="Courier"/>
                <a:cs typeface="Courier"/>
              </a:rPr>
              <a:t> </a:t>
            </a:r>
            <a:r>
              <a:rPr lang="en-US" sz="1200" dirty="0" err="1">
                <a:latin typeface="Courier"/>
                <a:cs typeface="Courier"/>
              </a:rPr>
              <a:t>iSector</a:t>
            </a:r>
            <a:r>
              <a:rPr lang="en-US" sz="1200" dirty="0">
                <a:latin typeface="Courier"/>
                <a:cs typeface="Courier"/>
              </a:rPr>
              <a:t>, </a:t>
            </a:r>
            <a:r>
              <a:rPr lang="en-US" sz="1200" dirty="0" err="1">
                <a:latin typeface="Courier"/>
                <a:cs typeface="Courier"/>
              </a:rPr>
              <a:t>size_t</a:t>
            </a:r>
            <a:r>
              <a:rPr lang="en-US" sz="1200" dirty="0">
                <a:latin typeface="Courier"/>
                <a:cs typeface="Courier"/>
              </a:rPr>
              <a:t> </a:t>
            </a:r>
            <a:r>
              <a:rPr lang="en-US" sz="1200" dirty="0" err="1">
                <a:latin typeface="Courier"/>
                <a:cs typeface="Courier"/>
              </a:rPr>
              <a:t>ip</a:t>
            </a:r>
            <a:r>
              <a:rPr lang="en-US" sz="1200" dirty="0">
                <a:latin typeface="Courier"/>
                <a:cs typeface="Courier"/>
              </a:rPr>
              <a:t> ) </a:t>
            </a:r>
            <a:r>
              <a:rPr lang="en-US" sz="1200" dirty="0" err="1">
                <a:solidFill>
                  <a:srgbClr val="0000FF"/>
                </a:solidFill>
                <a:latin typeface="Courier"/>
                <a:cs typeface="Courier"/>
              </a:rPr>
              <a:t>const</a:t>
            </a:r>
            <a:r>
              <a:rPr lang="en-US" sz="1200" dirty="0">
                <a:latin typeface="Courier"/>
                <a:cs typeface="Courier"/>
              </a:rPr>
              <a:t>; </a:t>
            </a:r>
          </a:p>
          <a:p>
            <a:r>
              <a:rPr lang="en-US" sz="1200" dirty="0" smtClean="0">
                <a:solidFill>
                  <a:srgbClr val="0000FF"/>
                </a:solidFill>
                <a:latin typeface="Courier"/>
                <a:cs typeface="Courier"/>
              </a:rPr>
              <a:t>void</a:t>
            </a:r>
            <a:r>
              <a:rPr lang="en-US" sz="1200" dirty="0" smtClean="0">
                <a:latin typeface="Courier"/>
                <a:cs typeface="Courier"/>
              </a:rPr>
              <a:t>       </a:t>
            </a:r>
            <a:r>
              <a:rPr lang="en-US" sz="1200" dirty="0" err="1">
                <a:latin typeface="Courier"/>
                <a:cs typeface="Courier"/>
              </a:rPr>
              <a:t>N_At</a:t>
            </a:r>
            <a:r>
              <a:rPr lang="en-US" sz="1200" dirty="0">
                <a:latin typeface="Courier"/>
                <a:cs typeface="Courier"/>
              </a:rPr>
              <a:t>( </a:t>
            </a:r>
            <a:r>
              <a:rPr lang="en-US" sz="1200" dirty="0" err="1">
                <a:latin typeface="Courier"/>
                <a:cs typeface="Courier"/>
              </a:rPr>
              <a:t>const</a:t>
            </a:r>
            <a:r>
              <a:rPr lang="en-US" sz="1200" dirty="0">
                <a:latin typeface="Courier"/>
                <a:cs typeface="Courier"/>
              </a:rPr>
              <a:t> Point&lt;3U&gt;&amp; </a:t>
            </a:r>
            <a:r>
              <a:rPr lang="en-US" sz="1200" dirty="0" err="1">
                <a:latin typeface="Courier"/>
                <a:cs typeface="Courier"/>
              </a:rPr>
              <a:t>rst</a:t>
            </a:r>
            <a:r>
              <a:rPr lang="en-US" sz="1200" dirty="0">
                <a:latin typeface="Courier"/>
                <a:cs typeface="Courier"/>
              </a:rPr>
              <a:t> ) </a:t>
            </a:r>
            <a:r>
              <a:rPr lang="en-US" sz="1200" dirty="0" err="1">
                <a:solidFill>
                  <a:srgbClr val="0000FF"/>
                </a:solidFill>
                <a:latin typeface="Courier"/>
                <a:cs typeface="Courier"/>
              </a:rPr>
              <a:t>const</a:t>
            </a:r>
            <a:r>
              <a:rPr lang="en-US" sz="1200" dirty="0">
                <a:latin typeface="Courier"/>
                <a:cs typeface="Courier"/>
              </a:rPr>
              <a:t>;</a:t>
            </a:r>
          </a:p>
          <a:p>
            <a:r>
              <a:rPr lang="en-US" sz="1200" dirty="0" smtClean="0">
                <a:latin typeface="Courier"/>
                <a:cs typeface="Courier"/>
              </a:rPr>
              <a:t>Point</a:t>
            </a:r>
            <a:r>
              <a:rPr lang="en-US" sz="1200" dirty="0">
                <a:latin typeface="Courier"/>
                <a:cs typeface="Courier"/>
              </a:rPr>
              <a:t>&lt;3U&gt;  </a:t>
            </a:r>
            <a:r>
              <a:rPr lang="en-US" sz="1200" dirty="0" err="1">
                <a:latin typeface="Courier"/>
                <a:cs typeface="Courier"/>
              </a:rPr>
              <a:t>RstToXYZ</a:t>
            </a:r>
            <a:r>
              <a:rPr lang="en-US" sz="1200" dirty="0">
                <a:latin typeface="Courier"/>
                <a:cs typeface="Courier"/>
              </a:rPr>
              <a:t>( </a:t>
            </a:r>
            <a:r>
              <a:rPr lang="en-US" sz="1200" dirty="0" err="1">
                <a:latin typeface="Courier"/>
                <a:cs typeface="Courier"/>
              </a:rPr>
              <a:t>const</a:t>
            </a:r>
            <a:r>
              <a:rPr lang="en-US" sz="1200" dirty="0">
                <a:latin typeface="Courier"/>
                <a:cs typeface="Courier"/>
              </a:rPr>
              <a:t> Point&lt;3U&gt;&amp; </a:t>
            </a:r>
            <a:r>
              <a:rPr lang="en-US" sz="1200" dirty="0" err="1">
                <a:latin typeface="Courier"/>
                <a:cs typeface="Courier"/>
              </a:rPr>
              <a:t>rst</a:t>
            </a:r>
            <a:r>
              <a:rPr lang="en-US" sz="1200" dirty="0">
                <a:latin typeface="Courier"/>
                <a:cs typeface="Courier"/>
              </a:rPr>
              <a:t> ) </a:t>
            </a:r>
            <a:r>
              <a:rPr lang="en-US" sz="1200" dirty="0" err="1">
                <a:solidFill>
                  <a:srgbClr val="0000FF"/>
                </a:solidFill>
                <a:latin typeface="Courier"/>
                <a:cs typeface="Courier"/>
              </a:rPr>
              <a:t>const</a:t>
            </a:r>
            <a:r>
              <a:rPr lang="en-US" sz="1200" dirty="0" smtClean="0">
                <a:latin typeface="Courier"/>
                <a:cs typeface="Courier"/>
              </a:rPr>
              <a:t>;</a:t>
            </a:r>
          </a:p>
          <a:p>
            <a:r>
              <a:rPr lang="en-US" sz="1200" dirty="0" smtClean="0">
                <a:latin typeface="Courier"/>
                <a:cs typeface="Courier"/>
              </a:rPr>
              <a:t>etc.</a:t>
            </a:r>
            <a:endParaRPr lang="en-US" sz="1200" dirty="0">
              <a:latin typeface="Courier"/>
              <a:cs typeface="Courier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454283" y="3577402"/>
            <a:ext cx="249498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i="1" dirty="0" smtClean="0">
                <a:latin typeface="Arial"/>
                <a:cs typeface="Arial"/>
              </a:rPr>
              <a:t>To learn how these computations are done, look at </a:t>
            </a:r>
            <a:r>
              <a:rPr lang="en-US" sz="1600" i="1" dirty="0" err="1" smtClean="0">
                <a:latin typeface="Arial"/>
                <a:cs typeface="Arial"/>
              </a:rPr>
              <a:t>Paluszny</a:t>
            </a:r>
            <a:r>
              <a:rPr lang="en-US" sz="1600" i="1" dirty="0" smtClean="0">
                <a:latin typeface="Arial"/>
                <a:cs typeface="Arial"/>
              </a:rPr>
              <a:t> et al. (2007, </a:t>
            </a:r>
            <a:r>
              <a:rPr lang="en-US" sz="1600" i="1" dirty="0" err="1" smtClean="0">
                <a:latin typeface="Arial"/>
                <a:cs typeface="Arial"/>
              </a:rPr>
              <a:t>Geofluids</a:t>
            </a:r>
            <a:r>
              <a:rPr lang="en-US" sz="1600" i="1" dirty="0" smtClean="0">
                <a:latin typeface="Arial"/>
                <a:cs typeface="Arial"/>
              </a:rPr>
              <a:t>)</a:t>
            </a:r>
            <a:endParaRPr lang="en-US" sz="1600" i="1" dirty="0">
              <a:latin typeface="Arial"/>
              <a:cs typeface="Arial"/>
            </a:endParaRPr>
          </a:p>
        </p:txBody>
      </p:sp>
      <p:sp>
        <p:nvSpPr>
          <p:cNvPr id="39" name="Date Placeholder 3"/>
          <p:cNvSpPr>
            <a:spLocks noGrp="1"/>
          </p:cNvSpPr>
          <p:nvPr>
            <p:ph type="dt" sz="half" idx="4294967295"/>
          </p:nvPr>
        </p:nvSpPr>
        <p:spPr>
          <a:xfrm>
            <a:off x="35496" y="649287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>
                    <a:lumMod val="65000"/>
                  </a:schemeClr>
                </a:solidFill>
                <a:latin typeface="Arial"/>
                <a:cs typeface="Arial"/>
              </a:defRPr>
            </a:lvl1pPr>
          </a:lstStyle>
          <a:p>
            <a:pPr defTabSz="457200" fontAlgn="auto">
              <a:spcBef>
                <a:spcPts val="0"/>
              </a:spcBef>
              <a:spcAft>
                <a:spcPts val="0"/>
              </a:spcAft>
            </a:pPr>
            <a:fld id="{57951F7C-CFBF-8144-A102-5B4CA8E4DF9C}" type="datetime1">
              <a:rPr lang="en-US" smtClean="0">
                <a:solidFill>
                  <a:prstClr val="white">
                    <a:lumMod val="65000"/>
                  </a:prstClr>
                </a:solidFill>
                <a:ea typeface="+mn-ea"/>
              </a:rPr>
              <a:pPr defTabSz="457200" fontAlgn="auto">
                <a:spcBef>
                  <a:spcPts val="0"/>
                </a:spcBef>
                <a:spcAft>
                  <a:spcPts val="0"/>
                </a:spcAft>
              </a:pPr>
              <a:t>11/6/12</a:t>
            </a:fld>
            <a:endParaRPr lang="en-US" dirty="0">
              <a:solidFill>
                <a:prstClr val="white">
                  <a:lumMod val="65000"/>
                </a:prstClr>
              </a:solidFill>
              <a:ea typeface="+mn-ea"/>
            </a:endParaRPr>
          </a:p>
        </p:txBody>
      </p:sp>
      <p:sp>
        <p:nvSpPr>
          <p:cNvPr id="40" name="Footer Placeholder 4"/>
          <p:cNvSpPr>
            <a:spLocks noGrp="1"/>
          </p:cNvSpPr>
          <p:nvPr>
            <p:ph type="ftr" sz="quarter" idx="4294967295"/>
          </p:nvPr>
        </p:nvSpPr>
        <p:spPr>
          <a:xfrm>
            <a:off x="3124200" y="6492875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65000"/>
                  </a:schemeClr>
                </a:solidFill>
                <a:latin typeface="Arial"/>
                <a:cs typeface="Arial"/>
              </a:defRPr>
            </a:lvl1pPr>
          </a:lstStyle>
          <a:p>
            <a:pPr defTabSz="457200" fontAlgn="auto">
              <a:spcBef>
                <a:spcPts val="0"/>
              </a:spcBef>
              <a:spcAft>
                <a:spcPts val="0"/>
              </a:spcAft>
            </a:pPr>
            <a:r>
              <a:rPr lang="en-US" dirty="0" smtClean="0">
                <a:solidFill>
                  <a:prstClr val="white">
                    <a:lumMod val="65000"/>
                  </a:prstClr>
                </a:solidFill>
                <a:ea typeface="+mn-ea"/>
              </a:rPr>
              <a:t>CSMP Generic Transport Scheme</a:t>
            </a:r>
            <a:endParaRPr lang="en-US" dirty="0">
              <a:solidFill>
                <a:prstClr val="white">
                  <a:lumMod val="65000"/>
                </a:prstClr>
              </a:solidFill>
              <a:ea typeface="+mn-ea"/>
            </a:endParaRPr>
          </a:p>
        </p:txBody>
      </p:sp>
      <p:sp>
        <p:nvSpPr>
          <p:cNvPr id="41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6974904" y="649287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>
                    <a:lumMod val="65000"/>
                  </a:schemeClr>
                </a:solidFill>
                <a:latin typeface="Arial"/>
                <a:cs typeface="Arial"/>
              </a:defRPr>
            </a:lvl1pPr>
          </a:lstStyle>
          <a:p>
            <a:pPr defTabSz="457200" fontAlgn="auto">
              <a:spcBef>
                <a:spcPts val="0"/>
              </a:spcBef>
              <a:spcAft>
                <a:spcPts val="0"/>
              </a:spcAft>
            </a:pPr>
            <a:r>
              <a:rPr lang="en-US" dirty="0" smtClean="0">
                <a:solidFill>
                  <a:prstClr val="white">
                    <a:lumMod val="65000"/>
                  </a:prstClr>
                </a:solidFill>
                <a:ea typeface="+mn-ea"/>
              </a:rPr>
              <a:t>  </a:t>
            </a:r>
            <a:fld id="{223FD816-CC6A-BF43-8241-637E3E7EAA5A}" type="slidenum">
              <a:rPr lang="en-US" smtClean="0">
                <a:solidFill>
                  <a:prstClr val="white">
                    <a:lumMod val="65000"/>
                  </a:prstClr>
                </a:solidFill>
                <a:ea typeface="+mn-ea"/>
              </a:rPr>
              <a:pPr defTabSz="457200" fontAlgn="auto">
                <a:spcBef>
                  <a:spcPts val="0"/>
                </a:spcBef>
                <a:spcAft>
                  <a:spcPts val="0"/>
                </a:spcAft>
              </a:pPr>
              <a:t>14</a:t>
            </a:fld>
            <a:endParaRPr lang="en-US" dirty="0">
              <a:solidFill>
                <a:prstClr val="white">
                  <a:lumMod val="65000"/>
                </a:prstClr>
              </a:solidFill>
              <a:ea typeface="+mn-ea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08204" y="4810943"/>
            <a:ext cx="147208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 smtClean="0">
                <a:latin typeface="Arial"/>
                <a:cs typeface="Arial"/>
              </a:rPr>
              <a:t>Framework provided through Model</a:t>
            </a:r>
            <a:endParaRPr lang="en-US" i="1" dirty="0">
              <a:latin typeface="Arial"/>
              <a:cs typeface="Arial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6117710" y="6002507"/>
            <a:ext cx="147208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 smtClean="0">
                <a:latin typeface="Arial"/>
                <a:cs typeface="Arial"/>
              </a:rPr>
              <a:t>data container for </a:t>
            </a:r>
            <a:r>
              <a:rPr lang="en-US" sz="1400" i="1" dirty="0" err="1" smtClean="0">
                <a:latin typeface="Arial"/>
                <a:cs typeface="Arial"/>
              </a:rPr>
              <a:t>initialisation</a:t>
            </a:r>
            <a:endParaRPr lang="en-US" sz="1400" i="1" dirty="0">
              <a:latin typeface="Arial"/>
              <a:cs typeface="Arial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6366633" y="5520487"/>
            <a:ext cx="186419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 smtClean="0">
                <a:latin typeface="Arial"/>
                <a:cs typeface="Arial"/>
              </a:rPr>
              <a:t>Container of available stencils</a:t>
            </a:r>
            <a:endParaRPr lang="en-US" sz="1400" i="1" dirty="0">
              <a:latin typeface="Arial"/>
              <a:cs typeface="Arial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6369419" y="4930176"/>
            <a:ext cx="186419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 smtClean="0">
                <a:latin typeface="Arial"/>
                <a:cs typeface="Arial"/>
              </a:rPr>
              <a:t>FV in parametric space representation</a:t>
            </a:r>
            <a:endParaRPr lang="en-US" sz="1400" i="1" dirty="0">
              <a:latin typeface="Arial"/>
              <a:cs typeface="Arial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2815823" y="3822466"/>
            <a:ext cx="36034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 smtClean="0">
                <a:latin typeface="Arial"/>
                <a:cs typeface="Arial"/>
              </a:rPr>
              <a:t>FV interface of element, face or interface</a:t>
            </a:r>
            <a:endParaRPr lang="en-US" sz="1400" i="1" dirty="0">
              <a:latin typeface="Arial"/>
              <a:cs typeface="Arial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120270" y="3820914"/>
            <a:ext cx="36034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 smtClean="0">
                <a:latin typeface="Arial"/>
                <a:cs typeface="Arial"/>
              </a:rPr>
              <a:t>finiteVolumeAuxiliaryFunctions</a:t>
            </a:r>
            <a:r>
              <a:rPr lang="en-US" sz="1400" dirty="0" smtClean="0">
                <a:latin typeface="Arial"/>
                <a:cs typeface="Arial"/>
              </a:rPr>
              <a:t>  +</a:t>
            </a:r>
            <a:endParaRPr lang="en-US" sz="14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21912579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Scope for improvement: </a:t>
            </a:r>
            <a:r>
              <a:rPr lang="en-US" dirty="0" err="1" smtClean="0"/>
              <a:t>FiniteVolumeTraits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Speed-up: It may be possible to carry out velocity computations entirely in parametric space, saving several </a:t>
            </a:r>
            <a:r>
              <a:rPr lang="en-US" dirty="0" err="1" smtClean="0"/>
              <a:t>Jacobian</a:t>
            </a:r>
            <a:r>
              <a:rPr lang="en-US" dirty="0" smtClean="0"/>
              <a:t> operations</a:t>
            </a:r>
          </a:p>
          <a:p>
            <a:r>
              <a:rPr lang="en-US" dirty="0" smtClean="0"/>
              <a:t>To many (confusing) functions in interface of </a:t>
            </a:r>
            <a:r>
              <a:rPr lang="en-US" b="1" dirty="0" err="1" smtClean="0"/>
              <a:t>FiniteVolumeTraits</a:t>
            </a:r>
            <a:r>
              <a:rPr lang="en-US" dirty="0" smtClean="0"/>
              <a:t>:</a:t>
            </a:r>
          </a:p>
          <a:p>
            <a:pPr marL="0" indent="0">
              <a:buNone/>
            </a:pPr>
            <a:r>
              <a:rPr lang="en-US" dirty="0"/>
              <a:t>  </a:t>
            </a:r>
            <a:r>
              <a:rPr lang="en-US" dirty="0" smtClean="0"/>
              <a:t>	</a:t>
            </a:r>
            <a:r>
              <a:rPr lang="en-US" sz="1400" dirty="0" smtClean="0">
                <a:latin typeface="Courier"/>
                <a:cs typeface="Courier"/>
              </a:rPr>
              <a:t>double64   </a:t>
            </a:r>
            <a:r>
              <a:rPr lang="en-US" sz="1400" dirty="0" err="1">
                <a:latin typeface="Courier"/>
                <a:cs typeface="Courier"/>
              </a:rPr>
              <a:t>FacetAreaMapped</a:t>
            </a:r>
            <a:r>
              <a:rPr lang="en-US" sz="1400" dirty="0">
                <a:latin typeface="Courier"/>
                <a:cs typeface="Courier"/>
              </a:rPr>
              <a:t>( </a:t>
            </a:r>
            <a:r>
              <a:rPr lang="en-US" sz="1400" dirty="0" err="1">
                <a:latin typeface="Courier"/>
                <a:cs typeface="Courier"/>
              </a:rPr>
              <a:t>size_t</a:t>
            </a:r>
            <a:r>
              <a:rPr lang="en-US" sz="1400" dirty="0">
                <a:latin typeface="Courier"/>
                <a:cs typeface="Courier"/>
              </a:rPr>
              <a:t> </a:t>
            </a:r>
            <a:r>
              <a:rPr lang="en-US" sz="1400" dirty="0" err="1">
                <a:latin typeface="Courier"/>
                <a:cs typeface="Courier"/>
              </a:rPr>
              <a:t>iFacet</a:t>
            </a:r>
            <a:r>
              <a:rPr lang="en-US" sz="1400" dirty="0">
                <a:latin typeface="Courier"/>
                <a:cs typeface="Courier"/>
              </a:rPr>
              <a:t> ) </a:t>
            </a:r>
            <a:r>
              <a:rPr lang="en-US" sz="1400" dirty="0" err="1">
                <a:latin typeface="Courier"/>
                <a:cs typeface="Courier"/>
              </a:rPr>
              <a:t>const</a:t>
            </a:r>
            <a:r>
              <a:rPr lang="en-US" sz="1400" dirty="0">
                <a:latin typeface="Courier"/>
                <a:cs typeface="Courier"/>
              </a:rPr>
              <a:t>; </a:t>
            </a:r>
            <a:endParaRPr lang="en-US" sz="1400" dirty="0" smtClean="0"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en-US" sz="1400" dirty="0" smtClean="0">
                <a:latin typeface="Courier"/>
                <a:cs typeface="Courier"/>
              </a:rPr>
              <a:t>	Point</a:t>
            </a:r>
            <a:r>
              <a:rPr lang="en-US" sz="1400" dirty="0">
                <a:latin typeface="Courier"/>
                <a:cs typeface="Courier"/>
              </a:rPr>
              <a:t>&lt;3U&gt;  </a:t>
            </a:r>
            <a:r>
              <a:rPr lang="en-US" sz="1400" dirty="0" err="1">
                <a:latin typeface="Courier"/>
                <a:cs typeface="Courier"/>
              </a:rPr>
              <a:t>FacetNormalMapped</a:t>
            </a:r>
            <a:r>
              <a:rPr lang="en-US" sz="1400" dirty="0">
                <a:latin typeface="Courier"/>
                <a:cs typeface="Courier"/>
              </a:rPr>
              <a:t>( </a:t>
            </a:r>
            <a:r>
              <a:rPr lang="en-US" sz="1400" dirty="0" err="1">
                <a:latin typeface="Courier"/>
                <a:cs typeface="Courier"/>
              </a:rPr>
              <a:t>size_t</a:t>
            </a:r>
            <a:r>
              <a:rPr lang="en-US" sz="1400" dirty="0">
                <a:latin typeface="Courier"/>
                <a:cs typeface="Courier"/>
              </a:rPr>
              <a:t> </a:t>
            </a:r>
            <a:r>
              <a:rPr lang="en-US" sz="1400" dirty="0" err="1">
                <a:latin typeface="Courier"/>
                <a:cs typeface="Courier"/>
              </a:rPr>
              <a:t>iFacet</a:t>
            </a:r>
            <a:r>
              <a:rPr lang="en-US" sz="1400" dirty="0">
                <a:latin typeface="Courier"/>
                <a:cs typeface="Courier"/>
              </a:rPr>
              <a:t> ) </a:t>
            </a:r>
            <a:r>
              <a:rPr lang="en-US" sz="1400" dirty="0" err="1">
                <a:latin typeface="Courier"/>
                <a:cs typeface="Courier"/>
              </a:rPr>
              <a:t>const</a:t>
            </a:r>
            <a:r>
              <a:rPr lang="en-US" sz="1400" dirty="0">
                <a:latin typeface="Courier"/>
                <a:cs typeface="Courier"/>
              </a:rPr>
              <a:t>;     </a:t>
            </a:r>
            <a:endParaRPr lang="en-US" sz="1400" dirty="0" smtClean="0"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en-US" sz="1400" dirty="0">
                <a:latin typeface="Courier"/>
                <a:cs typeface="Courier"/>
              </a:rPr>
              <a:t>	</a:t>
            </a:r>
            <a:r>
              <a:rPr lang="en-US" sz="1400" dirty="0" smtClean="0">
                <a:latin typeface="Courier"/>
                <a:cs typeface="Courier"/>
              </a:rPr>
              <a:t>double64          </a:t>
            </a:r>
            <a:r>
              <a:rPr lang="en-US" sz="1400" dirty="0" err="1">
                <a:latin typeface="Courier"/>
                <a:cs typeface="Courier"/>
              </a:rPr>
              <a:t>ParametricFacetArea</a:t>
            </a:r>
            <a:r>
              <a:rPr lang="en-US" sz="1400" dirty="0">
                <a:latin typeface="Courier"/>
                <a:cs typeface="Courier"/>
              </a:rPr>
              <a:t>( </a:t>
            </a:r>
            <a:r>
              <a:rPr lang="en-US" sz="1400" dirty="0" err="1">
                <a:latin typeface="Courier"/>
                <a:cs typeface="Courier"/>
              </a:rPr>
              <a:t>size_t</a:t>
            </a:r>
            <a:r>
              <a:rPr lang="en-US" sz="1400" dirty="0">
                <a:latin typeface="Courier"/>
                <a:cs typeface="Courier"/>
              </a:rPr>
              <a:t> </a:t>
            </a:r>
            <a:r>
              <a:rPr lang="en-US" sz="1400" dirty="0" err="1">
                <a:latin typeface="Courier"/>
                <a:cs typeface="Courier"/>
              </a:rPr>
              <a:t>iFacet</a:t>
            </a:r>
            <a:r>
              <a:rPr lang="en-US" sz="1400" dirty="0">
                <a:latin typeface="Courier"/>
                <a:cs typeface="Courier"/>
              </a:rPr>
              <a:t> ) </a:t>
            </a:r>
            <a:r>
              <a:rPr lang="en-US" sz="1400" dirty="0" err="1">
                <a:latin typeface="Courier"/>
                <a:cs typeface="Courier"/>
              </a:rPr>
              <a:t>const</a:t>
            </a:r>
            <a:r>
              <a:rPr lang="en-US" sz="1400" dirty="0">
                <a:latin typeface="Courier"/>
                <a:cs typeface="Courier"/>
              </a:rPr>
              <a:t>;</a:t>
            </a:r>
          </a:p>
          <a:p>
            <a:pPr marL="0" indent="0">
              <a:buNone/>
            </a:pPr>
            <a:r>
              <a:rPr lang="en-US" sz="1400" dirty="0">
                <a:latin typeface="Courier"/>
                <a:cs typeface="Courier"/>
              </a:rPr>
              <a:t>    </a:t>
            </a:r>
            <a:r>
              <a:rPr lang="en-US" sz="1400" dirty="0" err="1">
                <a:latin typeface="Courier"/>
                <a:cs typeface="Courier"/>
              </a:rPr>
              <a:t>const</a:t>
            </a:r>
            <a:r>
              <a:rPr lang="en-US" sz="1400" dirty="0">
                <a:latin typeface="Courier"/>
                <a:cs typeface="Courier"/>
              </a:rPr>
              <a:t> Point&lt;3U&gt;&amp;  </a:t>
            </a:r>
            <a:r>
              <a:rPr lang="en-US" sz="1400" dirty="0" err="1">
                <a:latin typeface="Courier"/>
                <a:cs typeface="Courier"/>
              </a:rPr>
              <a:t>ParametricFacetNormal</a:t>
            </a:r>
            <a:r>
              <a:rPr lang="en-US" sz="1400" dirty="0">
                <a:latin typeface="Courier"/>
                <a:cs typeface="Courier"/>
              </a:rPr>
              <a:t>( </a:t>
            </a:r>
            <a:r>
              <a:rPr lang="en-US" sz="1400" dirty="0" err="1">
                <a:latin typeface="Courier"/>
                <a:cs typeface="Courier"/>
              </a:rPr>
              <a:t>size_t</a:t>
            </a:r>
            <a:r>
              <a:rPr lang="en-US" sz="1400" dirty="0">
                <a:latin typeface="Courier"/>
                <a:cs typeface="Courier"/>
              </a:rPr>
              <a:t> </a:t>
            </a:r>
            <a:r>
              <a:rPr lang="en-US" sz="1400" dirty="0" err="1">
                <a:latin typeface="Courier"/>
                <a:cs typeface="Courier"/>
              </a:rPr>
              <a:t>iFacet</a:t>
            </a:r>
            <a:r>
              <a:rPr lang="en-US" sz="1400" dirty="0">
                <a:latin typeface="Courier"/>
                <a:cs typeface="Courier"/>
              </a:rPr>
              <a:t> ) </a:t>
            </a:r>
            <a:r>
              <a:rPr lang="en-US" sz="1400" dirty="0" err="1">
                <a:latin typeface="Courier"/>
                <a:cs typeface="Courier"/>
              </a:rPr>
              <a:t>const</a:t>
            </a:r>
            <a:r>
              <a:rPr lang="en-US" sz="1400" dirty="0">
                <a:latin typeface="Courier"/>
                <a:cs typeface="Courier"/>
              </a:rPr>
              <a:t>;</a:t>
            </a:r>
            <a:endParaRPr lang="en-US" sz="1400" dirty="0" smtClean="0">
              <a:latin typeface="Courier"/>
              <a:cs typeface="Courier"/>
            </a:endParaRPr>
          </a:p>
          <a:p>
            <a:pPr marL="457200" lvl="1" indent="0">
              <a:buNone/>
            </a:pPr>
            <a:endParaRPr lang="en-US" sz="1400" dirty="0" smtClean="0"/>
          </a:p>
          <a:p>
            <a:r>
              <a:rPr lang="en-US" dirty="0" smtClean="0"/>
              <a:t>Is there an issue with velocity computations on polyhedral (multi-element type) meshes, where there appears to be a divergence in the velocity field?</a:t>
            </a:r>
          </a:p>
          <a:p>
            <a:r>
              <a:rPr lang="en-US" dirty="0" smtClean="0"/>
              <a:t>Option PYRAMID_WITH_TRIANGULAR_FACETS should be used always and flag should be removed</a:t>
            </a:r>
            <a:endParaRPr lang="en-US" dirty="0"/>
          </a:p>
        </p:txBody>
      </p:sp>
      <p:sp>
        <p:nvSpPr>
          <p:cNvPr id="10" name="Date Placeholder 3"/>
          <p:cNvSpPr>
            <a:spLocks noGrp="1"/>
          </p:cNvSpPr>
          <p:nvPr>
            <p:ph type="dt" sz="half" idx="4294967295"/>
          </p:nvPr>
        </p:nvSpPr>
        <p:spPr>
          <a:xfrm>
            <a:off x="35496" y="649287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>
                    <a:lumMod val="65000"/>
                  </a:schemeClr>
                </a:solidFill>
                <a:latin typeface="Arial"/>
                <a:cs typeface="Arial"/>
              </a:defRPr>
            </a:lvl1pPr>
          </a:lstStyle>
          <a:p>
            <a:pPr defTabSz="457200" fontAlgn="auto">
              <a:spcBef>
                <a:spcPts val="0"/>
              </a:spcBef>
              <a:spcAft>
                <a:spcPts val="0"/>
              </a:spcAft>
            </a:pPr>
            <a:fld id="{57951F7C-CFBF-8144-A102-5B4CA8E4DF9C}" type="datetime1">
              <a:rPr lang="en-US" smtClean="0">
                <a:solidFill>
                  <a:prstClr val="white">
                    <a:lumMod val="65000"/>
                  </a:prstClr>
                </a:solidFill>
                <a:ea typeface="+mn-ea"/>
              </a:rPr>
              <a:pPr defTabSz="457200" fontAlgn="auto">
                <a:spcBef>
                  <a:spcPts val="0"/>
                </a:spcBef>
                <a:spcAft>
                  <a:spcPts val="0"/>
                </a:spcAft>
              </a:pPr>
              <a:t>11/6/12</a:t>
            </a:fld>
            <a:endParaRPr lang="en-US" dirty="0">
              <a:solidFill>
                <a:prstClr val="white">
                  <a:lumMod val="65000"/>
                </a:prstClr>
              </a:solidFill>
              <a:ea typeface="+mn-ea"/>
            </a:endParaRPr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4294967295"/>
          </p:nvPr>
        </p:nvSpPr>
        <p:spPr>
          <a:xfrm>
            <a:off x="3124200" y="6492875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65000"/>
                  </a:schemeClr>
                </a:solidFill>
                <a:latin typeface="Arial"/>
                <a:cs typeface="Arial"/>
              </a:defRPr>
            </a:lvl1pPr>
          </a:lstStyle>
          <a:p>
            <a:pPr defTabSz="457200" fontAlgn="auto">
              <a:spcBef>
                <a:spcPts val="0"/>
              </a:spcBef>
              <a:spcAft>
                <a:spcPts val="0"/>
              </a:spcAft>
            </a:pPr>
            <a:r>
              <a:rPr lang="en-US" dirty="0" smtClean="0">
                <a:solidFill>
                  <a:prstClr val="white">
                    <a:lumMod val="65000"/>
                  </a:prstClr>
                </a:solidFill>
                <a:ea typeface="+mn-ea"/>
              </a:rPr>
              <a:t>CSMP Generic Transport Scheme</a:t>
            </a:r>
            <a:endParaRPr lang="en-US" dirty="0">
              <a:solidFill>
                <a:prstClr val="white">
                  <a:lumMod val="65000"/>
                </a:prstClr>
              </a:solidFill>
              <a:ea typeface="+mn-ea"/>
            </a:endParaRPr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6974904" y="649287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>
                    <a:lumMod val="65000"/>
                  </a:schemeClr>
                </a:solidFill>
                <a:latin typeface="Arial"/>
                <a:cs typeface="Arial"/>
              </a:defRPr>
            </a:lvl1pPr>
          </a:lstStyle>
          <a:p>
            <a:pPr defTabSz="457200" fontAlgn="auto">
              <a:spcBef>
                <a:spcPts val="0"/>
              </a:spcBef>
              <a:spcAft>
                <a:spcPts val="0"/>
              </a:spcAft>
            </a:pPr>
            <a:r>
              <a:rPr lang="en-US" dirty="0" smtClean="0">
                <a:solidFill>
                  <a:prstClr val="white">
                    <a:lumMod val="65000"/>
                  </a:prstClr>
                </a:solidFill>
                <a:ea typeface="+mn-ea"/>
              </a:rPr>
              <a:t>  </a:t>
            </a:r>
            <a:fld id="{223FD816-CC6A-BF43-8241-637E3E7EAA5A}" type="slidenum">
              <a:rPr lang="en-US" smtClean="0">
                <a:solidFill>
                  <a:prstClr val="white">
                    <a:lumMod val="65000"/>
                  </a:prstClr>
                </a:solidFill>
                <a:ea typeface="+mn-ea"/>
              </a:rPr>
              <a:pPr defTabSz="457200" fontAlgn="auto">
                <a:spcBef>
                  <a:spcPts val="0"/>
                </a:spcBef>
                <a:spcAft>
                  <a:spcPts val="0"/>
                </a:spcAft>
              </a:pPr>
              <a:t>15</a:t>
            </a:fld>
            <a:endParaRPr lang="en-US" dirty="0">
              <a:solidFill>
                <a:prstClr val="white">
                  <a:lumMod val="65000"/>
                </a:prstClr>
              </a:solidFill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9577189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25086"/>
            <a:ext cx="8229600" cy="9144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Keeping support functionality from </a:t>
            </a:r>
            <a:r>
              <a:rPr lang="en-US" b="1" dirty="0" err="1" smtClean="0"/>
              <a:t>NodeCenteredFiniteVolumeTransport</a:t>
            </a:r>
            <a:r>
              <a:rPr lang="en-US" b="1" dirty="0" smtClean="0"/>
              <a:t> ?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1830" y="1039485"/>
            <a:ext cx="8197504" cy="5551509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/>
              <a:t>Class needs a rebuild, but SKM suggests that certain features are kept:</a:t>
            </a:r>
          </a:p>
          <a:p>
            <a:r>
              <a:rPr lang="en-US" dirty="0" smtClean="0"/>
              <a:t>Keep functions but dismantle class?</a:t>
            </a:r>
          </a:p>
          <a:p>
            <a:pPr lvl="1"/>
            <a:r>
              <a:rPr lang="en-US" dirty="0" smtClean="0"/>
              <a:t>Internal variables should no longer be stored in NCFVT class, but can now be stored directly on model; still, an </a:t>
            </a:r>
            <a:r>
              <a:rPr lang="en-US" dirty="0" err="1" smtClean="0"/>
              <a:t>initialisation</a:t>
            </a:r>
            <a:r>
              <a:rPr lang="en-US" dirty="0" smtClean="0"/>
              <a:t> function is needed and state needs to be known</a:t>
            </a:r>
          </a:p>
          <a:p>
            <a:pPr lvl="1"/>
            <a:r>
              <a:rPr lang="en-US" dirty="0" smtClean="0"/>
              <a:t>Single phase transport should also be associated with a phase?</a:t>
            </a:r>
          </a:p>
          <a:p>
            <a:pPr lvl="1"/>
            <a:r>
              <a:rPr lang="en-US" dirty="0" smtClean="0"/>
              <a:t>Complicated procedure to compute nodal volume fluid source terms for FEM scheme should be dropped and managed by FEM </a:t>
            </a:r>
            <a:r>
              <a:rPr lang="en-US" dirty="0" err="1" smtClean="0"/>
              <a:t>pde_operators</a:t>
            </a:r>
            <a:r>
              <a:rPr lang="en-US" dirty="0" smtClean="0"/>
              <a:t>.</a:t>
            </a:r>
          </a:p>
          <a:p>
            <a:pPr lvl="1"/>
            <a:r>
              <a:rPr lang="en-US" dirty="0" smtClean="0"/>
              <a:t>CFL calculations etc. could be moved to </a:t>
            </a:r>
            <a:r>
              <a:rPr lang="en-US" b="1" dirty="0" err="1" smtClean="0"/>
              <a:t>finiteVolumeAuxiliaryFunctions</a:t>
            </a:r>
            <a:r>
              <a:rPr lang="en-US" dirty="0"/>
              <a:t> </a:t>
            </a:r>
            <a:r>
              <a:rPr lang="en-US" dirty="0" smtClean="0"/>
              <a:t>?</a:t>
            </a:r>
          </a:p>
          <a:p>
            <a:pPr lvl="1"/>
            <a:r>
              <a:rPr lang="en-US" dirty="0" smtClean="0"/>
              <a:t>A transport class is still needed to manage accumulations / integrations etc. </a:t>
            </a:r>
          </a:p>
          <a:p>
            <a:pPr lvl="1"/>
            <a:r>
              <a:rPr lang="en-US" dirty="0" smtClean="0"/>
              <a:t>Implication: mesh variables exist everywhere!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13430-5F54-9740-B307-5C0C53476417}" type="datetime1">
              <a:rPr lang="en-US" smtClean="0">
                <a:solidFill>
                  <a:prstClr val="white">
                    <a:lumMod val="65000"/>
                  </a:prstClr>
                </a:solidFill>
              </a:rPr>
              <a:pPr/>
              <a:t>11/6/12</a:t>
            </a:fld>
            <a:endParaRPr lang="en-US" dirty="0">
              <a:solidFill>
                <a:prstClr val="white">
                  <a:lumMod val="6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prstClr val="white">
                    <a:lumMod val="65000"/>
                  </a:prstClr>
                </a:solidFill>
              </a:rPr>
              <a:t>CSMP Generic Transport Scheme</a:t>
            </a:r>
            <a:endParaRPr lang="en-US" dirty="0" smtClean="0">
              <a:solidFill>
                <a:prstClr val="white">
                  <a:lumMod val="6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FD816-CC6A-BF43-8241-637E3E7EAA5A}" type="slidenum">
              <a:rPr lang="en-US" smtClean="0">
                <a:solidFill>
                  <a:prstClr val="white">
                    <a:lumMod val="65000"/>
                  </a:prstClr>
                </a:solidFill>
              </a:rPr>
              <a:pPr/>
              <a:t>16</a:t>
            </a:fld>
            <a:endParaRPr lang="en-US">
              <a:solidFill>
                <a:prstClr val="white">
                  <a:lumMod val="6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634144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4" name="Rectangle 2"/>
          <p:cNvSpPr>
            <a:spLocks noGrp="1" noChangeArrowheads="1"/>
          </p:cNvSpPr>
          <p:nvPr>
            <p:ph type="title"/>
          </p:nvPr>
        </p:nvSpPr>
        <p:spPr>
          <a:xfrm>
            <a:off x="327129" y="315198"/>
            <a:ext cx="8816871" cy="51911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sz="2800" dirty="0"/>
              <a:t>What </a:t>
            </a:r>
            <a:r>
              <a:rPr lang="en-US" sz="2800" dirty="0" smtClean="0"/>
              <a:t>currently happens </a:t>
            </a:r>
            <a:r>
              <a:rPr lang="en-US" sz="2800" dirty="0"/>
              <a:t>when</a:t>
            </a:r>
            <a:r>
              <a:rPr lang="en-US" sz="2800" dirty="0" smtClean="0"/>
              <a:t> the NCFV </a:t>
            </a:r>
            <a:r>
              <a:rPr lang="en-US" sz="2800" dirty="0"/>
              <a:t>transport</a:t>
            </a:r>
            <a:r>
              <a:rPr lang="en-US" sz="2800" dirty="0" smtClean="0"/>
              <a:t> is instantiated</a:t>
            </a:r>
            <a:endParaRPr lang="en-GB" sz="2800" dirty="0"/>
          </a:p>
        </p:txBody>
      </p:sp>
      <p:sp>
        <p:nvSpPr>
          <p:cNvPr id="3584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41325" y="1165225"/>
            <a:ext cx="8308975" cy="5327650"/>
          </a:xfrm>
        </p:spPr>
        <p:txBody>
          <a:bodyPr>
            <a:normAutofit lnSpcReduction="10000"/>
          </a:bodyPr>
          <a:lstStyle/>
          <a:p>
            <a:pPr eaLnBrk="1" hangingPunct="1">
              <a:lnSpc>
                <a:spcPct val="90000"/>
              </a:lnSpc>
              <a:spcAft>
                <a:spcPct val="85000"/>
              </a:spcAft>
            </a:pPr>
            <a:r>
              <a:rPr lang="en-US" sz="2000" dirty="0"/>
              <a:t>Finite volume </a:t>
            </a:r>
            <a:r>
              <a:rPr lang="en-US" sz="2000" dirty="0" smtClean="0"/>
              <a:t>stencil class instances of  </a:t>
            </a:r>
            <a:r>
              <a:rPr lang="en-US" sz="2000" b="1" dirty="0" err="1" smtClean="0"/>
              <a:t>FiniteVolumeStencil</a:t>
            </a:r>
            <a:r>
              <a:rPr lang="en-US" sz="2000" b="1" dirty="0" smtClean="0"/>
              <a:t> </a:t>
            </a:r>
            <a:r>
              <a:rPr lang="en-US" sz="2000" dirty="0"/>
              <a:t>are constructed</a:t>
            </a:r>
            <a:r>
              <a:rPr lang="en-US" sz="2000" dirty="0" smtClean="0"/>
              <a:t> and initialized with data from </a:t>
            </a:r>
            <a:r>
              <a:rPr lang="en-US" sz="2000" b="1" dirty="0" err="1" smtClean="0"/>
              <a:t>FV_IntegrationPointAnd</a:t>
            </a:r>
            <a:r>
              <a:rPr lang="en-US" b="1" dirty="0" err="1" smtClean="0"/>
              <a:t>Weights</a:t>
            </a:r>
            <a:r>
              <a:rPr lang="en-US" b="1" dirty="0" smtClean="0"/>
              <a:t> </a:t>
            </a:r>
            <a:r>
              <a:rPr lang="en-US" dirty="0" smtClean="0"/>
              <a:t>“singleton” </a:t>
            </a:r>
            <a:r>
              <a:rPr lang="en-US" sz="2000" dirty="0" smtClean="0"/>
              <a:t>for </a:t>
            </a:r>
            <a:r>
              <a:rPr lang="en-US" sz="2000" dirty="0"/>
              <a:t>the different finite element types</a:t>
            </a:r>
          </a:p>
          <a:p>
            <a:pPr eaLnBrk="1" hangingPunct="1">
              <a:lnSpc>
                <a:spcPct val="90000"/>
              </a:lnSpc>
              <a:spcAft>
                <a:spcPct val="85000"/>
              </a:spcAft>
            </a:pPr>
            <a:r>
              <a:rPr lang="en-US" sz="2000" dirty="0"/>
              <a:t>Specific stencils are associated with corresponding elements as managed </a:t>
            </a:r>
            <a:r>
              <a:rPr lang="en-US" sz="2000" dirty="0" smtClean="0"/>
              <a:t>by the </a:t>
            </a:r>
            <a:r>
              <a:rPr lang="en-US" sz="2000" b="1" dirty="0" err="1" smtClean="0"/>
              <a:t>FiniteVolumeStencilManager</a:t>
            </a:r>
            <a:endParaRPr lang="en-US" sz="2000" b="1" dirty="0"/>
          </a:p>
          <a:p>
            <a:pPr>
              <a:lnSpc>
                <a:spcPct val="90000"/>
              </a:lnSpc>
              <a:spcAft>
                <a:spcPct val="85000"/>
              </a:spcAft>
            </a:pPr>
            <a:r>
              <a:rPr lang="en-US" sz="2000" b="1" dirty="0" err="1"/>
              <a:t>FV_Parameter</a:t>
            </a:r>
            <a:r>
              <a:rPr lang="en-US" sz="2000" b="1" dirty="0" smtClean="0"/>
              <a:t> </a:t>
            </a:r>
            <a:r>
              <a:rPr lang="en-US" sz="2000" dirty="0" smtClean="0"/>
              <a:t>instances are initialized doing computations </a:t>
            </a:r>
            <a:r>
              <a:rPr lang="en-US" dirty="0" smtClean="0"/>
              <a:t>with the </a:t>
            </a:r>
            <a:r>
              <a:rPr lang="en-US" b="1" dirty="0" err="1" smtClean="0"/>
              <a:t>FiniteVolumeStencil</a:t>
            </a:r>
            <a:r>
              <a:rPr lang="en-US" b="1" dirty="0" smtClean="0"/>
              <a:t> </a:t>
            </a:r>
            <a:r>
              <a:rPr lang="en-US" dirty="0" smtClean="0"/>
              <a:t>objects and are </a:t>
            </a:r>
            <a:r>
              <a:rPr lang="en-US" sz="2000" dirty="0" smtClean="0"/>
              <a:t>stored </a:t>
            </a:r>
            <a:r>
              <a:rPr lang="en-US" sz="2000" dirty="0"/>
              <a:t>in the STENCIL_DATA vector inside of the </a:t>
            </a:r>
            <a:r>
              <a:rPr lang="en-US" sz="2000" b="1" dirty="0" err="1" smtClean="0"/>
              <a:t>NodeCenteredFiniteVolumeTransport</a:t>
            </a:r>
            <a:r>
              <a:rPr lang="en-US" sz="2000" b="1" dirty="0" smtClean="0"/>
              <a:t>. </a:t>
            </a:r>
            <a:r>
              <a:rPr lang="en-US" dirty="0" smtClean="0"/>
              <a:t>I</a:t>
            </a:r>
            <a:r>
              <a:rPr lang="en-US" sz="2000" dirty="0" smtClean="0"/>
              <a:t>nitialized are with </a:t>
            </a:r>
            <a:r>
              <a:rPr lang="en-US" sz="2000" dirty="0"/>
              <a:t>facet </a:t>
            </a:r>
            <a:r>
              <a:rPr lang="en-US" sz="2000" dirty="0" err="1"/>
              <a:t>normals</a:t>
            </a:r>
            <a:r>
              <a:rPr lang="en-US" sz="2000" dirty="0"/>
              <a:t>, facet areas, and</a:t>
            </a:r>
            <a:r>
              <a:rPr lang="en-US" sz="2000" dirty="0" smtClean="0"/>
              <a:t> sector </a:t>
            </a:r>
            <a:r>
              <a:rPr lang="en-US" sz="2000" dirty="0"/>
              <a:t>volumes for accelerated lookup and projections during </a:t>
            </a:r>
            <a:r>
              <a:rPr lang="en-US" sz="2000" dirty="0" smtClean="0"/>
              <a:t>run.  </a:t>
            </a:r>
          </a:p>
          <a:p>
            <a:pPr lvl="1">
              <a:lnSpc>
                <a:spcPct val="90000"/>
              </a:lnSpc>
              <a:spcAft>
                <a:spcPct val="85000"/>
              </a:spcAft>
            </a:pPr>
            <a:r>
              <a:rPr lang="en-US" i="1" dirty="0" smtClean="0"/>
              <a:t>NB: </a:t>
            </a:r>
            <a:r>
              <a:rPr lang="en-US" i="1" dirty="0" err="1" smtClean="0"/>
              <a:t>FV_Parameter</a:t>
            </a:r>
            <a:r>
              <a:rPr lang="en-US" i="1" dirty="0" smtClean="0"/>
              <a:t> data can now be stored on the mesh</a:t>
            </a:r>
            <a:endParaRPr lang="en-US" i="1" dirty="0"/>
          </a:p>
          <a:p>
            <a:pPr eaLnBrk="1" hangingPunct="1">
              <a:lnSpc>
                <a:spcPct val="90000"/>
              </a:lnSpc>
              <a:spcAft>
                <a:spcPct val="85000"/>
              </a:spcAft>
            </a:pPr>
            <a:r>
              <a:rPr lang="en-US" sz="2000" dirty="0"/>
              <a:t>FV-pore volumes and flux balance arrays are</a:t>
            </a:r>
            <a:r>
              <a:rPr lang="en-US" sz="2000" dirty="0" smtClean="0"/>
              <a:t> also computed</a:t>
            </a:r>
            <a:r>
              <a:rPr lang="en-US" sz="2000" dirty="0"/>
              <a:t>. If second order is required, a node connectivity graph and SMINMAX array values are initialized for the limiting.</a:t>
            </a:r>
            <a:endParaRPr lang="en-GB" sz="2000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35496" y="6492875"/>
            <a:ext cx="2133600" cy="365125"/>
          </a:xfrm>
        </p:spPr>
        <p:txBody>
          <a:bodyPr/>
          <a:lstStyle/>
          <a:p>
            <a:fld id="{42113430-5F54-9740-B307-5C0C53476417}" type="datetime1">
              <a:rPr lang="en-US" smtClean="0">
                <a:solidFill>
                  <a:prstClr val="white">
                    <a:lumMod val="65000"/>
                  </a:prstClr>
                </a:solidFill>
              </a:rPr>
              <a:pPr/>
              <a:t>11/6/12</a:t>
            </a:fld>
            <a:endParaRPr lang="en-US" dirty="0">
              <a:solidFill>
                <a:prstClr val="white">
                  <a:lumMod val="65000"/>
                </a:prstClr>
              </a:solidFill>
            </a:endParaRPr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492875"/>
            <a:ext cx="2895600" cy="365125"/>
          </a:xfrm>
        </p:spPr>
        <p:txBody>
          <a:bodyPr/>
          <a:lstStyle/>
          <a:p>
            <a:r>
              <a:rPr lang="en-US" smtClean="0">
                <a:solidFill>
                  <a:prstClr val="white">
                    <a:lumMod val="65000"/>
                  </a:prstClr>
                </a:solidFill>
              </a:rPr>
              <a:t>CSMP Generic Transport Scheme</a:t>
            </a:r>
            <a:endParaRPr lang="en-US" dirty="0" smtClean="0">
              <a:solidFill>
                <a:prstClr val="white">
                  <a:lumMod val="65000"/>
                </a:prstClr>
              </a:solidFill>
            </a:endParaRP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974904" y="6492875"/>
            <a:ext cx="2133600" cy="365125"/>
          </a:xfrm>
        </p:spPr>
        <p:txBody>
          <a:bodyPr/>
          <a:lstStyle/>
          <a:p>
            <a:fld id="{223FD816-CC6A-BF43-8241-637E3E7EAA5A}" type="slidenum">
              <a:rPr lang="en-US" smtClean="0">
                <a:solidFill>
                  <a:prstClr val="white">
                    <a:lumMod val="65000"/>
                  </a:prstClr>
                </a:solidFill>
              </a:rPr>
              <a:pPr/>
              <a:t>17</a:t>
            </a:fld>
            <a:endParaRPr lang="en-US">
              <a:solidFill>
                <a:prstClr val="white">
                  <a:lumMod val="6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4491606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2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201285"/>
            <a:ext cx="8162925" cy="579437"/>
          </a:xfrm>
        </p:spPr>
        <p:txBody>
          <a:bodyPr/>
          <a:lstStyle/>
          <a:p>
            <a:pPr eaLnBrk="1" hangingPunct="1"/>
            <a:r>
              <a:rPr lang="en-US" dirty="0"/>
              <a:t>CFL calculation</a:t>
            </a:r>
            <a:endParaRPr lang="en-GB" dirty="0"/>
          </a:p>
        </p:txBody>
      </p:sp>
      <p:sp>
        <p:nvSpPr>
          <p:cNvPr id="3789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838200"/>
            <a:ext cx="8804274" cy="4953000"/>
          </a:xfrm>
        </p:spPr>
        <p:txBody>
          <a:bodyPr>
            <a:noAutofit/>
          </a:bodyPr>
          <a:lstStyle/>
          <a:p>
            <a:pPr eaLnBrk="1" hangingPunct="1">
              <a:spcAft>
                <a:spcPct val="50000"/>
              </a:spcAft>
            </a:pPr>
            <a:r>
              <a:rPr lang="en-US" dirty="0"/>
              <a:t>CFL is </a:t>
            </a:r>
            <a:r>
              <a:rPr lang="en-US" dirty="0" smtClean="0"/>
              <a:t>currently calculated </a:t>
            </a:r>
            <a:r>
              <a:rPr lang="en-US" dirty="0"/>
              <a:t>using the element length in the direction of flow, </a:t>
            </a:r>
            <a:r>
              <a:rPr lang="en-US" dirty="0" smtClean="0"/>
              <a:t>see NCFVT::</a:t>
            </a:r>
            <a:r>
              <a:rPr lang="en-US" b="1" dirty="0" err="1"/>
              <a:t>AnisotropicCourantIncrement</a:t>
            </a:r>
            <a:r>
              <a:rPr lang="en-US" b="1" dirty="0"/>
              <a:t>(</a:t>
            </a:r>
            <a:r>
              <a:rPr lang="en-US" b="1" dirty="0" smtClean="0"/>
              <a:t>)</a:t>
            </a:r>
            <a:r>
              <a:rPr lang="en-US" dirty="0" smtClean="0"/>
              <a:t>. This only considers viscous and gravitationally driven flow since capillary spreading is computed with the FE method.</a:t>
            </a:r>
          </a:p>
          <a:p>
            <a:pPr>
              <a:spcAft>
                <a:spcPct val="50000"/>
              </a:spcAft>
            </a:pPr>
            <a:r>
              <a:rPr lang="en-US" dirty="0" smtClean="0"/>
              <a:t>A limiting value is specified by the user for the case when there is no flow.</a:t>
            </a:r>
            <a:endParaRPr lang="en-GB" dirty="0" smtClean="0"/>
          </a:p>
          <a:p>
            <a:pPr eaLnBrk="1" hangingPunct="1">
              <a:spcAft>
                <a:spcPct val="50000"/>
              </a:spcAft>
            </a:pPr>
            <a:r>
              <a:rPr lang="en-US" dirty="0" smtClean="0"/>
              <a:t>For </a:t>
            </a:r>
            <a:r>
              <a:rPr lang="en-US" dirty="0"/>
              <a:t>explicit calculations, </a:t>
            </a:r>
            <a:r>
              <a:rPr lang="en-US" i="1" dirty="0" err="1"/>
              <a:t>df/ds</a:t>
            </a:r>
            <a:r>
              <a:rPr lang="en-US" i="1" baseline="-25000" dirty="0" err="1"/>
              <a:t>max</a:t>
            </a:r>
            <a:r>
              <a:rPr lang="en-US" dirty="0"/>
              <a:t> is used in the calculation of the 2-phase CFL limit because the resulting step size will be sufficiently small even when </a:t>
            </a:r>
            <a:r>
              <a:rPr lang="en-US" i="1" dirty="0" err="1"/>
              <a:t>df/ds</a:t>
            </a:r>
            <a:r>
              <a:rPr lang="en-US" dirty="0"/>
              <a:t> increases from the current to subsequent iterations. For implicit calculations this is not necessary and the virtual CFL method should be overloaded in such schemes to be less restrictive.</a:t>
            </a:r>
            <a:endParaRPr lang="en-US" dirty="0" smtClean="0"/>
          </a:p>
          <a:p>
            <a:pPr eaLnBrk="1" hangingPunct="1">
              <a:spcAft>
                <a:spcPct val="50000"/>
              </a:spcAft>
            </a:pPr>
            <a:r>
              <a:rPr lang="en-US" dirty="0" smtClean="0"/>
              <a:t>To use </a:t>
            </a:r>
            <a:r>
              <a:rPr lang="en-US" dirty="0" err="1" smtClean="0"/>
              <a:t>explit</a:t>
            </a:r>
            <a:r>
              <a:rPr lang="en-US" dirty="0" smtClean="0"/>
              <a:t> schemes CFL </a:t>
            </a:r>
            <a:r>
              <a:rPr lang="en-US" dirty="0"/>
              <a:t>calculation must simultaneously address viscous, gravitational, and capillary terms CFL = max( </a:t>
            </a:r>
            <a:r>
              <a:rPr lang="en-US" dirty="0" err="1"/>
              <a:t>visc_CFL</a:t>
            </a:r>
            <a:r>
              <a:rPr lang="en-US" dirty="0"/>
              <a:t>…) so that even if one of these is zero a meaningful value is established</a:t>
            </a:r>
            <a:r>
              <a:rPr lang="en-US" dirty="0" smtClean="0"/>
              <a:t>.</a:t>
            </a:r>
          </a:p>
          <a:p>
            <a:pPr eaLnBrk="1" hangingPunct="1">
              <a:spcAft>
                <a:spcPct val="50000"/>
              </a:spcAft>
            </a:pPr>
            <a:r>
              <a:rPr lang="en-US" dirty="0" smtClean="0"/>
              <a:t>For these reasons the CFL methods are virtual so that they can be </a:t>
            </a:r>
            <a:r>
              <a:rPr lang="en-US" dirty="0" err="1" smtClean="0"/>
              <a:t>overriden</a:t>
            </a:r>
            <a:r>
              <a:rPr lang="en-US" dirty="0" smtClean="0"/>
              <a:t> in the subclasses.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35496" y="6492875"/>
            <a:ext cx="2133600" cy="365125"/>
          </a:xfrm>
        </p:spPr>
        <p:txBody>
          <a:bodyPr/>
          <a:lstStyle/>
          <a:p>
            <a:fld id="{42113430-5F54-9740-B307-5C0C53476417}" type="datetime1">
              <a:rPr lang="en-US" smtClean="0">
                <a:solidFill>
                  <a:prstClr val="white">
                    <a:lumMod val="65000"/>
                  </a:prstClr>
                </a:solidFill>
              </a:rPr>
              <a:pPr/>
              <a:t>11/6/12</a:t>
            </a:fld>
            <a:endParaRPr lang="en-US" dirty="0">
              <a:solidFill>
                <a:prstClr val="white">
                  <a:lumMod val="65000"/>
                </a:prstClr>
              </a:solidFill>
            </a:endParaRPr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492875"/>
            <a:ext cx="2895600" cy="365125"/>
          </a:xfrm>
        </p:spPr>
        <p:txBody>
          <a:bodyPr/>
          <a:lstStyle/>
          <a:p>
            <a:r>
              <a:rPr lang="en-US" smtClean="0">
                <a:solidFill>
                  <a:prstClr val="white">
                    <a:lumMod val="65000"/>
                  </a:prstClr>
                </a:solidFill>
              </a:rPr>
              <a:t>CSMP Generic Transport Scheme</a:t>
            </a:r>
            <a:endParaRPr lang="en-US" dirty="0" smtClean="0">
              <a:solidFill>
                <a:prstClr val="white">
                  <a:lumMod val="65000"/>
                </a:prstClr>
              </a:solidFill>
            </a:endParaRP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974904" y="6492875"/>
            <a:ext cx="2133600" cy="365125"/>
          </a:xfrm>
        </p:spPr>
        <p:txBody>
          <a:bodyPr/>
          <a:lstStyle/>
          <a:p>
            <a:fld id="{223FD816-CC6A-BF43-8241-637E3E7EAA5A}" type="slidenum">
              <a:rPr lang="en-US" smtClean="0">
                <a:solidFill>
                  <a:prstClr val="white">
                    <a:lumMod val="65000"/>
                  </a:prstClr>
                </a:solidFill>
              </a:rPr>
              <a:pPr/>
              <a:t>18</a:t>
            </a:fld>
            <a:endParaRPr lang="en-US">
              <a:solidFill>
                <a:prstClr val="white">
                  <a:lumMod val="6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827969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xmlns:p14="http://schemas.microsoft.com/office/powerpoint/2010/main" spd="slow"/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49565"/>
          </a:xfrm>
        </p:spPr>
        <p:txBody>
          <a:bodyPr/>
          <a:lstStyle/>
          <a:p>
            <a:r>
              <a:rPr lang="en-US" dirty="0" smtClean="0"/>
              <a:t>Constitutive relationships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10786"/>
            <a:ext cx="8229600" cy="1415470"/>
          </a:xfrm>
        </p:spPr>
        <p:txBody>
          <a:bodyPr>
            <a:normAutofit fontScale="25000" lnSpcReduction="20000"/>
          </a:bodyPr>
          <a:lstStyle/>
          <a:p>
            <a:pPr marL="182563" indent="-182563"/>
            <a:r>
              <a:rPr lang="en-US" sz="6400" dirty="0" smtClean="0"/>
              <a:t>Are currently recovered from subclasses of the </a:t>
            </a:r>
            <a:r>
              <a:rPr lang="en-US" sz="6400" b="1" dirty="0" err="1" smtClean="0"/>
              <a:t>TwoPhaseModel</a:t>
            </a:r>
            <a:r>
              <a:rPr lang="en-US" sz="6400" dirty="0" smtClean="0"/>
              <a:t> (here we need extensions for 3-phase and perhaps for compressible flow)</a:t>
            </a:r>
          </a:p>
          <a:p>
            <a:pPr marL="182563" indent="-182563"/>
            <a:r>
              <a:rPr lang="en-US" sz="6400" dirty="0" smtClean="0"/>
              <a:t>Idea (for element-based material properties):  initialize 2-phase model for element (or specific internal site (=node etc.), then compute terms accessible through interface.</a:t>
            </a:r>
          </a:p>
          <a:p>
            <a:pPr marL="182563" indent="-182563"/>
            <a:r>
              <a:rPr lang="en-US" sz="6400" dirty="0" smtClean="0"/>
              <a:t>Current interface is a mess! – somebody has tinkered with the base class!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dirty="0" smtClean="0"/>
              <a:t>void </a:t>
            </a:r>
            <a:r>
              <a:rPr lang="en-US" sz="3600" dirty="0" err="1"/>
              <a:t>SaturationWettingPhase</a:t>
            </a:r>
            <a:r>
              <a:rPr lang="en-US" sz="3600" dirty="0"/>
              <a:t>( double64 </a:t>
            </a:r>
            <a:r>
              <a:rPr lang="en-US" sz="3600" dirty="0" err="1"/>
              <a:t>s_wetting</a:t>
            </a:r>
            <a:r>
              <a:rPr lang="en-US" sz="3600" dirty="0"/>
              <a:t> );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3600" dirty="0" err="1" smtClean="0"/>
              <a:t>void</a:t>
            </a:r>
            <a:r>
              <a:rPr lang="it-IT" sz="3600" dirty="0" smtClean="0"/>
              <a:t>       </a:t>
            </a:r>
            <a:r>
              <a:rPr lang="it-IT" sz="3600" dirty="0" err="1"/>
              <a:t>Permeability</a:t>
            </a:r>
            <a:r>
              <a:rPr lang="it-IT" sz="3600" dirty="0"/>
              <a:t>( double64 </a:t>
            </a:r>
            <a:r>
              <a:rPr lang="it-IT" sz="3600" dirty="0" err="1"/>
              <a:t>permeability</a:t>
            </a:r>
            <a:r>
              <a:rPr lang="it-IT" sz="3600" dirty="0"/>
              <a:t> );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fi-FI" sz="3600" dirty="0" smtClean="0"/>
              <a:t>double64   </a:t>
            </a:r>
            <a:r>
              <a:rPr lang="fi-FI" sz="3600" dirty="0" err="1"/>
              <a:t>ViscosityNonWettingPhase</a:t>
            </a:r>
            <a:r>
              <a:rPr lang="fi-FI" sz="3600" dirty="0"/>
              <a:t>() </a:t>
            </a:r>
            <a:r>
              <a:rPr lang="fi-FI" sz="3600" dirty="0" err="1"/>
              <a:t>const</a:t>
            </a:r>
            <a:r>
              <a:rPr lang="fi-FI" sz="3600" dirty="0"/>
              <a:t>;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fi-FI" sz="3600" dirty="0" smtClean="0"/>
              <a:t>double64   </a:t>
            </a:r>
            <a:r>
              <a:rPr lang="fi-FI" sz="3600" dirty="0" err="1"/>
              <a:t>ViscosityWettingPhase</a:t>
            </a:r>
            <a:r>
              <a:rPr lang="fi-FI" sz="3600" dirty="0"/>
              <a:t>() </a:t>
            </a:r>
            <a:r>
              <a:rPr lang="fi-FI" sz="3600" dirty="0" err="1"/>
              <a:t>const</a:t>
            </a:r>
            <a:r>
              <a:rPr lang="fi-FI" sz="3600" dirty="0"/>
              <a:t>;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fi-FI" sz="3600" dirty="0" smtClean="0"/>
              <a:t>double64   </a:t>
            </a:r>
            <a:r>
              <a:rPr lang="fi-FI" sz="3600" dirty="0" err="1"/>
              <a:t>DensityNonWettingPhase</a:t>
            </a:r>
            <a:r>
              <a:rPr lang="fi-FI" sz="3600" dirty="0"/>
              <a:t>() </a:t>
            </a:r>
            <a:r>
              <a:rPr lang="fi-FI" sz="3600" dirty="0" err="1"/>
              <a:t>const</a:t>
            </a:r>
            <a:r>
              <a:rPr lang="fi-FI" sz="3600" dirty="0"/>
              <a:t>;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fi-FI" sz="3600" dirty="0" smtClean="0"/>
              <a:t>double64   </a:t>
            </a:r>
            <a:r>
              <a:rPr lang="fi-FI" sz="3600" dirty="0" err="1"/>
              <a:t>DensityWettingPhase</a:t>
            </a:r>
            <a:r>
              <a:rPr lang="fi-FI" sz="3600" dirty="0"/>
              <a:t>() </a:t>
            </a:r>
            <a:r>
              <a:rPr lang="fi-FI" sz="3600" dirty="0" err="1"/>
              <a:t>const</a:t>
            </a:r>
            <a:r>
              <a:rPr lang="fi-FI" sz="3600" dirty="0"/>
              <a:t>;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fi-FI" sz="3600" dirty="0" smtClean="0"/>
              <a:t>double64   </a:t>
            </a:r>
            <a:r>
              <a:rPr lang="fi-FI" sz="3600" dirty="0" err="1"/>
              <a:t>Saturation</a:t>
            </a:r>
            <a:r>
              <a:rPr lang="fi-FI" sz="3600" dirty="0"/>
              <a:t>( </a:t>
            </a:r>
            <a:r>
              <a:rPr lang="fi-FI" sz="3600" dirty="0" err="1"/>
              <a:t>size_t</a:t>
            </a:r>
            <a:r>
              <a:rPr lang="fi-FI" sz="3600" dirty="0"/>
              <a:t> </a:t>
            </a:r>
            <a:r>
              <a:rPr lang="fi-FI" sz="3600" dirty="0" err="1"/>
              <a:t>phase</a:t>
            </a:r>
            <a:r>
              <a:rPr lang="fi-FI" sz="3600" dirty="0"/>
              <a:t> ) </a:t>
            </a:r>
            <a:r>
              <a:rPr lang="fi-FI" sz="3600" dirty="0" err="1"/>
              <a:t>const</a:t>
            </a:r>
            <a:r>
              <a:rPr lang="fi-FI" sz="3600" dirty="0"/>
              <a:t>;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fi-FI" sz="3600" dirty="0" smtClean="0"/>
              <a:t>double64   </a:t>
            </a:r>
            <a:r>
              <a:rPr lang="fi-FI" sz="3600" dirty="0" err="1"/>
              <a:t>MobilityPhase</a:t>
            </a:r>
            <a:r>
              <a:rPr lang="fi-FI" sz="3600" dirty="0"/>
              <a:t>( </a:t>
            </a:r>
            <a:r>
              <a:rPr lang="fi-FI" sz="3600" dirty="0" err="1"/>
              <a:t>size_t</a:t>
            </a:r>
            <a:r>
              <a:rPr lang="fi-FI" sz="3600" dirty="0"/>
              <a:t> </a:t>
            </a:r>
            <a:r>
              <a:rPr lang="fi-FI" sz="3600" dirty="0" err="1"/>
              <a:t>phase</a:t>
            </a:r>
            <a:r>
              <a:rPr lang="fi-FI" sz="3600" dirty="0"/>
              <a:t> ) </a:t>
            </a:r>
            <a:r>
              <a:rPr lang="fi-FI" sz="3600" dirty="0" err="1"/>
              <a:t>const</a:t>
            </a:r>
            <a:r>
              <a:rPr lang="fi-FI" sz="3600" dirty="0"/>
              <a:t>; // </a:t>
            </a:r>
            <a:r>
              <a:rPr lang="fi-FI" sz="3600" dirty="0" err="1"/>
              <a:t>kr_i/</a:t>
            </a:r>
            <a:r>
              <a:rPr lang="fi-FI" sz="3600" dirty="0" err="1" smtClean="0"/>
              <a:t>mu_i</a:t>
            </a:r>
            <a:endParaRPr lang="fi-FI" sz="3600" dirty="0"/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fi-FI" sz="3600" dirty="0" smtClean="0"/>
              <a:t>double64 </a:t>
            </a:r>
            <a:r>
              <a:rPr lang="fi-FI" sz="3600" dirty="0" err="1"/>
              <a:t>TotalMobility</a:t>
            </a:r>
            <a:r>
              <a:rPr lang="fi-FI" sz="3600" dirty="0"/>
              <a:t>() </a:t>
            </a:r>
            <a:r>
              <a:rPr lang="fi-FI" sz="3600" dirty="0" err="1"/>
              <a:t>const</a:t>
            </a:r>
            <a:r>
              <a:rPr lang="fi-FI" sz="3600" dirty="0"/>
              <a:t>;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fi-FI" sz="3600" dirty="0" smtClean="0"/>
              <a:t>double64 </a:t>
            </a:r>
            <a:r>
              <a:rPr lang="fi-FI" sz="3600" dirty="0" err="1"/>
              <a:t>TotalMobilityMultiplier</a:t>
            </a:r>
            <a:r>
              <a:rPr lang="fi-FI" sz="3600" dirty="0"/>
              <a:t>() </a:t>
            </a:r>
            <a:r>
              <a:rPr lang="fi-FI" sz="3600" dirty="0" err="1"/>
              <a:t>const</a:t>
            </a:r>
            <a:r>
              <a:rPr lang="fi-FI" sz="3600" dirty="0"/>
              <a:t>;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fi-FI" sz="3600" dirty="0" smtClean="0"/>
              <a:t>double64 </a:t>
            </a:r>
            <a:r>
              <a:rPr lang="fi-FI" sz="3600" dirty="0" err="1"/>
              <a:t>DiffusionMultiplier</a:t>
            </a:r>
            <a:r>
              <a:rPr lang="fi-FI" sz="3600" dirty="0"/>
              <a:t>( </a:t>
            </a:r>
            <a:r>
              <a:rPr lang="fi-FI" sz="3600" dirty="0" err="1"/>
              <a:t>size_t</a:t>
            </a:r>
            <a:r>
              <a:rPr lang="fi-FI" sz="3600" dirty="0"/>
              <a:t> </a:t>
            </a:r>
            <a:r>
              <a:rPr lang="fi-FI" sz="3600" dirty="0" err="1"/>
              <a:t>phase</a:t>
            </a:r>
            <a:r>
              <a:rPr lang="fi-FI" sz="3600" dirty="0"/>
              <a:t> ) </a:t>
            </a:r>
            <a:r>
              <a:rPr lang="fi-FI" sz="3600" dirty="0" err="1"/>
              <a:t>const</a:t>
            </a:r>
            <a:r>
              <a:rPr lang="fi-FI" sz="3600" dirty="0"/>
              <a:t>;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fi-FI" sz="3600" dirty="0" smtClean="0"/>
              <a:t>double64 </a:t>
            </a:r>
            <a:r>
              <a:rPr lang="fi-FI" sz="3600" dirty="0" err="1"/>
              <a:t>CapillaryDiffusionMultiplier</a:t>
            </a:r>
            <a:r>
              <a:rPr lang="fi-FI" sz="3600" dirty="0"/>
              <a:t>( </a:t>
            </a:r>
            <a:r>
              <a:rPr lang="fi-FI" sz="3600" dirty="0" err="1"/>
              <a:t>size_t</a:t>
            </a:r>
            <a:r>
              <a:rPr lang="fi-FI" sz="3600" dirty="0"/>
              <a:t> </a:t>
            </a:r>
            <a:r>
              <a:rPr lang="fi-FI" sz="3600" dirty="0" err="1"/>
              <a:t>phase</a:t>
            </a:r>
            <a:r>
              <a:rPr lang="fi-FI" sz="3600" dirty="0"/>
              <a:t> ) </a:t>
            </a:r>
            <a:r>
              <a:rPr lang="fi-FI" sz="3600" dirty="0" err="1"/>
              <a:t>const</a:t>
            </a:r>
            <a:r>
              <a:rPr lang="fi-FI" sz="3600" dirty="0"/>
              <a:t>; 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fi-FI" sz="3600" dirty="0" smtClean="0"/>
              <a:t>double64 </a:t>
            </a:r>
            <a:r>
              <a:rPr lang="fi-FI" sz="3600" dirty="0" err="1"/>
              <a:t>GravityMultiplier_G</a:t>
            </a:r>
            <a:r>
              <a:rPr lang="fi-FI" sz="3600" dirty="0"/>
              <a:t>() </a:t>
            </a:r>
            <a:r>
              <a:rPr lang="fi-FI" sz="3600" dirty="0" err="1"/>
              <a:t>const</a:t>
            </a:r>
            <a:r>
              <a:rPr lang="fi-FI" sz="3600" dirty="0"/>
              <a:t>;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fi-FI" sz="3600" dirty="0" smtClean="0"/>
              <a:t>double64 </a:t>
            </a:r>
            <a:r>
              <a:rPr lang="fi-FI" sz="3600" dirty="0" err="1"/>
              <a:t>GravityMultiplier_dGds</a:t>
            </a:r>
            <a:r>
              <a:rPr lang="fi-FI" sz="3600" dirty="0"/>
              <a:t>() </a:t>
            </a:r>
            <a:r>
              <a:rPr lang="fi-FI" sz="3600" dirty="0" err="1"/>
              <a:t>const</a:t>
            </a:r>
            <a:r>
              <a:rPr lang="fi-FI" sz="3600" dirty="0"/>
              <a:t>;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fi-FI" sz="3600" dirty="0" smtClean="0"/>
              <a:t>double64 </a:t>
            </a:r>
            <a:r>
              <a:rPr lang="fi-FI" sz="3600" dirty="0" err="1"/>
              <a:t>AdvectionMultiplier</a:t>
            </a:r>
            <a:r>
              <a:rPr lang="fi-FI" sz="3600" dirty="0"/>
              <a:t>() </a:t>
            </a:r>
            <a:r>
              <a:rPr lang="fi-FI" sz="3600" dirty="0" err="1"/>
              <a:t>const</a:t>
            </a:r>
            <a:r>
              <a:rPr lang="fi-FI" sz="3600" dirty="0"/>
              <a:t>;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fi-FI" sz="3600" dirty="0" err="1" smtClean="0"/>
              <a:t>virtual</a:t>
            </a:r>
            <a:r>
              <a:rPr lang="fi-FI" sz="3600" dirty="0" smtClean="0"/>
              <a:t> </a:t>
            </a:r>
            <a:r>
              <a:rPr lang="fi-FI" sz="3600" dirty="0"/>
              <a:t>double64 </a:t>
            </a:r>
            <a:r>
              <a:rPr lang="fi-FI" sz="3600" dirty="0" err="1"/>
              <a:t>ShockSpeed</a:t>
            </a:r>
            <a:r>
              <a:rPr lang="fi-FI" sz="3600" dirty="0"/>
              <a:t>() </a:t>
            </a:r>
            <a:r>
              <a:rPr lang="fi-FI" sz="3600" dirty="0" err="1"/>
              <a:t>const</a:t>
            </a:r>
            <a:r>
              <a:rPr lang="fi-FI" sz="3600" dirty="0"/>
              <a:t>;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fi-FI" sz="3600" dirty="0" err="1" smtClean="0"/>
              <a:t>virtual</a:t>
            </a:r>
            <a:r>
              <a:rPr lang="fi-FI" sz="3600" dirty="0" smtClean="0"/>
              <a:t> </a:t>
            </a:r>
            <a:r>
              <a:rPr lang="fi-FI" sz="3600" dirty="0"/>
              <a:t>double64 </a:t>
            </a:r>
            <a:r>
              <a:rPr lang="fi-FI" sz="3600" dirty="0" err="1"/>
              <a:t>ShockHeight</a:t>
            </a:r>
            <a:r>
              <a:rPr lang="fi-FI" sz="3600" dirty="0"/>
              <a:t>() </a:t>
            </a:r>
            <a:r>
              <a:rPr lang="fi-FI" sz="3600" dirty="0" err="1"/>
              <a:t>const</a:t>
            </a:r>
            <a:r>
              <a:rPr lang="fi-FI" sz="3600" dirty="0"/>
              <a:t>;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fi-FI" sz="3600" dirty="0"/>
              <a:t>    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fi-FI" sz="3600" dirty="0" err="1" smtClean="0"/>
              <a:t>virtual</a:t>
            </a:r>
            <a:r>
              <a:rPr lang="fi-FI" sz="3600" dirty="0" smtClean="0"/>
              <a:t> </a:t>
            </a:r>
            <a:r>
              <a:rPr lang="fi-FI" sz="3600" dirty="0"/>
              <a:t>double64  </a:t>
            </a:r>
            <a:r>
              <a:rPr lang="fi-FI" sz="3600" dirty="0" err="1"/>
              <a:t>EffectiveSaturation</a:t>
            </a:r>
            <a:r>
              <a:rPr lang="fi-FI" sz="3600" dirty="0"/>
              <a:t>() </a:t>
            </a:r>
            <a:r>
              <a:rPr lang="fi-FI" sz="3600" dirty="0" err="1"/>
              <a:t>const</a:t>
            </a:r>
            <a:r>
              <a:rPr lang="fi-FI" sz="3600" dirty="0"/>
              <a:t>;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fi-FI" sz="3600" dirty="0"/>
              <a:t>     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fi-FI" sz="3600" dirty="0" err="1" smtClean="0"/>
              <a:t>virtual</a:t>
            </a:r>
            <a:r>
              <a:rPr lang="fi-FI" sz="3600" dirty="0" smtClean="0"/>
              <a:t> </a:t>
            </a:r>
            <a:r>
              <a:rPr lang="fi-FI" sz="3600" dirty="0"/>
              <a:t>double64 </a:t>
            </a:r>
            <a:r>
              <a:rPr lang="fi-FI" sz="3600" dirty="0" err="1"/>
              <a:t>krn_Phase</a:t>
            </a:r>
            <a:r>
              <a:rPr lang="fi-FI" sz="3600" dirty="0"/>
              <a:t>() </a:t>
            </a:r>
            <a:r>
              <a:rPr lang="fi-FI" sz="3600" dirty="0" err="1"/>
              <a:t>const</a:t>
            </a:r>
            <a:r>
              <a:rPr lang="fi-FI" sz="3600" dirty="0"/>
              <a:t> = 0;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fi-FI" sz="3600" dirty="0"/>
              <a:t>    </a:t>
            </a:r>
            <a:r>
              <a:rPr lang="fi-FI" sz="3600" dirty="0" err="1"/>
              <a:t>virtual</a:t>
            </a:r>
            <a:r>
              <a:rPr lang="fi-FI" sz="3600" dirty="0"/>
              <a:t> double64 </a:t>
            </a:r>
            <a:r>
              <a:rPr lang="fi-FI" sz="3600" dirty="0" err="1"/>
              <a:t>krw_Phase</a:t>
            </a:r>
            <a:r>
              <a:rPr lang="fi-FI" sz="3600" dirty="0"/>
              <a:t>() </a:t>
            </a:r>
            <a:r>
              <a:rPr lang="fi-FI" sz="3600" dirty="0" err="1"/>
              <a:t>const</a:t>
            </a:r>
            <a:r>
              <a:rPr lang="fi-FI" sz="3600" dirty="0"/>
              <a:t> = 0;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endParaRPr lang="fi-FI" sz="3600" dirty="0"/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fi-FI" sz="3600" dirty="0"/>
              <a:t>    /// </a:t>
            </a:r>
            <a:r>
              <a:rPr lang="fi-FI" sz="3600" dirty="0" err="1"/>
              <a:t>fractional</a:t>
            </a:r>
            <a:r>
              <a:rPr lang="fi-FI" sz="3600" dirty="0"/>
              <a:t> </a:t>
            </a:r>
            <a:r>
              <a:rPr lang="fi-FI" sz="3600" dirty="0" err="1"/>
              <a:t>flow</a:t>
            </a:r>
            <a:endParaRPr lang="fi-FI" sz="3600" dirty="0"/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fi-FI" sz="3600" dirty="0"/>
              <a:t>    double64 </a:t>
            </a:r>
            <a:r>
              <a:rPr lang="fi-FI" sz="3600" dirty="0" err="1"/>
              <a:t>f_Phase</a:t>
            </a:r>
            <a:r>
              <a:rPr lang="fi-FI" sz="3600" dirty="0"/>
              <a:t>( </a:t>
            </a:r>
            <a:r>
              <a:rPr lang="fi-FI" sz="3600" dirty="0" err="1"/>
              <a:t>size_t</a:t>
            </a:r>
            <a:r>
              <a:rPr lang="fi-FI" sz="3600" dirty="0"/>
              <a:t> </a:t>
            </a:r>
            <a:r>
              <a:rPr lang="fi-FI" sz="3600" dirty="0" err="1"/>
              <a:t>phase</a:t>
            </a:r>
            <a:r>
              <a:rPr lang="fi-FI" sz="3600" dirty="0"/>
              <a:t> ) </a:t>
            </a:r>
            <a:r>
              <a:rPr lang="fi-FI" sz="3600" dirty="0" err="1"/>
              <a:t>const</a:t>
            </a:r>
            <a:r>
              <a:rPr lang="fi-FI" sz="3600" dirty="0"/>
              <a:t>;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fi-FI" sz="3600" dirty="0"/>
              <a:t>                                  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fi-FI" sz="3600" dirty="0"/>
              <a:t>    /// </a:t>
            </a:r>
            <a:r>
              <a:rPr lang="fi-FI" sz="3600" dirty="0" err="1"/>
              <a:t>derivative</a:t>
            </a:r>
            <a:r>
              <a:rPr lang="fi-FI" sz="3600" dirty="0"/>
              <a:t> of </a:t>
            </a:r>
            <a:r>
              <a:rPr lang="fi-FI" sz="3600" dirty="0" err="1"/>
              <a:t>fractional</a:t>
            </a:r>
            <a:r>
              <a:rPr lang="fi-FI" sz="3600" dirty="0"/>
              <a:t> </a:t>
            </a:r>
            <a:r>
              <a:rPr lang="fi-FI" sz="3600" dirty="0" err="1"/>
              <a:t>flow</a:t>
            </a:r>
            <a:r>
              <a:rPr lang="fi-FI" sz="3600" dirty="0"/>
              <a:t> (</a:t>
            </a:r>
            <a:r>
              <a:rPr lang="fi-FI" sz="3600" dirty="0" err="1"/>
              <a:t>used</a:t>
            </a:r>
            <a:r>
              <a:rPr lang="fi-FI" sz="3600" dirty="0"/>
              <a:t> in </a:t>
            </a:r>
            <a:r>
              <a:rPr lang="fi-FI" sz="3600" dirty="0" err="1"/>
              <a:t>advection</a:t>
            </a:r>
            <a:r>
              <a:rPr lang="fi-FI" sz="3600" dirty="0"/>
              <a:t> </a:t>
            </a:r>
            <a:r>
              <a:rPr lang="fi-FI" sz="3600" dirty="0" err="1"/>
              <a:t>multiplier</a:t>
            </a:r>
            <a:r>
              <a:rPr lang="fi-FI" sz="3600" dirty="0"/>
              <a:t>); </a:t>
            </a:r>
            <a:r>
              <a:rPr lang="fi-FI" sz="3600" dirty="0" err="1"/>
              <a:t>note</a:t>
            </a:r>
            <a:r>
              <a:rPr lang="fi-FI" sz="3600" dirty="0"/>
              <a:t> </a:t>
            </a:r>
            <a:r>
              <a:rPr lang="fi-FI" sz="3600" dirty="0" err="1"/>
              <a:t>that</a:t>
            </a:r>
            <a:r>
              <a:rPr lang="fi-FI" sz="3600" dirty="0"/>
              <a:t> fw+fn=1, </a:t>
            </a:r>
            <a:r>
              <a:rPr lang="fi-FI" sz="3600" dirty="0" err="1"/>
              <a:t>dfwdsw=dfndsn</a:t>
            </a:r>
            <a:endParaRPr lang="fi-FI" sz="3600" dirty="0"/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fi-FI" sz="3600" dirty="0"/>
              <a:t>    </a:t>
            </a:r>
            <a:r>
              <a:rPr lang="fi-FI" sz="3600" dirty="0" err="1"/>
              <a:t>virtual</a:t>
            </a:r>
            <a:r>
              <a:rPr lang="fi-FI" sz="3600" dirty="0"/>
              <a:t> double64 </a:t>
            </a:r>
            <a:r>
              <a:rPr lang="fi-FI" sz="3600" dirty="0" err="1"/>
              <a:t>dfds</a:t>
            </a:r>
            <a:r>
              <a:rPr lang="fi-FI" sz="3600" dirty="0"/>
              <a:t>() </a:t>
            </a:r>
            <a:r>
              <a:rPr lang="fi-FI" sz="3600" dirty="0" err="1"/>
              <a:t>const</a:t>
            </a:r>
            <a:r>
              <a:rPr lang="fi-FI" sz="3600" dirty="0"/>
              <a:t> = 0;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fi-FI" sz="3600" dirty="0"/>
              <a:t>    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fi-FI" sz="3600" dirty="0"/>
              <a:t>    /// </a:t>
            </a:r>
            <a:r>
              <a:rPr lang="fi-FI" sz="3600" dirty="0" err="1"/>
              <a:t>maximum</a:t>
            </a:r>
            <a:r>
              <a:rPr lang="fi-FI" sz="3600" dirty="0"/>
              <a:t> </a:t>
            </a:r>
            <a:r>
              <a:rPr lang="fi-FI" sz="3600" dirty="0" err="1"/>
              <a:t>value</a:t>
            </a:r>
            <a:r>
              <a:rPr lang="fi-FI" sz="3600" dirty="0"/>
              <a:t> of </a:t>
            </a:r>
            <a:r>
              <a:rPr lang="fi-FI" sz="3600" dirty="0" err="1"/>
              <a:t>previous</a:t>
            </a:r>
            <a:r>
              <a:rPr lang="fi-FI" sz="3600" dirty="0"/>
              <a:t> </a:t>
            </a:r>
            <a:r>
              <a:rPr lang="fi-FI" sz="3600" dirty="0" err="1"/>
              <a:t>derivative</a:t>
            </a:r>
            <a:endParaRPr lang="fi-FI" sz="3600" dirty="0"/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fi-FI" sz="3600" dirty="0"/>
              <a:t>    </a:t>
            </a:r>
            <a:r>
              <a:rPr lang="fi-FI" sz="3600" dirty="0" err="1"/>
              <a:t>virtual</a:t>
            </a:r>
            <a:r>
              <a:rPr lang="fi-FI" sz="3600" dirty="0"/>
              <a:t> double64 </a:t>
            </a:r>
            <a:r>
              <a:rPr lang="fi-FI" sz="3600" dirty="0" err="1"/>
              <a:t>MaxFractionalFlowDerivative</a:t>
            </a:r>
            <a:r>
              <a:rPr lang="fi-FI" sz="3600" dirty="0"/>
              <a:t>() </a:t>
            </a:r>
            <a:r>
              <a:rPr lang="fi-FI" sz="3600" dirty="0" err="1"/>
              <a:t>const</a:t>
            </a:r>
            <a:r>
              <a:rPr lang="fi-FI" sz="3600" dirty="0"/>
              <a:t> = 0;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fi-FI" sz="3600" dirty="0"/>
              <a:t>                                  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fi-FI" sz="3600" dirty="0"/>
              <a:t>    /// G </a:t>
            </a:r>
            <a:r>
              <a:rPr lang="fi-FI" sz="3600" dirty="0" err="1"/>
              <a:t>multiplier</a:t>
            </a:r>
            <a:endParaRPr lang="fi-FI" sz="3600" dirty="0"/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ro-RO" sz="3600" dirty="0"/>
              <a:t>    double64 G() const;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ro-RO" sz="3600" dirty="0"/>
              <a:t>     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ro-RO" sz="3600" dirty="0"/>
              <a:t>    /// derivatives of gravitational flow (advection multipliers)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ro-RO" sz="3600" dirty="0"/>
              <a:t>    virtual double64 dGds() const = 0;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ro-RO" sz="3600" dirty="0"/>
              <a:t>    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ro-RO" sz="3600" dirty="0" smtClean="0"/>
              <a:t>   virtual </a:t>
            </a:r>
            <a:r>
              <a:rPr lang="ro-RO" sz="3600" dirty="0"/>
              <a:t>double64 pc_Phase( size_t phase ) const = 0;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ro-RO" sz="3600" dirty="0"/>
              <a:t>    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ro-RO" sz="3600" dirty="0"/>
              <a:t>    /// capillary pressure derivatives (treat seff as for previous function)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ro-RO" sz="3600" dirty="0"/>
              <a:t>    virtual double64 dpcds_Phase( size_t phase ) const = 0;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ro-RO" sz="3600" dirty="0"/>
              <a:t>  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ro-RO" sz="3600" dirty="0"/>
              <a:t>    /// maximum value of dpcdS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ro-RO" sz="3600" dirty="0"/>
              <a:t>    double64 MaxCapillaryPressure( size_t phase ) const;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endParaRPr lang="ro-RO" sz="3600" dirty="0"/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ro-RO" sz="3600" dirty="0"/>
              <a:t>    /// default is the wetting phase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ro-RO" sz="3600" dirty="0"/>
              <a:t>    virtual void Out( size_t phase=1U ) const;</a:t>
            </a:r>
            <a:endParaRPr lang="en-US" sz="36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13430-5F54-9740-B307-5C0C53476417}" type="datetime1">
              <a:rPr lang="en-US" smtClean="0">
                <a:solidFill>
                  <a:prstClr val="white">
                    <a:lumMod val="65000"/>
                  </a:prstClr>
                </a:solidFill>
              </a:rPr>
              <a:pPr/>
              <a:t>11/6/12</a:t>
            </a:fld>
            <a:endParaRPr lang="en-US">
              <a:solidFill>
                <a:prstClr val="white">
                  <a:lumMod val="6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white">
                  <a:lumMod val="6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FD816-CC6A-BF43-8241-637E3E7EAA5A}" type="slidenum">
              <a:rPr lang="en-US" smtClean="0">
                <a:solidFill>
                  <a:prstClr val="white">
                    <a:lumMod val="65000"/>
                  </a:prstClr>
                </a:solidFill>
              </a:rPr>
              <a:pPr/>
              <a:t>19</a:t>
            </a:fld>
            <a:endParaRPr lang="en-US">
              <a:solidFill>
                <a:prstClr val="white">
                  <a:lumMod val="65000"/>
                </a:prstClr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743382" y="3463880"/>
            <a:ext cx="31266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 smtClean="0">
                <a:latin typeface="Arial"/>
                <a:cs typeface="Arial"/>
              </a:rPr>
              <a:t>What needs to be changed?</a:t>
            </a:r>
            <a:endParaRPr lang="en-US" i="1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718271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Outline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spcBef>
                <a:spcPts val="800"/>
              </a:spcBef>
              <a:spcAft>
                <a:spcPts val="1800"/>
              </a:spcAft>
              <a:buFont typeface="+mj-lt"/>
              <a:buAutoNum type="arabicPeriod"/>
            </a:pPr>
            <a:r>
              <a:rPr lang="en-US" sz="2400" dirty="0" smtClean="0"/>
              <a:t>What should be kept from old scheme</a:t>
            </a:r>
          </a:p>
          <a:p>
            <a:pPr marL="400050" lvl="1" indent="0">
              <a:spcBef>
                <a:spcPts val="800"/>
              </a:spcBef>
              <a:spcAft>
                <a:spcPts val="1800"/>
              </a:spcAft>
              <a:buNone/>
            </a:pPr>
            <a:r>
              <a:rPr lang="en-US" sz="2400" dirty="0" smtClean="0"/>
              <a:t>		</a:t>
            </a:r>
            <a:r>
              <a:rPr lang="en-US" sz="2400" i="1" dirty="0" smtClean="0"/>
              <a:t>and what’s new in CSMP++</a:t>
            </a:r>
          </a:p>
          <a:p>
            <a:pPr marL="514350" indent="-514350">
              <a:spcBef>
                <a:spcPts val="800"/>
              </a:spcBef>
              <a:spcAft>
                <a:spcPts val="1800"/>
              </a:spcAft>
              <a:buFont typeface="+mj-lt"/>
              <a:buAutoNum type="arabicPeriod"/>
            </a:pPr>
            <a:r>
              <a:rPr lang="en-US" sz="2400" b="1" dirty="0" smtClean="0"/>
              <a:t>Design specifications and considerations</a:t>
            </a:r>
          </a:p>
          <a:p>
            <a:pPr marL="514350" indent="-514350">
              <a:spcBef>
                <a:spcPts val="800"/>
              </a:spcBef>
              <a:spcAft>
                <a:spcPts val="1800"/>
              </a:spcAft>
              <a:buFont typeface="+mj-lt"/>
              <a:buAutoNum type="arabicPeriod"/>
            </a:pPr>
            <a:r>
              <a:rPr lang="en-US" sz="2400" dirty="0" smtClean="0"/>
              <a:t>Phase by phase transport</a:t>
            </a:r>
          </a:p>
          <a:p>
            <a:pPr marL="514350" indent="-514350">
              <a:spcBef>
                <a:spcPts val="800"/>
              </a:spcBef>
              <a:spcAft>
                <a:spcPts val="1800"/>
              </a:spcAft>
              <a:buFont typeface="+mj-lt"/>
              <a:buAutoNum type="arabicPeriod"/>
            </a:pPr>
            <a:r>
              <a:rPr lang="en-US" sz="2400" dirty="0" smtClean="0"/>
              <a:t>Design prototype: classes and use-case</a:t>
            </a:r>
            <a:endParaRPr lang="en-US" sz="24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5496" y="6492875"/>
            <a:ext cx="3087544" cy="365125"/>
          </a:xfrm>
        </p:spPr>
        <p:txBody>
          <a:bodyPr/>
          <a:lstStyle/>
          <a:p>
            <a:pPr>
              <a:defRPr/>
            </a:pPr>
            <a:r>
              <a:rPr lang="en-US" dirty="0" smtClean="0"/>
              <a:t>CSMP Generic Transport Scheme: Agenda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1305FD-7CE1-C64B-B0A3-F76AC6FEC4D2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843315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11684"/>
            <a:ext cx="8229600" cy="914400"/>
          </a:xfrm>
        </p:spPr>
        <p:txBody>
          <a:bodyPr>
            <a:noAutofit/>
          </a:bodyPr>
          <a:lstStyle/>
          <a:p>
            <a:r>
              <a:rPr lang="en-US" dirty="0" smtClean="0"/>
              <a:t>Decision needed: </a:t>
            </a:r>
            <a:br>
              <a:rPr lang="en-US" dirty="0" smtClean="0"/>
            </a:br>
            <a:r>
              <a:rPr lang="en-US" dirty="0"/>
              <a:t>	</a:t>
            </a:r>
            <a:r>
              <a:rPr lang="en-US" dirty="0" smtClean="0"/>
              <a:t>			Placement of material properties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sz="half" idx="1"/>
          </p:nvPr>
        </p:nvSpPr>
        <p:spPr>
          <a:xfrm>
            <a:off x="457200" y="1355082"/>
            <a:ext cx="4038600" cy="512709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 smtClean="0"/>
              <a:t>Element</a:t>
            </a:r>
          </a:p>
          <a:p>
            <a:r>
              <a:rPr lang="en-US" sz="1900" dirty="0" smtClean="0"/>
              <a:t>FE mesh can be used to represent material boundaries</a:t>
            </a:r>
          </a:p>
          <a:p>
            <a:r>
              <a:rPr lang="en-US" sz="1900" dirty="0" smtClean="0"/>
              <a:t>Saturation at material interfaces makes no physical sense (discontinuities can only be represented with Split Boundaries or FECFVM scheme)</a:t>
            </a:r>
          </a:p>
          <a:p>
            <a:r>
              <a:rPr lang="en-US" sz="1900" dirty="0" smtClean="0"/>
              <a:t>For element-centered saturation, upwind direction does not matter</a:t>
            </a:r>
            <a:endParaRPr lang="en-US" sz="1900" dirty="0"/>
          </a:p>
        </p:txBody>
      </p:sp>
      <p:sp>
        <p:nvSpPr>
          <p:cNvPr id="10" name="Content Placeholder 9"/>
          <p:cNvSpPr>
            <a:spLocks noGrp="1"/>
          </p:cNvSpPr>
          <p:nvPr>
            <p:ph sz="half" idx="2"/>
          </p:nvPr>
        </p:nvSpPr>
        <p:spPr>
          <a:xfrm>
            <a:off x="4648200" y="1355082"/>
            <a:ext cx="4038600" cy="512709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 smtClean="0"/>
              <a:t>Node</a:t>
            </a:r>
          </a:p>
          <a:p>
            <a:r>
              <a:rPr lang="en-US" sz="1900" dirty="0" smtClean="0"/>
              <a:t>Material boundaries are blurred and domain volumes cannot be estimated accurately</a:t>
            </a:r>
          </a:p>
          <a:p>
            <a:r>
              <a:rPr lang="en-US" sz="1900" dirty="0" smtClean="0"/>
              <a:t>Saturation is physically meaningful even where sharp property gradients exist</a:t>
            </a:r>
          </a:p>
          <a:p>
            <a:r>
              <a:rPr lang="en-US" sz="1900" dirty="0" smtClean="0"/>
              <a:t>Transmissibility multipliers are non-physical if different flow laws exist in different domains</a:t>
            </a:r>
            <a:endParaRPr lang="en-US" sz="1900" dirty="0"/>
          </a:p>
        </p:txBody>
      </p:sp>
      <p:sp>
        <p:nvSpPr>
          <p:cNvPr id="11" name="TextBox 10"/>
          <p:cNvSpPr txBox="1"/>
          <p:nvPr/>
        </p:nvSpPr>
        <p:spPr>
          <a:xfrm>
            <a:off x="644638" y="6071412"/>
            <a:ext cx="74977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 smtClean="0">
                <a:latin typeface="Arial"/>
                <a:cs typeface="Arial"/>
              </a:rPr>
              <a:t>Fractured reservoir simulation needs element-based material properties</a:t>
            </a:r>
            <a:endParaRPr lang="en-US" i="1" dirty="0">
              <a:latin typeface="Arial"/>
              <a:cs typeface="Arial"/>
            </a:endParaRPr>
          </a:p>
        </p:txBody>
      </p:sp>
      <p:sp>
        <p:nvSpPr>
          <p:cNvPr id="12" name="Date Placeholder 3"/>
          <p:cNvSpPr>
            <a:spLocks noGrp="1"/>
          </p:cNvSpPr>
          <p:nvPr>
            <p:ph type="dt" sz="half" idx="2"/>
          </p:nvPr>
        </p:nvSpPr>
        <p:spPr>
          <a:xfrm>
            <a:off x="35496" y="649287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>
                    <a:lumMod val="65000"/>
                  </a:schemeClr>
                </a:solidFill>
                <a:latin typeface="Arial"/>
                <a:cs typeface="Arial"/>
              </a:defRPr>
            </a:lvl1pPr>
          </a:lstStyle>
          <a:p>
            <a:pPr defTabSz="457200" fontAlgn="auto">
              <a:spcBef>
                <a:spcPts val="0"/>
              </a:spcBef>
              <a:spcAft>
                <a:spcPts val="0"/>
              </a:spcAft>
            </a:pPr>
            <a:fld id="{57951F7C-CFBF-8144-A102-5B4CA8E4DF9C}" type="datetime1">
              <a:rPr lang="en-US" smtClean="0">
                <a:solidFill>
                  <a:prstClr val="white">
                    <a:lumMod val="65000"/>
                  </a:prstClr>
                </a:solidFill>
                <a:ea typeface="+mn-ea"/>
              </a:rPr>
              <a:pPr defTabSz="457200" fontAlgn="auto">
                <a:spcBef>
                  <a:spcPts val="0"/>
                </a:spcBef>
                <a:spcAft>
                  <a:spcPts val="0"/>
                </a:spcAft>
              </a:pPr>
              <a:t>11/6/12</a:t>
            </a:fld>
            <a:endParaRPr lang="en-US" dirty="0">
              <a:solidFill>
                <a:prstClr val="white">
                  <a:lumMod val="65000"/>
                </a:prstClr>
              </a:solidFill>
              <a:ea typeface="+mn-ea"/>
            </a:endParaRPr>
          </a:p>
        </p:txBody>
      </p:sp>
      <p:sp>
        <p:nvSpPr>
          <p:cNvPr id="13" name="Footer Placeholder 4"/>
          <p:cNvSpPr>
            <a:spLocks noGrp="1"/>
          </p:cNvSpPr>
          <p:nvPr>
            <p:ph type="ftr" sz="quarter" idx="4294967295"/>
          </p:nvPr>
        </p:nvSpPr>
        <p:spPr>
          <a:xfrm>
            <a:off x="3124200" y="6492875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65000"/>
                  </a:schemeClr>
                </a:solidFill>
                <a:latin typeface="Arial"/>
                <a:cs typeface="Arial"/>
              </a:defRPr>
            </a:lvl1pPr>
          </a:lstStyle>
          <a:p>
            <a:pPr defTabSz="457200" fontAlgn="auto">
              <a:spcBef>
                <a:spcPts val="0"/>
              </a:spcBef>
              <a:spcAft>
                <a:spcPts val="0"/>
              </a:spcAft>
            </a:pPr>
            <a:r>
              <a:rPr lang="en-US" dirty="0" smtClean="0">
                <a:solidFill>
                  <a:prstClr val="white">
                    <a:lumMod val="65000"/>
                  </a:prstClr>
                </a:solidFill>
                <a:ea typeface="+mn-ea"/>
              </a:rPr>
              <a:t>CSMP Generic Transport Scheme</a:t>
            </a:r>
            <a:endParaRPr lang="en-US" dirty="0">
              <a:solidFill>
                <a:prstClr val="white">
                  <a:lumMod val="65000"/>
                </a:prstClr>
              </a:solidFill>
              <a:ea typeface="+mn-ea"/>
            </a:endParaRPr>
          </a:p>
        </p:txBody>
      </p:sp>
      <p:sp>
        <p:nvSpPr>
          <p:cNvPr id="14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6974904" y="649287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>
                    <a:lumMod val="65000"/>
                  </a:schemeClr>
                </a:solidFill>
                <a:latin typeface="Arial"/>
                <a:cs typeface="Arial"/>
              </a:defRPr>
            </a:lvl1pPr>
          </a:lstStyle>
          <a:p>
            <a:pPr defTabSz="457200" fontAlgn="auto">
              <a:spcBef>
                <a:spcPts val="0"/>
              </a:spcBef>
              <a:spcAft>
                <a:spcPts val="0"/>
              </a:spcAft>
            </a:pPr>
            <a:r>
              <a:rPr lang="en-US" dirty="0" smtClean="0">
                <a:solidFill>
                  <a:prstClr val="white">
                    <a:lumMod val="65000"/>
                  </a:prstClr>
                </a:solidFill>
                <a:ea typeface="+mn-ea"/>
              </a:rPr>
              <a:t>  </a:t>
            </a:r>
            <a:fld id="{223FD816-CC6A-BF43-8241-637E3E7EAA5A}" type="slidenum">
              <a:rPr lang="en-US" smtClean="0">
                <a:solidFill>
                  <a:prstClr val="white">
                    <a:lumMod val="65000"/>
                  </a:prstClr>
                </a:solidFill>
                <a:ea typeface="+mn-ea"/>
              </a:rPr>
              <a:pPr defTabSz="457200" fontAlgn="auto">
                <a:spcBef>
                  <a:spcPts val="0"/>
                </a:spcBef>
                <a:spcAft>
                  <a:spcPts val="0"/>
                </a:spcAft>
              </a:pPr>
              <a:t>21</a:t>
            </a:fld>
            <a:endParaRPr lang="en-US" dirty="0">
              <a:solidFill>
                <a:prstClr val="white">
                  <a:lumMod val="65000"/>
                </a:prstClr>
              </a:solidFill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3552274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Element-centered variable scheme: needs</a:t>
            </a:r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457200" y="914400"/>
            <a:ext cx="8229600" cy="5581831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dirty="0" smtClean="0"/>
              <a:t>To store at different time levels (in one step or by repeated accumulation):</a:t>
            </a:r>
          </a:p>
          <a:p>
            <a:r>
              <a:rPr lang="en-US" dirty="0" smtClean="0">
                <a:solidFill>
                  <a:srgbClr val="000090"/>
                </a:solidFill>
              </a:rPr>
              <a:t>finite volumes:</a:t>
            </a:r>
          </a:p>
          <a:p>
            <a:pPr lvl="1"/>
            <a:r>
              <a:rPr lang="en-US" dirty="0" smtClean="0"/>
              <a:t>Integrated pore volume -&gt; SCALAR</a:t>
            </a:r>
          </a:p>
          <a:p>
            <a:pPr lvl="1"/>
            <a:r>
              <a:rPr lang="en-US" dirty="0" smtClean="0"/>
              <a:t>Divergence of total velocity </a:t>
            </a:r>
            <a:r>
              <a:rPr lang="en-US" dirty="0"/>
              <a:t>-&gt; </a:t>
            </a:r>
            <a:r>
              <a:rPr lang="en-US" dirty="0" smtClean="0"/>
              <a:t>SCALAR</a:t>
            </a:r>
          </a:p>
          <a:p>
            <a:pPr lvl="1"/>
            <a:r>
              <a:rPr lang="en-US" dirty="0"/>
              <a:t>Sources or </a:t>
            </a:r>
            <a:r>
              <a:rPr lang="en-US" dirty="0" smtClean="0"/>
              <a:t>sinks -</a:t>
            </a:r>
            <a:r>
              <a:rPr lang="en-US" dirty="0"/>
              <a:t>&gt; </a:t>
            </a:r>
            <a:r>
              <a:rPr lang="en-US" dirty="0" smtClean="0"/>
              <a:t>SCALAR</a:t>
            </a:r>
          </a:p>
          <a:p>
            <a:pPr lvl="1"/>
            <a:r>
              <a:rPr lang="en-US" dirty="0" smtClean="0"/>
              <a:t>Saturation -&gt; ARRAY</a:t>
            </a:r>
            <a:endParaRPr lang="en-US" dirty="0"/>
          </a:p>
          <a:p>
            <a:pPr lvl="1"/>
            <a:r>
              <a:rPr lang="en-US" dirty="0"/>
              <a:t>Saturation </a:t>
            </a:r>
            <a:r>
              <a:rPr lang="en-US" dirty="0" smtClean="0"/>
              <a:t>gradient (for higher order scheme) -&gt; VECTOR</a:t>
            </a:r>
            <a:endParaRPr lang="en-US" dirty="0"/>
          </a:p>
          <a:p>
            <a:pPr lvl="1"/>
            <a:r>
              <a:rPr lang="en-US" dirty="0" smtClean="0"/>
              <a:t>Inflow versus outflow in the presence of sources and sinks -&gt; SCALAR</a:t>
            </a:r>
          </a:p>
          <a:p>
            <a:r>
              <a:rPr lang="en-US" dirty="0" smtClean="0">
                <a:solidFill>
                  <a:srgbClr val="000090"/>
                </a:solidFill>
              </a:rPr>
              <a:t>facets:</a:t>
            </a:r>
          </a:p>
          <a:p>
            <a:pPr lvl="1"/>
            <a:r>
              <a:rPr lang="en-US" dirty="0" smtClean="0"/>
              <a:t>combined phase and components fluxes</a:t>
            </a:r>
          </a:p>
          <a:p>
            <a:pPr lvl="1"/>
            <a:r>
              <a:rPr lang="en-US" dirty="0" smtClean="0"/>
              <a:t>phase velocities  </a:t>
            </a:r>
          </a:p>
          <a:p>
            <a:r>
              <a:rPr lang="en-US" dirty="0" smtClean="0">
                <a:solidFill>
                  <a:srgbClr val="000090"/>
                </a:solidFill>
              </a:rPr>
              <a:t>elements:</a:t>
            </a:r>
          </a:p>
          <a:p>
            <a:pPr lvl="1"/>
            <a:r>
              <a:rPr lang="en-US" dirty="0" smtClean="0"/>
              <a:t>total velocity -&gt; VECTOR</a:t>
            </a:r>
          </a:p>
          <a:p>
            <a:pPr lvl="1"/>
            <a:r>
              <a:rPr lang="en-US" dirty="0" smtClean="0"/>
              <a:t>diffusivities</a:t>
            </a:r>
          </a:p>
          <a:p>
            <a:pPr lvl="1"/>
            <a:r>
              <a:rPr lang="en-US" dirty="0" smtClean="0"/>
              <a:t>sector porosity and pore volumes</a:t>
            </a:r>
          </a:p>
          <a:p>
            <a:pPr lvl="1"/>
            <a:r>
              <a:rPr lang="en-US" dirty="0" smtClean="0"/>
              <a:t>sector source terms (for FEM equations)</a:t>
            </a:r>
          </a:p>
          <a:p>
            <a:pPr lvl="1"/>
            <a:r>
              <a:rPr lang="en-US" dirty="0" smtClean="0"/>
              <a:t>constitutive relationships</a:t>
            </a:r>
            <a:endParaRPr lang="en-US" dirty="0"/>
          </a:p>
        </p:txBody>
      </p:sp>
      <p:sp>
        <p:nvSpPr>
          <p:cNvPr id="10" name="Date Placeholder 3"/>
          <p:cNvSpPr>
            <a:spLocks noGrp="1"/>
          </p:cNvSpPr>
          <p:nvPr>
            <p:ph type="dt" sz="half" idx="4294967295"/>
          </p:nvPr>
        </p:nvSpPr>
        <p:spPr>
          <a:xfrm>
            <a:off x="35496" y="649287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>
                    <a:lumMod val="65000"/>
                  </a:schemeClr>
                </a:solidFill>
                <a:latin typeface="Arial"/>
                <a:cs typeface="Arial"/>
              </a:defRPr>
            </a:lvl1pPr>
          </a:lstStyle>
          <a:p>
            <a:pPr defTabSz="457200" fontAlgn="auto">
              <a:spcBef>
                <a:spcPts val="0"/>
              </a:spcBef>
              <a:spcAft>
                <a:spcPts val="0"/>
              </a:spcAft>
            </a:pPr>
            <a:fld id="{57951F7C-CFBF-8144-A102-5B4CA8E4DF9C}" type="datetime1">
              <a:rPr lang="en-US" smtClean="0">
                <a:solidFill>
                  <a:prstClr val="white">
                    <a:lumMod val="65000"/>
                  </a:prstClr>
                </a:solidFill>
                <a:ea typeface="+mn-ea"/>
              </a:rPr>
              <a:pPr defTabSz="457200" fontAlgn="auto">
                <a:spcBef>
                  <a:spcPts val="0"/>
                </a:spcBef>
                <a:spcAft>
                  <a:spcPts val="0"/>
                </a:spcAft>
              </a:pPr>
              <a:t>11/6/12</a:t>
            </a:fld>
            <a:endParaRPr lang="en-US" dirty="0">
              <a:solidFill>
                <a:prstClr val="white">
                  <a:lumMod val="65000"/>
                </a:prstClr>
              </a:solidFill>
              <a:ea typeface="+mn-ea"/>
            </a:endParaRPr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6974904" y="649287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>
                    <a:lumMod val="65000"/>
                  </a:schemeClr>
                </a:solidFill>
                <a:latin typeface="Arial"/>
                <a:cs typeface="Arial"/>
              </a:defRPr>
            </a:lvl1pPr>
          </a:lstStyle>
          <a:p>
            <a:pPr defTabSz="457200" fontAlgn="auto">
              <a:spcBef>
                <a:spcPts val="0"/>
              </a:spcBef>
              <a:spcAft>
                <a:spcPts val="0"/>
              </a:spcAft>
            </a:pPr>
            <a:r>
              <a:rPr lang="en-US" dirty="0" smtClean="0">
                <a:solidFill>
                  <a:prstClr val="white">
                    <a:lumMod val="65000"/>
                  </a:prstClr>
                </a:solidFill>
                <a:ea typeface="+mn-ea"/>
              </a:rPr>
              <a:t>  </a:t>
            </a:r>
            <a:fld id="{223FD816-CC6A-BF43-8241-637E3E7EAA5A}" type="slidenum">
              <a:rPr lang="en-US" smtClean="0">
                <a:solidFill>
                  <a:prstClr val="white">
                    <a:lumMod val="65000"/>
                  </a:prstClr>
                </a:solidFill>
                <a:ea typeface="+mn-ea"/>
              </a:rPr>
              <a:pPr defTabSz="457200" fontAlgn="auto">
                <a:spcBef>
                  <a:spcPts val="0"/>
                </a:spcBef>
                <a:spcAft>
                  <a:spcPts val="0"/>
                </a:spcAft>
              </a:pPr>
              <a:t>22</a:t>
            </a:fld>
            <a:endParaRPr lang="en-US" dirty="0">
              <a:solidFill>
                <a:prstClr val="white">
                  <a:lumMod val="65000"/>
                </a:prstClr>
              </a:solidFill>
              <a:ea typeface="+mn-ea"/>
            </a:endParaRPr>
          </a:p>
        </p:txBody>
      </p:sp>
      <p:sp>
        <p:nvSpPr>
          <p:cNvPr id="13" name="Footer Placeholder 4"/>
          <p:cNvSpPr>
            <a:spLocks noGrp="1"/>
          </p:cNvSpPr>
          <p:nvPr>
            <p:ph type="ftr" sz="quarter" idx="4294967295"/>
          </p:nvPr>
        </p:nvSpPr>
        <p:spPr>
          <a:xfrm>
            <a:off x="3124200" y="6492875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65000"/>
                  </a:schemeClr>
                </a:solidFill>
                <a:latin typeface="Arial"/>
                <a:cs typeface="Arial"/>
              </a:defRPr>
            </a:lvl1pPr>
          </a:lstStyle>
          <a:p>
            <a:pPr defTabSz="457200" fontAlgn="auto">
              <a:spcBef>
                <a:spcPts val="0"/>
              </a:spcBef>
              <a:spcAft>
                <a:spcPts val="0"/>
              </a:spcAft>
            </a:pPr>
            <a:r>
              <a:rPr lang="en-US" dirty="0" smtClean="0">
                <a:solidFill>
                  <a:prstClr val="white">
                    <a:lumMod val="65000"/>
                  </a:prstClr>
                </a:solidFill>
                <a:ea typeface="+mn-ea"/>
              </a:rPr>
              <a:t>CSMP Generic Transport Scheme</a:t>
            </a:r>
            <a:endParaRPr lang="en-US" dirty="0">
              <a:solidFill>
                <a:prstClr val="white">
                  <a:lumMod val="65000"/>
                </a:prstClr>
              </a:solidFill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09310710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331178" y="368410"/>
            <a:ext cx="8686800" cy="9144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New goal: phase-by-phase component transport scheme with support for component exchange among phases</a:t>
            </a:r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457200" y="1560895"/>
            <a:ext cx="8229600" cy="494444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800" dirty="0" smtClean="0"/>
              <a:t>(Transfer </a:t>
            </a:r>
            <a:r>
              <a:rPr lang="en-US" sz="1800" dirty="0"/>
              <a:t>among phases is accomplished by EOS </a:t>
            </a:r>
            <a:r>
              <a:rPr lang="en-US" sz="1800" dirty="0" smtClean="0"/>
              <a:t>classes; diffusion terms are computed by finite element operators accumulated into same solution matrix as terms from implicit version of transport scheme)</a:t>
            </a:r>
          </a:p>
          <a:p>
            <a:r>
              <a:rPr lang="en-US" sz="1800" dirty="0" smtClean="0"/>
              <a:t>Computations needed (first and second-order in space):</a:t>
            </a:r>
          </a:p>
          <a:p>
            <a:pPr lvl="1"/>
            <a:r>
              <a:rPr lang="en-US" sz="1800" dirty="0" smtClean="0"/>
              <a:t>CFL time increment where applicable; else saturation change or inflow vs. outflow</a:t>
            </a:r>
          </a:p>
          <a:p>
            <a:pPr lvl="1"/>
            <a:r>
              <a:rPr lang="en-US" sz="1800" dirty="0" smtClean="0"/>
              <a:t>upwind direction (combined: </a:t>
            </a:r>
            <a:r>
              <a:rPr lang="en-US" sz="1800" dirty="0" err="1" smtClean="0"/>
              <a:t>capillary+diffusion+transport</a:t>
            </a:r>
            <a:r>
              <a:rPr lang="en-US" sz="1800" dirty="0" smtClean="0"/>
              <a:t>)</a:t>
            </a:r>
          </a:p>
          <a:p>
            <a:pPr lvl="1"/>
            <a:r>
              <a:rPr lang="en-US" sz="1800" dirty="0" smtClean="0"/>
              <a:t>upwind saturation range </a:t>
            </a:r>
          </a:p>
          <a:p>
            <a:pPr lvl="1"/>
            <a:r>
              <a:rPr lang="en-US" sz="1800" dirty="0" smtClean="0"/>
              <a:t>advection terms</a:t>
            </a:r>
          </a:p>
          <a:p>
            <a:pPr lvl="1"/>
            <a:r>
              <a:rPr lang="en-US" sz="1800" dirty="0" smtClean="0"/>
              <a:t>node-centered saturation gradients (or </a:t>
            </a:r>
            <a:r>
              <a:rPr lang="en-US" sz="1800" dirty="0" err="1" smtClean="0"/>
              <a:t>bijective</a:t>
            </a:r>
            <a:r>
              <a:rPr lang="en-US" sz="1800" dirty="0" smtClean="0"/>
              <a:t> mapping (Matthai et al. 2009, TIPM; check!)</a:t>
            </a:r>
          </a:p>
          <a:p>
            <a:pPr lvl="1"/>
            <a:r>
              <a:rPr lang="en-US" sz="1800" dirty="0" smtClean="0"/>
              <a:t>source terms (</a:t>
            </a:r>
            <a:r>
              <a:rPr lang="en-US" sz="1800" dirty="0" err="1" smtClean="0"/>
              <a:t>upwinded</a:t>
            </a:r>
            <a:r>
              <a:rPr lang="en-US" sz="1800" dirty="0" smtClean="0"/>
              <a:t> or not)</a:t>
            </a:r>
          </a:p>
          <a:p>
            <a:pPr lvl="1"/>
            <a:r>
              <a:rPr lang="en-US" sz="1800" dirty="0" smtClean="0"/>
              <a:t>storage terms</a:t>
            </a:r>
          </a:p>
          <a:p>
            <a:pPr lvl="1"/>
            <a:r>
              <a:rPr lang="en-US" sz="1800" dirty="0" smtClean="0"/>
              <a:t>limiters</a:t>
            </a:r>
            <a:endParaRPr lang="en-US" sz="1800" dirty="0"/>
          </a:p>
        </p:txBody>
      </p:sp>
      <p:sp>
        <p:nvSpPr>
          <p:cNvPr id="10" name="Date Placeholder 3"/>
          <p:cNvSpPr>
            <a:spLocks noGrp="1"/>
          </p:cNvSpPr>
          <p:nvPr>
            <p:ph type="dt" sz="half" idx="4294967295"/>
          </p:nvPr>
        </p:nvSpPr>
        <p:spPr>
          <a:xfrm>
            <a:off x="35496" y="649287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>
                    <a:lumMod val="65000"/>
                  </a:schemeClr>
                </a:solidFill>
                <a:latin typeface="Arial"/>
                <a:cs typeface="Arial"/>
              </a:defRPr>
            </a:lvl1pPr>
          </a:lstStyle>
          <a:p>
            <a:pPr defTabSz="457200" fontAlgn="auto">
              <a:spcBef>
                <a:spcPts val="0"/>
              </a:spcBef>
              <a:spcAft>
                <a:spcPts val="0"/>
              </a:spcAft>
            </a:pPr>
            <a:fld id="{57951F7C-CFBF-8144-A102-5B4CA8E4DF9C}" type="datetime1">
              <a:rPr lang="en-US" smtClean="0">
                <a:solidFill>
                  <a:prstClr val="white">
                    <a:lumMod val="65000"/>
                  </a:prstClr>
                </a:solidFill>
                <a:ea typeface="+mn-ea"/>
              </a:rPr>
              <a:pPr defTabSz="457200" fontAlgn="auto">
                <a:spcBef>
                  <a:spcPts val="0"/>
                </a:spcBef>
                <a:spcAft>
                  <a:spcPts val="0"/>
                </a:spcAft>
              </a:pPr>
              <a:t>11/6/12</a:t>
            </a:fld>
            <a:endParaRPr lang="en-US" dirty="0">
              <a:solidFill>
                <a:prstClr val="white">
                  <a:lumMod val="65000"/>
                </a:prstClr>
              </a:solidFill>
              <a:ea typeface="+mn-ea"/>
            </a:endParaRPr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4294967295"/>
          </p:nvPr>
        </p:nvSpPr>
        <p:spPr>
          <a:xfrm>
            <a:off x="3124200" y="6492875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65000"/>
                  </a:schemeClr>
                </a:solidFill>
                <a:latin typeface="Arial"/>
                <a:cs typeface="Arial"/>
              </a:defRPr>
            </a:lvl1pPr>
          </a:lstStyle>
          <a:p>
            <a:pPr defTabSz="457200" fontAlgn="auto">
              <a:spcBef>
                <a:spcPts val="0"/>
              </a:spcBef>
              <a:spcAft>
                <a:spcPts val="0"/>
              </a:spcAft>
            </a:pPr>
            <a:r>
              <a:rPr lang="en-US" dirty="0" smtClean="0">
                <a:solidFill>
                  <a:prstClr val="white">
                    <a:lumMod val="65000"/>
                  </a:prstClr>
                </a:solidFill>
                <a:ea typeface="+mn-ea"/>
              </a:rPr>
              <a:t>CSMP Generic Transport Scheme</a:t>
            </a:r>
            <a:endParaRPr lang="en-US" dirty="0">
              <a:solidFill>
                <a:prstClr val="white">
                  <a:lumMod val="65000"/>
                </a:prstClr>
              </a:solidFill>
              <a:ea typeface="+mn-ea"/>
            </a:endParaRPr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6974904" y="649287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>
                    <a:lumMod val="65000"/>
                  </a:schemeClr>
                </a:solidFill>
                <a:latin typeface="Arial"/>
                <a:cs typeface="Arial"/>
              </a:defRPr>
            </a:lvl1pPr>
          </a:lstStyle>
          <a:p>
            <a:pPr defTabSz="457200" fontAlgn="auto">
              <a:spcBef>
                <a:spcPts val="0"/>
              </a:spcBef>
              <a:spcAft>
                <a:spcPts val="0"/>
              </a:spcAft>
            </a:pPr>
            <a:r>
              <a:rPr lang="en-US" dirty="0" smtClean="0">
                <a:solidFill>
                  <a:prstClr val="white">
                    <a:lumMod val="65000"/>
                  </a:prstClr>
                </a:solidFill>
                <a:ea typeface="+mn-ea"/>
              </a:rPr>
              <a:t>  </a:t>
            </a:r>
            <a:fld id="{223FD816-CC6A-BF43-8241-637E3E7EAA5A}" type="slidenum">
              <a:rPr lang="en-US" smtClean="0">
                <a:solidFill>
                  <a:prstClr val="white">
                    <a:lumMod val="65000"/>
                  </a:prstClr>
                </a:solidFill>
                <a:ea typeface="+mn-ea"/>
              </a:rPr>
              <a:pPr defTabSz="457200" fontAlgn="auto">
                <a:spcBef>
                  <a:spcPts val="0"/>
                </a:spcBef>
                <a:spcAft>
                  <a:spcPts val="0"/>
                </a:spcAft>
              </a:pPr>
              <a:t>23</a:t>
            </a:fld>
            <a:endParaRPr lang="en-US" dirty="0">
              <a:solidFill>
                <a:prstClr val="white">
                  <a:lumMod val="65000"/>
                </a:prstClr>
              </a:solidFill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09302179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Supported vs. not yet supported functionality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53672"/>
            <a:ext cx="8229600" cy="5272492"/>
          </a:xfrm>
        </p:spPr>
        <p:txBody>
          <a:bodyPr>
            <a:noAutofit/>
          </a:bodyPr>
          <a:lstStyle/>
          <a:p>
            <a:pPr marL="182563" indent="-182563">
              <a:spcBef>
                <a:spcPts val="100"/>
              </a:spcBef>
              <a:spcAft>
                <a:spcPts val="500"/>
              </a:spcAft>
            </a:pPr>
            <a:r>
              <a:rPr lang="en-US" sz="1600" dirty="0" smtClean="0">
                <a:solidFill>
                  <a:srgbClr val="008000"/>
                </a:solidFill>
              </a:rPr>
              <a:t>Calculating </a:t>
            </a:r>
            <a:r>
              <a:rPr lang="en-US" sz="1600" dirty="0">
                <a:solidFill>
                  <a:srgbClr val="008000"/>
                </a:solidFill>
              </a:rPr>
              <a:t>and updating porosity and pore </a:t>
            </a:r>
            <a:r>
              <a:rPr lang="en-US" sz="1600" dirty="0" smtClean="0">
                <a:solidFill>
                  <a:srgbClr val="008000"/>
                </a:solidFill>
              </a:rPr>
              <a:t>volume </a:t>
            </a:r>
            <a:r>
              <a:rPr lang="en-US" sz="1600" dirty="0" smtClean="0"/>
              <a:t>(by Model?)</a:t>
            </a:r>
            <a:endParaRPr lang="en-US" sz="1600" dirty="0"/>
          </a:p>
          <a:p>
            <a:pPr marL="182563" indent="-182563">
              <a:spcBef>
                <a:spcPts val="100"/>
              </a:spcBef>
              <a:spcAft>
                <a:spcPts val="500"/>
              </a:spcAft>
            </a:pPr>
            <a:r>
              <a:rPr lang="en-US" sz="1600" dirty="0">
                <a:solidFill>
                  <a:srgbClr val="008000"/>
                </a:solidFill>
              </a:rPr>
              <a:t>Calculating and updating facet area and </a:t>
            </a:r>
            <a:r>
              <a:rPr lang="en-US" sz="1600" dirty="0" smtClean="0">
                <a:solidFill>
                  <a:srgbClr val="008000"/>
                </a:solidFill>
              </a:rPr>
              <a:t>normal </a:t>
            </a:r>
            <a:r>
              <a:rPr lang="en-US" sz="1600" dirty="0" smtClean="0"/>
              <a:t>(by Model?)</a:t>
            </a:r>
            <a:endParaRPr lang="en-US" sz="1600" dirty="0"/>
          </a:p>
          <a:p>
            <a:pPr marL="182563" indent="-182563">
              <a:spcBef>
                <a:spcPts val="100"/>
              </a:spcBef>
              <a:spcAft>
                <a:spcPts val="500"/>
              </a:spcAft>
            </a:pPr>
            <a:r>
              <a:rPr lang="en-US" sz="1600" dirty="0" smtClean="0">
                <a:solidFill>
                  <a:srgbClr val="008000"/>
                </a:solidFill>
              </a:rPr>
              <a:t>Read / store / range check / projections of </a:t>
            </a:r>
            <a:r>
              <a:rPr lang="en-US" sz="1600" dirty="0">
                <a:solidFill>
                  <a:srgbClr val="008000"/>
                </a:solidFill>
              </a:rPr>
              <a:t>variables</a:t>
            </a:r>
          </a:p>
          <a:p>
            <a:pPr marL="182563" indent="-182563">
              <a:spcBef>
                <a:spcPts val="100"/>
              </a:spcBef>
              <a:spcAft>
                <a:spcPts val="500"/>
              </a:spcAft>
            </a:pPr>
            <a:r>
              <a:rPr lang="en-US" sz="1600" dirty="0">
                <a:solidFill>
                  <a:srgbClr val="008000"/>
                </a:solidFill>
              </a:rPr>
              <a:t>Determine upwind nodes</a:t>
            </a:r>
          </a:p>
          <a:p>
            <a:pPr marL="182563" indent="-182563">
              <a:spcBef>
                <a:spcPts val="100"/>
              </a:spcBef>
              <a:spcAft>
                <a:spcPts val="500"/>
              </a:spcAft>
            </a:pPr>
            <a:r>
              <a:rPr lang="en-US" sz="1600" dirty="0">
                <a:solidFill>
                  <a:srgbClr val="008000"/>
                </a:solidFill>
              </a:rPr>
              <a:t>Calculate </a:t>
            </a:r>
            <a:r>
              <a:rPr lang="en-US" sz="1600" dirty="0" smtClean="0">
                <a:solidFill>
                  <a:srgbClr val="008000"/>
                </a:solidFill>
              </a:rPr>
              <a:t>CFL </a:t>
            </a:r>
            <a:r>
              <a:rPr lang="en-US" sz="1600" dirty="0" smtClean="0"/>
              <a:t>or any other special requirements on time-step size</a:t>
            </a:r>
            <a:endParaRPr lang="en-US" sz="1600" dirty="0">
              <a:solidFill>
                <a:srgbClr val="008000"/>
              </a:solidFill>
            </a:endParaRPr>
          </a:p>
          <a:p>
            <a:pPr marL="182563" indent="-182563">
              <a:spcBef>
                <a:spcPts val="100"/>
              </a:spcBef>
              <a:spcAft>
                <a:spcPts val="500"/>
              </a:spcAft>
            </a:pPr>
            <a:r>
              <a:rPr lang="en-US" sz="1600" dirty="0">
                <a:solidFill>
                  <a:srgbClr val="008000"/>
                </a:solidFill>
              </a:rPr>
              <a:t>Mass </a:t>
            </a:r>
            <a:r>
              <a:rPr lang="en-US" sz="1600" dirty="0" smtClean="0">
                <a:solidFill>
                  <a:srgbClr val="008000"/>
                </a:solidFill>
              </a:rPr>
              <a:t>balance</a:t>
            </a:r>
            <a:endParaRPr lang="en-US" sz="1600" dirty="0">
              <a:solidFill>
                <a:srgbClr val="008000"/>
              </a:solidFill>
            </a:endParaRPr>
          </a:p>
          <a:p>
            <a:pPr marL="182563" indent="-182563">
              <a:spcBef>
                <a:spcPts val="100"/>
              </a:spcBef>
              <a:spcAft>
                <a:spcPts val="500"/>
              </a:spcAft>
            </a:pPr>
            <a:r>
              <a:rPr lang="en-US" sz="1600" dirty="0" smtClean="0"/>
              <a:t>Scaling n components </a:t>
            </a:r>
            <a:r>
              <a:rPr lang="en-US" sz="1600" dirty="0"/>
              <a:t>and </a:t>
            </a:r>
            <a:r>
              <a:rPr lang="en-US" sz="1600" dirty="0" smtClean="0"/>
              <a:t>m phases</a:t>
            </a:r>
            <a:endParaRPr lang="en-US" sz="1600" dirty="0"/>
          </a:p>
          <a:p>
            <a:pPr marL="182563" indent="-182563">
              <a:spcBef>
                <a:spcPts val="100"/>
              </a:spcBef>
              <a:spcAft>
                <a:spcPts val="500"/>
              </a:spcAft>
            </a:pPr>
            <a:r>
              <a:rPr lang="en-US" sz="1600" dirty="0" smtClean="0"/>
              <a:t>Calculating </a:t>
            </a:r>
            <a:r>
              <a:rPr lang="en-US" sz="1600" dirty="0"/>
              <a:t>components</a:t>
            </a:r>
          </a:p>
          <a:p>
            <a:pPr marL="182563" indent="-182563">
              <a:spcBef>
                <a:spcPts val="100"/>
              </a:spcBef>
              <a:spcAft>
                <a:spcPts val="500"/>
              </a:spcAft>
            </a:pPr>
            <a:r>
              <a:rPr lang="en-US" sz="1600" dirty="0" smtClean="0">
                <a:solidFill>
                  <a:srgbClr val="FF6600"/>
                </a:solidFill>
              </a:rPr>
              <a:t>Determine </a:t>
            </a:r>
            <a:r>
              <a:rPr lang="en-US" sz="1600" dirty="0">
                <a:solidFill>
                  <a:srgbClr val="FF6600"/>
                </a:solidFill>
              </a:rPr>
              <a:t>and store facet fluxes</a:t>
            </a:r>
          </a:p>
          <a:p>
            <a:pPr marL="182563" indent="-182563">
              <a:spcBef>
                <a:spcPts val="100"/>
              </a:spcBef>
              <a:spcAft>
                <a:spcPts val="500"/>
              </a:spcAft>
            </a:pPr>
            <a:r>
              <a:rPr lang="en-US" sz="1600" dirty="0">
                <a:solidFill>
                  <a:srgbClr val="FF6600"/>
                </a:solidFill>
              </a:rPr>
              <a:t>Accumulation of fluxes</a:t>
            </a:r>
          </a:p>
          <a:p>
            <a:pPr marL="182563" indent="-182563">
              <a:spcBef>
                <a:spcPts val="100"/>
              </a:spcBef>
              <a:spcAft>
                <a:spcPts val="500"/>
              </a:spcAft>
            </a:pPr>
            <a:r>
              <a:rPr lang="en-US" sz="1600" dirty="0">
                <a:solidFill>
                  <a:srgbClr val="FF6600"/>
                </a:solidFill>
              </a:rPr>
              <a:t>Time-discretization (implicit, explicit, first/second order)</a:t>
            </a:r>
          </a:p>
          <a:p>
            <a:pPr marL="182563" indent="-182563">
              <a:spcBef>
                <a:spcPts val="100"/>
              </a:spcBef>
              <a:spcAft>
                <a:spcPts val="500"/>
              </a:spcAft>
            </a:pPr>
            <a:r>
              <a:rPr lang="en-US" sz="1600" dirty="0">
                <a:solidFill>
                  <a:srgbClr val="FF6600"/>
                </a:solidFill>
              </a:rPr>
              <a:t>Iterations (e.g. </a:t>
            </a:r>
            <a:r>
              <a:rPr lang="en-US" sz="1600" dirty="0"/>
              <a:t>Newton</a:t>
            </a:r>
            <a:r>
              <a:rPr lang="en-US" sz="1600" dirty="0">
                <a:solidFill>
                  <a:srgbClr val="FF6600"/>
                </a:solidFill>
              </a:rPr>
              <a:t>)</a:t>
            </a:r>
          </a:p>
          <a:p>
            <a:pPr marL="182563" indent="-182563">
              <a:spcBef>
                <a:spcPts val="100"/>
              </a:spcBef>
              <a:spcAft>
                <a:spcPts val="500"/>
              </a:spcAft>
            </a:pPr>
            <a:r>
              <a:rPr lang="en-US" sz="1600" dirty="0">
                <a:solidFill>
                  <a:srgbClr val="FF6600"/>
                </a:solidFill>
              </a:rPr>
              <a:t>Higher-order in space</a:t>
            </a:r>
          </a:p>
          <a:p>
            <a:pPr marL="182563" indent="-182563">
              <a:spcBef>
                <a:spcPts val="100"/>
              </a:spcBef>
              <a:spcAft>
                <a:spcPts val="500"/>
              </a:spcAft>
            </a:pPr>
            <a:r>
              <a:rPr lang="en-US" sz="1600" dirty="0">
                <a:solidFill>
                  <a:srgbClr val="FF6600"/>
                </a:solidFill>
              </a:rPr>
              <a:t>Limiting</a:t>
            </a:r>
          </a:p>
          <a:p>
            <a:pPr marL="182563" indent="-182563">
              <a:spcBef>
                <a:spcPts val="100"/>
              </a:spcBef>
              <a:spcAft>
                <a:spcPts val="500"/>
              </a:spcAft>
            </a:pPr>
            <a:r>
              <a:rPr lang="en-US" sz="1600" dirty="0"/>
              <a:t>Boundary conditions</a:t>
            </a:r>
          </a:p>
          <a:p>
            <a:pPr marL="182563" indent="-182563">
              <a:spcBef>
                <a:spcPts val="100"/>
              </a:spcBef>
              <a:spcAft>
                <a:spcPts val="500"/>
              </a:spcAft>
            </a:pPr>
            <a:r>
              <a:rPr lang="en-US" sz="1600" dirty="0" smtClean="0"/>
              <a:t>Additional </a:t>
            </a:r>
            <a:r>
              <a:rPr lang="en-US" sz="1600" dirty="0"/>
              <a:t>physics/</a:t>
            </a:r>
            <a:r>
              <a:rPr lang="en-US" sz="1600" dirty="0" smtClean="0"/>
              <a:t>chemistry</a:t>
            </a:r>
          </a:p>
          <a:p>
            <a:pPr marL="182563" indent="-182563">
              <a:spcBef>
                <a:spcPts val="100"/>
              </a:spcBef>
              <a:spcAft>
                <a:spcPts val="500"/>
              </a:spcAft>
            </a:pPr>
            <a:r>
              <a:rPr lang="en-US" sz="1600" dirty="0" smtClean="0"/>
              <a:t>Access and configuration of the </a:t>
            </a:r>
            <a:r>
              <a:rPr lang="en-US" sz="1600" dirty="0" err="1" smtClean="0"/>
              <a:t>SAMG_Solver</a:t>
            </a:r>
            <a:r>
              <a:rPr lang="en-US" sz="1600" dirty="0" smtClean="0"/>
              <a:t> from the outside</a:t>
            </a:r>
            <a:endParaRPr lang="en-US" sz="1600" dirty="0"/>
          </a:p>
          <a:p>
            <a:pPr>
              <a:spcBef>
                <a:spcPts val="100"/>
              </a:spcBef>
              <a:spcAft>
                <a:spcPts val="500"/>
              </a:spcAft>
            </a:pPr>
            <a:endParaRPr lang="en-US" sz="1600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4294967295"/>
          </p:nvPr>
        </p:nvSpPr>
        <p:spPr>
          <a:xfrm>
            <a:off x="35496" y="649287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>
                    <a:lumMod val="65000"/>
                  </a:schemeClr>
                </a:solidFill>
                <a:latin typeface="Arial"/>
                <a:cs typeface="Arial"/>
              </a:defRPr>
            </a:lvl1pPr>
          </a:lstStyle>
          <a:p>
            <a:pPr defTabSz="457200" fontAlgn="auto">
              <a:spcBef>
                <a:spcPts val="0"/>
              </a:spcBef>
              <a:spcAft>
                <a:spcPts val="0"/>
              </a:spcAft>
            </a:pPr>
            <a:fld id="{57951F7C-CFBF-8144-A102-5B4CA8E4DF9C}" type="datetime1">
              <a:rPr lang="en-US" smtClean="0">
                <a:solidFill>
                  <a:prstClr val="white">
                    <a:lumMod val="65000"/>
                  </a:prstClr>
                </a:solidFill>
                <a:ea typeface="+mn-ea"/>
              </a:rPr>
              <a:pPr defTabSz="457200" fontAlgn="auto">
                <a:spcBef>
                  <a:spcPts val="0"/>
                </a:spcBef>
                <a:spcAft>
                  <a:spcPts val="0"/>
                </a:spcAft>
              </a:pPr>
              <a:t>11/6/12</a:t>
            </a:fld>
            <a:endParaRPr lang="en-US" dirty="0">
              <a:solidFill>
                <a:prstClr val="white">
                  <a:lumMod val="65000"/>
                </a:prstClr>
              </a:solidFill>
              <a:ea typeface="+mn-ea"/>
            </a:endParaRPr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4294967295"/>
          </p:nvPr>
        </p:nvSpPr>
        <p:spPr>
          <a:xfrm>
            <a:off x="3124200" y="6492875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65000"/>
                  </a:schemeClr>
                </a:solidFill>
                <a:latin typeface="Arial"/>
                <a:cs typeface="Arial"/>
              </a:defRPr>
            </a:lvl1pPr>
          </a:lstStyle>
          <a:p>
            <a:pPr defTabSz="457200" fontAlgn="auto">
              <a:spcBef>
                <a:spcPts val="0"/>
              </a:spcBef>
              <a:spcAft>
                <a:spcPts val="0"/>
              </a:spcAft>
            </a:pPr>
            <a:r>
              <a:rPr lang="en-US" dirty="0" smtClean="0">
                <a:solidFill>
                  <a:prstClr val="white">
                    <a:lumMod val="65000"/>
                  </a:prstClr>
                </a:solidFill>
                <a:ea typeface="+mn-ea"/>
              </a:rPr>
              <a:t>CSMP Generic Transport Scheme</a:t>
            </a:r>
            <a:endParaRPr lang="en-US" dirty="0">
              <a:solidFill>
                <a:prstClr val="white">
                  <a:lumMod val="65000"/>
                </a:prstClr>
              </a:solidFill>
              <a:ea typeface="+mn-ea"/>
            </a:endParaRP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6974904" y="649287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>
                    <a:lumMod val="65000"/>
                  </a:schemeClr>
                </a:solidFill>
                <a:latin typeface="Arial"/>
                <a:cs typeface="Arial"/>
              </a:defRPr>
            </a:lvl1pPr>
          </a:lstStyle>
          <a:p>
            <a:pPr defTabSz="457200" fontAlgn="auto">
              <a:spcBef>
                <a:spcPts val="0"/>
              </a:spcBef>
              <a:spcAft>
                <a:spcPts val="0"/>
              </a:spcAft>
            </a:pPr>
            <a:r>
              <a:rPr lang="en-US" dirty="0" smtClean="0">
                <a:solidFill>
                  <a:prstClr val="white">
                    <a:lumMod val="65000"/>
                  </a:prstClr>
                </a:solidFill>
                <a:ea typeface="+mn-ea"/>
              </a:rPr>
              <a:t>  </a:t>
            </a:r>
            <a:fld id="{223FD816-CC6A-BF43-8241-637E3E7EAA5A}" type="slidenum">
              <a:rPr lang="en-US" smtClean="0">
                <a:solidFill>
                  <a:prstClr val="white">
                    <a:lumMod val="65000"/>
                  </a:prstClr>
                </a:solidFill>
                <a:ea typeface="+mn-ea"/>
              </a:rPr>
              <a:pPr defTabSz="457200" fontAlgn="auto">
                <a:spcBef>
                  <a:spcPts val="0"/>
                </a:spcBef>
                <a:spcAft>
                  <a:spcPts val="0"/>
                </a:spcAft>
              </a:pPr>
              <a:t>24</a:t>
            </a:fld>
            <a:endParaRPr lang="en-US" dirty="0">
              <a:solidFill>
                <a:prstClr val="white">
                  <a:lumMod val="65000"/>
                </a:prstClr>
              </a:solidFill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60308239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Efficiency considerations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Whatever we do here has a great impact on speed!</a:t>
            </a:r>
          </a:p>
          <a:p>
            <a:r>
              <a:rPr lang="en-US" dirty="0"/>
              <a:t>To avoid iffy code, interior domains should be visited first, then their </a:t>
            </a:r>
            <a:r>
              <a:rPr lang="en-US" dirty="0" smtClean="0"/>
              <a:t>boundaries </a:t>
            </a:r>
            <a:endParaRPr lang="en-US" dirty="0"/>
          </a:p>
          <a:p>
            <a:r>
              <a:rPr lang="en-US" dirty="0" smtClean="0"/>
              <a:t>Formulation should be suitable for DES implementation</a:t>
            </a:r>
          </a:p>
          <a:p>
            <a:r>
              <a:rPr lang="en-US" dirty="0" smtClean="0"/>
              <a:t>FV visitation mode has a great impact on speed: element-by-element means that facets are only visited once, but may not be possible in higher-order scheme when node-centered saturation gradients are used in the flux approximation</a:t>
            </a:r>
          </a:p>
          <a:p>
            <a:r>
              <a:rPr lang="en-US" dirty="0" smtClean="0"/>
              <a:t>CFL computations based on local shock speed (=element property), only work if the gravitational component of flow is small because shock speed is different in up- or down-dip flow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4294967295"/>
          </p:nvPr>
        </p:nvSpPr>
        <p:spPr>
          <a:xfrm>
            <a:off x="35496" y="649287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>
                    <a:lumMod val="65000"/>
                  </a:schemeClr>
                </a:solidFill>
                <a:latin typeface="Arial"/>
                <a:cs typeface="Arial"/>
              </a:defRPr>
            </a:lvl1pPr>
          </a:lstStyle>
          <a:p>
            <a:pPr defTabSz="457200" fontAlgn="auto">
              <a:spcBef>
                <a:spcPts val="0"/>
              </a:spcBef>
              <a:spcAft>
                <a:spcPts val="0"/>
              </a:spcAft>
            </a:pPr>
            <a:fld id="{57951F7C-CFBF-8144-A102-5B4CA8E4DF9C}" type="datetime1">
              <a:rPr lang="en-US" smtClean="0">
                <a:solidFill>
                  <a:prstClr val="white">
                    <a:lumMod val="65000"/>
                  </a:prstClr>
                </a:solidFill>
                <a:ea typeface="+mn-ea"/>
              </a:rPr>
              <a:pPr defTabSz="457200" fontAlgn="auto">
                <a:spcBef>
                  <a:spcPts val="0"/>
                </a:spcBef>
                <a:spcAft>
                  <a:spcPts val="0"/>
                </a:spcAft>
              </a:pPr>
              <a:t>11/6/12</a:t>
            </a:fld>
            <a:endParaRPr lang="en-US" dirty="0">
              <a:solidFill>
                <a:prstClr val="white">
                  <a:lumMod val="65000"/>
                </a:prstClr>
              </a:solidFill>
              <a:ea typeface="+mn-ea"/>
            </a:endParaRPr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4294967295"/>
          </p:nvPr>
        </p:nvSpPr>
        <p:spPr>
          <a:xfrm>
            <a:off x="3124200" y="6492875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65000"/>
                  </a:schemeClr>
                </a:solidFill>
                <a:latin typeface="Arial"/>
                <a:cs typeface="Arial"/>
              </a:defRPr>
            </a:lvl1pPr>
          </a:lstStyle>
          <a:p>
            <a:pPr defTabSz="457200" fontAlgn="auto">
              <a:spcBef>
                <a:spcPts val="0"/>
              </a:spcBef>
              <a:spcAft>
                <a:spcPts val="0"/>
              </a:spcAft>
            </a:pPr>
            <a:r>
              <a:rPr lang="en-US" dirty="0" smtClean="0">
                <a:solidFill>
                  <a:prstClr val="white">
                    <a:lumMod val="65000"/>
                  </a:prstClr>
                </a:solidFill>
                <a:ea typeface="+mn-ea"/>
              </a:rPr>
              <a:t>CSMP Generic Transport Scheme</a:t>
            </a:r>
            <a:endParaRPr lang="en-US" dirty="0">
              <a:solidFill>
                <a:prstClr val="white">
                  <a:lumMod val="65000"/>
                </a:prstClr>
              </a:solidFill>
              <a:ea typeface="+mn-ea"/>
            </a:endParaRP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6974904" y="649287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>
                    <a:lumMod val="65000"/>
                  </a:schemeClr>
                </a:solidFill>
                <a:latin typeface="Arial"/>
                <a:cs typeface="Arial"/>
              </a:defRPr>
            </a:lvl1pPr>
          </a:lstStyle>
          <a:p>
            <a:pPr defTabSz="457200" fontAlgn="auto">
              <a:spcBef>
                <a:spcPts val="0"/>
              </a:spcBef>
              <a:spcAft>
                <a:spcPts val="0"/>
              </a:spcAft>
            </a:pPr>
            <a:r>
              <a:rPr lang="en-US" dirty="0" smtClean="0">
                <a:solidFill>
                  <a:prstClr val="white">
                    <a:lumMod val="65000"/>
                  </a:prstClr>
                </a:solidFill>
                <a:ea typeface="+mn-ea"/>
              </a:rPr>
              <a:t>  </a:t>
            </a:r>
            <a:fld id="{223FD816-CC6A-BF43-8241-637E3E7EAA5A}" type="slidenum">
              <a:rPr lang="en-US" smtClean="0">
                <a:solidFill>
                  <a:prstClr val="white">
                    <a:lumMod val="65000"/>
                  </a:prstClr>
                </a:solidFill>
                <a:ea typeface="+mn-ea"/>
              </a:rPr>
              <a:pPr defTabSz="457200" fontAlgn="auto">
                <a:spcBef>
                  <a:spcPts val="0"/>
                </a:spcBef>
                <a:spcAft>
                  <a:spcPts val="0"/>
                </a:spcAft>
              </a:pPr>
              <a:t>25</a:t>
            </a:fld>
            <a:endParaRPr lang="en-US" dirty="0">
              <a:solidFill>
                <a:prstClr val="white">
                  <a:lumMod val="65000"/>
                </a:prstClr>
              </a:solidFill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87644516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Outline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spcBef>
                <a:spcPts val="800"/>
              </a:spcBef>
              <a:spcAft>
                <a:spcPts val="1800"/>
              </a:spcAft>
              <a:buFont typeface="+mj-lt"/>
              <a:buAutoNum type="arabicPeriod"/>
            </a:pPr>
            <a:r>
              <a:rPr lang="en-US" sz="2400" dirty="0" smtClean="0"/>
              <a:t>What should be kept from old scheme</a:t>
            </a:r>
          </a:p>
          <a:p>
            <a:pPr marL="400050" lvl="1" indent="0">
              <a:spcBef>
                <a:spcPts val="800"/>
              </a:spcBef>
              <a:spcAft>
                <a:spcPts val="1800"/>
              </a:spcAft>
              <a:buNone/>
            </a:pPr>
            <a:r>
              <a:rPr lang="en-US" sz="2400" dirty="0" smtClean="0"/>
              <a:t>		</a:t>
            </a:r>
            <a:r>
              <a:rPr lang="en-US" sz="2400" i="1" dirty="0" smtClean="0"/>
              <a:t>and what’s new in CSMP++</a:t>
            </a:r>
          </a:p>
          <a:p>
            <a:pPr marL="514350" indent="-514350">
              <a:spcBef>
                <a:spcPts val="800"/>
              </a:spcBef>
              <a:spcAft>
                <a:spcPts val="1800"/>
              </a:spcAft>
              <a:buFont typeface="+mj-lt"/>
              <a:buAutoNum type="arabicPeriod"/>
            </a:pPr>
            <a:r>
              <a:rPr lang="en-US" sz="2400" dirty="0" smtClean="0"/>
              <a:t>Design specifications and considerations</a:t>
            </a:r>
          </a:p>
          <a:p>
            <a:pPr marL="514350" indent="-514350">
              <a:spcBef>
                <a:spcPts val="800"/>
              </a:spcBef>
              <a:spcAft>
                <a:spcPts val="1800"/>
              </a:spcAft>
              <a:buFont typeface="+mj-lt"/>
              <a:buAutoNum type="arabicPeriod"/>
            </a:pPr>
            <a:r>
              <a:rPr lang="en-US" sz="2400" dirty="0" smtClean="0"/>
              <a:t>Phase by phase transport</a:t>
            </a:r>
          </a:p>
          <a:p>
            <a:pPr marL="514350" indent="-514350">
              <a:spcBef>
                <a:spcPts val="800"/>
              </a:spcBef>
              <a:spcAft>
                <a:spcPts val="1800"/>
              </a:spcAft>
              <a:buFont typeface="+mj-lt"/>
              <a:buAutoNum type="arabicPeriod"/>
            </a:pPr>
            <a:r>
              <a:rPr lang="en-US" sz="2400" b="1" dirty="0" smtClean="0"/>
              <a:t>Design prototype: classes and use-case</a:t>
            </a:r>
            <a:endParaRPr lang="en-US" sz="2400" b="1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5496" y="6492875"/>
            <a:ext cx="3087544" cy="365125"/>
          </a:xfrm>
        </p:spPr>
        <p:txBody>
          <a:bodyPr/>
          <a:lstStyle/>
          <a:p>
            <a:pPr>
              <a:defRPr/>
            </a:pPr>
            <a:r>
              <a:rPr lang="en-US" dirty="0" smtClean="0"/>
              <a:t>CSMP Generic Transport Scheme: Agenda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1305FD-7CE1-C64B-B0A3-F76AC6FEC4D2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843315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(New) classes?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272340" y="719600"/>
            <a:ext cx="4248472" cy="57554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 err="1" smtClean="0">
                <a:latin typeface="Arial"/>
                <a:cs typeface="Arial"/>
              </a:rPr>
              <a:t>FV_Transport</a:t>
            </a:r>
            <a:endParaRPr lang="en-US" sz="1600" b="1" dirty="0" smtClean="0">
              <a:latin typeface="Arial"/>
              <a:cs typeface="Arial"/>
            </a:endParaRPr>
          </a:p>
          <a:p>
            <a:endParaRPr lang="en-US" sz="1600" b="1" dirty="0" smtClean="0">
              <a:latin typeface="Arial"/>
              <a:cs typeface="Arial"/>
            </a:endParaRPr>
          </a:p>
          <a:p>
            <a:r>
              <a:rPr lang="en-US" sz="1600" b="1" dirty="0" err="1" smtClean="0">
                <a:latin typeface="Arial"/>
                <a:cs typeface="Arial"/>
              </a:rPr>
              <a:t>CompositeVariable</a:t>
            </a:r>
            <a:r>
              <a:rPr lang="en-US" sz="1600" b="1" dirty="0" smtClean="0">
                <a:latin typeface="Arial"/>
                <a:cs typeface="Arial"/>
              </a:rPr>
              <a:t> (=Phase with Comps)</a:t>
            </a:r>
          </a:p>
          <a:p>
            <a:r>
              <a:rPr lang="en-US" sz="1600" b="1" dirty="0" err="1" smtClean="0">
                <a:latin typeface="Arial"/>
                <a:cs typeface="Arial"/>
              </a:rPr>
              <a:t>ArrayVariableHandler</a:t>
            </a:r>
            <a:r>
              <a:rPr lang="en-US" sz="1600" b="1" dirty="0" smtClean="0">
                <a:latin typeface="Arial"/>
                <a:cs typeface="Arial"/>
              </a:rPr>
              <a:t>?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1600" dirty="0" smtClean="0">
                <a:latin typeface="Arial"/>
                <a:cs typeface="Arial"/>
              </a:rPr>
              <a:t>Reading / storing composite variables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1600" dirty="0" smtClean="0">
                <a:latin typeface="Arial"/>
                <a:cs typeface="Arial"/>
              </a:rPr>
              <a:t>Scaling n and m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1600" dirty="0" smtClean="0">
                <a:latin typeface="Arial"/>
                <a:cs typeface="Arial"/>
              </a:rPr>
              <a:t>Range checking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1600" dirty="0" smtClean="0">
                <a:latin typeface="Arial"/>
                <a:cs typeface="Arial"/>
              </a:rPr>
              <a:t>Storing velocities</a:t>
            </a:r>
          </a:p>
          <a:p>
            <a:endParaRPr lang="en-US" sz="1600" dirty="0">
              <a:latin typeface="Arial"/>
              <a:cs typeface="Arial"/>
            </a:endParaRPr>
          </a:p>
          <a:p>
            <a:r>
              <a:rPr lang="en-US" sz="1600" b="1" dirty="0" err="1" smtClean="0">
                <a:latin typeface="Arial"/>
                <a:cs typeface="Arial"/>
              </a:rPr>
              <a:t>TimeIncrement</a:t>
            </a:r>
            <a:r>
              <a:rPr lang="en-US" sz="1600" dirty="0" smtClean="0">
                <a:latin typeface="Arial"/>
                <a:cs typeface="Arial"/>
              </a:rPr>
              <a:t> </a:t>
            </a:r>
            <a:r>
              <a:rPr lang="en-US" sz="1600" dirty="0">
                <a:latin typeface="Arial"/>
                <a:cs typeface="Arial"/>
              </a:rPr>
              <a:t>c</a:t>
            </a:r>
            <a:r>
              <a:rPr lang="en-US" sz="1600" dirty="0" smtClean="0">
                <a:latin typeface="Arial"/>
                <a:cs typeface="Arial"/>
              </a:rPr>
              <a:t>lass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1600" dirty="0" smtClean="0">
                <a:latin typeface="Arial"/>
                <a:cs typeface="Arial"/>
              </a:rPr>
              <a:t>Calculate CFL or other criteria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1600" dirty="0" smtClean="0">
                <a:latin typeface="Arial"/>
                <a:cs typeface="Arial"/>
              </a:rPr>
              <a:t>Mass Balance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1600" dirty="0" smtClean="0">
                <a:latin typeface="Arial"/>
                <a:cs typeface="Arial"/>
              </a:rPr>
              <a:t>Volume Based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1600" dirty="0" smtClean="0">
                <a:latin typeface="Arial"/>
                <a:cs typeface="Arial"/>
              </a:rPr>
              <a:t>Time-discretization (implicit, explicit, first/second order)</a:t>
            </a:r>
          </a:p>
          <a:p>
            <a:endParaRPr lang="en-US" sz="1600" dirty="0">
              <a:latin typeface="Arial"/>
              <a:cs typeface="Arial"/>
            </a:endParaRPr>
          </a:p>
          <a:p>
            <a:r>
              <a:rPr lang="en-US" sz="1600" b="1" dirty="0" err="1" smtClean="0">
                <a:latin typeface="Arial"/>
                <a:cs typeface="Arial"/>
              </a:rPr>
              <a:t>UpwindDirection</a:t>
            </a:r>
            <a:r>
              <a:rPr lang="en-US" sz="1600" dirty="0" smtClean="0">
                <a:latin typeface="Arial"/>
                <a:cs typeface="Arial"/>
              </a:rPr>
              <a:t> class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1600" dirty="0" smtClean="0">
                <a:latin typeface="Arial"/>
                <a:cs typeface="Arial"/>
              </a:rPr>
              <a:t>Projections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1600" dirty="0" smtClean="0">
                <a:latin typeface="Arial"/>
                <a:cs typeface="Arial"/>
              </a:rPr>
              <a:t>Determine upwind nodes</a:t>
            </a:r>
          </a:p>
          <a:p>
            <a:endParaRPr lang="en-US" sz="1600" dirty="0">
              <a:latin typeface="Arial"/>
              <a:cs typeface="Arial"/>
            </a:endParaRPr>
          </a:p>
          <a:p>
            <a:r>
              <a:rPr lang="en-US" sz="1600" i="1" dirty="0" smtClean="0">
                <a:latin typeface="Arial"/>
                <a:cs typeface="Arial"/>
              </a:rPr>
              <a:t>To be carried out and managed by </a:t>
            </a:r>
            <a:r>
              <a:rPr lang="en-US" sz="1600" b="1" i="1" dirty="0" smtClean="0">
                <a:latin typeface="Arial"/>
                <a:cs typeface="Arial"/>
              </a:rPr>
              <a:t>Model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1600" dirty="0" smtClean="0">
                <a:latin typeface="Arial"/>
                <a:cs typeface="Arial"/>
              </a:rPr>
              <a:t>If geometry changes, update porosity, pore volume, facet area and facet normal</a:t>
            </a:r>
          </a:p>
        </p:txBody>
      </p:sp>
      <p:sp>
        <p:nvSpPr>
          <p:cNvPr id="8" name="Rectangle 7"/>
          <p:cNvSpPr/>
          <p:nvPr/>
        </p:nvSpPr>
        <p:spPr>
          <a:xfrm>
            <a:off x="4951283" y="129981"/>
            <a:ext cx="3672408" cy="69865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b="1" dirty="0" smtClean="0">
                <a:latin typeface="Arial"/>
                <a:cs typeface="Arial"/>
              </a:rPr>
              <a:t>EOS </a:t>
            </a:r>
          </a:p>
          <a:p>
            <a:endParaRPr lang="en-US" sz="1600" dirty="0" smtClean="0">
              <a:latin typeface="Arial"/>
              <a:cs typeface="Arial"/>
            </a:endParaRPr>
          </a:p>
          <a:p>
            <a:r>
              <a:rPr lang="en-US" sz="1600" dirty="0" smtClean="0">
                <a:latin typeface="Arial"/>
                <a:cs typeface="Arial"/>
              </a:rPr>
              <a:t>Additional physics/chemistry</a:t>
            </a:r>
          </a:p>
          <a:p>
            <a:endParaRPr lang="en-US" sz="1600" dirty="0" smtClean="0">
              <a:latin typeface="Arial"/>
              <a:cs typeface="Arial"/>
            </a:endParaRPr>
          </a:p>
          <a:p>
            <a:r>
              <a:rPr lang="en-US" sz="1600" b="1" dirty="0" err="1" smtClean="0">
                <a:latin typeface="Arial"/>
                <a:cs typeface="Arial"/>
              </a:rPr>
              <a:t>InteriorProcessor</a:t>
            </a:r>
            <a:r>
              <a:rPr lang="en-US" sz="1600" dirty="0" smtClean="0">
                <a:latin typeface="Arial"/>
                <a:cs typeface="Arial"/>
              </a:rPr>
              <a:t> (base class)</a:t>
            </a:r>
          </a:p>
          <a:p>
            <a:r>
              <a:rPr lang="en-US" sz="1600" dirty="0" smtClean="0">
                <a:latin typeface="Arial"/>
                <a:cs typeface="Arial"/>
              </a:rPr>
              <a:t>Accumulation (LHS?)</a:t>
            </a:r>
          </a:p>
          <a:p>
            <a:r>
              <a:rPr lang="en-US" sz="1600" b="1" dirty="0" err="1" smtClean="0">
                <a:latin typeface="Arial"/>
                <a:cs typeface="Arial"/>
              </a:rPr>
              <a:t>BoundaryProcessor</a:t>
            </a:r>
            <a:r>
              <a:rPr lang="en-US" sz="1600" dirty="0" smtClean="0">
                <a:latin typeface="Arial"/>
                <a:cs typeface="Arial"/>
              </a:rPr>
              <a:t> (base class)</a:t>
            </a:r>
          </a:p>
          <a:p>
            <a:r>
              <a:rPr lang="en-US" sz="1600" dirty="0" smtClean="0">
                <a:latin typeface="Arial"/>
                <a:cs typeface="Arial"/>
              </a:rPr>
              <a:t>Accumulation (RHS?)</a:t>
            </a:r>
          </a:p>
          <a:p>
            <a:endParaRPr lang="en-US" sz="1600" b="1" dirty="0" smtClean="0">
              <a:latin typeface="Arial"/>
              <a:cs typeface="Arial"/>
            </a:endParaRPr>
          </a:p>
          <a:p>
            <a:r>
              <a:rPr lang="en-US" sz="1600" b="1" dirty="0" err="1" smtClean="0">
                <a:latin typeface="Arial"/>
                <a:cs typeface="Arial"/>
              </a:rPr>
              <a:t>FacetFlux</a:t>
            </a:r>
            <a:endParaRPr lang="en-US" sz="1600" b="1" dirty="0" smtClean="0">
              <a:latin typeface="Arial"/>
              <a:cs typeface="Arial"/>
            </a:endParaRPr>
          </a:p>
          <a:p>
            <a:pPr marL="285750" indent="-285750">
              <a:buFont typeface="Arial" pitchFamily="34" charset="0"/>
              <a:buChar char="•"/>
            </a:pPr>
            <a:r>
              <a:rPr lang="en-US" sz="1600" dirty="0" smtClean="0">
                <a:latin typeface="Arial"/>
                <a:cs typeface="Arial"/>
              </a:rPr>
              <a:t>Calculating components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1600" dirty="0" smtClean="0">
                <a:latin typeface="Arial"/>
                <a:cs typeface="Arial"/>
              </a:rPr>
              <a:t>Determine and store facet fluxes</a:t>
            </a:r>
          </a:p>
          <a:p>
            <a:pPr marL="285750" indent="-285750">
              <a:buFontTx/>
              <a:buChar char="-"/>
            </a:pPr>
            <a:endParaRPr lang="en-US" sz="1600" dirty="0">
              <a:latin typeface="Arial"/>
              <a:cs typeface="Arial"/>
            </a:endParaRPr>
          </a:p>
          <a:p>
            <a:r>
              <a:rPr lang="en-US" sz="1600" b="1" dirty="0" smtClean="0">
                <a:latin typeface="Arial"/>
                <a:cs typeface="Arial"/>
              </a:rPr>
              <a:t>Explicit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1600" dirty="0" smtClean="0">
                <a:latin typeface="Arial"/>
                <a:cs typeface="Arial"/>
              </a:rPr>
              <a:t>Accumulation of fluxes to vector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1600" dirty="0" smtClean="0">
                <a:latin typeface="Arial"/>
                <a:cs typeface="Arial"/>
              </a:rPr>
              <a:t>Accumulation of sources to vector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1600" dirty="0" smtClean="0">
                <a:latin typeface="Arial"/>
                <a:cs typeface="Arial"/>
              </a:rPr>
              <a:t>Add fluxes and sources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1600" dirty="0" smtClean="0">
                <a:latin typeface="Arial"/>
                <a:cs typeface="Arial"/>
              </a:rPr>
              <a:t>Higher-order in space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1600" dirty="0" smtClean="0">
                <a:latin typeface="Arial"/>
                <a:cs typeface="Arial"/>
              </a:rPr>
              <a:t>Limiting</a:t>
            </a:r>
          </a:p>
          <a:p>
            <a:pPr marL="285750" indent="-285750">
              <a:buFontTx/>
              <a:buChar char="-"/>
            </a:pPr>
            <a:endParaRPr lang="en-US" sz="1600" dirty="0" smtClean="0">
              <a:latin typeface="Arial"/>
              <a:cs typeface="Arial"/>
            </a:endParaRPr>
          </a:p>
          <a:p>
            <a:r>
              <a:rPr lang="en-US" sz="1600" b="1" dirty="0" smtClean="0">
                <a:latin typeface="Arial"/>
                <a:cs typeface="Arial"/>
              </a:rPr>
              <a:t>Implicit</a:t>
            </a:r>
            <a:r>
              <a:rPr lang="en-US" sz="1600" dirty="0" smtClean="0">
                <a:latin typeface="Arial"/>
                <a:cs typeface="Arial"/>
              </a:rPr>
              <a:t> (RHS vs. LHS accumulations)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1600" dirty="0" smtClean="0">
                <a:latin typeface="Arial"/>
                <a:cs typeface="Arial"/>
              </a:rPr>
              <a:t>Accumulation order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1600" dirty="0" smtClean="0">
                <a:latin typeface="Arial"/>
                <a:cs typeface="Arial"/>
              </a:rPr>
              <a:t>Accumulation of fluxes to matrix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1600" dirty="0" smtClean="0">
                <a:latin typeface="Arial"/>
                <a:cs typeface="Arial"/>
              </a:rPr>
              <a:t>Accumulation of sources to matrix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1600" dirty="0" smtClean="0">
                <a:latin typeface="Arial"/>
                <a:cs typeface="Arial"/>
              </a:rPr>
              <a:t>Iterations (e.g. Newton)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1600" dirty="0" smtClean="0">
                <a:latin typeface="Arial"/>
                <a:cs typeface="Arial"/>
              </a:rPr>
              <a:t>Solver / SAMG</a:t>
            </a:r>
          </a:p>
          <a:p>
            <a:pPr marL="742950" lvl="1" indent="-285750">
              <a:buFontTx/>
              <a:buChar char="-"/>
            </a:pPr>
            <a:endParaRPr lang="en-US" sz="1600" dirty="0" smtClean="0">
              <a:latin typeface="Arial"/>
              <a:cs typeface="Arial"/>
            </a:endParaRPr>
          </a:p>
          <a:p>
            <a:pPr marL="742950" lvl="1" indent="-285750">
              <a:buFontTx/>
              <a:buChar char="-"/>
            </a:pPr>
            <a:endParaRPr lang="de-CH" sz="1600" dirty="0" smtClean="0">
              <a:latin typeface="Arial"/>
              <a:cs typeface="Arial"/>
            </a:endParaRPr>
          </a:p>
        </p:txBody>
      </p:sp>
      <p:sp>
        <p:nvSpPr>
          <p:cNvPr id="9" name="Date Placeholder 3"/>
          <p:cNvSpPr>
            <a:spLocks noGrp="1"/>
          </p:cNvSpPr>
          <p:nvPr>
            <p:ph type="dt" sz="half" idx="4294967295"/>
          </p:nvPr>
        </p:nvSpPr>
        <p:spPr>
          <a:xfrm>
            <a:off x="35496" y="649287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>
                    <a:lumMod val="65000"/>
                  </a:schemeClr>
                </a:solidFill>
                <a:latin typeface="Arial"/>
                <a:cs typeface="Arial"/>
              </a:defRPr>
            </a:lvl1pPr>
          </a:lstStyle>
          <a:p>
            <a:pPr defTabSz="457200" fontAlgn="auto">
              <a:spcBef>
                <a:spcPts val="0"/>
              </a:spcBef>
              <a:spcAft>
                <a:spcPts val="0"/>
              </a:spcAft>
            </a:pPr>
            <a:fld id="{57951F7C-CFBF-8144-A102-5B4CA8E4DF9C}" type="datetime1">
              <a:rPr lang="en-US" smtClean="0">
                <a:solidFill>
                  <a:prstClr val="white">
                    <a:lumMod val="65000"/>
                  </a:prstClr>
                </a:solidFill>
                <a:ea typeface="+mn-ea"/>
              </a:rPr>
              <a:pPr defTabSz="457200" fontAlgn="auto">
                <a:spcBef>
                  <a:spcPts val="0"/>
                </a:spcBef>
                <a:spcAft>
                  <a:spcPts val="0"/>
                </a:spcAft>
              </a:pPr>
              <a:t>11/6/12</a:t>
            </a:fld>
            <a:endParaRPr lang="en-US" dirty="0">
              <a:solidFill>
                <a:prstClr val="white">
                  <a:lumMod val="65000"/>
                </a:prstClr>
              </a:solidFill>
              <a:ea typeface="+mn-ea"/>
            </a:endParaRPr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4294967295"/>
          </p:nvPr>
        </p:nvSpPr>
        <p:spPr>
          <a:xfrm>
            <a:off x="3124200" y="6492875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65000"/>
                  </a:schemeClr>
                </a:solidFill>
                <a:latin typeface="Arial"/>
                <a:cs typeface="Arial"/>
              </a:defRPr>
            </a:lvl1pPr>
          </a:lstStyle>
          <a:p>
            <a:pPr defTabSz="457200" fontAlgn="auto">
              <a:spcBef>
                <a:spcPts val="0"/>
              </a:spcBef>
              <a:spcAft>
                <a:spcPts val="0"/>
              </a:spcAft>
            </a:pPr>
            <a:r>
              <a:rPr lang="en-US" dirty="0" smtClean="0">
                <a:solidFill>
                  <a:prstClr val="white">
                    <a:lumMod val="65000"/>
                  </a:prstClr>
                </a:solidFill>
                <a:ea typeface="+mn-ea"/>
              </a:rPr>
              <a:t>CSMP Generic Transport Scheme</a:t>
            </a:r>
            <a:endParaRPr lang="en-US" dirty="0">
              <a:solidFill>
                <a:prstClr val="white">
                  <a:lumMod val="65000"/>
                </a:prstClr>
              </a:solidFill>
              <a:ea typeface="+mn-ea"/>
            </a:endParaRPr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6974904" y="649287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>
                    <a:lumMod val="65000"/>
                  </a:schemeClr>
                </a:solidFill>
                <a:latin typeface="Arial"/>
                <a:cs typeface="Arial"/>
              </a:defRPr>
            </a:lvl1pPr>
          </a:lstStyle>
          <a:p>
            <a:pPr defTabSz="457200" fontAlgn="auto">
              <a:spcBef>
                <a:spcPts val="0"/>
              </a:spcBef>
              <a:spcAft>
                <a:spcPts val="0"/>
              </a:spcAft>
            </a:pPr>
            <a:r>
              <a:rPr lang="en-US" dirty="0" smtClean="0">
                <a:solidFill>
                  <a:prstClr val="white">
                    <a:lumMod val="65000"/>
                  </a:prstClr>
                </a:solidFill>
                <a:ea typeface="+mn-ea"/>
              </a:rPr>
              <a:t>  </a:t>
            </a:r>
            <a:fld id="{223FD816-CC6A-BF43-8241-637E3E7EAA5A}" type="slidenum">
              <a:rPr lang="en-US" smtClean="0">
                <a:solidFill>
                  <a:prstClr val="white">
                    <a:lumMod val="65000"/>
                  </a:prstClr>
                </a:solidFill>
                <a:ea typeface="+mn-ea"/>
              </a:rPr>
              <a:pPr defTabSz="457200" fontAlgn="auto">
                <a:spcBef>
                  <a:spcPts val="0"/>
                </a:spcBef>
                <a:spcAft>
                  <a:spcPts val="0"/>
                </a:spcAft>
              </a:pPr>
              <a:t>27</a:t>
            </a:fld>
            <a:endParaRPr lang="en-US" dirty="0">
              <a:solidFill>
                <a:prstClr val="white">
                  <a:lumMod val="65000"/>
                </a:prstClr>
              </a:solidFill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736649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 typical calculation?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dirty="0" smtClean="0"/>
              <a:t>Compute pressure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 smtClean="0"/>
              <a:t>Compute total velocity etc.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 smtClean="0"/>
              <a:t>Update multiphase flow properties, phase densities and viscosities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 smtClean="0"/>
              <a:t>Determine initial time increment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 smtClean="0"/>
              <a:t>Accumulate (higher-order) interior stencils</a:t>
            </a:r>
          </a:p>
          <a:p>
            <a:pPr marL="857250" lvl="1" indent="-457200"/>
            <a:r>
              <a:rPr lang="en-US" dirty="0" smtClean="0"/>
              <a:t>Compute viscous, gravitational and capillary fluxes</a:t>
            </a:r>
          </a:p>
          <a:p>
            <a:pPr marL="857250" lvl="1" indent="-457200"/>
            <a:r>
              <a:rPr lang="en-US" dirty="0" smtClean="0"/>
              <a:t>Determine upwind direction on basis of composite flux</a:t>
            </a:r>
          </a:p>
          <a:p>
            <a:pPr marL="857250" lvl="1" indent="-457200"/>
            <a:r>
              <a:rPr lang="en-US" dirty="0" smtClean="0"/>
              <a:t>Establish flux balances and pressure-change dependent source / sink terms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 smtClean="0"/>
              <a:t>Accumulate first order boundary stencils 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 smtClean="0"/>
              <a:t>Solve transport problem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 smtClean="0"/>
              <a:t>Transfer results to model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13430-5F54-9740-B307-5C0C53476417}" type="datetime1">
              <a:rPr lang="en-US" smtClean="0">
                <a:solidFill>
                  <a:prstClr val="white">
                    <a:lumMod val="65000"/>
                  </a:prstClr>
                </a:solidFill>
              </a:rPr>
              <a:pPr/>
              <a:t>11/6/12</a:t>
            </a:fld>
            <a:endParaRPr lang="en-US">
              <a:solidFill>
                <a:prstClr val="white">
                  <a:lumMod val="6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prstClr val="white">
                    <a:lumMod val="65000"/>
                  </a:prstClr>
                </a:solidFill>
              </a:rPr>
              <a:t>CSMP Generic Transport Scheme</a:t>
            </a:r>
            <a:endParaRPr lang="en-US" dirty="0" smtClean="0">
              <a:solidFill>
                <a:prstClr val="white">
                  <a:lumMod val="6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FD816-CC6A-BF43-8241-637E3E7EAA5A}" type="slidenum">
              <a:rPr lang="en-US" smtClean="0">
                <a:solidFill>
                  <a:prstClr val="white">
                    <a:lumMod val="65000"/>
                  </a:prstClr>
                </a:solidFill>
              </a:rPr>
              <a:pPr/>
              <a:t>28</a:t>
            </a:fld>
            <a:endParaRPr lang="en-US">
              <a:solidFill>
                <a:prstClr val="white">
                  <a:lumMod val="6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516028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26072</TotalTime>
  <Words>2905</Words>
  <Application>Microsoft Macintosh PowerPoint</Application>
  <PresentationFormat>On-screen Show (4:3)</PresentationFormat>
  <Paragraphs>482</Paragraphs>
  <Slides>28</Slides>
  <Notes>9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0" baseType="lpstr">
      <vt:lpstr>Office Theme</vt:lpstr>
      <vt:lpstr>Equation</vt:lpstr>
      <vt:lpstr>Multiphase Transport Scheme for Hybrid Finite-Element Finite-Volume Meshes:   Replacement of NCFVT framework</vt:lpstr>
      <vt:lpstr>Day – identified issues</vt:lpstr>
      <vt:lpstr>GUI</vt:lpstr>
      <vt:lpstr>GUI (2)</vt:lpstr>
      <vt:lpstr>GUI (3) – What we need</vt:lpstr>
      <vt:lpstr>Objectives and prerequisites</vt:lpstr>
      <vt:lpstr>Transport of fluid phases with components</vt:lpstr>
      <vt:lpstr>Simplified transport equations</vt:lpstr>
      <vt:lpstr>Hamdi and Vostok’s approach (2012)</vt:lpstr>
      <vt:lpstr>Outline</vt:lpstr>
      <vt:lpstr>FE-FVM Discretisation Different requirements seem to exist here:  (ETHZ wants material properties on the nodes, MUL on the elements)</vt:lpstr>
      <vt:lpstr>Basic terminology</vt:lpstr>
      <vt:lpstr>Finite-element finite-volume stencils</vt:lpstr>
      <vt:lpstr>Access to FiniteVolume properties / parameters</vt:lpstr>
      <vt:lpstr>Scope for improvement: FiniteVolumeTraits</vt:lpstr>
      <vt:lpstr>Keeping support functionality from NodeCenteredFiniteVolumeTransport ?</vt:lpstr>
      <vt:lpstr>What currently happens when the NCFV transport is instantiated</vt:lpstr>
      <vt:lpstr>CFL calculation</vt:lpstr>
      <vt:lpstr>Constitutive relationships</vt:lpstr>
      <vt:lpstr>Outline</vt:lpstr>
      <vt:lpstr>Decision needed:      Placement of material properties</vt:lpstr>
      <vt:lpstr>Element-centered variable scheme: needs</vt:lpstr>
      <vt:lpstr>New goal: phase-by-phase component transport scheme with support for component exchange among phases</vt:lpstr>
      <vt:lpstr>Supported vs. not yet supported functionality</vt:lpstr>
      <vt:lpstr>Efficiency considerations</vt:lpstr>
      <vt:lpstr>Outline</vt:lpstr>
      <vt:lpstr>(New) classes?</vt:lpstr>
      <vt:lpstr>A typical calculation?</vt:lpstr>
    </vt:vector>
  </TitlesOfParts>
  <Manager>above</Manager>
  <Company>Earth Sciences &amp; Engineering, Imperial College, London</Company>
  <LinksUpToDate>false</LinksUpToDate>
  <SharedDoc>false</SharedDoc>
  <HyperlinkBase>s.matthai@ic.ac.uk</HyperlinkBase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Simulating Multiphase Fluid Flow With FRED – ICEM &amp; CSP</dc:title>
  <dc:subject>confidential ITF report 9/1/2003</dc:subject>
  <dc:creator>Dr. Stephan K Matthai</dc:creator>
  <dc:description>do not distribute without prior permission by the_x000d_
author</dc:description>
  <cp:lastModifiedBy>Stephan K Matthai</cp:lastModifiedBy>
  <cp:revision>798</cp:revision>
  <dcterms:created xsi:type="dcterms:W3CDTF">2010-07-10T10:09:01Z</dcterms:created>
  <dcterms:modified xsi:type="dcterms:W3CDTF">2012-11-06T16:49:10Z</dcterms:modified>
</cp:coreProperties>
</file>